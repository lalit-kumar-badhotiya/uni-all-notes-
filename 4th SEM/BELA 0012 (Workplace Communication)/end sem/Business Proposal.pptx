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1336" y="-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3048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2514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11/24/2024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155448" y="2420112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Oval 12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752600"/>
          </a:xfrm>
        </p:spPr>
        <p:txBody>
          <a:bodyPr anchor="b"/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61688" y="1026372"/>
            <a:ext cx="457200" cy="4413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1905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52400" y="2286000"/>
            <a:ext cx="8833104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5448" y="142352"/>
            <a:ext cx="8833104" cy="2139696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8426" y="2743200"/>
            <a:ext cx="6480174" cy="1673225"/>
          </a:xfrm>
        </p:spPr>
        <p:txBody>
          <a:bodyPr anchor="t"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11/24/2024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152400" y="2438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Oval 10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33400"/>
            <a:ext cx="7772400" cy="1524000"/>
          </a:xfrm>
        </p:spPr>
        <p:txBody>
          <a:bodyPr anchor="b"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91200" y="6409944"/>
            <a:ext cx="3044952" cy="365760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11/24/2024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 flipV="1">
            <a:off x="4563080" y="1575652"/>
            <a:ext cx="8921" cy="4819557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Content Placeholder 9"/>
          <p:cNvSpPr>
            <a:spLocks noGrp="1"/>
          </p:cNvSpPr>
          <p:nvPr>
            <p:ph sz="half" idx="1"/>
          </p:nvPr>
        </p:nvSpPr>
        <p:spPr>
          <a:xfrm>
            <a:off x="301752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half" idx="2"/>
          </p:nvPr>
        </p:nvSpPr>
        <p:spPr>
          <a:xfrm>
            <a:off x="4800600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 flipV="1">
            <a:off x="4572000" y="2200275"/>
            <a:ext cx="0" cy="418795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white">
          <a:xfrm>
            <a:off x="0" y="0"/>
            <a:ext cx="91440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152400" y="1371600"/>
            <a:ext cx="8833104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5923" y="6391656"/>
            <a:ext cx="8833104" cy="31089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4040188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791330" y="1524000"/>
            <a:ext cx="4041775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4800" y="6409944"/>
            <a:ext cx="358140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52400" y="128016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4" name="Content Placeholder 23"/>
          <p:cNvSpPr>
            <a:spLocks noGrp="1"/>
          </p:cNvSpPr>
          <p:nvPr>
            <p:ph sz="quarter" idx="2"/>
          </p:nvPr>
        </p:nvSpPr>
        <p:spPr>
          <a:xfrm>
            <a:off x="301752" y="2471383"/>
            <a:ext cx="4041648" cy="3818404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6" name="Content Placeholder 25"/>
          <p:cNvSpPr>
            <a:spLocks noGrp="1"/>
          </p:cNvSpPr>
          <p:nvPr>
            <p:ph sz="quarter" idx="4"/>
          </p:nvPr>
        </p:nvSpPr>
        <p:spPr>
          <a:xfrm>
            <a:off x="4800600" y="2471383"/>
            <a:ext cx="4038600" cy="382219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5" name="Oval 24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Oval 26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4343400" y="1042416"/>
            <a:ext cx="457200" cy="441325"/>
          </a:xfrm>
        </p:spPr>
        <p:txBody>
          <a:bodyPr/>
          <a:lstStyle>
            <a:lvl1pPr algn="ctr"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Title 22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52400" y="158496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267200" y="6324600"/>
            <a:ext cx="60960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152400" y="152400"/>
            <a:ext cx="8833104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914400"/>
            <a:ext cx="2362200" cy="990600"/>
          </a:xfrm>
        </p:spPr>
        <p:txBody>
          <a:bodyPr anchor="b"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381000" y="1981200"/>
            <a:ext cx="236220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Content Placeholder 19"/>
          <p:cNvSpPr>
            <a:spLocks noGrp="1"/>
          </p:cNvSpPr>
          <p:nvPr>
            <p:ph sz="quarter" idx="1"/>
          </p:nvPr>
        </p:nvSpPr>
        <p:spPr>
          <a:xfrm>
            <a:off x="3124200" y="685800"/>
            <a:ext cx="5638800" cy="5410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Oval 10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383280" cy="365760"/>
          </a:xfrm>
        </p:spPr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traight Connector 20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152400" y="152400"/>
            <a:ext cx="8833104" cy="30175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2" name="Oval 11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00375" y="5029200"/>
            <a:ext cx="5867400" cy="12192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00375" y="609600"/>
            <a:ext cx="5867400" cy="42672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00" y="990600"/>
            <a:ext cx="243840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88152" y="6404984"/>
            <a:ext cx="3044952" cy="365760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11/24/2024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584448" cy="36576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7010400" y="0"/>
            <a:ext cx="21336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 rot="5400000">
            <a:off x="4021836" y="3278124"/>
            <a:ext cx="624535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6839712" y="2925763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6934200" y="3020251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15912" y="3009901"/>
            <a:ext cx="457200" cy="4413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304800"/>
            <a:ext cx="6553200" cy="5821366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91400" y="304801"/>
            <a:ext cx="14478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393371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11/24/2024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152400" y="1276743"/>
            <a:ext cx="8833104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4343400" y="1040174"/>
            <a:ext cx="4572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85344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ctr" rtl="0" eaLnBrk="1" latinLnBrk="0" hangingPunct="1">
        <a:spcBef>
          <a:spcPct val="0"/>
        </a:spcBef>
        <a:buNone/>
        <a:defRPr kumimoji="0" sz="330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For Technical writings, </a:t>
            </a:r>
            <a:r>
              <a:rPr lang="en-US" dirty="0" err="1" smtClean="0"/>
              <a:t>glau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BUSINESS PROPOSAL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71022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</a:t>
            </a:r>
            <a:r>
              <a:rPr lang="en-US" dirty="0" smtClean="0"/>
              <a:t>a Proposal</a:t>
            </a:r>
            <a:r>
              <a:rPr lang="en-US" dirty="0" smtClean="0"/>
              <a:t>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0000" lnSpcReduction="20000"/>
          </a:bodyPr>
          <a:lstStyle/>
          <a:p>
            <a:pPr algn="just"/>
            <a:r>
              <a:rPr lang="en-US" dirty="0"/>
              <a:t> </a:t>
            </a:r>
            <a:r>
              <a:rPr lang="en-US" dirty="0" smtClean="0"/>
              <a:t>A project proposal is the document that facilitates a professional relationship between an organization or a professional or outside contributors.  Usually, a project proposal is the preliminary outline for establishing the concept of the project and includes what you want to achieve, an explanation of objectives, and plans for achieving them.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 smtClean="0">
                <a:solidFill>
                  <a:srgbClr val="FF0000"/>
                </a:solidFill>
              </a:rPr>
              <a:t>Business Proposal</a:t>
            </a:r>
            <a:r>
              <a:rPr lang="en-US" dirty="0" smtClean="0"/>
              <a:t>:</a:t>
            </a:r>
          </a:p>
          <a:p>
            <a:pPr marL="137160" indent="0" algn="just">
              <a:buNone/>
            </a:pPr>
            <a:r>
              <a:rPr lang="en-US" dirty="0"/>
              <a:t>A business proposal is a document you send to potential customers to persuade them to </a:t>
            </a:r>
            <a:r>
              <a:rPr lang="en-US" dirty="0" smtClean="0"/>
              <a:t>do business </a:t>
            </a:r>
            <a:r>
              <a:rPr lang="en-US" dirty="0"/>
              <a:t>with you. Business proposals are a common and effective way to win </a:t>
            </a:r>
            <a:r>
              <a:rPr lang="en-US" dirty="0" smtClean="0"/>
              <a:t>business. Research </a:t>
            </a:r>
            <a:r>
              <a:rPr lang="en-US" dirty="0"/>
              <a:t>your potential customer before writing a business proposal; customize your proposal </a:t>
            </a:r>
            <a:r>
              <a:rPr lang="en-US" dirty="0" smtClean="0"/>
              <a:t>to address </a:t>
            </a:r>
            <a:r>
              <a:rPr lang="en-US" dirty="0"/>
              <a:t>their needs. Your tone should appeal to your potential customer while aligning with </a:t>
            </a:r>
            <a:r>
              <a:rPr lang="en-US" dirty="0" smtClean="0"/>
              <a:t>your brand’s </a:t>
            </a:r>
            <a:r>
              <a:rPr lang="en-US" dirty="0"/>
              <a:t>personality. In general, you should strive to be clear and courteous. Your </a:t>
            </a:r>
            <a:r>
              <a:rPr lang="en-US" dirty="0" smtClean="0"/>
              <a:t>proposal should </a:t>
            </a:r>
            <a:r>
              <a:rPr lang="en-US" dirty="0"/>
              <a:t>be long enough to convey why your potential customer should do business with you, </a:t>
            </a:r>
            <a:r>
              <a:rPr lang="en-US" dirty="0" smtClean="0"/>
              <a:t>but it </a:t>
            </a:r>
            <a:r>
              <a:rPr lang="en-US" dirty="0"/>
              <a:t>should not be unnecessarily long or contain irrelevant details.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45580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Types of Proposals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 smtClean="0"/>
              <a:t>There are 3 distinct categories of proposals.</a:t>
            </a:r>
          </a:p>
          <a:p>
            <a:r>
              <a:rPr lang="en-US" dirty="0" smtClean="0"/>
              <a:t>1. formally solicited proposal</a:t>
            </a:r>
          </a:p>
          <a:p>
            <a:r>
              <a:rPr lang="en-US" dirty="0" smtClean="0"/>
              <a:t>2. Informally solicited proposal</a:t>
            </a:r>
          </a:p>
          <a:p>
            <a:r>
              <a:rPr lang="en-US" dirty="0" smtClean="0"/>
              <a:t>3. Unsolicited proposal</a:t>
            </a:r>
          </a:p>
          <a:p>
            <a:endParaRPr lang="en-US" dirty="0"/>
          </a:p>
          <a:p>
            <a:r>
              <a:rPr lang="en-US" dirty="0" smtClean="0">
                <a:solidFill>
                  <a:srgbClr val="FF0000"/>
                </a:solidFill>
              </a:rPr>
              <a:t>FORMALLY SOLICITED PROPOSAL</a:t>
            </a:r>
          </a:p>
          <a:p>
            <a:r>
              <a:rPr lang="en-US" dirty="0"/>
              <a:t>A solicited proposal is one in which the recipient has requested the proposal. Typically, a company will send out requests for proposals (RFPs) through the mail or publish them in some news source. But proposals can be solicited on a very local level: for example, you could be explaining to your boss what a great thing it would be to install a new technology in the office; your boss might get interested and ask you to write up a proposal that offered to do a formal study of the idea</a:t>
            </a:r>
            <a:r>
              <a:rPr lang="en-US" dirty="0" smtClean="0"/>
              <a:t>.</a:t>
            </a:r>
          </a:p>
          <a:p>
            <a:r>
              <a:rPr lang="en-US" dirty="0" smtClean="0"/>
              <a:t>There are four responses to it:</a:t>
            </a:r>
          </a:p>
          <a:p>
            <a:endParaRPr lang="en-US" dirty="0"/>
          </a:p>
          <a:p>
            <a:r>
              <a:rPr lang="en-US" dirty="0" smtClean="0"/>
              <a:t>RFP(request for proposal)</a:t>
            </a:r>
          </a:p>
          <a:p>
            <a:r>
              <a:rPr lang="en-US" dirty="0" smtClean="0"/>
              <a:t>RFQ(request for quotation)</a:t>
            </a:r>
          </a:p>
          <a:p>
            <a:r>
              <a:rPr lang="en-US" dirty="0" smtClean="0"/>
              <a:t>IFB(Invitation for bid)</a:t>
            </a:r>
          </a:p>
          <a:p>
            <a:r>
              <a:rPr lang="en-US" dirty="0" smtClean="0"/>
              <a:t>RFI (request for information)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49993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Informally solicited proposal</a:t>
            </a:r>
          </a:p>
          <a:p>
            <a:pPr algn="just"/>
            <a:r>
              <a:rPr lang="en-US" sz="2400" dirty="0"/>
              <a:t>In this case, prospective clients are interested in your services and request a proposal to examine. These proposals typically need a lot more investigation since they are based on personal interactions rather than formal requests which often contain all the necessary </a:t>
            </a:r>
            <a:r>
              <a:rPr lang="en-US" sz="2400" dirty="0" smtClean="0"/>
              <a:t>information.</a:t>
            </a:r>
          </a:p>
          <a:p>
            <a:pPr algn="just"/>
            <a:endParaRPr lang="en-US" sz="2400" dirty="0" smtClean="0"/>
          </a:p>
          <a:p>
            <a:pPr algn="just"/>
            <a:r>
              <a:rPr lang="en-US" sz="2400" dirty="0" smtClean="0"/>
              <a:t>Informally solicited proposal are typically the result of conversations held between a vendor and a prospective customer.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0323660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Unsolicited </a:t>
            </a:r>
            <a:r>
              <a:rPr lang="en-US" dirty="0" smtClean="0">
                <a:solidFill>
                  <a:srgbClr val="FF0000"/>
                </a:solidFill>
              </a:rPr>
              <a:t>proposal</a:t>
            </a:r>
          </a:p>
          <a:p>
            <a:r>
              <a:rPr lang="en-US" dirty="0"/>
              <a:t>Unsolicited proposals are those in which the recipient has not requested proposals. With unsolicited proposals, you sometimes must convince the recipient that a problem or need exists before you can begin the main part of the proposal</a:t>
            </a:r>
            <a:r>
              <a:rPr lang="en-US" dirty="0" smtClean="0"/>
              <a:t>.</a:t>
            </a:r>
          </a:p>
          <a:p>
            <a:r>
              <a:rPr lang="en-US" dirty="0"/>
              <a:t>Unsolicited proposals can come in many forms, such as auctions, marketing campaigns, or contests to name just a few.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82263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Advantages of Proposals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>
              <a:buFont typeface="Wingdings" pitchFamily="2" charset="2"/>
              <a:buChar char="v"/>
            </a:pPr>
            <a:r>
              <a:rPr lang="en-US" dirty="0" smtClean="0"/>
              <a:t>establishes projects  ability to work successfully</a:t>
            </a:r>
          </a:p>
          <a:p>
            <a:pPr>
              <a:buFont typeface="Wingdings" pitchFamily="2" charset="2"/>
              <a:buChar char="v"/>
            </a:pPr>
            <a:r>
              <a:rPr lang="en-US" dirty="0" smtClean="0"/>
              <a:t>clarifies expectations</a:t>
            </a:r>
          </a:p>
          <a:p>
            <a:pPr>
              <a:buFont typeface="Wingdings" pitchFamily="2" charset="2"/>
              <a:buChar char="v"/>
            </a:pPr>
            <a:r>
              <a:rPr lang="en-US" dirty="0" smtClean="0"/>
              <a:t>Well designed proposal creates </a:t>
            </a:r>
            <a:r>
              <a:rPr lang="en-US" dirty="0" err="1" smtClean="0"/>
              <a:t>strcuture</a:t>
            </a:r>
            <a:endParaRPr lang="en-US" dirty="0" smtClean="0"/>
          </a:p>
          <a:p>
            <a:pPr>
              <a:buFont typeface="Wingdings" pitchFamily="2" charset="2"/>
              <a:buChar char="v"/>
            </a:pPr>
            <a:r>
              <a:rPr lang="en-US" dirty="0" smtClean="0"/>
              <a:t>Increase the chance of the approval of budget requirements</a:t>
            </a:r>
          </a:p>
          <a:p>
            <a:pPr>
              <a:buFont typeface="Wingdings" pitchFamily="2" charset="2"/>
              <a:buChar char="v"/>
            </a:pPr>
            <a:r>
              <a:rPr lang="en-US" dirty="0" smtClean="0"/>
              <a:t>Well structured proposals fuel business growth</a:t>
            </a:r>
          </a:p>
          <a:p>
            <a:pPr>
              <a:buFont typeface="Wingdings" pitchFamily="2" charset="2"/>
              <a:buChar char="v"/>
            </a:pPr>
            <a:r>
              <a:rPr lang="en-US" dirty="0" smtClean="0"/>
              <a:t>Effective proposal expose the brand</a:t>
            </a:r>
          </a:p>
          <a:p>
            <a:pPr>
              <a:buFont typeface="Wingdings" pitchFamily="2" charset="2"/>
              <a:buChar char="v"/>
            </a:pPr>
            <a:r>
              <a:rPr lang="en-US" dirty="0" smtClean="0"/>
              <a:t>Sound proposals ensure future success</a:t>
            </a:r>
          </a:p>
          <a:p>
            <a:pPr>
              <a:buFont typeface="Wingdings" pitchFamily="2" charset="2"/>
              <a:buChar char="v"/>
            </a:pPr>
            <a:r>
              <a:rPr lang="en-US" dirty="0" smtClean="0"/>
              <a:t>Well designed proposals establish how to plan for success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6437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Elements/Parts </a:t>
            </a:r>
            <a:r>
              <a:rPr lang="en-US" dirty="0">
                <a:solidFill>
                  <a:srgbClr val="FF0000"/>
                </a:solidFill>
              </a:rPr>
              <a:t>of a Business </a:t>
            </a:r>
            <a:r>
              <a:rPr lang="en-US" dirty="0" smtClean="0">
                <a:solidFill>
                  <a:srgbClr val="FF0000"/>
                </a:solidFill>
              </a:rPr>
              <a:t>Proposal: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/>
              <a:t>Though every business proposal should be customized to appeal to a unique potential </a:t>
            </a:r>
            <a:r>
              <a:rPr lang="en-US" dirty="0" smtClean="0"/>
              <a:t>customer, most </a:t>
            </a:r>
            <a:r>
              <a:rPr lang="en-US" dirty="0"/>
              <a:t>business proposals will include the following sections.</a:t>
            </a:r>
          </a:p>
          <a:p>
            <a:r>
              <a:rPr lang="en-US" dirty="0"/>
              <a:t>• Title Page</a:t>
            </a:r>
          </a:p>
          <a:p>
            <a:r>
              <a:rPr lang="en-US" dirty="0"/>
              <a:t>• Table of Contents</a:t>
            </a:r>
          </a:p>
          <a:p>
            <a:r>
              <a:rPr lang="en-US" dirty="0"/>
              <a:t>• Executive Summary</a:t>
            </a:r>
          </a:p>
          <a:p>
            <a:r>
              <a:rPr lang="en-US" dirty="0"/>
              <a:t>• Problem Statement</a:t>
            </a:r>
          </a:p>
          <a:p>
            <a:r>
              <a:rPr lang="en-US" dirty="0"/>
              <a:t>• Proposed Solution</a:t>
            </a:r>
          </a:p>
          <a:p>
            <a:r>
              <a:rPr lang="en-US" dirty="0"/>
              <a:t>• Qualifications</a:t>
            </a:r>
          </a:p>
          <a:p>
            <a:r>
              <a:rPr lang="en-US" dirty="0"/>
              <a:t>• Timeline</a:t>
            </a:r>
          </a:p>
          <a:p>
            <a:r>
              <a:rPr lang="en-US" dirty="0"/>
              <a:t>• Pricing</a:t>
            </a:r>
          </a:p>
          <a:p>
            <a:r>
              <a:rPr lang="en-US" dirty="0"/>
              <a:t>• Terms and Conditions</a:t>
            </a:r>
          </a:p>
          <a:p>
            <a:r>
              <a:rPr lang="en-US" dirty="0"/>
              <a:t>• Agreement</a:t>
            </a:r>
          </a:p>
        </p:txBody>
      </p:sp>
    </p:spTree>
    <p:extLst>
      <p:ext uri="{BB962C8B-B14F-4D97-AF65-F5344CB8AC3E}">
        <p14:creationId xmlns:p14="http://schemas.microsoft.com/office/powerpoint/2010/main" val="25002167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Executive 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20000"/>
          </a:bodyPr>
          <a:lstStyle/>
          <a:p>
            <a:pPr marL="137160" indent="0">
              <a:buNone/>
            </a:pPr>
            <a:r>
              <a:rPr lang="en-US" dirty="0"/>
              <a:t>Your executive summary is not just a summary of your proposal. It is your chance to make </a:t>
            </a:r>
            <a:r>
              <a:rPr lang="en-US" dirty="0" smtClean="0"/>
              <a:t>your case </a:t>
            </a:r>
            <a:r>
              <a:rPr lang="en-US" dirty="0"/>
              <a:t>directly to the executives who will decide whether or not to do business with you</a:t>
            </a:r>
            <a:r>
              <a:rPr lang="en-US" dirty="0" smtClean="0"/>
              <a:t>.</a:t>
            </a:r>
          </a:p>
          <a:p>
            <a:pPr marL="137160" indent="0">
              <a:buNone/>
            </a:pPr>
            <a:endParaRPr lang="en-US" dirty="0"/>
          </a:p>
          <a:p>
            <a:pPr marL="137160" indent="0">
              <a:buNone/>
            </a:pPr>
            <a:r>
              <a:rPr lang="en-US" dirty="0"/>
              <a:t>Your </a:t>
            </a:r>
            <a:r>
              <a:rPr lang="en-US" dirty="0">
                <a:solidFill>
                  <a:srgbClr val="FF0000"/>
                </a:solidFill>
              </a:rPr>
              <a:t>executive summary </a:t>
            </a:r>
            <a:r>
              <a:rPr lang="en-US" dirty="0"/>
              <a:t>should</a:t>
            </a:r>
          </a:p>
          <a:p>
            <a:pPr marL="137160" indent="0">
              <a:buNone/>
            </a:pPr>
            <a:r>
              <a:rPr lang="en-US" dirty="0"/>
              <a:t>• identify your potential customer’s problem;</a:t>
            </a:r>
          </a:p>
          <a:p>
            <a:pPr marL="137160" indent="0">
              <a:buNone/>
            </a:pPr>
            <a:r>
              <a:rPr lang="en-US" dirty="0"/>
              <a:t>• recommend a solution to their problem;</a:t>
            </a:r>
          </a:p>
          <a:p>
            <a:pPr marL="137160" indent="0">
              <a:buNone/>
            </a:pPr>
            <a:r>
              <a:rPr lang="en-US" dirty="0"/>
              <a:t>• state why you are the best choice to implement this solution</a:t>
            </a:r>
            <a:r>
              <a:rPr lang="en-US" dirty="0" smtClean="0"/>
              <a:t>.</a:t>
            </a:r>
          </a:p>
          <a:p>
            <a:pPr marL="137160" indent="0">
              <a:buNone/>
            </a:pPr>
            <a:endParaRPr lang="en-US" dirty="0"/>
          </a:p>
          <a:p>
            <a:pPr marL="137160" indent="0">
              <a:buNone/>
            </a:pPr>
            <a:r>
              <a:rPr lang="en-US" dirty="0"/>
              <a:t>Be specific but concise; you will flesh out your points later in your proposal. Focus on </a:t>
            </a:r>
            <a:r>
              <a:rPr lang="en-US" dirty="0" smtClean="0"/>
              <a:t>your potential </a:t>
            </a:r>
            <a:r>
              <a:rPr lang="en-US" dirty="0"/>
              <a:t>customer and what you can provide them. Translate any complex topics so that they </a:t>
            </a:r>
            <a:r>
              <a:rPr lang="en-US" dirty="0" smtClean="0"/>
              <a:t>are easy </a:t>
            </a:r>
            <a:r>
              <a:rPr lang="en-US" dirty="0"/>
              <a:t>to understand.</a:t>
            </a:r>
          </a:p>
        </p:txBody>
      </p:sp>
    </p:spTree>
    <p:extLst>
      <p:ext uri="{BB962C8B-B14F-4D97-AF65-F5344CB8AC3E}">
        <p14:creationId xmlns:p14="http://schemas.microsoft.com/office/powerpoint/2010/main" val="25810285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0000" lnSpcReduction="20000"/>
          </a:bodyPr>
          <a:lstStyle/>
          <a:p>
            <a:pPr marL="13716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Problem Statement</a:t>
            </a:r>
            <a:r>
              <a:rPr lang="en-US" dirty="0" smtClean="0"/>
              <a:t>:</a:t>
            </a:r>
          </a:p>
          <a:p>
            <a:pPr marL="137160" indent="0" algn="just">
              <a:buNone/>
            </a:pPr>
            <a:r>
              <a:rPr lang="en-US" dirty="0"/>
              <a:t>Show your potential customer that you understand the problem they are facing. You </a:t>
            </a:r>
            <a:r>
              <a:rPr lang="en-US" dirty="0" smtClean="0"/>
              <a:t>should know </a:t>
            </a:r>
            <a:r>
              <a:rPr lang="en-US" dirty="0"/>
              <a:t>all about the problem from your extensive research. Use facts and emotional appeals </a:t>
            </a:r>
            <a:r>
              <a:rPr lang="en-US" dirty="0" smtClean="0"/>
              <a:t>to craft </a:t>
            </a:r>
            <a:r>
              <a:rPr lang="en-US" dirty="0"/>
              <a:t>a persuasive argument that their problem needs to be solved. Be detailed, but only </a:t>
            </a:r>
            <a:r>
              <a:rPr lang="en-US" dirty="0" smtClean="0"/>
              <a:t>include directly </a:t>
            </a:r>
            <a:r>
              <a:rPr lang="en-US" dirty="0"/>
              <a:t>relevant information</a:t>
            </a:r>
            <a:r>
              <a:rPr lang="en-US" dirty="0" smtClean="0"/>
              <a:t>.</a:t>
            </a:r>
          </a:p>
          <a:p>
            <a:pPr marL="137160" indent="0">
              <a:buNone/>
            </a:pPr>
            <a:endParaRPr lang="en-US" dirty="0"/>
          </a:p>
          <a:p>
            <a:pPr marL="13716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Proposed Solution</a:t>
            </a:r>
            <a:r>
              <a:rPr lang="en-US" dirty="0" smtClean="0"/>
              <a:t>:</a:t>
            </a:r>
          </a:p>
          <a:p>
            <a:pPr marL="137160" indent="0" algn="just">
              <a:buNone/>
            </a:pPr>
            <a:r>
              <a:rPr lang="en-US" dirty="0"/>
              <a:t>This will likely be the longest part of your business proposal. You want to convince </a:t>
            </a:r>
            <a:r>
              <a:rPr lang="en-US" dirty="0" smtClean="0"/>
              <a:t>your potential </a:t>
            </a:r>
            <a:r>
              <a:rPr lang="en-US" dirty="0"/>
              <a:t>customer that you have the best solution to their problem. Describe your solution, </a:t>
            </a:r>
            <a:r>
              <a:rPr lang="en-US" dirty="0" smtClean="0"/>
              <a:t>how it </a:t>
            </a:r>
            <a:r>
              <a:rPr lang="en-US" dirty="0"/>
              <a:t>will benefit your potential customer, and how you will implement it. Address any </a:t>
            </a:r>
            <a:r>
              <a:rPr lang="en-US" dirty="0" smtClean="0"/>
              <a:t>concerns your </a:t>
            </a:r>
            <a:r>
              <a:rPr lang="en-US" dirty="0"/>
              <a:t>potential customer may have. Explain the details of your proposed solution clearly </a:t>
            </a:r>
            <a:r>
              <a:rPr lang="en-US" dirty="0" smtClean="0"/>
              <a:t>and accurately</a:t>
            </a:r>
            <a:r>
              <a:rPr lang="en-US" dirty="0"/>
              <a:t>. Do not shy away from including technical information, as your target audience </a:t>
            </a:r>
            <a:r>
              <a:rPr lang="en-US" dirty="0" smtClean="0"/>
              <a:t>now includes </a:t>
            </a:r>
            <a:r>
              <a:rPr lang="en-US" dirty="0"/>
              <a:t>technical evaluators and specialists who do not require the simplified language you </a:t>
            </a:r>
            <a:r>
              <a:rPr lang="en-US" dirty="0" smtClean="0"/>
              <a:t>used in </a:t>
            </a:r>
            <a:r>
              <a:rPr lang="en-US" dirty="0"/>
              <a:t>your executive summary.</a:t>
            </a:r>
          </a:p>
        </p:txBody>
      </p:sp>
    </p:spTree>
    <p:extLst>
      <p:ext uri="{BB962C8B-B14F-4D97-AF65-F5344CB8AC3E}">
        <p14:creationId xmlns:p14="http://schemas.microsoft.com/office/powerpoint/2010/main" val="42835850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sz="2400" dirty="0" smtClean="0">
                <a:solidFill>
                  <a:srgbClr val="FF0000"/>
                </a:solidFill>
              </a:rPr>
              <a:t>Qualifications:</a:t>
            </a:r>
          </a:p>
          <a:p>
            <a:pPr marL="0" indent="0" algn="just">
              <a:buNone/>
            </a:pPr>
            <a:r>
              <a:rPr lang="en-US" sz="2400" dirty="0"/>
              <a:t>You must convince your potential customer that you are able to solve their problem. </a:t>
            </a:r>
            <a:r>
              <a:rPr lang="en-US" sz="2400" dirty="0" smtClean="0"/>
              <a:t>Establish the credentials </a:t>
            </a:r>
            <a:r>
              <a:rPr lang="en-US" sz="2400" dirty="0"/>
              <a:t>of your company. Inform your potential customer about your relevant </a:t>
            </a:r>
            <a:r>
              <a:rPr lang="en-US" sz="2400" dirty="0" smtClean="0"/>
              <a:t>expertise and </a:t>
            </a:r>
            <a:r>
              <a:rPr lang="en-US" sz="2400" dirty="0"/>
              <a:t>accomplishments. Consider using testimonials from previous customers and case </a:t>
            </a:r>
            <a:r>
              <a:rPr lang="en-US" sz="2400" dirty="0" smtClean="0"/>
              <a:t>studies demonstrating </a:t>
            </a:r>
            <a:r>
              <a:rPr lang="en-US" sz="2400" dirty="0"/>
              <a:t>your </a:t>
            </a:r>
            <a:r>
              <a:rPr lang="en-US" sz="2400" dirty="0" smtClean="0"/>
              <a:t>success.</a:t>
            </a:r>
          </a:p>
          <a:p>
            <a:r>
              <a:rPr lang="en-US" sz="2400" b="1" dirty="0">
                <a:solidFill>
                  <a:srgbClr val="FF0000"/>
                </a:solidFill>
              </a:rPr>
              <a:t>Timeline</a:t>
            </a:r>
          </a:p>
          <a:p>
            <a:r>
              <a:rPr lang="en-US" sz="2400" dirty="0"/>
              <a:t>Include a timeline so that your potential customer knows how long it will take you to implement</a:t>
            </a:r>
          </a:p>
          <a:p>
            <a:r>
              <a:rPr lang="en-US" sz="2400" dirty="0"/>
              <a:t>your proposed solution. Be as specific and realistic as possible. Consider using graphics </a:t>
            </a:r>
            <a:r>
              <a:rPr lang="en-US" sz="2400" dirty="0" smtClean="0"/>
              <a:t>to display </a:t>
            </a:r>
            <a:r>
              <a:rPr lang="en-US" sz="2400" dirty="0"/>
              <a:t>your timeline.</a:t>
            </a:r>
          </a:p>
          <a:p>
            <a:r>
              <a:rPr lang="en-US" sz="2400" b="1" dirty="0">
                <a:solidFill>
                  <a:srgbClr val="FF0000"/>
                </a:solidFill>
              </a:rPr>
              <a:t>Pricing</a:t>
            </a:r>
          </a:p>
          <a:p>
            <a:r>
              <a:rPr lang="en-US" sz="2400" dirty="0"/>
              <a:t>Include a realistic and detailed breakdown of costs. Make sure that your pricing structure is clear,</a:t>
            </a:r>
          </a:p>
          <a:p>
            <a:r>
              <a:rPr lang="en-US" sz="2400" dirty="0"/>
              <a:t>so your potential customer knows what they are paying for. Use tables and graphs to display</a:t>
            </a:r>
          </a:p>
          <a:p>
            <a:r>
              <a:rPr lang="en-US" sz="2400" dirty="0"/>
              <a:t>your pricing data. Consider including an analysis that shows the return on investment </a:t>
            </a:r>
            <a:r>
              <a:rPr lang="en-US" sz="2400" dirty="0" smtClean="0"/>
              <a:t>your potential </a:t>
            </a:r>
            <a:r>
              <a:rPr lang="en-US" sz="2400" dirty="0"/>
              <a:t>customer can expect</a:t>
            </a:r>
            <a:r>
              <a:rPr lang="en-US" sz="2400" dirty="0" smtClean="0"/>
              <a:t>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7211183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Terms and </a:t>
            </a:r>
            <a:r>
              <a:rPr lang="en-US" dirty="0" smtClean="0">
                <a:solidFill>
                  <a:srgbClr val="FF0000"/>
                </a:solidFill>
              </a:rPr>
              <a:t>Conditions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  <a:p>
            <a:pPr marL="0" indent="0" algn="just">
              <a:buNone/>
            </a:pPr>
            <a:r>
              <a:rPr lang="en-US" dirty="0"/>
              <a:t>This section lets your potential customer know what is expected of both parties should </a:t>
            </a:r>
            <a:r>
              <a:rPr lang="en-US" dirty="0" smtClean="0"/>
              <a:t>they accept </a:t>
            </a:r>
            <a:r>
              <a:rPr lang="en-US" dirty="0"/>
              <a:t>your proposal. This part is, in effect, a contract. Thoroughly cover billing </a:t>
            </a:r>
            <a:r>
              <a:rPr lang="en-US" dirty="0" smtClean="0"/>
              <a:t>procedures, project </a:t>
            </a:r>
            <a:r>
              <a:rPr lang="en-US" dirty="0"/>
              <a:t>scope, and other legal aspects of the deal. Your company may have a boilerplate</a:t>
            </a:r>
          </a:p>
          <a:p>
            <a:pPr marL="0" indent="0" algn="just">
              <a:buNone/>
            </a:pPr>
            <a:r>
              <a:rPr lang="en-US" dirty="0"/>
              <a:t>agreement that you can use. Keep in mind that these terms may be modified during </a:t>
            </a:r>
            <a:r>
              <a:rPr lang="en-US" dirty="0" smtClean="0"/>
              <a:t>negotiations. Consider </a:t>
            </a:r>
            <a:r>
              <a:rPr lang="en-US" dirty="0"/>
              <a:t>consulting a lawyer when working on this part of your business proposal.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Agreement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  <a:p>
            <a:pPr marL="0" indent="0" algn="just">
              <a:buNone/>
            </a:pPr>
            <a:r>
              <a:rPr lang="en-US" dirty="0"/>
              <a:t>If a proposal doesn’t lead to an agreement to do work together, then the proposal has </a:t>
            </a:r>
            <a:r>
              <a:rPr lang="en-US" dirty="0" smtClean="0"/>
              <a:t>failed. Make </a:t>
            </a:r>
            <a:r>
              <a:rPr lang="en-US" dirty="0"/>
              <a:t>it as easy as possible for your potential customer to accept your proposal. Include space </a:t>
            </a:r>
            <a:r>
              <a:rPr lang="en-US" dirty="0" smtClean="0"/>
              <a:t>for your </a:t>
            </a:r>
            <a:r>
              <a:rPr lang="en-US" dirty="0"/>
              <a:t>potential customer to sign. Like the terms and conditions, this part is, in effect, a contract.</a:t>
            </a:r>
          </a:p>
        </p:txBody>
      </p:sp>
    </p:spTree>
    <p:extLst>
      <p:ext uri="{BB962C8B-B14F-4D97-AF65-F5344CB8AC3E}">
        <p14:creationId xmlns:p14="http://schemas.microsoft.com/office/powerpoint/2010/main" val="123720381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vic">
  <a:themeElements>
    <a:clrScheme name="Civic">
      <a:dk1>
        <a:sysClr val="windowText" lastClr="000000"/>
      </a:dk1>
      <a:lt1>
        <a:sysClr val="window" lastClr="FFFFFF"/>
      </a:lt1>
      <a:dk2>
        <a:srgbClr val="646B86"/>
      </a:dk2>
      <a:lt2>
        <a:srgbClr val="C5D1D7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A3D6"/>
      </a:hlink>
      <a:folHlink>
        <a:srgbClr val="694F07"/>
      </a:folHlink>
    </a:clrScheme>
    <a:fontScheme name="Civic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Civic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Civic</Template>
  <TotalTime>192</TotalTime>
  <Words>1128</Words>
  <Application>Microsoft Office PowerPoint</Application>
  <PresentationFormat>On-screen Show (4:3)</PresentationFormat>
  <Paragraphs>80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Civic</vt:lpstr>
      <vt:lpstr>BUSINESS PROPOSAL</vt:lpstr>
      <vt:lpstr>What is a Proposal?</vt:lpstr>
      <vt:lpstr>Types of Proposals</vt:lpstr>
      <vt:lpstr>PowerPoint Presentation</vt:lpstr>
      <vt:lpstr>PowerPoint Presentation</vt:lpstr>
      <vt:lpstr>Advantages of Proposals</vt:lpstr>
      <vt:lpstr>PowerPoint Presentation</vt:lpstr>
      <vt:lpstr>Executive Summary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BUSINESS PROPOSAL</dc:title>
  <dc:creator>LENEVO</dc:creator>
  <cp:lastModifiedBy>LENEVO</cp:lastModifiedBy>
  <cp:revision>12</cp:revision>
  <dcterms:created xsi:type="dcterms:W3CDTF">2006-08-16T00:00:00Z</dcterms:created>
  <dcterms:modified xsi:type="dcterms:W3CDTF">2024-11-24T05:37:33Z</dcterms:modified>
</cp:coreProperties>
</file>