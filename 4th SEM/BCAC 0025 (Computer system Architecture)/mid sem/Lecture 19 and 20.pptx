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68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10BDC-F868-4237-AEE3-67E47637D5B3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CF7A-ACB2-47EE-B217-CF03707106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2E9493C-AFD4-4BE5-9D75-54C5DA41CF97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648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648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568450-CE26-4896-AC9F-F8AFEB0C4119}" type="slidenum">
              <a:rPr lang="zh-CN" altLang="en-US" smtClean="0">
                <a:latin typeface="Times New Roman" pitchFamily="18" charset="0"/>
              </a:rPr>
              <a:pPr/>
              <a:t>2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64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6B7E47A6-D4EE-40FA-AE46-0A0019A96E0D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10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1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71D98E-A127-4E0E-9821-3A8F4D0ACD7F}" type="slidenum">
              <a:rPr lang="zh-CN" altLang="en-US" smtClean="0">
                <a:latin typeface="Times New Roman" pitchFamily="18" charset="0"/>
              </a:rPr>
              <a:pPr/>
              <a:t>3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1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DE244E4-7AF1-41A7-B135-8767629BE864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20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20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109B05-1EA0-412F-8CAC-1A7CBCFFF055}" type="slidenum">
              <a:rPr lang="zh-CN" altLang="en-US" smtClean="0">
                <a:latin typeface="Times New Roman" pitchFamily="18" charset="0"/>
              </a:rPr>
              <a:pPr/>
              <a:t>4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20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1F4BB5D7-2D88-402B-B826-DB9C9C28A3A6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30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30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64D90F-A2D6-44E1-8F92-546042EE8DA5}" type="slidenum">
              <a:rPr lang="zh-CN" altLang="en-US" smtClean="0">
                <a:latin typeface="Times New Roman" pitchFamily="18" charset="0"/>
              </a:rPr>
              <a:pPr/>
              <a:t>5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3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1990CB6-4C65-48D7-982F-4F81B08D8048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40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40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C09383-FA86-40FB-9A63-8A47C8C71099}" type="slidenum">
              <a:rPr lang="zh-CN" altLang="en-US" smtClean="0">
                <a:latin typeface="Times New Roman" pitchFamily="18" charset="0"/>
              </a:rPr>
              <a:pPr/>
              <a:t>6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40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7785B98-8D59-41C8-8B68-88C2BAAB07DD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51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51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D5C489-5435-4193-AAD8-476E1FD1A64A}" type="slidenum">
              <a:rPr lang="zh-CN" altLang="en-US" smtClean="0">
                <a:latin typeface="Times New Roman" pitchFamily="18" charset="0"/>
              </a:rPr>
              <a:pPr/>
              <a:t>7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51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CD92C44-1309-4ADB-9B9C-2F71F5E8E696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61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61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15E5C6-F4C6-48F9-9204-8817995DEB8E}" type="slidenum">
              <a:rPr lang="zh-CN" altLang="en-US" smtClean="0">
                <a:latin typeface="Times New Roman" pitchFamily="18" charset="0"/>
              </a:rPr>
              <a:pPr/>
              <a:t>8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61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9C9A937-6CEE-43FE-98B2-A56E26EAF53C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7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7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C392AB-2BF1-4640-ABF9-38A890AB9145}" type="slidenum">
              <a:rPr lang="zh-CN" altLang="en-US" smtClean="0">
                <a:latin typeface="Times New Roman" pitchFamily="18" charset="0"/>
              </a:rPr>
              <a:pPr/>
              <a:t>9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7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052B3CB8-8EAB-476D-8999-8B3F348BBDFC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8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8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76574-7CDB-4DBB-96B3-C28850647F9B}" type="slidenum">
              <a:rPr lang="zh-CN" altLang="en-US" smtClean="0">
                <a:latin typeface="Times New Roman" pitchFamily="18" charset="0"/>
              </a:rPr>
              <a:pPr/>
              <a:t>10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8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B6CF0AEC-D728-4D7E-A073-E2B9F3DB764B}" type="datetime5">
              <a:rPr lang="zh-CN" altLang="en-US" smtClean="0">
                <a:latin typeface="Times New Roman" pitchFamily="18" charset="0"/>
              </a:rPr>
              <a:pPr/>
              <a:t>2021/11/12</a:t>
            </a:fld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latin typeface="Times New Roman" pitchFamily="18" charset="0"/>
              </a:rPr>
              <a:t>Boolean Algebra</a:t>
            </a:r>
            <a:endParaRPr lang="en-US" altLang="zh-CN" smtClean="0">
              <a:latin typeface="Times New Roman" pitchFamily="18" charset="0"/>
            </a:endParaRPr>
          </a:p>
        </p:txBody>
      </p:sp>
      <p:sp>
        <p:nvSpPr>
          <p:cNvPr id="1792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48933D-D308-48A4-877B-B88E54AF6647}" type="slidenum">
              <a:rPr lang="zh-CN" altLang="en-US" smtClean="0">
                <a:latin typeface="Times New Roman" pitchFamily="18" charset="0"/>
              </a:rPr>
              <a:pPr/>
              <a:t>11</a:t>
            </a:fld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79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C2305-5D4D-4D72-9880-D19CB68A84F9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</a:t>
            </a:r>
            <a:r>
              <a:rPr lang="en-US" altLang="zh-CN">
                <a:latin typeface="+mn-lt"/>
              </a:rPr>
              <a:t>PJF - </a:t>
            </a:r>
            <a:fld id="{EB5A1B3E-C963-43B9-A84E-EDCD4DBEB9F4}" type="slidenum">
              <a:rPr lang="en-US" altLang="zh-CN">
                <a:latin typeface="+mn-lt"/>
              </a:rPr>
              <a:pPr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143D5-C0D8-478B-A295-63A24D4E121A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</a:t>
            </a:r>
            <a:r>
              <a:rPr lang="en-US" altLang="zh-CN">
                <a:latin typeface="+mn-lt"/>
              </a:rPr>
              <a:t>PJF - </a:t>
            </a:r>
            <a:fld id="{B89DDDB6-5BA6-44D2-B04D-4E928088E82D}" type="slidenum">
              <a:rPr lang="en-US" altLang="zh-CN">
                <a:latin typeface="+mn-lt"/>
              </a:rPr>
              <a:pPr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261F2-8AF9-47FE-89FD-6FDCF28488B4}" type="datetimeFigureOut">
              <a:rPr lang="en-US" smtClean="0"/>
              <a:pPr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E48FA-8482-4D6A-9F5F-AE7B7D734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</a:t>
            </a:r>
            <a:r>
              <a:rPr lang="en-US" sz="3200" b="1" dirty="0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NAND Gate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Known as a “universal” gate because ANY digital circuit can be implemented with NAND gates alone.</a:t>
            </a:r>
          </a:p>
          <a:p>
            <a:pPr eaLnBrk="1" hangingPunct="1"/>
            <a:r>
              <a:rPr lang="en-US" altLang="zh-CN" dirty="0" smtClean="0"/>
              <a:t>To prove the above, it suffices to show that AND, OR, and NOT can be implemented using NAND gates only.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5D8C2D1-99D6-4B20-8D82-CE3B9537C4EC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809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98726DA4-B742-4539-9AA8-E469AF214829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mtClean="0">
                <a:cs typeface="Simplified Arabic" pitchFamily="2" charset="-78"/>
              </a:rPr>
              <a:t>Two-Level NAND Gate Implementation - Example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305800" cy="4525963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altLang="zh-CN" dirty="0" smtClean="0">
                <a:cs typeface="Simplified Arabic" pitchFamily="2" charset="-78"/>
              </a:rPr>
              <a:t>F (X,Y,Z) = </a:t>
            </a:r>
            <a:r>
              <a:rPr lang="en-US" altLang="zh-CN" b="1" dirty="0" smtClean="0">
                <a:cs typeface="Simplified Arabic" pitchFamily="2" charset="-78"/>
                <a:sym typeface="Symbol" pitchFamily="18" charset="2"/>
              </a:rPr>
              <a:t></a:t>
            </a:r>
            <a:r>
              <a:rPr lang="en-US" altLang="zh-CN" dirty="0" smtClean="0">
                <a:cs typeface="Simplified Arabic" pitchFamily="2" charset="-78"/>
              </a:rPr>
              <a:t>m(0,6)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CN" dirty="0" smtClean="0">
                <a:cs typeface="Simplified Arabic" pitchFamily="2" charset="-78"/>
              </a:rPr>
              <a:t>Express F in SOP form: </a:t>
            </a:r>
            <a:br>
              <a:rPr lang="en-US" altLang="zh-CN" dirty="0" smtClean="0">
                <a:cs typeface="Simplified Arabic" pitchFamily="2" charset="-78"/>
              </a:rPr>
            </a:br>
            <a:r>
              <a:rPr lang="en-US" altLang="zh-CN" dirty="0" smtClean="0">
                <a:cs typeface="Simplified Arabic" pitchFamily="2" charset="-78"/>
              </a:rPr>
              <a:t>F = X’Y’Z’ + XYZ’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CN" dirty="0" smtClean="0">
                <a:cs typeface="Simplified Arabic" pitchFamily="2" charset="-78"/>
              </a:rPr>
              <a:t>Obtain the AND-OR implementation for F.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CN" dirty="0" smtClean="0">
                <a:cs typeface="Simplified Arabic" pitchFamily="2" charset="-78"/>
              </a:rPr>
              <a:t>Add bubbles and inverters to transform AND-OR to NAND-NAND gates.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15C605-A234-4F64-B05E-D0A91AB0C251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870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3388C294-A3BF-4EC7-B165-8C861EAC4656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(cont.)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181600"/>
            <a:ext cx="8229600" cy="1084263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mtClean="0"/>
              <a:t>Two-level implementation with NANDs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mtClean="0">
                <a:cs typeface="Simplified Arabic" pitchFamily="2" charset="-78"/>
              </a:rPr>
              <a:t>F = X’Y’Z’ + XYZ’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39DD45-3AA1-4564-ADB3-2556D09359B4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880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2865647D-6763-48E8-B773-1BB74DE06FF9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88071" name="Picture 4" descr="nandex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447800"/>
            <a:ext cx="8305800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Multilevel NAND Circuits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smtClean="0"/>
              <a:t>Starting from a multilevel circuit: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Convert all AND gates to NAND gates with AND-NOT graphic symbols.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Convert all OR gates to NAND gates with NOT-OR graphic symbols.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Check all the bubbles in the diagram.  For every bubble that is not counteracted by another bubble along the same line, insert a NOT gate or complement the input literal from its original appearance.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D68E6E4-F941-47BF-BD33-5623A94372BD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890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9B05A8FE-9CD6-41D7-93B8-EE8FF62721A5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228600"/>
            <a:ext cx="3886200" cy="1219200"/>
          </a:xfrm>
        </p:spPr>
        <p:txBody>
          <a:bodyPr/>
          <a:lstStyle/>
          <a:p>
            <a:pPr eaLnBrk="1" hangingPunct="1"/>
            <a:r>
              <a:rPr lang="en-US" altLang="zh-CN" smtClean="0"/>
              <a:t>Example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45720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mtClean="0"/>
              <a:t>   </a:t>
            </a:r>
            <a:r>
              <a:rPr lang="en-US" altLang="zh-CN" smtClean="0"/>
              <a:t>Use NAND gates </a:t>
            </a:r>
            <a:br>
              <a:rPr lang="en-US" altLang="zh-CN" smtClean="0"/>
            </a:br>
            <a:r>
              <a:rPr lang="en-US" altLang="zh-CN" smtClean="0"/>
              <a:t>and NOT gates to implement </a:t>
            </a:r>
            <a:br>
              <a:rPr lang="en-US" altLang="zh-CN" smtClean="0"/>
            </a:br>
            <a:r>
              <a:rPr lang="en-US" altLang="zh-CN" sz="2800" smtClean="0"/>
              <a:t>Z=E’F(AB+C’+D’)+GH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  AB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  AB+C’+D’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E’F(AB+C’+D’)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E’F(AB+C’+D’)+GH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smtClean="0"/>
              <a:t>             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mtClean="0"/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B564ACF-D4DA-4C51-8C67-5F0A37B90D52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901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8E31F44D-1F7A-4E7C-B643-7B8A863CEE04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90119" name="Picture 4" descr="synthesi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152400"/>
            <a:ext cx="4892675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0120" name="Line 5"/>
          <p:cNvSpPr>
            <a:spLocks noChangeShapeType="1"/>
          </p:cNvSpPr>
          <p:nvPr/>
        </p:nvSpPr>
        <p:spPr bwMode="auto">
          <a:xfrm flipV="1">
            <a:off x="3429000" y="36576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026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Yet Another Example!</a:t>
            </a:r>
          </a:p>
        </p:txBody>
      </p:sp>
      <p:pic>
        <p:nvPicPr>
          <p:cNvPr id="91139" name="Picture 1027" descr="ch02-f40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t="38724" b="6790"/>
          <a:stretch>
            <a:fillRect/>
          </a:stretch>
        </p:blipFill>
        <p:spPr>
          <a:xfrm>
            <a:off x="1143000" y="1295400"/>
            <a:ext cx="7086600" cy="4997450"/>
          </a:xfrm>
          <a:noFill/>
        </p:spPr>
      </p:pic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B2EB000-375D-4A42-9A0A-F264F2BBC6E1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911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ACC3EB8B-285D-4026-BA4B-16E8AA08044D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NOR Gate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Also a “universal” gate because ANY digital circuit can be implemented with NOR gates alone.</a:t>
            </a:r>
          </a:p>
          <a:p>
            <a:pPr eaLnBrk="1" hangingPunct="1"/>
            <a:r>
              <a:rPr lang="en-US" altLang="zh-CN" dirty="0" smtClean="0"/>
              <a:t>This can be similarly proven as with the NAND gate.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908CACD-7FA6-4C41-972D-5936BD7D0567}" type="datetime5">
              <a:rPr lang="zh-CN" altLang="en-US" smtClean="0"/>
              <a:pPr>
                <a:defRPr/>
              </a:pPr>
              <a:t>2021/11/12</a:t>
            </a:fld>
            <a:endParaRPr lang="en-US" altLang="zh-CN" smtClean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 </a:t>
            </a:r>
            <a:r>
              <a:rPr lang="en-US" altLang="zh-CN" smtClean="0"/>
              <a:t>PJF - </a:t>
            </a:r>
            <a:fld id="{3FD81623-293F-4719-BA63-607732487D36}" type="slidenum">
              <a:rPr lang="en-US" altLang="zh-CN" smtClean="0"/>
              <a:pPr>
                <a:defRPr/>
              </a:pPr>
              <a:t>8</a:t>
            </a:fld>
            <a:endParaRPr lang="en-US" altLang="zh-CN" smtClean="0"/>
          </a:p>
        </p:txBody>
      </p:sp>
      <p:sp>
        <p:nvSpPr>
          <p:cNvPr id="9216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Boolean Algebra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NOR Circuits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4525963"/>
          </a:xfrm>
        </p:spPr>
        <p:txBody>
          <a:bodyPr/>
          <a:lstStyle/>
          <a:p>
            <a:pPr eaLnBrk="1" hangingPunct="1"/>
            <a:r>
              <a:rPr lang="en-US" altLang="zh-CN" sz="2800" dirty="0" smtClean="0"/>
              <a:t>To easily derive a NOR implementation of a </a:t>
            </a:r>
            <a:r>
              <a:rPr lang="en-US" altLang="zh-CN" sz="2800" dirty="0" err="1" smtClean="0"/>
              <a:t>boolean</a:t>
            </a:r>
            <a:r>
              <a:rPr lang="en-US" altLang="zh-CN" sz="2800" dirty="0" smtClean="0"/>
              <a:t> function:</a:t>
            </a:r>
          </a:p>
          <a:p>
            <a:pPr lvl="1" eaLnBrk="1" hangingPunct="1"/>
            <a:r>
              <a:rPr lang="en-US" altLang="zh-CN" sz="2400" dirty="0" smtClean="0"/>
              <a:t>Find a simplified POS</a:t>
            </a:r>
          </a:p>
          <a:p>
            <a:pPr lvl="1" eaLnBrk="1" hangingPunct="1"/>
            <a:r>
              <a:rPr lang="en-US" altLang="zh-CN" sz="2400" dirty="0" smtClean="0"/>
              <a:t>POS is an OR-AND circuit</a:t>
            </a:r>
          </a:p>
          <a:p>
            <a:pPr lvl="1" eaLnBrk="1" hangingPunct="1"/>
            <a:r>
              <a:rPr lang="en-US" altLang="zh-CN" sz="2400" dirty="0" smtClean="0"/>
              <a:t>Change OR-AND circuit to a NOR circuit</a:t>
            </a:r>
          </a:p>
          <a:p>
            <a:pPr lvl="1" eaLnBrk="1" hangingPunct="1"/>
            <a:r>
              <a:rPr lang="en-US" altLang="zh-CN" sz="2400" dirty="0" smtClean="0"/>
              <a:t>Use the alternative symbols below</a:t>
            </a:r>
          </a:p>
        </p:txBody>
      </p:sp>
      <p:pic>
        <p:nvPicPr>
          <p:cNvPr id="93188" name="Picture 4" descr="ch02-f4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 l="11893" t="58084" b="25920"/>
          <a:stretch>
            <a:fillRect/>
          </a:stretch>
        </p:blipFill>
        <p:spPr>
          <a:xfrm>
            <a:off x="946150" y="4419600"/>
            <a:ext cx="7359650" cy="1825625"/>
          </a:xfrm>
          <a:noFill/>
        </p:spPr>
      </p:pic>
      <p:sp>
        <p:nvSpPr>
          <p:cNvPr id="2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54198C-C559-4376-AF92-90DB7DF52B9C}" type="datetime5">
              <a:rPr lang="zh-CN" altLang="en-US" smtClean="0"/>
              <a:pPr>
                <a:defRPr/>
              </a:pPr>
              <a:t>2021/11/12</a:t>
            </a:fld>
            <a:endParaRPr lang="en-US" altLang="zh-CN" smtClean="0"/>
          </a:p>
        </p:txBody>
      </p:sp>
      <p:sp>
        <p:nvSpPr>
          <p:cNvPr id="3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 </a:t>
            </a:r>
            <a:r>
              <a:rPr lang="en-US" altLang="zh-CN" smtClean="0"/>
              <a:t>PJF - </a:t>
            </a:r>
            <a:fld id="{F8D3431D-4134-45F0-94F9-7D7A73663188}" type="slidenum">
              <a:rPr lang="en-US" altLang="zh-CN" smtClean="0"/>
              <a:pPr>
                <a:defRPr/>
              </a:pPr>
              <a:t>9</a:t>
            </a:fld>
            <a:endParaRPr lang="en-US" altLang="zh-CN" smtClean="0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Boolean Algebra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mtClean="0"/>
              <a:t>Two-Level NOR Gate Implementation - Example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 smtClean="0"/>
              <a:t>F(X,Y,Z) = </a:t>
            </a:r>
            <a:r>
              <a:rPr lang="en-US" altLang="zh-CN" sz="2800" b="1" dirty="0" smtClean="0">
                <a:sym typeface="Symbol" pitchFamily="18" charset="2"/>
              </a:rPr>
              <a:t></a:t>
            </a:r>
            <a:r>
              <a:rPr lang="en-US" altLang="zh-CN" sz="2800" dirty="0" smtClean="0"/>
              <a:t>m(0,6)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Express F’ in SOP form: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400" dirty="0" smtClean="0"/>
              <a:t>F’ = </a:t>
            </a:r>
            <a:r>
              <a:rPr lang="en-US" altLang="zh-CN" sz="2400" b="1" dirty="0" smtClean="0">
                <a:sym typeface="Symbol" pitchFamily="18" charset="2"/>
              </a:rPr>
              <a:t></a:t>
            </a:r>
            <a:r>
              <a:rPr lang="en-US" altLang="zh-CN" sz="2400" dirty="0" smtClean="0">
                <a:sym typeface="Symbol" pitchFamily="18" charset="2"/>
              </a:rPr>
              <a:t>m(1,2,3,4,5,7)</a:t>
            </a:r>
            <a:br>
              <a:rPr lang="en-US" altLang="zh-CN" sz="2400" dirty="0" smtClean="0">
                <a:sym typeface="Symbol" pitchFamily="18" charset="2"/>
              </a:rPr>
            </a:br>
            <a:r>
              <a:rPr lang="en-US" altLang="zh-CN" sz="2400" dirty="0" smtClean="0">
                <a:sym typeface="Symbol" pitchFamily="18" charset="2"/>
              </a:rPr>
              <a:t>    = </a:t>
            </a:r>
            <a:r>
              <a:rPr lang="en-US" altLang="zh-CN" sz="2000" dirty="0" smtClean="0">
                <a:sym typeface="Symbol" pitchFamily="18" charset="2"/>
              </a:rPr>
              <a:t>X’Y’Z + X’YZ’ + X’YZ + XY’Z’ + XY’Z + XYZ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400" dirty="0" smtClean="0"/>
              <a:t>F’ = XY’ + X’Y + Z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Take the complement of F’ to get F in the POS form: F = (F’)' = (X'+Y)(X+Y')Z'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Obtain the OR-AND implementation for F.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800" dirty="0" smtClean="0"/>
              <a:t>Add bubbles and inverters to transform OR-AND implementation to NOR-NOR implementation.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4B795F0-AEDC-45F9-BE89-EEB03BD5CEDA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942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F7CD282F-F8A3-4741-A697-0539B4C325A5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Example (cont.)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24400"/>
            <a:ext cx="8229600" cy="1084263"/>
          </a:xfrm>
        </p:spPr>
        <p:txBody>
          <a:bodyPr/>
          <a:lstStyle/>
          <a:p>
            <a:pPr marL="609600" indent="-609600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mtClean="0"/>
              <a:t>Two-level implementation with NORs</a:t>
            </a:r>
          </a:p>
          <a:p>
            <a:pPr marL="609600" indent="-609600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mtClean="0"/>
              <a:t>F = (F’)' = (X'+Y)(X+Y')Z'</a:t>
            </a:r>
          </a:p>
          <a:p>
            <a:pPr marL="609600" indent="-609600"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800" smtClean="0"/>
          </a:p>
        </p:txBody>
      </p:sp>
      <p:sp>
        <p:nvSpPr>
          <p:cNvPr id="2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833E-8E3A-485C-97FF-2E0D7A4AFBCD}" type="datetime5">
              <a:rPr lang="zh-CN" altLang="en-US"/>
              <a:pPr>
                <a:defRPr/>
              </a:pPr>
              <a:t>2021/11/12</a:t>
            </a:fld>
            <a:endParaRPr lang="en-US" altLang="zh-CN"/>
          </a:p>
        </p:txBody>
      </p:sp>
      <p:sp>
        <p:nvSpPr>
          <p:cNvPr id="952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Boolean Algebra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 </a:t>
            </a:r>
            <a:r>
              <a:rPr lang="en-US" altLang="zh-CN"/>
              <a:t>PJF - </a:t>
            </a:r>
            <a:fld id="{0903FC18-2336-43A1-820D-722DE2B3AD1E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95239" name="Picture 4" descr="norex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50988"/>
            <a:ext cx="8305800" cy="294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400</Words>
  <Application>Microsoft Office PowerPoint</Application>
  <PresentationFormat>On-screen Show (4:3)</PresentationFormat>
  <Paragraphs>110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BCA Ist Semester  Introduction of Logic Circuit and Digital Design(ILCDD) Course Code: BCAC0003</vt:lpstr>
      <vt:lpstr>NAND Gate</vt:lpstr>
      <vt:lpstr>Two-Level NAND Gate Implementation - Example</vt:lpstr>
      <vt:lpstr>Example (cont.)</vt:lpstr>
      <vt:lpstr>Multilevel NAND Circuits</vt:lpstr>
      <vt:lpstr>Example</vt:lpstr>
      <vt:lpstr>Yet Another Example!</vt:lpstr>
      <vt:lpstr>NOR Gate</vt:lpstr>
      <vt:lpstr>NOR Circuits</vt:lpstr>
      <vt:lpstr>Two-Level NOR Gate Implementation - Example</vt:lpstr>
      <vt:lpstr>Example (cont.)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13</cp:revision>
  <dcterms:created xsi:type="dcterms:W3CDTF">2020-10-21T09:50:54Z</dcterms:created>
  <dcterms:modified xsi:type="dcterms:W3CDTF">2021-11-12T17:06:33Z</dcterms:modified>
</cp:coreProperties>
</file>