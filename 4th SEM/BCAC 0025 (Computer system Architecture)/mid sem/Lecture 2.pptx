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5" r:id="rId2"/>
    <p:sldId id="271" r:id="rId3"/>
    <p:sldId id="272" r:id="rId4"/>
    <p:sldId id="289" r:id="rId5"/>
    <p:sldId id="292" r:id="rId6"/>
    <p:sldId id="290" r:id="rId7"/>
    <p:sldId id="276" r:id="rId8"/>
    <p:sldId id="291" r:id="rId9"/>
    <p:sldId id="282" r:id="rId10"/>
    <p:sldId id="275" r:id="rId11"/>
    <p:sldId id="293" r:id="rId12"/>
    <p:sldId id="283" r:id="rId13"/>
    <p:sldId id="273" r:id="rId14"/>
    <p:sldId id="294" r:id="rId15"/>
    <p:sldId id="285" r:id="rId16"/>
    <p:sldId id="277" r:id="rId17"/>
    <p:sldId id="28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06309-B30F-4548-8B15-CADD68BC05C2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E7691-E093-45BA-96CA-F3344D34E5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3BB37-C0CA-48A0-85F1-8F900B22BF21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2B20F-30DE-4E5B-B087-774ED4C7F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</a:t>
            </a:r>
            <a:r>
              <a:rPr lang="en-US" sz="3200" b="1" smtClean="0"/>
              <a:t>: </a:t>
            </a:r>
            <a:r>
              <a:rPr lang="en-US" sz="3200" b="1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NUMBER SYSTEM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Number systems are the technique to represent numbers in the computer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architecture.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number system is a writing system for expressing numbers.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mathematical notations for representing numbers of a given set ,using digits or other symbols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also allow us to operate arithmetic operations</a:t>
            </a:r>
            <a:r>
              <a:rPr lang="en-US" sz="2800" b="1" dirty="0" smtClean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Computer architecture supports following number systems.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Binary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number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(Base is 2 (0,1))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Octal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number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(Base is 8 (0,1,2,3…..7))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Decimal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number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(Base is 10 (0,1,2,3……9))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Hexadecimal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(hex) number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(Base is 16 (0,1,3,4…….9,A,B,C,D,E,F))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DECIMAL NUMBER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Decimal number system has only ten (10) digits from 0 to 9.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number (value) represents with 0,1,2,3,4,5,6, 7,8 and 9 in this number system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base of decimal number system is 10, because it has only 10 digits</a:t>
            </a:r>
            <a:r>
              <a:rPr lang="en-US" b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457200" y="4876800"/>
          <a:ext cx="822960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7056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……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6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5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4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3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2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1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10</a:t>
                      </a:r>
                      <a:r>
                        <a:rPr lang="en-US" sz="2800" baseline="30000" dirty="0" smtClean="0"/>
                        <a:t>0</a:t>
                      </a:r>
                      <a:endParaRPr lang="en-US" sz="2800" baseline="30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838200"/>
            <a:ext cx="7543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contains a positional value system. Means the value of digits will depend on its position.</a:t>
            </a:r>
          </a:p>
          <a:p>
            <a:pPr>
              <a:buFont typeface="Wingdings" pitchFamily="2" charset="2"/>
              <a:buChar char="§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739, 971, 207 the value of 7 is different in all three numbers.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where Each digit has its value expressed in powers of 10 as shown here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Decimal Number System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381001" y="1371599"/>
            <a:ext cx="8330712" cy="495141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/>
              <a:t>Base (also called radix) = 10 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10 digits { 0, 1, 2, 3, 4, 5, 6, 7, 8, 9 }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Digit Position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Integer &amp; fraction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Digit Weight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Weight = (</a:t>
            </a:r>
            <a:r>
              <a:rPr lang="en-US" altLang="en-US" i="1" dirty="0" smtClean="0">
                <a:sym typeface="Wingdings" pitchFamily="2" charset="2"/>
              </a:rPr>
              <a:t>Base) </a:t>
            </a:r>
            <a:r>
              <a:rPr lang="en-US" altLang="en-US" i="1" baseline="50000" dirty="0" smtClean="0">
                <a:sym typeface="Wingdings" pitchFamily="2" charset="2"/>
              </a:rPr>
              <a:t>Position</a:t>
            </a:r>
            <a:endParaRPr lang="en-US" altLang="en-US" i="1" dirty="0" smtClean="0">
              <a:sym typeface="Wingdings" pitchFamily="2" charset="2"/>
            </a:endParaRP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Magnitude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Sum of “</a:t>
            </a:r>
            <a:r>
              <a:rPr lang="en-US" altLang="en-US" i="1" dirty="0" smtClean="0">
                <a:sym typeface="Wingdings" pitchFamily="2" charset="2"/>
              </a:rPr>
              <a:t>Digit</a:t>
            </a:r>
            <a:r>
              <a:rPr lang="en-US" altLang="en-US" dirty="0" smtClean="0">
                <a:sym typeface="Wingdings" pitchFamily="2" charset="2"/>
              </a:rPr>
              <a:t> x </a:t>
            </a:r>
            <a:r>
              <a:rPr lang="en-US" altLang="en-US" i="1" dirty="0" smtClean="0">
                <a:sym typeface="Wingdings" pitchFamily="2" charset="2"/>
              </a:rPr>
              <a:t>Weight</a:t>
            </a:r>
            <a:r>
              <a:rPr lang="en-US" altLang="en-US" dirty="0" smtClean="0">
                <a:sym typeface="Wingdings" pitchFamily="2" charset="2"/>
              </a:rPr>
              <a:t>”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Formal Notation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832231" y="2352675"/>
            <a:ext cx="2879481" cy="1108075"/>
            <a:chOff x="3674" y="1482"/>
            <a:chExt cx="1814" cy="698"/>
          </a:xfrm>
        </p:grpSpPr>
        <p:sp>
          <p:nvSpPr>
            <p:cNvPr id="41434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35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36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37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0" cy="245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38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39" name="Text Box 11"/>
            <p:cNvSpPr txBox="1">
              <a:spLocks noChangeArrowheads="1"/>
            </p:cNvSpPr>
            <p:nvPr/>
          </p:nvSpPr>
          <p:spPr bwMode="auto">
            <a:xfrm>
              <a:off x="4014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1440" name="Text Box 12"/>
            <p:cNvSpPr txBox="1">
              <a:spLocks noChangeArrowheads="1"/>
            </p:cNvSpPr>
            <p:nvPr/>
          </p:nvSpPr>
          <p:spPr bwMode="auto">
            <a:xfrm>
              <a:off x="4355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41441" name="Text Box 13"/>
            <p:cNvSpPr txBox="1">
              <a:spLocks noChangeArrowheads="1"/>
            </p:cNvSpPr>
            <p:nvPr/>
          </p:nvSpPr>
          <p:spPr bwMode="auto">
            <a:xfrm>
              <a:off x="4922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41442" name="Text Box 14"/>
            <p:cNvSpPr txBox="1">
              <a:spLocks noChangeArrowheads="1"/>
            </p:cNvSpPr>
            <p:nvPr/>
          </p:nvSpPr>
          <p:spPr bwMode="auto">
            <a:xfrm>
              <a:off x="3674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41443" name="Rectangle 15"/>
            <p:cNvSpPr>
              <a:spLocks noChangeArrowheads="1"/>
            </p:cNvSpPr>
            <p:nvPr/>
          </p:nvSpPr>
          <p:spPr bwMode="auto">
            <a:xfrm>
              <a:off x="5261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44" name="Text Box 16"/>
            <p:cNvSpPr txBox="1">
              <a:spLocks noChangeArrowheads="1"/>
            </p:cNvSpPr>
            <p:nvPr/>
          </p:nvSpPr>
          <p:spPr bwMode="auto">
            <a:xfrm>
              <a:off x="5261" y="1482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</p:grpSp>
      <p:sp>
        <p:nvSpPr>
          <p:cNvPr id="98321" name="Text Box 17"/>
          <p:cNvSpPr txBox="1">
            <a:spLocks noChangeArrowheads="1"/>
          </p:cNvSpPr>
          <p:nvPr/>
        </p:nvSpPr>
        <p:spPr bwMode="auto">
          <a:xfrm>
            <a:off x="5832231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98322" name="Text Box 18"/>
          <p:cNvSpPr txBox="1">
            <a:spLocks noChangeArrowheads="1"/>
          </p:cNvSpPr>
          <p:nvPr/>
        </p:nvSpPr>
        <p:spPr bwMode="auto">
          <a:xfrm>
            <a:off x="6372959" y="2709863"/>
            <a:ext cx="359019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98323" name="Text Box 19"/>
          <p:cNvSpPr txBox="1">
            <a:spLocks noChangeArrowheads="1"/>
          </p:cNvSpPr>
          <p:nvPr/>
        </p:nvSpPr>
        <p:spPr bwMode="auto">
          <a:xfrm>
            <a:off x="6912220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98324" name="Text Box 20"/>
          <p:cNvSpPr txBox="1">
            <a:spLocks noChangeArrowheads="1"/>
          </p:cNvSpPr>
          <p:nvPr/>
        </p:nvSpPr>
        <p:spPr bwMode="auto">
          <a:xfrm>
            <a:off x="7811966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98325" name="Text Box 21"/>
          <p:cNvSpPr txBox="1">
            <a:spLocks noChangeArrowheads="1"/>
          </p:cNvSpPr>
          <p:nvPr/>
        </p:nvSpPr>
        <p:spPr bwMode="auto">
          <a:xfrm>
            <a:off x="8351228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4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729654" y="3613150"/>
            <a:ext cx="3062654" cy="1108075"/>
            <a:chOff x="3609" y="2387"/>
            <a:chExt cx="1929" cy="698"/>
          </a:xfrm>
        </p:grpSpPr>
        <p:sp>
          <p:nvSpPr>
            <p:cNvPr id="41423" name="Rectangle 23"/>
            <p:cNvSpPr>
              <a:spLocks noChangeArrowheads="1"/>
            </p:cNvSpPr>
            <p:nvPr/>
          </p:nvSpPr>
          <p:spPr bwMode="auto">
            <a:xfrm>
              <a:off x="4014" y="2614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24" name="Rectangle 24"/>
            <p:cNvSpPr>
              <a:spLocks noChangeArrowheads="1"/>
            </p:cNvSpPr>
            <p:nvPr/>
          </p:nvSpPr>
          <p:spPr bwMode="auto">
            <a:xfrm>
              <a:off x="4355" y="2614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25" name="Oval 25"/>
            <p:cNvSpPr>
              <a:spLocks noChangeArrowheads="1"/>
            </p:cNvSpPr>
            <p:nvPr/>
          </p:nvSpPr>
          <p:spPr bwMode="auto">
            <a:xfrm>
              <a:off x="4695" y="2840"/>
              <a:ext cx="0" cy="245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26" name="Rectangle 26"/>
            <p:cNvSpPr>
              <a:spLocks noChangeArrowheads="1"/>
            </p:cNvSpPr>
            <p:nvPr/>
          </p:nvSpPr>
          <p:spPr bwMode="auto">
            <a:xfrm>
              <a:off x="4922" y="2614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27" name="Text Box 27"/>
            <p:cNvSpPr txBox="1">
              <a:spLocks noChangeArrowheads="1"/>
            </p:cNvSpPr>
            <p:nvPr/>
          </p:nvSpPr>
          <p:spPr bwMode="auto">
            <a:xfrm>
              <a:off x="4014" y="238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10</a:t>
              </a:r>
            </a:p>
          </p:txBody>
        </p:sp>
        <p:sp>
          <p:nvSpPr>
            <p:cNvPr id="41428" name="Text Box 28"/>
            <p:cNvSpPr txBox="1">
              <a:spLocks noChangeArrowheads="1"/>
            </p:cNvSpPr>
            <p:nvPr/>
          </p:nvSpPr>
          <p:spPr bwMode="auto">
            <a:xfrm>
              <a:off x="4355" y="238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1429" name="Text Box 29"/>
            <p:cNvSpPr txBox="1">
              <a:spLocks noChangeArrowheads="1"/>
            </p:cNvSpPr>
            <p:nvPr/>
          </p:nvSpPr>
          <p:spPr bwMode="auto">
            <a:xfrm>
              <a:off x="4922" y="238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0.1</a:t>
              </a:r>
            </a:p>
          </p:txBody>
        </p:sp>
        <p:sp>
          <p:nvSpPr>
            <p:cNvPr id="41430" name="Text Box 30"/>
            <p:cNvSpPr txBox="1">
              <a:spLocks noChangeArrowheads="1"/>
            </p:cNvSpPr>
            <p:nvPr/>
          </p:nvSpPr>
          <p:spPr bwMode="auto">
            <a:xfrm>
              <a:off x="3609" y="2387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41431" name="Rectangle 31"/>
            <p:cNvSpPr>
              <a:spLocks noChangeArrowheads="1"/>
            </p:cNvSpPr>
            <p:nvPr/>
          </p:nvSpPr>
          <p:spPr bwMode="auto">
            <a:xfrm>
              <a:off x="5261" y="2614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432" name="Text Box 32"/>
            <p:cNvSpPr txBox="1">
              <a:spLocks noChangeArrowheads="1"/>
            </p:cNvSpPr>
            <p:nvPr/>
          </p:nvSpPr>
          <p:spPr bwMode="auto">
            <a:xfrm>
              <a:off x="5197" y="2387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0.01</a:t>
              </a:r>
            </a:p>
          </p:txBody>
        </p:sp>
        <p:sp>
          <p:nvSpPr>
            <p:cNvPr id="41433" name="Rectangle 33"/>
            <p:cNvSpPr>
              <a:spLocks noChangeArrowheads="1"/>
            </p:cNvSpPr>
            <p:nvPr/>
          </p:nvSpPr>
          <p:spPr bwMode="auto">
            <a:xfrm>
              <a:off x="3674" y="2614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5651989" y="4873625"/>
            <a:ext cx="3175488" cy="247650"/>
            <a:chOff x="3560" y="3181"/>
            <a:chExt cx="2001" cy="156"/>
          </a:xfrm>
        </p:grpSpPr>
        <p:sp>
          <p:nvSpPr>
            <p:cNvPr id="41418" name="Text Box 35"/>
            <p:cNvSpPr txBox="1">
              <a:spLocks noChangeArrowheads="1"/>
            </p:cNvSpPr>
            <p:nvPr/>
          </p:nvSpPr>
          <p:spPr bwMode="auto">
            <a:xfrm>
              <a:off x="3560" y="3181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500</a:t>
              </a:r>
            </a:p>
          </p:txBody>
        </p:sp>
        <p:sp>
          <p:nvSpPr>
            <p:cNvPr id="41419" name="Text Box 36"/>
            <p:cNvSpPr txBox="1">
              <a:spLocks noChangeArrowheads="1"/>
            </p:cNvSpPr>
            <p:nvPr/>
          </p:nvSpPr>
          <p:spPr bwMode="auto">
            <a:xfrm>
              <a:off x="4014" y="3181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10</a:t>
              </a:r>
            </a:p>
          </p:txBody>
        </p:sp>
        <p:sp>
          <p:nvSpPr>
            <p:cNvPr id="41420" name="Text Box 37"/>
            <p:cNvSpPr txBox="1">
              <a:spLocks noChangeArrowheads="1"/>
            </p:cNvSpPr>
            <p:nvPr/>
          </p:nvSpPr>
          <p:spPr bwMode="auto">
            <a:xfrm>
              <a:off x="4354" y="3181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41421" name="Text Box 38"/>
            <p:cNvSpPr txBox="1">
              <a:spLocks noChangeArrowheads="1"/>
            </p:cNvSpPr>
            <p:nvPr/>
          </p:nvSpPr>
          <p:spPr bwMode="auto">
            <a:xfrm>
              <a:off x="4921" y="3181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0.7</a:t>
              </a:r>
            </a:p>
          </p:txBody>
        </p:sp>
        <p:sp>
          <p:nvSpPr>
            <p:cNvPr id="41422" name="Text Box 39"/>
            <p:cNvSpPr txBox="1">
              <a:spLocks noChangeArrowheads="1"/>
            </p:cNvSpPr>
            <p:nvPr/>
          </p:nvSpPr>
          <p:spPr bwMode="auto">
            <a:xfrm>
              <a:off x="5220" y="3181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accent1"/>
                  </a:solidFill>
                  <a:latin typeface="Arial" charset="0"/>
                  <a:cs typeface="Arial" charset="0"/>
                </a:rPr>
                <a:t>0.04</a:t>
              </a:r>
            </a:p>
          </p:txBody>
        </p:sp>
      </p:grpSp>
      <p:sp>
        <p:nvSpPr>
          <p:cNvPr id="98344" name="Text Box 40"/>
          <p:cNvSpPr txBox="1">
            <a:spLocks noChangeArrowheads="1"/>
          </p:cNvSpPr>
          <p:nvPr/>
        </p:nvSpPr>
        <p:spPr bwMode="auto">
          <a:xfrm>
            <a:off x="5292970" y="5413375"/>
            <a:ext cx="3672254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alt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alt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alt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alt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alt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alt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alt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alt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1800" b="1" u="none">
                <a:solidFill>
                  <a:schemeClr val="accent1"/>
                </a:solidFill>
                <a:latin typeface="Arial" charset="0"/>
                <a:cs typeface="Arial" charset="0"/>
              </a:rPr>
              <a:t>d</a:t>
            </a:r>
            <a:r>
              <a:rPr lang="en-US" altLang="en-US" sz="18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  <a:r>
              <a:rPr lang="en-US" altLang="en-US" sz="1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1800" b="1" u="none">
                <a:solidFill>
                  <a:schemeClr val="tx1"/>
                </a:solidFill>
                <a:latin typeface="Arial" charset="0"/>
                <a:cs typeface="Arial" charset="0"/>
              </a:rPr>
              <a:t>B</a:t>
            </a:r>
            <a:r>
              <a:rPr lang="en-US" altLang="en-US" sz="18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</p:txBody>
      </p:sp>
      <p:sp>
        <p:nvSpPr>
          <p:cNvPr id="98345" name="Text Box 41"/>
          <p:cNvSpPr txBox="1">
            <a:spLocks noChangeArrowheads="1"/>
          </p:cNvSpPr>
          <p:nvPr/>
        </p:nvSpPr>
        <p:spPr bwMode="auto">
          <a:xfrm>
            <a:off x="6731977" y="5949950"/>
            <a:ext cx="1440474" cy="3317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512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74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alt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</a:p>
        </p:txBody>
      </p:sp>
      <p:sp>
        <p:nvSpPr>
          <p:cNvPr id="40975" name="Slide Number Placeholder 48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759EF6-AAA5-489D-9A24-D22D3C501986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8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8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8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8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8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8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" fill="hold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" fill="hold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8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8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" fill="hold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" fill="hold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" fill="hold"/>
                                        <p:tgtEl>
                                          <p:spTgt spid="98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" fill="hold"/>
                                        <p:tgtEl>
                                          <p:spTgt spid="98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1" grpId="0"/>
      <p:bldP spid="98322" grpId="0"/>
      <p:bldP spid="98323" grpId="0"/>
      <p:bldP spid="98324" grpId="0"/>
      <p:bldP spid="98325" grpId="0"/>
      <p:bldP spid="98344" grpId="0"/>
      <p:bldP spid="983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BINARY NUMBER SYSTEM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The easiest way to vary instructions through electric signals is two state system On and Off.</a:t>
            </a:r>
          </a:p>
          <a:p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On is represented as 1. </a:t>
            </a:r>
          </a:p>
          <a:p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Off is represented as 0. </a:t>
            </a:r>
          </a:p>
          <a:p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Binary number system has only two digits that are 0 and 1. 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number (value) represents with 0 and 1 in this number system. </a:t>
            </a:r>
            <a:endParaRPr lang="en-US" sz="3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3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300" dirty="0">
                <a:latin typeface="Times New Roman" pitchFamily="18" charset="0"/>
                <a:cs typeface="Times New Roman" pitchFamily="18" charset="0"/>
              </a:rPr>
              <a:t>base of binary number system is 2, because it has only two digits.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609600" y="3048000"/>
          <a:ext cx="822960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7056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……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6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5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4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3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2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1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</a:t>
                      </a:r>
                      <a:r>
                        <a:rPr lang="en-US" sz="2800" baseline="30000" dirty="0" smtClean="0"/>
                        <a:t>0</a:t>
                      </a:r>
                      <a:endParaRPr lang="en-US" sz="2800" baseline="30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838200"/>
            <a:ext cx="75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contains a positional value system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where Each digit has its value expressed in powers of 2 as shown here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95400" y="43434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53200" y="51816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LSB(Least significant bit)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53340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MSB (Most significant Bit)</a:t>
            </a:r>
            <a:endParaRPr lang="en-US" dirty="0"/>
          </a:p>
        </p:txBody>
      </p:sp>
      <p:cxnSp>
        <p:nvCxnSpPr>
          <p:cNvPr id="12" name="Elbow Connector 11"/>
          <p:cNvCxnSpPr/>
          <p:nvPr/>
        </p:nvCxnSpPr>
        <p:spPr>
          <a:xfrm rot="16200000" flipH="1">
            <a:off x="6858000" y="4800600"/>
            <a:ext cx="304800" cy="3048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0800000" flipV="1">
            <a:off x="1295400" y="4800600"/>
            <a:ext cx="533400" cy="3810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 build="p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Binary Number System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432289" y="1089026"/>
            <a:ext cx="8279423" cy="5421313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Base = 2 </a:t>
            </a:r>
          </a:p>
          <a:p>
            <a:pPr lvl="1"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 digits { 0, 1 }, called </a:t>
            </a:r>
            <a:r>
              <a:rPr lang="en-US" altLang="en-US" sz="2400" i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inary dig</a:t>
            </a:r>
            <a:r>
              <a:rPr lang="en-US" altLang="en-US" sz="2400" i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its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or “</a:t>
            </a:r>
            <a:r>
              <a:rPr lang="en-US" altLang="en-US" i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bits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”</a:t>
            </a:r>
          </a:p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Weights</a:t>
            </a:r>
          </a:p>
          <a:p>
            <a:pPr lvl="1"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Weight = (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Base) </a:t>
            </a:r>
            <a:r>
              <a:rPr lang="en-US" altLang="en-US" i="1" baseline="5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Position</a:t>
            </a:r>
            <a:endParaRPr lang="en-US" altLang="en-US" i="1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Magnitude</a:t>
            </a:r>
          </a:p>
          <a:p>
            <a:pPr lvl="1"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Sum of “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Bit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x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Weight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”</a:t>
            </a:r>
          </a:p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Formal Notation</a:t>
            </a:r>
          </a:p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Groups of bits      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4 bits = </a:t>
            </a:r>
            <a:r>
              <a:rPr lang="en-US" altLang="en-US" sz="2000" i="1" dirty="0" smtClean="0">
                <a:latin typeface="Times New Roman" pitchFamily="18" charset="0"/>
                <a:cs typeface="Times New Roman" pitchFamily="18" charset="0"/>
              </a:rPr>
              <a:t>Nibble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8 bits = </a:t>
            </a:r>
            <a:r>
              <a:rPr lang="en-US" altLang="en-US" sz="2000" i="1" dirty="0" smtClean="0">
                <a:latin typeface="Times New Roman" pitchFamily="18" charset="0"/>
                <a:cs typeface="Times New Roman" pitchFamily="18" charset="0"/>
              </a:rPr>
              <a:t>Byte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29654" y="2374900"/>
            <a:ext cx="3062654" cy="1233488"/>
            <a:chOff x="3609" y="1496"/>
            <a:chExt cx="1929" cy="777"/>
          </a:xfrm>
        </p:grpSpPr>
        <p:sp>
          <p:nvSpPr>
            <p:cNvPr id="43024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3025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3026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3027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0" cy="245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3028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3029" name="Rectangle 11"/>
            <p:cNvSpPr>
              <a:spLocks noChangeArrowheads="1"/>
            </p:cNvSpPr>
            <p:nvPr/>
          </p:nvSpPr>
          <p:spPr bwMode="auto">
            <a:xfrm>
              <a:off x="5261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3030" name="Text Box 12"/>
            <p:cNvSpPr txBox="1">
              <a:spLocks noChangeArrowheads="1"/>
            </p:cNvSpPr>
            <p:nvPr/>
          </p:nvSpPr>
          <p:spPr bwMode="auto">
            <a:xfrm>
              <a:off x="401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3031" name="Text Box 13"/>
            <p:cNvSpPr txBox="1">
              <a:spLocks noChangeArrowheads="1"/>
            </p:cNvSpPr>
            <p:nvPr/>
          </p:nvSpPr>
          <p:spPr bwMode="auto">
            <a:xfrm>
              <a:off x="4355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43032" name="Text Box 14"/>
            <p:cNvSpPr txBox="1">
              <a:spLocks noChangeArrowheads="1"/>
            </p:cNvSpPr>
            <p:nvPr/>
          </p:nvSpPr>
          <p:spPr bwMode="auto">
            <a:xfrm>
              <a:off x="4922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43033" name="Text Box 15"/>
            <p:cNvSpPr txBox="1">
              <a:spLocks noChangeArrowheads="1"/>
            </p:cNvSpPr>
            <p:nvPr/>
          </p:nvSpPr>
          <p:spPr bwMode="auto">
            <a:xfrm>
              <a:off x="367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43034" name="Text Box 16"/>
            <p:cNvSpPr txBox="1">
              <a:spLocks noChangeArrowheads="1"/>
            </p:cNvSpPr>
            <p:nvPr/>
          </p:nvSpPr>
          <p:spPr bwMode="auto">
            <a:xfrm>
              <a:off x="5261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  <p:sp>
          <p:nvSpPr>
            <p:cNvPr id="43035" name="Text Box 17"/>
            <p:cNvSpPr txBox="1">
              <a:spLocks noChangeArrowheads="1"/>
            </p:cNvSpPr>
            <p:nvPr/>
          </p:nvSpPr>
          <p:spPr bwMode="auto">
            <a:xfrm>
              <a:off x="4014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43036" name="Text Box 18"/>
            <p:cNvSpPr txBox="1">
              <a:spLocks noChangeArrowheads="1"/>
            </p:cNvSpPr>
            <p:nvPr/>
          </p:nvSpPr>
          <p:spPr bwMode="auto">
            <a:xfrm>
              <a:off x="4355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3037" name="Text Box 19"/>
            <p:cNvSpPr txBox="1">
              <a:spLocks noChangeArrowheads="1"/>
            </p:cNvSpPr>
            <p:nvPr/>
          </p:nvSpPr>
          <p:spPr bwMode="auto">
            <a:xfrm>
              <a:off x="4922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1/2</a:t>
              </a:r>
            </a:p>
          </p:txBody>
        </p:sp>
        <p:sp>
          <p:nvSpPr>
            <p:cNvPr id="43038" name="Text Box 20"/>
            <p:cNvSpPr txBox="1">
              <a:spLocks noChangeArrowheads="1"/>
            </p:cNvSpPr>
            <p:nvPr/>
          </p:nvSpPr>
          <p:spPr bwMode="auto">
            <a:xfrm>
              <a:off x="3609" y="1496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43039" name="Text Box 21"/>
            <p:cNvSpPr txBox="1">
              <a:spLocks noChangeArrowheads="1"/>
            </p:cNvSpPr>
            <p:nvPr/>
          </p:nvSpPr>
          <p:spPr bwMode="auto">
            <a:xfrm>
              <a:off x="5197" y="1496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1/4</a:t>
              </a:r>
            </a:p>
          </p:txBody>
        </p:sp>
      </p:grpSp>
      <p:sp>
        <p:nvSpPr>
          <p:cNvPr id="100374" name="Text Box 22"/>
          <p:cNvSpPr txBox="1">
            <a:spLocks noChangeArrowheads="1"/>
          </p:cNvSpPr>
          <p:nvPr/>
        </p:nvSpPr>
        <p:spPr bwMode="auto">
          <a:xfrm>
            <a:off x="5832231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0375" name="Text Box 23"/>
          <p:cNvSpPr txBox="1">
            <a:spLocks noChangeArrowheads="1"/>
          </p:cNvSpPr>
          <p:nvPr/>
        </p:nvSpPr>
        <p:spPr bwMode="auto">
          <a:xfrm>
            <a:off x="6372959" y="2709863"/>
            <a:ext cx="359019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00376" name="Text Box 24"/>
          <p:cNvSpPr txBox="1">
            <a:spLocks noChangeArrowheads="1"/>
          </p:cNvSpPr>
          <p:nvPr/>
        </p:nvSpPr>
        <p:spPr bwMode="auto">
          <a:xfrm>
            <a:off x="6912220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0377" name="Text Box 25"/>
          <p:cNvSpPr txBox="1">
            <a:spLocks noChangeArrowheads="1"/>
          </p:cNvSpPr>
          <p:nvPr/>
        </p:nvSpPr>
        <p:spPr bwMode="auto">
          <a:xfrm>
            <a:off x="7811966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00378" name="Text Box 26"/>
          <p:cNvSpPr txBox="1">
            <a:spLocks noChangeArrowheads="1"/>
          </p:cNvSpPr>
          <p:nvPr/>
        </p:nvSpPr>
        <p:spPr bwMode="auto">
          <a:xfrm>
            <a:off x="8351228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0379" name="Text Box 27"/>
          <p:cNvSpPr txBox="1">
            <a:spLocks noChangeArrowheads="1"/>
          </p:cNvSpPr>
          <p:nvPr/>
        </p:nvSpPr>
        <p:spPr bwMode="auto">
          <a:xfrm>
            <a:off x="5334000" y="3789362"/>
            <a:ext cx="3559420" cy="7940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0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0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              =(5.25)</a:t>
            </a:r>
            <a:r>
              <a:rPr lang="en-US" alt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  <a:endParaRPr lang="en-US" altLang="en-US" sz="2000" b="1" i="0" u="none" dirty="0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  <p:sp>
        <p:nvSpPr>
          <p:cNvPr id="100380" name="Text Box 28"/>
          <p:cNvSpPr txBox="1">
            <a:spLocks noChangeArrowheads="1"/>
          </p:cNvSpPr>
          <p:nvPr/>
        </p:nvSpPr>
        <p:spPr bwMode="auto">
          <a:xfrm>
            <a:off x="6551735" y="4868864"/>
            <a:ext cx="1979734" cy="3317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(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101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01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alt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00381" name="Rectangle 29"/>
          <p:cNvSpPr>
            <a:spLocks noChangeArrowheads="1"/>
          </p:cNvSpPr>
          <p:nvPr/>
        </p:nvSpPr>
        <p:spPr bwMode="auto">
          <a:xfrm>
            <a:off x="6012474" y="5453064"/>
            <a:ext cx="1079988" cy="331787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1 0 1 1</a:t>
            </a:r>
          </a:p>
        </p:txBody>
      </p:sp>
      <p:sp>
        <p:nvSpPr>
          <p:cNvPr id="100382" name="Rectangle 30"/>
          <p:cNvSpPr>
            <a:spLocks noChangeArrowheads="1"/>
          </p:cNvSpPr>
          <p:nvPr/>
        </p:nvSpPr>
        <p:spPr bwMode="auto">
          <a:xfrm>
            <a:off x="6012474" y="6110289"/>
            <a:ext cx="2159977" cy="331787"/>
          </a:xfrm>
          <a:prstGeom prst="rect">
            <a:avLst/>
          </a:prstGeom>
          <a:solidFill>
            <a:srgbClr val="FFFF00"/>
          </a:solidFill>
          <a:ln w="28575" algn="ctr">
            <a:solidFill>
              <a:schemeClr val="accent2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1 1 0 0 0 1 0 1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" fill="hold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" fill="hold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" fill="hold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" fill="hold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74" grpId="0"/>
      <p:bldP spid="100375" grpId="0"/>
      <p:bldP spid="100376" grpId="0"/>
      <p:bldP spid="100377" grpId="0"/>
      <p:bldP spid="100378" grpId="0"/>
      <p:bldP spid="100379" grpId="0"/>
      <p:bldP spid="100381" grpId="0" animBg="1"/>
      <p:bldP spid="10038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OCTAL NUMBER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Octal number system has only eight (8) digits from 0 to 7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Every number (value) represents with 0,1,2,3,4,5,6 and 7 in this number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base of octal number system is 8, because it has only 8 digits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609600" y="3048000"/>
          <a:ext cx="822960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7056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……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6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5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4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3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2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1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r>
                        <a:rPr lang="en-US" sz="2800" baseline="30000" dirty="0" smtClean="0"/>
                        <a:t>0</a:t>
                      </a:r>
                      <a:endParaRPr lang="en-US" sz="2800" baseline="30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838200"/>
            <a:ext cx="75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also contains a positional value system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where Each digit has its value expressed in powers of 8 as shown here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Octal Number System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79423" cy="40449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Base = 8 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8 digits { 0, 1, 2, 3, 4, 5, 6, 7 }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Weights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Weight = (</a:t>
            </a:r>
            <a:r>
              <a:rPr lang="en-US" altLang="en-US" i="1" dirty="0" smtClean="0">
                <a:sym typeface="Wingdings" pitchFamily="2" charset="2"/>
              </a:rPr>
              <a:t>Base) </a:t>
            </a:r>
            <a:r>
              <a:rPr lang="en-US" altLang="en-US" i="1" baseline="50000" dirty="0" smtClean="0">
                <a:sym typeface="Wingdings" pitchFamily="2" charset="2"/>
              </a:rPr>
              <a:t>Position</a:t>
            </a:r>
            <a:endParaRPr lang="en-US" altLang="en-US" i="1" dirty="0" smtClean="0">
              <a:sym typeface="Wingdings" pitchFamily="2" charset="2"/>
            </a:endParaRP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Magnitude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Sum of “</a:t>
            </a:r>
            <a:r>
              <a:rPr lang="en-US" altLang="en-US" i="1" dirty="0" smtClean="0">
                <a:sym typeface="Wingdings" pitchFamily="2" charset="2"/>
              </a:rPr>
              <a:t>Digit</a:t>
            </a:r>
            <a:r>
              <a:rPr lang="en-US" altLang="en-US" dirty="0" smtClean="0">
                <a:sym typeface="Wingdings" pitchFamily="2" charset="2"/>
              </a:rPr>
              <a:t> x </a:t>
            </a:r>
            <a:r>
              <a:rPr lang="en-US" altLang="en-US" i="1" dirty="0" smtClean="0">
                <a:sym typeface="Wingdings" pitchFamily="2" charset="2"/>
              </a:rPr>
              <a:t>Weight</a:t>
            </a:r>
            <a:r>
              <a:rPr lang="en-US" altLang="en-US" dirty="0" smtClean="0">
                <a:sym typeface="Wingdings" pitchFamily="2" charset="2"/>
              </a:rPr>
              <a:t>”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Formal Notation</a:t>
            </a:r>
            <a:endParaRPr lang="en-US" altLang="en-US" dirty="0" smtClean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29654" y="2374900"/>
            <a:ext cx="3062654" cy="1233488"/>
            <a:chOff x="3609" y="1496"/>
            <a:chExt cx="1929" cy="777"/>
          </a:xfrm>
        </p:grpSpPr>
        <p:sp>
          <p:nvSpPr>
            <p:cNvPr id="41998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1999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2000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2001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0" cy="245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2002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2003" name="Rectangle 11"/>
            <p:cNvSpPr>
              <a:spLocks noChangeArrowheads="1"/>
            </p:cNvSpPr>
            <p:nvPr/>
          </p:nvSpPr>
          <p:spPr bwMode="auto">
            <a:xfrm>
              <a:off x="5261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2004" name="Text Box 12"/>
            <p:cNvSpPr txBox="1">
              <a:spLocks noChangeArrowheads="1"/>
            </p:cNvSpPr>
            <p:nvPr/>
          </p:nvSpPr>
          <p:spPr bwMode="auto">
            <a:xfrm>
              <a:off x="401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2005" name="Text Box 13"/>
            <p:cNvSpPr txBox="1">
              <a:spLocks noChangeArrowheads="1"/>
            </p:cNvSpPr>
            <p:nvPr/>
          </p:nvSpPr>
          <p:spPr bwMode="auto">
            <a:xfrm>
              <a:off x="4355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42006" name="Text Box 14"/>
            <p:cNvSpPr txBox="1">
              <a:spLocks noChangeArrowheads="1"/>
            </p:cNvSpPr>
            <p:nvPr/>
          </p:nvSpPr>
          <p:spPr bwMode="auto">
            <a:xfrm>
              <a:off x="4922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42007" name="Text Box 15"/>
            <p:cNvSpPr txBox="1">
              <a:spLocks noChangeArrowheads="1"/>
            </p:cNvSpPr>
            <p:nvPr/>
          </p:nvSpPr>
          <p:spPr bwMode="auto">
            <a:xfrm>
              <a:off x="367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42008" name="Text Box 16"/>
            <p:cNvSpPr txBox="1">
              <a:spLocks noChangeArrowheads="1"/>
            </p:cNvSpPr>
            <p:nvPr/>
          </p:nvSpPr>
          <p:spPr bwMode="auto">
            <a:xfrm>
              <a:off x="5261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  <p:sp>
          <p:nvSpPr>
            <p:cNvPr id="42009" name="Text Box 17"/>
            <p:cNvSpPr txBox="1">
              <a:spLocks noChangeArrowheads="1"/>
            </p:cNvSpPr>
            <p:nvPr/>
          </p:nvSpPr>
          <p:spPr bwMode="auto">
            <a:xfrm>
              <a:off x="4014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8</a:t>
              </a:r>
            </a:p>
          </p:txBody>
        </p:sp>
        <p:sp>
          <p:nvSpPr>
            <p:cNvPr id="42010" name="Text Box 18"/>
            <p:cNvSpPr txBox="1">
              <a:spLocks noChangeArrowheads="1"/>
            </p:cNvSpPr>
            <p:nvPr/>
          </p:nvSpPr>
          <p:spPr bwMode="auto">
            <a:xfrm>
              <a:off x="4355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2011" name="Text Box 19"/>
            <p:cNvSpPr txBox="1">
              <a:spLocks noChangeArrowheads="1"/>
            </p:cNvSpPr>
            <p:nvPr/>
          </p:nvSpPr>
          <p:spPr bwMode="auto">
            <a:xfrm>
              <a:off x="4922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1/8</a:t>
              </a:r>
            </a:p>
          </p:txBody>
        </p:sp>
        <p:sp>
          <p:nvSpPr>
            <p:cNvPr id="42012" name="Text Box 20"/>
            <p:cNvSpPr txBox="1">
              <a:spLocks noChangeArrowheads="1"/>
            </p:cNvSpPr>
            <p:nvPr/>
          </p:nvSpPr>
          <p:spPr bwMode="auto">
            <a:xfrm>
              <a:off x="3609" y="1496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64</a:t>
              </a:r>
            </a:p>
          </p:txBody>
        </p:sp>
        <p:sp>
          <p:nvSpPr>
            <p:cNvPr id="42013" name="Text Box 21"/>
            <p:cNvSpPr txBox="1">
              <a:spLocks noChangeArrowheads="1"/>
            </p:cNvSpPr>
            <p:nvPr/>
          </p:nvSpPr>
          <p:spPr bwMode="auto">
            <a:xfrm>
              <a:off x="5197" y="1496"/>
              <a:ext cx="341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1/64</a:t>
              </a:r>
            </a:p>
          </p:txBody>
        </p:sp>
      </p:grp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5832231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99351" name="Text Box 23"/>
          <p:cNvSpPr txBox="1">
            <a:spLocks noChangeArrowheads="1"/>
          </p:cNvSpPr>
          <p:nvPr/>
        </p:nvSpPr>
        <p:spPr bwMode="auto">
          <a:xfrm>
            <a:off x="6372959" y="2709863"/>
            <a:ext cx="359019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99352" name="Text Box 24"/>
          <p:cNvSpPr txBox="1">
            <a:spLocks noChangeArrowheads="1"/>
          </p:cNvSpPr>
          <p:nvPr/>
        </p:nvSpPr>
        <p:spPr bwMode="auto">
          <a:xfrm>
            <a:off x="6912220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99353" name="Text Box 25"/>
          <p:cNvSpPr txBox="1">
            <a:spLocks noChangeArrowheads="1"/>
          </p:cNvSpPr>
          <p:nvPr/>
        </p:nvSpPr>
        <p:spPr bwMode="auto">
          <a:xfrm>
            <a:off x="7811966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8351228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4</a:t>
            </a:r>
          </a:p>
        </p:txBody>
      </p:sp>
      <p:sp>
        <p:nvSpPr>
          <p:cNvPr id="99355" name="Text Box 27"/>
          <p:cNvSpPr txBox="1">
            <a:spLocks noChangeArrowheads="1"/>
          </p:cNvSpPr>
          <p:nvPr/>
        </p:nvSpPr>
        <p:spPr bwMode="auto">
          <a:xfrm>
            <a:off x="5181600" y="3789363"/>
            <a:ext cx="3711820" cy="7940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5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2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7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4 </a:t>
            </a:r>
            <a:r>
              <a:rPr lang="en-US" altLang="en-US" sz="20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 dirty="0">
                <a:solidFill>
                  <a:schemeClr val="tx1"/>
                </a:solidFill>
                <a:latin typeface="Arial" charset="0"/>
                <a:cs typeface="Arial" charset="0"/>
              </a:rPr>
              <a:t>8</a:t>
            </a:r>
            <a:r>
              <a:rPr lang="en-US" altLang="en-US" sz="2000" b="1" i="0" u="none" baseline="50000" dirty="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          =(330.9375)</a:t>
            </a:r>
            <a:r>
              <a:rPr lang="en-US" alt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  <a:endParaRPr lang="en-US" altLang="en-US" sz="2000" b="1" i="0" u="none" dirty="0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  <p:sp>
        <p:nvSpPr>
          <p:cNvPr id="99356" name="Text Box 28"/>
          <p:cNvSpPr txBox="1">
            <a:spLocks noChangeArrowheads="1"/>
          </p:cNvSpPr>
          <p:nvPr/>
        </p:nvSpPr>
        <p:spPr bwMode="auto">
          <a:xfrm>
            <a:off x="6551735" y="4868864"/>
            <a:ext cx="1979734" cy="3317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(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512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74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alt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9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9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9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9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" fill="hold"/>
                                        <p:tgtEl>
                                          <p:spTgt spid="99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" fill="hold"/>
                                        <p:tgtEl>
                                          <p:spTgt spid="99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50" grpId="0"/>
      <p:bldP spid="99351" grpId="0"/>
      <p:bldP spid="99352" grpId="0"/>
      <p:bldP spid="99353" grpId="0"/>
      <p:bldP spid="99354" grpId="0"/>
      <p:bldP spid="993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HEXADECIMAL NUMBER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 Hexadecimal number system has sixteen (16) alphanumeric values from 0 to 9 and A to F.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number (value) represents with 0,1,2,3,4,5,6, 7,8,9,A,B,C,D,E and F in this number system.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base of hexadecimal number system is 16, because it has 16 alphanumeric values.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Here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 is 10, B is 11, C is 12, D is 14, E is 15 and F is 16.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609600" y="3048000"/>
          <a:ext cx="8229600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7056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……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6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5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4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3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2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1</a:t>
                      </a:r>
                      <a:endParaRPr lang="en-US" sz="2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16</a:t>
                      </a:r>
                      <a:r>
                        <a:rPr lang="en-US" sz="2800" baseline="30000" dirty="0" smtClean="0"/>
                        <a:t>0</a:t>
                      </a:r>
                      <a:endParaRPr lang="en-US" sz="2800" baseline="30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838200"/>
            <a:ext cx="75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also contains a positional value system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where Each digit has its value expressed in powers of 16 as shown here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Hexadecimal Number System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82000" cy="51054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Base = 16 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16 digits { 0, 1, 2, 3, 4, 5, 6, 7, 8, 9, A, B, C, D, E, F }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Weights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Weight = (</a:t>
            </a:r>
            <a:r>
              <a:rPr lang="en-US" altLang="en-US" i="1" dirty="0" smtClean="0">
                <a:sym typeface="Wingdings" pitchFamily="2" charset="2"/>
              </a:rPr>
              <a:t>Base) </a:t>
            </a:r>
            <a:r>
              <a:rPr lang="en-US" altLang="en-US" i="1" baseline="50000" dirty="0" smtClean="0">
                <a:sym typeface="Wingdings" pitchFamily="2" charset="2"/>
              </a:rPr>
              <a:t>Position</a:t>
            </a:r>
            <a:endParaRPr lang="en-US" altLang="en-US" i="1" dirty="0" smtClean="0">
              <a:sym typeface="Wingdings" pitchFamily="2" charset="2"/>
            </a:endParaRP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Magnitude</a:t>
            </a:r>
          </a:p>
          <a:p>
            <a:pPr lvl="1" eaLnBrk="1" hangingPunct="1"/>
            <a:r>
              <a:rPr lang="en-US" altLang="en-US" dirty="0" smtClean="0">
                <a:sym typeface="Wingdings" pitchFamily="2" charset="2"/>
              </a:rPr>
              <a:t>Sum of “</a:t>
            </a:r>
            <a:r>
              <a:rPr lang="en-US" altLang="en-US" i="1" dirty="0" smtClean="0">
                <a:sym typeface="Wingdings" pitchFamily="2" charset="2"/>
              </a:rPr>
              <a:t>Digit</a:t>
            </a:r>
            <a:r>
              <a:rPr lang="en-US" altLang="en-US" dirty="0" smtClean="0">
                <a:sym typeface="Wingdings" pitchFamily="2" charset="2"/>
              </a:rPr>
              <a:t> x </a:t>
            </a:r>
            <a:r>
              <a:rPr lang="en-US" altLang="en-US" i="1" dirty="0" smtClean="0">
                <a:sym typeface="Wingdings" pitchFamily="2" charset="2"/>
              </a:rPr>
              <a:t>Weight</a:t>
            </a:r>
            <a:r>
              <a:rPr lang="en-US" altLang="en-US" dirty="0" smtClean="0">
                <a:sym typeface="Wingdings" pitchFamily="2" charset="2"/>
              </a:rPr>
              <a:t>”</a:t>
            </a:r>
          </a:p>
          <a:p>
            <a:pPr eaLnBrk="1" hangingPunct="1"/>
            <a:r>
              <a:rPr lang="en-US" altLang="en-US" dirty="0" smtClean="0">
                <a:sym typeface="Wingdings" pitchFamily="2" charset="2"/>
              </a:rPr>
              <a:t>Formal Notation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29654" y="2362200"/>
            <a:ext cx="3186494" cy="1246188"/>
            <a:chOff x="3609" y="1488"/>
            <a:chExt cx="2007" cy="785"/>
          </a:xfrm>
        </p:grpSpPr>
        <p:sp>
          <p:nvSpPr>
            <p:cNvPr id="44046" name="Rectangle 6"/>
            <p:cNvSpPr>
              <a:spLocks noChangeArrowheads="1"/>
            </p:cNvSpPr>
            <p:nvPr/>
          </p:nvSpPr>
          <p:spPr bwMode="auto">
            <a:xfrm>
              <a:off x="3674" y="1706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4047" name="Rectangle 7"/>
            <p:cNvSpPr>
              <a:spLocks noChangeArrowheads="1"/>
            </p:cNvSpPr>
            <p:nvPr/>
          </p:nvSpPr>
          <p:spPr bwMode="auto">
            <a:xfrm>
              <a:off x="4014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4048" name="Rectangle 8"/>
            <p:cNvSpPr>
              <a:spLocks noChangeArrowheads="1"/>
            </p:cNvSpPr>
            <p:nvPr/>
          </p:nvSpPr>
          <p:spPr bwMode="auto">
            <a:xfrm>
              <a:off x="4355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4049" name="Oval 9"/>
            <p:cNvSpPr>
              <a:spLocks noChangeArrowheads="1"/>
            </p:cNvSpPr>
            <p:nvPr/>
          </p:nvSpPr>
          <p:spPr bwMode="auto">
            <a:xfrm>
              <a:off x="4695" y="1935"/>
              <a:ext cx="0" cy="245"/>
            </a:xfrm>
            <a:prstGeom prst="ellipse">
              <a:avLst/>
            </a:prstGeom>
            <a:solidFill>
              <a:schemeClr val="tx1"/>
            </a:solidFill>
            <a:ln w="12700" algn="ctr">
              <a:noFill/>
              <a:round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4050" name="Rectangle 10"/>
            <p:cNvSpPr>
              <a:spLocks noChangeArrowheads="1"/>
            </p:cNvSpPr>
            <p:nvPr/>
          </p:nvSpPr>
          <p:spPr bwMode="auto">
            <a:xfrm>
              <a:off x="4922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4051" name="Rectangle 11"/>
            <p:cNvSpPr>
              <a:spLocks noChangeArrowheads="1"/>
            </p:cNvSpPr>
            <p:nvPr/>
          </p:nvSpPr>
          <p:spPr bwMode="auto">
            <a:xfrm>
              <a:off x="5261" y="1709"/>
              <a:ext cx="227" cy="174"/>
            </a:xfrm>
            <a:prstGeom prst="rect">
              <a:avLst/>
            </a:prstGeom>
            <a:solidFill>
              <a:srgbClr val="FFFF00"/>
            </a:solidFill>
            <a:ln w="2857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endParaRPr lang="en-US" altLang="en-US"/>
            </a:p>
          </p:txBody>
        </p:sp>
        <p:sp>
          <p:nvSpPr>
            <p:cNvPr id="44052" name="Text Box 12"/>
            <p:cNvSpPr txBox="1">
              <a:spLocks noChangeArrowheads="1"/>
            </p:cNvSpPr>
            <p:nvPr/>
          </p:nvSpPr>
          <p:spPr bwMode="auto">
            <a:xfrm>
              <a:off x="401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4053" name="Text Box 13"/>
            <p:cNvSpPr txBox="1">
              <a:spLocks noChangeArrowheads="1"/>
            </p:cNvSpPr>
            <p:nvPr/>
          </p:nvSpPr>
          <p:spPr bwMode="auto">
            <a:xfrm>
              <a:off x="4355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44054" name="Text Box 14"/>
            <p:cNvSpPr txBox="1">
              <a:spLocks noChangeArrowheads="1"/>
            </p:cNvSpPr>
            <p:nvPr/>
          </p:nvSpPr>
          <p:spPr bwMode="auto">
            <a:xfrm>
              <a:off x="4922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-1</a:t>
              </a:r>
            </a:p>
          </p:txBody>
        </p:sp>
        <p:sp>
          <p:nvSpPr>
            <p:cNvPr id="44055" name="Text Box 15"/>
            <p:cNvSpPr txBox="1">
              <a:spLocks noChangeArrowheads="1"/>
            </p:cNvSpPr>
            <p:nvPr/>
          </p:nvSpPr>
          <p:spPr bwMode="auto">
            <a:xfrm>
              <a:off x="3674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44056" name="Text Box 16"/>
            <p:cNvSpPr txBox="1">
              <a:spLocks noChangeArrowheads="1"/>
            </p:cNvSpPr>
            <p:nvPr/>
          </p:nvSpPr>
          <p:spPr bwMode="auto">
            <a:xfrm>
              <a:off x="5261" y="2117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chemeClr val="tx1"/>
                  </a:solidFill>
                  <a:latin typeface="Arial" charset="0"/>
                  <a:cs typeface="Arial" charset="0"/>
                </a:rPr>
                <a:t>-2</a:t>
              </a:r>
            </a:p>
          </p:txBody>
        </p:sp>
        <p:sp>
          <p:nvSpPr>
            <p:cNvPr id="44057" name="Text Box 17"/>
            <p:cNvSpPr txBox="1">
              <a:spLocks noChangeArrowheads="1"/>
            </p:cNvSpPr>
            <p:nvPr/>
          </p:nvSpPr>
          <p:spPr bwMode="auto">
            <a:xfrm>
              <a:off x="4014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16</a:t>
              </a:r>
            </a:p>
          </p:txBody>
        </p:sp>
        <p:sp>
          <p:nvSpPr>
            <p:cNvPr id="44058" name="Text Box 18"/>
            <p:cNvSpPr txBox="1">
              <a:spLocks noChangeArrowheads="1"/>
            </p:cNvSpPr>
            <p:nvPr/>
          </p:nvSpPr>
          <p:spPr bwMode="auto">
            <a:xfrm>
              <a:off x="4355" y="1496"/>
              <a:ext cx="227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44059" name="Text Box 19"/>
            <p:cNvSpPr txBox="1">
              <a:spLocks noChangeArrowheads="1"/>
            </p:cNvSpPr>
            <p:nvPr/>
          </p:nvSpPr>
          <p:spPr bwMode="auto">
            <a:xfrm>
              <a:off x="4800" y="1488"/>
              <a:ext cx="358" cy="15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b="1" u="none" dirty="0">
                  <a:solidFill>
                    <a:srgbClr val="0066CC"/>
                  </a:solidFill>
                  <a:latin typeface="Arial" charset="0"/>
                  <a:cs typeface="Arial" charset="0"/>
                </a:rPr>
                <a:t>1/16</a:t>
              </a:r>
            </a:p>
          </p:txBody>
        </p:sp>
        <p:sp>
          <p:nvSpPr>
            <p:cNvPr id="44060" name="Text Box 20"/>
            <p:cNvSpPr txBox="1">
              <a:spLocks noChangeArrowheads="1"/>
            </p:cNvSpPr>
            <p:nvPr/>
          </p:nvSpPr>
          <p:spPr bwMode="auto">
            <a:xfrm>
              <a:off x="3609" y="1496"/>
              <a:ext cx="340" cy="1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sz="1800" b="1" u="none">
                  <a:solidFill>
                    <a:srgbClr val="0066CC"/>
                  </a:solidFill>
                  <a:latin typeface="Arial" charset="0"/>
                  <a:cs typeface="Arial" charset="0"/>
                </a:rPr>
                <a:t>256</a:t>
              </a:r>
            </a:p>
          </p:txBody>
        </p:sp>
        <p:sp>
          <p:nvSpPr>
            <p:cNvPr id="44061" name="Text Box 21"/>
            <p:cNvSpPr txBox="1">
              <a:spLocks noChangeArrowheads="1"/>
            </p:cNvSpPr>
            <p:nvPr/>
          </p:nvSpPr>
          <p:spPr bwMode="auto">
            <a:xfrm>
              <a:off x="5197" y="1496"/>
              <a:ext cx="419" cy="15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342900" indent="-342900" algn="ctr">
                <a:lnSpc>
                  <a:spcPct val="90000"/>
                </a:lnSpc>
                <a:spcBef>
                  <a:spcPct val="50000"/>
                </a:spcBef>
                <a:buClr>
                  <a:schemeClr val="bg1"/>
                </a:buClr>
                <a:buFont typeface="Arial" charset="0"/>
                <a:buNone/>
              </a:pPr>
              <a:r>
                <a:rPr lang="en-US" altLang="en-US" b="1" u="none" dirty="0">
                  <a:solidFill>
                    <a:srgbClr val="0066CC"/>
                  </a:solidFill>
                  <a:latin typeface="Arial" charset="0"/>
                  <a:cs typeface="Arial" charset="0"/>
                </a:rPr>
                <a:t>1/256</a:t>
              </a:r>
            </a:p>
          </p:txBody>
        </p:sp>
      </p:grp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5832231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01399" name="Text Box 23"/>
          <p:cNvSpPr txBox="1">
            <a:spLocks noChangeArrowheads="1"/>
          </p:cNvSpPr>
          <p:nvPr/>
        </p:nvSpPr>
        <p:spPr bwMode="auto">
          <a:xfrm>
            <a:off x="6372959" y="2709863"/>
            <a:ext cx="359019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E</a:t>
            </a: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6912220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01401" name="Text Box 25"/>
          <p:cNvSpPr txBox="1">
            <a:spLocks noChangeArrowheads="1"/>
          </p:cNvSpPr>
          <p:nvPr/>
        </p:nvSpPr>
        <p:spPr bwMode="auto">
          <a:xfrm>
            <a:off x="7811966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101402" name="Text Box 26"/>
          <p:cNvSpPr txBox="1">
            <a:spLocks noChangeArrowheads="1"/>
          </p:cNvSpPr>
          <p:nvPr/>
        </p:nvSpPr>
        <p:spPr bwMode="auto">
          <a:xfrm>
            <a:off x="8351228" y="2709863"/>
            <a:ext cx="360485" cy="539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8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01403" name="Text Box 27"/>
          <p:cNvSpPr txBox="1">
            <a:spLocks noChangeArrowheads="1"/>
          </p:cNvSpPr>
          <p:nvPr/>
        </p:nvSpPr>
        <p:spPr bwMode="auto">
          <a:xfrm>
            <a:off x="4572000" y="3789363"/>
            <a:ext cx="4500197" cy="793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 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alt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14 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alt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5 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alt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7 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alt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-1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000" b="1" u="none">
                <a:solidFill>
                  <a:schemeClr val="accent1"/>
                </a:solidFill>
                <a:latin typeface="Arial" charset="0"/>
                <a:cs typeface="Arial" charset="0"/>
              </a:rPr>
              <a:t>10 </a:t>
            </a:r>
            <a:r>
              <a:rPr lang="en-US" alt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*</a:t>
            </a:r>
            <a:r>
              <a:rPr lang="en-US" altLang="en-US" sz="2000" b="1" u="none">
                <a:solidFill>
                  <a:schemeClr val="tx1"/>
                </a:solidFill>
                <a:latin typeface="Arial" charset="0"/>
                <a:cs typeface="Arial" charset="0"/>
              </a:rPr>
              <a:t>16</a:t>
            </a:r>
            <a:r>
              <a:rPr lang="en-US" altLang="en-US" sz="2000" b="1" i="0" u="none" baseline="50000">
                <a:solidFill>
                  <a:schemeClr val="accent2"/>
                </a:solidFill>
                <a:latin typeface="Arial" charset="0"/>
                <a:cs typeface="Arial" charset="0"/>
              </a:rPr>
              <a:t>-2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              =(485.4765625)</a:t>
            </a:r>
            <a:r>
              <a:rPr lang="en-US" alt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10</a:t>
            </a:r>
          </a:p>
        </p:txBody>
      </p:sp>
      <p:sp>
        <p:nvSpPr>
          <p:cNvPr id="101404" name="Text Box 28"/>
          <p:cNvSpPr txBox="1">
            <a:spLocks noChangeArrowheads="1"/>
          </p:cNvSpPr>
          <p:nvPr/>
        </p:nvSpPr>
        <p:spPr bwMode="auto">
          <a:xfrm>
            <a:off x="6551735" y="4868864"/>
            <a:ext cx="1979734" cy="3317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1E5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r>
              <a:rPr lang="en-US" alt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7A</a:t>
            </a:r>
            <a:r>
              <a:rPr lang="en-US" alt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altLang="en-US" sz="24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1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" fill="hold"/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8" grpId="0"/>
      <p:bldP spid="101399" grpId="0"/>
      <p:bldP spid="101400" grpId="0"/>
      <p:bldP spid="101401" grpId="0"/>
      <p:bldP spid="101402" grpId="0"/>
      <p:bldP spid="10140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981201"/>
          <a:ext cx="8610599" cy="403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470"/>
                <a:gridCol w="2172043"/>
                <a:gridCol w="2172043"/>
                <a:gridCol w="2172043"/>
              </a:tblGrid>
              <a:tr h="631403">
                <a:tc>
                  <a:txBody>
                    <a:bodyPr/>
                    <a:lstStyle/>
                    <a:p>
                      <a:pPr marL="17145" marR="0" algn="ctr">
                        <a:spcBef>
                          <a:spcPts val="38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Number system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marR="0" algn="ctr">
                        <a:spcBef>
                          <a:spcPts val="38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Base(Radix)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Used digits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Example</a:t>
                      </a:r>
                    </a:p>
                  </a:txBody>
                  <a:tcPr marL="0" marR="0" marT="0" marB="0"/>
                </a:tc>
              </a:tr>
              <a:tr h="631403">
                <a:tc>
                  <a:txBody>
                    <a:bodyPr/>
                    <a:lstStyle/>
                    <a:p>
                      <a:pPr marL="17145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Binary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0,1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(11110000)</a:t>
                      </a:r>
                      <a:r>
                        <a:rPr lang="en-US" sz="2400" baseline="-25000">
                          <a:latin typeface="Times New Roman"/>
                          <a:ea typeface="Times New Roman"/>
                        </a:rPr>
                        <a:t>2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</a:tr>
              <a:tr h="631403">
                <a:tc>
                  <a:txBody>
                    <a:bodyPr/>
                    <a:lstStyle/>
                    <a:p>
                      <a:pPr marL="17145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Octal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0,1,2,3,4,5,6,7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(360)</a:t>
                      </a:r>
                      <a:r>
                        <a:rPr lang="en-US" sz="2400" baseline="-25000">
                          <a:latin typeface="Times New Roman"/>
                          <a:ea typeface="Times New Roman"/>
                        </a:rPr>
                        <a:t>8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</a:tr>
              <a:tr h="857755">
                <a:tc>
                  <a:txBody>
                    <a:bodyPr/>
                    <a:lstStyle/>
                    <a:p>
                      <a:pPr marL="17145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Decimal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0,1,2,3,4,5,6,7,8,9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(240)</a:t>
                      </a:r>
                      <a:r>
                        <a:rPr lang="en-US" sz="2400" baseline="-25000">
                          <a:latin typeface="Times New Roman"/>
                          <a:ea typeface="Times New Roman"/>
                        </a:rPr>
                        <a:t>10</a:t>
                      </a:r>
                      <a:endParaRPr lang="en-US" sz="2400"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</a:tr>
              <a:tr h="1286634">
                <a:tc>
                  <a:txBody>
                    <a:bodyPr/>
                    <a:lstStyle/>
                    <a:p>
                      <a:pPr marL="17145" marR="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Hexadecimal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marR="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Times New Roman"/>
                        </a:rPr>
                        <a:t>16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368300" algn="ctr"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0,1,2,3,4,5,6,7,8,9, A,B,C,D,E,F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 marR="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</a:rPr>
                        <a:t>(F0)</a:t>
                      </a:r>
                      <a:r>
                        <a:rPr lang="en-US" sz="2400" baseline="-25000" dirty="0">
                          <a:latin typeface="Times New Roman"/>
                          <a:ea typeface="Times New Roman"/>
                        </a:rPr>
                        <a:t>16</a:t>
                      </a:r>
                      <a:endParaRPr lang="en-US" sz="2400" dirty="0">
                        <a:latin typeface="Times New Roman"/>
                        <a:ea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915</Words>
  <Application>Microsoft Office PowerPoint</Application>
  <PresentationFormat>On-screen Show (4:3)</PresentationFormat>
  <Paragraphs>235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 BCA Ist Semester  Introduction of Logic Circuit and Digital Design(ILCDD) Course Code: BCAC0003</vt:lpstr>
      <vt:lpstr>  NUMBER SYSTEM  </vt:lpstr>
      <vt:lpstr>Slide 3</vt:lpstr>
      <vt:lpstr>  DECIMAL NUMBER SYSTEM</vt:lpstr>
      <vt:lpstr>Slide 5</vt:lpstr>
      <vt:lpstr>Decimal Number System</vt:lpstr>
      <vt:lpstr>  BINARY NUMBER SYSTEM</vt:lpstr>
      <vt:lpstr>Slide 8</vt:lpstr>
      <vt:lpstr>Binary Number System</vt:lpstr>
      <vt:lpstr>  OCTAL NUMBER SYSTEM</vt:lpstr>
      <vt:lpstr>Slide 11</vt:lpstr>
      <vt:lpstr>Octal Number System</vt:lpstr>
      <vt:lpstr>  HEXADECIMAL NUMBER SYSTEM</vt:lpstr>
      <vt:lpstr>Slide 14</vt:lpstr>
      <vt:lpstr>Hexadecimal Number System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22</cp:revision>
  <dcterms:created xsi:type="dcterms:W3CDTF">2020-10-14T09:23:34Z</dcterms:created>
  <dcterms:modified xsi:type="dcterms:W3CDTF">2021-10-06T06:07:05Z</dcterms:modified>
</cp:coreProperties>
</file>