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9" r:id="rId2"/>
    <p:sldId id="259" r:id="rId3"/>
    <p:sldId id="260" r:id="rId4"/>
    <p:sldId id="270" r:id="rId5"/>
    <p:sldId id="262" r:id="rId6"/>
    <p:sldId id="264" r:id="rId7"/>
    <p:sldId id="271" r:id="rId8"/>
    <p:sldId id="272" r:id="rId9"/>
    <p:sldId id="273" r:id="rId1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5C5B7-C40A-44EA-B802-A926F1D24C89}" type="datetimeFigureOut">
              <a:rPr lang="en-US" smtClean="0"/>
              <a:pPr/>
              <a:t>2/16/2021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54225-1375-4FC0-BD39-EE62D132BEB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9C44D32-0A2B-4603-BF1C-9403C00C0DD8}" type="slidenum">
              <a:rPr lang="en-US" alt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en-US" smtClean="0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2/16/2021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2/16/2021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2/16/2021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80794" y="233883"/>
            <a:ext cx="5582411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5434" y="1036675"/>
            <a:ext cx="8533130" cy="1397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772400" cy="243840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>
                <a:solidFill>
                  <a:schemeClr val="tx1"/>
                </a:solidFill>
              </a:rPr>
              <a:t>BCA </a:t>
            </a:r>
            <a:r>
              <a:rPr lang="en-US" sz="3200" b="1" dirty="0" err="1" smtClean="0">
                <a:solidFill>
                  <a:schemeClr val="tx1"/>
                </a:solidFill>
              </a:rPr>
              <a:t>Ist</a:t>
            </a:r>
            <a:r>
              <a:rPr lang="en-US" sz="3200" b="1" dirty="0" smtClean="0">
                <a:solidFill>
                  <a:schemeClr val="tx1"/>
                </a:solidFill>
              </a:rPr>
              <a:t> Semester </a:t>
            </a:r>
            <a:br>
              <a:rPr lang="en-US" sz="3200" b="1" dirty="0" smtClean="0">
                <a:solidFill>
                  <a:schemeClr val="tx1"/>
                </a:solidFill>
              </a:rPr>
            </a:br>
            <a:r>
              <a:rPr lang="en-US" sz="3200" b="1" dirty="0" smtClean="0">
                <a:solidFill>
                  <a:schemeClr val="tx1"/>
                </a:solidFill>
              </a:rPr>
              <a:t>Introduction of Logic Circuit and Digital Design(ILCDD)</a:t>
            </a:r>
            <a:br>
              <a:rPr lang="en-US" sz="3200" b="1" dirty="0" smtClean="0">
                <a:solidFill>
                  <a:schemeClr val="tx1"/>
                </a:solidFill>
              </a:rPr>
            </a:br>
            <a:r>
              <a:rPr lang="en-US" sz="3200" b="1" dirty="0" smtClean="0">
                <a:solidFill>
                  <a:schemeClr val="tx1"/>
                </a:solidFill>
              </a:rPr>
              <a:t>Course Code: BCAC003</a:t>
            </a:r>
            <a:endParaRPr lang="en-US" altLang="en-US" sz="32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903685" y="4557713"/>
            <a:ext cx="7356872" cy="1752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Mr.Anuj</a:t>
            </a: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Kumar 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Assistant Professor, Dept. Of CE&amp;A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GLA University, Mathura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3" descr="Related image"/>
          <p:cNvPicPr>
            <a:picLocks noChangeAspect="1" noChangeArrowheads="1"/>
          </p:cNvPicPr>
          <p:nvPr/>
        </p:nvPicPr>
        <p:blipFill>
          <a:blip r:embed="rId3"/>
          <a:srcRect l="3793" t="21970" r="3781" b="23463"/>
          <a:stretch>
            <a:fillRect/>
          </a:stretch>
        </p:blipFill>
        <p:spPr bwMode="auto">
          <a:xfrm>
            <a:off x="3607594" y="500063"/>
            <a:ext cx="1714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8781" y="3074988"/>
            <a:ext cx="5829300" cy="11811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962" y="153162"/>
            <a:ext cx="8229600" cy="496931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95"/>
              </a:spcBef>
              <a:tabLst>
                <a:tab pos="579755" algn="l"/>
              </a:tabLst>
            </a:pPr>
            <a:r>
              <a:rPr sz="2900" spc="-560" dirty="0">
                <a:solidFill>
                  <a:schemeClr val="tx1"/>
                </a:solidFill>
              </a:rPr>
              <a:t>J  </a:t>
            </a:r>
            <a:r>
              <a:rPr sz="2900" spc="-445" dirty="0">
                <a:solidFill>
                  <a:schemeClr val="tx1"/>
                </a:solidFill>
              </a:rPr>
              <a:t> </a:t>
            </a:r>
            <a:r>
              <a:rPr sz="2900" spc="-430" dirty="0">
                <a:solidFill>
                  <a:schemeClr val="tx1"/>
                </a:solidFill>
              </a:rPr>
              <a:t>K	</a:t>
            </a:r>
            <a:r>
              <a:rPr sz="2900" spc="-65" dirty="0">
                <a:solidFill>
                  <a:schemeClr val="tx1"/>
                </a:solidFill>
              </a:rPr>
              <a:t>Flip-Flop</a:t>
            </a:r>
            <a:endParaRPr sz="2900">
              <a:solidFill>
                <a:schemeClr val="tx1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200" y="1371600"/>
            <a:ext cx="8240395" cy="3459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93980" indent="-343535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95" dirty="0">
                <a:latin typeface="Times New Roman"/>
                <a:cs typeface="Times New Roman"/>
              </a:rPr>
              <a:t>JK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flip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Arial"/>
                <a:cs typeface="Arial"/>
              </a:rPr>
              <a:t>–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25" dirty="0">
                <a:latin typeface="Times New Roman"/>
                <a:cs typeface="Times New Roman"/>
              </a:rPr>
              <a:t>flop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105" dirty="0">
                <a:latin typeface="Times New Roman"/>
                <a:cs typeface="Times New Roman"/>
              </a:rPr>
              <a:t>named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Times New Roman"/>
                <a:cs typeface="Times New Roman"/>
              </a:rPr>
              <a:t>after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spc="-140" dirty="0">
                <a:latin typeface="Times New Roman"/>
                <a:cs typeface="Times New Roman"/>
              </a:rPr>
              <a:t>Jack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spc="-90" dirty="0">
                <a:latin typeface="Times New Roman"/>
                <a:cs typeface="Times New Roman"/>
              </a:rPr>
              <a:t>Kilby</a:t>
            </a:r>
            <a:r>
              <a:rPr sz="2400" spc="-90" dirty="0">
                <a:latin typeface="Times New Roman"/>
                <a:cs typeface="Times New Roman"/>
              </a:rPr>
              <a:t>,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105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electrical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80" dirty="0">
                <a:latin typeface="Times New Roman"/>
                <a:cs typeface="Times New Roman"/>
              </a:rPr>
              <a:t>engineer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85" dirty="0">
                <a:latin typeface="Times New Roman"/>
                <a:cs typeface="Times New Roman"/>
              </a:rPr>
              <a:t>who  </a:t>
            </a:r>
            <a:r>
              <a:rPr sz="2400" spc="70" dirty="0">
                <a:latin typeface="Times New Roman"/>
                <a:cs typeface="Times New Roman"/>
              </a:rPr>
              <a:t>invented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IC.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5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95" smtClean="0">
                <a:latin typeface="Times New Roman"/>
                <a:cs typeface="Times New Roman"/>
              </a:rPr>
              <a:t>JK </a:t>
            </a:r>
            <a:r>
              <a:rPr sz="2400" spc="5" dirty="0">
                <a:latin typeface="Times New Roman"/>
                <a:cs typeface="Times New Roman"/>
              </a:rPr>
              <a:t>flip </a:t>
            </a:r>
            <a:r>
              <a:rPr sz="2400" spc="-130" dirty="0">
                <a:latin typeface="Arial"/>
                <a:cs typeface="Arial"/>
              </a:rPr>
              <a:t>– </a:t>
            </a:r>
            <a:r>
              <a:rPr sz="2400" spc="25" dirty="0">
                <a:latin typeface="Times New Roman"/>
                <a:cs typeface="Times New Roman"/>
              </a:rPr>
              <a:t>flop </a:t>
            </a:r>
            <a:r>
              <a:rPr sz="2400" spc="40" dirty="0">
                <a:latin typeface="Times New Roman"/>
                <a:cs typeface="Times New Roman"/>
              </a:rPr>
              <a:t>is </a:t>
            </a:r>
            <a:r>
              <a:rPr sz="2400" spc="45" dirty="0">
                <a:latin typeface="Times New Roman"/>
                <a:cs typeface="Times New Roman"/>
              </a:rPr>
              <a:t>called </a:t>
            </a:r>
            <a:r>
              <a:rPr sz="2400" spc="95" dirty="0">
                <a:latin typeface="Times New Roman"/>
                <a:cs typeface="Times New Roman"/>
              </a:rPr>
              <a:t>a </a:t>
            </a:r>
            <a:r>
              <a:rPr sz="2400" spc="30" dirty="0">
                <a:latin typeface="Times New Roman"/>
                <a:cs typeface="Times New Roman"/>
              </a:rPr>
              <a:t>Universal </a:t>
            </a:r>
            <a:r>
              <a:rPr sz="2400" spc="75" dirty="0">
                <a:latin typeface="Times New Roman"/>
                <a:cs typeface="Times New Roman"/>
              </a:rPr>
              <a:t>Programmable </a:t>
            </a:r>
            <a:r>
              <a:rPr sz="2400" spc="5" dirty="0">
                <a:latin typeface="Times New Roman"/>
                <a:cs typeface="Times New Roman"/>
              </a:rPr>
              <a:t>flip </a:t>
            </a:r>
            <a:r>
              <a:rPr sz="2400" spc="-130" dirty="0">
                <a:latin typeface="Arial"/>
                <a:cs typeface="Arial"/>
              </a:rPr>
              <a:t>– </a:t>
            </a:r>
            <a:r>
              <a:rPr sz="2400" spc="25" dirty="0">
                <a:latin typeface="Times New Roman"/>
                <a:cs typeface="Times New Roman"/>
              </a:rPr>
              <a:t>flop  </a:t>
            </a:r>
            <a:r>
              <a:rPr sz="2400" spc="55" dirty="0">
                <a:latin typeface="Times New Roman"/>
                <a:cs typeface="Times New Roman"/>
              </a:rPr>
              <a:t>because,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Times New Roman"/>
                <a:cs typeface="Times New Roman"/>
              </a:rPr>
              <a:t>using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its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95" dirty="0">
                <a:latin typeface="Times New Roman"/>
                <a:cs typeface="Times New Roman"/>
              </a:rPr>
              <a:t>inputs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spc="-430">
                <a:latin typeface="Times New Roman"/>
                <a:cs typeface="Times New Roman"/>
              </a:rPr>
              <a:t>J</a:t>
            </a:r>
            <a:r>
              <a:rPr sz="2400" b="1" spc="-320">
                <a:latin typeface="Times New Roman"/>
                <a:cs typeface="Times New Roman"/>
              </a:rPr>
              <a:t> </a:t>
            </a:r>
            <a:r>
              <a:rPr lang="en-US" sz="2400" b="1" spc="-320" dirty="0" smtClean="0">
                <a:latin typeface="Times New Roman"/>
                <a:cs typeface="Times New Roman"/>
              </a:rPr>
              <a:t>  </a:t>
            </a:r>
            <a:r>
              <a:rPr sz="2400" b="1" spc="20" smtClean="0">
                <a:latin typeface="Times New Roman"/>
                <a:cs typeface="Times New Roman"/>
              </a:rPr>
              <a:t>(</a:t>
            </a:r>
            <a:r>
              <a:rPr sz="2400" b="1" spc="20" dirty="0">
                <a:latin typeface="Times New Roman"/>
                <a:cs typeface="Times New Roman"/>
              </a:rPr>
              <a:t>Preset</a:t>
            </a:r>
            <a:r>
              <a:rPr sz="2400" b="1" spc="20">
                <a:latin typeface="Times New Roman"/>
                <a:cs typeface="Times New Roman"/>
              </a:rPr>
              <a:t>),</a:t>
            </a:r>
            <a:r>
              <a:rPr sz="2400" b="1" spc="-110">
                <a:latin typeface="Times New Roman"/>
                <a:cs typeface="Times New Roman"/>
              </a:rPr>
              <a:t> </a:t>
            </a:r>
            <a:r>
              <a:rPr sz="2400" b="1" spc="-330" smtClean="0">
                <a:latin typeface="Times New Roman"/>
                <a:cs typeface="Times New Roman"/>
              </a:rPr>
              <a:t>K</a:t>
            </a:r>
            <a:r>
              <a:rPr lang="en-US" sz="2400" b="1" spc="-330" dirty="0" smtClean="0">
                <a:latin typeface="Times New Roman"/>
                <a:cs typeface="Times New Roman"/>
              </a:rPr>
              <a:t> </a:t>
            </a:r>
            <a:r>
              <a:rPr sz="2400" b="1" spc="-320" smtClean="0">
                <a:latin typeface="Times New Roman"/>
                <a:cs typeface="Times New Roman"/>
              </a:rPr>
              <a:t> </a:t>
            </a:r>
            <a:r>
              <a:rPr sz="2400" b="1" spc="-30" dirty="0">
                <a:latin typeface="Times New Roman"/>
                <a:cs typeface="Times New Roman"/>
              </a:rPr>
              <a:t>(Clear)</a:t>
            </a:r>
            <a:r>
              <a:rPr sz="2400" spc="-30" dirty="0">
                <a:latin typeface="Times New Roman"/>
                <a:cs typeface="Times New Roman"/>
              </a:rPr>
              <a:t>,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Times New Roman"/>
                <a:cs typeface="Times New Roman"/>
              </a:rPr>
              <a:t>function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Times New Roman"/>
                <a:cs typeface="Times New Roman"/>
              </a:rPr>
              <a:t>any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114" dirty="0">
                <a:latin typeface="Times New Roman"/>
                <a:cs typeface="Times New Roman"/>
              </a:rPr>
              <a:t>other  </a:t>
            </a:r>
            <a:r>
              <a:rPr sz="2400" spc="5" dirty="0">
                <a:latin typeface="Times New Roman"/>
                <a:cs typeface="Times New Roman"/>
              </a:rPr>
              <a:t>flip </a:t>
            </a:r>
            <a:r>
              <a:rPr sz="2400" spc="-130" dirty="0">
                <a:latin typeface="Arial"/>
                <a:cs typeface="Arial"/>
              </a:rPr>
              <a:t>– </a:t>
            </a:r>
            <a:r>
              <a:rPr sz="2400" spc="25" dirty="0">
                <a:latin typeface="Times New Roman"/>
                <a:cs typeface="Times New Roman"/>
              </a:rPr>
              <a:t>flop </a:t>
            </a:r>
            <a:r>
              <a:rPr sz="2400" spc="70" dirty="0">
                <a:latin typeface="Times New Roman"/>
                <a:cs typeface="Times New Roman"/>
              </a:rPr>
              <a:t>can </a:t>
            </a:r>
            <a:r>
              <a:rPr sz="2400" spc="95" dirty="0">
                <a:latin typeface="Times New Roman"/>
                <a:cs typeface="Times New Roman"/>
              </a:rPr>
              <a:t>be</a:t>
            </a:r>
            <a:r>
              <a:rPr sz="2400" spc="-345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imitated.</a:t>
            </a:r>
            <a:endParaRPr sz="24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185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50" dirty="0">
                <a:latin typeface="Times New Roman"/>
                <a:cs typeface="Times New Roman"/>
              </a:rPr>
              <a:t>It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Times New Roman"/>
                <a:cs typeface="Times New Roman"/>
              </a:rPr>
              <a:t>is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105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modification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SR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flip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Arial"/>
                <a:cs typeface="Arial"/>
              </a:rPr>
              <a:t>– </a:t>
            </a:r>
            <a:r>
              <a:rPr sz="2400" spc="25" dirty="0">
                <a:latin typeface="Times New Roman"/>
                <a:cs typeface="Times New Roman"/>
              </a:rPr>
              <a:t>flop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85" dirty="0">
                <a:latin typeface="Times New Roman"/>
                <a:cs typeface="Times New Roman"/>
              </a:rPr>
              <a:t>with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90" dirty="0">
                <a:latin typeface="Times New Roman"/>
                <a:cs typeface="Times New Roman"/>
              </a:rPr>
              <a:t>no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Times New Roman"/>
                <a:cs typeface="Times New Roman"/>
              </a:rPr>
              <a:t>Invalid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state.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6562" y="153162"/>
            <a:ext cx="8229600" cy="496931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95"/>
              </a:spcBef>
            </a:pPr>
            <a:r>
              <a:rPr sz="2900" spc="-495" dirty="0">
                <a:solidFill>
                  <a:schemeClr val="tx1"/>
                </a:solidFill>
              </a:rPr>
              <a:t>JK </a:t>
            </a:r>
            <a:r>
              <a:rPr sz="2900" spc="-390" dirty="0">
                <a:solidFill>
                  <a:schemeClr val="tx1"/>
                </a:solidFill>
              </a:rPr>
              <a:t> </a:t>
            </a:r>
            <a:r>
              <a:rPr sz="2900" spc="-60" dirty="0">
                <a:solidFill>
                  <a:schemeClr val="tx1"/>
                </a:solidFill>
              </a:rPr>
              <a:t>Flip-Flop</a:t>
            </a:r>
            <a:endParaRPr sz="29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802284"/>
            <a:ext cx="8298815" cy="2701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50" dirty="0">
                <a:latin typeface="Times New Roman"/>
                <a:cs typeface="Times New Roman"/>
              </a:rPr>
              <a:t>In </a:t>
            </a:r>
            <a:r>
              <a:rPr sz="2200" spc="75" dirty="0">
                <a:latin typeface="Times New Roman"/>
                <a:cs typeface="Times New Roman"/>
              </a:rPr>
              <a:t>this </a:t>
            </a:r>
            <a:r>
              <a:rPr sz="2200" spc="110" dirty="0">
                <a:latin typeface="Times New Roman"/>
                <a:cs typeface="Times New Roman"/>
              </a:rPr>
              <a:t>the </a:t>
            </a:r>
            <a:r>
              <a:rPr sz="2200" b="1" spc="-430">
                <a:latin typeface="Times New Roman"/>
                <a:cs typeface="Times New Roman"/>
              </a:rPr>
              <a:t>J </a:t>
            </a:r>
            <a:r>
              <a:rPr lang="en-US" sz="2200" b="1" spc="-430" dirty="0" smtClean="0">
                <a:latin typeface="Times New Roman"/>
                <a:cs typeface="Times New Roman"/>
              </a:rPr>
              <a:t>      </a:t>
            </a:r>
            <a:r>
              <a:rPr sz="2200" spc="95" smtClean="0">
                <a:latin typeface="Times New Roman"/>
                <a:cs typeface="Times New Roman"/>
              </a:rPr>
              <a:t>input </a:t>
            </a:r>
            <a:r>
              <a:rPr sz="2200" spc="40" dirty="0">
                <a:latin typeface="Times New Roman"/>
                <a:cs typeface="Times New Roman"/>
              </a:rPr>
              <a:t>is </a:t>
            </a:r>
            <a:r>
              <a:rPr sz="2200" spc="65" dirty="0">
                <a:latin typeface="Times New Roman"/>
                <a:cs typeface="Times New Roman"/>
              </a:rPr>
              <a:t>similar </a:t>
            </a:r>
            <a:r>
              <a:rPr sz="2200" spc="85" dirty="0">
                <a:latin typeface="Times New Roman"/>
                <a:cs typeface="Times New Roman"/>
              </a:rPr>
              <a:t>to </a:t>
            </a:r>
            <a:r>
              <a:rPr sz="2200" spc="105" dirty="0">
                <a:latin typeface="Times New Roman"/>
                <a:cs typeface="Times New Roman"/>
              </a:rPr>
              <a:t>the </a:t>
            </a:r>
            <a:r>
              <a:rPr sz="2200" b="1" spc="-180" dirty="0">
                <a:latin typeface="Times New Roman"/>
                <a:cs typeface="Times New Roman"/>
              </a:rPr>
              <a:t>SET </a:t>
            </a:r>
            <a:r>
              <a:rPr sz="2200" spc="95" dirty="0">
                <a:latin typeface="Times New Roman"/>
                <a:cs typeface="Times New Roman"/>
              </a:rPr>
              <a:t>input </a:t>
            </a:r>
            <a:r>
              <a:rPr sz="2200" spc="-5" dirty="0">
                <a:latin typeface="Times New Roman"/>
                <a:cs typeface="Times New Roman"/>
              </a:rPr>
              <a:t>of </a:t>
            </a:r>
            <a:r>
              <a:rPr sz="2200" spc="-120" dirty="0">
                <a:latin typeface="Times New Roman"/>
                <a:cs typeface="Times New Roman"/>
              </a:rPr>
              <a:t>SR </a:t>
            </a:r>
            <a:r>
              <a:rPr sz="2200" spc="5" dirty="0">
                <a:latin typeface="Times New Roman"/>
                <a:cs typeface="Times New Roman"/>
              </a:rPr>
              <a:t>flip </a:t>
            </a:r>
            <a:r>
              <a:rPr sz="2200" spc="-130" dirty="0">
                <a:latin typeface="Arial"/>
                <a:cs typeface="Arial"/>
              </a:rPr>
              <a:t>– </a:t>
            </a:r>
            <a:r>
              <a:rPr sz="2200" spc="25" dirty="0">
                <a:latin typeface="Times New Roman"/>
                <a:cs typeface="Times New Roman"/>
              </a:rPr>
              <a:t>flop </a:t>
            </a:r>
            <a:r>
              <a:rPr sz="2200" spc="105" dirty="0">
                <a:latin typeface="Times New Roman"/>
                <a:cs typeface="Times New Roman"/>
              </a:rPr>
              <a:t>and  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b="1" spc="-330">
                <a:latin typeface="Times New Roman"/>
                <a:cs typeface="Times New Roman"/>
              </a:rPr>
              <a:t>K</a:t>
            </a:r>
            <a:r>
              <a:rPr sz="2200" b="1" spc="-305">
                <a:latin typeface="Times New Roman"/>
                <a:cs typeface="Times New Roman"/>
              </a:rPr>
              <a:t> </a:t>
            </a:r>
            <a:r>
              <a:rPr lang="en-US" sz="2200" b="1" spc="-305" dirty="0" smtClean="0">
                <a:latin typeface="Times New Roman"/>
                <a:cs typeface="Times New Roman"/>
              </a:rPr>
              <a:t>   </a:t>
            </a:r>
            <a:r>
              <a:rPr sz="2200" spc="95" smtClean="0">
                <a:latin typeface="Times New Roman"/>
                <a:cs typeface="Times New Roman"/>
              </a:rPr>
              <a:t>input</a:t>
            </a:r>
            <a:r>
              <a:rPr sz="2200" spc="-60" smtClean="0">
                <a:latin typeface="Times New Roman"/>
                <a:cs typeface="Times New Roman"/>
              </a:rPr>
              <a:t> </a:t>
            </a:r>
            <a:r>
              <a:rPr sz="2200" spc="4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65" dirty="0">
                <a:latin typeface="Times New Roman"/>
                <a:cs typeface="Times New Roman"/>
              </a:rPr>
              <a:t>similar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85" dirty="0">
                <a:latin typeface="Times New Roman"/>
                <a:cs typeface="Times New Roman"/>
              </a:rPr>
              <a:t>to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105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spc="-204" dirty="0">
                <a:latin typeface="Times New Roman"/>
                <a:cs typeface="Times New Roman"/>
              </a:rPr>
              <a:t>RESET</a:t>
            </a:r>
            <a:r>
              <a:rPr sz="2200" b="1" spc="-95" dirty="0">
                <a:latin typeface="Times New Roman"/>
                <a:cs typeface="Times New Roman"/>
              </a:rPr>
              <a:t> </a:t>
            </a:r>
            <a:r>
              <a:rPr sz="2200" spc="95" dirty="0">
                <a:latin typeface="Times New Roman"/>
                <a:cs typeface="Times New Roman"/>
              </a:rPr>
              <a:t>input</a:t>
            </a:r>
            <a:endParaRPr sz="22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5" dirty="0">
                <a:latin typeface="Times New Roman"/>
                <a:cs typeface="Times New Roman"/>
              </a:rPr>
              <a:t>And </a:t>
            </a:r>
            <a:r>
              <a:rPr sz="2200" spc="110" dirty="0">
                <a:latin typeface="Times New Roman"/>
                <a:cs typeface="Times New Roman"/>
              </a:rPr>
              <a:t>outputs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105" dirty="0">
                <a:latin typeface="Times New Roman"/>
                <a:cs typeface="Times New Roman"/>
              </a:rPr>
              <a:t>are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3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90" dirty="0">
                <a:latin typeface="Times New Roman"/>
                <a:cs typeface="Times New Roman"/>
              </a:rPr>
              <a:t>one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4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80" dirty="0">
                <a:latin typeface="Times New Roman"/>
                <a:cs typeface="Times New Roman"/>
              </a:rPr>
              <a:t>main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110" dirty="0">
                <a:latin typeface="Times New Roman"/>
                <a:cs typeface="Times New Roman"/>
              </a:rPr>
              <a:t>output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110" dirty="0">
                <a:latin typeface="Times New Roman"/>
                <a:cs typeface="Times New Roman"/>
              </a:rPr>
              <a:t>represented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30" dirty="0">
                <a:latin typeface="Times New Roman"/>
                <a:cs typeface="Times New Roman"/>
              </a:rPr>
              <a:t>by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b="1" spc="-280" dirty="0">
                <a:latin typeface="Times New Roman"/>
                <a:cs typeface="Times New Roman"/>
              </a:rPr>
              <a:t>Q</a:t>
            </a:r>
            <a:r>
              <a:rPr sz="2200" b="1" spc="-90" dirty="0">
                <a:latin typeface="Times New Roman"/>
                <a:cs typeface="Times New Roman"/>
              </a:rPr>
              <a:t> </a:t>
            </a:r>
            <a:r>
              <a:rPr sz="2200" spc="105" dirty="0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105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114" dirty="0">
                <a:latin typeface="Times New Roman"/>
                <a:cs typeface="Times New Roman"/>
              </a:rPr>
              <a:t>other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4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80" dirty="0">
                <a:latin typeface="Times New Roman"/>
                <a:cs typeface="Times New Roman"/>
              </a:rPr>
              <a:t>complement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55" dirty="0">
                <a:latin typeface="Times New Roman"/>
                <a:cs typeface="Times New Roman"/>
              </a:rPr>
              <a:t>Q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110" dirty="0">
                <a:latin typeface="Times New Roman"/>
                <a:cs typeface="Times New Roman"/>
              </a:rPr>
              <a:t>represented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30" dirty="0">
                <a:latin typeface="Times New Roman"/>
                <a:cs typeface="Times New Roman"/>
              </a:rPr>
              <a:t>by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spc="-290" dirty="0">
                <a:latin typeface="Times New Roman"/>
                <a:cs typeface="Times New Roman"/>
              </a:rPr>
              <a:t>Q’.</a:t>
            </a:r>
            <a:endParaRPr sz="22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50" dirty="0">
                <a:latin typeface="Times New Roman"/>
                <a:cs typeface="Times New Roman"/>
              </a:rPr>
              <a:t>The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55" dirty="0">
                <a:latin typeface="Times New Roman"/>
                <a:cs typeface="Times New Roman"/>
              </a:rPr>
              <a:t>symbol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200" dirty="0">
                <a:latin typeface="Times New Roman"/>
                <a:cs typeface="Times New Roman"/>
              </a:rPr>
              <a:t>JK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flip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Arial"/>
                <a:cs typeface="Arial"/>
              </a:rPr>
              <a:t>– </a:t>
            </a:r>
            <a:r>
              <a:rPr sz="2200" spc="25" dirty="0">
                <a:latin typeface="Times New Roman"/>
                <a:cs typeface="Times New Roman"/>
              </a:rPr>
              <a:t>flop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4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95" dirty="0">
                <a:latin typeface="Times New Roman"/>
                <a:cs typeface="Times New Roman"/>
              </a:rPr>
              <a:t>shown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10" dirty="0">
                <a:latin typeface="Times New Roman"/>
                <a:cs typeface="Times New Roman"/>
              </a:rPr>
              <a:t>below.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19425" y="3581400"/>
            <a:ext cx="3277713" cy="2371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J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981200"/>
            <a:ext cx="5562600" cy="3025274"/>
          </a:xfrm>
          <a:prstGeom prst="rect">
            <a:avLst/>
          </a:prstGeom>
        </p:spPr>
      </p:pic>
      <p:sp>
        <p:nvSpPr>
          <p:cNvPr id="15" name="object 2"/>
          <p:cNvSpPr/>
          <p:nvPr/>
        </p:nvSpPr>
        <p:spPr>
          <a:xfrm>
            <a:off x="762000" y="381000"/>
            <a:ext cx="8001762" cy="914400"/>
          </a:xfrm>
          <a:custGeom>
            <a:avLst/>
            <a:gdLst/>
            <a:ahLst/>
            <a:cxnLst/>
            <a:rect l="l" t="t" r="r" b="b"/>
            <a:pathLst>
              <a:path w="8229600" h="762000">
                <a:moveTo>
                  <a:pt x="0" y="762000"/>
                </a:moveTo>
                <a:lnTo>
                  <a:pt x="8229600" y="762000"/>
                </a:lnTo>
                <a:lnTo>
                  <a:pt x="82296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95400" y="457200"/>
            <a:ext cx="667144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spc="-50" dirty="0" smtClean="0"/>
              <a:t>Construction </a:t>
            </a:r>
            <a:r>
              <a:rPr lang="en-US" sz="4800" spc="-525" dirty="0" smtClean="0"/>
              <a:t>&amp; </a:t>
            </a:r>
            <a:r>
              <a:rPr lang="en-US" sz="4800" spc="-100" dirty="0" smtClean="0"/>
              <a:t>Logic</a:t>
            </a:r>
            <a:r>
              <a:rPr lang="en-US" sz="4800" spc="-405" dirty="0" smtClean="0"/>
              <a:t> </a:t>
            </a:r>
            <a:r>
              <a:rPr lang="en-US" sz="4800" spc="-125" dirty="0" smtClean="0"/>
              <a:t>Circuit</a:t>
            </a:r>
            <a:endParaRPr lang="en-US" sz="4800" dirty="0"/>
          </a:p>
        </p:txBody>
      </p:sp>
      <p:sp>
        <p:nvSpPr>
          <p:cNvPr id="17" name="Rectangle 16"/>
          <p:cNvSpPr/>
          <p:nvPr/>
        </p:nvSpPr>
        <p:spPr>
          <a:xfrm>
            <a:off x="3124200" y="5562600"/>
            <a:ext cx="34560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smtClean="0">
                <a:latin typeface="Carlito"/>
                <a:cs typeface="Carlito"/>
              </a:rPr>
              <a:t>JK </a:t>
            </a:r>
            <a:r>
              <a:rPr lang="en-US" spc="-5" dirty="0" smtClean="0">
                <a:latin typeface="Carlito"/>
                <a:cs typeface="Carlito"/>
              </a:rPr>
              <a:t>Flip-Flop Using </a:t>
            </a:r>
            <a:r>
              <a:rPr lang="en-US" dirty="0" smtClean="0">
                <a:latin typeface="Carlito"/>
                <a:cs typeface="Carlito"/>
              </a:rPr>
              <a:t>NAND</a:t>
            </a:r>
            <a:r>
              <a:rPr lang="en-US" spc="365" dirty="0" smtClean="0">
                <a:latin typeface="Carlito"/>
                <a:cs typeface="Carlito"/>
              </a:rPr>
              <a:t> </a:t>
            </a:r>
            <a:r>
              <a:rPr lang="en-US" spc="-15" dirty="0" smtClean="0">
                <a:latin typeface="Carlito"/>
                <a:cs typeface="Carlito"/>
              </a:rPr>
              <a:t>gates</a:t>
            </a:r>
            <a:endParaRPr lang="en-US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2514600"/>
            <a:ext cx="4514094" cy="25626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480428" y="179323"/>
            <a:ext cx="1819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5" dirty="0">
                <a:latin typeface="Times New Roman"/>
                <a:cs typeface="Times New Roman"/>
              </a:rPr>
              <a:t>NAND </a:t>
            </a:r>
            <a:r>
              <a:rPr sz="1800" spc="65" dirty="0">
                <a:latin typeface="Times New Roman"/>
                <a:cs typeface="Times New Roman"/>
              </a:rPr>
              <a:t>Truth</a:t>
            </a:r>
            <a:r>
              <a:rPr sz="1800" spc="-265" dirty="0">
                <a:latin typeface="Times New Roman"/>
                <a:cs typeface="Times New Roman"/>
              </a:rPr>
              <a:t> </a:t>
            </a:r>
            <a:r>
              <a:rPr sz="1800" spc="60" dirty="0">
                <a:latin typeface="Times New Roman"/>
                <a:cs typeface="Times New Roman"/>
              </a:rPr>
              <a:t>table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57800" y="533400"/>
            <a:ext cx="3334511" cy="304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019800" y="4038600"/>
          <a:ext cx="1905000" cy="18795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5000"/>
                <a:gridCol w="635000"/>
                <a:gridCol w="635000"/>
              </a:tblGrid>
              <a:tr h="37592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37591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7591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75919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66800" y="1371600"/>
          <a:ext cx="4148453" cy="33375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3294"/>
                <a:gridCol w="1111250"/>
                <a:gridCol w="1036955"/>
                <a:gridCol w="1036954"/>
              </a:tblGrid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sz="1800" spc="65" dirty="0" smtClean="0">
                          <a:latin typeface="Times New Roman"/>
                          <a:cs typeface="Times New Roman"/>
                        </a:rPr>
                        <a:t>Q(t)</a:t>
                      </a:r>
                      <a:endParaRPr lang="en-US"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J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110" dirty="0">
                          <a:latin typeface="Times New Roman"/>
                          <a:cs typeface="Times New Roman"/>
                        </a:rPr>
                        <a:t>Q(t+1)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30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800" dirty="0" smtClean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800" dirty="0" smtClean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 smtClean="0">
                          <a:latin typeface="Carlito"/>
                          <a:cs typeface="Carlito"/>
                        </a:rPr>
                        <a:t>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30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800" dirty="0" smtClean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 smtClean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30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800" dirty="0" smtClean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800" dirty="0" smtClean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lang="en-US" sz="1800" dirty="0" smtClean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800" dirty="0" smtClean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800" dirty="0" smtClean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30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800" dirty="0" smtClean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800" dirty="0" smtClean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 smtClean="0">
                          <a:latin typeface="Carlito"/>
                          <a:cs typeface="Carlito"/>
                        </a:rPr>
                        <a:t>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30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800" dirty="0" smtClean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800" dirty="0" smtClean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mtClean="0">
                          <a:latin typeface="Carlito"/>
                          <a:cs typeface="Carlito"/>
                        </a:rPr>
                        <a:t>1</a:t>
                      </a:r>
                      <a:r>
                        <a:rPr sz="1800" spc="-45" smtClean="0">
                          <a:latin typeface="Carlito"/>
                          <a:cs typeface="Carlito"/>
                        </a:rPr>
                        <a:t> 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mtClean="0">
                          <a:latin typeface="Carlito"/>
                          <a:cs typeface="Carlito"/>
                        </a:rPr>
                        <a:t>0</a:t>
                      </a:r>
                      <a:r>
                        <a:rPr sz="1800" spc="-45" smtClean="0">
                          <a:latin typeface="Carlito"/>
                          <a:cs typeface="Carlito"/>
                        </a:rPr>
                        <a:t> 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0200" y="381000"/>
            <a:ext cx="4952239" cy="316112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sz="1800" spc="-310" dirty="0">
                <a:solidFill>
                  <a:schemeClr val="tx1"/>
                </a:solidFill>
              </a:rPr>
              <a:t>JK</a:t>
            </a:r>
            <a:r>
              <a:rPr sz="1800" spc="-170" dirty="0">
                <a:solidFill>
                  <a:schemeClr val="tx1"/>
                </a:solidFill>
              </a:rPr>
              <a:t> </a:t>
            </a:r>
            <a:r>
              <a:rPr sz="1800" spc="-40" dirty="0">
                <a:solidFill>
                  <a:schemeClr val="tx1"/>
                </a:solidFill>
              </a:rPr>
              <a:t>Flip-Flop Characteristic</a:t>
            </a:r>
            <a:r>
              <a:rPr sz="1800" spc="-254" dirty="0">
                <a:solidFill>
                  <a:schemeClr val="tx1"/>
                </a:solidFill>
              </a:rPr>
              <a:t> </a:t>
            </a:r>
            <a:r>
              <a:rPr sz="1800" spc="-60" dirty="0">
                <a:solidFill>
                  <a:schemeClr val="tx1"/>
                </a:solidFill>
              </a:rPr>
              <a:t>Table</a:t>
            </a:r>
            <a:endParaRPr sz="1800">
              <a:solidFill>
                <a:schemeClr val="tx1"/>
              </a:solidFill>
            </a:endParaRPr>
          </a:p>
        </p:txBody>
      </p:sp>
      <p:pic>
        <p:nvPicPr>
          <p:cNvPr id="5" name="Picture 4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029200"/>
            <a:ext cx="3581400" cy="15940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67200" y="5715000"/>
            <a:ext cx="46481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Characteristics Equation=   Q’J+QK’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0794" y="233883"/>
            <a:ext cx="5582411" cy="553998"/>
          </a:xfrm>
        </p:spPr>
        <p:txBody>
          <a:bodyPr/>
          <a:lstStyle/>
          <a:p>
            <a:pPr algn="ctr"/>
            <a:r>
              <a:rPr lang="en-US" spc="-560" dirty="0" smtClean="0">
                <a:solidFill>
                  <a:schemeClr val="tx1"/>
                </a:solidFill>
              </a:rPr>
              <a:t>           T</a:t>
            </a:r>
            <a:r>
              <a:rPr lang="en-US" spc="-430" dirty="0" smtClean="0">
                <a:solidFill>
                  <a:schemeClr val="tx1"/>
                </a:solidFill>
              </a:rPr>
              <a:t>	</a:t>
            </a:r>
            <a:r>
              <a:rPr lang="en-US" spc="-65" dirty="0" smtClean="0">
                <a:solidFill>
                  <a:schemeClr val="tx1"/>
                </a:solidFill>
              </a:rPr>
              <a:t>Flip-Flop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47800"/>
            <a:ext cx="8152764" cy="1846659"/>
          </a:xfrm>
        </p:spPr>
        <p:txBody>
          <a:bodyPr/>
          <a:lstStyle/>
          <a:p>
            <a:pPr algn="l"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Toggle Flip-flop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is another type of bistable sequential logic circuit based around the previous clocked JK flip-flop circuit. </a:t>
            </a:r>
          </a:p>
          <a:p>
            <a:pPr algn="l">
              <a:buFont typeface="Arial" pitchFamily="34" charset="0"/>
              <a:buChar char="•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Toggle flip-flops have a single input and one or two complementary outputs of Q and Q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0794" y="233883"/>
            <a:ext cx="5582411" cy="1107996"/>
          </a:xfrm>
        </p:spPr>
        <p:txBody>
          <a:bodyPr/>
          <a:lstStyle/>
          <a:p>
            <a:r>
              <a:rPr lang="en-US" spc="-50" dirty="0" smtClean="0">
                <a:solidFill>
                  <a:schemeClr val="tx1"/>
                </a:solidFill>
              </a:rPr>
              <a:t>Construction </a:t>
            </a:r>
            <a:r>
              <a:rPr lang="en-US" spc="-525" dirty="0" smtClean="0">
                <a:solidFill>
                  <a:schemeClr val="tx1"/>
                </a:solidFill>
              </a:rPr>
              <a:t>&amp; </a:t>
            </a:r>
            <a:r>
              <a:rPr lang="en-US" spc="-100" dirty="0" smtClean="0">
                <a:solidFill>
                  <a:schemeClr val="tx1"/>
                </a:solidFill>
              </a:rPr>
              <a:t>Logic</a:t>
            </a:r>
            <a:r>
              <a:rPr lang="en-US" spc="-405" dirty="0" smtClean="0">
                <a:solidFill>
                  <a:schemeClr val="tx1"/>
                </a:solidFill>
              </a:rPr>
              <a:t> </a:t>
            </a:r>
            <a:r>
              <a:rPr lang="en-US" spc="-125" dirty="0" smtClean="0">
                <a:solidFill>
                  <a:schemeClr val="tx1"/>
                </a:solidFill>
              </a:rPr>
              <a:t>Circuit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 descr="downloa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295400"/>
            <a:ext cx="5898996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 descr="NAND-Gate-truth-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524000"/>
            <a:ext cx="2610327" cy="3004777"/>
          </a:xfrm>
          <a:prstGeom prst="rect">
            <a:avLst/>
          </a:prstGeom>
        </p:spPr>
      </p:pic>
      <p:pic>
        <p:nvPicPr>
          <p:cNvPr id="5" name="Picture 4" descr="download (1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4228629" cy="2209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3733800"/>
            <a:ext cx="2702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 </a:t>
            </a:r>
            <a:r>
              <a:rPr lang="en-US" sz="2400" b="1" dirty="0" smtClean="0"/>
              <a:t>Characteristic table</a:t>
            </a:r>
            <a:endParaRPr lang="en-US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6172200" y="4648200"/>
            <a:ext cx="24440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NAND GATE Truth Table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1219200" y="5486400"/>
            <a:ext cx="3482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Characteristics Equation=   Q’T+QT’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241</Words>
  <Application>Microsoft Office PowerPoint</Application>
  <PresentationFormat>On-screen Show (4:3)</PresentationFormat>
  <Paragraphs>80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 BCA Ist Semester  Introduction of Logic Circuit and Digital Design(ILCDD) Course Code: BCAC003</vt:lpstr>
      <vt:lpstr>J   K Flip-Flop</vt:lpstr>
      <vt:lpstr>JK  Flip-Flop</vt:lpstr>
      <vt:lpstr>Slide 4</vt:lpstr>
      <vt:lpstr>Slide 5</vt:lpstr>
      <vt:lpstr>JK Flip-Flop Characteristic Table</vt:lpstr>
      <vt:lpstr>           T Flip-Flop</vt:lpstr>
      <vt:lpstr>Construction &amp; Logic Circuit 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BCA Ist Semester  Introduction of Logic Circuit and Digital Design(ILCDD) Course Code: BCAC003</dc:title>
  <dc:creator>DIVIJA</dc:creator>
  <cp:lastModifiedBy>ADMIN</cp:lastModifiedBy>
  <cp:revision>9</cp:revision>
  <dcterms:created xsi:type="dcterms:W3CDTF">2021-01-16T05:11:04Z</dcterms:created>
  <dcterms:modified xsi:type="dcterms:W3CDTF">2021-02-16T03:19:53Z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2020-05-12T00:00:00Z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2021-01-16T00:00:00Z</vt:filetime>
  </property>
</Properties>
</file>