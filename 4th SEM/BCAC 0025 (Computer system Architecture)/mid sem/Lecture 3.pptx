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5" r:id="rId2"/>
    <p:sldId id="265" r:id="rId3"/>
    <p:sldId id="279" r:id="rId4"/>
    <p:sldId id="266" r:id="rId5"/>
    <p:sldId id="268" r:id="rId6"/>
    <p:sldId id="274" r:id="rId7"/>
    <p:sldId id="280" r:id="rId8"/>
    <p:sldId id="278" r:id="rId9"/>
    <p:sldId id="277" r:id="rId10"/>
    <p:sldId id="276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F4029-E400-410E-A565-1E2326A5C59C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7643C-9949-4C92-B5BF-0F65A8CF0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mtClean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A2C0C-D951-41FE-9EF7-9192212149E9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EA734-B349-4702-9B88-F0AFB199C42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BCA </a:t>
            </a:r>
            <a:r>
              <a:rPr lang="en-US" sz="3200" b="1" dirty="0" err="1" smtClean="0"/>
              <a:t>Ist</a:t>
            </a:r>
            <a:r>
              <a:rPr lang="en-US" sz="3200" b="1" dirty="0" smtClean="0"/>
              <a:t> Semester </a:t>
            </a:r>
            <a:br>
              <a:rPr lang="en-US" sz="3200" b="1" dirty="0" smtClean="0"/>
            </a:br>
            <a:r>
              <a:rPr lang="en-US" sz="3200" b="1" dirty="0" smtClean="0"/>
              <a:t>Introduction of Logic Circuit and Digital Design(ILCDD)</a:t>
            </a:r>
            <a:br>
              <a:rPr lang="en-US" sz="3200" b="1" dirty="0" smtClean="0"/>
            </a:br>
            <a:r>
              <a:rPr lang="en-US" sz="3200" b="1" dirty="0" smtClean="0"/>
              <a:t>Course Code: </a:t>
            </a:r>
            <a:r>
              <a:rPr lang="en-US" sz="3200" b="1" dirty="0" smtClean="0"/>
              <a:t>BCAC0003</a:t>
            </a:r>
            <a:endParaRPr lang="en-US" alt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685" y="4557713"/>
            <a:ext cx="7356872" cy="1752600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Mr.Anuj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Kumar </a:t>
            </a:r>
            <a:endParaRPr lang="en-GB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Of CE&amp;A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3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Number Base Conversions</a:t>
            </a:r>
          </a:p>
        </p:txBody>
      </p:sp>
      <p:sp>
        <p:nvSpPr>
          <p:cNvPr id="50179" name="Oval 3"/>
          <p:cNvSpPr>
            <a:spLocks noChangeArrowheads="1"/>
          </p:cNvSpPr>
          <p:nvPr/>
        </p:nvSpPr>
        <p:spPr bwMode="auto">
          <a:xfrm>
            <a:off x="1510812" y="3429000"/>
            <a:ext cx="2133600" cy="1066800"/>
          </a:xfrm>
          <a:prstGeom prst="ellipse">
            <a:avLst/>
          </a:prstGeom>
          <a:solidFill>
            <a:srgbClr val="B1B1B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Decimal</a:t>
            </a:r>
          </a:p>
          <a:p>
            <a:pPr algn="ctr" eaLnBrk="1" hangingPunct="1"/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(</a:t>
            </a:r>
            <a:r>
              <a:rPr lang="en-US" altLang="en-US" sz="2000" b="1" i="0" u="none" dirty="0">
                <a:latin typeface="Helvetica" pitchFamily="34" charset="0"/>
                <a:cs typeface="Arial" charset="0"/>
              </a:rPr>
              <a:t>Base 10</a:t>
            </a:r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)</a:t>
            </a:r>
          </a:p>
        </p:txBody>
      </p:sp>
      <p:sp>
        <p:nvSpPr>
          <p:cNvPr id="50180" name="Oval 4"/>
          <p:cNvSpPr>
            <a:spLocks noChangeArrowheads="1"/>
          </p:cNvSpPr>
          <p:nvPr/>
        </p:nvSpPr>
        <p:spPr bwMode="auto">
          <a:xfrm>
            <a:off x="5653454" y="1808163"/>
            <a:ext cx="2133600" cy="1066800"/>
          </a:xfrm>
          <a:prstGeom prst="ellipse">
            <a:avLst/>
          </a:prstGeom>
          <a:solidFill>
            <a:srgbClr val="B1B1B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Octal</a:t>
            </a:r>
          </a:p>
          <a:p>
            <a:pPr algn="ctr" eaLnBrk="1" hangingPunct="1"/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(</a:t>
            </a:r>
            <a:r>
              <a:rPr lang="en-US" altLang="en-US" sz="2000" b="1" i="0" u="none" dirty="0">
                <a:latin typeface="Helvetica" pitchFamily="34" charset="0"/>
                <a:cs typeface="Arial" charset="0"/>
              </a:rPr>
              <a:t>Base 8</a:t>
            </a:r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)</a:t>
            </a:r>
          </a:p>
        </p:txBody>
      </p:sp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4752243" y="3429000"/>
            <a:ext cx="2133600" cy="1066800"/>
          </a:xfrm>
          <a:prstGeom prst="ellipse">
            <a:avLst/>
          </a:prstGeom>
          <a:solidFill>
            <a:srgbClr val="B1B1B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Binary</a:t>
            </a:r>
          </a:p>
          <a:p>
            <a:pPr algn="ctr" eaLnBrk="1" hangingPunct="1"/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(</a:t>
            </a:r>
            <a:r>
              <a:rPr lang="en-US" altLang="en-US" sz="2000" b="1" i="0" u="none" dirty="0">
                <a:latin typeface="Helvetica" pitchFamily="34" charset="0"/>
                <a:cs typeface="Arial" charset="0"/>
              </a:rPr>
              <a:t>Base 2</a:t>
            </a:r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)</a:t>
            </a:r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5653454" y="5229225"/>
            <a:ext cx="2133600" cy="1066800"/>
          </a:xfrm>
          <a:prstGeom prst="ellipse">
            <a:avLst/>
          </a:prstGeom>
          <a:solidFill>
            <a:srgbClr val="B1B1B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Hexadecimal</a:t>
            </a:r>
          </a:p>
          <a:p>
            <a:pPr algn="ctr" eaLnBrk="1" hangingPunct="1"/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(</a:t>
            </a:r>
            <a:r>
              <a:rPr lang="en-US" altLang="en-US" sz="2000" b="1" i="0" u="none" dirty="0">
                <a:latin typeface="Helvetica" pitchFamily="34" charset="0"/>
                <a:cs typeface="Arial" charset="0"/>
              </a:rPr>
              <a:t>Base 16</a:t>
            </a:r>
            <a:r>
              <a:rPr lang="en-US" altLang="en-US" sz="2000" b="1" i="0" u="none" dirty="0">
                <a:solidFill>
                  <a:schemeClr val="tx1"/>
                </a:solidFill>
                <a:latin typeface="Helvetica" pitchFamily="34" charset="0"/>
                <a:cs typeface="Arial" charset="0"/>
              </a:rPr>
              <a:t>)</a:t>
            </a:r>
          </a:p>
        </p:txBody>
      </p:sp>
      <p:cxnSp>
        <p:nvCxnSpPr>
          <p:cNvPr id="109575" name="AutoShape 7"/>
          <p:cNvCxnSpPr>
            <a:cxnSpLocks noChangeShapeType="1"/>
            <a:stCxn id="50179" idx="5"/>
            <a:endCxn id="50181" idx="3"/>
          </p:cNvCxnSpPr>
          <p:nvPr/>
        </p:nvCxnSpPr>
        <p:spPr bwMode="auto">
          <a:xfrm>
            <a:off x="3332285" y="4354513"/>
            <a:ext cx="17335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cxnSp>
        <p:nvCxnSpPr>
          <p:cNvPr id="109576" name="AutoShape 8"/>
          <p:cNvCxnSpPr>
            <a:cxnSpLocks noChangeShapeType="1"/>
            <a:stCxn id="50181" idx="1"/>
            <a:endCxn id="50179" idx="7"/>
          </p:cNvCxnSpPr>
          <p:nvPr/>
        </p:nvCxnSpPr>
        <p:spPr bwMode="auto">
          <a:xfrm flipH="1">
            <a:off x="3332285" y="3570288"/>
            <a:ext cx="17335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09577" name="AutoShape 9"/>
          <p:cNvCxnSpPr>
            <a:cxnSpLocks noChangeShapeType="1"/>
            <a:stCxn id="50181" idx="0"/>
            <a:endCxn id="50180" idx="3"/>
          </p:cNvCxnSpPr>
          <p:nvPr/>
        </p:nvCxnSpPr>
        <p:spPr bwMode="auto">
          <a:xfrm flipV="1">
            <a:off x="5819043" y="2733675"/>
            <a:ext cx="146538" cy="681038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lg" len="lg"/>
          </a:ln>
        </p:spPr>
      </p:cxnSp>
      <p:cxnSp>
        <p:nvCxnSpPr>
          <p:cNvPr id="109578" name="AutoShape 10"/>
          <p:cNvCxnSpPr>
            <a:cxnSpLocks noChangeShapeType="1"/>
            <a:stCxn id="50180" idx="4"/>
            <a:endCxn id="50181" idx="7"/>
          </p:cNvCxnSpPr>
          <p:nvPr/>
        </p:nvCxnSpPr>
        <p:spPr bwMode="auto">
          <a:xfrm flipH="1">
            <a:off x="6573716" y="2889250"/>
            <a:ext cx="146538" cy="681038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lg" len="lg"/>
          </a:ln>
        </p:spPr>
      </p:cxnSp>
      <p:cxnSp>
        <p:nvCxnSpPr>
          <p:cNvPr id="109579" name="AutoShape 11"/>
          <p:cNvCxnSpPr>
            <a:cxnSpLocks noChangeShapeType="1"/>
            <a:stCxn id="50182" idx="0"/>
            <a:endCxn id="50181" idx="5"/>
          </p:cNvCxnSpPr>
          <p:nvPr/>
        </p:nvCxnSpPr>
        <p:spPr bwMode="auto">
          <a:xfrm flipH="1" flipV="1">
            <a:off x="6573716" y="4354514"/>
            <a:ext cx="146538" cy="860425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lg" len="lg"/>
          </a:ln>
        </p:spPr>
      </p:cxnSp>
      <p:cxnSp>
        <p:nvCxnSpPr>
          <p:cNvPr id="109580" name="AutoShape 12"/>
          <p:cNvCxnSpPr>
            <a:cxnSpLocks noChangeShapeType="1"/>
            <a:stCxn id="50181" idx="4"/>
            <a:endCxn id="50182" idx="1"/>
          </p:cNvCxnSpPr>
          <p:nvPr/>
        </p:nvCxnSpPr>
        <p:spPr bwMode="auto">
          <a:xfrm>
            <a:off x="5819043" y="4510089"/>
            <a:ext cx="146538" cy="860425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lg" len="lg"/>
          </a:ln>
        </p:spPr>
      </p:cxnSp>
      <p:cxnSp>
        <p:nvCxnSpPr>
          <p:cNvPr id="109581" name="AutoShape 13"/>
          <p:cNvCxnSpPr>
            <a:cxnSpLocks noChangeShapeType="1"/>
            <a:stCxn id="50180" idx="1"/>
            <a:endCxn id="50179" idx="1"/>
          </p:cNvCxnSpPr>
          <p:nvPr/>
        </p:nvCxnSpPr>
        <p:spPr bwMode="auto">
          <a:xfrm rot="-5400000" flipH="1" flipV="1">
            <a:off x="3084574" y="689281"/>
            <a:ext cx="1620838" cy="4141177"/>
          </a:xfrm>
          <a:prstGeom prst="curvedConnector3">
            <a:avLst>
              <a:gd name="adj1" fmla="val 19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09582" name="AutoShape 14"/>
          <p:cNvCxnSpPr>
            <a:cxnSpLocks noChangeShapeType="1"/>
            <a:stCxn id="50179" idx="0"/>
            <a:endCxn id="50180" idx="2"/>
          </p:cNvCxnSpPr>
          <p:nvPr/>
        </p:nvCxnSpPr>
        <p:spPr bwMode="auto">
          <a:xfrm rot="-5400000">
            <a:off x="3571631" y="1347544"/>
            <a:ext cx="1073150" cy="3061188"/>
          </a:xfrm>
          <a:prstGeom prst="curvedConnector2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cxnSp>
        <p:nvCxnSpPr>
          <p:cNvPr id="109583" name="AutoShape 15"/>
          <p:cNvCxnSpPr>
            <a:cxnSpLocks noChangeShapeType="1"/>
            <a:stCxn id="50179" idx="4"/>
            <a:endCxn id="50182" idx="2"/>
          </p:cNvCxnSpPr>
          <p:nvPr/>
        </p:nvCxnSpPr>
        <p:spPr bwMode="auto">
          <a:xfrm rot="16200000" flipH="1">
            <a:off x="3481938" y="3605763"/>
            <a:ext cx="1252537" cy="3061188"/>
          </a:xfrm>
          <a:prstGeom prst="curvedConnector2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lg" len="lg"/>
          </a:ln>
        </p:spPr>
      </p:cxnSp>
      <p:cxnSp>
        <p:nvCxnSpPr>
          <p:cNvPr id="109584" name="AutoShape 16"/>
          <p:cNvCxnSpPr>
            <a:cxnSpLocks noChangeShapeType="1"/>
            <a:stCxn id="50182" idx="3"/>
            <a:endCxn id="50179" idx="3"/>
          </p:cNvCxnSpPr>
          <p:nvPr/>
        </p:nvCxnSpPr>
        <p:spPr bwMode="auto">
          <a:xfrm rot="16200000" flipV="1">
            <a:off x="2994881" y="3184038"/>
            <a:ext cx="1800225" cy="4141177"/>
          </a:xfrm>
          <a:prstGeom prst="curvedConnector3">
            <a:avLst>
              <a:gd name="adj1" fmla="val 88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Decimal to other </a:t>
            </a:r>
            <a:r>
              <a:rPr lang="en-US" dirty="0"/>
              <a:t>B</a:t>
            </a:r>
            <a:r>
              <a:rPr lang="en-US" dirty="0" smtClean="0"/>
              <a:t>ase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9530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Step-1 Divide the decimal number to be converted by the value of the new Base.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Step-2 Get the remainder from Step 1 as the right most digit (LSB) of new base number.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Step-3 Divide the quotient of the previous divide by the new base.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Step-4 Record the remainder from Step 3 as the next digit (to the left) of new base.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Step-5 Repeat Step 3 and Step 4 until the quotient becomes Zero.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Decimal to Binary Conversion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307731" y="1295400"/>
            <a:ext cx="8571035" cy="292735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Divide the number by the ‘Base’ (=2)</a:t>
            </a:r>
          </a:p>
          <a:p>
            <a:pPr eaLnBrk="1" hangingPunct="1"/>
            <a:r>
              <a:rPr lang="en-US" altLang="en-US" dirty="0" smtClean="0"/>
              <a:t>Take the remainder (either 0 or 1) as a coefficient</a:t>
            </a:r>
          </a:p>
          <a:p>
            <a:pPr eaLnBrk="1" hangingPunct="1"/>
            <a:r>
              <a:rPr lang="en-US" altLang="en-US" dirty="0" smtClean="0"/>
              <a:t>Take the quotient and repeat the division</a:t>
            </a: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375139" y="3475038"/>
            <a:ext cx="216758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Example: (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13</a:t>
            </a:r>
            <a:r>
              <a:rPr lang="en-US" altLang="en-US" sz="2400" b="1" i="0" u="none" dirty="0">
                <a:cs typeface="Times New Roman" pitchFamily="18" charset="0"/>
              </a:rPr>
              <a:t>)</a:t>
            </a:r>
            <a:r>
              <a:rPr lang="en-US" altLang="en-US" sz="2400" b="1" i="0" u="none" baseline="-25000" dirty="0">
                <a:cs typeface="Times New Roman" pitchFamily="18" charset="0"/>
              </a:rPr>
              <a:t>10</a:t>
            </a: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3311770" y="3608388"/>
            <a:ext cx="94897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solidFill>
                  <a:schemeClr val="tx1"/>
                </a:solidFill>
                <a:cs typeface="Times New Roman" pitchFamily="18" charset="0"/>
              </a:rPr>
              <a:t>Quotient</a:t>
            </a:r>
          </a:p>
        </p:txBody>
      </p:sp>
      <p:sp>
        <p:nvSpPr>
          <p:cNvPr id="110598" name="Text Box 6"/>
          <p:cNvSpPr txBox="1">
            <a:spLocks noChangeArrowheads="1"/>
          </p:cNvSpPr>
          <p:nvPr/>
        </p:nvSpPr>
        <p:spPr bwMode="auto">
          <a:xfrm>
            <a:off x="4393224" y="3608388"/>
            <a:ext cx="111460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solidFill>
                  <a:schemeClr val="tx1"/>
                </a:solidFill>
                <a:cs typeface="Times New Roman" pitchFamily="18" charset="0"/>
              </a:rPr>
              <a:t>Remainder</a:t>
            </a:r>
          </a:p>
        </p:txBody>
      </p:sp>
      <p:sp>
        <p:nvSpPr>
          <p:cNvPr id="110599" name="Text Box 7"/>
          <p:cNvSpPr txBox="1">
            <a:spLocks noChangeArrowheads="1"/>
          </p:cNvSpPr>
          <p:nvPr/>
        </p:nvSpPr>
        <p:spPr bwMode="auto">
          <a:xfrm>
            <a:off x="5821974" y="3603625"/>
            <a:ext cx="110459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solidFill>
                  <a:schemeClr val="tx1"/>
                </a:solidFill>
                <a:cs typeface="Times New Roman" pitchFamily="18" charset="0"/>
              </a:rPr>
              <a:t>Coefficient</a:t>
            </a:r>
          </a:p>
        </p:txBody>
      </p:sp>
      <p:sp>
        <p:nvSpPr>
          <p:cNvPr id="110600" name="Text Box 8"/>
          <p:cNvSpPr txBox="1">
            <a:spLocks noChangeArrowheads="1"/>
          </p:cNvSpPr>
          <p:nvPr/>
        </p:nvSpPr>
        <p:spPr bwMode="auto">
          <a:xfrm>
            <a:off x="2527789" y="5443538"/>
            <a:ext cx="4977901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Answer:      (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13)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10</a:t>
            </a:r>
            <a:r>
              <a:rPr lang="en-US" altLang="en-US" sz="20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3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2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1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0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)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2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=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(1101)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0601" name="Line 9"/>
          <p:cNvSpPr>
            <a:spLocks noChangeShapeType="1"/>
          </p:cNvSpPr>
          <p:nvPr/>
        </p:nvSpPr>
        <p:spPr bwMode="auto">
          <a:xfrm flipH="1" flipV="1">
            <a:off x="6003681" y="5840414"/>
            <a:ext cx="145073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0602" name="Line 10"/>
          <p:cNvSpPr>
            <a:spLocks noChangeShapeType="1"/>
          </p:cNvSpPr>
          <p:nvPr/>
        </p:nvSpPr>
        <p:spPr bwMode="auto">
          <a:xfrm flipV="1">
            <a:off x="4932485" y="5840414"/>
            <a:ext cx="136281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0603" name="Text Box 11"/>
          <p:cNvSpPr txBox="1">
            <a:spLocks noChangeArrowheads="1"/>
          </p:cNvSpPr>
          <p:nvPr/>
        </p:nvSpPr>
        <p:spPr bwMode="auto">
          <a:xfrm>
            <a:off x="4635012" y="6129339"/>
            <a:ext cx="1944565" cy="3317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87000"/>
              </a:lnSpc>
              <a:spcBef>
                <a:spcPct val="50000"/>
              </a:spcBef>
              <a:defRPr/>
            </a:pPr>
            <a:r>
              <a:rPr lang="en-US" sz="1800" b="1" i="0" u="none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新細明體" pitchFamily="18" charset="-120"/>
                <a:cs typeface="Arial" charset="0"/>
              </a:rPr>
              <a:t>MSB           LSB</a:t>
            </a:r>
          </a:p>
        </p:txBody>
      </p:sp>
      <p:sp>
        <p:nvSpPr>
          <p:cNvPr id="110604" name="Text Box 12"/>
          <p:cNvSpPr txBox="1">
            <a:spLocks noChangeArrowheads="1"/>
          </p:cNvSpPr>
          <p:nvPr/>
        </p:nvSpPr>
        <p:spPr bwMode="auto">
          <a:xfrm>
            <a:off x="2231782" y="3894138"/>
            <a:ext cx="52770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13</a:t>
            </a:r>
          </a:p>
        </p:txBody>
      </p:sp>
      <p:sp>
        <p:nvSpPr>
          <p:cNvPr id="110605" name="Text Box 13"/>
          <p:cNvSpPr txBox="1">
            <a:spLocks noChangeArrowheads="1"/>
          </p:cNvSpPr>
          <p:nvPr/>
        </p:nvSpPr>
        <p:spPr bwMode="auto">
          <a:xfrm>
            <a:off x="2592266" y="3897313"/>
            <a:ext cx="13500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/ 2 =</a:t>
            </a:r>
            <a:r>
              <a:rPr lang="en-US" alt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6</a:t>
            </a:r>
          </a:p>
        </p:txBody>
      </p:sp>
      <p:sp>
        <p:nvSpPr>
          <p:cNvPr id="110606" name="Text Box 14"/>
          <p:cNvSpPr txBox="1">
            <a:spLocks noChangeArrowheads="1"/>
          </p:cNvSpPr>
          <p:nvPr/>
        </p:nvSpPr>
        <p:spPr bwMode="auto">
          <a:xfrm>
            <a:off x="4750778" y="3897313"/>
            <a:ext cx="194957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  <a:r>
              <a:rPr lang="en-US" alt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alt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en-US" sz="2400" b="1" i="0" u="none" baseline="-25000" dirty="0">
                <a:solidFill>
                  <a:schemeClr val="tx1"/>
                </a:solidFill>
                <a:cs typeface="Times New Roman" pitchFamily="18" charset="0"/>
              </a:rPr>
              <a:t>0 </a:t>
            </a:r>
            <a:r>
              <a:rPr lang="en-US" alt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alt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2231782" y="4254501"/>
            <a:ext cx="44114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 6</a:t>
            </a:r>
          </a:p>
        </p:txBody>
      </p:sp>
      <p:sp>
        <p:nvSpPr>
          <p:cNvPr id="110608" name="Text Box 16"/>
          <p:cNvSpPr txBox="1">
            <a:spLocks noChangeArrowheads="1"/>
          </p:cNvSpPr>
          <p:nvPr/>
        </p:nvSpPr>
        <p:spPr bwMode="auto">
          <a:xfrm>
            <a:off x="2592266" y="4257676"/>
            <a:ext cx="13500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/ 2 =</a:t>
            </a:r>
            <a:r>
              <a:rPr lang="en-US" alt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3</a:t>
            </a:r>
          </a:p>
        </p:txBody>
      </p:sp>
      <p:sp>
        <p:nvSpPr>
          <p:cNvPr id="110609" name="Text Box 17"/>
          <p:cNvSpPr txBox="1">
            <a:spLocks noChangeArrowheads="1"/>
          </p:cNvSpPr>
          <p:nvPr/>
        </p:nvSpPr>
        <p:spPr bwMode="auto">
          <a:xfrm>
            <a:off x="4750778" y="4257676"/>
            <a:ext cx="194957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  <a:r>
              <a:rPr lang="en-US" alt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alt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1 </a:t>
            </a:r>
            <a:r>
              <a:rPr lang="en-US" alt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0610" name="Text Box 18"/>
          <p:cNvSpPr txBox="1">
            <a:spLocks noChangeArrowheads="1"/>
          </p:cNvSpPr>
          <p:nvPr/>
        </p:nvSpPr>
        <p:spPr bwMode="auto">
          <a:xfrm>
            <a:off x="2231782" y="4614863"/>
            <a:ext cx="44114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3</a:t>
            </a:r>
          </a:p>
        </p:txBody>
      </p:sp>
      <p:sp>
        <p:nvSpPr>
          <p:cNvPr id="110611" name="Text Box 19"/>
          <p:cNvSpPr txBox="1">
            <a:spLocks noChangeArrowheads="1"/>
          </p:cNvSpPr>
          <p:nvPr/>
        </p:nvSpPr>
        <p:spPr bwMode="auto">
          <a:xfrm>
            <a:off x="2592266" y="4618038"/>
            <a:ext cx="13500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/ 2 </a:t>
            </a:r>
            <a:r>
              <a:rPr lang="en-US" altLang="en-US" sz="2400" b="1" i="0" u="none" dirty="0">
                <a:cs typeface="Times New Roman" pitchFamily="18" charset="0"/>
              </a:rPr>
              <a:t>=  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12" name="Text Box 20"/>
          <p:cNvSpPr txBox="1">
            <a:spLocks noChangeArrowheads="1"/>
          </p:cNvSpPr>
          <p:nvPr/>
        </p:nvSpPr>
        <p:spPr bwMode="auto">
          <a:xfrm>
            <a:off x="4750778" y="4618038"/>
            <a:ext cx="194957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  <a:r>
              <a:rPr lang="en-US" alt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alt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en-US" alt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13" name="Text Box 21"/>
          <p:cNvSpPr txBox="1">
            <a:spLocks noChangeArrowheads="1"/>
          </p:cNvSpPr>
          <p:nvPr/>
        </p:nvSpPr>
        <p:spPr bwMode="auto">
          <a:xfrm>
            <a:off x="2231782" y="4967288"/>
            <a:ext cx="44114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14" name="Text Box 22"/>
          <p:cNvSpPr txBox="1">
            <a:spLocks noChangeArrowheads="1"/>
          </p:cNvSpPr>
          <p:nvPr/>
        </p:nvSpPr>
        <p:spPr bwMode="auto">
          <a:xfrm>
            <a:off x="2592266" y="4970463"/>
            <a:ext cx="13500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/ 2 </a:t>
            </a:r>
            <a:r>
              <a:rPr lang="en-US" altLang="en-US" sz="2400" b="1" i="0" u="none" dirty="0">
                <a:cs typeface="Times New Roman" pitchFamily="18" charset="0"/>
              </a:rPr>
              <a:t>=  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0615" name="Text Box 23"/>
          <p:cNvSpPr txBox="1">
            <a:spLocks noChangeArrowheads="1"/>
          </p:cNvSpPr>
          <p:nvPr/>
        </p:nvSpPr>
        <p:spPr bwMode="auto">
          <a:xfrm>
            <a:off x="4750778" y="4970463"/>
            <a:ext cx="194957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  <a:r>
              <a:rPr lang="en-US" alt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alt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en-US" alt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12" dur="500" fill="hold"/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821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81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885 L 3.33333E-6 4.81481E-6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181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907 L 3.33333E-6 -1.48148E-6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792 L 3.33333E-6 -3.7037E-7 " pathEditMode="relative" rAng="0" ptsTypes="AA">
                                      <p:cBhvr>
                                        <p:cTn id="63" dur="500" fill="hold"/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7" grpId="0"/>
      <p:bldP spid="110598" grpId="0"/>
      <p:bldP spid="110599" grpId="0"/>
      <p:bldP spid="110600" grpId="0"/>
      <p:bldP spid="110601" grpId="0" animBg="1"/>
      <p:bldP spid="110602" grpId="0" animBg="1"/>
      <p:bldP spid="110603" grpId="0"/>
      <p:bldP spid="110604" grpId="0"/>
      <p:bldP spid="110604" grpId="1"/>
      <p:bldP spid="110605" grpId="0"/>
      <p:bldP spid="110606" grpId="0"/>
      <p:bldP spid="110607" grpId="0"/>
      <p:bldP spid="110607" grpId="1"/>
      <p:bldP spid="110608" grpId="0"/>
      <p:bldP spid="110609" grpId="0"/>
      <p:bldP spid="110610" grpId="0"/>
      <p:bldP spid="110610" grpId="1"/>
      <p:bldP spid="110611" grpId="0"/>
      <p:bldP spid="110612" grpId="0"/>
      <p:bldP spid="110613" grpId="0"/>
      <p:bldP spid="110613" grpId="1"/>
      <p:bldP spid="110614" grpId="0"/>
      <p:bldP spid="1106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Decimal to Octal Conversion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762000" y="1752600"/>
            <a:ext cx="233910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Example: </a:t>
            </a:r>
            <a:r>
              <a:rPr lang="en-US" altLang="en-US" sz="2400" b="1" i="0" u="none" dirty="0" smtClean="0">
                <a:cs typeface="Times New Roman" pitchFamily="18" charset="0"/>
              </a:rPr>
              <a:t>(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264</a:t>
            </a:r>
            <a:r>
              <a:rPr lang="en-US" altLang="en-US" sz="2400" b="1" i="0" u="none" dirty="0" smtClean="0">
                <a:cs typeface="Times New Roman" pitchFamily="18" charset="0"/>
              </a:rPr>
              <a:t>)</a:t>
            </a:r>
            <a:r>
              <a:rPr lang="en-US" altLang="en-US" sz="2400" b="1" i="0" u="none" baseline="-25000" dirty="0" smtClean="0">
                <a:cs typeface="Times New Roman" pitchFamily="18" charset="0"/>
              </a:rPr>
              <a:t>10</a:t>
            </a:r>
            <a:endParaRPr lang="en-US" altLang="en-US" sz="2400" b="1" i="0" u="none" baseline="-25000" dirty="0">
              <a:cs typeface="Times New Roman" pitchFamily="18" charset="0"/>
            </a:endParaRPr>
          </a:p>
        </p:txBody>
      </p: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3429000" y="2057400"/>
            <a:ext cx="94897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 dirty="0">
                <a:cs typeface="Times New Roman" pitchFamily="18" charset="0"/>
              </a:rPr>
              <a:t>Quotient</a:t>
            </a:r>
          </a:p>
        </p:txBody>
      </p: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4572000" y="2057400"/>
            <a:ext cx="111460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 dirty="0">
                <a:cs typeface="Times New Roman" pitchFamily="18" charset="0"/>
              </a:rPr>
              <a:t>Remainder</a:t>
            </a:r>
          </a:p>
        </p:txBody>
      </p:sp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5943600" y="2057400"/>
            <a:ext cx="110459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 dirty="0">
                <a:cs typeface="Times New Roman" pitchFamily="18" charset="0"/>
              </a:rPr>
              <a:t>Coefficient</a:t>
            </a: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2743200" y="4572000"/>
            <a:ext cx="470673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1" i="0" u="none" dirty="0">
                <a:latin typeface="Arial" charset="0"/>
                <a:cs typeface="Arial" charset="0"/>
              </a:rPr>
              <a:t>Answer:      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(</a:t>
            </a:r>
            <a:r>
              <a:rPr lang="en-US" altLang="en-US" sz="2000" b="1" dirty="0" smtClean="0">
                <a:latin typeface="Arial" charset="0"/>
                <a:cs typeface="Arial" charset="0"/>
              </a:rPr>
              <a:t>264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)</a:t>
            </a:r>
            <a:r>
              <a:rPr lang="en-US" altLang="en-US" sz="2000" b="1" i="0" u="none" baseline="-25000" dirty="0" smtClean="0">
                <a:latin typeface="Arial" charset="0"/>
                <a:cs typeface="Arial" charset="0"/>
              </a:rPr>
              <a:t>10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= (a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2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1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0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)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8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= 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(</a:t>
            </a:r>
            <a:r>
              <a:rPr lang="en-US" altLang="en-US" sz="2000" b="1" dirty="0" smtClean="0">
                <a:latin typeface="Arial" charset="0"/>
                <a:cs typeface="Arial" charset="0"/>
              </a:rPr>
              <a:t>410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)</a:t>
            </a:r>
            <a:r>
              <a:rPr lang="en-US" altLang="en-US" sz="2000" b="1" i="0" u="none" baseline="-25000" dirty="0" smtClean="0">
                <a:latin typeface="Arial" charset="0"/>
                <a:cs typeface="Arial" charset="0"/>
              </a:rPr>
              <a:t>8</a:t>
            </a:r>
            <a:endParaRPr lang="en-US" altLang="en-US" sz="2000" b="1" i="0" u="none" baseline="-25000" dirty="0">
              <a:latin typeface="Arial" charset="0"/>
              <a:cs typeface="Arial" charset="0"/>
            </a:endParaRPr>
          </a:p>
        </p:txBody>
      </p:sp>
      <p:sp>
        <p:nvSpPr>
          <p:cNvPr id="112648" name="Text Box 8"/>
          <p:cNvSpPr txBox="1">
            <a:spLocks noChangeArrowheads="1"/>
          </p:cNvSpPr>
          <p:nvPr/>
        </p:nvSpPr>
        <p:spPr bwMode="auto">
          <a:xfrm>
            <a:off x="1981200" y="2362200"/>
            <a:ext cx="69923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dirty="0" smtClean="0">
                <a:latin typeface="Arial" charset="0"/>
                <a:cs typeface="Arial" charset="0"/>
              </a:rPr>
              <a:t>264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2743200" y="2362200"/>
            <a:ext cx="15215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8 =      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33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4876800" y="2362200"/>
            <a:ext cx="188064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 smtClean="0">
                <a:latin typeface="Arial" charset="0"/>
                <a:cs typeface="Arial" charset="0"/>
              </a:rPr>
              <a:t>0</a:t>
            </a:r>
            <a:r>
              <a:rPr lang="en-US" altLang="en-US" sz="2400" b="1" i="0" u="none" dirty="0" smtClean="0">
                <a:cs typeface="Times New Roman" pitchFamily="18" charset="0"/>
              </a:rPr>
              <a:t>            </a:t>
            </a:r>
            <a:r>
              <a:rPr lang="en-US" altLang="en-US" sz="2400" b="1" i="0" u="none" dirty="0">
                <a:cs typeface="Times New Roman" pitchFamily="18" charset="0"/>
              </a:rPr>
              <a:t>a</a:t>
            </a:r>
            <a:r>
              <a:rPr lang="en-US" altLang="en-US" sz="2400" b="1" i="0" u="none" baseline="-25000" dirty="0">
                <a:cs typeface="Times New Roman" pitchFamily="18" charset="0"/>
              </a:rPr>
              <a:t>0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0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2133600" y="2743200"/>
            <a:ext cx="61266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 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33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2" name="Text Box 12"/>
          <p:cNvSpPr txBox="1">
            <a:spLocks noChangeArrowheads="1"/>
          </p:cNvSpPr>
          <p:nvPr/>
        </p:nvSpPr>
        <p:spPr bwMode="auto">
          <a:xfrm>
            <a:off x="2743200" y="2743200"/>
            <a:ext cx="13500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8 =      </a:t>
            </a:r>
            <a:r>
              <a:rPr lang="en-US" altLang="en-US" sz="2400" b="1" dirty="0">
                <a:latin typeface="Arial" charset="0"/>
                <a:cs typeface="Arial" charset="0"/>
              </a:rPr>
              <a:t>4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3" name="Text Box 13"/>
          <p:cNvSpPr txBox="1">
            <a:spLocks noChangeArrowheads="1"/>
          </p:cNvSpPr>
          <p:nvPr/>
        </p:nvSpPr>
        <p:spPr bwMode="auto">
          <a:xfrm>
            <a:off x="4953000" y="2743200"/>
            <a:ext cx="194957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dirty="0">
                <a:latin typeface="Arial" charset="0"/>
                <a:cs typeface="Arial" charset="0"/>
              </a:rPr>
              <a:t>1</a:t>
            </a:r>
            <a:r>
              <a:rPr lang="en-US" altLang="en-US" sz="2400" b="1" i="0" u="none" dirty="0" smtClean="0">
                <a:cs typeface="Times New Roman" pitchFamily="18" charset="0"/>
              </a:rPr>
              <a:t>             </a:t>
            </a:r>
            <a:r>
              <a:rPr lang="en-US" altLang="en-US" sz="2400" b="1" i="0" u="none" dirty="0">
                <a:cs typeface="Times New Roman" pitchFamily="18" charset="0"/>
              </a:rPr>
              <a:t>a</a:t>
            </a:r>
            <a:r>
              <a:rPr lang="en-US" altLang="en-US" sz="2400" b="1" i="0" u="none" baseline="-25000" dirty="0">
                <a:cs typeface="Times New Roman" pitchFamily="18" charset="0"/>
              </a:rPr>
              <a:t>1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1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4" name="Text Box 14"/>
          <p:cNvSpPr txBox="1">
            <a:spLocks noChangeArrowheads="1"/>
          </p:cNvSpPr>
          <p:nvPr/>
        </p:nvSpPr>
        <p:spPr bwMode="auto">
          <a:xfrm>
            <a:off x="2209800" y="3276600"/>
            <a:ext cx="44114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4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5" name="Text Box 15"/>
          <p:cNvSpPr txBox="1">
            <a:spLocks noChangeArrowheads="1"/>
          </p:cNvSpPr>
          <p:nvPr/>
        </p:nvSpPr>
        <p:spPr bwMode="auto">
          <a:xfrm>
            <a:off x="2667000" y="3276600"/>
            <a:ext cx="13500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8 =  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2656" name="Text Box 16"/>
          <p:cNvSpPr txBox="1">
            <a:spLocks noChangeArrowheads="1"/>
          </p:cNvSpPr>
          <p:nvPr/>
        </p:nvSpPr>
        <p:spPr bwMode="auto">
          <a:xfrm>
            <a:off x="4876800" y="3276600"/>
            <a:ext cx="194957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dirty="0">
                <a:latin typeface="Arial" charset="0"/>
                <a:cs typeface="Arial" charset="0"/>
              </a:rPr>
              <a:t>4</a:t>
            </a:r>
            <a:r>
              <a:rPr lang="en-US" altLang="en-US" sz="2400" b="1" i="0" u="none" dirty="0" smtClean="0">
                <a:cs typeface="Times New Roman" pitchFamily="18" charset="0"/>
              </a:rPr>
              <a:t>             </a:t>
            </a:r>
            <a:r>
              <a:rPr lang="en-US" altLang="en-US" sz="2400" b="1" i="0" u="none" dirty="0">
                <a:cs typeface="Times New Roman" pitchFamily="18" charset="0"/>
              </a:rPr>
              <a:t>a</a:t>
            </a:r>
            <a:r>
              <a:rPr lang="en-US" altLang="en-US" sz="2400" b="1" i="0" u="none" baseline="-25000" dirty="0">
                <a:cs typeface="Times New Roman" pitchFamily="18" charset="0"/>
              </a:rPr>
              <a:t>2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dirty="0">
                <a:latin typeface="Arial" charset="0"/>
                <a:cs typeface="Arial" charset="0"/>
              </a:rPr>
              <a:t>4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8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885 L 3.33333E-6 4.81481E-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907 L 3.33333E-6 -1.48148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12645" grpId="0"/>
      <p:bldP spid="112646" grpId="0"/>
      <p:bldP spid="112647" grpId="0"/>
      <p:bldP spid="112648" grpId="0"/>
      <p:bldP spid="112648" grpId="1"/>
      <p:bldP spid="112649" grpId="0"/>
      <p:bldP spid="112650" grpId="0"/>
      <p:bldP spid="112651" grpId="0"/>
      <p:bldP spid="112651" grpId="1"/>
      <p:bldP spid="112652" grpId="0"/>
      <p:bldP spid="112653" grpId="0"/>
      <p:bldP spid="112654" grpId="0"/>
      <p:bldP spid="112654" grpId="1"/>
      <p:bldP spid="112655" grpId="0"/>
      <p:bldP spid="1126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Decimal to Hexadecimal Conversion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838200" y="1752600"/>
            <a:ext cx="268214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Example: </a:t>
            </a:r>
            <a:r>
              <a:rPr lang="en-US" altLang="en-US" sz="2400" b="1" i="0" u="none" dirty="0" smtClean="0">
                <a:cs typeface="Times New Roman" pitchFamily="18" charset="0"/>
              </a:rPr>
              <a:t>(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10234</a:t>
            </a:r>
            <a:r>
              <a:rPr lang="en-US" altLang="en-US" sz="2400" b="1" i="0" u="none" dirty="0" smtClean="0">
                <a:cs typeface="Times New Roman" pitchFamily="18" charset="0"/>
              </a:rPr>
              <a:t>)</a:t>
            </a:r>
            <a:r>
              <a:rPr lang="en-US" altLang="en-US" sz="2400" b="1" i="0" u="none" baseline="-25000" dirty="0" smtClean="0">
                <a:cs typeface="Times New Roman" pitchFamily="18" charset="0"/>
              </a:rPr>
              <a:t>10</a:t>
            </a:r>
            <a:endParaRPr lang="en-US" altLang="en-US" sz="2400" b="1" i="0" u="none" baseline="-25000" dirty="0">
              <a:cs typeface="Times New Roman" pitchFamily="18" charset="0"/>
            </a:endParaRPr>
          </a:p>
        </p:txBody>
      </p: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3657600" y="2514600"/>
            <a:ext cx="94897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 dirty="0">
                <a:cs typeface="Times New Roman" pitchFamily="18" charset="0"/>
              </a:rPr>
              <a:t>Quotient</a:t>
            </a:r>
          </a:p>
        </p:txBody>
      </p: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4648200" y="2514600"/>
            <a:ext cx="111460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 dirty="0">
                <a:cs typeface="Times New Roman" pitchFamily="18" charset="0"/>
              </a:rPr>
              <a:t>Remainder</a:t>
            </a:r>
          </a:p>
        </p:txBody>
      </p:sp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6172200" y="2514600"/>
            <a:ext cx="110459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Coefficient</a:t>
            </a: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2362200" y="5486400"/>
            <a:ext cx="55980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1" i="0" u="none" dirty="0">
                <a:latin typeface="Arial" charset="0"/>
                <a:cs typeface="Arial" charset="0"/>
              </a:rPr>
              <a:t>Answer:      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(</a:t>
            </a:r>
            <a:r>
              <a:rPr lang="en-US" altLang="en-US" sz="2000" b="1" dirty="0" smtClean="0">
                <a:latin typeface="Arial" charset="0"/>
                <a:cs typeface="Arial" charset="0"/>
              </a:rPr>
              <a:t>10234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)</a:t>
            </a:r>
            <a:r>
              <a:rPr lang="en-US" altLang="en-US" sz="2000" b="1" i="0" u="none" baseline="-25000" dirty="0" smtClean="0">
                <a:latin typeface="Arial" charset="0"/>
                <a:cs typeface="Arial" charset="0"/>
              </a:rPr>
              <a:t>10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= </a:t>
            </a:r>
            <a:r>
              <a:rPr lang="en-US" altLang="en-US" sz="2000" b="1" dirty="0" smtClean="0">
                <a:latin typeface="Arial" charset="0"/>
                <a:cs typeface="Arial" charset="0"/>
              </a:rPr>
              <a:t>(a</a:t>
            </a:r>
            <a:r>
              <a:rPr lang="en-US" altLang="en-US" sz="2000" b="1" baseline="-25000" dirty="0" smtClean="0">
                <a:latin typeface="Arial" charset="0"/>
                <a:cs typeface="Arial" charset="0"/>
              </a:rPr>
              <a:t>3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 smtClean="0">
                <a:latin typeface="Arial" charset="0"/>
                <a:cs typeface="Arial" charset="0"/>
              </a:rPr>
              <a:t>2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1 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 smtClean="0">
                <a:latin typeface="Arial" charset="0"/>
                <a:cs typeface="Arial" charset="0"/>
              </a:rPr>
              <a:t>0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)</a:t>
            </a:r>
            <a:r>
              <a:rPr lang="en-US" altLang="en-US" sz="2000" b="1" baseline="-25000" dirty="0" smtClean="0">
                <a:latin typeface="Arial" charset="0"/>
                <a:cs typeface="Arial" charset="0"/>
              </a:rPr>
              <a:t>16</a:t>
            </a:r>
            <a:r>
              <a:rPr lang="en-US" altLang="en-US" sz="2000" b="1" dirty="0" smtClean="0">
                <a:latin typeface="Arial" charset="0"/>
                <a:cs typeface="Arial" charset="0"/>
              </a:rPr>
              <a:t> 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= (27FA)</a:t>
            </a:r>
            <a:r>
              <a:rPr lang="en-US" altLang="en-US" sz="2000" b="1" baseline="-25000" dirty="0" smtClean="0">
                <a:latin typeface="Arial" charset="0"/>
                <a:cs typeface="Arial" charset="0"/>
              </a:rPr>
              <a:t>16</a:t>
            </a:r>
            <a:endParaRPr lang="en-US" altLang="en-US" sz="2000" b="1" i="0" u="none" baseline="-25000" dirty="0">
              <a:latin typeface="Arial" charset="0"/>
              <a:cs typeface="Arial" charset="0"/>
            </a:endParaRPr>
          </a:p>
        </p:txBody>
      </p:sp>
      <p:sp>
        <p:nvSpPr>
          <p:cNvPr id="112648" name="Text Box 8"/>
          <p:cNvSpPr txBox="1">
            <a:spLocks noChangeArrowheads="1"/>
          </p:cNvSpPr>
          <p:nvPr/>
        </p:nvSpPr>
        <p:spPr bwMode="auto">
          <a:xfrm>
            <a:off x="2133600" y="3124200"/>
            <a:ext cx="104513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sz="2400" b="1" i="0" u="none" dirty="0" smtClean="0">
                <a:latin typeface="Arial" charset="0"/>
                <a:cs typeface="Arial" charset="0"/>
              </a:rPr>
              <a:t>10234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3048000" y="3124200"/>
            <a:ext cx="150393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</a:t>
            </a:r>
            <a:r>
              <a:rPr lang="en-US" altLang="en-US" sz="2400" b="1" i="0" u="none" dirty="0" smtClean="0">
                <a:cs typeface="Times New Roman" pitchFamily="18" charset="0"/>
              </a:rPr>
              <a:t>16 =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639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5029200" y="3048000"/>
            <a:ext cx="269496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 smtClean="0">
                <a:latin typeface="Arial" charset="0"/>
                <a:cs typeface="Arial" charset="0"/>
              </a:rPr>
              <a:t>10</a:t>
            </a:r>
            <a:r>
              <a:rPr lang="en-US" altLang="en-US" sz="2400" b="1" i="0" u="none" dirty="0" smtClean="0">
                <a:cs typeface="Times New Roman" pitchFamily="18" charset="0"/>
              </a:rPr>
              <a:t>             </a:t>
            </a:r>
            <a:r>
              <a:rPr lang="en-US" altLang="en-US" sz="2400" b="1" i="0" u="none" dirty="0">
                <a:cs typeface="Times New Roman" pitchFamily="18" charset="0"/>
              </a:rPr>
              <a:t>a</a:t>
            </a:r>
            <a:r>
              <a:rPr lang="en-US" altLang="en-US" sz="2400" b="1" i="0" u="none" baseline="-25000" dirty="0">
                <a:cs typeface="Times New Roman" pitchFamily="18" charset="0"/>
              </a:rPr>
              <a:t>0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10=A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2362200" y="3733800"/>
            <a:ext cx="78418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 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639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2" name="Text Box 12"/>
          <p:cNvSpPr txBox="1">
            <a:spLocks noChangeArrowheads="1"/>
          </p:cNvSpPr>
          <p:nvPr/>
        </p:nvSpPr>
        <p:spPr bwMode="auto">
          <a:xfrm>
            <a:off x="3200400" y="3733800"/>
            <a:ext cx="140134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</a:t>
            </a:r>
            <a:r>
              <a:rPr lang="en-US" altLang="en-US" sz="2400" b="1" i="0" u="none" dirty="0" smtClean="0">
                <a:cs typeface="Times New Roman" pitchFamily="18" charset="0"/>
              </a:rPr>
              <a:t>16 </a:t>
            </a:r>
            <a:r>
              <a:rPr lang="en-US" altLang="en-US" sz="2400" b="1" i="0" u="none" dirty="0">
                <a:cs typeface="Times New Roman" pitchFamily="18" charset="0"/>
              </a:rPr>
              <a:t>= 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39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3" name="Text Box 13"/>
          <p:cNvSpPr txBox="1">
            <a:spLocks noChangeArrowheads="1"/>
          </p:cNvSpPr>
          <p:nvPr/>
        </p:nvSpPr>
        <p:spPr bwMode="auto">
          <a:xfrm>
            <a:off x="4876800" y="3733800"/>
            <a:ext cx="282962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dirty="0" smtClean="0">
                <a:latin typeface="Arial" charset="0"/>
                <a:cs typeface="Arial" charset="0"/>
              </a:rPr>
              <a:t> 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15</a:t>
            </a:r>
            <a:r>
              <a:rPr lang="en-US" altLang="en-US" sz="2400" b="1" i="0" u="none" dirty="0" smtClean="0">
                <a:cs typeface="Times New Roman" pitchFamily="18" charset="0"/>
              </a:rPr>
              <a:t>             a</a:t>
            </a:r>
            <a:r>
              <a:rPr lang="en-US" altLang="en-US" sz="2400" b="1" i="0" u="none" baseline="-25000" dirty="0" smtClean="0">
                <a:cs typeface="Times New Roman" pitchFamily="18" charset="0"/>
              </a:rPr>
              <a:t>1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15=F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4" name="Text Box 14"/>
          <p:cNvSpPr txBox="1">
            <a:spLocks noChangeArrowheads="1"/>
          </p:cNvSpPr>
          <p:nvPr/>
        </p:nvSpPr>
        <p:spPr bwMode="auto">
          <a:xfrm>
            <a:off x="2514600" y="4343400"/>
            <a:ext cx="78258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  39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5" name="Text Box 15"/>
          <p:cNvSpPr txBox="1">
            <a:spLocks noChangeArrowheads="1"/>
          </p:cNvSpPr>
          <p:nvPr/>
        </p:nvSpPr>
        <p:spPr bwMode="auto">
          <a:xfrm>
            <a:off x="3200400" y="4343400"/>
            <a:ext cx="122982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</a:t>
            </a:r>
            <a:r>
              <a:rPr lang="en-US" altLang="en-US" sz="2400" b="1" i="0" u="none" dirty="0" smtClean="0">
                <a:cs typeface="Times New Roman" pitchFamily="18" charset="0"/>
              </a:rPr>
              <a:t>16 </a:t>
            </a:r>
            <a:r>
              <a:rPr lang="en-US" altLang="en-US" sz="2400" b="1" i="0" u="none" dirty="0">
                <a:cs typeface="Times New Roman" pitchFamily="18" charset="0"/>
              </a:rPr>
              <a:t>=  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2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6" name="Text Box 16"/>
          <p:cNvSpPr txBox="1">
            <a:spLocks noChangeArrowheads="1"/>
          </p:cNvSpPr>
          <p:nvPr/>
        </p:nvSpPr>
        <p:spPr bwMode="auto">
          <a:xfrm>
            <a:off x="4876800" y="4343400"/>
            <a:ext cx="235833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dirty="0" smtClean="0">
                <a:latin typeface="Arial" charset="0"/>
                <a:cs typeface="Arial" charset="0"/>
              </a:rPr>
              <a:t>    7</a:t>
            </a:r>
            <a:r>
              <a:rPr lang="en-US" altLang="en-US" sz="2400" b="1" i="0" u="none" dirty="0" smtClean="0">
                <a:cs typeface="Times New Roman" pitchFamily="18" charset="0"/>
              </a:rPr>
              <a:t>              a</a:t>
            </a:r>
            <a:r>
              <a:rPr lang="en-US" altLang="en-US" sz="2400" b="1" i="0" u="none" baseline="-25000" dirty="0" smtClean="0">
                <a:cs typeface="Times New Roman" pitchFamily="18" charset="0"/>
              </a:rPr>
              <a:t>2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7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29" name="Text Box 14"/>
          <p:cNvSpPr txBox="1">
            <a:spLocks noChangeArrowheads="1"/>
          </p:cNvSpPr>
          <p:nvPr/>
        </p:nvSpPr>
        <p:spPr bwMode="auto">
          <a:xfrm>
            <a:off x="2514600" y="4876800"/>
            <a:ext cx="69602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   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2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3200400" y="4876800"/>
            <a:ext cx="122982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</a:t>
            </a:r>
            <a:r>
              <a:rPr lang="en-US" altLang="en-US" sz="2400" b="1" i="0" u="none" dirty="0" smtClean="0">
                <a:cs typeface="Times New Roman" pitchFamily="18" charset="0"/>
              </a:rPr>
              <a:t>16 </a:t>
            </a:r>
            <a:r>
              <a:rPr lang="en-US" altLang="en-US" sz="2400" b="1" i="0" u="none" dirty="0">
                <a:cs typeface="Times New Roman" pitchFamily="18" charset="0"/>
              </a:rPr>
              <a:t>= 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0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5029200" y="4876800"/>
            <a:ext cx="22733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dirty="0" smtClean="0">
                <a:latin typeface="Arial" charset="0"/>
                <a:cs typeface="Arial" charset="0"/>
              </a:rPr>
              <a:t>   2</a:t>
            </a:r>
            <a:r>
              <a:rPr lang="en-US" altLang="en-US" sz="2400" b="1" i="0" u="none" dirty="0" smtClean="0">
                <a:cs typeface="Times New Roman" pitchFamily="18" charset="0"/>
              </a:rPr>
              <a:t>              a</a:t>
            </a:r>
            <a:r>
              <a:rPr lang="en-US" altLang="en-US" sz="2400" b="1" baseline="-25000" dirty="0" smtClean="0">
                <a:cs typeface="Times New Roman" pitchFamily="18" charset="0"/>
              </a:rPr>
              <a:t>3</a:t>
            </a:r>
            <a:r>
              <a:rPr lang="en-US" altLang="en-US" sz="2400" b="1" i="0" u="none" baseline="-25000" dirty="0" smtClean="0">
                <a:cs typeface="Times New Roman" pitchFamily="18" charset="0"/>
              </a:rPr>
              <a:t>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2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8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885 L 3.33333E-6 4.81481E-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907 L 3.33333E-6 -1.48148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907 L 3.33333E-6 -1.48148E-6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12645" grpId="0"/>
      <p:bldP spid="112646" grpId="0"/>
      <p:bldP spid="112647" grpId="0"/>
      <p:bldP spid="112648" grpId="0"/>
      <p:bldP spid="112648" grpId="1"/>
      <p:bldP spid="112649" grpId="0"/>
      <p:bldP spid="112650" grpId="0"/>
      <p:bldP spid="112651" grpId="0"/>
      <p:bldP spid="112651" grpId="1"/>
      <p:bldP spid="112652" grpId="0"/>
      <p:bldP spid="112653" grpId="0"/>
      <p:bldP spid="112654" grpId="0"/>
      <p:bldP spid="112654" grpId="1"/>
      <p:bldP spid="112655" grpId="0"/>
      <p:bldP spid="112656" grpId="0"/>
      <p:bldP spid="29" grpId="0"/>
      <p:bldP spid="29" grpId="1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Base to 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Step-1 Determine the positional value of each digit depends on the position of the digit and the base of number system.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Step-2 Multiply the obtained column value by digits in corresponding columns.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Sum the product calculated.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to Decimal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Multiply the digit with 2(with place value exponent). </a:t>
            </a:r>
          </a:p>
          <a:p>
            <a:r>
              <a:rPr lang="en-US" dirty="0" smtClean="0"/>
              <a:t>Eventually add all the multiplication becomes the Decimal number.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4" name="image5.png" descr="http://4.bp.blogspot.com/-_ozWsmbO7-g/VMj49QivTWI/AAAAAAAACbg/b5BxEpJqAQ4/s1600/Algorithm%2Bto%2Bconvert%2BBinary%2Bto%2BDecimal%2Bin%2BJava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3810000"/>
            <a:ext cx="6477000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Octal to Decimal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(345 )</a:t>
            </a:r>
            <a:r>
              <a:rPr lang="en-US" baseline="-25000" dirty="0" smtClean="0"/>
              <a:t>8</a:t>
            </a:r>
            <a:r>
              <a:rPr lang="en-US" dirty="0" smtClean="0"/>
              <a:t> =(???)</a:t>
            </a:r>
            <a:r>
              <a:rPr lang="en-US" baseline="-25000" dirty="0" smtClean="0"/>
              <a:t>10</a:t>
            </a:r>
          </a:p>
          <a:p>
            <a:r>
              <a:rPr lang="en-US" dirty="0" smtClean="0"/>
              <a:t> (3 * 8</a:t>
            </a:r>
            <a:r>
              <a:rPr lang="en-US" baseline="30000" dirty="0" smtClean="0"/>
              <a:t>2</a:t>
            </a:r>
            <a:r>
              <a:rPr lang="en-US" dirty="0" smtClean="0"/>
              <a:t>) + (4 * 8</a:t>
            </a:r>
            <a:r>
              <a:rPr lang="en-US" baseline="30000" dirty="0" smtClean="0"/>
              <a:t>1</a:t>
            </a:r>
            <a:r>
              <a:rPr lang="en-US" dirty="0" smtClean="0"/>
              <a:t>) + (5 * 8</a:t>
            </a:r>
            <a:r>
              <a:rPr lang="en-US" baseline="30000" dirty="0" smtClean="0"/>
              <a:t>0</a:t>
            </a:r>
            <a:r>
              <a:rPr lang="en-US" dirty="0" smtClean="0"/>
              <a:t>)</a:t>
            </a:r>
          </a:p>
          <a:p>
            <a:r>
              <a:rPr lang="en-US" dirty="0" smtClean="0"/>
              <a:t>=(3 * 64) + (4 * 8) + (5 * 1) </a:t>
            </a:r>
          </a:p>
          <a:p>
            <a:r>
              <a:rPr lang="en-US" dirty="0" smtClean="0"/>
              <a:t>= (229)</a:t>
            </a:r>
            <a:r>
              <a:rPr lang="en-US" baseline="-25000" dirty="0" smtClean="0"/>
              <a:t>10</a:t>
            </a:r>
            <a:endParaRPr lang="en-US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Hexadecimal to Decimal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(A14B)</a:t>
            </a:r>
            <a:r>
              <a:rPr lang="en-US" baseline="-25000" dirty="0" smtClean="0"/>
              <a:t>16</a:t>
            </a:r>
            <a:r>
              <a:rPr lang="en-US" dirty="0" smtClean="0"/>
              <a:t> =(???)</a:t>
            </a:r>
            <a:r>
              <a:rPr lang="en-US" baseline="-25000" dirty="0" smtClean="0"/>
              <a:t>10</a:t>
            </a:r>
          </a:p>
          <a:p>
            <a:r>
              <a:rPr lang="en-US" dirty="0" smtClean="0"/>
              <a:t> (A*16</a:t>
            </a:r>
            <a:r>
              <a:rPr lang="en-US" baseline="30000" dirty="0" smtClean="0"/>
              <a:t>3</a:t>
            </a:r>
            <a:r>
              <a:rPr lang="en-US" dirty="0" smtClean="0"/>
              <a:t>)+(1 * 16</a:t>
            </a:r>
            <a:r>
              <a:rPr lang="en-US" baseline="30000" dirty="0" smtClean="0"/>
              <a:t>2</a:t>
            </a:r>
            <a:r>
              <a:rPr lang="en-US" dirty="0" smtClean="0"/>
              <a:t>) + (4 * 16</a:t>
            </a:r>
            <a:r>
              <a:rPr lang="en-US" baseline="30000" dirty="0" smtClean="0"/>
              <a:t>1</a:t>
            </a:r>
            <a:r>
              <a:rPr lang="en-US" dirty="0" smtClean="0"/>
              <a:t>) + (B * 16</a:t>
            </a:r>
            <a:r>
              <a:rPr lang="en-US" baseline="30000" dirty="0" smtClean="0"/>
              <a:t>0</a:t>
            </a:r>
            <a:r>
              <a:rPr lang="en-US" dirty="0" smtClean="0"/>
              <a:t>)</a:t>
            </a:r>
          </a:p>
          <a:p>
            <a:r>
              <a:rPr lang="en-US" dirty="0" smtClean="0"/>
              <a:t>=(4096*10)+(1 * 256) + (4 * 16) + (11 * 1) </a:t>
            </a:r>
          </a:p>
          <a:p>
            <a:r>
              <a:rPr lang="en-US" dirty="0" smtClean="0"/>
              <a:t>= (41291)</a:t>
            </a:r>
            <a:r>
              <a:rPr lang="en-US" baseline="-25000" dirty="0" smtClean="0"/>
              <a:t>10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506</Words>
  <Application>Microsoft Office PowerPoint</Application>
  <PresentationFormat>On-screen Show (4:3)</PresentationFormat>
  <Paragraphs>106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 BCA Ist Semester  Introduction of Logic Circuit and Digital Design(ILCDD) Course Code: BCAC0003</vt:lpstr>
      <vt:lpstr>Number Base Conversions</vt:lpstr>
      <vt:lpstr>Decimal to other Base System</vt:lpstr>
      <vt:lpstr>Decimal to Binary Conversion</vt:lpstr>
      <vt:lpstr>Decimal to Octal Conversion</vt:lpstr>
      <vt:lpstr>Decimal to Hexadecimal Conversion</vt:lpstr>
      <vt:lpstr>Other Base to Decimal</vt:lpstr>
      <vt:lpstr>Binary to Decimal Conversion</vt:lpstr>
      <vt:lpstr>Octal to Decimal Conversion</vt:lpstr>
      <vt:lpstr>Hexadecimal to Decimal Conversion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22</cp:revision>
  <dcterms:created xsi:type="dcterms:W3CDTF">2020-10-15T05:17:05Z</dcterms:created>
  <dcterms:modified xsi:type="dcterms:W3CDTF">2021-10-06T06:08:16Z</dcterms:modified>
</cp:coreProperties>
</file>