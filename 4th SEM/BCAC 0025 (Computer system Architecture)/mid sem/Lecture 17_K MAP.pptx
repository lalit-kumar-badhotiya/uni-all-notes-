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68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0BDC-F868-4237-AEE3-67E47637D5B3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CF7A-ACB2-47EE-B217-CF03707106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34FDB5F8-D7A6-4F93-BD5F-A6F63DBDFBA2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43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44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F1C082-7B60-4C80-B900-47CBC83E0CBF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44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2AA119B-4105-4B13-AA10-FFFF81D504F7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54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454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C8637E-DCB9-497F-ADDA-C0D89AF3193C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454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D84C3AE-F8CB-4ACC-AD15-C8B6C096DF40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74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474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039FB7-7DF0-475D-B38B-9948EA52E2DF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474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DB5CB67-AB16-4CAD-B5A8-CB8DD31D4246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84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48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F66B3B-5B74-422C-AE07-EFF22AD95519}" type="slidenum">
              <a:rPr lang="zh-CN" altLang="en-US" smtClean="0">
                <a:latin typeface="Times New Roman" pitchFamily="18" charset="0"/>
              </a:rPr>
              <a:pPr/>
              <a:t>5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48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7ADC19D-B0B4-4581-B688-6BAA8AFAAD05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495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495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5D928-BD36-4784-8849-91A427AEE82A}" type="slidenum">
              <a:rPr lang="zh-CN" altLang="en-US" smtClean="0">
                <a:latin typeface="Times New Roman" pitchFamily="18" charset="0"/>
              </a:rPr>
              <a:pPr/>
              <a:t>6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495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0C78016B-D5A0-447D-80C9-BBA5A7BC8F44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05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05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FBE283-97D7-4CA9-AFB4-845F7EFBC762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05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4DCBA49-4964-4FAA-BEA0-CC9018AB5025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15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15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FBD2C4-36DE-434A-B235-0A627C9BAE1D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15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181A06B-01BD-4497-9EFB-7FCCF5B2115D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25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2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6224FE-20E9-4302-B77A-DC2FDD202F76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2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6427145-44F3-4DDF-8994-B2AA7D3D916D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36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36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82C620-E1CC-4E7B-9980-6F78586E5188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36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CA2C058-CA86-42DE-ACDA-78CD9AF2F36B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46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4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1C1FB-02DF-44F4-81C2-69C950818495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4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>
              <a:latin typeface="Times New Roman" pitchFamily="18" charset="0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4E4C2651-9131-4CE9-B7F9-2A6DD059309C}" type="datetime5">
              <a:rPr lang="zh-CN" altLang="en-US" smtClean="0">
                <a:latin typeface="Times New Roman" pitchFamily="18" charset="0"/>
              </a:rPr>
              <a:pPr/>
              <a:t>2025/1/16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1556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Times New Roman" pitchFamily="18" charset="0"/>
              </a:rPr>
              <a:t>Boolean Algebra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56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83129A-5F7D-4ADB-ACA2-C482512BF7EB}" type="slidenum">
              <a:rPr lang="zh-CN" altLang="en-US" smtClean="0">
                <a:latin typeface="Times New Roman" pitchFamily="18" charset="0"/>
              </a:rPr>
              <a:pPr/>
              <a:t>12</a:t>
            </a:fld>
            <a:endParaRPr lang="zh-CN" altLang="en-US">
              <a:latin typeface="Times New Roman" pitchFamily="18" charset="0"/>
            </a:endParaRPr>
          </a:p>
        </p:txBody>
      </p:sp>
      <p:sp>
        <p:nvSpPr>
          <p:cNvPr id="1556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C2305-5D4D-4D72-9880-D19CB68A84F9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</a:t>
            </a:r>
            <a:r>
              <a:rPr lang="en-US" altLang="zh-CN">
                <a:latin typeface="+mn-lt"/>
              </a:rPr>
              <a:t>PJF - </a:t>
            </a:r>
            <a:fld id="{EB5A1B3E-C963-43B9-A84E-EDCD4DBEB9F4}" type="slidenum">
              <a:rPr lang="en-US" altLang="zh-CN">
                <a:latin typeface="+mn-lt"/>
              </a:rPr>
              <a:pPr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61F2-8AF9-47FE-89FD-6FDCF28488B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br>
              <a:rPr lang="en-US" sz="3200" b="1" dirty="0"/>
            </a:br>
            <a:r>
              <a:rPr lang="en-US" sz="3200" b="1" dirty="0"/>
              <a:t>BCA </a:t>
            </a:r>
            <a:r>
              <a:rPr lang="en-US" sz="3200" b="1" dirty="0" err="1"/>
              <a:t>Ist</a:t>
            </a:r>
            <a:r>
              <a:rPr lang="en-US" sz="3200" b="1" dirty="0"/>
              <a:t> Semester </a:t>
            </a:r>
            <a:br>
              <a:rPr lang="en-US" sz="3200" b="1" dirty="0"/>
            </a:br>
            <a:r>
              <a:rPr lang="en-US" sz="3200" b="1" dirty="0"/>
              <a:t>BCA IV Semester </a:t>
            </a:r>
            <a:br>
              <a:rPr lang="en-US" sz="3200" b="1" dirty="0"/>
            </a:br>
            <a:r>
              <a:rPr lang="en-US" sz="3200" b="1" dirty="0"/>
              <a:t>COMPUTER SYSTEM AND ARCHITECTURE Course Code: BCAC0025</a:t>
            </a:r>
            <a:endParaRPr lang="en-US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Mr.AMAN</a:t>
            </a: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DEEP SINGH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Karnaugh Maps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Karnaugh maps (K-maps) are </a:t>
            </a:r>
            <a:r>
              <a:rPr lang="en-US" altLang="zh-CN" i="1"/>
              <a:t>graphical</a:t>
            </a:r>
            <a:r>
              <a:rPr lang="en-US" altLang="zh-CN"/>
              <a:t> representations of boolean functions.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One </a:t>
            </a:r>
            <a:r>
              <a:rPr lang="en-US" altLang="zh-CN" b="1" i="1"/>
              <a:t>map cell</a:t>
            </a:r>
            <a:r>
              <a:rPr lang="en-US" altLang="zh-CN"/>
              <a:t> corresponds to a row in the truth table.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Also, one map cell corresponds to a minterm or a maxterm in the boolean expression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Multiple-cell areas of the map correspond to standard terms.</a:t>
            </a:r>
            <a:endParaRPr lang="en-US" altLang="zh-CN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Two-Variable Map</a:t>
            </a:r>
          </a:p>
        </p:txBody>
      </p:sp>
      <p:sp>
        <p:nvSpPr>
          <p:cNvPr id="61446" name="Line 12"/>
          <p:cNvSpPr>
            <a:spLocks noChangeShapeType="1"/>
          </p:cNvSpPr>
          <p:nvPr/>
        </p:nvSpPr>
        <p:spPr bwMode="auto">
          <a:xfrm>
            <a:off x="5029200" y="1938338"/>
            <a:ext cx="914400" cy="0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7" name="Line 13"/>
          <p:cNvSpPr>
            <a:spLocks noChangeShapeType="1"/>
          </p:cNvSpPr>
          <p:nvPr/>
        </p:nvSpPr>
        <p:spPr bwMode="auto">
          <a:xfrm>
            <a:off x="5029200" y="5029200"/>
            <a:ext cx="914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8" name="Line 14"/>
          <p:cNvSpPr>
            <a:spLocks noChangeShapeType="1"/>
          </p:cNvSpPr>
          <p:nvPr/>
        </p:nvSpPr>
        <p:spPr bwMode="auto">
          <a:xfrm>
            <a:off x="5029200" y="1938338"/>
            <a:ext cx="0" cy="1030287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49" name="Line 15"/>
          <p:cNvSpPr>
            <a:spLocks noChangeShapeType="1"/>
          </p:cNvSpPr>
          <p:nvPr/>
        </p:nvSpPr>
        <p:spPr bwMode="auto">
          <a:xfrm>
            <a:off x="8382000" y="1938338"/>
            <a:ext cx="0" cy="1030287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0" name="Line 16"/>
          <p:cNvSpPr>
            <a:spLocks noChangeShapeType="1"/>
          </p:cNvSpPr>
          <p:nvPr/>
        </p:nvSpPr>
        <p:spPr bwMode="auto">
          <a:xfrm>
            <a:off x="5943600" y="1938338"/>
            <a:ext cx="14319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1" name="Line 18"/>
          <p:cNvSpPr>
            <a:spLocks noChangeShapeType="1"/>
          </p:cNvSpPr>
          <p:nvPr/>
        </p:nvSpPr>
        <p:spPr bwMode="auto">
          <a:xfrm>
            <a:off x="5029200" y="2968625"/>
            <a:ext cx="0" cy="1030288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2" name="Line 19"/>
          <p:cNvSpPr>
            <a:spLocks noChangeShapeType="1"/>
          </p:cNvSpPr>
          <p:nvPr/>
        </p:nvSpPr>
        <p:spPr bwMode="auto">
          <a:xfrm>
            <a:off x="7375525" y="1938338"/>
            <a:ext cx="100647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53" name="Line 24"/>
          <p:cNvSpPr>
            <a:spLocks noChangeShapeType="1"/>
          </p:cNvSpPr>
          <p:nvPr/>
        </p:nvSpPr>
        <p:spPr bwMode="auto">
          <a:xfrm>
            <a:off x="5029200" y="3998913"/>
            <a:ext cx="0" cy="1030287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9139" name="Rectangle 3"/>
          <p:cNvSpPr>
            <a:spLocks noChangeArrowheads="1"/>
          </p:cNvSpPr>
          <p:nvPr/>
        </p:nvSpPr>
        <p:spPr bwMode="auto">
          <a:xfrm>
            <a:off x="3062288" y="2627313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1890713" y="2627313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19141" name="Rectangle 5"/>
          <p:cNvSpPr>
            <a:spLocks noChangeArrowheads="1"/>
          </p:cNvSpPr>
          <p:nvPr/>
        </p:nvSpPr>
        <p:spPr bwMode="auto">
          <a:xfrm>
            <a:off x="1143000" y="2608263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3062288" y="1825625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1890713" y="1825625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1143000" y="1806575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5" name="Rectangle 9"/>
          <p:cNvSpPr>
            <a:spLocks noChangeArrowheads="1"/>
          </p:cNvSpPr>
          <p:nvPr/>
        </p:nvSpPr>
        <p:spPr bwMode="auto">
          <a:xfrm>
            <a:off x="3062288" y="1128713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1890713" y="1128713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47" name="Rectangle 11"/>
          <p:cNvSpPr>
            <a:spLocks noChangeArrowheads="1"/>
          </p:cNvSpPr>
          <p:nvPr/>
        </p:nvSpPr>
        <p:spPr bwMode="auto">
          <a:xfrm>
            <a:off x="1330325" y="1066800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61463" name="Line 17"/>
          <p:cNvSpPr>
            <a:spLocks noChangeShapeType="1"/>
          </p:cNvSpPr>
          <p:nvPr/>
        </p:nvSpPr>
        <p:spPr bwMode="auto">
          <a:xfrm>
            <a:off x="1447800" y="1404938"/>
            <a:ext cx="442913" cy="420687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4" name="Line 20"/>
          <p:cNvSpPr>
            <a:spLocks noChangeShapeType="1"/>
          </p:cNvSpPr>
          <p:nvPr/>
        </p:nvSpPr>
        <p:spPr bwMode="auto">
          <a:xfrm>
            <a:off x="3062288" y="1825625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5" name="Line 21"/>
          <p:cNvSpPr>
            <a:spLocks noChangeShapeType="1"/>
          </p:cNvSpPr>
          <p:nvPr/>
        </p:nvSpPr>
        <p:spPr bwMode="auto">
          <a:xfrm>
            <a:off x="3886200" y="1825625"/>
            <a:ext cx="0" cy="16033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6" name="Line 22"/>
          <p:cNvSpPr>
            <a:spLocks noChangeShapeType="1"/>
          </p:cNvSpPr>
          <p:nvPr/>
        </p:nvSpPr>
        <p:spPr bwMode="auto">
          <a:xfrm>
            <a:off x="1890713" y="1825625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7" name="Line 23"/>
          <p:cNvSpPr>
            <a:spLocks noChangeShapeType="1"/>
          </p:cNvSpPr>
          <p:nvPr/>
        </p:nvSpPr>
        <p:spPr bwMode="auto">
          <a:xfrm>
            <a:off x="1890713" y="1825625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8" name="Line 25"/>
          <p:cNvSpPr>
            <a:spLocks noChangeShapeType="1"/>
          </p:cNvSpPr>
          <p:nvPr/>
        </p:nvSpPr>
        <p:spPr bwMode="auto">
          <a:xfrm>
            <a:off x="1890713" y="2627313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69" name="Line 26"/>
          <p:cNvSpPr>
            <a:spLocks noChangeShapeType="1"/>
          </p:cNvSpPr>
          <p:nvPr/>
        </p:nvSpPr>
        <p:spPr bwMode="auto">
          <a:xfrm>
            <a:off x="1890713" y="3429000"/>
            <a:ext cx="199548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70" name="Text Box 27"/>
          <p:cNvSpPr txBox="1">
            <a:spLocks noChangeArrowheads="1"/>
          </p:cNvSpPr>
          <p:nvPr/>
        </p:nvSpPr>
        <p:spPr bwMode="auto">
          <a:xfrm>
            <a:off x="1581150" y="1235075"/>
            <a:ext cx="433388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x</a:t>
            </a:r>
            <a:r>
              <a:rPr lang="en-US" altLang="zh-CN" sz="2000" baseline="-25000"/>
              <a:t>2</a:t>
            </a:r>
          </a:p>
        </p:txBody>
      </p:sp>
      <p:sp>
        <p:nvSpPr>
          <p:cNvPr id="61471" name="Text Box 28"/>
          <p:cNvSpPr txBox="1">
            <a:spLocks noChangeArrowheads="1"/>
          </p:cNvSpPr>
          <p:nvPr/>
        </p:nvSpPr>
        <p:spPr bwMode="auto">
          <a:xfrm>
            <a:off x="1954213" y="19018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61472" name="Text Box 29"/>
          <p:cNvSpPr txBox="1">
            <a:spLocks noChangeArrowheads="1"/>
          </p:cNvSpPr>
          <p:nvPr/>
        </p:nvSpPr>
        <p:spPr bwMode="auto">
          <a:xfrm>
            <a:off x="3074988" y="19018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61473" name="Text Box 30"/>
          <p:cNvSpPr txBox="1">
            <a:spLocks noChangeArrowheads="1"/>
          </p:cNvSpPr>
          <p:nvPr/>
        </p:nvSpPr>
        <p:spPr bwMode="auto">
          <a:xfrm>
            <a:off x="1954213" y="2646363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474" name="Text Box 31"/>
          <p:cNvSpPr txBox="1">
            <a:spLocks noChangeArrowheads="1"/>
          </p:cNvSpPr>
          <p:nvPr/>
        </p:nvSpPr>
        <p:spPr bwMode="auto">
          <a:xfrm>
            <a:off x="3074988" y="2671763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61475" name="Text Box 32"/>
          <p:cNvSpPr txBox="1">
            <a:spLocks noChangeArrowheads="1"/>
          </p:cNvSpPr>
          <p:nvPr/>
        </p:nvSpPr>
        <p:spPr bwMode="auto">
          <a:xfrm>
            <a:off x="762000" y="3505200"/>
            <a:ext cx="7620000" cy="28686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/>
              <a:t>NOTE: ordering of variables is IMPORTANT for f(x</a:t>
            </a:r>
            <a:r>
              <a:rPr lang="en-US" altLang="zh-CN" sz="2800" baseline="-25000"/>
              <a:t>1</a:t>
            </a:r>
            <a:r>
              <a:rPr lang="en-US" altLang="zh-CN" sz="2800"/>
              <a:t>,x</a:t>
            </a:r>
            <a:r>
              <a:rPr lang="en-US" altLang="zh-CN" sz="2800" baseline="-25000"/>
              <a:t>2</a:t>
            </a:r>
            <a:r>
              <a:rPr lang="en-US" altLang="zh-CN" sz="2800"/>
              <a:t>), x</a:t>
            </a:r>
            <a:r>
              <a:rPr lang="en-US" altLang="zh-CN" sz="2800" baseline="-25000"/>
              <a:t>1</a:t>
            </a:r>
            <a:r>
              <a:rPr lang="en-US" altLang="zh-CN" sz="2800"/>
              <a:t> is the row, x</a:t>
            </a:r>
            <a:r>
              <a:rPr lang="en-US" altLang="zh-CN" sz="2800" baseline="-25000"/>
              <a:t>2</a:t>
            </a:r>
            <a:r>
              <a:rPr lang="en-US" altLang="zh-CN" sz="2800"/>
              <a:t> is the column.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/>
              <a:t>Cell </a:t>
            </a:r>
            <a:r>
              <a:rPr lang="en-US" altLang="zh-CN" sz="2800">
                <a:solidFill>
                  <a:schemeClr val="accent1"/>
                </a:solidFill>
              </a:rPr>
              <a:t>0</a:t>
            </a:r>
            <a:r>
              <a:rPr lang="en-US" altLang="zh-CN" sz="2800"/>
              <a:t> represents x</a:t>
            </a:r>
            <a:r>
              <a:rPr lang="en-US" altLang="zh-CN" sz="2800" baseline="-25000"/>
              <a:t>1</a:t>
            </a:r>
            <a:r>
              <a:rPr lang="en-US" altLang="zh-CN" sz="2800"/>
              <a:t>’x</a:t>
            </a:r>
            <a:r>
              <a:rPr lang="en-US" altLang="zh-CN" sz="2800" baseline="-25000"/>
              <a:t>2</a:t>
            </a:r>
            <a:r>
              <a:rPr lang="en-US" altLang="zh-CN" sz="2800"/>
              <a:t>’; Cell </a:t>
            </a:r>
            <a:r>
              <a:rPr lang="en-US" altLang="zh-CN" sz="2800">
                <a:solidFill>
                  <a:schemeClr val="accent1"/>
                </a:solidFill>
              </a:rPr>
              <a:t>1</a:t>
            </a:r>
            <a:r>
              <a:rPr lang="en-US" altLang="zh-CN" sz="2800"/>
              <a:t> represents x</a:t>
            </a:r>
            <a:r>
              <a:rPr lang="en-US" altLang="zh-CN" sz="2800" baseline="-25000"/>
              <a:t>1</a:t>
            </a:r>
            <a:r>
              <a:rPr lang="en-US" altLang="zh-CN" sz="2800"/>
              <a:t>’x</a:t>
            </a:r>
            <a:r>
              <a:rPr lang="en-US" altLang="zh-CN" sz="2800" baseline="-25000"/>
              <a:t>2</a:t>
            </a:r>
            <a:r>
              <a:rPr lang="en-US" altLang="zh-CN" sz="2800"/>
              <a:t>; etc. If a minterm is present in the function, then a 1 is placed in the corresponding cell.</a:t>
            </a:r>
          </a:p>
        </p:txBody>
      </p:sp>
      <p:sp>
        <p:nvSpPr>
          <p:cNvPr id="219173" name="Rectangle 37"/>
          <p:cNvSpPr>
            <a:spLocks noChangeArrowheads="1"/>
          </p:cNvSpPr>
          <p:nvPr/>
        </p:nvSpPr>
        <p:spPr bwMode="auto">
          <a:xfrm>
            <a:off x="6948488" y="2670175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19174" name="Rectangle 38"/>
          <p:cNvSpPr>
            <a:spLocks noChangeArrowheads="1"/>
          </p:cNvSpPr>
          <p:nvPr/>
        </p:nvSpPr>
        <p:spPr bwMode="auto">
          <a:xfrm>
            <a:off x="5776913" y="2670175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75" name="Rectangle 39"/>
          <p:cNvSpPr>
            <a:spLocks noChangeArrowheads="1"/>
          </p:cNvSpPr>
          <p:nvPr/>
        </p:nvSpPr>
        <p:spPr bwMode="auto">
          <a:xfrm>
            <a:off x="5029200" y="2670175"/>
            <a:ext cx="747713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76" name="Rectangle 40"/>
          <p:cNvSpPr>
            <a:spLocks noChangeArrowheads="1"/>
          </p:cNvSpPr>
          <p:nvPr/>
        </p:nvSpPr>
        <p:spPr bwMode="auto">
          <a:xfrm>
            <a:off x="6948488" y="1868488"/>
            <a:ext cx="823912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19177" name="Rectangle 41"/>
          <p:cNvSpPr>
            <a:spLocks noChangeArrowheads="1"/>
          </p:cNvSpPr>
          <p:nvPr/>
        </p:nvSpPr>
        <p:spPr bwMode="auto">
          <a:xfrm>
            <a:off x="5776913" y="1868488"/>
            <a:ext cx="1171575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78" name="Rectangle 42"/>
          <p:cNvSpPr>
            <a:spLocks noChangeArrowheads="1"/>
          </p:cNvSpPr>
          <p:nvPr/>
        </p:nvSpPr>
        <p:spPr bwMode="auto">
          <a:xfrm>
            <a:off x="5029200" y="1868488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79" name="Rectangle 43"/>
          <p:cNvSpPr>
            <a:spLocks noChangeArrowheads="1"/>
          </p:cNvSpPr>
          <p:nvPr/>
        </p:nvSpPr>
        <p:spPr bwMode="auto">
          <a:xfrm>
            <a:off x="6948488" y="1066800"/>
            <a:ext cx="823912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19180" name="Rectangle 44"/>
          <p:cNvSpPr>
            <a:spLocks noChangeArrowheads="1"/>
          </p:cNvSpPr>
          <p:nvPr/>
        </p:nvSpPr>
        <p:spPr bwMode="auto">
          <a:xfrm>
            <a:off x="5776913" y="1066800"/>
            <a:ext cx="1171575" cy="8016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19181" name="Rectangle 45"/>
          <p:cNvSpPr>
            <a:spLocks noChangeArrowheads="1"/>
          </p:cNvSpPr>
          <p:nvPr/>
        </p:nvSpPr>
        <p:spPr bwMode="auto">
          <a:xfrm>
            <a:off x="5216525" y="1128713"/>
            <a:ext cx="747713" cy="80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61485" name="Line 46"/>
          <p:cNvSpPr>
            <a:spLocks noChangeShapeType="1"/>
          </p:cNvSpPr>
          <p:nvPr/>
        </p:nvSpPr>
        <p:spPr bwMode="auto">
          <a:xfrm>
            <a:off x="5334000" y="1447800"/>
            <a:ext cx="442913" cy="42068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6" name="Line 47"/>
          <p:cNvSpPr>
            <a:spLocks noChangeShapeType="1"/>
          </p:cNvSpPr>
          <p:nvPr/>
        </p:nvSpPr>
        <p:spPr bwMode="auto">
          <a:xfrm>
            <a:off x="6948488" y="1868488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7" name="Line 48"/>
          <p:cNvSpPr>
            <a:spLocks noChangeShapeType="1"/>
          </p:cNvSpPr>
          <p:nvPr/>
        </p:nvSpPr>
        <p:spPr bwMode="auto">
          <a:xfrm>
            <a:off x="7772400" y="1868488"/>
            <a:ext cx="0" cy="16033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8" name="Line 49"/>
          <p:cNvSpPr>
            <a:spLocks noChangeShapeType="1"/>
          </p:cNvSpPr>
          <p:nvPr/>
        </p:nvSpPr>
        <p:spPr bwMode="auto">
          <a:xfrm>
            <a:off x="5776913" y="1868488"/>
            <a:ext cx="0" cy="1603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89" name="Line 50"/>
          <p:cNvSpPr>
            <a:spLocks noChangeShapeType="1"/>
          </p:cNvSpPr>
          <p:nvPr/>
        </p:nvSpPr>
        <p:spPr bwMode="auto">
          <a:xfrm>
            <a:off x="5776913" y="1868488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0" name="Line 51"/>
          <p:cNvSpPr>
            <a:spLocks noChangeShapeType="1"/>
          </p:cNvSpPr>
          <p:nvPr/>
        </p:nvSpPr>
        <p:spPr bwMode="auto">
          <a:xfrm>
            <a:off x="5776913" y="2670175"/>
            <a:ext cx="199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1" name="Line 52"/>
          <p:cNvSpPr>
            <a:spLocks noChangeShapeType="1"/>
          </p:cNvSpPr>
          <p:nvPr/>
        </p:nvSpPr>
        <p:spPr bwMode="auto">
          <a:xfrm>
            <a:off x="5776913" y="3471863"/>
            <a:ext cx="1995487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1492" name="Text Box 53"/>
          <p:cNvSpPr txBox="1">
            <a:spLocks noChangeArrowheads="1"/>
          </p:cNvSpPr>
          <p:nvPr/>
        </p:nvSpPr>
        <p:spPr bwMode="auto">
          <a:xfrm>
            <a:off x="5467350" y="1277938"/>
            <a:ext cx="407988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/>
              <a:t>x</a:t>
            </a:r>
            <a:r>
              <a:rPr lang="en-US" altLang="zh-CN" sz="2000" baseline="-25000"/>
              <a:t>1</a:t>
            </a:r>
          </a:p>
        </p:txBody>
      </p:sp>
      <p:sp>
        <p:nvSpPr>
          <p:cNvPr id="61493" name="Text Box 54"/>
          <p:cNvSpPr txBox="1">
            <a:spLocks noChangeArrowheads="1"/>
          </p:cNvSpPr>
          <p:nvPr/>
        </p:nvSpPr>
        <p:spPr bwMode="auto">
          <a:xfrm>
            <a:off x="5840413" y="1944688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61494" name="Text Box 55"/>
          <p:cNvSpPr txBox="1">
            <a:spLocks noChangeArrowheads="1"/>
          </p:cNvSpPr>
          <p:nvPr/>
        </p:nvSpPr>
        <p:spPr bwMode="auto">
          <a:xfrm>
            <a:off x="6961188" y="1944688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rgbClr val="0099CC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495" name="Text Box 56"/>
          <p:cNvSpPr txBox="1">
            <a:spLocks noChangeArrowheads="1"/>
          </p:cNvSpPr>
          <p:nvPr/>
        </p:nvSpPr>
        <p:spPr bwMode="auto">
          <a:xfrm>
            <a:off x="5840413" y="26892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61496" name="Text Box 57"/>
          <p:cNvSpPr txBox="1">
            <a:spLocks noChangeArrowheads="1"/>
          </p:cNvSpPr>
          <p:nvPr/>
        </p:nvSpPr>
        <p:spPr bwMode="auto">
          <a:xfrm>
            <a:off x="6961188" y="2714625"/>
            <a:ext cx="28575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600">
                <a:solidFill>
                  <a:schemeClr val="accent1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61497" name="Text Box 58"/>
          <p:cNvSpPr txBox="1">
            <a:spLocks noChangeArrowheads="1"/>
          </p:cNvSpPr>
          <p:nvPr/>
        </p:nvSpPr>
        <p:spPr bwMode="auto">
          <a:xfrm>
            <a:off x="4251325" y="2152650"/>
            <a:ext cx="8366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/>
              <a:t>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2-</a:t>
            </a:r>
            <a:r>
              <a:rPr lang="en-US" altLang="zh-CN"/>
              <a:t>Variable Map -- Example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8402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f(x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= 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’x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’+ 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’x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+ 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’ </a:t>
            </a:r>
            <a:br>
              <a:rPr lang="en-US" altLang="zh-CN" sz="2400" dirty="0"/>
            </a:br>
            <a:r>
              <a:rPr lang="en-US" altLang="zh-CN" sz="2400" dirty="0"/>
              <a:t>	      = m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+ m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+ m</a:t>
            </a:r>
            <a:r>
              <a:rPr lang="en-US" altLang="zh-CN" sz="2400" baseline="-25000" dirty="0"/>
              <a:t>2</a:t>
            </a:r>
            <a:br>
              <a:rPr lang="en-US" altLang="zh-CN" sz="2400" dirty="0"/>
            </a:br>
            <a:r>
              <a:rPr lang="en-US" altLang="zh-CN" sz="2400" dirty="0"/>
              <a:t>  	      = 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’ + 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’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1s placed in K-map for specified </a:t>
            </a:r>
            <a:r>
              <a:rPr lang="en-US" altLang="zh-CN" sz="2400" dirty="0" err="1"/>
              <a:t>minterms</a:t>
            </a:r>
            <a:r>
              <a:rPr lang="en-US" altLang="zh-CN" sz="2400" dirty="0"/>
              <a:t> m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 m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m</a:t>
            </a:r>
            <a:r>
              <a:rPr lang="en-US" altLang="zh-CN" sz="2400" baseline="-25000" dirty="0"/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Grouping (</a:t>
            </a:r>
            <a:r>
              <a:rPr lang="en-US" altLang="zh-CN" sz="2400" dirty="0" err="1"/>
              <a:t>ORing</a:t>
            </a:r>
            <a:r>
              <a:rPr lang="en-US" altLang="zh-CN" sz="2400" dirty="0"/>
              <a:t>) of 1s allows simplification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What (simpler) function is represented by each dashed rectangle?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’ = m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+ m</a:t>
            </a:r>
            <a:r>
              <a:rPr lang="en-US" altLang="zh-CN" sz="2400" baseline="-25000" dirty="0"/>
              <a:t>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’ = m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+ m</a:t>
            </a:r>
            <a:r>
              <a:rPr lang="en-US" altLang="zh-CN" sz="2400" baseline="-25000" dirty="0"/>
              <a:t>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Note m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covered twice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3E5BFE-FAF9-42CF-90F8-FAF8D9598430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34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FB88B116-95B8-4F23-BB69-642B634735C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graphicFrame>
        <p:nvGraphicFramePr>
          <p:cNvPr id="221262" name="Group 78"/>
          <p:cNvGraphicFramePr>
            <a:graphicFrameLocks noGrp="1"/>
          </p:cNvGraphicFramePr>
          <p:nvPr/>
        </p:nvGraphicFramePr>
        <p:xfrm>
          <a:off x="5410200" y="2286000"/>
          <a:ext cx="2743200" cy="3273552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1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6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  <a:endParaRPr kumimoji="0" lang="zh-CN" altLang="en-US" sz="3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512" name="Text Box 25"/>
          <p:cNvSpPr txBox="1">
            <a:spLocks noChangeArrowheads="1"/>
          </p:cNvSpPr>
          <p:nvPr/>
        </p:nvSpPr>
        <p:spPr bwMode="auto">
          <a:xfrm>
            <a:off x="5638800" y="2317750"/>
            <a:ext cx="541338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/>
              <a:t>x</a:t>
            </a:r>
            <a:r>
              <a:rPr lang="en-US" altLang="zh-CN" sz="2800" baseline="-25000"/>
              <a:t>2</a:t>
            </a:r>
          </a:p>
        </p:txBody>
      </p:sp>
      <p:sp>
        <p:nvSpPr>
          <p:cNvPr id="63513" name="Text Box 26"/>
          <p:cNvSpPr txBox="1">
            <a:spLocks noChangeArrowheads="1"/>
          </p:cNvSpPr>
          <p:nvPr/>
        </p:nvSpPr>
        <p:spPr bwMode="auto">
          <a:xfrm>
            <a:off x="6096000" y="3336925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0</a:t>
            </a:r>
          </a:p>
        </p:txBody>
      </p:sp>
      <p:sp>
        <p:nvSpPr>
          <p:cNvPr id="63514" name="Text Box 27"/>
          <p:cNvSpPr txBox="1">
            <a:spLocks noChangeArrowheads="1"/>
          </p:cNvSpPr>
          <p:nvPr/>
        </p:nvSpPr>
        <p:spPr bwMode="auto">
          <a:xfrm>
            <a:off x="7086600" y="3336925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1</a:t>
            </a:r>
          </a:p>
        </p:txBody>
      </p:sp>
      <p:sp>
        <p:nvSpPr>
          <p:cNvPr id="63515" name="Text Box 28"/>
          <p:cNvSpPr txBox="1">
            <a:spLocks noChangeArrowheads="1"/>
          </p:cNvSpPr>
          <p:nvPr/>
        </p:nvSpPr>
        <p:spPr bwMode="auto">
          <a:xfrm>
            <a:off x="6089650" y="4419600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2</a:t>
            </a:r>
          </a:p>
        </p:txBody>
      </p:sp>
      <p:sp>
        <p:nvSpPr>
          <p:cNvPr id="63516" name="Text Box 29"/>
          <p:cNvSpPr txBox="1">
            <a:spLocks noChangeArrowheads="1"/>
          </p:cNvSpPr>
          <p:nvPr/>
        </p:nvSpPr>
        <p:spPr bwMode="auto">
          <a:xfrm>
            <a:off x="7086600" y="4419600"/>
            <a:ext cx="3111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>
                <a:latin typeface="Times New Roman" pitchFamily="18" charset="0"/>
              </a:rPr>
              <a:t>3</a:t>
            </a:r>
          </a:p>
        </p:txBody>
      </p:sp>
      <p:sp>
        <p:nvSpPr>
          <p:cNvPr id="63517" name="Rectangle 30"/>
          <p:cNvSpPr>
            <a:spLocks noChangeArrowheads="1"/>
          </p:cNvSpPr>
          <p:nvPr/>
        </p:nvSpPr>
        <p:spPr bwMode="auto">
          <a:xfrm>
            <a:off x="6553200" y="3810000"/>
            <a:ext cx="533400" cy="16764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518" name="Rectangle 31"/>
          <p:cNvSpPr>
            <a:spLocks noChangeArrowheads="1"/>
          </p:cNvSpPr>
          <p:nvPr/>
        </p:nvSpPr>
        <p:spPr bwMode="auto">
          <a:xfrm>
            <a:off x="6400800" y="3962400"/>
            <a:ext cx="1676400" cy="45720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Minimization as SOP using K-map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Enter 1s in the K-map for each product term in the function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Group </a:t>
            </a:r>
            <a:r>
              <a:rPr lang="en-US" altLang="zh-CN" i="1"/>
              <a:t>adjacent</a:t>
            </a:r>
            <a:r>
              <a:rPr lang="en-US" altLang="zh-CN"/>
              <a:t> K-map cells containing 1s to obtain a product with fewer variables. Group size must be in power of 2 (2, 4, 8, …)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Handle “boundary wrap” for K-maps of 3 or more variables.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Realize that answer may not be unique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51FC453-CAA9-4967-B5AB-D200575404D7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45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C00BA731-8061-4110-B523-EA9B34738C9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Three-Variable Map</a:t>
            </a:r>
          </a:p>
        </p:txBody>
      </p:sp>
      <p:pic>
        <p:nvPicPr>
          <p:cNvPr id="65539" name="Picture 50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62325" t="-4651" r="7423" b="22791"/>
          <a:stretch>
            <a:fillRect/>
          </a:stretch>
        </p:blipFill>
        <p:spPr>
          <a:xfrm>
            <a:off x="6477000" y="1219200"/>
            <a:ext cx="1958975" cy="3048000"/>
          </a:xfrm>
          <a:noFill/>
        </p:spPr>
      </p:pic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C8E559A-E215-4B8A-B97D-42AA9A361899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55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59315AA7-FEEB-4FC4-BCD9-568688D57080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609600" y="1371600"/>
            <a:ext cx="4800600" cy="2681288"/>
            <a:chOff x="1296" y="1248"/>
            <a:chExt cx="3312" cy="1977"/>
          </a:xfrm>
        </p:grpSpPr>
        <p:sp>
          <p:nvSpPr>
            <p:cNvPr id="223236" name="Rectangle 4"/>
            <p:cNvSpPr>
              <a:spLocks noChangeArrowheads="1"/>
            </p:cNvSpPr>
            <p:nvPr/>
          </p:nvSpPr>
          <p:spPr bwMode="auto">
            <a:xfrm>
              <a:off x="3936" y="2577"/>
              <a:ext cx="672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6</a:t>
              </a:r>
            </a:p>
          </p:txBody>
        </p:sp>
        <p:sp>
          <p:nvSpPr>
            <p:cNvPr id="223237" name="Rectangle 5"/>
            <p:cNvSpPr>
              <a:spLocks noChangeArrowheads="1"/>
            </p:cNvSpPr>
            <p:nvPr/>
          </p:nvSpPr>
          <p:spPr bwMode="auto">
            <a:xfrm>
              <a:off x="3264" y="2577"/>
              <a:ext cx="67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7</a:t>
              </a:r>
            </a:p>
          </p:txBody>
        </p:sp>
        <p:sp>
          <p:nvSpPr>
            <p:cNvPr id="223238" name="Rectangle 6"/>
            <p:cNvSpPr>
              <a:spLocks noChangeArrowheads="1"/>
            </p:cNvSpPr>
            <p:nvPr/>
          </p:nvSpPr>
          <p:spPr bwMode="auto">
            <a:xfrm>
              <a:off x="2543" y="2577"/>
              <a:ext cx="72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</a:t>
              </a:r>
            </a:p>
          </p:txBody>
        </p:sp>
        <p:sp>
          <p:nvSpPr>
            <p:cNvPr id="223239" name="Rectangle 7"/>
            <p:cNvSpPr>
              <a:spLocks noChangeArrowheads="1"/>
            </p:cNvSpPr>
            <p:nvPr/>
          </p:nvSpPr>
          <p:spPr bwMode="auto">
            <a:xfrm>
              <a:off x="1824" y="2577"/>
              <a:ext cx="720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</a:p>
          </p:txBody>
        </p:sp>
        <p:sp>
          <p:nvSpPr>
            <p:cNvPr id="223240" name="Rectangle 8"/>
            <p:cNvSpPr>
              <a:spLocks noChangeArrowheads="1"/>
            </p:cNvSpPr>
            <p:nvPr/>
          </p:nvSpPr>
          <p:spPr bwMode="auto">
            <a:xfrm>
              <a:off x="1296" y="2577"/>
              <a:ext cx="528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223241" name="Rectangle 9"/>
            <p:cNvSpPr>
              <a:spLocks noChangeArrowheads="1"/>
            </p:cNvSpPr>
            <p:nvPr/>
          </p:nvSpPr>
          <p:spPr bwMode="auto">
            <a:xfrm>
              <a:off x="3936" y="1896"/>
              <a:ext cx="672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223242" name="Rectangle 10"/>
            <p:cNvSpPr>
              <a:spLocks noChangeArrowheads="1"/>
            </p:cNvSpPr>
            <p:nvPr/>
          </p:nvSpPr>
          <p:spPr bwMode="auto">
            <a:xfrm>
              <a:off x="3264" y="1896"/>
              <a:ext cx="671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</a:p>
          </p:txBody>
        </p:sp>
        <p:sp>
          <p:nvSpPr>
            <p:cNvPr id="223243" name="Rectangle 11"/>
            <p:cNvSpPr>
              <a:spLocks noChangeArrowheads="1"/>
            </p:cNvSpPr>
            <p:nvPr/>
          </p:nvSpPr>
          <p:spPr bwMode="auto">
            <a:xfrm>
              <a:off x="2543" y="1896"/>
              <a:ext cx="721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223244" name="Rectangle 12"/>
            <p:cNvSpPr>
              <a:spLocks noChangeArrowheads="1"/>
            </p:cNvSpPr>
            <p:nvPr/>
          </p:nvSpPr>
          <p:spPr bwMode="auto">
            <a:xfrm>
              <a:off x="1824" y="1896"/>
              <a:ext cx="720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</a:t>
              </a: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223245" name="Rectangle 13"/>
            <p:cNvSpPr>
              <a:spLocks noChangeArrowheads="1"/>
            </p:cNvSpPr>
            <p:nvPr/>
          </p:nvSpPr>
          <p:spPr bwMode="auto">
            <a:xfrm>
              <a:off x="1296" y="1896"/>
              <a:ext cx="528" cy="68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223246" name="Rectangle 14"/>
            <p:cNvSpPr>
              <a:spLocks noChangeArrowheads="1"/>
            </p:cNvSpPr>
            <p:nvPr/>
          </p:nvSpPr>
          <p:spPr bwMode="auto">
            <a:xfrm>
              <a:off x="3936" y="1248"/>
              <a:ext cx="672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10</a:t>
              </a:r>
            </a:p>
          </p:txBody>
        </p:sp>
        <p:sp>
          <p:nvSpPr>
            <p:cNvPr id="223247" name="Rectangle 15"/>
            <p:cNvSpPr>
              <a:spLocks noChangeArrowheads="1"/>
            </p:cNvSpPr>
            <p:nvPr/>
          </p:nvSpPr>
          <p:spPr bwMode="auto">
            <a:xfrm>
              <a:off x="3264" y="1248"/>
              <a:ext cx="67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11</a:t>
              </a:r>
            </a:p>
          </p:txBody>
        </p:sp>
        <p:sp>
          <p:nvSpPr>
            <p:cNvPr id="223248" name="Rectangle 16"/>
            <p:cNvSpPr>
              <a:spLocks noChangeArrowheads="1"/>
            </p:cNvSpPr>
            <p:nvPr/>
          </p:nvSpPr>
          <p:spPr bwMode="auto">
            <a:xfrm>
              <a:off x="2543" y="1248"/>
              <a:ext cx="721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01</a:t>
              </a:r>
            </a:p>
          </p:txBody>
        </p:sp>
        <p:sp>
          <p:nvSpPr>
            <p:cNvPr id="223249" name="Rectangle 17"/>
            <p:cNvSpPr>
              <a:spLocks noChangeArrowheads="1"/>
            </p:cNvSpPr>
            <p:nvPr/>
          </p:nvSpPr>
          <p:spPr bwMode="auto">
            <a:xfrm>
              <a:off x="1824" y="1248"/>
              <a:ext cx="720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ct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00</a:t>
              </a:r>
            </a:p>
          </p:txBody>
        </p:sp>
        <p:sp>
          <p:nvSpPr>
            <p:cNvPr id="223250" name="Rectangle 18"/>
            <p:cNvSpPr>
              <a:spLocks noChangeArrowheads="1"/>
            </p:cNvSpPr>
            <p:nvPr/>
          </p:nvSpPr>
          <p:spPr bwMode="auto">
            <a:xfrm>
              <a:off x="1296" y="1248"/>
              <a:ext cx="528" cy="6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r"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yz</a:t>
              </a:r>
            </a:p>
          </p:txBody>
        </p:sp>
        <p:sp>
          <p:nvSpPr>
            <p:cNvPr id="65561" name="Line 19"/>
            <p:cNvSpPr>
              <a:spLocks noChangeShapeType="1"/>
            </p:cNvSpPr>
            <p:nvPr/>
          </p:nvSpPr>
          <p:spPr bwMode="auto">
            <a:xfrm>
              <a:off x="1296" y="1248"/>
              <a:ext cx="528" cy="0"/>
            </a:xfrm>
            <a:prstGeom prst="line">
              <a:avLst/>
            </a:prstGeom>
            <a:noFill/>
            <a:ln w="28575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2" name="Line 20"/>
            <p:cNvSpPr>
              <a:spLocks noChangeShapeType="1"/>
            </p:cNvSpPr>
            <p:nvPr/>
          </p:nvSpPr>
          <p:spPr bwMode="auto">
            <a:xfrm>
              <a:off x="1296" y="3225"/>
              <a:ext cx="528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3" name="Line 21"/>
            <p:cNvSpPr>
              <a:spLocks noChangeShapeType="1"/>
            </p:cNvSpPr>
            <p:nvPr/>
          </p:nvSpPr>
          <p:spPr bwMode="auto">
            <a:xfrm>
              <a:off x="1296" y="1248"/>
              <a:ext cx="0" cy="649"/>
            </a:xfrm>
            <a:prstGeom prst="line">
              <a:avLst/>
            </a:prstGeom>
            <a:noFill/>
            <a:ln w="28575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4" name="Line 22"/>
            <p:cNvSpPr>
              <a:spLocks noChangeShapeType="1"/>
            </p:cNvSpPr>
            <p:nvPr/>
          </p:nvSpPr>
          <p:spPr bwMode="auto">
            <a:xfrm>
              <a:off x="4608" y="1248"/>
              <a:ext cx="0" cy="64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5" name="Line 23"/>
            <p:cNvSpPr>
              <a:spLocks noChangeShapeType="1"/>
            </p:cNvSpPr>
            <p:nvPr/>
          </p:nvSpPr>
          <p:spPr bwMode="auto">
            <a:xfrm>
              <a:off x="1824" y="1248"/>
              <a:ext cx="720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6" name="Line 24"/>
            <p:cNvSpPr>
              <a:spLocks noChangeShapeType="1"/>
            </p:cNvSpPr>
            <p:nvPr/>
          </p:nvSpPr>
          <p:spPr bwMode="auto">
            <a:xfrm>
              <a:off x="1296" y="1248"/>
              <a:ext cx="528" cy="64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7" name="Line 25"/>
            <p:cNvSpPr>
              <a:spLocks noChangeShapeType="1"/>
            </p:cNvSpPr>
            <p:nvPr/>
          </p:nvSpPr>
          <p:spPr bwMode="auto">
            <a:xfrm>
              <a:off x="1296" y="1897"/>
              <a:ext cx="0" cy="67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8" name="Line 26"/>
            <p:cNvSpPr>
              <a:spLocks noChangeShapeType="1"/>
            </p:cNvSpPr>
            <p:nvPr/>
          </p:nvSpPr>
          <p:spPr bwMode="auto">
            <a:xfrm>
              <a:off x="2544" y="1248"/>
              <a:ext cx="720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69" name="Line 27"/>
            <p:cNvSpPr>
              <a:spLocks noChangeShapeType="1"/>
            </p:cNvSpPr>
            <p:nvPr/>
          </p:nvSpPr>
          <p:spPr bwMode="auto">
            <a:xfrm>
              <a:off x="182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0" name="Line 28"/>
            <p:cNvSpPr>
              <a:spLocks noChangeShapeType="1"/>
            </p:cNvSpPr>
            <p:nvPr/>
          </p:nvSpPr>
          <p:spPr bwMode="auto">
            <a:xfrm>
              <a:off x="254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1" name="Line 29"/>
            <p:cNvSpPr>
              <a:spLocks noChangeShapeType="1"/>
            </p:cNvSpPr>
            <p:nvPr/>
          </p:nvSpPr>
          <p:spPr bwMode="auto">
            <a:xfrm>
              <a:off x="3264" y="1248"/>
              <a:ext cx="672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2" name="Line 30"/>
            <p:cNvSpPr>
              <a:spLocks noChangeShapeType="1"/>
            </p:cNvSpPr>
            <p:nvPr/>
          </p:nvSpPr>
          <p:spPr bwMode="auto">
            <a:xfrm>
              <a:off x="3264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3" name="Line 31"/>
            <p:cNvSpPr>
              <a:spLocks noChangeShapeType="1"/>
            </p:cNvSpPr>
            <p:nvPr/>
          </p:nvSpPr>
          <p:spPr bwMode="auto">
            <a:xfrm>
              <a:off x="3936" y="1248"/>
              <a:ext cx="672" cy="0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4" name="Line 32"/>
            <p:cNvSpPr>
              <a:spLocks noChangeShapeType="1"/>
            </p:cNvSpPr>
            <p:nvPr/>
          </p:nvSpPr>
          <p:spPr bwMode="auto">
            <a:xfrm>
              <a:off x="3936" y="1897"/>
              <a:ext cx="0" cy="13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5" name="Line 33"/>
            <p:cNvSpPr>
              <a:spLocks noChangeShapeType="1"/>
            </p:cNvSpPr>
            <p:nvPr/>
          </p:nvSpPr>
          <p:spPr bwMode="auto">
            <a:xfrm>
              <a:off x="4608" y="1897"/>
              <a:ext cx="0" cy="132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6" name="Line 34"/>
            <p:cNvSpPr>
              <a:spLocks noChangeShapeType="1"/>
            </p:cNvSpPr>
            <p:nvPr/>
          </p:nvSpPr>
          <p:spPr bwMode="auto">
            <a:xfrm>
              <a:off x="1824" y="1897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7" name="Line 35"/>
            <p:cNvSpPr>
              <a:spLocks noChangeShapeType="1"/>
            </p:cNvSpPr>
            <p:nvPr/>
          </p:nvSpPr>
          <p:spPr bwMode="auto">
            <a:xfrm>
              <a:off x="1296" y="2576"/>
              <a:ext cx="0" cy="649"/>
            </a:xfrm>
            <a:prstGeom prst="line">
              <a:avLst/>
            </a:prstGeom>
            <a:noFill/>
            <a:ln w="28575" cap="sq">
              <a:noFill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8" name="Line 36"/>
            <p:cNvSpPr>
              <a:spLocks noChangeShapeType="1"/>
            </p:cNvSpPr>
            <p:nvPr/>
          </p:nvSpPr>
          <p:spPr bwMode="auto">
            <a:xfrm>
              <a:off x="1824" y="2576"/>
              <a:ext cx="27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79" name="Line 37"/>
            <p:cNvSpPr>
              <a:spLocks noChangeShapeType="1"/>
            </p:cNvSpPr>
            <p:nvPr/>
          </p:nvSpPr>
          <p:spPr bwMode="auto">
            <a:xfrm>
              <a:off x="1824" y="3225"/>
              <a:ext cx="278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580" name="Text Box 38"/>
            <p:cNvSpPr txBox="1">
              <a:spLocks noChangeArrowheads="1"/>
            </p:cNvSpPr>
            <p:nvPr/>
          </p:nvSpPr>
          <p:spPr bwMode="auto">
            <a:xfrm>
              <a:off x="1344" y="1592"/>
              <a:ext cx="251" cy="33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>
                  <a:cs typeface="Shruti" pitchFamily="2" charset="0"/>
                </a:rPr>
                <a:t>x</a:t>
              </a:r>
            </a:p>
          </p:txBody>
        </p:sp>
        <p:sp>
          <p:nvSpPr>
            <p:cNvPr id="65581" name="Text Box 39"/>
            <p:cNvSpPr txBox="1">
              <a:spLocks noChangeArrowheads="1"/>
            </p:cNvSpPr>
            <p:nvPr/>
          </p:nvSpPr>
          <p:spPr bwMode="auto">
            <a:xfrm>
              <a:off x="1824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65582" name="Text Box 40"/>
            <p:cNvSpPr txBox="1">
              <a:spLocks noChangeArrowheads="1"/>
            </p:cNvSpPr>
            <p:nvPr/>
          </p:nvSpPr>
          <p:spPr bwMode="auto">
            <a:xfrm>
              <a:off x="2543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5583" name="Text Box 41"/>
            <p:cNvSpPr txBox="1">
              <a:spLocks noChangeArrowheads="1"/>
            </p:cNvSpPr>
            <p:nvPr/>
          </p:nvSpPr>
          <p:spPr bwMode="auto">
            <a:xfrm>
              <a:off x="3264" y="1937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5584" name="Text Box 42"/>
            <p:cNvSpPr txBox="1">
              <a:spLocks noChangeArrowheads="1"/>
            </p:cNvSpPr>
            <p:nvPr/>
          </p:nvSpPr>
          <p:spPr bwMode="auto">
            <a:xfrm>
              <a:off x="3936" y="1937"/>
              <a:ext cx="205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5585" name="Text Box 43"/>
            <p:cNvSpPr txBox="1">
              <a:spLocks noChangeArrowheads="1"/>
            </p:cNvSpPr>
            <p:nvPr/>
          </p:nvSpPr>
          <p:spPr bwMode="auto">
            <a:xfrm>
              <a:off x="1824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5586" name="Text Box 44"/>
            <p:cNvSpPr txBox="1">
              <a:spLocks noChangeArrowheads="1"/>
            </p:cNvSpPr>
            <p:nvPr/>
          </p:nvSpPr>
          <p:spPr bwMode="auto">
            <a:xfrm>
              <a:off x="2543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65587" name="Text Box 45"/>
            <p:cNvSpPr txBox="1">
              <a:spLocks noChangeArrowheads="1"/>
            </p:cNvSpPr>
            <p:nvPr/>
          </p:nvSpPr>
          <p:spPr bwMode="auto">
            <a:xfrm>
              <a:off x="3264" y="2609"/>
              <a:ext cx="206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65588" name="Text Box 46"/>
            <p:cNvSpPr txBox="1">
              <a:spLocks noChangeArrowheads="1"/>
            </p:cNvSpPr>
            <p:nvPr/>
          </p:nvSpPr>
          <p:spPr bwMode="auto">
            <a:xfrm>
              <a:off x="3936" y="2609"/>
              <a:ext cx="205" cy="27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65544" name="Text Box 47"/>
          <p:cNvSpPr txBox="1">
            <a:spLocks noChangeArrowheads="1"/>
          </p:cNvSpPr>
          <p:nvPr/>
        </p:nvSpPr>
        <p:spPr bwMode="auto">
          <a:xfrm>
            <a:off x="381000" y="4267200"/>
            <a:ext cx="8915400" cy="1800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-</a:t>
            </a:r>
            <a:r>
              <a:rPr lang="en-US" altLang="zh-CN" sz="2800"/>
              <a:t>Note: variable ordering is (x,y,z); yz specifies column, x specifies row.</a:t>
            </a:r>
          </a:p>
          <a:p>
            <a:pPr eaLnBrk="1" hangingPunct="1"/>
            <a:r>
              <a:rPr lang="en-US" altLang="zh-CN" sz="2800"/>
              <a:t>-Each cell is adjacent to </a:t>
            </a:r>
            <a:r>
              <a:rPr lang="en-US" altLang="zh-CN" sz="2800" b="1" i="1" u="sng"/>
              <a:t>three</a:t>
            </a:r>
            <a:r>
              <a:rPr lang="en-US" altLang="zh-CN" sz="2800"/>
              <a:t> other cells (left or right or top or bottom or edge wrap)</a:t>
            </a:r>
          </a:p>
        </p:txBody>
      </p:sp>
      <p:sp>
        <p:nvSpPr>
          <p:cNvPr id="65545" name="AutoShape 52"/>
          <p:cNvSpPr>
            <a:spLocks noChangeArrowheads="1"/>
          </p:cNvSpPr>
          <p:nvPr/>
        </p:nvSpPr>
        <p:spPr bwMode="auto">
          <a:xfrm>
            <a:off x="5562600" y="2971800"/>
            <a:ext cx="7620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CN"/>
              <a:t>Three-Variable Map (cont.)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3993F5-9704-42E3-BBF4-53B5148AFE77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656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6656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9F1DD14B-041E-44B4-8A89-7F182D793E4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224259" name="Group 3"/>
          <p:cNvGraphicFramePr>
            <a:graphicFrameLocks noGrp="1"/>
          </p:cNvGraphicFramePr>
          <p:nvPr/>
        </p:nvGraphicFramePr>
        <p:xfrm>
          <a:off x="5715000" y="17827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583" name="Rectangle 21"/>
          <p:cNvSpPr>
            <a:spLocks noChangeArrowheads="1"/>
          </p:cNvSpPr>
          <p:nvPr/>
        </p:nvSpPr>
        <p:spPr bwMode="auto">
          <a:xfrm>
            <a:off x="57912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Rectangle 22"/>
          <p:cNvSpPr>
            <a:spLocks noChangeArrowheads="1"/>
          </p:cNvSpPr>
          <p:nvPr/>
        </p:nvSpPr>
        <p:spPr bwMode="auto">
          <a:xfrm>
            <a:off x="64770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5" name="Rectangle 23"/>
          <p:cNvSpPr>
            <a:spLocks noChangeArrowheads="1"/>
          </p:cNvSpPr>
          <p:nvPr/>
        </p:nvSpPr>
        <p:spPr bwMode="auto">
          <a:xfrm>
            <a:off x="70866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6" name="Rectangle 24"/>
          <p:cNvSpPr>
            <a:spLocks noChangeArrowheads="1"/>
          </p:cNvSpPr>
          <p:nvPr/>
        </p:nvSpPr>
        <p:spPr bwMode="auto">
          <a:xfrm>
            <a:off x="7696200" y="18589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Rectangle 25"/>
          <p:cNvSpPr>
            <a:spLocks noChangeArrowheads="1"/>
          </p:cNvSpPr>
          <p:nvPr/>
        </p:nvSpPr>
        <p:spPr bwMode="auto">
          <a:xfrm>
            <a:off x="70866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8" name="Rectangle 26"/>
          <p:cNvSpPr>
            <a:spLocks noChangeArrowheads="1"/>
          </p:cNvSpPr>
          <p:nvPr/>
        </p:nvSpPr>
        <p:spPr bwMode="auto">
          <a:xfrm>
            <a:off x="64770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89" name="Rectangle 27"/>
          <p:cNvSpPr>
            <a:spLocks noChangeArrowheads="1"/>
          </p:cNvSpPr>
          <p:nvPr/>
        </p:nvSpPr>
        <p:spPr bwMode="auto">
          <a:xfrm>
            <a:off x="76962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90" name="Rectangle 28"/>
          <p:cNvSpPr>
            <a:spLocks noChangeArrowheads="1"/>
          </p:cNvSpPr>
          <p:nvPr/>
        </p:nvSpPr>
        <p:spPr bwMode="auto">
          <a:xfrm>
            <a:off x="5791200" y="23923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4285" name="Group 29"/>
          <p:cNvGraphicFramePr>
            <a:graphicFrameLocks noGrp="1"/>
          </p:cNvGraphicFramePr>
          <p:nvPr/>
        </p:nvGraphicFramePr>
        <p:xfrm>
          <a:off x="5715000" y="30019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608" name="Rectangle 47"/>
          <p:cNvSpPr>
            <a:spLocks noChangeArrowheads="1"/>
          </p:cNvSpPr>
          <p:nvPr/>
        </p:nvSpPr>
        <p:spPr bwMode="auto">
          <a:xfrm>
            <a:off x="5791200" y="3078163"/>
            <a:ext cx="11430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09" name="Rectangle 48"/>
          <p:cNvSpPr>
            <a:spLocks noChangeArrowheads="1"/>
          </p:cNvSpPr>
          <p:nvPr/>
        </p:nvSpPr>
        <p:spPr bwMode="auto">
          <a:xfrm>
            <a:off x="7086600" y="3078163"/>
            <a:ext cx="4572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10" name="Rectangle 49"/>
          <p:cNvSpPr>
            <a:spLocks noChangeArrowheads="1"/>
          </p:cNvSpPr>
          <p:nvPr/>
        </p:nvSpPr>
        <p:spPr bwMode="auto">
          <a:xfrm>
            <a:off x="7696200" y="30781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11" name="Rectangle 50"/>
          <p:cNvSpPr>
            <a:spLocks noChangeArrowheads="1"/>
          </p:cNvSpPr>
          <p:nvPr/>
        </p:nvSpPr>
        <p:spPr bwMode="auto">
          <a:xfrm>
            <a:off x="6477000" y="3611563"/>
            <a:ext cx="457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410200" y="3611563"/>
            <a:ext cx="838200" cy="381000"/>
            <a:chOff x="3216" y="2832"/>
            <a:chExt cx="528" cy="240"/>
          </a:xfrm>
        </p:grpSpPr>
        <p:sp>
          <p:nvSpPr>
            <p:cNvPr id="66651" name="Line 52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2" name="Line 53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3" name="Line 54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 flipH="1">
            <a:off x="7696200" y="3611563"/>
            <a:ext cx="838200" cy="381000"/>
            <a:chOff x="3216" y="2832"/>
            <a:chExt cx="528" cy="240"/>
          </a:xfrm>
        </p:grpSpPr>
        <p:sp>
          <p:nvSpPr>
            <p:cNvPr id="66648" name="Line 56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9" name="Line 57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50" name="Line 58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aphicFrame>
        <p:nvGraphicFramePr>
          <p:cNvPr id="224315" name="Group 59"/>
          <p:cNvGraphicFramePr>
            <a:graphicFrameLocks noGrp="1"/>
          </p:cNvGraphicFramePr>
          <p:nvPr/>
        </p:nvGraphicFramePr>
        <p:xfrm>
          <a:off x="5715000" y="4449763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631" name="Rectangle 77"/>
          <p:cNvSpPr>
            <a:spLocks noChangeArrowheads="1"/>
          </p:cNvSpPr>
          <p:nvPr/>
        </p:nvSpPr>
        <p:spPr bwMode="auto">
          <a:xfrm>
            <a:off x="5791200" y="4525963"/>
            <a:ext cx="23622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32" name="Rectangle 78"/>
          <p:cNvSpPr>
            <a:spLocks noChangeArrowheads="1"/>
          </p:cNvSpPr>
          <p:nvPr/>
        </p:nvSpPr>
        <p:spPr bwMode="auto">
          <a:xfrm>
            <a:off x="5867400" y="4602163"/>
            <a:ext cx="1066800" cy="76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79"/>
          <p:cNvGrpSpPr>
            <a:grpSpLocks/>
          </p:cNvGrpSpPr>
          <p:nvPr/>
        </p:nvGrpSpPr>
        <p:grpSpPr bwMode="auto">
          <a:xfrm>
            <a:off x="5410200" y="4373563"/>
            <a:ext cx="838200" cy="1066800"/>
            <a:chOff x="3216" y="2832"/>
            <a:chExt cx="528" cy="240"/>
          </a:xfrm>
        </p:grpSpPr>
        <p:sp>
          <p:nvSpPr>
            <p:cNvPr id="66645" name="Line 80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6" name="Line 81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7" name="Line 82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" name="Group 83"/>
          <p:cNvGrpSpPr>
            <a:grpSpLocks/>
          </p:cNvGrpSpPr>
          <p:nvPr/>
        </p:nvGrpSpPr>
        <p:grpSpPr bwMode="auto">
          <a:xfrm flipH="1">
            <a:off x="7696200" y="4373563"/>
            <a:ext cx="838200" cy="1066800"/>
            <a:chOff x="3216" y="2832"/>
            <a:chExt cx="528" cy="240"/>
          </a:xfrm>
        </p:grpSpPr>
        <p:sp>
          <p:nvSpPr>
            <p:cNvPr id="66642" name="Line 84"/>
            <p:cNvSpPr>
              <a:spLocks noChangeShapeType="1"/>
            </p:cNvSpPr>
            <p:nvPr/>
          </p:nvSpPr>
          <p:spPr bwMode="auto">
            <a:xfrm>
              <a:off x="3216" y="307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3" name="Line 85"/>
            <p:cNvSpPr>
              <a:spLocks noChangeShapeType="1"/>
            </p:cNvSpPr>
            <p:nvPr/>
          </p:nvSpPr>
          <p:spPr bwMode="auto">
            <a:xfrm>
              <a:off x="3216" y="283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644" name="Line 86"/>
            <p:cNvSpPr>
              <a:spLocks noChangeShapeType="1"/>
            </p:cNvSpPr>
            <p:nvPr/>
          </p:nvSpPr>
          <p:spPr bwMode="auto">
            <a:xfrm>
              <a:off x="3744" y="283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4343" name="Text Box 87"/>
          <p:cNvSpPr txBox="1">
            <a:spLocks noChangeArrowheads="1"/>
          </p:cNvSpPr>
          <p:nvPr/>
        </p:nvSpPr>
        <p:spPr bwMode="auto">
          <a:xfrm>
            <a:off x="381000" y="1571625"/>
            <a:ext cx="4953000" cy="391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The types of structures that are either minterms or are generated by repeated application of the minimization theorem on a three variable map are shown at right. </a:t>
            </a:r>
            <a:b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Groups of 1, 2, 4, 8 are possible.</a:t>
            </a:r>
          </a:p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66636" name="Line 88"/>
          <p:cNvSpPr>
            <a:spLocks noChangeShapeType="1"/>
          </p:cNvSpPr>
          <p:nvPr/>
        </p:nvSpPr>
        <p:spPr bwMode="auto">
          <a:xfrm flipH="1">
            <a:off x="6705600" y="1249363"/>
            <a:ext cx="533400" cy="685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37" name="Text Box 89"/>
          <p:cNvSpPr txBox="1">
            <a:spLocks noChangeArrowheads="1"/>
          </p:cNvSpPr>
          <p:nvPr/>
        </p:nvSpPr>
        <p:spPr bwMode="auto">
          <a:xfrm>
            <a:off x="7162800" y="949325"/>
            <a:ext cx="13589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minterm</a:t>
            </a:r>
          </a:p>
        </p:txBody>
      </p:sp>
      <p:sp>
        <p:nvSpPr>
          <p:cNvPr id="66638" name="Line 90"/>
          <p:cNvSpPr>
            <a:spLocks noChangeShapeType="1"/>
          </p:cNvSpPr>
          <p:nvPr/>
        </p:nvSpPr>
        <p:spPr bwMode="auto">
          <a:xfrm flipV="1">
            <a:off x="4724400" y="3763963"/>
            <a:ext cx="1143000" cy="1066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39" name="Text Box 91"/>
          <p:cNvSpPr txBox="1">
            <a:spLocks noChangeArrowheads="1"/>
          </p:cNvSpPr>
          <p:nvPr/>
        </p:nvSpPr>
        <p:spPr bwMode="auto">
          <a:xfrm>
            <a:off x="2819400" y="4800600"/>
            <a:ext cx="25876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group of 2 terms</a:t>
            </a:r>
          </a:p>
        </p:txBody>
      </p:sp>
      <p:sp>
        <p:nvSpPr>
          <p:cNvPr id="66640" name="Line 92"/>
          <p:cNvSpPr>
            <a:spLocks noChangeShapeType="1"/>
          </p:cNvSpPr>
          <p:nvPr/>
        </p:nvSpPr>
        <p:spPr bwMode="auto">
          <a:xfrm flipV="1">
            <a:off x="5715000" y="5211763"/>
            <a:ext cx="990600" cy="838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arrow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41" name="Text Box 93"/>
          <p:cNvSpPr txBox="1">
            <a:spLocks noChangeArrowheads="1"/>
          </p:cNvSpPr>
          <p:nvPr/>
        </p:nvSpPr>
        <p:spPr bwMode="auto">
          <a:xfrm>
            <a:off x="3581400" y="5826125"/>
            <a:ext cx="25876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group of 4 terms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Simplification</a:t>
            </a:r>
          </a:p>
        </p:txBody>
      </p:sp>
      <p:sp>
        <p:nvSpPr>
          <p:cNvPr id="6758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Enter minterms of the Boolean function into the map, then group terms</a:t>
            </a:r>
          </a:p>
          <a:p>
            <a:pPr eaLnBrk="1" hangingPunct="1"/>
            <a:r>
              <a:rPr lang="en-US" altLang="zh-CN"/>
              <a:t>Example: f(a,b,c) = a’c + abc + bc’</a:t>
            </a:r>
          </a:p>
          <a:p>
            <a:pPr eaLnBrk="1" hangingPunct="1"/>
            <a:r>
              <a:rPr lang="en-US" altLang="zh-CN"/>
              <a:t>Result: f(a,b,c) = a’c+ b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EC7A54-40AD-41BB-9411-5046D5202F88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75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6E510760-724D-4118-BA64-80F4B06C0671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graphicFrame>
        <p:nvGraphicFramePr>
          <p:cNvPr id="225284" name="Group 1028"/>
          <p:cNvGraphicFramePr>
            <a:graphicFrameLocks noGrp="1"/>
          </p:cNvGraphicFramePr>
          <p:nvPr/>
        </p:nvGraphicFramePr>
        <p:xfrm>
          <a:off x="6248400" y="4114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608" name="Text Box 1046"/>
          <p:cNvSpPr txBox="1">
            <a:spLocks noChangeArrowheads="1"/>
          </p:cNvSpPr>
          <p:nvPr/>
        </p:nvSpPr>
        <p:spPr bwMode="auto">
          <a:xfrm>
            <a:off x="5776913" y="3738563"/>
            <a:ext cx="3397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a</a:t>
            </a:r>
          </a:p>
        </p:txBody>
      </p:sp>
      <p:sp>
        <p:nvSpPr>
          <p:cNvPr id="67609" name="Text Box 1047"/>
          <p:cNvSpPr txBox="1">
            <a:spLocks noChangeArrowheads="1"/>
          </p:cNvSpPr>
          <p:nvPr/>
        </p:nvSpPr>
        <p:spPr bwMode="auto">
          <a:xfrm>
            <a:off x="5943600" y="3586163"/>
            <a:ext cx="522288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/>
              <a:t>bc</a:t>
            </a:r>
          </a:p>
        </p:txBody>
      </p:sp>
      <p:sp>
        <p:nvSpPr>
          <p:cNvPr id="67610" name="Line 1048"/>
          <p:cNvSpPr>
            <a:spLocks noChangeShapeType="1"/>
          </p:cNvSpPr>
          <p:nvPr/>
        </p:nvSpPr>
        <p:spPr bwMode="auto">
          <a:xfrm flipH="1" flipV="1">
            <a:off x="5867400" y="3733800"/>
            <a:ext cx="38100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1" name="Rectangle 1049"/>
          <p:cNvSpPr>
            <a:spLocks noChangeArrowheads="1"/>
          </p:cNvSpPr>
          <p:nvPr/>
        </p:nvSpPr>
        <p:spPr bwMode="auto">
          <a:xfrm>
            <a:off x="6934200" y="41910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2" name="Rectangle 1050"/>
          <p:cNvSpPr>
            <a:spLocks noChangeArrowheads="1"/>
          </p:cNvSpPr>
          <p:nvPr/>
        </p:nvSpPr>
        <p:spPr bwMode="auto">
          <a:xfrm>
            <a:off x="7620000" y="4724400"/>
            <a:ext cx="304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3" name="Rectangle 1051"/>
          <p:cNvSpPr>
            <a:spLocks noChangeArrowheads="1"/>
          </p:cNvSpPr>
          <p:nvPr/>
        </p:nvSpPr>
        <p:spPr bwMode="auto">
          <a:xfrm>
            <a:off x="8153400" y="4191000"/>
            <a:ext cx="3810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14" name="Line 1052"/>
          <p:cNvSpPr>
            <a:spLocks noChangeShapeType="1"/>
          </p:cNvSpPr>
          <p:nvPr/>
        </p:nvSpPr>
        <p:spPr bwMode="auto">
          <a:xfrm>
            <a:off x="6781800" y="3124200"/>
            <a:ext cx="1447800" cy="1143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5" name="Line 1053"/>
          <p:cNvSpPr>
            <a:spLocks noChangeShapeType="1"/>
          </p:cNvSpPr>
          <p:nvPr/>
        </p:nvSpPr>
        <p:spPr bwMode="auto">
          <a:xfrm>
            <a:off x="5867400" y="3124200"/>
            <a:ext cx="1752600" cy="1600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16" name="Freeform 1054"/>
          <p:cNvSpPr>
            <a:spLocks/>
          </p:cNvSpPr>
          <p:nvPr/>
        </p:nvSpPr>
        <p:spPr bwMode="auto">
          <a:xfrm>
            <a:off x="4876800" y="3124200"/>
            <a:ext cx="2133600" cy="1219200"/>
          </a:xfrm>
          <a:custGeom>
            <a:avLst/>
            <a:gdLst>
              <a:gd name="T0" fmla="*/ 0 w 1344"/>
              <a:gd name="T1" fmla="*/ 0 h 768"/>
              <a:gd name="T2" fmla="*/ 2147483647 w 1344"/>
              <a:gd name="T3" fmla="*/ 2147483647 h 768"/>
              <a:gd name="T4" fmla="*/ 2147483647 w 1344"/>
              <a:gd name="T5" fmla="*/ 2147483647 h 768"/>
              <a:gd name="T6" fmla="*/ 0 60000 65536"/>
              <a:gd name="T7" fmla="*/ 0 60000 65536"/>
              <a:gd name="T8" fmla="*/ 0 60000 65536"/>
              <a:gd name="T9" fmla="*/ 0 w 1344"/>
              <a:gd name="T10" fmla="*/ 0 h 768"/>
              <a:gd name="T11" fmla="*/ 1344 w 1344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768">
                <a:moveTo>
                  <a:pt x="0" y="0"/>
                </a:moveTo>
                <a:lnTo>
                  <a:pt x="797" y="274"/>
                </a:lnTo>
                <a:lnTo>
                  <a:pt x="1344" y="768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225311" name="Group 1055"/>
          <p:cNvGraphicFramePr>
            <a:graphicFrameLocks noGrp="1"/>
          </p:cNvGraphicFramePr>
          <p:nvPr/>
        </p:nvGraphicFramePr>
        <p:xfrm>
          <a:off x="2057400" y="4876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634" name="Rectangle 1073"/>
          <p:cNvSpPr>
            <a:spLocks noChangeArrowheads="1"/>
          </p:cNvSpPr>
          <p:nvPr/>
        </p:nvSpPr>
        <p:spPr bwMode="auto">
          <a:xfrm>
            <a:off x="2743200" y="49530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5" name="Rectangle 1074"/>
          <p:cNvSpPr>
            <a:spLocks noChangeArrowheads="1"/>
          </p:cNvSpPr>
          <p:nvPr/>
        </p:nvSpPr>
        <p:spPr bwMode="auto">
          <a:xfrm>
            <a:off x="3429000" y="4800600"/>
            <a:ext cx="990600" cy="10668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6" name="Line 1075"/>
          <p:cNvSpPr>
            <a:spLocks noChangeShapeType="1"/>
          </p:cNvSpPr>
          <p:nvPr/>
        </p:nvSpPr>
        <p:spPr bwMode="auto">
          <a:xfrm flipH="1">
            <a:off x="3124200" y="3733800"/>
            <a:ext cx="1066800" cy="1371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37" name="Line 1076"/>
          <p:cNvSpPr>
            <a:spLocks noChangeShapeType="1"/>
          </p:cNvSpPr>
          <p:nvPr/>
        </p:nvSpPr>
        <p:spPr bwMode="auto">
          <a:xfrm flipH="1">
            <a:off x="4267200" y="3810000"/>
            <a:ext cx="533400" cy="1219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lg" len="lg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More Examples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951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/>
              <a:t>f</a:t>
            </a:r>
            <a:r>
              <a:rPr lang="en-US" altLang="zh-CN" baseline="-25000"/>
              <a:t>1</a:t>
            </a:r>
            <a:r>
              <a:rPr lang="en-US" altLang="zh-CN"/>
              <a:t>(x, y, z)  = </a:t>
            </a:r>
            <a:r>
              <a:rPr lang="en-US" altLang="zh-CN">
                <a:cs typeface="Times New Roman" pitchFamily="18" charset="0"/>
              </a:rPr>
              <a:t>∑</a:t>
            </a:r>
            <a:r>
              <a:rPr lang="en-US" altLang="zh-CN"/>
              <a:t> m(2,3,5,7)</a:t>
            </a: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endParaRPr lang="en-US" altLang="zh-CN"/>
          </a:p>
          <a:p>
            <a:pPr eaLnBrk="1" hangingPunct="1"/>
            <a:r>
              <a:rPr lang="en-US" altLang="zh-CN"/>
              <a:t>f</a:t>
            </a:r>
            <a:r>
              <a:rPr lang="en-US" altLang="zh-CN" baseline="-25000"/>
              <a:t>2</a:t>
            </a:r>
            <a:r>
              <a:rPr lang="en-US" altLang="zh-CN"/>
              <a:t>(x, y, z)  =  ∑ m (0,1,2,3,6)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2F841E-6A94-4D29-9573-54A59747F72F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686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030ED1F-5E0F-47DC-903D-3AC4B08AAB6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685800" y="2743200"/>
            <a:ext cx="4173538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(x, y, z) = x’y + xz</a:t>
            </a:r>
            <a:endParaRPr lang="en-US" altLang="zh-CN" sz="2400"/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685800" y="4754563"/>
            <a:ext cx="3683000" cy="5794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(x, y, z) = x’+yz’</a:t>
            </a:r>
            <a:endParaRPr lang="en-US" altLang="zh-CN" sz="2400"/>
          </a:p>
        </p:txBody>
      </p:sp>
      <p:graphicFrame>
        <p:nvGraphicFramePr>
          <p:cNvPr id="226375" name="Group 71"/>
          <p:cNvGraphicFramePr>
            <a:graphicFrameLocks noGrp="1"/>
          </p:cNvGraphicFramePr>
          <p:nvPr/>
        </p:nvGraphicFramePr>
        <p:xfrm>
          <a:off x="5257800" y="1219200"/>
          <a:ext cx="3678238" cy="1853184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yz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X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6345" name="Group 41"/>
          <p:cNvGraphicFramePr>
            <a:graphicFrameLocks noGrp="1"/>
          </p:cNvGraphicFramePr>
          <p:nvPr/>
        </p:nvGraphicFramePr>
        <p:xfrm>
          <a:off x="6248400" y="4495800"/>
          <a:ext cx="2498725" cy="1066800"/>
        </p:xfrm>
        <a:graphic>
          <a:graphicData uri="http://schemas.openxmlformats.org/drawingml/2006/table">
            <a:tbl>
              <a:tblPr/>
              <a:tblGrid>
                <a:gridCol w="64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itchFamily="66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itchFamily="66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659" name="Rectangle 72"/>
          <p:cNvSpPr>
            <a:spLocks noChangeArrowheads="1"/>
          </p:cNvSpPr>
          <p:nvPr/>
        </p:nvSpPr>
        <p:spPr bwMode="auto">
          <a:xfrm>
            <a:off x="7543800" y="2057400"/>
            <a:ext cx="9906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0" name="Rectangle 73"/>
          <p:cNvSpPr>
            <a:spLocks noChangeArrowheads="1"/>
          </p:cNvSpPr>
          <p:nvPr/>
        </p:nvSpPr>
        <p:spPr bwMode="auto">
          <a:xfrm>
            <a:off x="6781800" y="2590800"/>
            <a:ext cx="1066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1" name="Rectangle 74"/>
          <p:cNvSpPr>
            <a:spLocks noChangeArrowheads="1"/>
          </p:cNvSpPr>
          <p:nvPr/>
        </p:nvSpPr>
        <p:spPr bwMode="auto">
          <a:xfrm>
            <a:off x="6324600" y="4572000"/>
            <a:ext cx="2209800" cy="381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62" name="Rectangle 75"/>
          <p:cNvSpPr>
            <a:spLocks noChangeArrowheads="1"/>
          </p:cNvSpPr>
          <p:nvPr/>
        </p:nvSpPr>
        <p:spPr bwMode="auto">
          <a:xfrm>
            <a:off x="8229600" y="4572000"/>
            <a:ext cx="381000" cy="914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8" grpId="0" autoUpdateAnimBg="0"/>
      <p:bldP spid="22630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Four-Variable Maps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4648200"/>
            <a:ext cx="7086600" cy="1706563"/>
          </a:xfrm>
        </p:spPr>
        <p:txBody>
          <a:bodyPr/>
          <a:lstStyle/>
          <a:p>
            <a:pPr eaLnBrk="1" hangingPunct="1"/>
            <a:r>
              <a:rPr lang="en-US" altLang="zh-CN" sz="2400"/>
              <a:t>Top cells are adjacent to bottom cells. Left-edge cells are adjacent to right-edge cells.</a:t>
            </a:r>
          </a:p>
          <a:p>
            <a:pPr eaLnBrk="1" hangingPunct="1"/>
            <a:r>
              <a:rPr lang="en-US" altLang="zh-CN" sz="2400"/>
              <a:t>Note variable ordering (WXYZ).</a:t>
            </a:r>
          </a:p>
        </p:txBody>
      </p:sp>
      <p:pic>
        <p:nvPicPr>
          <p:cNvPr id="69636" name="Picture 6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 l="50943" t="6956" r="3423" b="23952"/>
          <a:stretch>
            <a:fillRect/>
          </a:stretch>
        </p:blipFill>
        <p:spPr>
          <a:xfrm>
            <a:off x="5638800" y="2057400"/>
            <a:ext cx="2971800" cy="2232025"/>
          </a:xfrm>
          <a:noFill/>
        </p:spPr>
      </p:pic>
      <p:sp>
        <p:nvSpPr>
          <p:cNvPr id="2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514238-12AA-438A-BCCA-9397CB3D0F3C}" type="datetime5">
              <a:rPr lang="zh-CN" altLang="en-US" smtClean="0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E5960CD-4A24-4F96-8648-2860AC658BC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3840163" y="37734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</a:p>
        </p:txBody>
      </p:sp>
      <p:sp>
        <p:nvSpPr>
          <p:cNvPr id="227334" name="Rectangle 6"/>
          <p:cNvSpPr>
            <a:spLocks noChangeArrowheads="1"/>
          </p:cNvSpPr>
          <p:nvPr/>
        </p:nvSpPr>
        <p:spPr bwMode="auto">
          <a:xfrm>
            <a:off x="3032125" y="3773488"/>
            <a:ext cx="808038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227335" name="Rectangle 7"/>
          <p:cNvSpPr>
            <a:spLocks noChangeArrowheads="1"/>
          </p:cNvSpPr>
          <p:nvPr/>
        </p:nvSpPr>
        <p:spPr bwMode="auto">
          <a:xfrm>
            <a:off x="2225675" y="3773488"/>
            <a:ext cx="806450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9</a:t>
            </a:r>
          </a:p>
        </p:txBody>
      </p:sp>
      <p:sp>
        <p:nvSpPr>
          <p:cNvPr id="227336" name="Rectangle 8"/>
          <p:cNvSpPr>
            <a:spLocks noChangeArrowheads="1"/>
          </p:cNvSpPr>
          <p:nvPr/>
        </p:nvSpPr>
        <p:spPr bwMode="auto">
          <a:xfrm>
            <a:off x="1417638" y="37734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</a:p>
        </p:txBody>
      </p:sp>
      <p:sp>
        <p:nvSpPr>
          <p:cNvPr id="227337" name="Rectangle 9"/>
          <p:cNvSpPr>
            <a:spLocks noChangeArrowheads="1"/>
          </p:cNvSpPr>
          <p:nvPr/>
        </p:nvSpPr>
        <p:spPr bwMode="auto">
          <a:xfrm>
            <a:off x="868363" y="3849688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</a:p>
        </p:txBody>
      </p:sp>
      <p:sp>
        <p:nvSpPr>
          <p:cNvPr id="227338" name="Rectangle 10"/>
          <p:cNvSpPr>
            <a:spLocks noChangeArrowheads="1"/>
          </p:cNvSpPr>
          <p:nvPr/>
        </p:nvSpPr>
        <p:spPr bwMode="auto">
          <a:xfrm>
            <a:off x="3840163" y="32035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14</a:t>
            </a:r>
          </a:p>
        </p:txBody>
      </p:sp>
      <p:sp>
        <p:nvSpPr>
          <p:cNvPr id="227339" name="Rectangle 11"/>
          <p:cNvSpPr>
            <a:spLocks noChangeArrowheads="1"/>
          </p:cNvSpPr>
          <p:nvPr/>
        </p:nvSpPr>
        <p:spPr bwMode="auto">
          <a:xfrm>
            <a:off x="3032125" y="3203575"/>
            <a:ext cx="808038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15</a:t>
            </a:r>
          </a:p>
        </p:txBody>
      </p:sp>
      <p:sp>
        <p:nvSpPr>
          <p:cNvPr id="227340" name="Rectangle 12"/>
          <p:cNvSpPr>
            <a:spLocks noChangeArrowheads="1"/>
          </p:cNvSpPr>
          <p:nvPr/>
        </p:nvSpPr>
        <p:spPr bwMode="auto">
          <a:xfrm>
            <a:off x="2225675" y="3203575"/>
            <a:ext cx="806450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13</a:t>
            </a:r>
          </a:p>
        </p:txBody>
      </p:sp>
      <p:sp>
        <p:nvSpPr>
          <p:cNvPr id="227341" name="Rectangle 13"/>
          <p:cNvSpPr>
            <a:spLocks noChangeArrowheads="1"/>
          </p:cNvSpPr>
          <p:nvPr/>
        </p:nvSpPr>
        <p:spPr bwMode="auto">
          <a:xfrm>
            <a:off x="1417638" y="32035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12</a:t>
            </a:r>
          </a:p>
        </p:txBody>
      </p:sp>
      <p:sp>
        <p:nvSpPr>
          <p:cNvPr id="227342" name="Rectangle 14"/>
          <p:cNvSpPr>
            <a:spLocks noChangeArrowheads="1"/>
          </p:cNvSpPr>
          <p:nvPr/>
        </p:nvSpPr>
        <p:spPr bwMode="auto">
          <a:xfrm>
            <a:off x="868363" y="3279775"/>
            <a:ext cx="808037" cy="569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11</a:t>
            </a:r>
          </a:p>
        </p:txBody>
      </p:sp>
      <p:sp>
        <p:nvSpPr>
          <p:cNvPr id="227343" name="Rectangle 15"/>
          <p:cNvSpPr>
            <a:spLocks noChangeArrowheads="1"/>
          </p:cNvSpPr>
          <p:nvPr/>
        </p:nvSpPr>
        <p:spPr bwMode="auto">
          <a:xfrm>
            <a:off x="3840163" y="26336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</p:txBody>
      </p:sp>
      <p:sp>
        <p:nvSpPr>
          <p:cNvPr id="227344" name="Rectangle 16"/>
          <p:cNvSpPr>
            <a:spLocks noChangeArrowheads="1"/>
          </p:cNvSpPr>
          <p:nvPr/>
        </p:nvSpPr>
        <p:spPr bwMode="auto">
          <a:xfrm>
            <a:off x="3032125" y="2633663"/>
            <a:ext cx="808038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  <p:sp>
        <p:nvSpPr>
          <p:cNvPr id="227345" name="Rectangle 17"/>
          <p:cNvSpPr>
            <a:spLocks noChangeArrowheads="1"/>
          </p:cNvSpPr>
          <p:nvPr/>
        </p:nvSpPr>
        <p:spPr bwMode="auto">
          <a:xfrm>
            <a:off x="2225675" y="2633663"/>
            <a:ext cx="806450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</a:p>
        </p:txBody>
      </p:sp>
      <p:sp>
        <p:nvSpPr>
          <p:cNvPr id="227346" name="Rectangle 18"/>
          <p:cNvSpPr>
            <a:spLocks noChangeArrowheads="1"/>
          </p:cNvSpPr>
          <p:nvPr/>
        </p:nvSpPr>
        <p:spPr bwMode="auto">
          <a:xfrm>
            <a:off x="1417638" y="26336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</p:txBody>
      </p:sp>
      <p:sp>
        <p:nvSpPr>
          <p:cNvPr id="227347" name="Rectangle 19"/>
          <p:cNvSpPr>
            <a:spLocks noChangeArrowheads="1"/>
          </p:cNvSpPr>
          <p:nvPr/>
        </p:nvSpPr>
        <p:spPr bwMode="auto">
          <a:xfrm>
            <a:off x="868363" y="2709863"/>
            <a:ext cx="808037" cy="569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01</a:t>
            </a:r>
          </a:p>
        </p:txBody>
      </p:sp>
      <p:sp>
        <p:nvSpPr>
          <p:cNvPr id="227348" name="Rectangle 20"/>
          <p:cNvSpPr>
            <a:spLocks noChangeArrowheads="1"/>
          </p:cNvSpPr>
          <p:nvPr/>
        </p:nvSpPr>
        <p:spPr bwMode="auto">
          <a:xfrm>
            <a:off x="3840163" y="20653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27349" name="Rectangle 21"/>
          <p:cNvSpPr>
            <a:spLocks noChangeArrowheads="1"/>
          </p:cNvSpPr>
          <p:nvPr/>
        </p:nvSpPr>
        <p:spPr bwMode="auto">
          <a:xfrm>
            <a:off x="3032125" y="2065338"/>
            <a:ext cx="808038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227350" name="Rectangle 22"/>
          <p:cNvSpPr>
            <a:spLocks noChangeArrowheads="1"/>
          </p:cNvSpPr>
          <p:nvPr/>
        </p:nvSpPr>
        <p:spPr bwMode="auto">
          <a:xfrm>
            <a:off x="2225675" y="2065338"/>
            <a:ext cx="806450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27351" name="Rectangle 23"/>
          <p:cNvSpPr>
            <a:spLocks noChangeArrowheads="1"/>
          </p:cNvSpPr>
          <p:nvPr/>
        </p:nvSpPr>
        <p:spPr bwMode="auto">
          <a:xfrm>
            <a:off x="1417638" y="20653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altLang="zh-CN" sz="20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227352" name="Rectangle 24"/>
          <p:cNvSpPr>
            <a:spLocks noChangeArrowheads="1"/>
          </p:cNvSpPr>
          <p:nvPr/>
        </p:nvSpPr>
        <p:spPr bwMode="auto">
          <a:xfrm>
            <a:off x="868363" y="2141538"/>
            <a:ext cx="808037" cy="5683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00</a:t>
            </a:r>
          </a:p>
        </p:txBody>
      </p:sp>
      <p:sp>
        <p:nvSpPr>
          <p:cNvPr id="227353" name="Rectangle 25"/>
          <p:cNvSpPr>
            <a:spLocks noChangeArrowheads="1"/>
          </p:cNvSpPr>
          <p:nvPr/>
        </p:nvSpPr>
        <p:spPr bwMode="auto">
          <a:xfrm>
            <a:off x="3870325" y="1211263"/>
            <a:ext cx="808038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10</a:t>
            </a:r>
          </a:p>
        </p:txBody>
      </p:sp>
      <p:sp>
        <p:nvSpPr>
          <p:cNvPr id="227354" name="Rectangle 26"/>
          <p:cNvSpPr>
            <a:spLocks noChangeArrowheads="1"/>
          </p:cNvSpPr>
          <p:nvPr/>
        </p:nvSpPr>
        <p:spPr bwMode="auto">
          <a:xfrm>
            <a:off x="3062288" y="1211263"/>
            <a:ext cx="808037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11</a:t>
            </a:r>
          </a:p>
        </p:txBody>
      </p:sp>
      <p:sp>
        <p:nvSpPr>
          <p:cNvPr id="227355" name="Rectangle 27"/>
          <p:cNvSpPr>
            <a:spLocks noChangeArrowheads="1"/>
          </p:cNvSpPr>
          <p:nvPr/>
        </p:nvSpPr>
        <p:spPr bwMode="auto">
          <a:xfrm>
            <a:off x="2255838" y="1211263"/>
            <a:ext cx="806450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01</a:t>
            </a:r>
          </a:p>
        </p:txBody>
      </p:sp>
      <p:sp>
        <p:nvSpPr>
          <p:cNvPr id="227356" name="Rectangle 28"/>
          <p:cNvSpPr>
            <a:spLocks noChangeArrowheads="1"/>
          </p:cNvSpPr>
          <p:nvPr/>
        </p:nvSpPr>
        <p:spPr bwMode="auto">
          <a:xfrm>
            <a:off x="1447800" y="1211263"/>
            <a:ext cx="808038" cy="998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00</a:t>
            </a:r>
          </a:p>
        </p:txBody>
      </p:sp>
      <p:sp>
        <p:nvSpPr>
          <p:cNvPr id="227357" name="Rectangle 29"/>
          <p:cNvSpPr>
            <a:spLocks noChangeArrowheads="1"/>
          </p:cNvSpPr>
          <p:nvPr/>
        </p:nvSpPr>
        <p:spPr bwMode="auto">
          <a:xfrm>
            <a:off x="609600" y="1219200"/>
            <a:ext cx="808038" cy="9985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zh-CN" altLang="en-US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zh-CN" sz="2400" baseline="-25000">
                <a:effectLst>
                  <a:outerShdw blurRad="38100" dist="38100" dir="2700000" algn="tl">
                    <a:srgbClr val="000000"/>
                  </a:outerShdw>
                </a:effectLst>
              </a:rPr>
              <a:t>WX</a:t>
            </a:r>
          </a:p>
        </p:txBody>
      </p:sp>
      <p:sp>
        <p:nvSpPr>
          <p:cNvPr id="69665" name="Line 30"/>
          <p:cNvSpPr>
            <a:spLocks noChangeShapeType="1"/>
          </p:cNvSpPr>
          <p:nvPr/>
        </p:nvSpPr>
        <p:spPr bwMode="auto">
          <a:xfrm>
            <a:off x="609600" y="1066800"/>
            <a:ext cx="808038" cy="0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6" name="Line 31"/>
          <p:cNvSpPr>
            <a:spLocks noChangeShapeType="1"/>
          </p:cNvSpPr>
          <p:nvPr/>
        </p:nvSpPr>
        <p:spPr bwMode="auto">
          <a:xfrm>
            <a:off x="609600" y="4343400"/>
            <a:ext cx="808038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7" name="Line 32"/>
          <p:cNvSpPr>
            <a:spLocks noChangeShapeType="1"/>
          </p:cNvSpPr>
          <p:nvPr/>
        </p:nvSpPr>
        <p:spPr bwMode="auto">
          <a:xfrm>
            <a:off x="609600" y="1066800"/>
            <a:ext cx="0" cy="998538"/>
          </a:xfrm>
          <a:prstGeom prst="line">
            <a:avLst/>
          </a:prstGeom>
          <a:noFill/>
          <a:ln w="28575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8" name="Line 33"/>
          <p:cNvSpPr>
            <a:spLocks noChangeShapeType="1"/>
          </p:cNvSpPr>
          <p:nvPr/>
        </p:nvSpPr>
        <p:spPr bwMode="auto">
          <a:xfrm>
            <a:off x="4648200" y="1066800"/>
            <a:ext cx="0" cy="998538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69" name="Line 34"/>
          <p:cNvSpPr>
            <a:spLocks noChangeShapeType="1"/>
          </p:cNvSpPr>
          <p:nvPr/>
        </p:nvSpPr>
        <p:spPr bwMode="auto">
          <a:xfrm>
            <a:off x="1417638" y="1066800"/>
            <a:ext cx="808037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0" name="Line 35"/>
          <p:cNvSpPr>
            <a:spLocks noChangeShapeType="1"/>
          </p:cNvSpPr>
          <p:nvPr/>
        </p:nvSpPr>
        <p:spPr bwMode="auto">
          <a:xfrm>
            <a:off x="609600" y="1066800"/>
            <a:ext cx="808038" cy="998538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1" name="Line 36"/>
          <p:cNvSpPr>
            <a:spLocks noChangeShapeType="1"/>
          </p:cNvSpPr>
          <p:nvPr/>
        </p:nvSpPr>
        <p:spPr bwMode="auto">
          <a:xfrm>
            <a:off x="609600" y="2065338"/>
            <a:ext cx="0" cy="568325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2" name="Line 37"/>
          <p:cNvSpPr>
            <a:spLocks noChangeShapeType="1"/>
          </p:cNvSpPr>
          <p:nvPr/>
        </p:nvSpPr>
        <p:spPr bwMode="auto">
          <a:xfrm>
            <a:off x="3840163" y="1066800"/>
            <a:ext cx="808037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3" name="Line 38"/>
          <p:cNvSpPr>
            <a:spLocks noChangeShapeType="1"/>
          </p:cNvSpPr>
          <p:nvPr/>
        </p:nvSpPr>
        <p:spPr bwMode="auto">
          <a:xfrm>
            <a:off x="3840163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4" name="Line 39"/>
          <p:cNvSpPr>
            <a:spLocks noChangeShapeType="1"/>
          </p:cNvSpPr>
          <p:nvPr/>
        </p:nvSpPr>
        <p:spPr bwMode="auto">
          <a:xfrm>
            <a:off x="4648200" y="2057400"/>
            <a:ext cx="0" cy="22780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5" name="Line 40"/>
          <p:cNvSpPr>
            <a:spLocks noChangeShapeType="1"/>
          </p:cNvSpPr>
          <p:nvPr/>
        </p:nvSpPr>
        <p:spPr bwMode="auto">
          <a:xfrm>
            <a:off x="3032125" y="1066800"/>
            <a:ext cx="808038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6" name="Line 41"/>
          <p:cNvSpPr>
            <a:spLocks noChangeShapeType="1"/>
          </p:cNvSpPr>
          <p:nvPr/>
        </p:nvSpPr>
        <p:spPr bwMode="auto">
          <a:xfrm>
            <a:off x="3032125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7" name="Line 42"/>
          <p:cNvSpPr>
            <a:spLocks noChangeShapeType="1"/>
          </p:cNvSpPr>
          <p:nvPr/>
        </p:nvSpPr>
        <p:spPr bwMode="auto">
          <a:xfrm>
            <a:off x="2225675" y="1066800"/>
            <a:ext cx="8064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8" name="Line 43"/>
          <p:cNvSpPr>
            <a:spLocks noChangeShapeType="1"/>
          </p:cNvSpPr>
          <p:nvPr/>
        </p:nvSpPr>
        <p:spPr bwMode="auto">
          <a:xfrm>
            <a:off x="2225675" y="2065338"/>
            <a:ext cx="0" cy="227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79" name="Line 44"/>
          <p:cNvSpPr>
            <a:spLocks noChangeShapeType="1"/>
          </p:cNvSpPr>
          <p:nvPr/>
        </p:nvSpPr>
        <p:spPr bwMode="auto">
          <a:xfrm>
            <a:off x="1447800" y="2057400"/>
            <a:ext cx="0" cy="22780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0" name="Line 45"/>
          <p:cNvSpPr>
            <a:spLocks noChangeShapeType="1"/>
          </p:cNvSpPr>
          <p:nvPr/>
        </p:nvSpPr>
        <p:spPr bwMode="auto">
          <a:xfrm>
            <a:off x="1447800" y="2057400"/>
            <a:ext cx="3230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1" name="Line 46"/>
          <p:cNvSpPr>
            <a:spLocks noChangeShapeType="1"/>
          </p:cNvSpPr>
          <p:nvPr/>
        </p:nvSpPr>
        <p:spPr bwMode="auto">
          <a:xfrm>
            <a:off x="609600" y="2633663"/>
            <a:ext cx="0" cy="56991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2" name="Line 47"/>
          <p:cNvSpPr>
            <a:spLocks noChangeShapeType="1"/>
          </p:cNvSpPr>
          <p:nvPr/>
        </p:nvSpPr>
        <p:spPr bwMode="auto">
          <a:xfrm>
            <a:off x="1417638" y="2633663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3" name="Line 48"/>
          <p:cNvSpPr>
            <a:spLocks noChangeShapeType="1"/>
          </p:cNvSpPr>
          <p:nvPr/>
        </p:nvSpPr>
        <p:spPr bwMode="auto">
          <a:xfrm>
            <a:off x="609600" y="3203575"/>
            <a:ext cx="0" cy="56991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4" name="Line 49"/>
          <p:cNvSpPr>
            <a:spLocks noChangeShapeType="1"/>
          </p:cNvSpPr>
          <p:nvPr/>
        </p:nvSpPr>
        <p:spPr bwMode="auto">
          <a:xfrm>
            <a:off x="1417638" y="3203575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5" name="Line 50"/>
          <p:cNvSpPr>
            <a:spLocks noChangeShapeType="1"/>
          </p:cNvSpPr>
          <p:nvPr/>
        </p:nvSpPr>
        <p:spPr bwMode="auto">
          <a:xfrm>
            <a:off x="609600" y="3773488"/>
            <a:ext cx="0" cy="56991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6" name="Line 51"/>
          <p:cNvSpPr>
            <a:spLocks noChangeShapeType="1"/>
          </p:cNvSpPr>
          <p:nvPr/>
        </p:nvSpPr>
        <p:spPr bwMode="auto">
          <a:xfrm>
            <a:off x="1417638" y="3773488"/>
            <a:ext cx="3230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7" name="Line 52"/>
          <p:cNvSpPr>
            <a:spLocks noChangeShapeType="1"/>
          </p:cNvSpPr>
          <p:nvPr/>
        </p:nvSpPr>
        <p:spPr bwMode="auto">
          <a:xfrm>
            <a:off x="1417638" y="4343400"/>
            <a:ext cx="323056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88" name="Text Box 53"/>
          <p:cNvSpPr txBox="1">
            <a:spLocks noChangeArrowheads="1"/>
          </p:cNvSpPr>
          <p:nvPr/>
        </p:nvSpPr>
        <p:spPr bwMode="auto">
          <a:xfrm>
            <a:off x="838200" y="1138238"/>
            <a:ext cx="487363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/>
              <a:t>YZ</a:t>
            </a:r>
            <a:endParaRPr lang="en-US" altLang="zh-CN" baseline="-25000"/>
          </a:p>
        </p:txBody>
      </p:sp>
      <p:sp>
        <p:nvSpPr>
          <p:cNvPr id="69689" name="AutoShape 67"/>
          <p:cNvSpPr>
            <a:spLocks noChangeArrowheads="1"/>
          </p:cNvSpPr>
          <p:nvPr/>
        </p:nvSpPr>
        <p:spPr bwMode="auto">
          <a:xfrm>
            <a:off x="4800600" y="2971800"/>
            <a:ext cx="7620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Four-variable Map Simplification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sz="2800"/>
              <a:t>One square represents a minterm of 4 literals.</a:t>
            </a:r>
          </a:p>
          <a:p>
            <a:pPr eaLnBrk="1" hangingPunct="1"/>
            <a:r>
              <a:rPr lang="en-US" altLang="zh-CN" sz="2800"/>
              <a:t>A rectangle of 2 adjacent squares represents a product term of 3 literals.</a:t>
            </a:r>
          </a:p>
          <a:p>
            <a:pPr eaLnBrk="1" hangingPunct="1"/>
            <a:r>
              <a:rPr lang="en-US" altLang="zh-CN" sz="2800"/>
              <a:t>A rectangle of 4 squares represents a product term of 2 literals.</a:t>
            </a:r>
          </a:p>
          <a:p>
            <a:pPr eaLnBrk="1" hangingPunct="1"/>
            <a:r>
              <a:rPr lang="en-US" altLang="zh-CN" sz="2800"/>
              <a:t>A rectangle of 8 squares represents a product term of 1 literal.</a:t>
            </a:r>
          </a:p>
          <a:p>
            <a:pPr eaLnBrk="1" hangingPunct="1"/>
            <a:r>
              <a:rPr lang="en-US" altLang="zh-CN" sz="2800"/>
              <a:t>A rectangle of 16 squares produces a function that is equal to logic 1.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2A3C27-3B30-4E4C-ACFC-4FB983CE7BB7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70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52FF7FB-3976-4DE2-8220-4EB351839E86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104188" cy="1981200"/>
          </a:xfrm>
        </p:spPr>
        <p:txBody>
          <a:bodyPr/>
          <a:lstStyle/>
          <a:p>
            <a:pPr eaLnBrk="1" hangingPunct="1"/>
            <a:r>
              <a:rPr lang="en-US" altLang="zh-CN" sz="2800"/>
              <a:t>Simplify the following Boolean function (A,B,C,D) = </a:t>
            </a:r>
            <a:r>
              <a:rPr lang="en-US" altLang="zh-CN" sz="2800">
                <a:cs typeface="Times New Roman" pitchFamily="18" charset="0"/>
              </a:rPr>
              <a:t>∑</a:t>
            </a:r>
            <a:r>
              <a:rPr lang="en-US" altLang="zh-CN" sz="2800"/>
              <a:t>m(0,1,2,4,5,7,8,9,10,12,13).</a:t>
            </a:r>
          </a:p>
          <a:p>
            <a:pPr eaLnBrk="1" hangingPunct="1"/>
            <a:r>
              <a:rPr lang="en-US" altLang="zh-CN" sz="2800"/>
              <a:t>First put the function g( ) into the map, and then group as many 1s as possible.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2BEB1D2-A7FD-43EA-BBC0-36EAAD3D018C}" type="datetime5">
              <a:rPr lang="zh-CN" altLang="en-US"/>
              <a:pPr>
                <a:defRPr/>
              </a:pPr>
              <a:t>2025/1/16</a:t>
            </a:fld>
            <a:endParaRPr lang="en-US" altLang="zh-CN"/>
          </a:p>
        </p:txBody>
      </p:sp>
      <p:sp>
        <p:nvSpPr>
          <p:cNvPr id="716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749A4D68-2B25-40DC-842B-10DB791D5A33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71687" name="Line 30"/>
          <p:cNvSpPr>
            <a:spLocks noChangeShapeType="1"/>
          </p:cNvSpPr>
          <p:nvPr/>
        </p:nvSpPr>
        <p:spPr bwMode="auto">
          <a:xfrm>
            <a:off x="1676400" y="54737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88" name="Line 31"/>
          <p:cNvSpPr>
            <a:spLocks noChangeShapeType="1"/>
          </p:cNvSpPr>
          <p:nvPr/>
        </p:nvSpPr>
        <p:spPr bwMode="auto">
          <a:xfrm>
            <a:off x="3867150" y="3505200"/>
            <a:ext cx="0" cy="62865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89" name="Line 32"/>
          <p:cNvSpPr>
            <a:spLocks noChangeShapeType="1"/>
          </p:cNvSpPr>
          <p:nvPr/>
        </p:nvSpPr>
        <p:spPr bwMode="auto">
          <a:xfrm>
            <a:off x="16764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0" name="Line 33"/>
          <p:cNvSpPr>
            <a:spLocks noChangeShapeType="1"/>
          </p:cNvSpPr>
          <p:nvPr/>
        </p:nvSpPr>
        <p:spPr bwMode="auto">
          <a:xfrm>
            <a:off x="1676400" y="3505200"/>
            <a:ext cx="0" cy="62865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1" name="Line 34"/>
          <p:cNvSpPr>
            <a:spLocks noChangeShapeType="1"/>
          </p:cNvSpPr>
          <p:nvPr/>
        </p:nvSpPr>
        <p:spPr bwMode="auto">
          <a:xfrm>
            <a:off x="211455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2" name="Line 36"/>
          <p:cNvSpPr>
            <a:spLocks noChangeShapeType="1"/>
          </p:cNvSpPr>
          <p:nvPr/>
        </p:nvSpPr>
        <p:spPr bwMode="auto">
          <a:xfrm>
            <a:off x="1676400" y="4133850"/>
            <a:ext cx="0" cy="33496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3" name="Line 39"/>
          <p:cNvSpPr>
            <a:spLocks noChangeShapeType="1"/>
          </p:cNvSpPr>
          <p:nvPr/>
        </p:nvSpPr>
        <p:spPr bwMode="auto">
          <a:xfrm>
            <a:off x="25527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4" name="Line 40"/>
          <p:cNvSpPr>
            <a:spLocks noChangeShapeType="1"/>
          </p:cNvSpPr>
          <p:nvPr/>
        </p:nvSpPr>
        <p:spPr bwMode="auto">
          <a:xfrm>
            <a:off x="299085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5" name="Line 42"/>
          <p:cNvSpPr>
            <a:spLocks noChangeShapeType="1"/>
          </p:cNvSpPr>
          <p:nvPr/>
        </p:nvSpPr>
        <p:spPr bwMode="auto">
          <a:xfrm>
            <a:off x="3429000" y="3505200"/>
            <a:ext cx="43815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6" name="Line 46"/>
          <p:cNvSpPr>
            <a:spLocks noChangeShapeType="1"/>
          </p:cNvSpPr>
          <p:nvPr/>
        </p:nvSpPr>
        <p:spPr bwMode="auto">
          <a:xfrm>
            <a:off x="1676400" y="4468813"/>
            <a:ext cx="0" cy="33496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7" name="Line 48"/>
          <p:cNvSpPr>
            <a:spLocks noChangeShapeType="1"/>
          </p:cNvSpPr>
          <p:nvPr/>
        </p:nvSpPr>
        <p:spPr bwMode="auto">
          <a:xfrm>
            <a:off x="1676400" y="4803775"/>
            <a:ext cx="0" cy="334963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1698" name="Line 50"/>
          <p:cNvSpPr>
            <a:spLocks noChangeShapeType="1"/>
          </p:cNvSpPr>
          <p:nvPr/>
        </p:nvSpPr>
        <p:spPr bwMode="auto">
          <a:xfrm>
            <a:off x="1676400" y="5138738"/>
            <a:ext cx="0" cy="334962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4" name="Group 104"/>
          <p:cNvGrpSpPr>
            <a:grpSpLocks/>
          </p:cNvGrpSpPr>
          <p:nvPr/>
        </p:nvGrpSpPr>
        <p:grpSpPr bwMode="auto">
          <a:xfrm>
            <a:off x="1143000" y="2895600"/>
            <a:ext cx="2895600" cy="2667000"/>
            <a:chOff x="1056" y="2208"/>
            <a:chExt cx="1380" cy="1240"/>
          </a:xfrm>
        </p:grpSpPr>
        <p:sp>
          <p:nvSpPr>
            <p:cNvPr id="229381" name="Rectangle 5"/>
            <p:cNvSpPr>
              <a:spLocks noChangeArrowheads="1"/>
            </p:cNvSpPr>
            <p:nvPr/>
          </p:nvSpPr>
          <p:spPr bwMode="auto">
            <a:xfrm>
              <a:off x="2160" y="2208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2" name="Rectangle 6"/>
            <p:cNvSpPr>
              <a:spLocks noChangeArrowheads="1"/>
            </p:cNvSpPr>
            <p:nvPr/>
          </p:nvSpPr>
          <p:spPr bwMode="auto">
            <a:xfrm>
              <a:off x="1884" y="2208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3" name="Rectangle 7"/>
            <p:cNvSpPr>
              <a:spLocks noChangeArrowheads="1"/>
            </p:cNvSpPr>
            <p:nvPr/>
          </p:nvSpPr>
          <p:spPr bwMode="auto">
            <a:xfrm>
              <a:off x="1608" y="2208"/>
              <a:ext cx="275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4" name="Rectangle 8"/>
            <p:cNvSpPr>
              <a:spLocks noChangeArrowheads="1"/>
            </p:cNvSpPr>
            <p:nvPr/>
          </p:nvSpPr>
          <p:spPr bwMode="auto">
            <a:xfrm>
              <a:off x="1260" y="2304"/>
              <a:ext cx="275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cd</a:t>
              </a:r>
            </a:p>
          </p:txBody>
        </p:sp>
        <p:sp>
          <p:nvSpPr>
            <p:cNvPr id="229385" name="Rectangle 9"/>
            <p:cNvSpPr>
              <a:spLocks noChangeArrowheads="1"/>
            </p:cNvSpPr>
            <p:nvPr/>
          </p:nvSpPr>
          <p:spPr bwMode="auto">
            <a:xfrm>
              <a:off x="1056" y="2292"/>
              <a:ext cx="276" cy="39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en-US" altLang="zh-CN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ab</a:t>
              </a:r>
            </a:p>
          </p:txBody>
        </p:sp>
        <p:sp>
          <p:nvSpPr>
            <p:cNvPr id="229386" name="Rectangle 10"/>
            <p:cNvSpPr>
              <a:spLocks noChangeArrowheads="1"/>
            </p:cNvSpPr>
            <p:nvPr/>
          </p:nvSpPr>
          <p:spPr bwMode="auto">
            <a:xfrm>
              <a:off x="1056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7" name="Rectangle 11"/>
            <p:cNvSpPr>
              <a:spLocks noChangeArrowheads="1"/>
            </p:cNvSpPr>
            <p:nvPr/>
          </p:nvSpPr>
          <p:spPr bwMode="auto">
            <a:xfrm>
              <a:off x="1056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8" name="Rectangle 12"/>
            <p:cNvSpPr>
              <a:spLocks noChangeArrowheads="1"/>
            </p:cNvSpPr>
            <p:nvPr/>
          </p:nvSpPr>
          <p:spPr bwMode="auto">
            <a:xfrm>
              <a:off x="1056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89" name="Rectangle 13"/>
            <p:cNvSpPr>
              <a:spLocks noChangeArrowheads="1"/>
            </p:cNvSpPr>
            <p:nvPr/>
          </p:nvSpPr>
          <p:spPr bwMode="auto">
            <a:xfrm>
              <a:off x="1056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0" name="Rectangle 14"/>
            <p:cNvSpPr>
              <a:spLocks noChangeArrowheads="1"/>
            </p:cNvSpPr>
            <p:nvPr/>
          </p:nvSpPr>
          <p:spPr bwMode="auto">
            <a:xfrm>
              <a:off x="2160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1" name="Rectangle 15"/>
            <p:cNvSpPr>
              <a:spLocks noChangeArrowheads="1"/>
            </p:cNvSpPr>
            <p:nvPr/>
          </p:nvSpPr>
          <p:spPr bwMode="auto">
            <a:xfrm>
              <a:off x="1884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2" name="Rectangle 16"/>
            <p:cNvSpPr>
              <a:spLocks noChangeArrowheads="1"/>
            </p:cNvSpPr>
            <p:nvPr/>
          </p:nvSpPr>
          <p:spPr bwMode="auto">
            <a:xfrm>
              <a:off x="1608" y="3237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3" name="Rectangle 17"/>
            <p:cNvSpPr>
              <a:spLocks noChangeArrowheads="1"/>
            </p:cNvSpPr>
            <p:nvPr/>
          </p:nvSpPr>
          <p:spPr bwMode="auto">
            <a:xfrm>
              <a:off x="1332" y="323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4" name="Rectangle 18"/>
            <p:cNvSpPr>
              <a:spLocks noChangeArrowheads="1"/>
            </p:cNvSpPr>
            <p:nvPr/>
          </p:nvSpPr>
          <p:spPr bwMode="auto">
            <a:xfrm>
              <a:off x="2160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5" name="Rectangle 19"/>
            <p:cNvSpPr>
              <a:spLocks noChangeArrowheads="1"/>
            </p:cNvSpPr>
            <p:nvPr/>
          </p:nvSpPr>
          <p:spPr bwMode="auto">
            <a:xfrm>
              <a:off x="1884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6" name="Rectangle 20"/>
            <p:cNvSpPr>
              <a:spLocks noChangeArrowheads="1"/>
            </p:cNvSpPr>
            <p:nvPr/>
          </p:nvSpPr>
          <p:spPr bwMode="auto">
            <a:xfrm>
              <a:off x="1608" y="3026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7" name="Rectangle 21"/>
            <p:cNvSpPr>
              <a:spLocks noChangeArrowheads="1"/>
            </p:cNvSpPr>
            <p:nvPr/>
          </p:nvSpPr>
          <p:spPr bwMode="auto">
            <a:xfrm>
              <a:off x="1332" y="302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8" name="Rectangle 22"/>
            <p:cNvSpPr>
              <a:spLocks noChangeArrowheads="1"/>
            </p:cNvSpPr>
            <p:nvPr/>
          </p:nvSpPr>
          <p:spPr bwMode="auto">
            <a:xfrm>
              <a:off x="2160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399" name="Rectangle 23"/>
            <p:cNvSpPr>
              <a:spLocks noChangeArrowheads="1"/>
            </p:cNvSpPr>
            <p:nvPr/>
          </p:nvSpPr>
          <p:spPr bwMode="auto">
            <a:xfrm>
              <a:off x="1884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0" name="Rectangle 24"/>
            <p:cNvSpPr>
              <a:spLocks noChangeArrowheads="1"/>
            </p:cNvSpPr>
            <p:nvPr/>
          </p:nvSpPr>
          <p:spPr bwMode="auto">
            <a:xfrm>
              <a:off x="1608" y="2815"/>
              <a:ext cx="275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1" name="Rectangle 25"/>
            <p:cNvSpPr>
              <a:spLocks noChangeArrowheads="1"/>
            </p:cNvSpPr>
            <p:nvPr/>
          </p:nvSpPr>
          <p:spPr bwMode="auto">
            <a:xfrm>
              <a:off x="1332" y="281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2" name="Rectangle 26"/>
            <p:cNvSpPr>
              <a:spLocks noChangeArrowheads="1"/>
            </p:cNvSpPr>
            <p:nvPr/>
          </p:nvSpPr>
          <p:spPr bwMode="auto">
            <a:xfrm>
              <a:off x="2160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3" name="Rectangle 27"/>
            <p:cNvSpPr>
              <a:spLocks noChangeArrowheads="1"/>
            </p:cNvSpPr>
            <p:nvPr/>
          </p:nvSpPr>
          <p:spPr bwMode="auto">
            <a:xfrm>
              <a:off x="1884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4" name="Rectangle 28"/>
            <p:cNvSpPr>
              <a:spLocks noChangeArrowheads="1"/>
            </p:cNvSpPr>
            <p:nvPr/>
          </p:nvSpPr>
          <p:spPr bwMode="auto">
            <a:xfrm>
              <a:off x="1608" y="2604"/>
              <a:ext cx="275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05" name="Rectangle 29"/>
            <p:cNvSpPr>
              <a:spLocks noChangeArrowheads="1"/>
            </p:cNvSpPr>
            <p:nvPr/>
          </p:nvSpPr>
          <p:spPr bwMode="auto">
            <a:xfrm>
              <a:off x="1332" y="2604"/>
              <a:ext cx="276" cy="21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763" name="Line 35"/>
            <p:cNvSpPr>
              <a:spLocks noChangeShapeType="1"/>
            </p:cNvSpPr>
            <p:nvPr/>
          </p:nvSpPr>
          <p:spPr bwMode="auto">
            <a:xfrm>
              <a:off x="1248" y="2448"/>
              <a:ext cx="84" cy="156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4" name="Line 37"/>
            <p:cNvSpPr>
              <a:spLocks noChangeShapeType="1"/>
            </p:cNvSpPr>
            <p:nvPr/>
          </p:nvSpPr>
          <p:spPr bwMode="auto">
            <a:xfrm>
              <a:off x="1332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5" name="Line 38"/>
            <p:cNvSpPr>
              <a:spLocks noChangeShapeType="1"/>
            </p:cNvSpPr>
            <p:nvPr/>
          </p:nvSpPr>
          <p:spPr bwMode="auto">
            <a:xfrm>
              <a:off x="1332" y="2604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6" name="Line 41"/>
            <p:cNvSpPr>
              <a:spLocks noChangeShapeType="1"/>
            </p:cNvSpPr>
            <p:nvPr/>
          </p:nvSpPr>
          <p:spPr bwMode="auto">
            <a:xfrm>
              <a:off x="1608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7" name="Line 43"/>
            <p:cNvSpPr>
              <a:spLocks noChangeShapeType="1"/>
            </p:cNvSpPr>
            <p:nvPr/>
          </p:nvSpPr>
          <p:spPr bwMode="auto">
            <a:xfrm>
              <a:off x="1884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8" name="Line 44"/>
            <p:cNvSpPr>
              <a:spLocks noChangeShapeType="1"/>
            </p:cNvSpPr>
            <p:nvPr/>
          </p:nvSpPr>
          <p:spPr bwMode="auto">
            <a:xfrm>
              <a:off x="2160" y="260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69" name="Line 45"/>
            <p:cNvSpPr>
              <a:spLocks noChangeShapeType="1"/>
            </p:cNvSpPr>
            <p:nvPr/>
          </p:nvSpPr>
          <p:spPr bwMode="auto">
            <a:xfrm>
              <a:off x="2436" y="2604"/>
              <a:ext cx="0" cy="84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0" name="Line 47"/>
            <p:cNvSpPr>
              <a:spLocks noChangeShapeType="1"/>
            </p:cNvSpPr>
            <p:nvPr/>
          </p:nvSpPr>
          <p:spPr bwMode="auto">
            <a:xfrm>
              <a:off x="1332" y="2815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1" name="Line 49"/>
            <p:cNvSpPr>
              <a:spLocks noChangeShapeType="1"/>
            </p:cNvSpPr>
            <p:nvPr/>
          </p:nvSpPr>
          <p:spPr bwMode="auto">
            <a:xfrm>
              <a:off x="1332" y="3026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2" name="Line 51"/>
            <p:cNvSpPr>
              <a:spLocks noChangeShapeType="1"/>
            </p:cNvSpPr>
            <p:nvPr/>
          </p:nvSpPr>
          <p:spPr bwMode="auto">
            <a:xfrm>
              <a:off x="1332" y="3237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73" name="Line 52"/>
            <p:cNvSpPr>
              <a:spLocks noChangeShapeType="1"/>
            </p:cNvSpPr>
            <p:nvPr/>
          </p:nvSpPr>
          <p:spPr bwMode="auto">
            <a:xfrm>
              <a:off x="1332" y="3448"/>
              <a:ext cx="11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9429" name="Text Box 53"/>
          <p:cNvSpPr txBox="1">
            <a:spLocks noChangeArrowheads="1"/>
          </p:cNvSpPr>
          <p:nvPr/>
        </p:nvSpPr>
        <p:spPr bwMode="auto">
          <a:xfrm>
            <a:off x="2362200" y="5653088"/>
            <a:ext cx="5151438" cy="5191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g(A,B,C,D) = c’+b’d’+a’bd</a:t>
            </a:r>
            <a:endParaRPr lang="en-US" altLang="zh-CN" sz="2000"/>
          </a:p>
        </p:txBody>
      </p:sp>
      <p:grpSp>
        <p:nvGrpSpPr>
          <p:cNvPr id="5" name="Group 105"/>
          <p:cNvGrpSpPr>
            <a:grpSpLocks/>
          </p:cNvGrpSpPr>
          <p:nvPr/>
        </p:nvGrpSpPr>
        <p:grpSpPr bwMode="auto">
          <a:xfrm>
            <a:off x="4572000" y="3200400"/>
            <a:ext cx="2438400" cy="2667000"/>
            <a:chOff x="3312" y="2064"/>
            <a:chExt cx="1296" cy="1248"/>
          </a:xfrm>
        </p:grpSpPr>
        <p:sp>
          <p:nvSpPr>
            <p:cNvPr id="229431" name="Rectangle 55"/>
            <p:cNvSpPr>
              <a:spLocks noChangeArrowheads="1"/>
            </p:cNvSpPr>
            <p:nvPr/>
          </p:nvSpPr>
          <p:spPr bwMode="auto">
            <a:xfrm>
              <a:off x="4284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2" name="Rectangle 56"/>
            <p:cNvSpPr>
              <a:spLocks noChangeArrowheads="1"/>
            </p:cNvSpPr>
            <p:nvPr/>
          </p:nvSpPr>
          <p:spPr bwMode="auto">
            <a:xfrm>
              <a:off x="4008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3" name="Rectangle 57"/>
            <p:cNvSpPr>
              <a:spLocks noChangeArrowheads="1"/>
            </p:cNvSpPr>
            <p:nvPr/>
          </p:nvSpPr>
          <p:spPr bwMode="auto">
            <a:xfrm>
              <a:off x="3732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4" name="Rectangle 58"/>
            <p:cNvSpPr>
              <a:spLocks noChangeArrowheads="1"/>
            </p:cNvSpPr>
            <p:nvPr/>
          </p:nvSpPr>
          <p:spPr bwMode="auto">
            <a:xfrm>
              <a:off x="3456" y="2957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5" name="Rectangle 59"/>
            <p:cNvSpPr>
              <a:spLocks noChangeArrowheads="1"/>
            </p:cNvSpPr>
            <p:nvPr/>
          </p:nvSpPr>
          <p:spPr bwMode="auto">
            <a:xfrm>
              <a:off x="4284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6" name="Rectangle 60"/>
            <p:cNvSpPr>
              <a:spLocks noChangeArrowheads="1"/>
            </p:cNvSpPr>
            <p:nvPr/>
          </p:nvSpPr>
          <p:spPr bwMode="auto">
            <a:xfrm>
              <a:off x="4008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7" name="Rectangle 61"/>
            <p:cNvSpPr>
              <a:spLocks noChangeArrowheads="1"/>
            </p:cNvSpPr>
            <p:nvPr/>
          </p:nvSpPr>
          <p:spPr bwMode="auto">
            <a:xfrm>
              <a:off x="3732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8" name="Rectangle 62"/>
            <p:cNvSpPr>
              <a:spLocks noChangeArrowheads="1"/>
            </p:cNvSpPr>
            <p:nvPr/>
          </p:nvSpPr>
          <p:spPr bwMode="auto">
            <a:xfrm>
              <a:off x="3456" y="2746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39" name="Rectangle 63"/>
            <p:cNvSpPr>
              <a:spLocks noChangeArrowheads="1"/>
            </p:cNvSpPr>
            <p:nvPr/>
          </p:nvSpPr>
          <p:spPr bwMode="auto">
            <a:xfrm>
              <a:off x="4284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0" name="Rectangle 64"/>
            <p:cNvSpPr>
              <a:spLocks noChangeArrowheads="1"/>
            </p:cNvSpPr>
            <p:nvPr/>
          </p:nvSpPr>
          <p:spPr bwMode="auto">
            <a:xfrm>
              <a:off x="4008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1" name="Rectangle 65"/>
            <p:cNvSpPr>
              <a:spLocks noChangeArrowheads="1"/>
            </p:cNvSpPr>
            <p:nvPr/>
          </p:nvSpPr>
          <p:spPr bwMode="auto">
            <a:xfrm>
              <a:off x="3732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2" name="Rectangle 66"/>
            <p:cNvSpPr>
              <a:spLocks noChangeArrowheads="1"/>
            </p:cNvSpPr>
            <p:nvPr/>
          </p:nvSpPr>
          <p:spPr bwMode="auto">
            <a:xfrm>
              <a:off x="3456" y="2535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3" name="Rectangle 67"/>
            <p:cNvSpPr>
              <a:spLocks noChangeArrowheads="1"/>
            </p:cNvSpPr>
            <p:nvPr/>
          </p:nvSpPr>
          <p:spPr bwMode="auto">
            <a:xfrm>
              <a:off x="4284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4" name="Rectangle 68"/>
            <p:cNvSpPr>
              <a:spLocks noChangeArrowheads="1"/>
            </p:cNvSpPr>
            <p:nvPr/>
          </p:nvSpPr>
          <p:spPr bwMode="auto">
            <a:xfrm>
              <a:off x="4008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5" name="Rectangle 69"/>
            <p:cNvSpPr>
              <a:spLocks noChangeArrowheads="1"/>
            </p:cNvSpPr>
            <p:nvPr/>
          </p:nvSpPr>
          <p:spPr bwMode="auto">
            <a:xfrm>
              <a:off x="3732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9446" name="Rectangle 70"/>
            <p:cNvSpPr>
              <a:spLocks noChangeArrowheads="1"/>
            </p:cNvSpPr>
            <p:nvPr/>
          </p:nvSpPr>
          <p:spPr bwMode="auto">
            <a:xfrm>
              <a:off x="3456" y="2324"/>
              <a:ext cx="276" cy="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  <a:defRPr/>
              </a:pPr>
              <a:r>
                <a:rPr lang="zh-CN" altLang="en-US" sz="16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zh-CN" altLang="en-US" sz="1600" baseline="-2500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1718" name="Line 71"/>
            <p:cNvSpPr>
              <a:spLocks noChangeShapeType="1"/>
            </p:cNvSpPr>
            <p:nvPr/>
          </p:nvSpPr>
          <p:spPr bwMode="auto">
            <a:xfrm>
              <a:off x="3456" y="2324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19" name="Line 72"/>
            <p:cNvSpPr>
              <a:spLocks noChangeShapeType="1"/>
            </p:cNvSpPr>
            <p:nvPr/>
          </p:nvSpPr>
          <p:spPr bwMode="auto">
            <a:xfrm>
              <a:off x="3456" y="2324"/>
              <a:ext cx="0" cy="8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0" name="Line 73"/>
            <p:cNvSpPr>
              <a:spLocks noChangeShapeType="1"/>
            </p:cNvSpPr>
            <p:nvPr/>
          </p:nvSpPr>
          <p:spPr bwMode="auto">
            <a:xfrm>
              <a:off x="3732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1" name="Line 74"/>
            <p:cNvSpPr>
              <a:spLocks noChangeShapeType="1"/>
            </p:cNvSpPr>
            <p:nvPr/>
          </p:nvSpPr>
          <p:spPr bwMode="auto">
            <a:xfrm>
              <a:off x="4008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2" name="Line 75"/>
            <p:cNvSpPr>
              <a:spLocks noChangeShapeType="1"/>
            </p:cNvSpPr>
            <p:nvPr/>
          </p:nvSpPr>
          <p:spPr bwMode="auto">
            <a:xfrm>
              <a:off x="4284" y="2324"/>
              <a:ext cx="0" cy="8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3" name="Line 76"/>
            <p:cNvSpPr>
              <a:spLocks noChangeShapeType="1"/>
            </p:cNvSpPr>
            <p:nvPr/>
          </p:nvSpPr>
          <p:spPr bwMode="auto">
            <a:xfrm>
              <a:off x="4560" y="2324"/>
              <a:ext cx="0" cy="8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4" name="Line 77"/>
            <p:cNvSpPr>
              <a:spLocks noChangeShapeType="1"/>
            </p:cNvSpPr>
            <p:nvPr/>
          </p:nvSpPr>
          <p:spPr bwMode="auto">
            <a:xfrm>
              <a:off x="3456" y="2535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5" name="Line 78"/>
            <p:cNvSpPr>
              <a:spLocks noChangeShapeType="1"/>
            </p:cNvSpPr>
            <p:nvPr/>
          </p:nvSpPr>
          <p:spPr bwMode="auto">
            <a:xfrm>
              <a:off x="3456" y="2746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6" name="Line 79"/>
            <p:cNvSpPr>
              <a:spLocks noChangeShapeType="1"/>
            </p:cNvSpPr>
            <p:nvPr/>
          </p:nvSpPr>
          <p:spPr bwMode="auto">
            <a:xfrm>
              <a:off x="3456" y="2957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7" name="Line 80"/>
            <p:cNvSpPr>
              <a:spLocks noChangeShapeType="1"/>
            </p:cNvSpPr>
            <p:nvPr/>
          </p:nvSpPr>
          <p:spPr bwMode="auto">
            <a:xfrm>
              <a:off x="3456" y="3168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728" name="Rectangle 81"/>
            <p:cNvSpPr>
              <a:spLocks noChangeArrowheads="1"/>
            </p:cNvSpPr>
            <p:nvPr/>
          </p:nvSpPr>
          <p:spPr bwMode="auto">
            <a:xfrm>
              <a:off x="3408" y="2256"/>
              <a:ext cx="576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71729" name="Line 82"/>
            <p:cNvSpPr>
              <a:spLocks noChangeShapeType="1"/>
            </p:cNvSpPr>
            <p:nvPr/>
          </p:nvSpPr>
          <p:spPr bwMode="auto">
            <a:xfrm>
              <a:off x="3312" y="292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0" name="Line 83"/>
            <p:cNvSpPr>
              <a:spLocks noChangeShapeType="1"/>
            </p:cNvSpPr>
            <p:nvPr/>
          </p:nvSpPr>
          <p:spPr bwMode="auto">
            <a:xfrm>
              <a:off x="3648" y="2928"/>
              <a:ext cx="0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1" name="Line 84"/>
            <p:cNvSpPr>
              <a:spLocks noChangeShapeType="1"/>
            </p:cNvSpPr>
            <p:nvPr/>
          </p:nvSpPr>
          <p:spPr bwMode="auto">
            <a:xfrm>
              <a:off x="3312" y="2496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2" name="Line 85"/>
            <p:cNvSpPr>
              <a:spLocks noChangeShapeType="1"/>
            </p:cNvSpPr>
            <p:nvPr/>
          </p:nvSpPr>
          <p:spPr bwMode="auto">
            <a:xfrm flipV="1">
              <a:off x="3648" y="2064"/>
              <a:ext cx="0" cy="43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3" name="Line 86"/>
            <p:cNvSpPr>
              <a:spLocks noChangeShapeType="1"/>
            </p:cNvSpPr>
            <p:nvPr/>
          </p:nvSpPr>
          <p:spPr bwMode="auto">
            <a:xfrm flipH="1">
              <a:off x="4320" y="2928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4" name="Line 87"/>
            <p:cNvSpPr>
              <a:spLocks noChangeShapeType="1"/>
            </p:cNvSpPr>
            <p:nvPr/>
          </p:nvSpPr>
          <p:spPr bwMode="auto">
            <a:xfrm>
              <a:off x="4320" y="2928"/>
              <a:ext cx="0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5" name="Line 88"/>
            <p:cNvSpPr>
              <a:spLocks noChangeShapeType="1"/>
            </p:cNvSpPr>
            <p:nvPr/>
          </p:nvSpPr>
          <p:spPr bwMode="auto">
            <a:xfrm flipH="1">
              <a:off x="4320" y="2496"/>
              <a:ext cx="28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6" name="Line 89"/>
            <p:cNvSpPr>
              <a:spLocks noChangeShapeType="1"/>
            </p:cNvSpPr>
            <p:nvPr/>
          </p:nvSpPr>
          <p:spPr bwMode="auto">
            <a:xfrm flipV="1">
              <a:off x="4320" y="2208"/>
              <a:ext cx="0" cy="28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7" name="Rectangle 90"/>
            <p:cNvSpPr>
              <a:spLocks noChangeArrowheads="1"/>
            </p:cNvSpPr>
            <p:nvPr/>
          </p:nvSpPr>
          <p:spPr bwMode="auto">
            <a:xfrm>
              <a:off x="3792" y="2544"/>
              <a:ext cx="384" cy="144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429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1172</Words>
  <Application>Microsoft Office PowerPoint</Application>
  <PresentationFormat>On-screen Show (4:3)</PresentationFormat>
  <Paragraphs>314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Comic Sans MS</vt:lpstr>
      <vt:lpstr>Times New Roman</vt:lpstr>
      <vt:lpstr>Wingdings</vt:lpstr>
      <vt:lpstr>Office Theme</vt:lpstr>
      <vt:lpstr> BCA Ist Semester  BCA IV Semester  COMPUTER SYSTEM AND ARCHITECTURE Course Code: BCAC0025</vt:lpstr>
      <vt:lpstr>Karnaugh Maps</vt:lpstr>
      <vt:lpstr>Two-Variable Map</vt:lpstr>
      <vt:lpstr>2-Variable Map -- Example </vt:lpstr>
      <vt:lpstr>Minimization as SOP using K-map</vt:lpstr>
      <vt:lpstr>Three-Variable Map</vt:lpstr>
      <vt:lpstr>Three-Variable Map (cont.)</vt:lpstr>
      <vt:lpstr>Simplification</vt:lpstr>
      <vt:lpstr>More Examples</vt:lpstr>
      <vt:lpstr>Four-Variable Maps</vt:lpstr>
      <vt:lpstr>Four-variable Map Simplification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aman aman</cp:lastModifiedBy>
  <cp:revision>14</cp:revision>
  <dcterms:created xsi:type="dcterms:W3CDTF">2020-10-21T09:50:54Z</dcterms:created>
  <dcterms:modified xsi:type="dcterms:W3CDTF">2025-01-16T00:38:02Z</dcterms:modified>
</cp:coreProperties>
</file>