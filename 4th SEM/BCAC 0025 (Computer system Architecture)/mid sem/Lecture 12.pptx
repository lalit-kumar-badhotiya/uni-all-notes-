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5" r:id="rId2"/>
    <p:sldId id="261" r:id="rId3"/>
    <p:sldId id="272" r:id="rId4"/>
    <p:sldId id="289" r:id="rId5"/>
    <p:sldId id="273" r:id="rId6"/>
    <p:sldId id="280" r:id="rId7"/>
    <p:sldId id="281" r:id="rId8"/>
    <p:sldId id="282" r:id="rId9"/>
    <p:sldId id="283" r:id="rId10"/>
    <p:sldId id="286" r:id="rId11"/>
    <p:sldId id="288" r:id="rId12"/>
    <p:sldId id="284" r:id="rId13"/>
    <p:sldId id="285" r:id="rId14"/>
    <p:sldId id="28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10BDC-F868-4237-AEE3-67E47637D5B3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9CF7A-ACB2-47EE-B217-CF03707106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166" y="4343559"/>
            <a:ext cx="5487669" cy="4115117"/>
          </a:xfrm>
          <a:noFill/>
          <a:ln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5786" y="350841"/>
            <a:ext cx="7904285" cy="4143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1" y="1295393"/>
            <a:ext cx="4044462" cy="51771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2338" y="1295391"/>
            <a:ext cx="4044462" cy="51860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</a:t>
            </a:r>
            <a:r>
              <a:rPr lang="en-US" sz="3200" b="1" smtClean="0"/>
              <a:t>: </a:t>
            </a:r>
            <a:r>
              <a:rPr lang="en-US" sz="3200" b="1" smtClean="0"/>
              <a:t>BCAC0003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Kumar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Logic gates &amp; truth table.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4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Binary Logic</a:t>
            </a:r>
            <a:endParaRPr lang="zh-TW" alt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23" name="內容版面配置區 2"/>
          <p:cNvSpPr>
            <a:spLocks noGrp="1"/>
          </p:cNvSpPr>
          <p:nvPr>
            <p:ph idx="1"/>
          </p:nvPr>
        </p:nvSpPr>
        <p:spPr>
          <a:xfrm>
            <a:off x="238859" y="889000"/>
            <a:ext cx="8447942" cy="5237163"/>
          </a:xfrm>
        </p:spPr>
        <p:txBody>
          <a:bodyPr/>
          <a:lstStyle/>
          <a:p>
            <a:pPr eaLnBrk="1" hangingPunct="1"/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Definition of Binary Logic</a:t>
            </a:r>
          </a:p>
          <a:p>
            <a:pPr eaLnBrk="1" hangingPunct="1"/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Binary logic consists of binary variables and a set of logical operations. </a:t>
            </a:r>
          </a:p>
          <a:p>
            <a:pPr lvl="1" eaLnBrk="1" hangingPunct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variables are designated by letters of the alphabet, such as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etc, with each variable having two and only two distinct possible values: 1 and 0, </a:t>
            </a:r>
          </a:p>
          <a:p>
            <a:pPr eaLnBrk="1" hangingPunct="1">
              <a:buNone/>
            </a:pPr>
            <a:endParaRPr lang="zh-TW" altLang="en-US" dirty="0" smtClean="0"/>
          </a:p>
        </p:txBody>
      </p:sp>
      <p:sp>
        <p:nvSpPr>
          <p:cNvPr id="8192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052671C-BF96-48CE-8BE8-2E7824CF194F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Logic 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 gates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are the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building blocks of any digital system.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an electronic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having one or more than one input and only one output.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relationship between the input and the output is based on a certain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Three basic logical operations: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OR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NOT.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>
          <a:xfrm>
            <a:off x="298938" y="228600"/>
            <a:ext cx="8575431" cy="114300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altLang="en-US" sz="3600" b="1" dirty="0" smtClean="0">
                <a:latin typeface="Times New Roman" pitchFamily="18" charset="0"/>
                <a:cs typeface="Times New Roman" pitchFamily="18" charset="0"/>
              </a:rPr>
              <a:t>AND Gate</a:t>
            </a:r>
            <a:br>
              <a:rPr lang="en-US" alt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3352800"/>
            <a:ext cx="8461131" cy="41592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Truth Tables, Boolean Expressions are</a:t>
            </a:r>
          </a:p>
        </p:txBody>
      </p:sp>
      <p:graphicFrame>
        <p:nvGraphicFramePr>
          <p:cNvPr id="120905" name="Object 73"/>
          <p:cNvGraphicFramePr>
            <a:graphicFrameLocks noChangeAspect="1"/>
          </p:cNvGraphicFramePr>
          <p:nvPr>
            <p:ph sz="half" idx="2"/>
          </p:nvPr>
        </p:nvGraphicFramePr>
        <p:xfrm>
          <a:off x="914400" y="5257800"/>
          <a:ext cx="1981200" cy="1017359"/>
        </p:xfrm>
        <a:graphic>
          <a:graphicData uri="http://schemas.openxmlformats.org/presentationml/2006/ole">
            <p:oleObj spid="_x0000_s22530" name="Visio" r:id="rId4" imgW="668122" imgH="342351" progId="">
              <p:embed/>
            </p:oleObj>
          </a:graphicData>
        </a:graphic>
      </p:graphicFrame>
      <p:graphicFrame>
        <p:nvGraphicFramePr>
          <p:cNvPr id="120836" name="Group 4"/>
          <p:cNvGraphicFramePr>
            <a:graphicFrameLocks noGrp="1"/>
          </p:cNvGraphicFramePr>
          <p:nvPr/>
        </p:nvGraphicFramePr>
        <p:xfrm>
          <a:off x="4800600" y="4267200"/>
          <a:ext cx="3962399" cy="1752599"/>
        </p:xfrm>
        <a:graphic>
          <a:graphicData uri="http://schemas.openxmlformats.org/drawingml/2006/table">
            <a:tbl>
              <a:tblPr/>
              <a:tblGrid>
                <a:gridCol w="1321770">
                  <a:extLst>
                    <a:ext uri="{9D8B030D-6E8A-4147-A177-3AD203B41FA5}"/>
                  </a:extLst>
                </a:gridCol>
                <a:gridCol w="1318859">
                  <a:extLst>
                    <a:ext uri="{9D8B030D-6E8A-4147-A177-3AD203B41FA5}"/>
                  </a:extLst>
                </a:gridCol>
                <a:gridCol w="1321770">
                  <a:extLst>
                    <a:ext uri="{9D8B030D-6E8A-4147-A177-3AD203B41FA5}"/>
                  </a:extLst>
                </a:gridCol>
              </a:tblGrid>
              <a:tr h="350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/>
                </a:extLst>
              </a:tr>
              <a:tr h="350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12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0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12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20907" name="Text Box 75"/>
          <p:cNvSpPr txBox="1">
            <a:spLocks noChangeArrowheads="1"/>
          </p:cNvSpPr>
          <p:nvPr/>
        </p:nvSpPr>
        <p:spPr bwMode="auto">
          <a:xfrm>
            <a:off x="3048000" y="6172200"/>
            <a:ext cx="2159977" cy="3877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u="none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2800" b="1" i="0" u="none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b="1" u="none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2800" b="1" i="0" u="none" dirty="0">
                <a:latin typeface="Times New Roman" pitchFamily="18" charset="0"/>
                <a:cs typeface="Times New Roman" pitchFamily="18" charset="0"/>
              </a:rPr>
              <a:t> • </a:t>
            </a:r>
            <a:r>
              <a:rPr lang="en-US" altLang="en-US" sz="2800" b="1" u="none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2800" b="1" i="0" u="none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800" b="1" u="none" dirty="0">
                <a:latin typeface="Times New Roman" pitchFamily="18" charset="0"/>
                <a:cs typeface="Times New Roman" pitchFamily="18" charset="0"/>
              </a:rPr>
              <a:t>x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7800"/>
            <a:ext cx="8001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AND gate is an electronic circuit that gives a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output (1) only if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its inputs are high.  A dot (.) is used to show the AND operation i.e. A.B.  Bear in mind that this dot is sometimes omitted i.e. AB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build="p"/>
      <p:bldP spid="1209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OR Gate</a:t>
            </a:r>
            <a:b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OR gate is an electronic circuit that gives a high output (1) if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one or more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of its inputs are high.  A plus (+) is used to show the OR operation.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Group 30"/>
          <p:cNvGraphicFramePr>
            <a:graphicFrameLocks noGrp="1"/>
          </p:cNvGraphicFramePr>
          <p:nvPr/>
        </p:nvGraphicFramePr>
        <p:xfrm>
          <a:off x="4876800" y="4038600"/>
          <a:ext cx="3352801" cy="1951186"/>
        </p:xfrm>
        <a:graphic>
          <a:graphicData uri="http://schemas.openxmlformats.org/drawingml/2006/table">
            <a:tbl>
              <a:tblPr/>
              <a:tblGrid>
                <a:gridCol w="1118422">
                  <a:extLst>
                    <a:ext uri="{9D8B030D-6E8A-4147-A177-3AD203B41FA5}"/>
                  </a:extLst>
                </a:gridCol>
                <a:gridCol w="1115957">
                  <a:extLst>
                    <a:ext uri="{9D8B030D-6E8A-4147-A177-3AD203B41FA5}"/>
                  </a:extLst>
                </a:gridCol>
                <a:gridCol w="1118422">
                  <a:extLst>
                    <a:ext uri="{9D8B030D-6E8A-4147-A177-3AD203B41FA5}"/>
                  </a:extLst>
                </a:gridCol>
              </a:tblGrid>
              <a:tr h="350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/>
                </a:extLst>
              </a:tr>
              <a:tr h="350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12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00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3512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120906" name="Object 74"/>
          <p:cNvGraphicFramePr>
            <a:graphicFrameLocks noChangeAspect="1"/>
          </p:cNvGraphicFramePr>
          <p:nvPr/>
        </p:nvGraphicFramePr>
        <p:xfrm>
          <a:off x="685800" y="3581400"/>
          <a:ext cx="1783573" cy="914400"/>
        </p:xfrm>
        <a:graphic>
          <a:graphicData uri="http://schemas.openxmlformats.org/presentationml/2006/ole">
            <p:oleObj spid="_x0000_s23554" name="Visio" r:id="rId3" imgW="668122" imgH="342351" progId="">
              <p:embed/>
            </p:oleObj>
          </a:graphicData>
        </a:graphic>
      </p:graphicFrame>
      <p:sp>
        <p:nvSpPr>
          <p:cNvPr id="10" name="Text Box 76"/>
          <p:cNvSpPr txBox="1">
            <a:spLocks noChangeArrowheads="1"/>
          </p:cNvSpPr>
          <p:nvPr/>
        </p:nvSpPr>
        <p:spPr bwMode="auto">
          <a:xfrm>
            <a:off x="1143000" y="5105400"/>
            <a:ext cx="2161443" cy="553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4000" b="1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4000" b="1" i="0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4000" b="1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4000" b="1" i="0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sz="4000" b="1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NOT gate is an electronic circuit that produces an inverted version of the input at its output.  It is also known as an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inverter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 If the input variable is x, the inverted output is known as NOT x.  This is also shown as x', or x with a bar over the top.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Group 56"/>
          <p:cNvGraphicFramePr>
            <a:graphicFrameLocks noGrp="1"/>
          </p:cNvGraphicFramePr>
          <p:nvPr/>
        </p:nvGraphicFramePr>
        <p:xfrm>
          <a:off x="6172200" y="3733800"/>
          <a:ext cx="2209800" cy="1520309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/>
                  </a:extLst>
                </a:gridCol>
                <a:gridCol w="1104900">
                  <a:extLst>
                    <a:ext uri="{9D8B030D-6E8A-4147-A177-3AD203B41FA5}"/>
                  </a:extLst>
                </a:gridCol>
              </a:tblGrid>
              <a:tr h="5799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/>
                </a:extLst>
              </a:tr>
              <a:tr h="454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61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120912" name="Object 80"/>
          <p:cNvGraphicFramePr>
            <a:graphicFrameLocks noChangeAspect="1"/>
          </p:cNvGraphicFramePr>
          <p:nvPr/>
        </p:nvGraphicFramePr>
        <p:xfrm>
          <a:off x="1295400" y="5029200"/>
          <a:ext cx="2209800" cy="867161"/>
        </p:xfrm>
        <a:graphic>
          <a:graphicData uri="http://schemas.openxmlformats.org/presentationml/2006/ole">
            <p:oleObj spid="_x0000_s24578" name="Visio" r:id="rId3" imgW="668122" imgH="262128" progId="">
              <p:embed/>
            </p:oleObj>
          </a:graphicData>
        </a:graphic>
      </p:graphicFrame>
      <p:sp>
        <p:nvSpPr>
          <p:cNvPr id="10" name="Text Box 78"/>
          <p:cNvSpPr txBox="1">
            <a:spLocks noChangeArrowheads="1"/>
          </p:cNvSpPr>
          <p:nvPr/>
        </p:nvSpPr>
        <p:spPr bwMode="auto">
          <a:xfrm>
            <a:off x="4800600" y="5562600"/>
            <a:ext cx="2161443" cy="3877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2800" b="1" i="0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b="1" i="0" u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b="1" i="0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sz="2800" b="1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x’</a:t>
            </a:r>
          </a:p>
        </p:txBody>
      </p:sp>
      <p:sp>
        <p:nvSpPr>
          <p:cNvPr id="12" name="Text Box 7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33400" y="457200"/>
            <a:ext cx="8229600" cy="553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4000" b="1" i="0" u="none" dirty="0" smtClean="0">
                <a:latin typeface="Times New Roman" pitchFamily="18" charset="0"/>
                <a:cs typeface="Times New Roman" pitchFamily="18" charset="0"/>
              </a:rPr>
              <a:t>NOT Gate</a:t>
            </a:r>
            <a:endParaRPr lang="en-US" altLang="en-US" sz="4000" b="1" i="0" u="none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NAND Gate</a:t>
            </a:r>
            <a:endParaRPr lang="en-US" dirty="0"/>
          </a:p>
        </p:txBody>
      </p:sp>
      <p:pic>
        <p:nvPicPr>
          <p:cNvPr id="7" name="Content Placeholder 6" descr="Nand gate 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429000"/>
            <a:ext cx="3657600" cy="2057400"/>
          </a:xfrm>
        </p:spPr>
      </p:pic>
      <p:pic>
        <p:nvPicPr>
          <p:cNvPr id="8" name="Picture 7" descr="nand gat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81600"/>
            <a:ext cx="3000375" cy="1504950"/>
          </a:xfrm>
          <a:prstGeom prst="rect">
            <a:avLst/>
          </a:prstGeom>
        </p:spPr>
      </p:pic>
      <p:pic>
        <p:nvPicPr>
          <p:cNvPr id="9" name="Picture 8" descr="Nand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886200"/>
            <a:ext cx="3474444" cy="220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91200" y="6172200"/>
            <a:ext cx="2600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Truth Table of NAND Gate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295400"/>
            <a:ext cx="7924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NAND 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(NOT-AND) is a logic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which produces an output which is false only if all its inputs are true; thus its output is complement to that of an AND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A LOW (0) output results only if all the inputs to the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are HIGH (1); if any input is LOW (0), a HIGH (1) output results.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 Gate</a:t>
            </a:r>
            <a:endParaRPr lang="en-US" dirty="0"/>
          </a:p>
        </p:txBody>
      </p:sp>
      <p:pic>
        <p:nvPicPr>
          <p:cNvPr id="7" name="Content Placeholder 6" descr="NOR 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3962400"/>
            <a:ext cx="4248150" cy="1076325"/>
          </a:xfrm>
        </p:spPr>
      </p:pic>
      <p:pic>
        <p:nvPicPr>
          <p:cNvPr id="8" name="Picture 7" descr="NOR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257800"/>
            <a:ext cx="3562350" cy="1285875"/>
          </a:xfrm>
          <a:prstGeom prst="rect">
            <a:avLst/>
          </a:prstGeom>
        </p:spPr>
      </p:pic>
      <p:pic>
        <p:nvPicPr>
          <p:cNvPr id="9" name="Picture 8" descr="NOR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372292"/>
            <a:ext cx="2971800" cy="2418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6019800"/>
            <a:ext cx="250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Truth Table of NOR  Gate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1219200"/>
            <a:ext cx="8305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NOR 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is a digital logic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that implements logical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-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HIGH output (1) results if both the inputs to the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are LOW (0); if one or both input is HIGH (1), a LOW output (0) results. 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is the result of the negation of the OR operator.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239000" cy="685799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itchFamily="18" charset="0"/>
                <a:cs typeface="Times New Roman" pitchFamily="18" charset="0"/>
              </a:rPr>
              <a:t>Universal Gate</a:t>
            </a:r>
          </a:p>
        </p:txBody>
      </p:sp>
      <p:sp>
        <p:nvSpPr>
          <p:cNvPr id="83971" name="Text Placeholder 2"/>
          <p:cNvSpPr>
            <a:spLocks noGrp="1"/>
          </p:cNvSpPr>
          <p:nvPr>
            <p:ph type="body" sz="half" idx="1"/>
          </p:nvPr>
        </p:nvSpPr>
        <p:spPr>
          <a:xfrm>
            <a:off x="167054" y="857251"/>
            <a:ext cx="8823081" cy="5629275"/>
          </a:xfrm>
        </p:spPr>
        <p:txBody>
          <a:bodyPr/>
          <a:lstStyle/>
          <a:p>
            <a:r>
              <a:rPr lang="en-US" altLang="en-US" sz="2400" b="1" dirty="0" smtClean="0">
                <a:latin typeface="Times New Roman" pitchFamily="18" charset="0"/>
                <a:cs typeface="Times New Roman" pitchFamily="18" charset="0"/>
              </a:rPr>
              <a:t>NAND and NOR 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Gates are called </a:t>
            </a:r>
            <a:r>
              <a:rPr lang="en-US" altLang="en-US" sz="2400" b="1" dirty="0" smtClean="0">
                <a:latin typeface="Times New Roman" pitchFamily="18" charset="0"/>
                <a:cs typeface="Times New Roman" pitchFamily="18" charset="0"/>
              </a:rPr>
              <a:t>Universal Gates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 because AND, OR and NOT gates can be implemented &amp;created by using these gates.</a:t>
            </a:r>
          </a:p>
          <a:p>
            <a:pPr>
              <a:buFont typeface="Arial" charset="0"/>
              <a:buNone/>
            </a:pP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NAND Gate Implementations              NOR Gate Implementations</a:t>
            </a:r>
          </a:p>
        </p:txBody>
      </p:sp>
      <p:pic>
        <p:nvPicPr>
          <p:cNvPr id="83972" name="Picture 2" descr="http://hyperphysics.phy-astr.gsu.edu/hbase/electronic/ietron/nand5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323" y="2984500"/>
            <a:ext cx="4237892" cy="275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3973" name="Picture 2" descr="http://hyperphysics.phy-astr.gsu.edu/hbase/electronic/ietron/nor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35012" y="2970213"/>
            <a:ext cx="4191000" cy="255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Purpose Gate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2000" y="2362200"/>
            <a:ext cx="7924800" cy="37639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EX-OR Gate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EX-NOR Gate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EX-OR Gate</a:t>
            </a:r>
            <a:endParaRPr lang="en-US" dirty="0"/>
          </a:p>
        </p:txBody>
      </p:sp>
      <p:pic>
        <p:nvPicPr>
          <p:cNvPr id="7" name="Content Placeholder 6" descr="XOR 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4114800"/>
            <a:ext cx="4572000" cy="1905000"/>
          </a:xfrm>
        </p:spPr>
      </p:pic>
      <p:pic>
        <p:nvPicPr>
          <p:cNvPr id="8" name="Picture 7" descr="XOR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429000"/>
            <a:ext cx="3843338" cy="2171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91000" y="5867400"/>
            <a:ext cx="4419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Truth Table of EX- OR  Gate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1143000"/>
            <a:ext cx="853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 </a:t>
            </a:r>
            <a:r>
              <a:rPr lang="en-US" sz="2400" b="1" dirty="0" smtClean="0"/>
              <a:t>Exclusive OR gate</a:t>
            </a:r>
            <a:r>
              <a:rPr lang="en-US" sz="2400" dirty="0" smtClean="0"/>
              <a:t> – </a:t>
            </a:r>
          </a:p>
          <a:p>
            <a:r>
              <a:rPr lang="en-US" sz="2400" dirty="0" smtClean="0"/>
              <a:t>is a digital logic </a:t>
            </a:r>
            <a:r>
              <a:rPr lang="en-US" sz="2400" b="1" dirty="0" smtClean="0"/>
              <a:t>gate</a:t>
            </a:r>
            <a:r>
              <a:rPr lang="en-US" sz="2400" dirty="0" smtClean="0"/>
              <a:t> that gives a true (i.e. a HIGH or 1) output when the number of true inputs is odd. ...</a:t>
            </a:r>
          </a:p>
          <a:p>
            <a:r>
              <a:rPr lang="en-US" sz="2400" dirty="0" smtClean="0"/>
              <a:t> An XOR </a:t>
            </a:r>
            <a:r>
              <a:rPr lang="en-US" sz="2400" b="1" dirty="0" smtClean="0"/>
              <a:t>gate</a:t>
            </a:r>
            <a:r>
              <a:rPr lang="en-US" sz="2400" dirty="0" smtClean="0"/>
              <a:t> is normally two inputs logic </a:t>
            </a:r>
            <a:r>
              <a:rPr lang="en-US" sz="2400" b="1" dirty="0" smtClean="0"/>
              <a:t>gate</a:t>
            </a:r>
            <a:r>
              <a:rPr lang="en-US" sz="2400" dirty="0" smtClean="0"/>
              <a:t> where the output is only logical 1 when only one input is logical 1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09600" y="5867400"/>
            <a:ext cx="3367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(A’.B) + (A.B’) or A ⊕ 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EX-NOR Gate</a:t>
            </a:r>
            <a:endParaRPr lang="en-US" dirty="0"/>
          </a:p>
        </p:txBody>
      </p:sp>
      <p:pic>
        <p:nvPicPr>
          <p:cNvPr id="7" name="Content Placeholder 6" descr="X NOR 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4114800"/>
            <a:ext cx="4437522" cy="1596231"/>
          </a:xfrm>
        </p:spPr>
      </p:pic>
      <p:pic>
        <p:nvPicPr>
          <p:cNvPr id="8" name="Picture 7" descr="X Nor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276600"/>
            <a:ext cx="3048000" cy="27735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0" y="6019800"/>
            <a:ext cx="4259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Truth Table of EX-NOR  Gate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XNOR 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(sometimes referred to by its extended name,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Exclusive NOR 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is a digital logic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with two or more inputs and one output that performs logical equality.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output of an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XNOR gate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is true when all of its inputs are true or when all of its inputs are false.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6019800"/>
            <a:ext cx="3660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(A.B) + (A.B)’ or ( A ⊕ B)’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H:\MAJU Courses\BS_Comp_Logic_II\Image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977" y="439739"/>
            <a:ext cx="5288574" cy="580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47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 l="22501" t="25999" r="48750" b="41000"/>
          <a:stretch>
            <a:fillRect/>
          </a:stretch>
        </p:blipFill>
        <p:spPr>
          <a:xfrm>
            <a:off x="5627077" y="855664"/>
            <a:ext cx="3505200" cy="4962525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261</Words>
  <Application>Microsoft Office PowerPoint</Application>
  <PresentationFormat>On-screen Show (4:3)</PresentationFormat>
  <Paragraphs>98</Paragraphs>
  <Slides>14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Visio</vt:lpstr>
      <vt:lpstr> BCA Ist Semester  Introduction of Logic Circuit and Digital Design(ILCDD) Course Code: BCAC0003</vt:lpstr>
      <vt:lpstr>Slide 2</vt:lpstr>
      <vt:lpstr>Binary Logic</vt:lpstr>
      <vt:lpstr>Logic gates</vt:lpstr>
      <vt:lpstr>AND Gate </vt:lpstr>
      <vt:lpstr> OR Gate </vt:lpstr>
      <vt:lpstr>NOT Gate</vt:lpstr>
      <vt:lpstr>NAND Gate</vt:lpstr>
      <vt:lpstr>NOR Gate</vt:lpstr>
      <vt:lpstr>Universal Gate</vt:lpstr>
      <vt:lpstr>Special Purpose Gate</vt:lpstr>
      <vt:lpstr>EX-OR Gate</vt:lpstr>
      <vt:lpstr>EX-NOR Gate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11</cp:revision>
  <dcterms:created xsi:type="dcterms:W3CDTF">2020-10-21T09:50:54Z</dcterms:created>
  <dcterms:modified xsi:type="dcterms:W3CDTF">2021-11-12T17:03:01Z</dcterms:modified>
</cp:coreProperties>
</file>