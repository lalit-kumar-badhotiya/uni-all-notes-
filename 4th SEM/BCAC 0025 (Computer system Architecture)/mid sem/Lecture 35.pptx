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0" r:id="rId2"/>
    <p:sldId id="263" r:id="rId3"/>
    <p:sldId id="264" r:id="rId4"/>
    <p:sldId id="265" r:id="rId5"/>
    <p:sldId id="266" r:id="rId6"/>
    <p:sldId id="267" r:id="rId7"/>
    <p:sldId id="268" r:id="rId8"/>
    <p:sldId id="269" r:id="rId9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10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93139" y="703579"/>
            <a:ext cx="7157720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2/17/2021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2/17/2021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2/17/2021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3500" y="69850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328930" y="0"/>
                </a:moveTo>
                <a:lnTo>
                  <a:pt x="284056" y="3968"/>
                </a:lnTo>
                <a:lnTo>
                  <a:pt x="239978" y="15373"/>
                </a:lnTo>
                <a:lnTo>
                  <a:pt x="197429" y="33465"/>
                </a:lnTo>
                <a:lnTo>
                  <a:pt x="157141" y="57494"/>
                </a:lnTo>
                <a:lnTo>
                  <a:pt x="119847" y="86710"/>
                </a:lnTo>
                <a:lnTo>
                  <a:pt x="86280" y="120362"/>
                </a:lnTo>
                <a:lnTo>
                  <a:pt x="57173" y="157702"/>
                </a:lnTo>
                <a:lnTo>
                  <a:pt x="33259" y="197978"/>
                </a:lnTo>
                <a:lnTo>
                  <a:pt x="15270" y="240442"/>
                </a:lnTo>
                <a:lnTo>
                  <a:pt x="3939" y="284342"/>
                </a:lnTo>
                <a:lnTo>
                  <a:pt x="0" y="328929"/>
                </a:lnTo>
                <a:lnTo>
                  <a:pt x="0" y="6362700"/>
                </a:lnTo>
                <a:lnTo>
                  <a:pt x="3939" y="6407603"/>
                </a:lnTo>
                <a:lnTo>
                  <a:pt x="15270" y="6451762"/>
                </a:lnTo>
                <a:lnTo>
                  <a:pt x="33259" y="6494432"/>
                </a:lnTo>
                <a:lnTo>
                  <a:pt x="57173" y="6534870"/>
                </a:lnTo>
                <a:lnTo>
                  <a:pt x="86280" y="6572331"/>
                </a:lnTo>
                <a:lnTo>
                  <a:pt x="119847" y="6606070"/>
                </a:lnTo>
                <a:lnTo>
                  <a:pt x="157141" y="6635344"/>
                </a:lnTo>
                <a:lnTo>
                  <a:pt x="197429" y="6659408"/>
                </a:lnTo>
                <a:lnTo>
                  <a:pt x="239978" y="6677518"/>
                </a:lnTo>
                <a:lnTo>
                  <a:pt x="284056" y="6688930"/>
                </a:lnTo>
                <a:lnTo>
                  <a:pt x="328930" y="6692900"/>
                </a:lnTo>
                <a:lnTo>
                  <a:pt x="8684260" y="6692900"/>
                </a:lnTo>
                <a:lnTo>
                  <a:pt x="8728847" y="6688930"/>
                </a:lnTo>
                <a:lnTo>
                  <a:pt x="8772747" y="6677518"/>
                </a:lnTo>
                <a:lnTo>
                  <a:pt x="8815211" y="6659408"/>
                </a:lnTo>
                <a:lnTo>
                  <a:pt x="8855487" y="6635344"/>
                </a:lnTo>
                <a:lnTo>
                  <a:pt x="8892827" y="6606070"/>
                </a:lnTo>
                <a:lnTo>
                  <a:pt x="8926479" y="6572331"/>
                </a:lnTo>
                <a:lnTo>
                  <a:pt x="8955695" y="6534870"/>
                </a:lnTo>
                <a:lnTo>
                  <a:pt x="8979724" y="6494432"/>
                </a:lnTo>
                <a:lnTo>
                  <a:pt x="8997816" y="6451762"/>
                </a:lnTo>
                <a:lnTo>
                  <a:pt x="9009221" y="6407603"/>
                </a:lnTo>
                <a:lnTo>
                  <a:pt x="9013190" y="6362700"/>
                </a:lnTo>
                <a:lnTo>
                  <a:pt x="9013190" y="328929"/>
                </a:lnTo>
                <a:lnTo>
                  <a:pt x="9009221" y="284342"/>
                </a:lnTo>
                <a:lnTo>
                  <a:pt x="8997816" y="240442"/>
                </a:lnTo>
                <a:lnTo>
                  <a:pt x="8979724" y="197978"/>
                </a:lnTo>
                <a:lnTo>
                  <a:pt x="8955695" y="157702"/>
                </a:lnTo>
                <a:lnTo>
                  <a:pt x="8926479" y="120362"/>
                </a:lnTo>
                <a:lnTo>
                  <a:pt x="8892827" y="86710"/>
                </a:lnTo>
                <a:lnTo>
                  <a:pt x="8855487" y="57494"/>
                </a:lnTo>
                <a:lnTo>
                  <a:pt x="8815211" y="33465"/>
                </a:lnTo>
                <a:lnTo>
                  <a:pt x="8772747" y="15373"/>
                </a:lnTo>
                <a:lnTo>
                  <a:pt x="8728847" y="3968"/>
                </a:lnTo>
                <a:lnTo>
                  <a:pt x="8684260" y="0"/>
                </a:lnTo>
                <a:lnTo>
                  <a:pt x="328930" y="0"/>
                </a:lnTo>
                <a:close/>
              </a:path>
              <a:path w="9014460" h="6692900">
                <a:moveTo>
                  <a:pt x="0" y="0"/>
                </a:moveTo>
                <a:lnTo>
                  <a:pt x="0" y="0"/>
                </a:lnTo>
              </a:path>
              <a:path w="9014460" h="6692900">
                <a:moveTo>
                  <a:pt x="9014460" y="6692900"/>
                </a:moveTo>
                <a:lnTo>
                  <a:pt x="9014460" y="669290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62660" y="764540"/>
            <a:ext cx="7218679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68636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610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2/17/2021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8000" y="381000"/>
            <a:ext cx="8178800" cy="6134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434530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50" dirty="0"/>
              <a:t>Shift </a:t>
            </a:r>
            <a:r>
              <a:rPr sz="4000" spc="-135" dirty="0"/>
              <a:t>Register</a:t>
            </a:r>
            <a:r>
              <a:rPr sz="4000" spc="-240" dirty="0"/>
              <a:t> </a:t>
            </a:r>
            <a:r>
              <a:rPr sz="4000" spc="-310" dirty="0"/>
              <a:t>(SISO)</a:t>
            </a:r>
            <a:endParaRPr sz="4000"/>
          </a:p>
        </p:txBody>
      </p:sp>
      <p:sp>
        <p:nvSpPr>
          <p:cNvPr id="3" name="object 3"/>
          <p:cNvSpPr txBox="1"/>
          <p:nvPr/>
        </p:nvSpPr>
        <p:spPr>
          <a:xfrm>
            <a:off x="980439" y="1408430"/>
            <a:ext cx="7364730" cy="182753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70"/>
              </a:spcBef>
            </a:pPr>
            <a:r>
              <a:rPr sz="3300" spc="-247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65" dirty="0">
                <a:latin typeface="Times New Roman"/>
                <a:cs typeface="Times New Roman"/>
              </a:rPr>
              <a:t>A </a:t>
            </a:r>
            <a:r>
              <a:rPr sz="2600" spc="-130" dirty="0">
                <a:solidFill>
                  <a:srgbClr val="FF0033"/>
                </a:solidFill>
                <a:latin typeface="Times New Roman"/>
                <a:cs typeface="Times New Roman"/>
              </a:rPr>
              <a:t>shift </a:t>
            </a:r>
            <a:r>
              <a:rPr sz="2600" spc="-85" dirty="0">
                <a:solidFill>
                  <a:srgbClr val="FF0033"/>
                </a:solidFill>
                <a:latin typeface="Times New Roman"/>
                <a:cs typeface="Times New Roman"/>
              </a:rPr>
              <a:t>register </a:t>
            </a:r>
            <a:r>
              <a:rPr sz="2600" spc="-195" dirty="0">
                <a:latin typeface="Times New Roman"/>
                <a:cs typeface="Times New Roman"/>
              </a:rPr>
              <a:t>“shifts” </a:t>
            </a:r>
            <a:r>
              <a:rPr sz="2600" spc="-105" dirty="0">
                <a:latin typeface="Times New Roman"/>
                <a:cs typeface="Times New Roman"/>
              </a:rPr>
              <a:t>its </a:t>
            </a:r>
            <a:r>
              <a:rPr sz="2600" spc="-70" dirty="0">
                <a:latin typeface="Times New Roman"/>
                <a:cs typeface="Times New Roman"/>
              </a:rPr>
              <a:t>output </a:t>
            </a:r>
            <a:r>
              <a:rPr sz="2600" spc="-125" dirty="0">
                <a:latin typeface="Times New Roman"/>
                <a:cs typeface="Times New Roman"/>
              </a:rPr>
              <a:t>once every </a:t>
            </a:r>
            <a:r>
              <a:rPr sz="2600" spc="-140" dirty="0">
                <a:latin typeface="Times New Roman"/>
                <a:cs typeface="Times New Roman"/>
              </a:rPr>
              <a:t>clock</a:t>
            </a:r>
            <a:r>
              <a:rPr sz="2600" spc="-65" dirty="0">
                <a:latin typeface="Times New Roman"/>
                <a:cs typeface="Times New Roman"/>
              </a:rPr>
              <a:t> </a:t>
            </a:r>
            <a:r>
              <a:rPr sz="2600" spc="-105" dirty="0">
                <a:latin typeface="Times New Roman"/>
                <a:cs typeface="Times New Roman"/>
              </a:rPr>
              <a:t>cycle.</a:t>
            </a:r>
            <a:endParaRPr sz="2600">
              <a:latin typeface="Times New Roman"/>
              <a:cs typeface="Times New Roman"/>
            </a:endParaRPr>
          </a:p>
          <a:p>
            <a:pPr marL="25400">
              <a:lnSpc>
                <a:spcPct val="100000"/>
              </a:lnSpc>
              <a:spcBef>
                <a:spcPts val="570"/>
              </a:spcBef>
            </a:pPr>
            <a:r>
              <a:rPr sz="3300" spc="-75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50" dirty="0">
                <a:latin typeface="Times New Roman"/>
                <a:cs typeface="Times New Roman"/>
              </a:rPr>
              <a:t>It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50" dirty="0">
                <a:latin typeface="Times New Roman"/>
                <a:cs typeface="Times New Roman"/>
              </a:rPr>
              <a:t>capable of </a:t>
            </a:r>
            <a:r>
              <a:rPr sz="2600" spc="-140" dirty="0">
                <a:latin typeface="Times New Roman"/>
                <a:cs typeface="Times New Roman"/>
              </a:rPr>
              <a:t>shifting </a:t>
            </a:r>
            <a:r>
              <a:rPr sz="2600" spc="-105" dirty="0">
                <a:latin typeface="Times New Roman"/>
                <a:cs typeface="Times New Roman"/>
              </a:rPr>
              <a:t>its </a:t>
            </a:r>
            <a:r>
              <a:rPr sz="2600" spc="-110" dirty="0">
                <a:latin typeface="Times New Roman"/>
                <a:cs typeface="Times New Roman"/>
              </a:rPr>
              <a:t>bits </a:t>
            </a:r>
            <a:r>
              <a:rPr sz="2600" spc="-75" dirty="0">
                <a:latin typeface="Times New Roman"/>
                <a:cs typeface="Times New Roman"/>
              </a:rPr>
              <a:t>either </a:t>
            </a:r>
            <a:r>
              <a:rPr sz="2600" spc="-45" dirty="0">
                <a:latin typeface="Times New Roman"/>
                <a:cs typeface="Times New Roman"/>
              </a:rPr>
              <a:t>to </a:t>
            </a:r>
            <a:r>
              <a:rPr sz="2600" spc="-95" dirty="0">
                <a:latin typeface="Times New Roman"/>
                <a:cs typeface="Times New Roman"/>
              </a:rPr>
              <a:t>left </a:t>
            </a:r>
            <a:r>
              <a:rPr sz="2600" spc="-40" dirty="0">
                <a:latin typeface="Times New Roman"/>
                <a:cs typeface="Times New Roman"/>
              </a:rPr>
              <a:t>or</a:t>
            </a:r>
            <a:r>
              <a:rPr sz="2600" spc="335" dirty="0">
                <a:latin typeface="Times New Roman"/>
                <a:cs typeface="Times New Roman"/>
              </a:rPr>
              <a:t> </a:t>
            </a:r>
            <a:r>
              <a:rPr sz="2600" spc="-95" dirty="0">
                <a:latin typeface="Times New Roman"/>
                <a:cs typeface="Times New Roman"/>
              </a:rPr>
              <a:t>right</a:t>
            </a:r>
            <a:endParaRPr sz="2600">
              <a:latin typeface="Times New Roman"/>
              <a:cs typeface="Times New Roman"/>
            </a:endParaRPr>
          </a:p>
          <a:p>
            <a:pPr marL="298450" marR="17780" indent="-273050">
              <a:lnSpc>
                <a:spcPct val="100000"/>
              </a:lnSpc>
              <a:spcBef>
                <a:spcPts val="570"/>
              </a:spcBef>
              <a:tabLst>
                <a:tab pos="1049655" algn="l"/>
              </a:tabLst>
            </a:pPr>
            <a:r>
              <a:rPr sz="3300" spc="-277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85" dirty="0">
                <a:latin typeface="Times New Roman"/>
                <a:cs typeface="Times New Roman"/>
              </a:rPr>
              <a:t>Basic	</a:t>
            </a:r>
            <a:r>
              <a:rPr sz="2600" spc="-130" dirty="0">
                <a:latin typeface="Times New Roman"/>
                <a:cs typeface="Times New Roman"/>
              </a:rPr>
              <a:t>shift </a:t>
            </a:r>
            <a:r>
              <a:rPr sz="2600" spc="-85" dirty="0">
                <a:latin typeface="Times New Roman"/>
                <a:cs typeface="Times New Roman"/>
              </a:rPr>
              <a:t>register </a:t>
            </a:r>
            <a:r>
              <a:rPr sz="2600" spc="-135" dirty="0">
                <a:latin typeface="Times New Roman"/>
                <a:cs typeface="Times New Roman"/>
              </a:rPr>
              <a:t>consists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110" dirty="0">
                <a:latin typeface="Times New Roman"/>
                <a:cs typeface="Times New Roman"/>
              </a:rPr>
              <a:t>4 </a:t>
            </a:r>
            <a:r>
              <a:rPr sz="2600" spc="-145" dirty="0">
                <a:latin typeface="Times New Roman"/>
                <a:cs typeface="Times New Roman"/>
              </a:rPr>
              <a:t>D </a:t>
            </a:r>
            <a:r>
              <a:rPr sz="2600" spc="-135" dirty="0">
                <a:latin typeface="Times New Roman"/>
                <a:cs typeface="Times New Roman"/>
              </a:rPr>
              <a:t>flip </a:t>
            </a:r>
            <a:r>
              <a:rPr sz="2600" spc="-105" dirty="0">
                <a:latin typeface="Times New Roman"/>
                <a:cs typeface="Times New Roman"/>
              </a:rPr>
              <a:t>flops. </a:t>
            </a:r>
            <a:r>
              <a:rPr sz="2600" spc="-45" dirty="0">
                <a:latin typeface="Times New Roman"/>
                <a:cs typeface="Times New Roman"/>
              </a:rPr>
              <a:t>Output </a:t>
            </a:r>
            <a:r>
              <a:rPr sz="2600" spc="-150" dirty="0">
                <a:latin typeface="Times New Roman"/>
                <a:cs typeface="Times New Roman"/>
              </a:rPr>
              <a:t>of </a:t>
            </a:r>
            <a:r>
              <a:rPr sz="2600" spc="-114" dirty="0">
                <a:latin typeface="Times New Roman"/>
                <a:cs typeface="Times New Roman"/>
              </a:rPr>
              <a:t>one  </a:t>
            </a:r>
            <a:r>
              <a:rPr sz="2600" spc="-135" dirty="0">
                <a:latin typeface="Times New Roman"/>
                <a:cs typeface="Times New Roman"/>
              </a:rPr>
              <a:t>flip </a:t>
            </a:r>
            <a:r>
              <a:rPr sz="2600" spc="-130" dirty="0">
                <a:latin typeface="Times New Roman"/>
                <a:cs typeface="Times New Roman"/>
              </a:rPr>
              <a:t>flop </a:t>
            </a:r>
            <a:r>
              <a:rPr sz="2600" spc="-165" dirty="0">
                <a:latin typeface="Times New Roman"/>
                <a:cs typeface="Times New Roman"/>
              </a:rPr>
              <a:t>is </a:t>
            </a:r>
            <a:r>
              <a:rPr sz="2600" spc="-105" dirty="0">
                <a:latin typeface="Times New Roman"/>
                <a:cs typeface="Times New Roman"/>
              </a:rPr>
              <a:t>connected </a:t>
            </a:r>
            <a:r>
              <a:rPr sz="2600" spc="-40" dirty="0">
                <a:latin typeface="Times New Roman"/>
                <a:cs typeface="Times New Roman"/>
              </a:rPr>
              <a:t>to </a:t>
            </a:r>
            <a:r>
              <a:rPr sz="2600" spc="-80" dirty="0">
                <a:latin typeface="Times New Roman"/>
                <a:cs typeface="Times New Roman"/>
              </a:rPr>
              <a:t>the </a:t>
            </a:r>
            <a:r>
              <a:rPr sz="2600" spc="-70" dirty="0">
                <a:latin typeface="Times New Roman"/>
                <a:cs typeface="Times New Roman"/>
              </a:rPr>
              <a:t>intput </a:t>
            </a:r>
            <a:r>
              <a:rPr sz="2600" spc="-160" dirty="0">
                <a:latin typeface="Times New Roman"/>
                <a:cs typeface="Times New Roman"/>
              </a:rPr>
              <a:t>of </a:t>
            </a:r>
            <a:r>
              <a:rPr sz="2600" spc="-75" dirty="0">
                <a:latin typeface="Times New Roman"/>
                <a:cs typeface="Times New Roman"/>
              </a:rPr>
              <a:t>next </a:t>
            </a:r>
            <a:r>
              <a:rPr sz="2600" spc="-145" dirty="0">
                <a:latin typeface="Times New Roman"/>
                <a:cs typeface="Times New Roman"/>
              </a:rPr>
              <a:t>D </a:t>
            </a:r>
            <a:r>
              <a:rPr sz="2600" spc="-135" dirty="0">
                <a:latin typeface="Times New Roman"/>
                <a:cs typeface="Times New Roman"/>
              </a:rPr>
              <a:t>flip</a:t>
            </a:r>
            <a:r>
              <a:rPr sz="2600" spc="345" dirty="0">
                <a:latin typeface="Times New Roman"/>
                <a:cs typeface="Times New Roman"/>
              </a:rPr>
              <a:t> </a:t>
            </a:r>
            <a:r>
              <a:rPr sz="2600" spc="-85" dirty="0">
                <a:latin typeface="Times New Roman"/>
                <a:cs typeface="Times New Roman"/>
              </a:rPr>
              <a:t>flop.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447800" y="3733800"/>
            <a:ext cx="6781800" cy="2286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3500" y="69850"/>
            <a:ext cx="9014460" cy="6692900"/>
          </a:xfrm>
          <a:custGeom>
            <a:avLst/>
            <a:gdLst/>
            <a:ahLst/>
            <a:cxnLst/>
            <a:rect l="l" t="t" r="r" b="b"/>
            <a:pathLst>
              <a:path w="9014460" h="6692900">
                <a:moveTo>
                  <a:pt x="328930" y="0"/>
                </a:moveTo>
                <a:lnTo>
                  <a:pt x="284056" y="3968"/>
                </a:lnTo>
                <a:lnTo>
                  <a:pt x="239978" y="15373"/>
                </a:lnTo>
                <a:lnTo>
                  <a:pt x="197429" y="33465"/>
                </a:lnTo>
                <a:lnTo>
                  <a:pt x="157141" y="57494"/>
                </a:lnTo>
                <a:lnTo>
                  <a:pt x="119847" y="86710"/>
                </a:lnTo>
                <a:lnTo>
                  <a:pt x="86280" y="120362"/>
                </a:lnTo>
                <a:lnTo>
                  <a:pt x="57173" y="157702"/>
                </a:lnTo>
                <a:lnTo>
                  <a:pt x="33259" y="197978"/>
                </a:lnTo>
                <a:lnTo>
                  <a:pt x="15270" y="240442"/>
                </a:lnTo>
                <a:lnTo>
                  <a:pt x="3939" y="284342"/>
                </a:lnTo>
                <a:lnTo>
                  <a:pt x="0" y="328929"/>
                </a:lnTo>
                <a:lnTo>
                  <a:pt x="0" y="6362700"/>
                </a:lnTo>
                <a:lnTo>
                  <a:pt x="3939" y="6407603"/>
                </a:lnTo>
                <a:lnTo>
                  <a:pt x="15270" y="6451762"/>
                </a:lnTo>
                <a:lnTo>
                  <a:pt x="33259" y="6494432"/>
                </a:lnTo>
                <a:lnTo>
                  <a:pt x="57173" y="6534870"/>
                </a:lnTo>
                <a:lnTo>
                  <a:pt x="86280" y="6572331"/>
                </a:lnTo>
                <a:lnTo>
                  <a:pt x="119847" y="6606070"/>
                </a:lnTo>
                <a:lnTo>
                  <a:pt x="157141" y="6635344"/>
                </a:lnTo>
                <a:lnTo>
                  <a:pt x="197429" y="6659408"/>
                </a:lnTo>
                <a:lnTo>
                  <a:pt x="239978" y="6677518"/>
                </a:lnTo>
                <a:lnTo>
                  <a:pt x="284056" y="6688930"/>
                </a:lnTo>
                <a:lnTo>
                  <a:pt x="328930" y="6692900"/>
                </a:lnTo>
                <a:lnTo>
                  <a:pt x="8684260" y="6692900"/>
                </a:lnTo>
                <a:lnTo>
                  <a:pt x="8728847" y="6688930"/>
                </a:lnTo>
                <a:lnTo>
                  <a:pt x="8772747" y="6677518"/>
                </a:lnTo>
                <a:lnTo>
                  <a:pt x="8815211" y="6659408"/>
                </a:lnTo>
                <a:lnTo>
                  <a:pt x="8855487" y="6635344"/>
                </a:lnTo>
                <a:lnTo>
                  <a:pt x="8892827" y="6606070"/>
                </a:lnTo>
                <a:lnTo>
                  <a:pt x="8926479" y="6572331"/>
                </a:lnTo>
                <a:lnTo>
                  <a:pt x="8955695" y="6534870"/>
                </a:lnTo>
                <a:lnTo>
                  <a:pt x="8979724" y="6494432"/>
                </a:lnTo>
                <a:lnTo>
                  <a:pt x="8997816" y="6451762"/>
                </a:lnTo>
                <a:lnTo>
                  <a:pt x="9009221" y="6407603"/>
                </a:lnTo>
                <a:lnTo>
                  <a:pt x="9013190" y="6362700"/>
                </a:lnTo>
                <a:lnTo>
                  <a:pt x="9013190" y="328929"/>
                </a:lnTo>
                <a:lnTo>
                  <a:pt x="9009221" y="284342"/>
                </a:lnTo>
                <a:lnTo>
                  <a:pt x="8997816" y="240442"/>
                </a:lnTo>
                <a:lnTo>
                  <a:pt x="8979724" y="197978"/>
                </a:lnTo>
                <a:lnTo>
                  <a:pt x="8955695" y="157702"/>
                </a:lnTo>
                <a:lnTo>
                  <a:pt x="8926479" y="120362"/>
                </a:lnTo>
                <a:lnTo>
                  <a:pt x="8892827" y="86710"/>
                </a:lnTo>
                <a:lnTo>
                  <a:pt x="8855487" y="57494"/>
                </a:lnTo>
                <a:lnTo>
                  <a:pt x="8815211" y="33465"/>
                </a:lnTo>
                <a:lnTo>
                  <a:pt x="8772747" y="15373"/>
                </a:lnTo>
                <a:lnTo>
                  <a:pt x="8728847" y="3968"/>
                </a:lnTo>
                <a:lnTo>
                  <a:pt x="8684260" y="0"/>
                </a:lnTo>
                <a:lnTo>
                  <a:pt x="328930" y="0"/>
                </a:lnTo>
                <a:close/>
              </a:path>
              <a:path w="9014460" h="6692900">
                <a:moveTo>
                  <a:pt x="0" y="0"/>
                </a:moveTo>
                <a:lnTo>
                  <a:pt x="0" y="0"/>
                </a:lnTo>
              </a:path>
              <a:path w="9014460" h="6692900">
                <a:moveTo>
                  <a:pt x="9014460" y="6692900"/>
                </a:moveTo>
                <a:lnTo>
                  <a:pt x="9014460" y="6692900"/>
                </a:lnTo>
              </a:path>
            </a:pathLst>
          </a:custGeom>
          <a:ln w="646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93138" y="703579"/>
            <a:ext cx="563626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spc="-60" dirty="0" smtClean="0">
                <a:solidFill>
                  <a:srgbClr val="686363"/>
                </a:solidFill>
                <a:latin typeface="Arial"/>
                <a:cs typeface="Arial"/>
              </a:rPr>
              <a:t>Righ</a:t>
            </a:r>
            <a:r>
              <a:rPr lang="en-US" sz="4000" spc="-60" dirty="0" smtClean="0">
                <a:solidFill>
                  <a:srgbClr val="686363"/>
                </a:solidFill>
                <a:latin typeface="Arial"/>
                <a:cs typeface="Arial"/>
              </a:rPr>
              <a:t>t</a:t>
            </a:r>
            <a:r>
              <a:rPr sz="4000" spc="-60" smtClean="0">
                <a:solidFill>
                  <a:srgbClr val="686363"/>
                </a:solidFill>
                <a:latin typeface="Arial"/>
                <a:cs typeface="Arial"/>
              </a:rPr>
              <a:t> </a:t>
            </a:r>
            <a:r>
              <a:rPr sz="4000" spc="-5" dirty="0">
                <a:solidFill>
                  <a:srgbClr val="686363"/>
                </a:solidFill>
                <a:latin typeface="Arial"/>
                <a:cs typeface="Arial"/>
              </a:rPr>
              <a:t>shift</a:t>
            </a:r>
            <a:r>
              <a:rPr sz="4000" spc="-245" dirty="0">
                <a:solidFill>
                  <a:srgbClr val="686363"/>
                </a:solidFill>
                <a:latin typeface="Arial"/>
                <a:cs typeface="Arial"/>
              </a:rPr>
              <a:t> </a:t>
            </a:r>
            <a:r>
              <a:rPr sz="4000" spc="-135" dirty="0">
                <a:solidFill>
                  <a:srgbClr val="686363"/>
                </a:solidFill>
                <a:latin typeface="Arial"/>
                <a:cs typeface="Arial"/>
              </a:rPr>
              <a:t>Register</a:t>
            </a:r>
            <a:endParaRPr sz="40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80439" y="1480820"/>
            <a:ext cx="7387590" cy="8178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8450" marR="17780" indent="-273050">
              <a:lnSpc>
                <a:spcPct val="100000"/>
              </a:lnSpc>
              <a:spcBef>
                <a:spcPts val="100"/>
              </a:spcBef>
            </a:pPr>
            <a:r>
              <a:rPr sz="3300" spc="-240" baseline="10101" dirty="0">
                <a:solidFill>
                  <a:srgbClr val="D24716"/>
                </a:solidFill>
                <a:latin typeface="UnDotum"/>
                <a:cs typeface="UnDotum"/>
              </a:rPr>
              <a:t></a:t>
            </a:r>
            <a:r>
              <a:rPr sz="2600" spc="-160" dirty="0">
                <a:latin typeface="Times New Roman"/>
                <a:cs typeface="Times New Roman"/>
              </a:rPr>
              <a:t>Each </a:t>
            </a:r>
            <a:r>
              <a:rPr sz="2600" spc="-140" dirty="0">
                <a:latin typeface="Times New Roman"/>
                <a:cs typeface="Times New Roman"/>
              </a:rPr>
              <a:t>clock </a:t>
            </a:r>
            <a:r>
              <a:rPr sz="2600" spc="-130" dirty="0">
                <a:latin typeface="Times New Roman"/>
                <a:cs typeface="Times New Roman"/>
              </a:rPr>
              <a:t>pulse </a:t>
            </a:r>
            <a:r>
              <a:rPr sz="2600" spc="-105" dirty="0">
                <a:latin typeface="Times New Roman"/>
                <a:cs typeface="Times New Roman"/>
              </a:rPr>
              <a:t>transfers </a:t>
            </a:r>
            <a:r>
              <a:rPr sz="2600" spc="-85" dirty="0">
                <a:latin typeface="Times New Roman"/>
                <a:cs typeface="Times New Roman"/>
              </a:rPr>
              <a:t>the </a:t>
            </a:r>
            <a:r>
              <a:rPr sz="2600" spc="-80" dirty="0">
                <a:latin typeface="Times New Roman"/>
                <a:cs typeface="Times New Roman"/>
              </a:rPr>
              <a:t>content </a:t>
            </a:r>
            <a:r>
              <a:rPr sz="2600" spc="-160" dirty="0">
                <a:latin typeface="Times New Roman"/>
                <a:cs typeface="Times New Roman"/>
              </a:rPr>
              <a:t>of </a:t>
            </a:r>
            <a:r>
              <a:rPr sz="2600" spc="-85" dirty="0">
                <a:latin typeface="Times New Roman"/>
                <a:cs typeface="Times New Roman"/>
              </a:rPr>
              <a:t>register </a:t>
            </a:r>
            <a:r>
              <a:rPr sz="2600" spc="-110" dirty="0">
                <a:latin typeface="Times New Roman"/>
                <a:cs typeface="Times New Roman"/>
              </a:rPr>
              <a:t>on one </a:t>
            </a:r>
            <a:r>
              <a:rPr sz="2600" spc="-80" dirty="0">
                <a:latin typeface="Times New Roman"/>
                <a:cs typeface="Times New Roman"/>
              </a:rPr>
              <a:t>bit  </a:t>
            </a:r>
            <a:r>
              <a:rPr sz="2600" spc="-114" dirty="0">
                <a:latin typeface="Times New Roman"/>
                <a:cs typeface="Times New Roman"/>
              </a:rPr>
              <a:t>position </a:t>
            </a:r>
            <a:r>
              <a:rPr sz="2600" spc="-45" dirty="0">
                <a:latin typeface="Times New Roman"/>
                <a:cs typeface="Times New Roman"/>
              </a:rPr>
              <a:t>to</a:t>
            </a:r>
            <a:r>
              <a:rPr sz="2600" spc="-35" dirty="0">
                <a:latin typeface="Times New Roman"/>
                <a:cs typeface="Times New Roman"/>
              </a:rPr>
              <a:t> </a:t>
            </a:r>
            <a:r>
              <a:rPr sz="2600" spc="-60" dirty="0">
                <a:latin typeface="Times New Roman"/>
                <a:cs typeface="Times New Roman"/>
              </a:rPr>
              <a:t>right.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782380" y="2736174"/>
            <a:ext cx="5339872" cy="29026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59531" y="2152650"/>
            <a:ext cx="6311221" cy="362101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64540"/>
            <a:ext cx="759968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265" dirty="0"/>
              <a:t>Copy </a:t>
            </a:r>
            <a:r>
              <a:rPr spc="-45" dirty="0"/>
              <a:t>data </a:t>
            </a:r>
            <a:r>
              <a:rPr spc="-40" dirty="0"/>
              <a:t>from </a:t>
            </a:r>
            <a:r>
              <a:rPr spc="-120" dirty="0"/>
              <a:t>Register </a:t>
            </a:r>
            <a:r>
              <a:rPr spc="-475" dirty="0"/>
              <a:t>A </a:t>
            </a:r>
            <a:r>
              <a:rPr spc="-20" dirty="0"/>
              <a:t>to </a:t>
            </a:r>
            <a:r>
              <a:rPr spc="-120" dirty="0"/>
              <a:t>Register</a:t>
            </a:r>
            <a:r>
              <a:rPr spc="-280" dirty="0"/>
              <a:t> </a:t>
            </a:r>
            <a:r>
              <a:rPr spc="-225" dirty="0"/>
              <a:t>B</a:t>
            </a:r>
          </a:p>
        </p:txBody>
      </p:sp>
      <p:sp>
        <p:nvSpPr>
          <p:cNvPr id="3" name="object 3"/>
          <p:cNvSpPr/>
          <p:nvPr/>
        </p:nvSpPr>
        <p:spPr>
          <a:xfrm>
            <a:off x="533400" y="1828800"/>
            <a:ext cx="8382000" cy="4267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4479925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10" dirty="0"/>
              <a:t>Serial </a:t>
            </a:r>
            <a:r>
              <a:rPr sz="4000" spc="-25" dirty="0"/>
              <a:t>In/Parallel</a:t>
            </a:r>
            <a:r>
              <a:rPr sz="4000" spc="-155" dirty="0"/>
              <a:t> </a:t>
            </a:r>
            <a:r>
              <a:rPr sz="4000" spc="-185" dirty="0"/>
              <a:t>Out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762000" y="1752600"/>
            <a:ext cx="7848600" cy="44196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430657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/>
              <a:t>Parallel </a:t>
            </a:r>
            <a:r>
              <a:rPr sz="4000" spc="-20" dirty="0"/>
              <a:t>in </a:t>
            </a:r>
            <a:r>
              <a:rPr sz="4000" spc="-110" dirty="0"/>
              <a:t>Serial</a:t>
            </a:r>
            <a:r>
              <a:rPr sz="4000" spc="-270" dirty="0"/>
              <a:t> </a:t>
            </a:r>
            <a:r>
              <a:rPr sz="4000" spc="-40" dirty="0"/>
              <a:t>out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1066800" y="1676400"/>
            <a:ext cx="7086600" cy="43434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703579"/>
            <a:ext cx="5111750" cy="635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spc="-100" dirty="0"/>
              <a:t>Parallel </a:t>
            </a:r>
            <a:r>
              <a:rPr sz="4000" spc="-85" dirty="0"/>
              <a:t>In </a:t>
            </a:r>
            <a:r>
              <a:rPr sz="4000" spc="705" dirty="0"/>
              <a:t>/</a:t>
            </a:r>
            <a:r>
              <a:rPr sz="4000" spc="-254" dirty="0"/>
              <a:t> </a:t>
            </a:r>
            <a:r>
              <a:rPr sz="4000" spc="-95" dirty="0"/>
              <a:t>Parallel </a:t>
            </a:r>
            <a:r>
              <a:rPr sz="4000" spc="-185" dirty="0"/>
              <a:t>Out</a:t>
            </a:r>
            <a:endParaRPr sz="4000"/>
          </a:p>
        </p:txBody>
      </p:sp>
      <p:sp>
        <p:nvSpPr>
          <p:cNvPr id="3" name="object 3"/>
          <p:cNvSpPr/>
          <p:nvPr/>
        </p:nvSpPr>
        <p:spPr>
          <a:xfrm>
            <a:off x="685800" y="1600200"/>
            <a:ext cx="7848600" cy="46482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73</Words>
  <Application>Microsoft Office PowerPoint</Application>
  <PresentationFormat>On-screen Show (4:3)</PresentationFormat>
  <Paragraphs>10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Slide 1</vt:lpstr>
      <vt:lpstr>Shift Register (SISO)</vt:lpstr>
      <vt:lpstr>Slide 3</vt:lpstr>
      <vt:lpstr>Slide 4</vt:lpstr>
      <vt:lpstr>Copy data from Register A to Register B</vt:lpstr>
      <vt:lpstr>Serial In/Parallel Out</vt:lpstr>
      <vt:lpstr>Parallel in Serial out</vt:lpstr>
      <vt:lpstr>Parallel In / Parallel Out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Register</dc:title>
  <cp:lastModifiedBy>ADMIN</cp:lastModifiedBy>
  <cp:revision>6</cp:revision>
  <dcterms:created xsi:type="dcterms:W3CDTF">2021-01-16T06:25:55Z</dcterms:created>
  <dcterms:modified xsi:type="dcterms:W3CDTF">2021-02-17T03:49:03Z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2018-12-01T00:00:00Z</vt:filetime>
  </property>
  <property fmtid="{D5CDD505-2E9C-101B-9397-08002B2CF9AE}" pid="3" name="Creator">
    <vt:lpwstr>pdftk 1.44 - www.pdftk.com</vt:lpwstr>
  </property>
  <property fmtid="{D5CDD505-2E9C-101B-9397-08002B2CF9AE}" pid="4" name="LastSaved">
    <vt:filetime>2021-01-16T00:00:00Z</vt:filetime>
  </property>
</Properties>
</file>