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0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139" y="703579"/>
            <a:ext cx="71577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1/6/2022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1/6/2022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1/6/2022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500" y="69850"/>
            <a:ext cx="9014460" cy="6692900"/>
          </a:xfrm>
          <a:custGeom>
            <a:avLst/>
            <a:gdLst/>
            <a:ahLst/>
            <a:cxnLst/>
            <a:rect l="l" t="t" r="r" b="b"/>
            <a:pathLst>
              <a:path w="9014460" h="6692900">
                <a:moveTo>
                  <a:pt x="328930" y="0"/>
                </a:moveTo>
                <a:lnTo>
                  <a:pt x="284056" y="3968"/>
                </a:lnTo>
                <a:lnTo>
                  <a:pt x="239978" y="15373"/>
                </a:lnTo>
                <a:lnTo>
                  <a:pt x="197429" y="33465"/>
                </a:lnTo>
                <a:lnTo>
                  <a:pt x="157141" y="57494"/>
                </a:lnTo>
                <a:lnTo>
                  <a:pt x="119847" y="86710"/>
                </a:lnTo>
                <a:lnTo>
                  <a:pt x="86280" y="120362"/>
                </a:lnTo>
                <a:lnTo>
                  <a:pt x="57173" y="157702"/>
                </a:lnTo>
                <a:lnTo>
                  <a:pt x="33259" y="197978"/>
                </a:lnTo>
                <a:lnTo>
                  <a:pt x="15270" y="240442"/>
                </a:lnTo>
                <a:lnTo>
                  <a:pt x="3939" y="284342"/>
                </a:lnTo>
                <a:lnTo>
                  <a:pt x="0" y="328929"/>
                </a:lnTo>
                <a:lnTo>
                  <a:pt x="0" y="6362700"/>
                </a:lnTo>
                <a:lnTo>
                  <a:pt x="3939" y="6407603"/>
                </a:lnTo>
                <a:lnTo>
                  <a:pt x="15270" y="6451762"/>
                </a:lnTo>
                <a:lnTo>
                  <a:pt x="33259" y="6494432"/>
                </a:lnTo>
                <a:lnTo>
                  <a:pt x="57173" y="6534870"/>
                </a:lnTo>
                <a:lnTo>
                  <a:pt x="86280" y="6572331"/>
                </a:lnTo>
                <a:lnTo>
                  <a:pt x="119847" y="6606070"/>
                </a:lnTo>
                <a:lnTo>
                  <a:pt x="157141" y="6635344"/>
                </a:lnTo>
                <a:lnTo>
                  <a:pt x="197429" y="6659408"/>
                </a:lnTo>
                <a:lnTo>
                  <a:pt x="239978" y="6677518"/>
                </a:lnTo>
                <a:lnTo>
                  <a:pt x="284056" y="6688930"/>
                </a:lnTo>
                <a:lnTo>
                  <a:pt x="328930" y="6692900"/>
                </a:lnTo>
                <a:lnTo>
                  <a:pt x="8684260" y="6692900"/>
                </a:lnTo>
                <a:lnTo>
                  <a:pt x="8728847" y="6688930"/>
                </a:lnTo>
                <a:lnTo>
                  <a:pt x="8772747" y="6677518"/>
                </a:lnTo>
                <a:lnTo>
                  <a:pt x="8815211" y="6659408"/>
                </a:lnTo>
                <a:lnTo>
                  <a:pt x="8855487" y="6635344"/>
                </a:lnTo>
                <a:lnTo>
                  <a:pt x="8892827" y="6606070"/>
                </a:lnTo>
                <a:lnTo>
                  <a:pt x="8926479" y="6572331"/>
                </a:lnTo>
                <a:lnTo>
                  <a:pt x="8955695" y="6534870"/>
                </a:lnTo>
                <a:lnTo>
                  <a:pt x="8979724" y="6494432"/>
                </a:lnTo>
                <a:lnTo>
                  <a:pt x="8997816" y="6451762"/>
                </a:lnTo>
                <a:lnTo>
                  <a:pt x="9009221" y="6407603"/>
                </a:lnTo>
                <a:lnTo>
                  <a:pt x="9013190" y="6362700"/>
                </a:lnTo>
                <a:lnTo>
                  <a:pt x="9013190" y="328929"/>
                </a:lnTo>
                <a:lnTo>
                  <a:pt x="9009221" y="284342"/>
                </a:lnTo>
                <a:lnTo>
                  <a:pt x="8997816" y="240442"/>
                </a:lnTo>
                <a:lnTo>
                  <a:pt x="8979724" y="197978"/>
                </a:lnTo>
                <a:lnTo>
                  <a:pt x="8955695" y="157702"/>
                </a:lnTo>
                <a:lnTo>
                  <a:pt x="8926479" y="120362"/>
                </a:lnTo>
                <a:lnTo>
                  <a:pt x="8892827" y="86710"/>
                </a:lnTo>
                <a:lnTo>
                  <a:pt x="8855487" y="57494"/>
                </a:lnTo>
                <a:lnTo>
                  <a:pt x="8815211" y="33465"/>
                </a:lnTo>
                <a:lnTo>
                  <a:pt x="8772747" y="15373"/>
                </a:lnTo>
                <a:lnTo>
                  <a:pt x="8728847" y="3968"/>
                </a:lnTo>
                <a:lnTo>
                  <a:pt x="8684260" y="0"/>
                </a:lnTo>
                <a:lnTo>
                  <a:pt x="328930" y="0"/>
                </a:lnTo>
                <a:close/>
              </a:path>
              <a:path w="9014460" h="6692900">
                <a:moveTo>
                  <a:pt x="0" y="0"/>
                </a:moveTo>
                <a:lnTo>
                  <a:pt x="0" y="0"/>
                </a:lnTo>
              </a:path>
              <a:path w="9014460" h="6692900">
                <a:moveTo>
                  <a:pt x="9014460" y="6692900"/>
                </a:moveTo>
                <a:lnTo>
                  <a:pt x="9014460" y="669290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660" y="764540"/>
            <a:ext cx="72186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8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61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533400"/>
            <a:ext cx="79248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579"/>
            <a:ext cx="17849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35" dirty="0"/>
              <a:t>Register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80439" y="1441450"/>
            <a:ext cx="7626984" cy="425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§"/>
            </a:pPr>
            <a:r>
              <a:rPr lang="en-US" sz="3300" spc="-187" baseline="10101" dirty="0" smtClean="0">
                <a:solidFill>
                  <a:srgbClr val="D24716"/>
                </a:solidFill>
                <a:latin typeface="UnDotum"/>
                <a:cs typeface="Times New Roman"/>
              </a:rPr>
              <a:t> </a:t>
            </a:r>
            <a:r>
              <a:rPr sz="2600" spc="-125" smtClean="0">
                <a:latin typeface="Times New Roman"/>
                <a:cs typeface="Times New Roman"/>
              </a:rPr>
              <a:t>Flip-flops </a:t>
            </a:r>
            <a:r>
              <a:rPr sz="2600" spc="-95" dirty="0">
                <a:latin typeface="Times New Roman"/>
                <a:cs typeface="Times New Roman"/>
              </a:rPr>
              <a:t>are </a:t>
            </a:r>
            <a:r>
              <a:rPr sz="2600" spc="-100" dirty="0">
                <a:latin typeface="Times New Roman"/>
                <a:cs typeface="Times New Roman"/>
              </a:rPr>
              <a:t>limited </a:t>
            </a:r>
            <a:r>
              <a:rPr sz="2600" spc="-145" dirty="0">
                <a:latin typeface="Times New Roman"/>
                <a:cs typeface="Times New Roman"/>
              </a:rPr>
              <a:t>because </a:t>
            </a:r>
            <a:r>
              <a:rPr sz="2600" spc="-114" dirty="0">
                <a:latin typeface="Times New Roman"/>
                <a:cs typeface="Times New Roman"/>
              </a:rPr>
              <a:t>they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75" dirty="0">
                <a:latin typeface="Times New Roman"/>
                <a:cs typeface="Times New Roman"/>
              </a:rPr>
              <a:t>store </a:t>
            </a:r>
            <a:r>
              <a:rPr sz="2600" spc="-140" dirty="0">
                <a:latin typeface="Times New Roman"/>
                <a:cs typeface="Times New Roman"/>
              </a:rPr>
              <a:t>only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bit.</a:t>
            </a:r>
            <a:endParaRPr sz="26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80"/>
              </a:spcBef>
              <a:buFont typeface="Wingdings" pitchFamily="2" charset="2"/>
              <a:buChar char="§"/>
            </a:pPr>
            <a:r>
              <a:rPr lang="en-US" sz="3075" spc="-142" baseline="9485" dirty="0" smtClean="0">
                <a:solidFill>
                  <a:srgbClr val="9A2C1E"/>
                </a:solidFill>
                <a:latin typeface="UnDotum"/>
                <a:cs typeface="Times New Roman"/>
              </a:rPr>
              <a:t> </a:t>
            </a:r>
            <a:r>
              <a:rPr sz="2400" spc="-95" smtClean="0">
                <a:latin typeface="Times New Roman"/>
                <a:cs typeface="Times New Roman"/>
              </a:rPr>
              <a:t>Two </a:t>
            </a:r>
            <a:r>
              <a:rPr sz="2400" spc="-120" dirty="0">
                <a:latin typeface="Times New Roman"/>
                <a:cs typeface="Times New Roman"/>
              </a:rPr>
              <a:t>flip-flops </a:t>
            </a:r>
            <a:r>
              <a:rPr sz="2400" spc="-85" dirty="0">
                <a:latin typeface="Times New Roman"/>
                <a:cs typeface="Times New Roman"/>
              </a:rPr>
              <a:t>are </a:t>
            </a:r>
            <a:r>
              <a:rPr sz="2400" spc="-120" dirty="0">
                <a:latin typeface="Times New Roman"/>
                <a:cs typeface="Times New Roman"/>
              </a:rPr>
              <a:t>used </a:t>
            </a:r>
            <a:r>
              <a:rPr sz="2400" spc="-85" dirty="0">
                <a:latin typeface="Times New Roman"/>
                <a:cs typeface="Times New Roman"/>
              </a:rPr>
              <a:t>for </a:t>
            </a:r>
            <a:r>
              <a:rPr sz="2400" spc="-70" dirty="0">
                <a:latin typeface="Times New Roman"/>
                <a:cs typeface="Times New Roman"/>
              </a:rPr>
              <a:t>two-bit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counters.</a:t>
            </a:r>
            <a:endParaRPr sz="2400">
              <a:latin typeface="Times New Roman"/>
              <a:cs typeface="Times New Roman"/>
            </a:endParaRPr>
          </a:p>
          <a:p>
            <a:pPr marL="572135" marR="813435" indent="-228600">
              <a:lnSpc>
                <a:spcPts val="2590"/>
              </a:lnSpc>
              <a:spcBef>
                <a:spcPts val="415"/>
              </a:spcBef>
              <a:buFont typeface="Wingdings" pitchFamily="2" charset="2"/>
              <a:buChar char="§"/>
            </a:pPr>
            <a:r>
              <a:rPr lang="en-US" sz="3075" spc="-165" baseline="9485" dirty="0" smtClean="0">
                <a:solidFill>
                  <a:srgbClr val="9A2C1E"/>
                </a:solidFill>
                <a:latin typeface="UnDotum"/>
                <a:cs typeface="Times New Roman"/>
              </a:rPr>
              <a:t> </a:t>
            </a:r>
            <a:r>
              <a:rPr sz="2400" spc="-110" smtClean="0">
                <a:latin typeface="Times New Roman"/>
                <a:cs typeface="Times New Roman"/>
              </a:rPr>
              <a:t>Most </a:t>
            </a:r>
            <a:r>
              <a:rPr sz="2400" spc="-95" dirty="0">
                <a:latin typeface="Times New Roman"/>
                <a:cs typeface="Times New Roman"/>
              </a:rPr>
              <a:t>computers work with integers </a:t>
            </a:r>
            <a:r>
              <a:rPr sz="2400" spc="-135" dirty="0">
                <a:latin typeface="Times New Roman"/>
                <a:cs typeface="Times New Roman"/>
              </a:rPr>
              <a:t>and </a:t>
            </a:r>
            <a:r>
              <a:rPr sz="2400" spc="-110" dirty="0">
                <a:latin typeface="Times New Roman"/>
                <a:cs typeface="Times New Roman"/>
              </a:rPr>
              <a:t>single-precision  </a:t>
            </a:r>
            <a:r>
              <a:rPr sz="2400" spc="-100" dirty="0">
                <a:latin typeface="Times New Roman"/>
                <a:cs typeface="Times New Roman"/>
              </a:rPr>
              <a:t>floating-point </a:t>
            </a:r>
            <a:r>
              <a:rPr sz="2400" spc="-105" dirty="0">
                <a:latin typeface="Times New Roman"/>
                <a:cs typeface="Times New Roman"/>
              </a:rPr>
              <a:t>numbers </a:t>
            </a:r>
            <a:r>
              <a:rPr sz="2400" spc="-70" dirty="0">
                <a:latin typeface="Times New Roman"/>
                <a:cs typeface="Times New Roman"/>
              </a:rPr>
              <a:t>that </a:t>
            </a:r>
            <a:r>
              <a:rPr sz="2400" spc="-85" dirty="0">
                <a:latin typeface="Times New Roman"/>
                <a:cs typeface="Times New Roman"/>
              </a:rPr>
              <a:t>are </a:t>
            </a:r>
            <a:r>
              <a:rPr sz="2400" spc="-95" dirty="0">
                <a:latin typeface="Times New Roman"/>
                <a:cs typeface="Times New Roman"/>
              </a:rPr>
              <a:t>32-bits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long.</a:t>
            </a:r>
            <a:endParaRPr sz="2400">
              <a:latin typeface="Times New Roman"/>
              <a:cs typeface="Times New Roman"/>
            </a:endParaRPr>
          </a:p>
          <a:p>
            <a:pPr marL="298450" marR="17780" indent="-273050">
              <a:lnSpc>
                <a:spcPts val="2800"/>
              </a:lnSpc>
              <a:spcBef>
                <a:spcPts val="585"/>
              </a:spcBef>
              <a:buFont typeface="Wingdings" pitchFamily="2" charset="2"/>
              <a:buChar char="§"/>
            </a:pPr>
            <a:r>
              <a:rPr lang="en-US" sz="3300" spc="-247" baseline="10101" dirty="0" smtClean="0">
                <a:solidFill>
                  <a:srgbClr val="D24716"/>
                </a:solidFill>
                <a:latin typeface="UnDotum"/>
                <a:cs typeface="Times New Roman"/>
              </a:rPr>
              <a:t> </a:t>
            </a:r>
            <a:r>
              <a:rPr sz="2600" spc="-165" smtClean="0">
                <a:latin typeface="Times New Roman"/>
                <a:cs typeface="Times New Roman"/>
              </a:rPr>
              <a:t>A </a:t>
            </a:r>
            <a:r>
              <a:rPr lang="en-US" sz="2600" spc="-165" dirty="0" smtClean="0">
                <a:latin typeface="Times New Roman"/>
                <a:cs typeface="Times New Roman"/>
              </a:rPr>
              <a:t>  </a:t>
            </a:r>
            <a:r>
              <a:rPr sz="2600" spc="-85" smtClean="0">
                <a:latin typeface="Times New Roman"/>
                <a:cs typeface="Times New Roman"/>
              </a:rPr>
              <a:t>register</a:t>
            </a:r>
            <a:r>
              <a:rPr sz="2600" spc="-85" smtClean="0">
                <a:solidFill>
                  <a:srgbClr val="FF0033"/>
                </a:solidFill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60" dirty="0">
                <a:latin typeface="Times New Roman"/>
                <a:cs typeface="Times New Roman"/>
              </a:rPr>
              <a:t>an </a:t>
            </a:r>
            <a:r>
              <a:rPr sz="2600" spc="-110" dirty="0">
                <a:latin typeface="Times New Roman"/>
                <a:cs typeface="Times New Roman"/>
              </a:rPr>
              <a:t>extension </a:t>
            </a:r>
            <a:r>
              <a:rPr sz="2600" spc="-160" dirty="0">
                <a:latin typeface="Times New Roman"/>
                <a:cs typeface="Times New Roman"/>
              </a:rPr>
              <a:t>of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125" dirty="0">
                <a:latin typeface="Times New Roman"/>
                <a:cs typeface="Times New Roman"/>
              </a:rPr>
              <a:t>flip-flop </a:t>
            </a:r>
            <a:r>
              <a:rPr sz="2600" spc="-80" dirty="0">
                <a:latin typeface="Times New Roman"/>
                <a:cs typeface="Times New Roman"/>
              </a:rPr>
              <a:t>that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75" dirty="0">
                <a:latin typeface="Times New Roman"/>
                <a:cs typeface="Times New Roman"/>
              </a:rPr>
              <a:t>store </a:t>
            </a:r>
            <a:r>
              <a:rPr sz="2600" spc="-100" dirty="0">
                <a:latin typeface="Times New Roman"/>
                <a:cs typeface="Times New Roman"/>
              </a:rPr>
              <a:t>multiple  </a:t>
            </a:r>
            <a:r>
              <a:rPr sz="2600" spc="-65" dirty="0">
                <a:latin typeface="Times New Roman"/>
                <a:cs typeface="Times New Roman"/>
              </a:rPr>
              <a:t>bits.</a:t>
            </a:r>
            <a:endParaRPr sz="2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220"/>
              </a:spcBef>
              <a:buFont typeface="Wingdings" pitchFamily="2" charset="2"/>
              <a:buChar char="§"/>
            </a:pPr>
            <a:r>
              <a:rPr lang="en-US" sz="3300" spc="-104" baseline="10101" dirty="0" smtClean="0">
                <a:solidFill>
                  <a:srgbClr val="D24716"/>
                </a:solidFill>
                <a:latin typeface="UnDotum"/>
                <a:cs typeface="Times New Roman"/>
              </a:rPr>
              <a:t> </a:t>
            </a:r>
            <a:r>
              <a:rPr sz="2600" spc="-70" smtClean="0">
                <a:latin typeface="Times New Roman"/>
                <a:cs typeface="Times New Roman"/>
              </a:rPr>
              <a:t>N </a:t>
            </a:r>
            <a:r>
              <a:rPr sz="2600" spc="-80" dirty="0">
                <a:latin typeface="Times New Roman"/>
                <a:cs typeface="Times New Roman"/>
              </a:rPr>
              <a:t>bit </a:t>
            </a:r>
            <a:r>
              <a:rPr sz="2600" spc="-85" dirty="0">
                <a:latin typeface="Times New Roman"/>
                <a:cs typeface="Times New Roman"/>
              </a:rPr>
              <a:t>register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75" dirty="0">
                <a:latin typeface="Times New Roman"/>
                <a:cs typeface="Times New Roman"/>
              </a:rPr>
              <a:t>store </a:t>
            </a:r>
            <a:r>
              <a:rPr sz="2600" spc="-110" dirty="0">
                <a:latin typeface="Times New Roman"/>
                <a:cs typeface="Times New Roman"/>
              </a:rPr>
              <a:t>n </a:t>
            </a:r>
            <a:r>
              <a:rPr sz="2600" spc="-80" dirty="0">
                <a:latin typeface="Times New Roman"/>
                <a:cs typeface="Times New Roman"/>
              </a:rPr>
              <a:t>bit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data.</a:t>
            </a:r>
            <a:endParaRPr sz="2600">
              <a:latin typeface="Times New Roman"/>
              <a:cs typeface="Times New Roman"/>
            </a:endParaRPr>
          </a:p>
          <a:p>
            <a:pPr marL="298450" marR="763270" indent="-273050">
              <a:lnSpc>
                <a:spcPts val="2810"/>
              </a:lnSpc>
              <a:spcBef>
                <a:spcPts val="610"/>
              </a:spcBef>
              <a:buFont typeface="Wingdings" pitchFamily="2" charset="2"/>
              <a:buChar char="§"/>
            </a:pPr>
            <a:r>
              <a:rPr lang="en-US" sz="3300" spc="-165" baseline="10101" dirty="0" smtClean="0">
                <a:solidFill>
                  <a:srgbClr val="D24716"/>
                </a:solidFill>
                <a:latin typeface="UnDotum"/>
                <a:cs typeface="Times New Roman"/>
              </a:rPr>
              <a:t> </a:t>
            </a:r>
            <a:r>
              <a:rPr sz="2600" spc="-110" smtClean="0">
                <a:latin typeface="Times New Roman"/>
                <a:cs typeface="Times New Roman"/>
              </a:rPr>
              <a:t>Registers </a:t>
            </a:r>
            <a:r>
              <a:rPr sz="2600" spc="-95" dirty="0">
                <a:latin typeface="Times New Roman"/>
                <a:cs typeface="Times New Roman"/>
              </a:rPr>
              <a:t>are </a:t>
            </a:r>
            <a:r>
              <a:rPr sz="2600" spc="-140" dirty="0">
                <a:latin typeface="Times New Roman"/>
                <a:cs typeface="Times New Roman"/>
              </a:rPr>
              <a:t>commonly </a:t>
            </a:r>
            <a:r>
              <a:rPr sz="2600" spc="-130" dirty="0">
                <a:latin typeface="Times New Roman"/>
                <a:cs typeface="Times New Roman"/>
              </a:rPr>
              <a:t>used </a:t>
            </a:r>
            <a:r>
              <a:rPr sz="2600" spc="-204" dirty="0">
                <a:latin typeface="Times New Roman"/>
                <a:cs typeface="Times New Roman"/>
              </a:rPr>
              <a:t>as </a:t>
            </a:r>
            <a:r>
              <a:rPr sz="2600" spc="-95" dirty="0">
                <a:latin typeface="Times New Roman"/>
                <a:cs typeface="Times New Roman"/>
              </a:rPr>
              <a:t>temporary </a:t>
            </a:r>
            <a:r>
              <a:rPr sz="2600" spc="-114" dirty="0">
                <a:latin typeface="Times New Roman"/>
                <a:cs typeface="Times New Roman"/>
              </a:rPr>
              <a:t>storage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204" dirty="0">
                <a:latin typeface="Times New Roman"/>
                <a:cs typeface="Times New Roman"/>
              </a:rPr>
              <a:t>a  </a:t>
            </a:r>
            <a:r>
              <a:rPr sz="2600" spc="-85" dirty="0">
                <a:latin typeface="Times New Roman"/>
                <a:cs typeface="Times New Roman"/>
              </a:rPr>
              <a:t>processor.</a:t>
            </a:r>
            <a:endParaRPr sz="26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40"/>
              </a:spcBef>
              <a:buFont typeface="Wingdings" pitchFamily="2" charset="2"/>
              <a:buChar char="§"/>
            </a:pPr>
            <a:r>
              <a:rPr lang="en-US" sz="3075" spc="-172" baseline="9485" dirty="0" smtClean="0">
                <a:solidFill>
                  <a:srgbClr val="9A2C1E"/>
                </a:solidFill>
                <a:latin typeface="UnDotum"/>
                <a:cs typeface="Times New Roman"/>
              </a:rPr>
              <a:t> </a:t>
            </a:r>
            <a:r>
              <a:rPr sz="2400" spc="-114" smtClean="0">
                <a:latin typeface="Times New Roman"/>
                <a:cs typeface="Times New Roman"/>
              </a:rPr>
              <a:t>They </a:t>
            </a:r>
            <a:r>
              <a:rPr sz="2400" spc="-90" dirty="0">
                <a:latin typeface="Times New Roman"/>
                <a:cs typeface="Times New Roman"/>
              </a:rPr>
              <a:t>are </a:t>
            </a:r>
            <a:r>
              <a:rPr sz="2400" spc="-100" dirty="0">
                <a:latin typeface="Times New Roman"/>
                <a:cs typeface="Times New Roman"/>
              </a:rPr>
              <a:t>faster </a:t>
            </a:r>
            <a:r>
              <a:rPr sz="2400" spc="-135" dirty="0">
                <a:latin typeface="Times New Roman"/>
                <a:cs typeface="Times New Roman"/>
              </a:rPr>
              <a:t>and </a:t>
            </a:r>
            <a:r>
              <a:rPr sz="2400" spc="-80" dirty="0">
                <a:latin typeface="Times New Roman"/>
                <a:cs typeface="Times New Roman"/>
              </a:rPr>
              <a:t>more </a:t>
            </a:r>
            <a:r>
              <a:rPr sz="2400" spc="-105" dirty="0">
                <a:latin typeface="Times New Roman"/>
                <a:cs typeface="Times New Roman"/>
              </a:rPr>
              <a:t>convenient than </a:t>
            </a:r>
            <a:r>
              <a:rPr sz="2400" spc="-140" dirty="0">
                <a:latin typeface="Times New Roman"/>
                <a:cs typeface="Times New Roman"/>
              </a:rPr>
              <a:t>main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memory.</a:t>
            </a:r>
            <a:endParaRPr sz="24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90"/>
              </a:spcBef>
              <a:buFont typeface="Wingdings" pitchFamily="2" charset="2"/>
              <a:buChar char="§"/>
            </a:pPr>
            <a:r>
              <a:rPr lang="en-US" sz="3075" spc="-142" baseline="9485" dirty="0" smtClean="0">
                <a:solidFill>
                  <a:srgbClr val="9A2C1E"/>
                </a:solidFill>
                <a:latin typeface="UnDotum"/>
                <a:cs typeface="Times New Roman"/>
              </a:rPr>
              <a:t> </a:t>
            </a:r>
            <a:r>
              <a:rPr sz="2400" spc="-95" smtClean="0">
                <a:latin typeface="Times New Roman"/>
                <a:cs typeface="Times New Roman"/>
              </a:rPr>
              <a:t>More </a:t>
            </a:r>
            <a:r>
              <a:rPr sz="2400" spc="-90" dirty="0">
                <a:latin typeface="Times New Roman"/>
                <a:cs typeface="Times New Roman"/>
              </a:rPr>
              <a:t>registers </a:t>
            </a:r>
            <a:r>
              <a:rPr sz="2400" spc="-150" dirty="0">
                <a:latin typeface="Times New Roman"/>
                <a:cs typeface="Times New Roman"/>
              </a:rPr>
              <a:t>can </a:t>
            </a:r>
            <a:r>
              <a:rPr sz="2400" spc="-110" dirty="0">
                <a:latin typeface="Times New Roman"/>
                <a:cs typeface="Times New Roman"/>
              </a:rPr>
              <a:t>help </a:t>
            </a:r>
            <a:r>
              <a:rPr sz="2400" spc="-114" dirty="0">
                <a:latin typeface="Times New Roman"/>
                <a:cs typeface="Times New Roman"/>
              </a:rPr>
              <a:t>speed </a:t>
            </a:r>
            <a:r>
              <a:rPr sz="2400" spc="-105" dirty="0">
                <a:latin typeface="Times New Roman"/>
                <a:cs typeface="Times New Roman"/>
              </a:rPr>
              <a:t>up </a:t>
            </a:r>
            <a:r>
              <a:rPr sz="2400" spc="-114" dirty="0">
                <a:latin typeface="Times New Roman"/>
                <a:cs typeface="Times New Roman"/>
              </a:rPr>
              <a:t>complex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calculations.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579"/>
            <a:ext cx="43313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14" dirty="0"/>
              <a:t>Simple </a:t>
            </a:r>
            <a:r>
              <a:rPr sz="4000" spc="120" dirty="0"/>
              <a:t>4 </a:t>
            </a:r>
            <a:r>
              <a:rPr sz="4000" spc="15" dirty="0"/>
              <a:t>bit</a:t>
            </a:r>
            <a:r>
              <a:rPr sz="4000" spc="-434" dirty="0"/>
              <a:t> </a:t>
            </a:r>
            <a:r>
              <a:rPr sz="4000" spc="-80" dirty="0"/>
              <a:t>register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80439" y="1480820"/>
            <a:ext cx="7352665" cy="3288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17780" indent="-273050">
              <a:lnSpc>
                <a:spcPct val="100000"/>
              </a:lnSpc>
              <a:spcBef>
                <a:spcPts val="100"/>
              </a:spcBef>
            </a:pPr>
            <a:r>
              <a:rPr sz="3300" spc="-277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85" dirty="0">
                <a:latin typeface="Times New Roman"/>
                <a:cs typeface="Times New Roman"/>
              </a:rPr>
              <a:t>Basic </a:t>
            </a:r>
            <a:r>
              <a:rPr sz="2600" spc="-100" dirty="0">
                <a:latin typeface="Times New Roman"/>
                <a:cs typeface="Times New Roman"/>
              </a:rPr>
              <a:t>registers </a:t>
            </a:r>
            <a:r>
              <a:rPr sz="2600" spc="-95" dirty="0">
                <a:latin typeface="Times New Roman"/>
                <a:cs typeface="Times New Roman"/>
              </a:rPr>
              <a:t>are </a:t>
            </a:r>
            <a:r>
              <a:rPr sz="2600" spc="-185" dirty="0">
                <a:latin typeface="Times New Roman"/>
                <a:cs typeface="Times New Roman"/>
              </a:rPr>
              <a:t>easy </a:t>
            </a:r>
            <a:r>
              <a:rPr sz="2600" spc="-45" dirty="0">
                <a:latin typeface="Times New Roman"/>
                <a:cs typeface="Times New Roman"/>
              </a:rPr>
              <a:t>to </a:t>
            </a:r>
            <a:r>
              <a:rPr sz="2600" spc="-85" dirty="0">
                <a:latin typeface="Times New Roman"/>
                <a:cs typeface="Times New Roman"/>
              </a:rPr>
              <a:t>build. </a:t>
            </a:r>
            <a:r>
              <a:rPr sz="2600" spc="-90" dirty="0">
                <a:latin typeface="Times New Roman"/>
                <a:cs typeface="Times New Roman"/>
              </a:rPr>
              <a:t>We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75" dirty="0">
                <a:latin typeface="Times New Roman"/>
                <a:cs typeface="Times New Roman"/>
              </a:rPr>
              <a:t>store </a:t>
            </a:r>
            <a:r>
              <a:rPr sz="2600" spc="-100" dirty="0">
                <a:latin typeface="Times New Roman"/>
                <a:cs typeface="Times New Roman"/>
              </a:rPr>
              <a:t>multiple </a:t>
            </a:r>
            <a:r>
              <a:rPr sz="2600" spc="-110" dirty="0">
                <a:latin typeface="Times New Roman"/>
                <a:cs typeface="Times New Roman"/>
              </a:rPr>
              <a:t>bits  </a:t>
            </a:r>
            <a:r>
              <a:rPr sz="2600" spc="-100" dirty="0">
                <a:latin typeface="Times New Roman"/>
                <a:cs typeface="Times New Roman"/>
              </a:rPr>
              <a:t>just </a:t>
            </a:r>
            <a:r>
              <a:rPr sz="2600" spc="-180" dirty="0">
                <a:latin typeface="Times New Roman"/>
                <a:cs typeface="Times New Roman"/>
              </a:rPr>
              <a:t>by </a:t>
            </a:r>
            <a:r>
              <a:rPr sz="2600" spc="-95" dirty="0">
                <a:latin typeface="Times New Roman"/>
                <a:cs typeface="Times New Roman"/>
              </a:rPr>
              <a:t>putting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135" dirty="0">
                <a:latin typeface="Times New Roman"/>
                <a:cs typeface="Times New Roman"/>
              </a:rPr>
              <a:t>bunch </a:t>
            </a:r>
            <a:r>
              <a:rPr sz="2600" spc="-160" dirty="0">
                <a:latin typeface="Times New Roman"/>
                <a:cs typeface="Times New Roman"/>
              </a:rPr>
              <a:t>of </a:t>
            </a:r>
            <a:r>
              <a:rPr sz="2600" spc="-135" dirty="0">
                <a:latin typeface="Times New Roman"/>
                <a:cs typeface="Times New Roman"/>
              </a:rPr>
              <a:t>flip-flops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together!</a:t>
            </a:r>
            <a:endParaRPr sz="2600">
              <a:latin typeface="Times New Roman"/>
              <a:cs typeface="Times New Roman"/>
            </a:endParaRPr>
          </a:p>
          <a:p>
            <a:pPr marL="298450" marR="711835" indent="-273050">
              <a:lnSpc>
                <a:spcPct val="100000"/>
              </a:lnSpc>
              <a:spcBef>
                <a:spcPts val="570"/>
              </a:spcBef>
            </a:pPr>
            <a:r>
              <a:rPr sz="3300" spc="-247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65" dirty="0">
                <a:latin typeface="Times New Roman"/>
                <a:cs typeface="Times New Roman"/>
              </a:rPr>
              <a:t>A </a:t>
            </a:r>
            <a:r>
              <a:rPr sz="2600" spc="-80" dirty="0">
                <a:latin typeface="Times New Roman"/>
                <a:cs typeface="Times New Roman"/>
              </a:rPr>
              <a:t>4-bit </a:t>
            </a:r>
            <a:r>
              <a:rPr sz="2600" spc="-85" dirty="0">
                <a:latin typeface="Times New Roman"/>
                <a:cs typeface="Times New Roman"/>
              </a:rPr>
              <a:t>register </a:t>
            </a:r>
            <a:r>
              <a:rPr sz="2600" spc="-170" dirty="0">
                <a:latin typeface="Times New Roman"/>
                <a:cs typeface="Times New Roman"/>
              </a:rPr>
              <a:t>is </a:t>
            </a:r>
            <a:r>
              <a:rPr sz="2600" spc="-150" dirty="0">
                <a:latin typeface="Times New Roman"/>
                <a:cs typeface="Times New Roman"/>
              </a:rPr>
              <a:t>shown </a:t>
            </a:r>
            <a:r>
              <a:rPr sz="2600" spc="-110" dirty="0">
                <a:latin typeface="Times New Roman"/>
                <a:cs typeface="Times New Roman"/>
              </a:rPr>
              <a:t>on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60" dirty="0">
                <a:latin typeface="Times New Roman"/>
                <a:cs typeface="Times New Roman"/>
              </a:rPr>
              <a:t>right,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105" dirty="0">
                <a:latin typeface="Times New Roman"/>
                <a:cs typeface="Times New Roman"/>
              </a:rPr>
              <a:t>its </a:t>
            </a:r>
            <a:r>
              <a:rPr sz="2600" spc="-90" dirty="0">
                <a:latin typeface="Times New Roman"/>
                <a:cs typeface="Times New Roman"/>
              </a:rPr>
              <a:t>internal  </a:t>
            </a:r>
            <a:r>
              <a:rPr sz="2600" spc="-110" dirty="0">
                <a:latin typeface="Times New Roman"/>
                <a:cs typeface="Times New Roman"/>
              </a:rPr>
              <a:t>implementation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below.</a:t>
            </a:r>
            <a:endParaRPr sz="26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70"/>
              </a:spcBef>
            </a:pPr>
            <a:r>
              <a:rPr sz="3075" spc="-172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114" dirty="0">
                <a:latin typeface="Times New Roman"/>
                <a:cs typeface="Times New Roman"/>
              </a:rPr>
              <a:t>This </a:t>
            </a:r>
            <a:r>
              <a:rPr sz="2400" spc="-80" dirty="0">
                <a:latin typeface="Times New Roman"/>
                <a:cs typeface="Times New Roman"/>
              </a:rPr>
              <a:t>register </a:t>
            </a:r>
            <a:r>
              <a:rPr sz="2400" spc="-140" dirty="0">
                <a:latin typeface="Times New Roman"/>
                <a:cs typeface="Times New Roman"/>
              </a:rPr>
              <a:t>uses </a:t>
            </a:r>
            <a:r>
              <a:rPr sz="2400" spc="-135" dirty="0">
                <a:latin typeface="Times New Roman"/>
                <a:cs typeface="Times New Roman"/>
              </a:rPr>
              <a:t>D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flip-flops</a:t>
            </a:r>
            <a:endParaRPr sz="2400">
              <a:latin typeface="Times New Roman"/>
              <a:cs typeface="Times New Roman"/>
            </a:endParaRPr>
          </a:p>
          <a:p>
            <a:pPr marL="572135" marR="130810" indent="-228600">
              <a:lnSpc>
                <a:spcPct val="100000"/>
              </a:lnSpc>
              <a:spcBef>
                <a:spcPts val="380"/>
              </a:spcBef>
            </a:pPr>
            <a:r>
              <a:rPr sz="3075" spc="-120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80" dirty="0">
                <a:latin typeface="Times New Roman"/>
                <a:cs typeface="Times New Roman"/>
              </a:rPr>
              <a:t>it’s </a:t>
            </a:r>
            <a:r>
              <a:rPr sz="2400" spc="-170" dirty="0">
                <a:latin typeface="Times New Roman"/>
                <a:cs typeface="Times New Roman"/>
              </a:rPr>
              <a:t>easy </a:t>
            </a:r>
            <a:r>
              <a:rPr sz="2400" spc="-40" dirty="0">
                <a:latin typeface="Times New Roman"/>
                <a:cs typeface="Times New Roman"/>
              </a:rPr>
              <a:t>to </a:t>
            </a:r>
            <a:r>
              <a:rPr sz="2400" spc="-70" dirty="0">
                <a:latin typeface="Times New Roman"/>
                <a:cs typeface="Times New Roman"/>
              </a:rPr>
              <a:t>store </a:t>
            </a:r>
            <a:r>
              <a:rPr sz="2400" spc="-114" dirty="0">
                <a:latin typeface="Times New Roman"/>
                <a:cs typeface="Times New Roman"/>
              </a:rPr>
              <a:t>data </a:t>
            </a:r>
            <a:r>
              <a:rPr sz="2400" spc="-80" dirty="0">
                <a:latin typeface="Times New Roman"/>
                <a:cs typeface="Times New Roman"/>
              </a:rPr>
              <a:t>without </a:t>
            </a:r>
            <a:r>
              <a:rPr sz="2400" spc="-105" dirty="0">
                <a:latin typeface="Times New Roman"/>
                <a:cs typeface="Times New Roman"/>
              </a:rPr>
              <a:t>worrying </a:t>
            </a:r>
            <a:r>
              <a:rPr sz="2400" spc="-100" dirty="0">
                <a:latin typeface="Times New Roman"/>
                <a:cs typeface="Times New Roman"/>
              </a:rPr>
              <a:t>about </a:t>
            </a:r>
            <a:r>
              <a:rPr sz="2400" spc="-114" dirty="0">
                <a:latin typeface="Times New Roman"/>
                <a:cs typeface="Times New Roman"/>
              </a:rPr>
              <a:t>flip-flop </a:t>
            </a:r>
            <a:r>
              <a:rPr sz="2400" spc="-80" dirty="0">
                <a:latin typeface="Times New Roman"/>
                <a:cs typeface="Times New Roman"/>
              </a:rPr>
              <a:t>input  </a:t>
            </a:r>
            <a:r>
              <a:rPr sz="2400" spc="-90" dirty="0">
                <a:latin typeface="Times New Roman"/>
                <a:cs typeface="Times New Roman"/>
              </a:rPr>
              <a:t>equations.</a:t>
            </a:r>
            <a:endParaRPr sz="24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70"/>
              </a:spcBef>
            </a:pPr>
            <a:r>
              <a:rPr sz="3075" spc="-195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130" dirty="0">
                <a:latin typeface="Times New Roman"/>
                <a:cs typeface="Times New Roman"/>
              </a:rPr>
              <a:t>All </a:t>
            </a:r>
            <a:r>
              <a:rPr sz="2400" spc="-75" dirty="0">
                <a:latin typeface="Times New Roman"/>
                <a:cs typeface="Times New Roman"/>
              </a:rPr>
              <a:t>the </a:t>
            </a:r>
            <a:r>
              <a:rPr sz="2400" spc="-120" dirty="0">
                <a:latin typeface="Times New Roman"/>
                <a:cs typeface="Times New Roman"/>
              </a:rPr>
              <a:t>flip-flops share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125" dirty="0">
                <a:latin typeface="Times New Roman"/>
                <a:cs typeface="Times New Roman"/>
              </a:rPr>
              <a:t>common </a:t>
            </a:r>
            <a:r>
              <a:rPr sz="2400" spc="-220" dirty="0">
                <a:solidFill>
                  <a:srgbClr val="3333FF"/>
                </a:solidFill>
                <a:latin typeface="Times New Roman"/>
                <a:cs typeface="Times New Roman"/>
              </a:rPr>
              <a:t>CLK </a:t>
            </a:r>
            <a:r>
              <a:rPr sz="2400" spc="-135" dirty="0">
                <a:latin typeface="Times New Roman"/>
                <a:cs typeface="Times New Roman"/>
              </a:rPr>
              <a:t>and </a:t>
            </a:r>
            <a:r>
              <a:rPr sz="2400" spc="-190" dirty="0">
                <a:solidFill>
                  <a:srgbClr val="3333FF"/>
                </a:solidFill>
                <a:latin typeface="Times New Roman"/>
                <a:cs typeface="Times New Roman"/>
              </a:rPr>
              <a:t>CLR</a:t>
            </a:r>
            <a:r>
              <a:rPr sz="2400" spc="-185" dirty="0">
                <a:solidFill>
                  <a:srgbClr val="3333FF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28775" y="2390775"/>
            <a:ext cx="6353175" cy="270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579"/>
            <a:ext cx="68033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70" dirty="0"/>
              <a:t>Adding </a:t>
            </a:r>
            <a:r>
              <a:rPr sz="4000" spc="-110" dirty="0"/>
              <a:t>a </a:t>
            </a:r>
            <a:r>
              <a:rPr sz="4000" spc="-55" dirty="0"/>
              <a:t>parallel </a:t>
            </a:r>
            <a:r>
              <a:rPr sz="4000" spc="-80" dirty="0"/>
              <a:t>load</a:t>
            </a:r>
            <a:r>
              <a:rPr sz="4000" spc="-200" dirty="0"/>
              <a:t> </a:t>
            </a:r>
            <a:r>
              <a:rPr sz="4000" spc="-70" dirty="0"/>
              <a:t>operation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80439" y="1426210"/>
            <a:ext cx="7618095" cy="305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212090" indent="-273050">
              <a:lnSpc>
                <a:spcPct val="113799"/>
              </a:lnSpc>
              <a:spcBef>
                <a:spcPts val="100"/>
              </a:spcBef>
            </a:pPr>
            <a:r>
              <a:rPr sz="3300" spc="-150" baseline="3787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00" dirty="0">
                <a:latin typeface="Times New Roman"/>
                <a:cs typeface="Times New Roman"/>
              </a:rPr>
              <a:t>The </a:t>
            </a:r>
            <a:r>
              <a:rPr sz="2600" spc="-85" dirty="0">
                <a:latin typeface="Times New Roman"/>
                <a:cs typeface="Times New Roman"/>
              </a:rPr>
              <a:t>input </a:t>
            </a:r>
            <a:r>
              <a:rPr sz="2600" spc="-210" dirty="0">
                <a:solidFill>
                  <a:srgbClr val="3333FF"/>
                </a:solidFill>
                <a:latin typeface="Times New Roman"/>
                <a:cs typeface="Times New Roman"/>
              </a:rPr>
              <a:t>D</a:t>
            </a:r>
            <a:r>
              <a:rPr sz="2250" spc="-315" baseline="-24074" dirty="0">
                <a:solidFill>
                  <a:srgbClr val="3333FF"/>
                </a:solidFill>
                <a:latin typeface="Times New Roman"/>
                <a:cs typeface="Times New Roman"/>
              </a:rPr>
              <a:t>3</a:t>
            </a:r>
            <a:r>
              <a:rPr sz="2600" spc="-210" dirty="0">
                <a:solidFill>
                  <a:srgbClr val="3333FF"/>
                </a:solidFill>
                <a:latin typeface="Times New Roman"/>
                <a:cs typeface="Times New Roman"/>
              </a:rPr>
              <a:t>-D</a:t>
            </a:r>
            <a:r>
              <a:rPr sz="2250" spc="-315" baseline="-24074" dirty="0">
                <a:solidFill>
                  <a:srgbClr val="3333FF"/>
                </a:solidFill>
                <a:latin typeface="Times New Roman"/>
                <a:cs typeface="Times New Roman"/>
              </a:rPr>
              <a:t>0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20" dirty="0">
                <a:latin typeface="Times New Roman"/>
                <a:cs typeface="Times New Roman"/>
              </a:rPr>
              <a:t>copied </a:t>
            </a:r>
            <a:r>
              <a:rPr sz="2600" spc="-45" dirty="0">
                <a:latin typeface="Times New Roman"/>
                <a:cs typeface="Times New Roman"/>
              </a:rPr>
              <a:t>to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65" dirty="0">
                <a:latin typeface="Times New Roman"/>
                <a:cs typeface="Times New Roman"/>
              </a:rPr>
              <a:t>output </a:t>
            </a:r>
            <a:r>
              <a:rPr sz="2600" spc="-155" dirty="0">
                <a:solidFill>
                  <a:srgbClr val="3333FF"/>
                </a:solidFill>
                <a:latin typeface="Times New Roman"/>
                <a:cs typeface="Times New Roman"/>
              </a:rPr>
              <a:t>Q</a:t>
            </a:r>
            <a:r>
              <a:rPr sz="2250" spc="-232" baseline="-24074" dirty="0">
                <a:solidFill>
                  <a:srgbClr val="3333FF"/>
                </a:solidFill>
                <a:latin typeface="Times New Roman"/>
                <a:cs typeface="Times New Roman"/>
              </a:rPr>
              <a:t>3</a:t>
            </a:r>
            <a:r>
              <a:rPr sz="2600" spc="-155" dirty="0">
                <a:solidFill>
                  <a:srgbClr val="3333FF"/>
                </a:solidFill>
                <a:latin typeface="Times New Roman"/>
                <a:cs typeface="Times New Roman"/>
              </a:rPr>
              <a:t>-Q</a:t>
            </a:r>
            <a:r>
              <a:rPr sz="2250" spc="-232" baseline="-24074" dirty="0">
                <a:solidFill>
                  <a:srgbClr val="3333FF"/>
                </a:solidFill>
                <a:latin typeface="Times New Roman"/>
                <a:cs typeface="Times New Roman"/>
              </a:rPr>
              <a:t>0 </a:t>
            </a:r>
            <a:r>
              <a:rPr sz="2600" spc="-110" dirty="0">
                <a:latin typeface="Times New Roman"/>
                <a:cs typeface="Times New Roman"/>
              </a:rPr>
              <a:t>on </a:t>
            </a:r>
            <a:r>
              <a:rPr sz="2600" i="1" spc="-290" dirty="0">
                <a:latin typeface="Times New Roman"/>
                <a:cs typeface="Times New Roman"/>
              </a:rPr>
              <a:t>every </a:t>
            </a:r>
            <a:r>
              <a:rPr sz="2600" spc="-140" dirty="0">
                <a:latin typeface="Times New Roman"/>
                <a:cs typeface="Times New Roman"/>
              </a:rPr>
              <a:t>clock  </a:t>
            </a:r>
            <a:r>
              <a:rPr sz="2600" spc="-105" dirty="0">
                <a:latin typeface="Times New Roman"/>
                <a:cs typeface="Times New Roman"/>
              </a:rPr>
              <a:t>cycle.</a:t>
            </a:r>
            <a:endParaRPr sz="2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70"/>
              </a:spcBef>
            </a:pPr>
            <a:r>
              <a:rPr sz="3300" spc="-157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05" dirty="0">
                <a:latin typeface="Times New Roman"/>
                <a:cs typeface="Times New Roman"/>
              </a:rPr>
              <a:t>How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125" dirty="0">
                <a:latin typeface="Times New Roman"/>
                <a:cs typeface="Times New Roman"/>
              </a:rPr>
              <a:t>we </a:t>
            </a:r>
            <a:r>
              <a:rPr sz="2600" spc="-75" dirty="0">
                <a:latin typeface="Times New Roman"/>
                <a:cs typeface="Times New Roman"/>
              </a:rPr>
              <a:t>store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55" dirty="0">
                <a:latin typeface="Times New Roman"/>
                <a:cs typeface="Times New Roman"/>
              </a:rPr>
              <a:t>current </a:t>
            </a:r>
            <a:r>
              <a:rPr sz="2600" spc="-150" dirty="0">
                <a:latin typeface="Times New Roman"/>
                <a:cs typeface="Times New Roman"/>
              </a:rPr>
              <a:t>value </a:t>
            </a:r>
            <a:r>
              <a:rPr sz="2600" spc="-95" dirty="0">
                <a:latin typeface="Times New Roman"/>
                <a:cs typeface="Times New Roman"/>
              </a:rPr>
              <a:t>for </a:t>
            </a:r>
            <a:r>
              <a:rPr sz="2600" spc="-90" dirty="0">
                <a:latin typeface="Times New Roman"/>
                <a:cs typeface="Times New Roman"/>
              </a:rPr>
              <a:t>more </a:t>
            </a:r>
            <a:r>
              <a:rPr sz="2600" spc="-114" dirty="0">
                <a:latin typeface="Times New Roman"/>
                <a:cs typeface="Times New Roman"/>
              </a:rPr>
              <a:t>than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cycle?</a:t>
            </a:r>
            <a:endParaRPr sz="2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70"/>
              </a:spcBef>
            </a:pPr>
            <a:r>
              <a:rPr sz="3300" spc="-165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10" dirty="0">
                <a:latin typeface="Times New Roman"/>
                <a:cs typeface="Times New Roman"/>
              </a:rPr>
              <a:t>Let’s </a:t>
            </a:r>
            <a:r>
              <a:rPr sz="2600" spc="-145" dirty="0">
                <a:latin typeface="Times New Roman"/>
                <a:cs typeface="Times New Roman"/>
              </a:rPr>
              <a:t>add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135" dirty="0">
                <a:latin typeface="Times New Roman"/>
                <a:cs typeface="Times New Roman"/>
              </a:rPr>
              <a:t>load </a:t>
            </a:r>
            <a:r>
              <a:rPr sz="2600" spc="-90" dirty="0">
                <a:latin typeface="Times New Roman"/>
                <a:cs typeface="Times New Roman"/>
              </a:rPr>
              <a:t>input </a:t>
            </a:r>
            <a:r>
              <a:rPr sz="2600" spc="-165" dirty="0">
                <a:latin typeface="Times New Roman"/>
                <a:cs typeface="Times New Roman"/>
              </a:rPr>
              <a:t>signal </a:t>
            </a:r>
            <a:r>
              <a:rPr sz="2600" spc="-215" dirty="0">
                <a:solidFill>
                  <a:srgbClr val="3333FF"/>
                </a:solidFill>
                <a:latin typeface="Times New Roman"/>
                <a:cs typeface="Times New Roman"/>
              </a:rPr>
              <a:t>LD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register.</a:t>
            </a:r>
            <a:endParaRPr sz="26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70"/>
              </a:spcBef>
            </a:pPr>
            <a:r>
              <a:rPr sz="3075" spc="-187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125" dirty="0">
                <a:latin typeface="Times New Roman"/>
                <a:cs typeface="Times New Roman"/>
              </a:rPr>
              <a:t>If </a:t>
            </a:r>
            <a:r>
              <a:rPr sz="2400" spc="-200" dirty="0">
                <a:solidFill>
                  <a:srgbClr val="3333FF"/>
                </a:solidFill>
                <a:latin typeface="Times New Roman"/>
                <a:cs typeface="Times New Roman"/>
              </a:rPr>
              <a:t>LD </a:t>
            </a:r>
            <a:r>
              <a:rPr sz="2400" spc="245" dirty="0">
                <a:solidFill>
                  <a:srgbClr val="3333FF"/>
                </a:solidFill>
                <a:latin typeface="Times New Roman"/>
                <a:cs typeface="Times New Roman"/>
              </a:rPr>
              <a:t>= </a:t>
            </a:r>
            <a:r>
              <a:rPr sz="2400" dirty="0">
                <a:solidFill>
                  <a:srgbClr val="3333FF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75" dirty="0">
                <a:latin typeface="Times New Roman"/>
                <a:cs typeface="Times New Roman"/>
              </a:rPr>
              <a:t>the </a:t>
            </a:r>
            <a:r>
              <a:rPr sz="2400" spc="-80" dirty="0">
                <a:latin typeface="Times New Roman"/>
                <a:cs typeface="Times New Roman"/>
              </a:rPr>
              <a:t>register </a:t>
            </a:r>
            <a:r>
              <a:rPr sz="2400" spc="-125" dirty="0">
                <a:latin typeface="Times New Roman"/>
                <a:cs typeface="Times New Roman"/>
              </a:rPr>
              <a:t>keeps </a:t>
            </a:r>
            <a:r>
              <a:rPr sz="2400" spc="-95" dirty="0">
                <a:latin typeface="Times New Roman"/>
                <a:cs typeface="Times New Roman"/>
              </a:rPr>
              <a:t>its </a:t>
            </a:r>
            <a:r>
              <a:rPr sz="2400" spc="-55" dirty="0">
                <a:latin typeface="Times New Roman"/>
                <a:cs typeface="Times New Roman"/>
              </a:rPr>
              <a:t>current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contents.</a:t>
            </a:r>
            <a:endParaRPr sz="2400">
              <a:latin typeface="Times New Roman"/>
              <a:cs typeface="Times New Roman"/>
            </a:endParaRPr>
          </a:p>
          <a:p>
            <a:pPr marL="572135" marR="356870" indent="-228600">
              <a:lnSpc>
                <a:spcPct val="100000"/>
              </a:lnSpc>
              <a:spcBef>
                <a:spcPts val="380"/>
              </a:spcBef>
            </a:pPr>
            <a:r>
              <a:rPr sz="3075" spc="-187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125" dirty="0">
                <a:latin typeface="Times New Roman"/>
                <a:cs typeface="Times New Roman"/>
              </a:rPr>
              <a:t>If </a:t>
            </a:r>
            <a:r>
              <a:rPr sz="2400" spc="-200" dirty="0">
                <a:solidFill>
                  <a:srgbClr val="3333FF"/>
                </a:solidFill>
                <a:latin typeface="Times New Roman"/>
                <a:cs typeface="Times New Roman"/>
              </a:rPr>
              <a:t>LD </a:t>
            </a:r>
            <a:r>
              <a:rPr sz="2400" spc="245" dirty="0">
                <a:solidFill>
                  <a:srgbClr val="3333FF"/>
                </a:solidFill>
                <a:latin typeface="Times New Roman"/>
                <a:cs typeface="Times New Roman"/>
              </a:rPr>
              <a:t>= </a:t>
            </a:r>
            <a:r>
              <a:rPr sz="2400" dirty="0">
                <a:solidFill>
                  <a:srgbClr val="3333FF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75" dirty="0">
                <a:latin typeface="Times New Roman"/>
                <a:cs typeface="Times New Roman"/>
              </a:rPr>
              <a:t>the </a:t>
            </a:r>
            <a:r>
              <a:rPr sz="2400" spc="-80" dirty="0">
                <a:latin typeface="Times New Roman"/>
                <a:cs typeface="Times New Roman"/>
              </a:rPr>
              <a:t>register </a:t>
            </a:r>
            <a:r>
              <a:rPr sz="2400" spc="-85" dirty="0">
                <a:latin typeface="Times New Roman"/>
                <a:cs typeface="Times New Roman"/>
              </a:rPr>
              <a:t>stores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110" dirty="0">
                <a:latin typeface="Times New Roman"/>
                <a:cs typeface="Times New Roman"/>
              </a:rPr>
              <a:t>new </a:t>
            </a:r>
            <a:r>
              <a:rPr sz="2400" spc="-100" dirty="0">
                <a:latin typeface="Times New Roman"/>
                <a:cs typeface="Times New Roman"/>
              </a:rPr>
              <a:t>value, </a:t>
            </a:r>
            <a:r>
              <a:rPr sz="2400" spc="-105" dirty="0">
                <a:latin typeface="Times New Roman"/>
                <a:cs typeface="Times New Roman"/>
              </a:rPr>
              <a:t>taken </a:t>
            </a:r>
            <a:r>
              <a:rPr sz="2400" spc="-100" dirty="0">
                <a:latin typeface="Times New Roman"/>
                <a:cs typeface="Times New Roman"/>
              </a:rPr>
              <a:t>from inputs  </a:t>
            </a:r>
            <a:r>
              <a:rPr sz="2400" spc="-150" dirty="0">
                <a:latin typeface="Times New Roman"/>
                <a:cs typeface="Times New Roman"/>
              </a:rPr>
              <a:t>D</a:t>
            </a:r>
            <a:r>
              <a:rPr sz="2100" spc="-225" baseline="-23809" dirty="0">
                <a:latin typeface="Times New Roman"/>
                <a:cs typeface="Times New Roman"/>
              </a:rPr>
              <a:t>3</a:t>
            </a:r>
            <a:r>
              <a:rPr sz="2400" spc="-150" dirty="0">
                <a:latin typeface="Times New Roman"/>
                <a:cs typeface="Times New Roman"/>
              </a:rPr>
              <a:t>-D</a:t>
            </a:r>
            <a:r>
              <a:rPr sz="2100" spc="-225" baseline="-23809" dirty="0">
                <a:latin typeface="Times New Roman"/>
                <a:cs typeface="Times New Roman"/>
              </a:rPr>
              <a:t>0</a:t>
            </a:r>
            <a:r>
              <a:rPr sz="2400" spc="-15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09800" y="4343400"/>
            <a:ext cx="5791200" cy="2141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579"/>
            <a:ext cx="55321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0" dirty="0"/>
              <a:t>Classification </a:t>
            </a:r>
            <a:r>
              <a:rPr sz="4000" spc="-35" dirty="0"/>
              <a:t>of</a:t>
            </a:r>
            <a:r>
              <a:rPr sz="4000" spc="-180" dirty="0"/>
              <a:t> </a:t>
            </a:r>
            <a:r>
              <a:rPr sz="4000" spc="-135" dirty="0"/>
              <a:t>Registers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80439" y="1429914"/>
            <a:ext cx="7565390" cy="42856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0"/>
              </a:spcBef>
              <a:tabLst>
                <a:tab pos="2057400" algn="l"/>
              </a:tabLst>
            </a:pPr>
            <a:r>
              <a:rPr sz="3300" spc="-202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35" dirty="0">
                <a:latin typeface="Times New Roman"/>
                <a:cs typeface="Times New Roman"/>
              </a:rPr>
              <a:t>Shift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Register	</a:t>
            </a:r>
            <a:r>
              <a:rPr sz="2600" spc="-100" dirty="0">
                <a:latin typeface="Times New Roman"/>
                <a:cs typeface="Times New Roman"/>
              </a:rPr>
              <a:t>(bits </a:t>
            </a:r>
            <a:r>
              <a:rPr sz="2600" spc="-95" dirty="0">
                <a:latin typeface="Times New Roman"/>
                <a:cs typeface="Times New Roman"/>
              </a:rPr>
              <a:t>are </a:t>
            </a:r>
            <a:r>
              <a:rPr sz="2600" spc="-125" dirty="0">
                <a:latin typeface="Times New Roman"/>
                <a:cs typeface="Times New Roman"/>
              </a:rPr>
              <a:t>shifted </a:t>
            </a:r>
            <a:r>
              <a:rPr sz="2600" spc="-110" dirty="0">
                <a:latin typeface="Times New Roman"/>
                <a:cs typeface="Times New Roman"/>
              </a:rPr>
              <a:t>from </a:t>
            </a:r>
            <a:r>
              <a:rPr sz="2600" spc="-114" dirty="0">
                <a:latin typeface="Times New Roman"/>
                <a:cs typeface="Times New Roman"/>
              </a:rPr>
              <a:t>one </a:t>
            </a:r>
            <a:r>
              <a:rPr sz="2600" spc="-135" dirty="0">
                <a:latin typeface="Times New Roman"/>
                <a:cs typeface="Times New Roman"/>
              </a:rPr>
              <a:t>flip flop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another)</a:t>
            </a:r>
            <a:endParaRPr sz="26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70"/>
              </a:spcBef>
            </a:pPr>
            <a:r>
              <a:rPr sz="3075" spc="-82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55" dirty="0">
                <a:latin typeface="Times New Roman"/>
                <a:cs typeface="Times New Roman"/>
              </a:rPr>
              <a:t>(eg. </a:t>
            </a:r>
            <a:r>
              <a:rPr sz="2400" spc="-130" dirty="0">
                <a:latin typeface="Times New Roman"/>
                <a:cs typeface="Times New Roman"/>
              </a:rPr>
              <a:t>Left </a:t>
            </a:r>
            <a:r>
              <a:rPr sz="2400" spc="-35" dirty="0">
                <a:latin typeface="Times New Roman"/>
                <a:cs typeface="Times New Roman"/>
              </a:rPr>
              <a:t>or </a:t>
            </a:r>
            <a:r>
              <a:rPr sz="2400" spc="-80" dirty="0">
                <a:latin typeface="Times New Roman"/>
                <a:cs typeface="Times New Roman"/>
              </a:rPr>
              <a:t>right </a:t>
            </a:r>
            <a:r>
              <a:rPr sz="2400" spc="-120" dirty="0">
                <a:latin typeface="Times New Roman"/>
                <a:cs typeface="Times New Roman"/>
              </a:rPr>
              <a:t>shift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Register)</a:t>
            </a:r>
            <a:endParaRPr sz="2400">
              <a:latin typeface="Times New Roman"/>
              <a:cs typeface="Times New Roman"/>
            </a:endParaRPr>
          </a:p>
          <a:p>
            <a:pPr marL="298450" marR="17780" indent="-273050">
              <a:lnSpc>
                <a:spcPct val="100000"/>
              </a:lnSpc>
              <a:spcBef>
                <a:spcPts val="580"/>
              </a:spcBef>
            </a:pPr>
            <a:r>
              <a:rPr sz="3300" spc="-179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20" dirty="0">
                <a:latin typeface="Times New Roman"/>
                <a:cs typeface="Times New Roman"/>
              </a:rPr>
              <a:t>Storage </a:t>
            </a:r>
            <a:r>
              <a:rPr sz="2600" spc="-114" dirty="0">
                <a:latin typeface="Times New Roman"/>
                <a:cs typeface="Times New Roman"/>
              </a:rPr>
              <a:t>Register </a:t>
            </a:r>
            <a:r>
              <a:rPr sz="2600" spc="-75" dirty="0">
                <a:latin typeface="Times New Roman"/>
                <a:cs typeface="Times New Roman"/>
              </a:rPr>
              <a:t>(bit </a:t>
            </a:r>
            <a:r>
              <a:rPr sz="2600" spc="-95" dirty="0">
                <a:latin typeface="Times New Roman"/>
                <a:cs typeface="Times New Roman"/>
              </a:rPr>
              <a:t>are </a:t>
            </a:r>
            <a:r>
              <a:rPr sz="2600" spc="-80" dirty="0">
                <a:latin typeface="Times New Roman"/>
                <a:cs typeface="Times New Roman"/>
              </a:rPr>
              <a:t>stored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135" dirty="0">
                <a:latin typeface="Times New Roman"/>
                <a:cs typeface="Times New Roman"/>
              </a:rPr>
              <a:t>flip flop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85" dirty="0">
                <a:latin typeface="Times New Roman"/>
                <a:cs typeface="Times New Roman"/>
              </a:rPr>
              <a:t>transferred </a:t>
            </a:r>
            <a:r>
              <a:rPr sz="2600" spc="-45" dirty="0">
                <a:latin typeface="Times New Roman"/>
                <a:cs typeface="Times New Roman"/>
              </a:rPr>
              <a:t>to  </a:t>
            </a:r>
            <a:r>
              <a:rPr sz="2600" spc="-70" dirty="0">
                <a:latin typeface="Times New Roman"/>
                <a:cs typeface="Times New Roman"/>
              </a:rPr>
              <a:t>output)</a:t>
            </a:r>
            <a:endParaRPr sz="26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70"/>
              </a:spcBef>
            </a:pPr>
            <a:r>
              <a:rPr sz="3075" spc="-82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55" dirty="0">
                <a:latin typeface="Times New Roman"/>
                <a:cs typeface="Times New Roman"/>
              </a:rPr>
              <a:t>(eg. </a:t>
            </a:r>
            <a:r>
              <a:rPr sz="2400" spc="-105" dirty="0">
                <a:latin typeface="Times New Roman"/>
                <a:cs typeface="Times New Roman"/>
              </a:rPr>
              <a:t>Register </a:t>
            </a:r>
            <a:r>
              <a:rPr sz="2400" spc="-100" dirty="0">
                <a:latin typeface="Times New Roman"/>
                <a:cs typeface="Times New Roman"/>
              </a:rPr>
              <a:t>with </a:t>
            </a:r>
            <a:r>
              <a:rPr sz="2400" spc="-105" dirty="0">
                <a:latin typeface="Times New Roman"/>
                <a:cs typeface="Times New Roman"/>
              </a:rPr>
              <a:t>parallel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load)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70"/>
              </a:spcBef>
            </a:pPr>
            <a:r>
              <a:rPr sz="3300" spc="-120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80" dirty="0">
                <a:latin typeface="Times New Roman"/>
                <a:cs typeface="Times New Roman"/>
              </a:rPr>
              <a:t>There </a:t>
            </a:r>
            <a:r>
              <a:rPr sz="2600" spc="-95" dirty="0">
                <a:latin typeface="Times New Roman"/>
                <a:cs typeface="Times New Roman"/>
              </a:rPr>
              <a:t>are </a:t>
            </a:r>
            <a:r>
              <a:rPr sz="2600" spc="-100" dirty="0">
                <a:latin typeface="Times New Roman"/>
                <a:cs typeface="Times New Roman"/>
              </a:rPr>
              <a:t>four </a:t>
            </a:r>
            <a:r>
              <a:rPr sz="2600" spc="-125" dirty="0">
                <a:latin typeface="Times New Roman"/>
                <a:cs typeface="Times New Roman"/>
              </a:rPr>
              <a:t>mode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105" dirty="0">
                <a:latin typeface="Times New Roman"/>
                <a:cs typeface="Times New Roman"/>
              </a:rPr>
              <a:t>operations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130" dirty="0">
                <a:latin typeface="Times New Roman"/>
                <a:cs typeface="Times New Roman"/>
              </a:rPr>
              <a:t>shift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register.</a:t>
            </a:r>
            <a:endParaRPr sz="26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70"/>
              </a:spcBef>
            </a:pPr>
            <a:r>
              <a:rPr sz="3075" spc="-179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120" dirty="0">
                <a:latin typeface="Times New Roman"/>
                <a:cs typeface="Times New Roman"/>
              </a:rPr>
              <a:t>Serial </a:t>
            </a:r>
            <a:r>
              <a:rPr sz="2400" spc="-90" dirty="0">
                <a:latin typeface="Times New Roman"/>
                <a:cs typeface="Times New Roman"/>
              </a:rPr>
              <a:t>Input </a:t>
            </a:r>
            <a:r>
              <a:rPr sz="2400" spc="-135" dirty="0">
                <a:latin typeface="Times New Roman"/>
                <a:cs typeface="Times New Roman"/>
              </a:rPr>
              <a:t>Serial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80"/>
              </a:spcBef>
            </a:pPr>
            <a:r>
              <a:rPr sz="3075" spc="-179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120" dirty="0">
                <a:latin typeface="Times New Roman"/>
                <a:cs typeface="Times New Roman"/>
              </a:rPr>
              <a:t>Serial </a:t>
            </a:r>
            <a:r>
              <a:rPr sz="2400" spc="-90" dirty="0">
                <a:latin typeface="Times New Roman"/>
                <a:cs typeface="Times New Roman"/>
              </a:rPr>
              <a:t>Input </a:t>
            </a:r>
            <a:r>
              <a:rPr sz="2400" spc="-110" dirty="0">
                <a:latin typeface="Times New Roman"/>
                <a:cs typeface="Times New Roman"/>
              </a:rPr>
              <a:t>Parallel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70"/>
              </a:spcBef>
            </a:pPr>
            <a:r>
              <a:rPr sz="3075" spc="-150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100" dirty="0">
                <a:latin typeface="Times New Roman"/>
                <a:cs typeface="Times New Roman"/>
              </a:rPr>
              <a:t>Parallel </a:t>
            </a:r>
            <a:r>
              <a:rPr sz="2400" spc="-90" dirty="0">
                <a:latin typeface="Times New Roman"/>
                <a:cs typeface="Times New Roman"/>
              </a:rPr>
              <a:t>Input </a:t>
            </a:r>
            <a:r>
              <a:rPr sz="2400" spc="-135" dirty="0">
                <a:latin typeface="Times New Roman"/>
                <a:cs typeface="Times New Roman"/>
              </a:rPr>
              <a:t>Serial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370"/>
              </a:spcBef>
            </a:pPr>
            <a:r>
              <a:rPr sz="3075" spc="-150" baseline="9485" dirty="0">
                <a:solidFill>
                  <a:srgbClr val="9A2C1E"/>
                </a:solidFill>
                <a:latin typeface="UnDotum"/>
                <a:cs typeface="UnDotum"/>
              </a:rPr>
              <a:t></a:t>
            </a:r>
            <a:r>
              <a:rPr sz="2400" spc="-100" dirty="0">
                <a:latin typeface="Times New Roman"/>
                <a:cs typeface="Times New Roman"/>
              </a:rPr>
              <a:t>Parallel </a:t>
            </a:r>
            <a:r>
              <a:rPr sz="2400" spc="-90" dirty="0">
                <a:latin typeface="Times New Roman"/>
                <a:cs typeface="Times New Roman"/>
              </a:rPr>
              <a:t>Input </a:t>
            </a:r>
            <a:r>
              <a:rPr sz="2400" spc="-110" dirty="0">
                <a:latin typeface="Times New Roman"/>
                <a:cs typeface="Times New Roman"/>
              </a:rPr>
              <a:t>Parallel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7200"/>
            <a:ext cx="9144000" cy="640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252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Register</vt:lpstr>
      <vt:lpstr>Simple 4 bit register</vt:lpstr>
      <vt:lpstr>Slide 4</vt:lpstr>
      <vt:lpstr>Adding a parallel load operation</vt:lpstr>
      <vt:lpstr>Classification of Registers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</dc:title>
  <cp:lastModifiedBy>HP</cp:lastModifiedBy>
  <cp:revision>6</cp:revision>
  <dcterms:created xsi:type="dcterms:W3CDTF">2021-01-16T06:25:55Z</dcterms:created>
  <dcterms:modified xsi:type="dcterms:W3CDTF">2022-01-06T04:55:31Z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2018-12-01T00:00:00Z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2021-01-16T00:00:00Z</vt:filetime>
  </property>
</Properties>
</file>