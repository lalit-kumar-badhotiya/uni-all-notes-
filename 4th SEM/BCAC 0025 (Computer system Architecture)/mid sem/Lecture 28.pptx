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7" r:id="rId3"/>
    <p:sldId id="268" r:id="rId4"/>
    <p:sldId id="272" r:id="rId5"/>
    <p:sldId id="273" r:id="rId6"/>
    <p:sldId id="275" r:id="rId7"/>
    <p:sldId id="274" r:id="rId8"/>
    <p:sldId id="276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286DF-E906-4231-B966-2EF1CC6FE129}" type="datetimeFigureOut">
              <a:rPr lang="en-US" smtClean="0"/>
              <a:pPr/>
              <a:t>2/1/2021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C65AF4-DC94-4C10-B3C0-C6FB6F63CD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9C44D32-0A2B-4603-BF1C-9403C00C0DD8}" type="slidenum">
              <a:rPr lang="en-US" alt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altLang="en-US" smtClean="0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5F6DD-5F60-4A92-9D04-6B5B592086B5}" type="datetimeFigureOut">
              <a:rPr lang="en-US" smtClean="0"/>
              <a:pPr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DD7-9BD0-4902-8407-4DEB09C36F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5F6DD-5F60-4A92-9D04-6B5B592086B5}" type="datetimeFigureOut">
              <a:rPr lang="en-US" smtClean="0"/>
              <a:pPr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DD7-9BD0-4902-8407-4DEB09C36F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5F6DD-5F60-4A92-9D04-6B5B592086B5}" type="datetimeFigureOut">
              <a:rPr lang="en-US" smtClean="0"/>
              <a:pPr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DD7-9BD0-4902-8407-4DEB09C36F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5F6DD-5F60-4A92-9D04-6B5B592086B5}" type="datetimeFigureOut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DD7-9BD0-4902-8407-4DEB09C36F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5F6DD-5F60-4A92-9D04-6B5B592086B5}" type="datetimeFigureOut">
              <a:rPr lang="en-US" smtClean="0"/>
              <a:pPr/>
              <a:t>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DD7-9BD0-4902-8407-4DEB09C36F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5F6DD-5F60-4A92-9D04-6B5B592086B5}" type="datetimeFigureOut">
              <a:rPr lang="en-US" smtClean="0"/>
              <a:pPr/>
              <a:t>2/1/2021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DD7-9BD0-4902-8407-4DEB09C36F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5F6DD-5F60-4A92-9D04-6B5B592086B5}" type="datetimeFigureOut">
              <a:rPr lang="en-US" smtClean="0"/>
              <a:pPr/>
              <a:t>2/1/2021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DD7-9BD0-4902-8407-4DEB09C36F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5F6DD-5F60-4A92-9D04-6B5B592086B5}" type="datetimeFigureOut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DD7-9BD0-4902-8407-4DEB09C36F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5F6DD-5F60-4A92-9D04-6B5B592086B5}" type="datetimeFigureOut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DD7-9BD0-4902-8407-4DEB09C36F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5F6DD-5F60-4A92-9D04-6B5B592086B5}" type="datetimeFigureOut">
              <a:rPr lang="en-US" smtClean="0"/>
              <a:pPr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DD7-9BD0-4902-8407-4DEB09C36F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5F6DD-5F60-4A92-9D04-6B5B592086B5}" type="datetimeFigureOut">
              <a:rPr lang="en-US" smtClean="0"/>
              <a:pPr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DD7-9BD0-4902-8407-4DEB09C36F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5F6DD-5F60-4A92-9D04-6B5B592086B5}" type="datetimeFigureOut">
              <a:rPr lang="en-US" smtClean="0"/>
              <a:pPr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7FDD7-9BD0-4902-8407-4DEB09C36F9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772400" cy="2438400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BCA </a:t>
            </a:r>
            <a:r>
              <a:rPr lang="en-US" sz="3200" b="1" dirty="0" err="1" smtClean="0"/>
              <a:t>Ist</a:t>
            </a:r>
            <a:r>
              <a:rPr lang="en-US" sz="3200" b="1" dirty="0" smtClean="0"/>
              <a:t> Semester </a:t>
            </a:r>
            <a:br>
              <a:rPr lang="en-US" sz="3200" b="1" dirty="0" smtClean="0"/>
            </a:br>
            <a:r>
              <a:rPr lang="en-US" sz="3200" b="1" dirty="0" smtClean="0"/>
              <a:t>Introduction of Logic Circuit and Digital Design(ILCDD)</a:t>
            </a:r>
            <a:br>
              <a:rPr lang="en-US" sz="3200" b="1" dirty="0" smtClean="0"/>
            </a:br>
            <a:r>
              <a:rPr lang="en-US" sz="3200" b="1" dirty="0" smtClean="0"/>
              <a:t>Course Code: BCAC003</a:t>
            </a:r>
            <a:endParaRPr lang="en-US" altLang="en-US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903685" y="4557713"/>
            <a:ext cx="7356872" cy="1752600"/>
          </a:xfrm>
          <a:prstGeom prst="rect">
            <a:avLst/>
          </a:prstGeom>
        </p:spPr>
        <p:txBody>
          <a:bodyPr rtlCol="0">
            <a:normAutofit fontScale="85000" lnSpcReduction="20000"/>
          </a:bodyPr>
          <a:lstStyle/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Mr.Anuj</a:t>
            </a: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Kumar 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Assistant Professor, Dept. Of CE&amp;A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GLA University, Mathura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3" descr="Related image"/>
          <p:cNvPicPr>
            <a:picLocks noChangeAspect="1" noChangeArrowheads="1"/>
          </p:cNvPicPr>
          <p:nvPr/>
        </p:nvPicPr>
        <p:blipFill>
          <a:blip r:embed="rId3"/>
          <a:srcRect l="3793" t="21970" r="3781" b="23463"/>
          <a:stretch>
            <a:fillRect/>
          </a:stretch>
        </p:blipFill>
        <p:spPr bwMode="auto">
          <a:xfrm>
            <a:off x="3607594" y="500063"/>
            <a:ext cx="17145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8781" y="3074988"/>
            <a:ext cx="5829300" cy="11811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962" y="153162"/>
            <a:ext cx="8229600" cy="56388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395"/>
              </a:spcBef>
            </a:pPr>
            <a:r>
              <a:rPr sz="2900" u="none" spc="-265" dirty="0">
                <a:solidFill>
                  <a:srgbClr val="FF0000"/>
                </a:solidFill>
              </a:rPr>
              <a:t>RS </a:t>
            </a:r>
            <a:r>
              <a:rPr sz="2900" u="none" spc="105" dirty="0">
                <a:solidFill>
                  <a:srgbClr val="000000"/>
                </a:solidFill>
              </a:rPr>
              <a:t>(or) </a:t>
            </a:r>
            <a:r>
              <a:rPr sz="2900" u="none" spc="-240" dirty="0">
                <a:solidFill>
                  <a:srgbClr val="FF0000"/>
                </a:solidFill>
              </a:rPr>
              <a:t>SR</a:t>
            </a:r>
            <a:r>
              <a:rPr sz="2900" u="none" spc="-325" dirty="0">
                <a:solidFill>
                  <a:srgbClr val="FF0000"/>
                </a:solidFill>
              </a:rPr>
              <a:t> </a:t>
            </a:r>
            <a:r>
              <a:rPr sz="2900" u="none" spc="-60" dirty="0">
                <a:solidFill>
                  <a:srgbClr val="FF0000"/>
                </a:solidFill>
              </a:rPr>
              <a:t>Flip-Flop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231140" y="796188"/>
            <a:ext cx="8625205" cy="197040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45" dirty="0">
                <a:latin typeface="Georgia"/>
                <a:cs typeface="Georgia"/>
              </a:rPr>
              <a:t>The </a:t>
            </a:r>
            <a:r>
              <a:rPr sz="2200" spc="-140" dirty="0">
                <a:latin typeface="Georgia"/>
                <a:cs typeface="Georgia"/>
              </a:rPr>
              <a:t>S-R </a:t>
            </a:r>
            <a:r>
              <a:rPr sz="2200" spc="-45" dirty="0">
                <a:latin typeface="Georgia"/>
                <a:cs typeface="Georgia"/>
              </a:rPr>
              <a:t>flip-flop </a:t>
            </a:r>
            <a:r>
              <a:rPr sz="2200" spc="-25" dirty="0">
                <a:latin typeface="Georgia"/>
                <a:cs typeface="Georgia"/>
              </a:rPr>
              <a:t>is </a:t>
            </a:r>
            <a:r>
              <a:rPr sz="2200" spc="-35" dirty="0">
                <a:latin typeface="Georgia"/>
                <a:cs typeface="Georgia"/>
              </a:rPr>
              <a:t>basic </a:t>
            </a:r>
            <a:r>
              <a:rPr sz="2200" spc="-45" dirty="0">
                <a:latin typeface="Georgia"/>
                <a:cs typeface="Georgia"/>
              </a:rPr>
              <a:t>flip-flop </a:t>
            </a:r>
            <a:r>
              <a:rPr sz="2200" spc="-60" dirty="0">
                <a:latin typeface="Georgia"/>
                <a:cs typeface="Georgia"/>
              </a:rPr>
              <a:t>among </a:t>
            </a:r>
            <a:r>
              <a:rPr sz="2200" spc="-40" dirty="0">
                <a:latin typeface="Georgia"/>
                <a:cs typeface="Georgia"/>
              </a:rPr>
              <a:t>all </a:t>
            </a:r>
            <a:r>
              <a:rPr sz="2200" spc="-30" dirty="0">
                <a:latin typeface="Georgia"/>
                <a:cs typeface="Georgia"/>
              </a:rPr>
              <a:t>the</a:t>
            </a:r>
            <a:r>
              <a:rPr sz="2200" spc="35" dirty="0">
                <a:latin typeface="Georgia"/>
                <a:cs typeface="Georgia"/>
              </a:rPr>
              <a:t> </a:t>
            </a:r>
            <a:r>
              <a:rPr sz="2200" spc="-50" dirty="0">
                <a:latin typeface="Georgia"/>
                <a:cs typeface="Georgia"/>
              </a:rPr>
              <a:t>flip-flops.</a:t>
            </a:r>
            <a:endParaRPr sz="2200">
              <a:latin typeface="Georgia"/>
              <a:cs typeface="Georgia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65" dirty="0">
                <a:latin typeface="Georgia"/>
                <a:cs typeface="Georgia"/>
              </a:rPr>
              <a:t>All </a:t>
            </a:r>
            <a:r>
              <a:rPr sz="2200" spc="-30" dirty="0">
                <a:latin typeface="Georgia"/>
                <a:cs typeface="Georgia"/>
              </a:rPr>
              <a:t>the </a:t>
            </a:r>
            <a:r>
              <a:rPr sz="2200" spc="-20" dirty="0">
                <a:latin typeface="Georgia"/>
                <a:cs typeface="Georgia"/>
              </a:rPr>
              <a:t>other </a:t>
            </a:r>
            <a:r>
              <a:rPr sz="2200" spc="-40" dirty="0">
                <a:latin typeface="Georgia"/>
                <a:cs typeface="Georgia"/>
              </a:rPr>
              <a:t>flip </a:t>
            </a:r>
            <a:r>
              <a:rPr sz="2200" spc="-30" dirty="0">
                <a:latin typeface="Georgia"/>
                <a:cs typeface="Georgia"/>
              </a:rPr>
              <a:t>flops </a:t>
            </a:r>
            <a:r>
              <a:rPr sz="2200" spc="-25" dirty="0">
                <a:latin typeface="Georgia"/>
                <a:cs typeface="Georgia"/>
              </a:rPr>
              <a:t>are developed </a:t>
            </a:r>
            <a:r>
              <a:rPr sz="2200" spc="-30" dirty="0">
                <a:latin typeface="Georgia"/>
                <a:cs typeface="Georgia"/>
              </a:rPr>
              <a:t>after</a:t>
            </a:r>
            <a:r>
              <a:rPr sz="2200" spc="-15" dirty="0">
                <a:latin typeface="Georgia"/>
                <a:cs typeface="Georgia"/>
              </a:rPr>
              <a:t> </a:t>
            </a:r>
            <a:r>
              <a:rPr sz="2200" spc="-75" dirty="0">
                <a:latin typeface="Georgia"/>
                <a:cs typeface="Georgia"/>
              </a:rPr>
              <a:t>SR-flip-flop.</a:t>
            </a:r>
            <a:endParaRPr sz="2200">
              <a:latin typeface="Georgia"/>
              <a:cs typeface="Georgia"/>
            </a:endParaRPr>
          </a:p>
          <a:p>
            <a:pPr marL="355600" marR="5080" indent="-3429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165" dirty="0">
                <a:latin typeface="Georgia"/>
                <a:cs typeface="Georgia"/>
              </a:rPr>
              <a:t>SR </a:t>
            </a:r>
            <a:r>
              <a:rPr sz="2200" spc="-45" dirty="0">
                <a:latin typeface="Georgia"/>
                <a:cs typeface="Georgia"/>
              </a:rPr>
              <a:t>flip-flop </a:t>
            </a:r>
            <a:r>
              <a:rPr sz="2200" spc="-25" dirty="0">
                <a:latin typeface="Georgia"/>
                <a:cs typeface="Georgia"/>
              </a:rPr>
              <a:t>operates </a:t>
            </a:r>
            <a:r>
              <a:rPr sz="2200" spc="-15" dirty="0">
                <a:latin typeface="Georgia"/>
                <a:cs typeface="Georgia"/>
              </a:rPr>
              <a:t>with </a:t>
            </a:r>
            <a:r>
              <a:rPr sz="2200" spc="-40" dirty="0">
                <a:latin typeface="Georgia"/>
                <a:cs typeface="Georgia"/>
              </a:rPr>
              <a:t>only </a:t>
            </a:r>
            <a:r>
              <a:rPr sz="2200" spc="-30" dirty="0">
                <a:latin typeface="Georgia"/>
                <a:cs typeface="Georgia"/>
              </a:rPr>
              <a:t>positive clock </a:t>
            </a:r>
            <a:r>
              <a:rPr sz="2200" spc="-40" dirty="0">
                <a:latin typeface="Georgia"/>
                <a:cs typeface="Georgia"/>
              </a:rPr>
              <a:t>transitions </a:t>
            </a:r>
            <a:r>
              <a:rPr sz="2200" spc="35" dirty="0">
                <a:latin typeface="Georgia"/>
                <a:cs typeface="Georgia"/>
              </a:rPr>
              <a:t>(or) </a:t>
            </a:r>
            <a:r>
              <a:rPr sz="2200" spc="-45" dirty="0">
                <a:latin typeface="Georgia"/>
                <a:cs typeface="Georgia"/>
              </a:rPr>
              <a:t>negative  </a:t>
            </a:r>
            <a:r>
              <a:rPr sz="2200" spc="-30" dirty="0">
                <a:latin typeface="Georgia"/>
                <a:cs typeface="Georgia"/>
              </a:rPr>
              <a:t>clock</a:t>
            </a:r>
            <a:r>
              <a:rPr sz="2200" spc="-45" dirty="0">
                <a:latin typeface="Georgia"/>
                <a:cs typeface="Georgia"/>
              </a:rPr>
              <a:t> </a:t>
            </a:r>
            <a:r>
              <a:rPr sz="2200" spc="-50" dirty="0">
                <a:latin typeface="Georgia"/>
                <a:cs typeface="Georgia"/>
              </a:rPr>
              <a:t>transitions.</a:t>
            </a:r>
            <a:endParaRPr sz="2200">
              <a:latin typeface="Georgia"/>
              <a:cs typeface="Georgia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55" dirty="0">
                <a:latin typeface="Georgia"/>
                <a:cs typeface="Georgia"/>
              </a:rPr>
              <a:t>Whereas, </a:t>
            </a:r>
            <a:r>
              <a:rPr sz="2200" spc="-165" dirty="0">
                <a:latin typeface="Georgia"/>
                <a:cs typeface="Georgia"/>
              </a:rPr>
              <a:t>SR </a:t>
            </a:r>
            <a:r>
              <a:rPr sz="2200" spc="-50" dirty="0">
                <a:latin typeface="Georgia"/>
                <a:cs typeface="Georgia"/>
              </a:rPr>
              <a:t>latch </a:t>
            </a:r>
            <a:r>
              <a:rPr sz="2200" spc="-25" dirty="0">
                <a:latin typeface="Georgia"/>
                <a:cs typeface="Georgia"/>
              </a:rPr>
              <a:t>operates </a:t>
            </a:r>
            <a:r>
              <a:rPr sz="2200" spc="-15" dirty="0">
                <a:latin typeface="Georgia"/>
                <a:cs typeface="Georgia"/>
              </a:rPr>
              <a:t>with </a:t>
            </a:r>
            <a:r>
              <a:rPr sz="2200" spc="-30" dirty="0">
                <a:latin typeface="Georgia"/>
                <a:cs typeface="Georgia"/>
              </a:rPr>
              <a:t>enable</a:t>
            </a:r>
            <a:r>
              <a:rPr sz="2200" spc="135" dirty="0">
                <a:latin typeface="Georgia"/>
                <a:cs typeface="Georgia"/>
              </a:rPr>
              <a:t> </a:t>
            </a:r>
            <a:r>
              <a:rPr sz="2200" spc="-55" dirty="0">
                <a:latin typeface="Georgia"/>
                <a:cs typeface="Georgia"/>
              </a:rPr>
              <a:t>signal.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38400" y="3200400"/>
            <a:ext cx="3505200" cy="29058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3473018"/>
            <a:ext cx="8164830" cy="1433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45" dirty="0">
                <a:latin typeface="Georgia"/>
                <a:cs typeface="Georgia"/>
              </a:rPr>
              <a:t>This </a:t>
            </a:r>
            <a:r>
              <a:rPr sz="2200" spc="-35" dirty="0">
                <a:latin typeface="Georgia"/>
                <a:cs typeface="Georgia"/>
              </a:rPr>
              <a:t>circuit </a:t>
            </a:r>
            <a:r>
              <a:rPr sz="2200" spc="-40" dirty="0">
                <a:latin typeface="Georgia"/>
                <a:cs typeface="Georgia"/>
              </a:rPr>
              <a:t>has </a:t>
            </a:r>
            <a:r>
              <a:rPr sz="2200" spc="5" dirty="0">
                <a:latin typeface="Georgia"/>
                <a:cs typeface="Georgia"/>
              </a:rPr>
              <a:t>two </a:t>
            </a:r>
            <a:r>
              <a:rPr sz="2200" spc="-40" dirty="0">
                <a:latin typeface="Georgia"/>
                <a:cs typeface="Georgia"/>
              </a:rPr>
              <a:t>inputs </a:t>
            </a:r>
            <a:r>
              <a:rPr sz="2200" spc="-145" dirty="0">
                <a:latin typeface="Georgia"/>
                <a:cs typeface="Georgia"/>
              </a:rPr>
              <a:t>S </a:t>
            </a:r>
            <a:r>
              <a:rPr sz="2200" spc="-55" dirty="0">
                <a:latin typeface="Georgia"/>
                <a:cs typeface="Georgia"/>
              </a:rPr>
              <a:t>&amp; </a:t>
            </a:r>
            <a:r>
              <a:rPr sz="2200" spc="-180" dirty="0">
                <a:latin typeface="Georgia"/>
                <a:cs typeface="Georgia"/>
              </a:rPr>
              <a:t>R </a:t>
            </a:r>
            <a:r>
              <a:rPr sz="2200" spc="-60" dirty="0">
                <a:latin typeface="Georgia"/>
                <a:cs typeface="Georgia"/>
              </a:rPr>
              <a:t>and </a:t>
            </a:r>
            <a:r>
              <a:rPr sz="2200" spc="5" dirty="0">
                <a:latin typeface="Georgia"/>
                <a:cs typeface="Georgia"/>
              </a:rPr>
              <a:t>two </a:t>
            </a:r>
            <a:r>
              <a:rPr sz="2200" spc="-30">
                <a:latin typeface="Georgia"/>
                <a:cs typeface="Georgia"/>
              </a:rPr>
              <a:t>outputs </a:t>
            </a:r>
            <a:r>
              <a:rPr sz="2200" spc="-25" smtClean="0">
                <a:latin typeface="Georgia"/>
                <a:cs typeface="Georgia"/>
              </a:rPr>
              <a:t>Q</a:t>
            </a:r>
            <a:r>
              <a:rPr lang="en-US" sz="2200" spc="-25" dirty="0" smtClean="0">
                <a:latin typeface="Georgia"/>
                <a:cs typeface="Georgia"/>
              </a:rPr>
              <a:t> </a:t>
            </a:r>
            <a:r>
              <a:rPr sz="2200" spc="-25" smtClean="0">
                <a:latin typeface="Georgia"/>
                <a:cs typeface="Georgia"/>
              </a:rPr>
              <a:t>&amp; </a:t>
            </a:r>
            <a:r>
              <a:rPr sz="2200" spc="-80" smtClean="0">
                <a:latin typeface="Georgia"/>
                <a:cs typeface="Georgia"/>
              </a:rPr>
              <a:t>Q’.</a:t>
            </a:r>
            <a:r>
              <a:rPr sz="2200" spc="-185" smtClean="0">
                <a:latin typeface="Georgia"/>
                <a:cs typeface="Georgia"/>
              </a:rPr>
              <a:t> </a:t>
            </a:r>
            <a:r>
              <a:rPr sz="2200" spc="-45" dirty="0">
                <a:latin typeface="Georgia"/>
                <a:cs typeface="Georgia"/>
              </a:rPr>
              <a:t>The</a:t>
            </a:r>
            <a:endParaRPr sz="2200">
              <a:latin typeface="Georgia"/>
              <a:cs typeface="Georgi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200" spc="-35" dirty="0">
                <a:latin typeface="Georgia"/>
                <a:cs typeface="Georgia"/>
              </a:rPr>
              <a:t>operation </a:t>
            </a:r>
            <a:r>
              <a:rPr sz="2200" spc="-40" dirty="0">
                <a:latin typeface="Georgia"/>
                <a:cs typeface="Georgia"/>
              </a:rPr>
              <a:t>of </a:t>
            </a:r>
            <a:r>
              <a:rPr sz="2200" spc="-165" dirty="0">
                <a:latin typeface="Georgia"/>
                <a:cs typeface="Georgia"/>
              </a:rPr>
              <a:t>SR </a:t>
            </a:r>
            <a:r>
              <a:rPr sz="2200" spc="-45" dirty="0">
                <a:latin typeface="Georgia"/>
                <a:cs typeface="Georgia"/>
              </a:rPr>
              <a:t>flip </a:t>
            </a:r>
            <a:r>
              <a:rPr sz="2200" spc="-35" dirty="0">
                <a:latin typeface="Georgia"/>
                <a:cs typeface="Georgia"/>
              </a:rPr>
              <a:t>flop </a:t>
            </a:r>
            <a:r>
              <a:rPr sz="2200" spc="-25" dirty="0">
                <a:latin typeface="Georgia"/>
                <a:cs typeface="Georgia"/>
              </a:rPr>
              <a:t>is </a:t>
            </a:r>
            <a:r>
              <a:rPr sz="2200" spc="-40" dirty="0">
                <a:latin typeface="Georgia"/>
                <a:cs typeface="Georgia"/>
              </a:rPr>
              <a:t>similar </a:t>
            </a:r>
            <a:r>
              <a:rPr sz="2200" spc="-35" dirty="0">
                <a:latin typeface="Georgia"/>
                <a:cs typeface="Georgia"/>
              </a:rPr>
              <a:t>to </a:t>
            </a:r>
            <a:r>
              <a:rPr sz="2200" spc="-165" dirty="0">
                <a:latin typeface="Georgia"/>
                <a:cs typeface="Georgia"/>
              </a:rPr>
              <a:t>SR</a:t>
            </a:r>
            <a:r>
              <a:rPr sz="2200" spc="35" dirty="0">
                <a:latin typeface="Georgia"/>
                <a:cs typeface="Georgia"/>
              </a:rPr>
              <a:t> </a:t>
            </a:r>
            <a:r>
              <a:rPr sz="2200" spc="-85" dirty="0">
                <a:latin typeface="Georgia"/>
                <a:cs typeface="Georgia"/>
              </a:rPr>
              <a:t>Latch.</a:t>
            </a:r>
            <a:endParaRPr sz="2200">
              <a:latin typeface="Georgia"/>
              <a:cs typeface="Georgia"/>
            </a:endParaRPr>
          </a:p>
          <a:p>
            <a:pPr marL="355600" marR="323850" indent="-342900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80" dirty="0">
                <a:latin typeface="Georgia"/>
                <a:cs typeface="Georgia"/>
              </a:rPr>
              <a:t>Consider, </a:t>
            </a:r>
            <a:r>
              <a:rPr sz="2200" spc="-40" dirty="0">
                <a:latin typeface="Georgia"/>
                <a:cs typeface="Georgia"/>
              </a:rPr>
              <a:t>this </a:t>
            </a:r>
            <a:r>
              <a:rPr sz="2200" spc="-45" dirty="0">
                <a:latin typeface="Georgia"/>
                <a:cs typeface="Georgia"/>
              </a:rPr>
              <a:t>flip-flop </a:t>
            </a:r>
            <a:r>
              <a:rPr sz="2200" spc="-35" dirty="0">
                <a:latin typeface="Georgia"/>
                <a:cs typeface="Georgia"/>
              </a:rPr>
              <a:t>affects </a:t>
            </a:r>
            <a:r>
              <a:rPr sz="2200" spc="-30" dirty="0">
                <a:latin typeface="Georgia"/>
                <a:cs typeface="Georgia"/>
              </a:rPr>
              <a:t>the outputs </a:t>
            </a:r>
            <a:r>
              <a:rPr sz="2200" spc="-40" dirty="0">
                <a:latin typeface="Georgia"/>
                <a:cs typeface="Georgia"/>
              </a:rPr>
              <a:t>only </a:t>
            </a:r>
            <a:r>
              <a:rPr sz="2200" spc="-20" dirty="0">
                <a:latin typeface="Georgia"/>
                <a:cs typeface="Georgia"/>
              </a:rPr>
              <a:t>when </a:t>
            </a:r>
            <a:r>
              <a:rPr sz="2200" b="1" spc="10" dirty="0">
                <a:latin typeface="Times New Roman"/>
                <a:cs typeface="Times New Roman"/>
              </a:rPr>
              <a:t>positive  </a:t>
            </a:r>
            <a:r>
              <a:rPr sz="2200" spc="-40" dirty="0">
                <a:latin typeface="Georgia"/>
                <a:cs typeface="Georgia"/>
              </a:rPr>
              <a:t>transition of </a:t>
            </a:r>
            <a:r>
              <a:rPr sz="2200" spc="-30" dirty="0">
                <a:latin typeface="Georgia"/>
                <a:cs typeface="Georgia"/>
              </a:rPr>
              <a:t>the clock </a:t>
            </a:r>
            <a:r>
              <a:rPr sz="2200" spc="-40" dirty="0">
                <a:latin typeface="Georgia"/>
                <a:cs typeface="Georgia"/>
              </a:rPr>
              <a:t>signal </a:t>
            </a:r>
            <a:r>
              <a:rPr sz="2200" spc="-25" dirty="0">
                <a:latin typeface="Georgia"/>
                <a:cs typeface="Georgia"/>
              </a:rPr>
              <a:t>is </a:t>
            </a:r>
            <a:r>
              <a:rPr sz="2200" spc="-35" dirty="0">
                <a:latin typeface="Georgia"/>
                <a:cs typeface="Georgia"/>
              </a:rPr>
              <a:t>applied instead </a:t>
            </a:r>
            <a:r>
              <a:rPr sz="2200" spc="-40" dirty="0">
                <a:latin typeface="Georgia"/>
                <a:cs typeface="Georgia"/>
              </a:rPr>
              <a:t>of active</a:t>
            </a:r>
            <a:r>
              <a:rPr sz="2200" spc="40" dirty="0">
                <a:latin typeface="Georgia"/>
                <a:cs typeface="Georgia"/>
              </a:rPr>
              <a:t> </a:t>
            </a:r>
            <a:r>
              <a:rPr sz="2200" spc="-50" dirty="0">
                <a:latin typeface="Georgia"/>
                <a:cs typeface="Georgia"/>
              </a:rPr>
              <a:t>enable.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3540" y="253695"/>
            <a:ext cx="8189595" cy="7354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45" dirty="0">
                <a:latin typeface="Georgia"/>
                <a:cs typeface="Georgia"/>
              </a:rPr>
              <a:t>The </a:t>
            </a:r>
            <a:r>
              <a:rPr sz="2200" b="1" spc="-35" dirty="0">
                <a:latin typeface="Times New Roman"/>
                <a:cs typeface="Times New Roman"/>
              </a:rPr>
              <a:t>circuit </a:t>
            </a:r>
            <a:r>
              <a:rPr sz="2200" b="1" spc="-40" dirty="0">
                <a:latin typeface="Times New Roman"/>
                <a:cs typeface="Times New Roman"/>
              </a:rPr>
              <a:t>diagram </a:t>
            </a:r>
            <a:r>
              <a:rPr sz="2200" spc="-35" dirty="0">
                <a:latin typeface="Georgia"/>
                <a:cs typeface="Georgia"/>
              </a:rPr>
              <a:t>of </a:t>
            </a:r>
            <a:r>
              <a:rPr sz="2200" spc="-165" dirty="0">
                <a:latin typeface="Georgia"/>
                <a:cs typeface="Georgia"/>
              </a:rPr>
              <a:t>SR </a:t>
            </a:r>
            <a:r>
              <a:rPr sz="2200" spc="-45" dirty="0">
                <a:latin typeface="Georgia"/>
                <a:cs typeface="Georgia"/>
              </a:rPr>
              <a:t>flip-flop </a:t>
            </a:r>
            <a:r>
              <a:rPr sz="2200" spc="-20" dirty="0">
                <a:latin typeface="Georgia"/>
                <a:cs typeface="Georgia"/>
              </a:rPr>
              <a:t>is </a:t>
            </a:r>
            <a:r>
              <a:rPr sz="2200" spc="-25" dirty="0">
                <a:latin typeface="Georgia"/>
                <a:cs typeface="Georgia"/>
              </a:rPr>
              <a:t>shown </a:t>
            </a:r>
            <a:r>
              <a:rPr sz="2200" spc="-55" dirty="0">
                <a:latin typeface="Georgia"/>
                <a:cs typeface="Georgia"/>
              </a:rPr>
              <a:t>in </a:t>
            </a:r>
            <a:r>
              <a:rPr sz="2200" spc="-30" dirty="0">
                <a:latin typeface="Georgia"/>
                <a:cs typeface="Georgia"/>
              </a:rPr>
              <a:t>the </a:t>
            </a:r>
            <a:r>
              <a:rPr sz="2200" spc="-35" dirty="0">
                <a:latin typeface="Georgia"/>
                <a:cs typeface="Georgia"/>
              </a:rPr>
              <a:t>following</a:t>
            </a:r>
            <a:r>
              <a:rPr sz="2200" spc="-145" dirty="0">
                <a:latin typeface="Georgia"/>
                <a:cs typeface="Georgia"/>
              </a:rPr>
              <a:t> </a:t>
            </a:r>
            <a:r>
              <a:rPr sz="2200" spc="-50" dirty="0">
                <a:latin typeface="Georgia"/>
                <a:cs typeface="Georgia"/>
              </a:rPr>
              <a:t>figure.</a:t>
            </a: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500">
              <a:latin typeface="Georgia"/>
              <a:cs typeface="Georgia"/>
            </a:endParaRPr>
          </a:p>
        </p:txBody>
      </p:sp>
      <p:pic>
        <p:nvPicPr>
          <p:cNvPr id="9" name="Picture 8" descr="SR_f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85800"/>
            <a:ext cx="4267200" cy="28709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AND-Gate-truth-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457200"/>
            <a:ext cx="2076927" cy="2390774"/>
          </a:xfrm>
          <a:prstGeom prst="rect">
            <a:avLst/>
          </a:prstGeom>
        </p:spPr>
      </p:pic>
      <p:pic>
        <p:nvPicPr>
          <p:cNvPr id="4" name="Picture 3" descr="Clocked-S-R-Flip-Fl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09600"/>
            <a:ext cx="4672012" cy="50534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acteristic-Equation-For-SR-Flip-Fl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762000"/>
            <a:ext cx="4219575" cy="20288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276600"/>
            <a:ext cx="5574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/>
              <a:t>Characterstics</a:t>
            </a:r>
            <a:r>
              <a:rPr lang="en-US" sz="3200" dirty="0" smtClean="0"/>
              <a:t> Equation=   S+QR’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962" y="153162"/>
            <a:ext cx="8229600" cy="56388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395"/>
              </a:spcBef>
            </a:pPr>
            <a:r>
              <a:rPr sz="2900" u="none" spc="-175" dirty="0">
                <a:solidFill>
                  <a:srgbClr val="FF0000"/>
                </a:solidFill>
              </a:rPr>
              <a:t>D</a:t>
            </a:r>
            <a:r>
              <a:rPr sz="2900" u="none" spc="-145" dirty="0">
                <a:solidFill>
                  <a:srgbClr val="FF0000"/>
                </a:solidFill>
              </a:rPr>
              <a:t> </a:t>
            </a:r>
            <a:r>
              <a:rPr sz="2900" u="none" spc="-60" dirty="0">
                <a:solidFill>
                  <a:srgbClr val="FF0000"/>
                </a:solidFill>
              </a:rPr>
              <a:t>Flip-Flop</a:t>
            </a:r>
            <a:endParaRPr sz="2900"/>
          </a:p>
        </p:txBody>
      </p:sp>
      <p:sp>
        <p:nvSpPr>
          <p:cNvPr id="3" name="object 3"/>
          <p:cNvSpPr/>
          <p:nvPr/>
        </p:nvSpPr>
        <p:spPr>
          <a:xfrm>
            <a:off x="153162" y="838961"/>
            <a:ext cx="8839200" cy="5288280"/>
          </a:xfrm>
          <a:custGeom>
            <a:avLst/>
            <a:gdLst/>
            <a:ahLst/>
            <a:cxnLst/>
            <a:rect l="l" t="t" r="r" b="b"/>
            <a:pathLst>
              <a:path w="8839200" h="5288280">
                <a:moveTo>
                  <a:pt x="0" y="5288280"/>
                </a:moveTo>
                <a:lnTo>
                  <a:pt x="8839200" y="5288280"/>
                </a:lnTo>
                <a:lnTo>
                  <a:pt x="8839200" y="0"/>
                </a:lnTo>
                <a:lnTo>
                  <a:pt x="0" y="0"/>
                </a:lnTo>
                <a:lnTo>
                  <a:pt x="0" y="5288280"/>
                </a:lnTo>
                <a:close/>
              </a:path>
            </a:pathLst>
          </a:custGeom>
          <a:ln w="25908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1140" y="796188"/>
            <a:ext cx="6414135" cy="284226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140" dirty="0">
                <a:latin typeface="Times New Roman"/>
                <a:cs typeface="Times New Roman"/>
              </a:rPr>
              <a:t>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flip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–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25" dirty="0">
                <a:latin typeface="Times New Roman"/>
                <a:cs typeface="Times New Roman"/>
              </a:rPr>
              <a:t>flop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95" dirty="0">
                <a:latin typeface="Times New Roman"/>
                <a:cs typeface="Times New Roman"/>
              </a:rPr>
              <a:t>has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90" dirty="0">
                <a:latin typeface="Times New Roman"/>
                <a:cs typeface="Times New Roman"/>
              </a:rPr>
              <a:t>two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95" dirty="0">
                <a:latin typeface="Times New Roman"/>
                <a:cs typeface="Times New Roman"/>
              </a:rPr>
              <a:t>inputs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,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105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90" dirty="0">
                <a:latin typeface="Times New Roman"/>
                <a:cs typeface="Times New Roman"/>
              </a:rPr>
              <a:t>two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105" dirty="0">
                <a:latin typeface="Times New Roman"/>
                <a:cs typeface="Times New Roman"/>
              </a:rPr>
              <a:t>outputs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95" dirty="0">
                <a:latin typeface="Times New Roman"/>
                <a:cs typeface="Times New Roman"/>
              </a:rPr>
              <a:t>a </a:t>
            </a:r>
            <a:r>
              <a:rPr sz="2200" spc="15" dirty="0">
                <a:latin typeface="Times New Roman"/>
                <a:cs typeface="Times New Roman"/>
              </a:rPr>
              <a:t>clock </a:t>
            </a:r>
            <a:r>
              <a:rPr sz="2200" spc="-130" dirty="0">
                <a:latin typeface="Times New Roman"/>
                <a:cs typeface="Times New Roman"/>
              </a:rPr>
              <a:t>(</a:t>
            </a:r>
            <a:r>
              <a:rPr sz="2200" b="1" spc="-130" dirty="0">
                <a:solidFill>
                  <a:srgbClr val="0D0D0D"/>
                </a:solidFill>
                <a:latin typeface="Times New Roman"/>
                <a:cs typeface="Times New Roman"/>
              </a:rPr>
              <a:t>CLK</a:t>
            </a:r>
            <a:r>
              <a:rPr sz="2200" spc="-130" dirty="0">
                <a:latin typeface="Times New Roman"/>
                <a:cs typeface="Times New Roman"/>
              </a:rPr>
              <a:t>) </a:t>
            </a:r>
            <a:r>
              <a:rPr sz="2200" spc="95" dirty="0">
                <a:latin typeface="Times New Roman"/>
                <a:cs typeface="Times New Roman"/>
              </a:rPr>
              <a:t>input</a:t>
            </a:r>
            <a:r>
              <a:rPr sz="2200" spc="-254" dirty="0">
                <a:latin typeface="Times New Roman"/>
                <a:cs typeface="Times New Roman"/>
              </a:rPr>
              <a:t> </a:t>
            </a:r>
            <a:r>
              <a:rPr sz="2200" spc="105" dirty="0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95" dirty="0">
                <a:latin typeface="Times New Roman"/>
                <a:cs typeface="Times New Roman"/>
              </a:rPr>
              <a:t>a </a:t>
            </a:r>
            <a:r>
              <a:rPr sz="2200" spc="105" dirty="0">
                <a:latin typeface="Times New Roman"/>
                <a:cs typeface="Times New Roman"/>
              </a:rPr>
              <a:t>data </a:t>
            </a:r>
            <a:r>
              <a:rPr sz="2200" spc="70" dirty="0">
                <a:latin typeface="Times New Roman"/>
                <a:cs typeface="Times New Roman"/>
              </a:rPr>
              <a:t>(</a:t>
            </a:r>
            <a:r>
              <a:rPr sz="2200" b="1" spc="70" dirty="0">
                <a:latin typeface="Times New Roman"/>
                <a:cs typeface="Times New Roman"/>
              </a:rPr>
              <a:t>D</a:t>
            </a:r>
            <a:r>
              <a:rPr sz="2200" spc="70" dirty="0">
                <a:latin typeface="Times New Roman"/>
                <a:cs typeface="Times New Roman"/>
              </a:rPr>
              <a:t>)</a:t>
            </a:r>
            <a:r>
              <a:rPr sz="2200" spc="-405" dirty="0">
                <a:latin typeface="Times New Roman"/>
                <a:cs typeface="Times New Roman"/>
              </a:rPr>
              <a:t> </a:t>
            </a:r>
            <a:r>
              <a:rPr sz="2200" spc="95" dirty="0">
                <a:latin typeface="Times New Roman"/>
                <a:cs typeface="Times New Roman"/>
              </a:rPr>
              <a:t>input</a:t>
            </a:r>
            <a:endParaRPr sz="2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And </a:t>
            </a:r>
            <a:r>
              <a:rPr sz="2200" spc="105" dirty="0">
                <a:latin typeface="Times New Roman"/>
                <a:cs typeface="Times New Roman"/>
              </a:rPr>
              <a:t>outputs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105" dirty="0">
                <a:latin typeface="Times New Roman"/>
                <a:cs typeface="Times New Roman"/>
              </a:rPr>
              <a:t>are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95" dirty="0">
                <a:latin typeface="Times New Roman"/>
                <a:cs typeface="Times New Roman"/>
              </a:rPr>
              <a:t>one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40" dirty="0">
                <a:latin typeface="Times New Roman"/>
                <a:cs typeface="Times New Roman"/>
              </a:rPr>
              <a:t>is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80" dirty="0">
                <a:latin typeface="Times New Roman"/>
                <a:cs typeface="Times New Roman"/>
              </a:rPr>
              <a:t>main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110" dirty="0">
                <a:latin typeface="Times New Roman"/>
                <a:cs typeface="Times New Roman"/>
              </a:rPr>
              <a:t>output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110" dirty="0">
                <a:latin typeface="Times New Roman"/>
                <a:cs typeface="Times New Roman"/>
              </a:rPr>
              <a:t>represented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30" dirty="0">
                <a:latin typeface="Times New Roman"/>
                <a:cs typeface="Times New Roman"/>
              </a:rPr>
              <a:t>by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spc="-280" dirty="0">
                <a:latin typeface="Times New Roman"/>
                <a:cs typeface="Times New Roman"/>
              </a:rPr>
              <a:t>Q</a:t>
            </a:r>
            <a:r>
              <a:rPr sz="2200" b="1" spc="-95" dirty="0">
                <a:latin typeface="Times New Roman"/>
                <a:cs typeface="Times New Roman"/>
              </a:rPr>
              <a:t> </a:t>
            </a:r>
            <a:r>
              <a:rPr sz="2200" spc="105" dirty="0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105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114" dirty="0">
                <a:latin typeface="Times New Roman"/>
                <a:cs typeface="Times New Roman"/>
              </a:rPr>
              <a:t>other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40" dirty="0">
                <a:latin typeface="Times New Roman"/>
                <a:cs typeface="Times New Roman"/>
              </a:rPr>
              <a:t>is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80" dirty="0">
                <a:latin typeface="Times New Roman"/>
                <a:cs typeface="Times New Roman"/>
              </a:rPr>
              <a:t>complement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55" dirty="0">
                <a:latin typeface="Times New Roman"/>
                <a:cs typeface="Times New Roman"/>
              </a:rPr>
              <a:t>Q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110" dirty="0">
                <a:latin typeface="Times New Roman"/>
                <a:cs typeface="Times New Roman"/>
              </a:rPr>
              <a:t>represented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30" dirty="0">
                <a:latin typeface="Times New Roman"/>
                <a:cs typeface="Times New Roman"/>
              </a:rPr>
              <a:t>by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spc="-275" dirty="0">
                <a:latin typeface="Arial"/>
                <a:cs typeface="Arial"/>
              </a:rPr>
              <a:t>Q’.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50" dirty="0">
                <a:latin typeface="Times New Roman"/>
                <a:cs typeface="Times New Roman"/>
              </a:rPr>
              <a:t>The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55" dirty="0">
                <a:latin typeface="Times New Roman"/>
                <a:cs typeface="Times New Roman"/>
              </a:rPr>
              <a:t>symbol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95" dirty="0">
                <a:latin typeface="Times New Roman"/>
                <a:cs typeface="Times New Roman"/>
              </a:rPr>
              <a:t>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flip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–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25" dirty="0">
                <a:latin typeface="Times New Roman"/>
                <a:cs typeface="Times New Roman"/>
              </a:rPr>
              <a:t>flop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40" dirty="0">
                <a:latin typeface="Times New Roman"/>
                <a:cs typeface="Times New Roman"/>
              </a:rPr>
              <a:t>is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95" dirty="0">
                <a:latin typeface="Times New Roman"/>
                <a:cs typeface="Times New Roman"/>
              </a:rPr>
              <a:t>shown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10" dirty="0">
                <a:latin typeface="Times New Roman"/>
                <a:cs typeface="Times New Roman"/>
              </a:rPr>
              <a:t>below.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38400" y="3851147"/>
            <a:ext cx="4343400" cy="20924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81001"/>
            <a:ext cx="8229600" cy="5584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42900"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400" spc="-140" dirty="0" smtClean="0">
                <a:solidFill>
                  <a:srgbClr val="0D0D0D"/>
                </a:solidFill>
                <a:latin typeface="Times New Roman"/>
                <a:cs typeface="Times New Roman"/>
              </a:rPr>
              <a:t>D</a:t>
            </a:r>
            <a:r>
              <a:rPr lang="en-US" sz="2400" spc="-7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solidFill>
                  <a:srgbClr val="0D0D0D"/>
                </a:solidFill>
                <a:latin typeface="Times New Roman"/>
                <a:cs typeface="Times New Roman"/>
              </a:rPr>
              <a:t>flip</a:t>
            </a:r>
            <a:r>
              <a:rPr lang="en-US" sz="2400" spc="-4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 smtClean="0">
                <a:solidFill>
                  <a:srgbClr val="0D0D0D"/>
                </a:solidFill>
                <a:latin typeface="Times New Roman"/>
                <a:cs typeface="Times New Roman"/>
              </a:rPr>
              <a:t>–</a:t>
            </a:r>
            <a:r>
              <a:rPr lang="en-US" sz="2400" spc="-5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35" dirty="0" smtClean="0">
                <a:solidFill>
                  <a:srgbClr val="0D0D0D"/>
                </a:solidFill>
                <a:latin typeface="Times New Roman"/>
                <a:cs typeface="Times New Roman"/>
              </a:rPr>
              <a:t>flops</a:t>
            </a:r>
            <a:r>
              <a:rPr lang="en-US" sz="2400" spc="-5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105" dirty="0" smtClean="0">
                <a:solidFill>
                  <a:srgbClr val="0D0D0D"/>
                </a:solidFill>
                <a:latin typeface="Times New Roman"/>
                <a:cs typeface="Times New Roman"/>
              </a:rPr>
              <a:t>are</a:t>
            </a:r>
            <a:r>
              <a:rPr lang="en-US" sz="2400" spc="-5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50" dirty="0" smtClean="0">
                <a:solidFill>
                  <a:srgbClr val="0D0D0D"/>
                </a:solidFill>
                <a:latin typeface="Times New Roman"/>
                <a:cs typeface="Times New Roman"/>
              </a:rPr>
              <a:t>also</a:t>
            </a:r>
            <a:r>
              <a:rPr lang="en-US" sz="2400" spc="-5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45" dirty="0" smtClean="0">
                <a:solidFill>
                  <a:srgbClr val="0D0D0D"/>
                </a:solidFill>
                <a:latin typeface="Times New Roman"/>
                <a:cs typeface="Times New Roman"/>
              </a:rPr>
              <a:t>called</a:t>
            </a:r>
            <a:r>
              <a:rPr lang="en-US" sz="2400" spc="-5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85" dirty="0" smtClean="0">
                <a:solidFill>
                  <a:srgbClr val="0D0D0D"/>
                </a:solidFill>
                <a:latin typeface="Times New Roman"/>
                <a:cs typeface="Times New Roman"/>
              </a:rPr>
              <a:t>as</a:t>
            </a:r>
            <a:r>
              <a:rPr lang="en-US" sz="2400" spc="-4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-30" dirty="0" smtClean="0">
                <a:solidFill>
                  <a:srgbClr val="0D0D0D"/>
                </a:solidFill>
                <a:latin typeface="Times New Roman"/>
                <a:cs typeface="Times New Roman"/>
              </a:rPr>
              <a:t>“Delay</a:t>
            </a:r>
            <a:r>
              <a:rPr lang="en-US" sz="2400" spc="-5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5" dirty="0" smtClean="0">
                <a:solidFill>
                  <a:srgbClr val="0D0D0D"/>
                </a:solidFill>
                <a:latin typeface="Times New Roman"/>
                <a:cs typeface="Times New Roman"/>
              </a:rPr>
              <a:t>flip</a:t>
            </a:r>
            <a:r>
              <a:rPr lang="en-US" sz="2400" spc="-3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 smtClean="0">
                <a:solidFill>
                  <a:srgbClr val="0D0D0D"/>
                </a:solidFill>
                <a:latin typeface="Times New Roman"/>
                <a:cs typeface="Times New Roman"/>
              </a:rPr>
              <a:t>–</a:t>
            </a:r>
            <a:r>
              <a:rPr lang="en-US" sz="2400" spc="-6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-25" dirty="0" smtClean="0">
                <a:solidFill>
                  <a:srgbClr val="0D0D0D"/>
                </a:solidFill>
                <a:latin typeface="Times New Roman"/>
                <a:cs typeface="Times New Roman"/>
              </a:rPr>
              <a:t>flop”</a:t>
            </a:r>
            <a:r>
              <a:rPr lang="en-US" sz="2400" spc="-5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120" dirty="0" smtClean="0">
                <a:solidFill>
                  <a:srgbClr val="0D0D0D"/>
                </a:solidFill>
                <a:latin typeface="Times New Roman"/>
                <a:cs typeface="Times New Roman"/>
              </a:rPr>
              <a:t>or</a:t>
            </a:r>
            <a:r>
              <a:rPr lang="en-US" sz="2400" spc="-7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solidFill>
                  <a:srgbClr val="0D0D0D"/>
                </a:solidFill>
                <a:latin typeface="Times New Roman"/>
                <a:cs typeface="Times New Roman"/>
              </a:rPr>
              <a:t>“Data</a:t>
            </a:r>
            <a:r>
              <a:rPr lang="en-US" sz="2400" spc="-5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5" dirty="0" smtClean="0">
                <a:solidFill>
                  <a:srgbClr val="0D0D0D"/>
                </a:solidFill>
                <a:latin typeface="Times New Roman"/>
                <a:cs typeface="Times New Roman"/>
              </a:rPr>
              <a:t>flip</a:t>
            </a:r>
            <a:r>
              <a:rPr lang="en-US" sz="2400" spc="-4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 smtClean="0">
                <a:solidFill>
                  <a:srgbClr val="0D0D0D"/>
                </a:solidFill>
                <a:latin typeface="Times New Roman"/>
                <a:cs typeface="Times New Roman"/>
              </a:rPr>
              <a:t>–</a:t>
            </a:r>
            <a:r>
              <a:rPr lang="en-US" sz="2400" spc="-6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-75" dirty="0" smtClean="0">
                <a:solidFill>
                  <a:srgbClr val="0D0D0D"/>
                </a:solidFill>
                <a:latin typeface="Times New Roman"/>
                <a:cs typeface="Times New Roman"/>
              </a:rPr>
              <a:t>flop”.</a:t>
            </a:r>
            <a:endParaRPr lang="en-US" sz="2400" dirty="0" smtClean="0">
              <a:latin typeface="Times New Roman"/>
              <a:cs typeface="Times New Roman"/>
            </a:endParaRPr>
          </a:p>
          <a:p>
            <a:pPr marL="355600" indent="-342900">
              <a:spcBef>
                <a:spcPts val="18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400" spc="30" dirty="0" smtClean="0">
                <a:solidFill>
                  <a:srgbClr val="0D0D0D"/>
                </a:solidFill>
                <a:latin typeface="Times New Roman"/>
                <a:cs typeface="Times New Roman"/>
              </a:rPr>
              <a:t>They</a:t>
            </a:r>
            <a:r>
              <a:rPr lang="en-US" sz="2400" spc="-5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105" dirty="0" smtClean="0">
                <a:solidFill>
                  <a:srgbClr val="0D0D0D"/>
                </a:solidFill>
                <a:latin typeface="Times New Roman"/>
                <a:cs typeface="Times New Roman"/>
              </a:rPr>
              <a:t>are</a:t>
            </a:r>
            <a:r>
              <a:rPr lang="en-US" sz="2400" spc="-4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95" dirty="0" smtClean="0">
                <a:solidFill>
                  <a:srgbClr val="0D0D0D"/>
                </a:solidFill>
                <a:latin typeface="Times New Roman"/>
                <a:cs typeface="Times New Roman"/>
              </a:rPr>
              <a:t>used</a:t>
            </a:r>
            <a:r>
              <a:rPr lang="en-US" sz="2400" spc="-6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85" dirty="0" smtClean="0">
                <a:solidFill>
                  <a:srgbClr val="0D0D0D"/>
                </a:solidFill>
                <a:latin typeface="Times New Roman"/>
                <a:cs typeface="Times New Roman"/>
              </a:rPr>
              <a:t>to</a:t>
            </a:r>
            <a:r>
              <a:rPr lang="en-US" sz="2400" spc="-5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100" dirty="0" smtClean="0">
                <a:solidFill>
                  <a:srgbClr val="0D0D0D"/>
                </a:solidFill>
                <a:latin typeface="Times New Roman"/>
                <a:cs typeface="Times New Roman"/>
              </a:rPr>
              <a:t>store</a:t>
            </a:r>
            <a:r>
              <a:rPr lang="en-US" sz="2400" spc="-5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114" dirty="0" smtClean="0">
                <a:solidFill>
                  <a:srgbClr val="0D0D0D"/>
                </a:solidFill>
                <a:latin typeface="Times New Roman"/>
                <a:cs typeface="Times New Roman"/>
              </a:rPr>
              <a:t>1</a:t>
            </a:r>
            <a:r>
              <a:rPr lang="en-US" sz="2400" spc="-4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 smtClean="0">
                <a:solidFill>
                  <a:srgbClr val="0D0D0D"/>
                </a:solidFill>
                <a:latin typeface="Times New Roman"/>
                <a:cs typeface="Times New Roman"/>
              </a:rPr>
              <a:t>–</a:t>
            </a:r>
            <a:r>
              <a:rPr lang="en-US" sz="2400" spc="-6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70" dirty="0" smtClean="0">
                <a:solidFill>
                  <a:srgbClr val="0D0D0D"/>
                </a:solidFill>
                <a:latin typeface="Times New Roman"/>
                <a:cs typeface="Times New Roman"/>
              </a:rPr>
              <a:t>bit</a:t>
            </a:r>
            <a:r>
              <a:rPr lang="en-US" sz="2400" spc="-6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75" dirty="0" smtClean="0">
                <a:solidFill>
                  <a:srgbClr val="0D0D0D"/>
                </a:solidFill>
                <a:latin typeface="Times New Roman"/>
                <a:cs typeface="Times New Roman"/>
              </a:rPr>
              <a:t>binary</a:t>
            </a:r>
            <a:r>
              <a:rPr lang="en-US" sz="2400" spc="-6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65" dirty="0" smtClean="0">
                <a:solidFill>
                  <a:srgbClr val="0D0D0D"/>
                </a:solidFill>
                <a:latin typeface="Times New Roman"/>
                <a:cs typeface="Times New Roman"/>
              </a:rPr>
              <a:t>data.</a:t>
            </a:r>
            <a:endParaRPr lang="en-US" sz="2400" dirty="0" smtClean="0">
              <a:latin typeface="Times New Roman"/>
              <a:cs typeface="Times New Roman"/>
            </a:endParaRPr>
          </a:p>
          <a:p>
            <a:pPr marL="355600" indent="-342900">
              <a:spcBef>
                <a:spcPts val="18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400" spc="30" dirty="0" smtClean="0">
                <a:solidFill>
                  <a:srgbClr val="0D0D0D"/>
                </a:solidFill>
                <a:latin typeface="Times New Roman"/>
                <a:cs typeface="Times New Roman"/>
              </a:rPr>
              <a:t>They</a:t>
            </a:r>
            <a:r>
              <a:rPr lang="en-US" sz="2400" spc="-5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105" dirty="0" smtClean="0">
                <a:solidFill>
                  <a:srgbClr val="0D0D0D"/>
                </a:solidFill>
                <a:latin typeface="Times New Roman"/>
                <a:cs typeface="Times New Roman"/>
              </a:rPr>
              <a:t>are</a:t>
            </a:r>
            <a:r>
              <a:rPr lang="en-US" sz="2400" spc="-3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95" dirty="0" smtClean="0">
                <a:solidFill>
                  <a:srgbClr val="0D0D0D"/>
                </a:solidFill>
                <a:latin typeface="Times New Roman"/>
                <a:cs typeface="Times New Roman"/>
              </a:rPr>
              <a:t>one</a:t>
            </a:r>
            <a:r>
              <a:rPr lang="en-US" sz="2400" spc="-7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 smtClean="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lang="en-US" sz="2400" spc="-6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105" dirty="0" smtClean="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lang="en-US" sz="2400" spc="-6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40" dirty="0" smtClean="0">
                <a:solidFill>
                  <a:srgbClr val="0D0D0D"/>
                </a:solidFill>
                <a:latin typeface="Times New Roman"/>
                <a:cs typeface="Times New Roman"/>
              </a:rPr>
              <a:t>widely</a:t>
            </a:r>
            <a:r>
              <a:rPr lang="en-US" sz="2400" spc="-5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95" dirty="0" smtClean="0">
                <a:solidFill>
                  <a:srgbClr val="0D0D0D"/>
                </a:solidFill>
                <a:latin typeface="Times New Roman"/>
                <a:cs typeface="Times New Roman"/>
              </a:rPr>
              <a:t>used</a:t>
            </a:r>
            <a:r>
              <a:rPr lang="en-US" sz="2400" spc="-4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5" dirty="0" smtClean="0">
                <a:solidFill>
                  <a:srgbClr val="0D0D0D"/>
                </a:solidFill>
                <a:latin typeface="Times New Roman"/>
                <a:cs typeface="Times New Roman"/>
              </a:rPr>
              <a:t>flip</a:t>
            </a:r>
            <a:r>
              <a:rPr lang="en-US" sz="2400" spc="-2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 smtClean="0">
                <a:solidFill>
                  <a:srgbClr val="0D0D0D"/>
                </a:solidFill>
                <a:latin typeface="Times New Roman"/>
                <a:cs typeface="Times New Roman"/>
              </a:rPr>
              <a:t>–</a:t>
            </a:r>
            <a:r>
              <a:rPr lang="en-US" sz="2400" spc="-6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35" dirty="0" smtClean="0">
                <a:solidFill>
                  <a:srgbClr val="0D0D0D"/>
                </a:solidFill>
                <a:latin typeface="Times New Roman"/>
                <a:cs typeface="Times New Roman"/>
              </a:rPr>
              <a:t>flops</a:t>
            </a:r>
            <a:r>
              <a:rPr lang="en-US" sz="2400" spc="-5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60" dirty="0" smtClean="0">
                <a:solidFill>
                  <a:srgbClr val="0D0D0D"/>
                </a:solidFill>
                <a:latin typeface="Times New Roman"/>
                <a:cs typeface="Times New Roman"/>
              </a:rPr>
              <a:t>in</a:t>
            </a:r>
            <a:r>
              <a:rPr lang="en-US" sz="2400" spc="-6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40" dirty="0" smtClean="0">
                <a:solidFill>
                  <a:srgbClr val="0D0D0D"/>
                </a:solidFill>
                <a:latin typeface="Times New Roman"/>
                <a:cs typeface="Times New Roman"/>
              </a:rPr>
              <a:t>digital</a:t>
            </a:r>
            <a:r>
              <a:rPr lang="en-US" sz="2400" spc="-4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50" dirty="0" smtClean="0">
                <a:solidFill>
                  <a:srgbClr val="0D0D0D"/>
                </a:solidFill>
                <a:latin typeface="Times New Roman"/>
                <a:cs typeface="Times New Roman"/>
              </a:rPr>
              <a:t>electronics.</a:t>
            </a:r>
            <a:endParaRPr lang="en-US" sz="2400" dirty="0" smtClean="0">
              <a:latin typeface="Times New Roman"/>
              <a:cs typeface="Times New Roman"/>
            </a:endParaRPr>
          </a:p>
          <a:p>
            <a:pPr marL="355600" marR="957580" indent="-342900"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400" spc="-140" dirty="0" smtClean="0">
                <a:solidFill>
                  <a:srgbClr val="0D0D0D"/>
                </a:solidFill>
                <a:latin typeface="Times New Roman"/>
                <a:cs typeface="Times New Roman"/>
              </a:rPr>
              <a:t>D</a:t>
            </a:r>
            <a:r>
              <a:rPr lang="en-US" sz="2400" spc="-7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solidFill>
                  <a:srgbClr val="0D0D0D"/>
                </a:solidFill>
                <a:latin typeface="Times New Roman"/>
                <a:cs typeface="Times New Roman"/>
              </a:rPr>
              <a:t>flip</a:t>
            </a:r>
            <a:r>
              <a:rPr lang="en-US" sz="2400" spc="-5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 smtClean="0">
                <a:solidFill>
                  <a:srgbClr val="0D0D0D"/>
                </a:solidFill>
                <a:latin typeface="Times New Roman"/>
                <a:cs typeface="Times New Roman"/>
              </a:rPr>
              <a:t>–</a:t>
            </a:r>
            <a:r>
              <a:rPr lang="en-US" sz="2400" spc="-5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35" dirty="0" smtClean="0">
                <a:solidFill>
                  <a:srgbClr val="0D0D0D"/>
                </a:solidFill>
                <a:latin typeface="Times New Roman"/>
                <a:cs typeface="Times New Roman"/>
              </a:rPr>
              <a:t>flops</a:t>
            </a:r>
            <a:r>
              <a:rPr lang="en-US" sz="2400" spc="-5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105" dirty="0" smtClean="0">
                <a:solidFill>
                  <a:srgbClr val="0D0D0D"/>
                </a:solidFill>
                <a:latin typeface="Times New Roman"/>
                <a:cs typeface="Times New Roman"/>
              </a:rPr>
              <a:t>are</a:t>
            </a:r>
            <a:r>
              <a:rPr lang="en-US" sz="2400" spc="-5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50" dirty="0" smtClean="0">
                <a:solidFill>
                  <a:srgbClr val="0D0D0D"/>
                </a:solidFill>
                <a:latin typeface="Times New Roman"/>
                <a:cs typeface="Times New Roman"/>
              </a:rPr>
              <a:t>also</a:t>
            </a:r>
            <a:r>
              <a:rPr lang="en-US" sz="2400" spc="-5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spc="80" dirty="0" smtClean="0">
                <a:solidFill>
                  <a:srgbClr val="0D0D0D"/>
                </a:solidFill>
                <a:latin typeface="Times New Roman"/>
                <a:cs typeface="Times New Roman"/>
              </a:rPr>
              <a:t>considered</a:t>
            </a:r>
            <a:r>
              <a:rPr lang="en-US" sz="2400" spc="-2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25" dirty="0" smtClean="0">
                <a:solidFill>
                  <a:srgbClr val="0D0D0D"/>
                </a:solidFill>
                <a:latin typeface="Times New Roman"/>
                <a:cs typeface="Times New Roman"/>
              </a:rPr>
              <a:t>as</a:t>
            </a:r>
            <a:r>
              <a:rPr lang="en-US" sz="2400" b="1" spc="-12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35" dirty="0" smtClean="0">
                <a:solidFill>
                  <a:srgbClr val="0D0D0D"/>
                </a:solidFill>
                <a:latin typeface="Times New Roman"/>
                <a:cs typeface="Times New Roman"/>
              </a:rPr>
              <a:t>Delay</a:t>
            </a:r>
            <a:r>
              <a:rPr lang="en-US" sz="2400" b="1" spc="-13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15" dirty="0" smtClean="0">
                <a:solidFill>
                  <a:srgbClr val="0D0D0D"/>
                </a:solidFill>
                <a:latin typeface="Times New Roman"/>
                <a:cs typeface="Times New Roman"/>
              </a:rPr>
              <a:t>line</a:t>
            </a:r>
            <a:r>
              <a:rPr lang="en-US" sz="2400" b="1" spc="-13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30" dirty="0" smtClean="0">
                <a:solidFill>
                  <a:srgbClr val="0D0D0D"/>
                </a:solidFill>
                <a:latin typeface="Times New Roman"/>
                <a:cs typeface="Times New Roman"/>
              </a:rPr>
              <a:t>elements</a:t>
            </a:r>
            <a:r>
              <a:rPr lang="en-US" sz="2400" b="1" spc="37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25" dirty="0" smtClean="0">
                <a:solidFill>
                  <a:srgbClr val="0D0D0D"/>
                </a:solidFill>
                <a:latin typeface="Times New Roman"/>
                <a:cs typeface="Times New Roman"/>
              </a:rPr>
              <a:t>and  </a:t>
            </a:r>
            <a:r>
              <a:rPr lang="en-US" sz="2400" b="1" spc="-70" dirty="0" smtClean="0">
                <a:solidFill>
                  <a:srgbClr val="0D0D0D"/>
                </a:solidFill>
                <a:latin typeface="Times New Roman"/>
                <a:cs typeface="Times New Roman"/>
              </a:rPr>
              <a:t>Zero </a:t>
            </a:r>
            <a:r>
              <a:rPr lang="en-US" sz="2400" b="1" spc="-130" dirty="0" smtClean="0">
                <a:solidFill>
                  <a:srgbClr val="0D0D0D"/>
                </a:solidFill>
                <a:latin typeface="Arial"/>
                <a:cs typeface="Arial"/>
              </a:rPr>
              <a:t>– </a:t>
            </a:r>
            <a:r>
              <a:rPr lang="en-US" sz="2400" b="1" spc="-85" dirty="0" smtClean="0">
                <a:solidFill>
                  <a:srgbClr val="0D0D0D"/>
                </a:solidFill>
                <a:latin typeface="Times New Roman"/>
                <a:cs typeface="Times New Roman"/>
              </a:rPr>
              <a:t>Order </a:t>
            </a:r>
            <a:r>
              <a:rPr lang="en-US" sz="2400" b="1" spc="-45" dirty="0" smtClean="0">
                <a:solidFill>
                  <a:srgbClr val="0D0D0D"/>
                </a:solidFill>
                <a:latin typeface="Times New Roman"/>
                <a:cs typeface="Times New Roman"/>
              </a:rPr>
              <a:t>Hold</a:t>
            </a:r>
            <a:r>
              <a:rPr lang="en-US" sz="2400" b="1" spc="-27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10" dirty="0" smtClean="0">
                <a:solidFill>
                  <a:srgbClr val="0D0D0D"/>
                </a:solidFill>
                <a:latin typeface="Times New Roman"/>
                <a:cs typeface="Times New Roman"/>
              </a:rPr>
              <a:t>elements.</a:t>
            </a:r>
          </a:p>
          <a:p>
            <a:pPr marL="355600" marR="957580" indent="-342900"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400" spc="-225" dirty="0" smtClean="0">
                <a:latin typeface="Times New Roman"/>
                <a:cs typeface="Times New Roman"/>
              </a:rPr>
              <a:t>A</a:t>
            </a:r>
            <a:r>
              <a:rPr lang="en-US" sz="2400" spc="-60" dirty="0" smtClean="0">
                <a:latin typeface="Times New Roman"/>
                <a:cs typeface="Times New Roman"/>
              </a:rPr>
              <a:t>  </a:t>
            </a:r>
            <a:r>
              <a:rPr lang="en-US" sz="2400" spc="-140" dirty="0" smtClean="0">
                <a:latin typeface="Times New Roman"/>
                <a:cs typeface="Times New Roman"/>
              </a:rPr>
              <a:t>D</a:t>
            </a:r>
            <a:r>
              <a:rPr lang="en-US" sz="2400" spc="-60" dirty="0" smtClean="0">
                <a:latin typeface="Times New Roman"/>
                <a:cs typeface="Times New Roman"/>
              </a:rPr>
              <a:t> </a:t>
            </a:r>
            <a:r>
              <a:rPr lang="en-US" sz="2400" spc="5" dirty="0" smtClean="0">
                <a:latin typeface="Times New Roman"/>
                <a:cs typeface="Times New Roman"/>
              </a:rPr>
              <a:t>flip</a:t>
            </a:r>
            <a:r>
              <a:rPr lang="en-US" sz="2400" spc="-60" dirty="0" smtClean="0">
                <a:latin typeface="Times New Roman"/>
                <a:cs typeface="Times New Roman"/>
              </a:rPr>
              <a:t> </a:t>
            </a:r>
            <a:r>
              <a:rPr lang="en-US" sz="2400" spc="-5" dirty="0" smtClean="0">
                <a:latin typeface="Times New Roman"/>
                <a:cs typeface="Times New Roman"/>
              </a:rPr>
              <a:t>–</a:t>
            </a:r>
            <a:r>
              <a:rPr lang="en-US" sz="2400" spc="-65" dirty="0" smtClean="0">
                <a:latin typeface="Times New Roman"/>
                <a:cs typeface="Times New Roman"/>
              </a:rPr>
              <a:t> </a:t>
            </a:r>
            <a:r>
              <a:rPr lang="en-US" sz="2400" spc="25" dirty="0" smtClean="0">
                <a:latin typeface="Times New Roman"/>
                <a:cs typeface="Times New Roman"/>
              </a:rPr>
              <a:t>flop</a:t>
            </a:r>
            <a:r>
              <a:rPr lang="en-US" sz="2400" spc="-60" dirty="0" smtClean="0">
                <a:latin typeface="Times New Roman"/>
                <a:cs typeface="Times New Roman"/>
              </a:rPr>
              <a:t> </a:t>
            </a:r>
            <a:r>
              <a:rPr lang="en-US" sz="2400" spc="40" dirty="0" smtClean="0">
                <a:latin typeface="Times New Roman"/>
                <a:cs typeface="Times New Roman"/>
              </a:rPr>
              <a:t>is</a:t>
            </a:r>
            <a:r>
              <a:rPr lang="en-US" sz="2400" spc="-50" dirty="0" smtClean="0">
                <a:latin typeface="Times New Roman"/>
                <a:cs typeface="Times New Roman"/>
              </a:rPr>
              <a:t> </a:t>
            </a:r>
            <a:r>
              <a:rPr lang="en-US" sz="2400" spc="90" dirty="0" smtClean="0">
                <a:latin typeface="Times New Roman"/>
                <a:cs typeface="Times New Roman"/>
              </a:rPr>
              <a:t>constructed</a:t>
            </a:r>
            <a:r>
              <a:rPr lang="en-US" sz="2400" spc="-30" dirty="0" smtClean="0">
                <a:latin typeface="Times New Roman"/>
                <a:cs typeface="Times New Roman"/>
              </a:rPr>
              <a:t> </a:t>
            </a:r>
            <a:r>
              <a:rPr lang="en-US" sz="2400" spc="30" dirty="0" smtClean="0">
                <a:latin typeface="Times New Roman"/>
                <a:cs typeface="Times New Roman"/>
              </a:rPr>
              <a:t>by</a:t>
            </a:r>
            <a:r>
              <a:rPr lang="en-US" sz="2400" spc="-50" dirty="0" smtClean="0">
                <a:latin typeface="Times New Roman"/>
                <a:cs typeface="Times New Roman"/>
              </a:rPr>
              <a:t> </a:t>
            </a:r>
            <a:r>
              <a:rPr lang="en-US" sz="2400" spc="30" dirty="0" smtClean="0">
                <a:latin typeface="Times New Roman"/>
                <a:cs typeface="Times New Roman"/>
              </a:rPr>
              <a:t>modifying</a:t>
            </a:r>
            <a:r>
              <a:rPr lang="en-US" sz="2400" spc="-50" dirty="0" smtClean="0">
                <a:latin typeface="Times New Roman"/>
                <a:cs typeface="Times New Roman"/>
              </a:rPr>
              <a:t> </a:t>
            </a:r>
            <a:r>
              <a:rPr lang="en-US" sz="2400" spc="105" dirty="0" smtClean="0">
                <a:latin typeface="Times New Roman"/>
                <a:cs typeface="Times New Roman"/>
              </a:rPr>
              <a:t>an</a:t>
            </a:r>
            <a:r>
              <a:rPr lang="en-US" sz="2400" spc="-60" dirty="0" smtClean="0">
                <a:latin typeface="Times New Roman"/>
                <a:cs typeface="Times New Roman"/>
              </a:rPr>
              <a:t> </a:t>
            </a:r>
            <a:r>
              <a:rPr lang="en-US" sz="2400" spc="-120" dirty="0" smtClean="0">
                <a:latin typeface="Times New Roman"/>
                <a:cs typeface="Times New Roman"/>
              </a:rPr>
              <a:t>SR</a:t>
            </a:r>
            <a:r>
              <a:rPr lang="en-US" sz="2400" spc="-65" dirty="0" smtClean="0">
                <a:latin typeface="Times New Roman"/>
                <a:cs typeface="Times New Roman"/>
              </a:rPr>
              <a:t> </a:t>
            </a:r>
            <a:r>
              <a:rPr lang="en-US" sz="2400" spc="5" dirty="0" smtClean="0">
                <a:latin typeface="Times New Roman"/>
                <a:cs typeface="Times New Roman"/>
              </a:rPr>
              <a:t>flip</a:t>
            </a:r>
            <a:r>
              <a:rPr lang="en-US" sz="2400" spc="-60" dirty="0" smtClean="0">
                <a:latin typeface="Times New Roman"/>
                <a:cs typeface="Times New Roman"/>
              </a:rPr>
              <a:t> </a:t>
            </a:r>
            <a:r>
              <a:rPr lang="en-US" sz="2400" spc="-5" dirty="0" smtClean="0">
                <a:latin typeface="Times New Roman"/>
                <a:cs typeface="Times New Roman"/>
              </a:rPr>
              <a:t>–</a:t>
            </a:r>
            <a:r>
              <a:rPr lang="en-US" sz="2400" spc="-6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flop.</a:t>
            </a:r>
          </a:p>
          <a:p>
            <a:pPr marL="355600" marR="957580" indent="-342900"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400" spc="50" dirty="0" smtClean="0">
                <a:latin typeface="Times New Roman"/>
                <a:cs typeface="Times New Roman"/>
              </a:rPr>
              <a:t>The </a:t>
            </a:r>
            <a:r>
              <a:rPr lang="en-US" sz="2400" b="1" spc="-135" dirty="0" smtClean="0">
                <a:solidFill>
                  <a:srgbClr val="FF0000"/>
                </a:solidFill>
                <a:latin typeface="Times New Roman"/>
                <a:cs typeface="Times New Roman"/>
              </a:rPr>
              <a:t>S </a:t>
            </a:r>
            <a:r>
              <a:rPr lang="en-US" sz="2400" spc="100" dirty="0" smtClean="0">
                <a:latin typeface="Times New Roman"/>
                <a:cs typeface="Times New Roman"/>
              </a:rPr>
              <a:t>input </a:t>
            </a:r>
            <a:r>
              <a:rPr lang="en-US" sz="2400" spc="40" dirty="0" smtClean="0">
                <a:latin typeface="Times New Roman"/>
                <a:cs typeface="Times New Roman"/>
              </a:rPr>
              <a:t>is </a:t>
            </a:r>
            <a:r>
              <a:rPr lang="en-US" sz="2400" spc="25" dirty="0" smtClean="0">
                <a:latin typeface="Times New Roman"/>
                <a:cs typeface="Times New Roman"/>
              </a:rPr>
              <a:t>given </a:t>
            </a:r>
            <a:r>
              <a:rPr lang="en-US" sz="2400" spc="85" dirty="0" smtClean="0">
                <a:latin typeface="Times New Roman"/>
                <a:cs typeface="Times New Roman"/>
              </a:rPr>
              <a:t>with </a:t>
            </a:r>
            <a:r>
              <a:rPr lang="en-US" sz="2400" b="1" spc="-140" dirty="0" smtClean="0">
                <a:solidFill>
                  <a:srgbClr val="FF0000"/>
                </a:solidFill>
                <a:latin typeface="Times New Roman"/>
                <a:cs typeface="Times New Roman"/>
              </a:rPr>
              <a:t>D </a:t>
            </a:r>
            <a:r>
              <a:rPr lang="en-US" sz="2400" spc="100" dirty="0" smtClean="0">
                <a:latin typeface="Times New Roman"/>
                <a:cs typeface="Times New Roman"/>
              </a:rPr>
              <a:t>input </a:t>
            </a:r>
            <a:r>
              <a:rPr lang="en-US" sz="2400" spc="105" dirty="0" smtClean="0">
                <a:latin typeface="Times New Roman"/>
                <a:cs typeface="Times New Roman"/>
              </a:rPr>
              <a:t>and </a:t>
            </a:r>
            <a:r>
              <a:rPr lang="en-US" sz="2400" spc="110" dirty="0" smtClean="0">
                <a:latin typeface="Times New Roman"/>
                <a:cs typeface="Times New Roman"/>
              </a:rPr>
              <a:t>the </a:t>
            </a:r>
            <a:r>
              <a:rPr lang="en-US" sz="2400" b="1" spc="-225" dirty="0" smtClean="0">
                <a:solidFill>
                  <a:srgbClr val="FF0000"/>
                </a:solidFill>
                <a:latin typeface="Times New Roman"/>
                <a:cs typeface="Times New Roman"/>
              </a:rPr>
              <a:t>R </a:t>
            </a:r>
            <a:r>
              <a:rPr lang="en-US" sz="2400" b="1" spc="-20" dirty="0" smtClean="0">
                <a:latin typeface="Times New Roman"/>
                <a:cs typeface="Times New Roman"/>
              </a:rPr>
              <a:t>input </a:t>
            </a:r>
            <a:r>
              <a:rPr lang="en-US" sz="2400" spc="40" dirty="0" smtClean="0">
                <a:latin typeface="Times New Roman"/>
                <a:cs typeface="Times New Roman"/>
              </a:rPr>
              <a:t>is </a:t>
            </a:r>
            <a:r>
              <a:rPr lang="en-US" sz="2400" spc="25" dirty="0" smtClean="0">
                <a:latin typeface="Times New Roman"/>
                <a:cs typeface="Times New Roman"/>
              </a:rPr>
              <a:t>given </a:t>
            </a:r>
            <a:r>
              <a:rPr lang="en-US" sz="2400" spc="85" dirty="0" smtClean="0">
                <a:latin typeface="Times New Roman"/>
                <a:cs typeface="Times New Roman"/>
              </a:rPr>
              <a:t>with  </a:t>
            </a:r>
            <a:r>
              <a:rPr lang="en-US" sz="2400" b="1" spc="-15" dirty="0" smtClean="0">
                <a:latin typeface="Times New Roman"/>
                <a:cs typeface="Times New Roman"/>
              </a:rPr>
              <a:t>inverted </a:t>
            </a:r>
            <a:r>
              <a:rPr lang="en-US" sz="2400" b="1" spc="-140" dirty="0" smtClean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lang="en-US" sz="2400" b="1" spc="-225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30" dirty="0" smtClean="0">
                <a:latin typeface="Times New Roman"/>
                <a:cs typeface="Times New Roman"/>
              </a:rPr>
              <a:t>input</a:t>
            </a:r>
            <a:r>
              <a:rPr lang="en-US" sz="2400" spc="-30" dirty="0" smtClean="0">
                <a:latin typeface="Times New Roman"/>
                <a:cs typeface="Times New Roman"/>
              </a:rPr>
              <a:t>.</a:t>
            </a:r>
            <a:endParaRPr lang="en-US" sz="2400" dirty="0" smtClean="0">
              <a:latin typeface="Times New Roman"/>
              <a:cs typeface="Times New Roman"/>
            </a:endParaRPr>
          </a:p>
          <a:p>
            <a:pPr marL="355600" marR="957580" indent="-342900">
              <a:lnSpc>
                <a:spcPct val="17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endParaRPr lang="en-US" dirty="0" smtClean="0">
              <a:latin typeface="Times New Roman"/>
              <a:cs typeface="Times New Roman"/>
            </a:endParaRPr>
          </a:p>
          <a:p>
            <a:pPr marL="355600" marR="957580" indent="-342900">
              <a:lnSpc>
                <a:spcPct val="17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endParaRPr lang="en-US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wnlo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81000"/>
            <a:ext cx="5913586" cy="2614612"/>
          </a:xfrm>
          <a:prstGeom prst="rect">
            <a:avLst/>
          </a:prstGeom>
        </p:spPr>
      </p:pic>
      <p:pic>
        <p:nvPicPr>
          <p:cNvPr id="3" name="Picture 2" descr="NAND-Gate-truth-tab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3200400"/>
            <a:ext cx="2076927" cy="2390774"/>
          </a:xfrm>
          <a:prstGeom prst="rect">
            <a:avLst/>
          </a:prstGeom>
        </p:spPr>
      </p:pic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048000"/>
            <a:ext cx="2514600" cy="22544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600" y="5410200"/>
            <a:ext cx="2074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</a:t>
            </a:r>
            <a:r>
              <a:rPr lang="en-US" b="1" dirty="0" smtClean="0"/>
              <a:t>Characteristic table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553200" y="5715000"/>
            <a:ext cx="2396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NAND GATE Truth Table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810000" y="304800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-5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Construction </a:t>
            </a:r>
            <a:r>
              <a:rPr lang="en-US" spc="-525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&amp;       L</a:t>
            </a:r>
            <a:r>
              <a:rPr lang="en-US" spc="-1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ogic</a:t>
            </a:r>
            <a:r>
              <a:rPr lang="en-US" spc="-37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25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Circuit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57400" y="6248400"/>
            <a:ext cx="27991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Characterstics</a:t>
            </a:r>
            <a:r>
              <a:rPr lang="en-US" dirty="0" smtClean="0"/>
              <a:t> Equation=   D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308</Words>
  <Application>Microsoft Office PowerPoint</Application>
  <PresentationFormat>On-screen Show (4:3)</PresentationFormat>
  <Paragraphs>34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 BCA Ist Semester  Introduction of Logic Circuit and Digital Design(ILCDD) Course Code: BCAC003</vt:lpstr>
      <vt:lpstr>RS (or) SR Flip-Flop</vt:lpstr>
      <vt:lpstr>Slide 3</vt:lpstr>
      <vt:lpstr>Slide 4</vt:lpstr>
      <vt:lpstr>Slide 5</vt:lpstr>
      <vt:lpstr>D Flip-Flop</vt:lpstr>
      <vt:lpstr>Slide 7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BCA Ist Semester  Introduction of Logic Circuit and Digital Design(ILCDD) Course Code: BCAC003</dc:title>
  <dc:creator>ADMIN</dc:creator>
  <cp:lastModifiedBy>ADMIN</cp:lastModifiedBy>
  <cp:revision>6</cp:revision>
  <dcterms:created xsi:type="dcterms:W3CDTF">2021-01-16T04:47:58Z</dcterms:created>
  <dcterms:modified xsi:type="dcterms:W3CDTF">2021-02-01T08:26:48Z</dcterms:modified>
</cp:coreProperties>
</file>