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57" r:id="rId3"/>
    <p:sldId id="263" r:id="rId4"/>
    <p:sldId id="258" r:id="rId5"/>
    <p:sldId id="259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10BDC-F868-4237-AEE3-67E47637D5B3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CF7A-ACB2-47EE-B217-CF03707106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61F2-8AF9-47FE-89FD-6FDCF28488B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BCAC003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CE&amp;A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Arithmetic operation on Binary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57400"/>
            <a:ext cx="8153400" cy="40687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Arithmetic addition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Arithmetic Subtraction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Arithmetic addition</a:t>
            </a:r>
            <a:r>
              <a:rPr lang="en-US" altLang="zh-TW" dirty="0" smtClean="0">
                <a:solidFill>
                  <a:srgbClr val="FF0000"/>
                </a:solidFill>
              </a:rPr>
              <a:t/>
            </a:r>
            <a:br>
              <a:rPr lang="en-US" altLang="zh-TW" dirty="0" smtClean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763000" cy="5257800"/>
          </a:xfrm>
        </p:spPr>
        <p:txBody>
          <a:bodyPr>
            <a:normAutofit/>
          </a:bodyPr>
          <a:lstStyle/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addition of two numbers in the signed-magnitude system follows the rules of ordinary arithmetic. </a:t>
            </a:r>
          </a:p>
          <a:p>
            <a:pPr lvl="1"/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If the signs are the same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we add the two magnitudes and give the sum the common sign. </a:t>
            </a:r>
          </a:p>
          <a:p>
            <a:pPr lvl="1"/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If the signs are different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we subtract the smaller magnitude from the larger and give the difference the sign if the larger magnitude. 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addition of two signed binary numbers with negative numbers represented in signed-2's-complement form is obtained from the addition of the two numbers, including their sign bits.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carry out of the sign-bit position is discarded. </a:t>
            </a: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lum bright="-12000" contrast="24000"/>
          </a:blip>
          <a:srcRect/>
          <a:stretch>
            <a:fillRect/>
          </a:stretch>
        </p:blipFill>
        <p:spPr bwMode="auto">
          <a:xfrm>
            <a:off x="1447800" y="2819400"/>
            <a:ext cx="6442075" cy="3049012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Arithmetic </a:t>
            </a:r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Subtraction </a:t>
            </a:r>
            <a:r>
              <a:rPr lang="en-US" altLang="zh-TW" sz="4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 </a:t>
            </a:r>
            <a:r>
              <a:rPr lang="en-US" altLang="zh-TW" sz="4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2’</a:t>
            </a:r>
            <a:r>
              <a:rPr lang="en-US" altLang="zh-TW" sz="4000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zh-TW" sz="4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-complement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15000"/>
              </a:lnSpc>
              <a:buFontTx/>
              <a:buAutoNum type="arabicPeriod"/>
            </a:pPr>
            <a:r>
              <a:rPr lang="en-US" altLang="zh-TW" i="0" u="none" dirty="0" smtClean="0">
                <a:solidFill>
                  <a:schemeClr val="tx1"/>
                </a:solidFill>
              </a:rPr>
              <a:t>Take the 2’s complement of the subtrahend (including the sign bit) and add it to the minuend (including sign bit). </a:t>
            </a:r>
          </a:p>
          <a:p>
            <a:pPr marL="457200" indent="-457200">
              <a:lnSpc>
                <a:spcPct val="115000"/>
              </a:lnSpc>
              <a:buFontTx/>
              <a:buAutoNum type="arabicPeriod"/>
            </a:pPr>
            <a:r>
              <a:rPr lang="en-US" altLang="zh-TW" i="0" u="none" dirty="0" smtClean="0">
                <a:solidFill>
                  <a:schemeClr val="tx1"/>
                </a:solidFill>
              </a:rPr>
              <a:t>A carry out of sign-bit position is discarded.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 sz="2000" dirty="0" smtClean="0">
              <a:solidFill>
                <a:srgbClr val="FF0000"/>
              </a:solidFill>
            </a:endParaRPr>
          </a:p>
        </p:txBody>
      </p:sp>
      <p:sp>
        <p:nvSpPr>
          <p:cNvPr id="1028" name="內容版面配置區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endParaRPr lang="en-US" altLang="zh-TW" dirty="0" smtClean="0">
              <a:sym typeface="Symbol" pitchFamily="18" charset="2"/>
            </a:endParaRP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endParaRPr lang="en-US" altLang="zh-TW" dirty="0" smtClean="0">
              <a:sym typeface="Symbol" pitchFamily="18" charset="2"/>
            </a:endParaRPr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US" altLang="zh-TW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 smtClean="0"/>
              <a:t>Example:</a:t>
            </a: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>
            <a:off x="1219200" y="2057400"/>
            <a:ext cx="830873" cy="215900"/>
          </a:xfrm>
          <a:prstGeom prst="notchedRightArrow">
            <a:avLst>
              <a:gd name="adj1" fmla="val 50000"/>
              <a:gd name="adj2" fmla="val 104228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TW" altLang="en-US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209799" y="1676400"/>
          <a:ext cx="5194711" cy="1447800"/>
        </p:xfrm>
        <a:graphic>
          <a:graphicData uri="http://schemas.openxmlformats.org/presentationml/2006/ole">
            <p:oleObj spid="_x0000_s2050" name="Equation" r:id="rId3" imgW="1688367" imgH="431613" progId="">
              <p:embed/>
            </p:oleObj>
          </a:graphicData>
        </a:graphic>
      </p:graphicFrame>
      <p:sp>
        <p:nvSpPr>
          <p:cNvPr id="2055" name="Text Box 10"/>
          <p:cNvSpPr txBox="1">
            <a:spLocks noChangeArrowheads="1"/>
          </p:cNvSpPr>
          <p:nvPr/>
        </p:nvSpPr>
        <p:spPr bwMode="auto">
          <a:xfrm>
            <a:off x="2971800" y="3276600"/>
            <a:ext cx="2113079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TW" sz="2800" i="0" u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( 6)  ( 13</a:t>
            </a:r>
            <a:r>
              <a:rPr lang="en-US" altLang="zh-TW" sz="2000" i="0" u="none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</p:txBody>
      </p:sp>
      <p:sp>
        <p:nvSpPr>
          <p:cNvPr id="2056" name="AutoShape 11"/>
          <p:cNvSpPr>
            <a:spLocks noChangeArrowheads="1"/>
          </p:cNvSpPr>
          <p:nvPr/>
        </p:nvSpPr>
        <p:spPr bwMode="auto">
          <a:xfrm>
            <a:off x="2286000" y="4267200"/>
            <a:ext cx="832338" cy="215900"/>
          </a:xfrm>
          <a:prstGeom prst="notchedRightArrow">
            <a:avLst>
              <a:gd name="adj1" fmla="val 50000"/>
              <a:gd name="adj2" fmla="val 104412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2057" name="Text Box 12"/>
          <p:cNvSpPr txBox="1">
            <a:spLocks noChangeArrowheads="1"/>
          </p:cNvSpPr>
          <p:nvPr/>
        </p:nvSpPr>
        <p:spPr bwMode="auto">
          <a:xfrm>
            <a:off x="3352800" y="4191000"/>
            <a:ext cx="3687228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TW" sz="2800" i="0" u="none" dirty="0">
                <a:solidFill>
                  <a:schemeClr val="tx1"/>
                </a:solidFill>
              </a:rPr>
              <a:t>(11111010 </a:t>
            </a:r>
            <a:r>
              <a:rPr lang="en-US" altLang="zh-TW" sz="2800" i="0" u="none" dirty="0">
                <a:solidFill>
                  <a:schemeClr val="tx1"/>
                </a:solidFill>
                <a:sym typeface="Symbol" pitchFamily="18" charset="2"/>
              </a:rPr>
              <a:t> 11110011</a:t>
            </a:r>
            <a:r>
              <a:rPr lang="en-US" altLang="zh-TW" sz="2800" i="0" u="none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58" name="Text Box 13"/>
          <p:cNvSpPr txBox="1">
            <a:spLocks noChangeArrowheads="1"/>
          </p:cNvSpPr>
          <p:nvPr/>
        </p:nvSpPr>
        <p:spPr bwMode="auto">
          <a:xfrm>
            <a:off x="3352800" y="4800600"/>
            <a:ext cx="3639138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TW" sz="2800" i="0" u="none" dirty="0">
                <a:solidFill>
                  <a:schemeClr val="tx1"/>
                </a:solidFill>
              </a:rPr>
              <a:t>(11111010 </a:t>
            </a:r>
            <a:r>
              <a:rPr lang="en-US" altLang="zh-TW" sz="2800" i="0" u="none" dirty="0">
                <a:solidFill>
                  <a:schemeClr val="tx1"/>
                </a:solidFill>
                <a:sym typeface="Symbol" pitchFamily="18" charset="2"/>
              </a:rPr>
              <a:t>+</a:t>
            </a:r>
            <a:r>
              <a:rPr lang="en-US" altLang="zh-TW" sz="2800" i="0" u="none" dirty="0">
                <a:solidFill>
                  <a:schemeClr val="tx1"/>
                </a:solidFill>
              </a:rPr>
              <a:t> 00001101</a:t>
            </a:r>
            <a:r>
              <a:rPr lang="en-US" altLang="zh-TW" sz="2000" i="0" u="none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59" name="AutoShape 14"/>
          <p:cNvSpPr>
            <a:spLocks noChangeArrowheads="1"/>
          </p:cNvSpPr>
          <p:nvPr/>
        </p:nvSpPr>
        <p:spPr bwMode="auto">
          <a:xfrm>
            <a:off x="2286000" y="4953000"/>
            <a:ext cx="830874" cy="215900"/>
          </a:xfrm>
          <a:prstGeom prst="notchedRightArrow">
            <a:avLst>
              <a:gd name="adj1" fmla="val 50000"/>
              <a:gd name="adj2" fmla="val 104228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2060" name="Text Box 15"/>
          <p:cNvSpPr txBox="1">
            <a:spLocks noChangeArrowheads="1"/>
          </p:cNvSpPr>
          <p:nvPr/>
        </p:nvSpPr>
        <p:spPr bwMode="auto">
          <a:xfrm>
            <a:off x="3505200" y="5486400"/>
            <a:ext cx="2390398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TW" sz="2800" i="0" u="none" dirty="0">
                <a:solidFill>
                  <a:schemeClr val="tx1"/>
                </a:solidFill>
              </a:rPr>
              <a:t>00000111 (+ 7)</a:t>
            </a:r>
          </a:p>
        </p:txBody>
      </p:sp>
      <p:sp>
        <p:nvSpPr>
          <p:cNvPr id="2061" name="AutoShape 16"/>
          <p:cNvSpPr>
            <a:spLocks noChangeArrowheads="1"/>
          </p:cNvSpPr>
          <p:nvPr/>
        </p:nvSpPr>
        <p:spPr bwMode="auto">
          <a:xfrm>
            <a:off x="2209800" y="5638800"/>
            <a:ext cx="830874" cy="215900"/>
          </a:xfrm>
          <a:prstGeom prst="notchedRightArrow">
            <a:avLst>
              <a:gd name="adj1" fmla="val 50000"/>
              <a:gd name="adj2" fmla="val 104228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2062" name="Slide Number Placeholder 1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4A3D54-34CE-4B0F-9CC4-1D29B63BF876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192</Words>
  <Application>Microsoft Office PowerPoint</Application>
  <PresentationFormat>On-screen Show (4:3)</PresentationFormat>
  <Paragraphs>29</Paragraphs>
  <Slides>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Equation</vt:lpstr>
      <vt:lpstr> BCA Ist Semester  Introduction of Logic Circuit and Digital Design(ILCDD) Course Code: BCAC003</vt:lpstr>
      <vt:lpstr>Arithmetic operation on Binary numbers</vt:lpstr>
      <vt:lpstr> Arithmetic addition </vt:lpstr>
      <vt:lpstr>Slide 4</vt:lpstr>
      <vt:lpstr>Arithmetic Subtraction in 2’s-complement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4</cp:revision>
  <dcterms:created xsi:type="dcterms:W3CDTF">2020-10-21T09:50:54Z</dcterms:created>
  <dcterms:modified xsi:type="dcterms:W3CDTF">2021-10-06T06:10:08Z</dcterms:modified>
</cp:coreProperties>
</file>