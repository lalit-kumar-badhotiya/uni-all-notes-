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8" r:id="rId2"/>
    <p:sldId id="259" r:id="rId3"/>
    <p:sldId id="261" r:id="rId4"/>
    <p:sldId id="260" r:id="rId5"/>
    <p:sldId id="263" r:id="rId6"/>
    <p:sldId id="264" r:id="rId7"/>
    <p:sldId id="265" r:id="rId8"/>
    <p:sldId id="266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A856F-6A3D-4910-8B45-A692D196D185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8F525-3231-4593-9360-816BA47F473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9C44D32-0A2B-4603-BF1C-9403C00C0DD8}" type="slidenum">
              <a:rPr lang="en-US" alt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en-US" smtClean="0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2955-0B26-4124-A29E-4165448B37A7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012C-2F18-4292-9EEE-B6D103DB7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2955-0B26-4124-A29E-4165448B37A7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012C-2F18-4292-9EEE-B6D103DB7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2955-0B26-4124-A29E-4165448B37A7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012C-2F18-4292-9EEE-B6D103DB7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2955-0B26-4124-A29E-4165448B37A7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012C-2F18-4292-9EEE-B6D103DB7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2955-0B26-4124-A29E-4165448B37A7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012C-2F18-4292-9EEE-B6D103DB7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2955-0B26-4124-A29E-4165448B37A7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012C-2F18-4292-9EEE-B6D103DB7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2955-0B26-4124-A29E-4165448B37A7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012C-2F18-4292-9EEE-B6D103DB7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2955-0B26-4124-A29E-4165448B37A7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012C-2F18-4292-9EEE-B6D103DB7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2955-0B26-4124-A29E-4165448B37A7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012C-2F18-4292-9EEE-B6D103DB7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2955-0B26-4124-A29E-4165448B37A7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012C-2F18-4292-9EEE-B6D103DB7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2955-0B26-4124-A29E-4165448B37A7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012C-2F18-4292-9EEE-B6D103DB7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22955-0B26-4124-A29E-4165448B37A7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5012C-2F18-4292-9EEE-B6D103DB72A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772400" cy="2438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BCA </a:t>
            </a:r>
            <a:r>
              <a:rPr lang="en-US" sz="3200" b="1" dirty="0" err="1" smtClean="0"/>
              <a:t>Ist</a:t>
            </a:r>
            <a:r>
              <a:rPr lang="en-US" sz="3200" b="1" dirty="0" smtClean="0"/>
              <a:t> Semester </a:t>
            </a:r>
            <a:br>
              <a:rPr lang="en-US" sz="3200" b="1" dirty="0" smtClean="0"/>
            </a:br>
            <a:r>
              <a:rPr lang="en-US" sz="3200" b="1" dirty="0" smtClean="0"/>
              <a:t>Introduction of Logic Circuit and Digital Design(ILCDD)</a:t>
            </a:r>
            <a:br>
              <a:rPr lang="en-US" sz="3200" b="1" dirty="0" smtClean="0"/>
            </a:br>
            <a:r>
              <a:rPr lang="en-US" sz="3200" b="1" dirty="0" smtClean="0"/>
              <a:t>Course Code: </a:t>
            </a:r>
            <a:r>
              <a:rPr lang="en-US" sz="3200" b="1" dirty="0" smtClean="0"/>
              <a:t>BCAC0003</a:t>
            </a:r>
            <a:endParaRPr lang="en-US" altLang="en-US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3685" y="4557713"/>
            <a:ext cx="7356872" cy="1752600"/>
          </a:xfrm>
        </p:spPr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Mr.Anuj</a:t>
            </a: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Kumar </a:t>
            </a:r>
            <a:endParaRPr lang="en-GB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Assistant Professor, Dept. Of CE&amp;A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GLA University, Mathura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3" descr="Related image"/>
          <p:cNvPicPr>
            <a:picLocks noChangeAspect="1" noChangeArrowheads="1"/>
          </p:cNvPicPr>
          <p:nvPr/>
        </p:nvPicPr>
        <p:blipFill>
          <a:blip r:embed="rId3"/>
          <a:srcRect l="3793" t="21970" r="3781" b="23463"/>
          <a:stretch>
            <a:fillRect/>
          </a:stretch>
        </p:blipFill>
        <p:spPr bwMode="auto">
          <a:xfrm>
            <a:off x="3607594" y="500063"/>
            <a:ext cx="1714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8781" y="3074988"/>
            <a:ext cx="5829300" cy="11811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Decimal (</a:t>
            </a:r>
            <a:r>
              <a:rPr lang="en-US" sz="4000" i="1" dirty="0" smtClean="0">
                <a:latin typeface="Times New Roman" pitchFamily="18" charset="0"/>
                <a:cs typeface="Times New Roman" pitchFamily="18" charset="0"/>
              </a:rPr>
              <a:t>Fraction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) to Binary Conversion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>
          <a:xfrm>
            <a:off x="307731" y="1295400"/>
            <a:ext cx="8571035" cy="292735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Multiply the number by the ‘Base’ (=2)</a:t>
            </a:r>
          </a:p>
          <a:p>
            <a:pPr eaLnBrk="1" hangingPunct="1"/>
            <a:r>
              <a:rPr lang="en-US" altLang="en-US" dirty="0" smtClean="0"/>
              <a:t>Take the integer (either 0 or 1) as a coefficient</a:t>
            </a:r>
          </a:p>
          <a:p>
            <a:pPr eaLnBrk="1" hangingPunct="1"/>
            <a:r>
              <a:rPr lang="en-US" altLang="en-US" dirty="0" smtClean="0"/>
              <a:t>Take the resultant fraction and repeat the division</a:t>
            </a: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257908" y="3462338"/>
            <a:ext cx="2595582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Example: (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0.625</a:t>
            </a:r>
            <a:r>
              <a:rPr lang="en-US" altLang="en-US" sz="2400" b="1" i="0" u="none" dirty="0">
                <a:cs typeface="Times New Roman" pitchFamily="18" charset="0"/>
              </a:rPr>
              <a:t>)</a:t>
            </a:r>
            <a:r>
              <a:rPr lang="en-US" altLang="en-US" sz="2400" b="1" i="0" u="none" baseline="-25000" dirty="0">
                <a:cs typeface="Times New Roman" pitchFamily="18" charset="0"/>
              </a:rPr>
              <a:t>10</a:t>
            </a:r>
          </a:p>
        </p:txBody>
      </p:sp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3851031" y="3608388"/>
            <a:ext cx="79040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cs typeface="Times New Roman" pitchFamily="18" charset="0"/>
              </a:rPr>
              <a:t>Integer</a:t>
            </a:r>
          </a:p>
        </p:txBody>
      </p:sp>
      <p:sp>
        <p:nvSpPr>
          <p:cNvPr id="111622" name="Text Box 6"/>
          <p:cNvSpPr txBox="1">
            <a:spLocks noChangeArrowheads="1"/>
          </p:cNvSpPr>
          <p:nvPr/>
        </p:nvSpPr>
        <p:spPr bwMode="auto">
          <a:xfrm>
            <a:off x="4750777" y="3608388"/>
            <a:ext cx="87748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cs typeface="Times New Roman" pitchFamily="18" charset="0"/>
              </a:rPr>
              <a:t>Fraction</a:t>
            </a:r>
          </a:p>
        </p:txBody>
      </p:sp>
      <p:sp>
        <p:nvSpPr>
          <p:cNvPr id="111623" name="Text Box 7"/>
          <p:cNvSpPr txBox="1">
            <a:spLocks noChangeArrowheads="1"/>
          </p:cNvSpPr>
          <p:nvPr/>
        </p:nvSpPr>
        <p:spPr bwMode="auto">
          <a:xfrm>
            <a:off x="5821974" y="3603625"/>
            <a:ext cx="110459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cs typeface="Times New Roman" pitchFamily="18" charset="0"/>
              </a:rPr>
              <a:t>Coefficient</a:t>
            </a:r>
          </a:p>
        </p:txBody>
      </p:sp>
      <p:sp>
        <p:nvSpPr>
          <p:cNvPr id="111624" name="Text Box 8"/>
          <p:cNvSpPr txBox="1">
            <a:spLocks noChangeArrowheads="1"/>
          </p:cNvSpPr>
          <p:nvPr/>
        </p:nvSpPr>
        <p:spPr bwMode="auto">
          <a:xfrm>
            <a:off x="2187820" y="5229225"/>
            <a:ext cx="5519460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1" i="0" u="none" dirty="0">
                <a:latin typeface="Arial" charset="0"/>
                <a:cs typeface="Arial" charset="0"/>
              </a:rPr>
              <a:t>Answer:      (0.625)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10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= (0.a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-1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-2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-3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)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2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= (0.101)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1625" name="Line 9"/>
          <p:cNvSpPr>
            <a:spLocks noChangeShapeType="1"/>
          </p:cNvSpPr>
          <p:nvPr/>
        </p:nvSpPr>
        <p:spPr bwMode="auto">
          <a:xfrm flipH="1" flipV="1">
            <a:off x="6075485" y="5661026"/>
            <a:ext cx="145074" cy="2889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anchorCtr="1">
            <a:spAutoFit/>
          </a:bodyPr>
          <a:lstStyle/>
          <a:p>
            <a:endParaRPr lang="en-US"/>
          </a:p>
        </p:txBody>
      </p:sp>
      <p:sp>
        <p:nvSpPr>
          <p:cNvPr id="111626" name="Line 10"/>
          <p:cNvSpPr>
            <a:spLocks noChangeShapeType="1"/>
          </p:cNvSpPr>
          <p:nvPr/>
        </p:nvSpPr>
        <p:spPr bwMode="auto">
          <a:xfrm flipV="1">
            <a:off x="5206513" y="5648326"/>
            <a:ext cx="73269" cy="2889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anchorCtr="1">
            <a:spAutoFit/>
          </a:bodyPr>
          <a:lstStyle/>
          <a:p>
            <a:endParaRPr lang="en-US"/>
          </a:p>
        </p:txBody>
      </p:sp>
      <p:sp>
        <p:nvSpPr>
          <p:cNvPr id="111627" name="Text Box 11"/>
          <p:cNvSpPr txBox="1">
            <a:spLocks noChangeArrowheads="1"/>
          </p:cNvSpPr>
          <p:nvPr/>
        </p:nvSpPr>
        <p:spPr bwMode="auto">
          <a:xfrm>
            <a:off x="4706816" y="5949950"/>
            <a:ext cx="1944566" cy="3317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87000"/>
              </a:lnSpc>
              <a:spcBef>
                <a:spcPct val="50000"/>
              </a:spcBef>
              <a:defRPr/>
            </a:pPr>
            <a:r>
              <a:rPr lang="en-US" sz="1800" b="1" i="0" u="none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新細明體" pitchFamily="18" charset="-120"/>
                <a:cs typeface="Arial" charset="0"/>
              </a:rPr>
              <a:t>MSB           LSB</a:t>
            </a:r>
          </a:p>
        </p:txBody>
      </p:sp>
      <p:sp>
        <p:nvSpPr>
          <p:cNvPr id="111628" name="Text Box 12"/>
          <p:cNvSpPr txBox="1">
            <a:spLocks noChangeArrowheads="1"/>
          </p:cNvSpPr>
          <p:nvPr/>
        </p:nvSpPr>
        <p:spPr bwMode="auto">
          <a:xfrm>
            <a:off x="2231781" y="3894138"/>
            <a:ext cx="95571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latin typeface="Arial" charset="0"/>
                <a:cs typeface="Arial" charset="0"/>
              </a:rPr>
              <a:t>0.625</a:t>
            </a:r>
          </a:p>
        </p:txBody>
      </p:sp>
      <p:sp>
        <p:nvSpPr>
          <p:cNvPr id="111629" name="Text Box 13"/>
          <p:cNvSpPr txBox="1">
            <a:spLocks noChangeArrowheads="1"/>
          </p:cNvSpPr>
          <p:nvPr/>
        </p:nvSpPr>
        <p:spPr bwMode="auto">
          <a:xfrm>
            <a:off x="3131528" y="3897313"/>
            <a:ext cx="234070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* 2 =   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1    .    25</a:t>
            </a:r>
          </a:p>
        </p:txBody>
      </p:sp>
      <p:sp>
        <p:nvSpPr>
          <p:cNvPr id="111630" name="Text Box 14"/>
          <p:cNvSpPr txBox="1">
            <a:spLocks noChangeArrowheads="1"/>
          </p:cNvSpPr>
          <p:nvPr/>
        </p:nvSpPr>
        <p:spPr bwMode="auto">
          <a:xfrm>
            <a:off x="2231782" y="4254501"/>
            <a:ext cx="78418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latin typeface="Arial" charset="0"/>
                <a:cs typeface="Arial" charset="0"/>
              </a:rPr>
              <a:t>0.25</a:t>
            </a:r>
          </a:p>
        </p:txBody>
      </p:sp>
      <p:sp>
        <p:nvSpPr>
          <p:cNvPr id="111631" name="Text Box 15"/>
          <p:cNvSpPr txBox="1">
            <a:spLocks noChangeArrowheads="1"/>
          </p:cNvSpPr>
          <p:nvPr/>
        </p:nvSpPr>
        <p:spPr bwMode="auto">
          <a:xfrm>
            <a:off x="3131528" y="4257676"/>
            <a:ext cx="361829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* 2 =   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0    .    5</a:t>
            </a:r>
            <a:r>
              <a:rPr lang="en-US" altLang="en-US" sz="2400" b="1" i="0" u="none" dirty="0">
                <a:cs typeface="Times New Roman" pitchFamily="18" charset="0"/>
              </a:rPr>
              <a:t>          a</a:t>
            </a:r>
            <a:r>
              <a:rPr lang="en-US" altLang="en-US" sz="2400" b="1" i="0" u="none" baseline="-25000" dirty="0">
                <a:cs typeface="Times New Roman" pitchFamily="18" charset="0"/>
              </a:rPr>
              <a:t>-2 </a:t>
            </a:r>
            <a:r>
              <a:rPr lang="en-US" altLang="en-US" sz="2400" b="1" i="0" u="none" dirty="0">
                <a:cs typeface="Times New Roman" pitchFamily="18" charset="0"/>
              </a:rPr>
              <a:t>=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11632" name="Text Box 16"/>
          <p:cNvSpPr txBox="1">
            <a:spLocks noChangeArrowheads="1"/>
          </p:cNvSpPr>
          <p:nvPr/>
        </p:nvSpPr>
        <p:spPr bwMode="auto">
          <a:xfrm>
            <a:off x="2231782" y="4614863"/>
            <a:ext cx="61266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latin typeface="Arial" charset="0"/>
                <a:cs typeface="Arial" charset="0"/>
              </a:rPr>
              <a:t>0.5</a:t>
            </a:r>
          </a:p>
        </p:txBody>
      </p:sp>
      <p:sp>
        <p:nvSpPr>
          <p:cNvPr id="111633" name="Text Box 17"/>
          <p:cNvSpPr txBox="1">
            <a:spLocks noChangeArrowheads="1"/>
          </p:cNvSpPr>
          <p:nvPr/>
        </p:nvSpPr>
        <p:spPr bwMode="auto">
          <a:xfrm>
            <a:off x="3131528" y="4618038"/>
            <a:ext cx="361829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* 2 =   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1    .    0</a:t>
            </a:r>
            <a:r>
              <a:rPr lang="en-US" altLang="en-US" sz="2400" b="1" i="0" u="none" dirty="0">
                <a:cs typeface="Times New Roman" pitchFamily="18" charset="0"/>
              </a:rPr>
              <a:t>          a</a:t>
            </a:r>
            <a:r>
              <a:rPr lang="en-US" altLang="en-US" sz="2400" b="1" i="0" u="none" baseline="-25000" dirty="0">
                <a:cs typeface="Times New Roman" pitchFamily="18" charset="0"/>
              </a:rPr>
              <a:t>-3 </a:t>
            </a:r>
            <a:r>
              <a:rPr lang="en-US" altLang="en-US" sz="2400" b="1" i="0" u="none" dirty="0">
                <a:cs typeface="Times New Roman" pitchFamily="18" charset="0"/>
              </a:rPr>
              <a:t>=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11634" name="Line 18"/>
          <p:cNvSpPr>
            <a:spLocks noChangeShapeType="1"/>
          </p:cNvSpPr>
          <p:nvPr/>
        </p:nvSpPr>
        <p:spPr bwMode="auto">
          <a:xfrm>
            <a:off x="8532935" y="6742113"/>
            <a:ext cx="539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1635" name="Text Box 19"/>
          <p:cNvSpPr txBox="1">
            <a:spLocks noChangeArrowheads="1"/>
          </p:cNvSpPr>
          <p:nvPr/>
        </p:nvSpPr>
        <p:spPr bwMode="auto">
          <a:xfrm>
            <a:off x="5915758" y="3878263"/>
            <a:ext cx="94448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>
                <a:cs typeface="Times New Roman" pitchFamily="18" charset="0"/>
              </a:rPr>
              <a:t>a</a:t>
            </a:r>
            <a:r>
              <a:rPr lang="en-US" altLang="en-US" sz="2400" b="1" i="0" u="none" baseline="-25000">
                <a:cs typeface="Times New Roman" pitchFamily="18" charset="0"/>
              </a:rPr>
              <a:t>-1 </a:t>
            </a:r>
            <a:r>
              <a:rPr lang="en-US" altLang="en-US" sz="2400" b="1" i="0" u="none">
                <a:cs typeface="Times New Roman" pitchFamily="18" charset="0"/>
              </a:rPr>
              <a:t>= </a:t>
            </a:r>
            <a:r>
              <a:rPr lang="en-US" altLang="en-US" sz="2400" b="1" i="0" u="none"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52244" name="Slide Number Placeholder 20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67584B3-AB63-404B-B0B9-ED3C7DB10949}" type="slidenum">
              <a:rPr lang="en-US" altLang="en-US">
                <a:solidFill>
                  <a:schemeClr val="tx1"/>
                </a:solidFill>
              </a:rPr>
              <a:pPr/>
              <a:t>2</a:t>
            </a:fld>
            <a:endParaRPr lang="en-US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0.10509 L 8.05556E-6 -3.7037E-6 " pathEditMode="relative" ptsTypes="AA">
                                      <p:cBhvr>
                                        <p:cTn id="12" dur="500" fill="hold"/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781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861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78 -0.04861 L -1.94444E-6 -3.7037E-6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" y="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361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215 -0.04884 L 3.05556E-6 0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" y="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1" grpId="0"/>
      <p:bldP spid="111622" grpId="0"/>
      <p:bldP spid="111623" grpId="0"/>
      <p:bldP spid="111624" grpId="0"/>
      <p:bldP spid="111625" grpId="0" animBg="1"/>
      <p:bldP spid="111626" grpId="0" animBg="1"/>
      <p:bldP spid="111627" grpId="0"/>
      <p:bldP spid="111628" grpId="0"/>
      <p:bldP spid="111628" grpId="1"/>
      <p:bldP spid="111629" grpId="0"/>
      <p:bldP spid="111630" grpId="0"/>
      <p:bldP spid="111630" grpId="1"/>
      <p:bldP spid="111631" grpId="0"/>
      <p:bldP spid="111632" grpId="0"/>
      <p:bldP spid="111632" grpId="1"/>
      <p:bldP spid="111633" grpId="0"/>
      <p:bldP spid="111634" grpId="0" animBg="1"/>
      <p:bldP spid="1116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Decimal to Octal Conversion</a:t>
            </a: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792773" y="1089026"/>
            <a:ext cx="311014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Example: (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175.3125</a:t>
            </a:r>
            <a:r>
              <a:rPr lang="en-US" altLang="en-US" sz="2400" b="1" i="0" u="none" dirty="0" smtClean="0">
                <a:cs typeface="Times New Roman" pitchFamily="18" charset="0"/>
              </a:rPr>
              <a:t>)</a:t>
            </a:r>
            <a:r>
              <a:rPr lang="en-US" altLang="en-US" sz="2400" b="1" i="0" u="none" baseline="-25000" dirty="0" smtClean="0">
                <a:cs typeface="Times New Roman" pitchFamily="18" charset="0"/>
              </a:rPr>
              <a:t>10</a:t>
            </a:r>
            <a:endParaRPr lang="en-US" altLang="en-US" sz="2400" b="1" i="0" u="none" baseline="-25000" dirty="0">
              <a:cs typeface="Times New Roman" pitchFamily="18" charset="0"/>
            </a:endParaRPr>
          </a:p>
        </p:txBody>
      </p:sp>
      <p:sp>
        <p:nvSpPr>
          <p:cNvPr id="112644" name="Text Box 4"/>
          <p:cNvSpPr txBox="1">
            <a:spLocks noChangeArrowheads="1"/>
          </p:cNvSpPr>
          <p:nvPr/>
        </p:nvSpPr>
        <p:spPr bwMode="auto">
          <a:xfrm>
            <a:off x="3492013" y="1627189"/>
            <a:ext cx="94897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cs typeface="Times New Roman" pitchFamily="18" charset="0"/>
              </a:rPr>
              <a:t>Quotient</a:t>
            </a:r>
          </a:p>
        </p:txBody>
      </p:sp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4573466" y="1627189"/>
            <a:ext cx="111460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cs typeface="Times New Roman" pitchFamily="18" charset="0"/>
              </a:rPr>
              <a:t>Remainder</a:t>
            </a:r>
          </a:p>
        </p:txBody>
      </p:sp>
      <p:sp>
        <p:nvSpPr>
          <p:cNvPr id="112646" name="Text Box 6"/>
          <p:cNvSpPr txBox="1">
            <a:spLocks noChangeArrowheads="1"/>
          </p:cNvSpPr>
          <p:nvPr/>
        </p:nvSpPr>
        <p:spPr bwMode="auto">
          <a:xfrm>
            <a:off x="6002215" y="1622425"/>
            <a:ext cx="110459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cs typeface="Times New Roman" pitchFamily="18" charset="0"/>
              </a:rPr>
              <a:t>Coefficient</a:t>
            </a:r>
          </a:p>
        </p:txBody>
      </p:sp>
      <p:sp>
        <p:nvSpPr>
          <p:cNvPr id="112647" name="Text Box 7"/>
          <p:cNvSpPr txBox="1">
            <a:spLocks noChangeArrowheads="1"/>
          </p:cNvSpPr>
          <p:nvPr/>
        </p:nvSpPr>
        <p:spPr bwMode="auto">
          <a:xfrm>
            <a:off x="2951285" y="3211513"/>
            <a:ext cx="470673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1" i="0" u="none">
                <a:latin typeface="Arial" charset="0"/>
                <a:cs typeface="Arial" charset="0"/>
              </a:rPr>
              <a:t>Answer:      (175)</a:t>
            </a:r>
            <a:r>
              <a:rPr lang="en-US" altLang="en-US" sz="2000" b="1" i="0" u="none" baseline="-25000">
                <a:latin typeface="Arial" charset="0"/>
                <a:cs typeface="Arial" charset="0"/>
              </a:rPr>
              <a:t>10 </a:t>
            </a:r>
            <a:r>
              <a:rPr lang="en-US" altLang="en-US" sz="2000" b="1" i="0" u="none">
                <a:latin typeface="Arial" charset="0"/>
                <a:cs typeface="Arial" charset="0"/>
              </a:rPr>
              <a:t>= (a</a:t>
            </a:r>
            <a:r>
              <a:rPr lang="en-US" altLang="en-US" sz="2000" b="1" i="0" u="none" baseline="-25000">
                <a:latin typeface="Arial" charset="0"/>
                <a:cs typeface="Arial" charset="0"/>
              </a:rPr>
              <a:t>2 </a:t>
            </a:r>
            <a:r>
              <a:rPr lang="en-US" altLang="en-US" sz="2000" b="1" i="0" u="none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>
                <a:latin typeface="Arial" charset="0"/>
                <a:cs typeface="Arial" charset="0"/>
              </a:rPr>
              <a:t>1 </a:t>
            </a:r>
            <a:r>
              <a:rPr lang="en-US" altLang="en-US" sz="2000" b="1" i="0" u="none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>
                <a:latin typeface="Arial" charset="0"/>
                <a:cs typeface="Arial" charset="0"/>
              </a:rPr>
              <a:t>0</a:t>
            </a:r>
            <a:r>
              <a:rPr lang="en-US" altLang="en-US" sz="2000" b="1" i="0" u="none">
                <a:latin typeface="Arial" charset="0"/>
                <a:cs typeface="Arial" charset="0"/>
              </a:rPr>
              <a:t>)</a:t>
            </a:r>
            <a:r>
              <a:rPr lang="en-US" altLang="en-US" sz="2000" b="1" i="0" u="none" baseline="-25000">
                <a:latin typeface="Arial" charset="0"/>
                <a:cs typeface="Arial" charset="0"/>
              </a:rPr>
              <a:t>8 </a:t>
            </a:r>
            <a:r>
              <a:rPr lang="en-US" altLang="en-US" sz="2000" b="1" i="0" u="none">
                <a:latin typeface="Arial" charset="0"/>
                <a:cs typeface="Arial" charset="0"/>
              </a:rPr>
              <a:t>= (257)</a:t>
            </a:r>
            <a:r>
              <a:rPr lang="en-US" altLang="en-US" sz="2000" b="1" i="0" u="none" baseline="-25000">
                <a:latin typeface="Arial" charset="0"/>
                <a:cs typeface="Arial" charset="0"/>
              </a:rPr>
              <a:t>8</a:t>
            </a:r>
          </a:p>
        </p:txBody>
      </p:sp>
      <p:sp>
        <p:nvSpPr>
          <p:cNvPr id="112648" name="Text Box 8"/>
          <p:cNvSpPr txBox="1">
            <a:spLocks noChangeArrowheads="1"/>
          </p:cNvSpPr>
          <p:nvPr/>
        </p:nvSpPr>
        <p:spPr bwMode="auto">
          <a:xfrm>
            <a:off x="2231782" y="1912938"/>
            <a:ext cx="69923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>
                <a:latin typeface="Arial" charset="0"/>
                <a:cs typeface="Arial" charset="0"/>
              </a:rPr>
              <a:t>175</a:t>
            </a:r>
          </a:p>
        </p:txBody>
      </p:sp>
      <p:sp>
        <p:nvSpPr>
          <p:cNvPr id="112649" name="Text Box 9"/>
          <p:cNvSpPr txBox="1">
            <a:spLocks noChangeArrowheads="1"/>
          </p:cNvSpPr>
          <p:nvPr/>
        </p:nvSpPr>
        <p:spPr bwMode="auto">
          <a:xfrm>
            <a:off x="2838451" y="1916113"/>
            <a:ext cx="152157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/ 8 =     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21</a:t>
            </a:r>
          </a:p>
        </p:txBody>
      </p:sp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4974981" y="1916113"/>
            <a:ext cx="194957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>
                <a:latin typeface="Arial" charset="0"/>
                <a:cs typeface="Arial" charset="0"/>
              </a:rPr>
              <a:t>7</a:t>
            </a:r>
            <a:r>
              <a:rPr lang="en-US" altLang="en-US" sz="2400" b="1" i="0" u="none">
                <a:cs typeface="Times New Roman" pitchFamily="18" charset="0"/>
              </a:rPr>
              <a:t>             a</a:t>
            </a:r>
            <a:r>
              <a:rPr lang="en-US" altLang="en-US" sz="2400" b="1" i="0" u="none" baseline="-25000">
                <a:cs typeface="Times New Roman" pitchFamily="18" charset="0"/>
              </a:rPr>
              <a:t>0 </a:t>
            </a:r>
            <a:r>
              <a:rPr lang="en-US" altLang="en-US" sz="2400" b="1" i="0" u="none">
                <a:cs typeface="Times New Roman" pitchFamily="18" charset="0"/>
              </a:rPr>
              <a:t>= </a:t>
            </a:r>
            <a:r>
              <a:rPr lang="en-US" altLang="en-US" sz="2400" b="1" i="0" u="none">
                <a:latin typeface="Arial" charset="0"/>
                <a:cs typeface="Arial" charset="0"/>
              </a:rPr>
              <a:t>7</a:t>
            </a:r>
          </a:p>
        </p:txBody>
      </p:sp>
      <p:sp>
        <p:nvSpPr>
          <p:cNvPr id="112651" name="Text Box 11"/>
          <p:cNvSpPr txBox="1">
            <a:spLocks noChangeArrowheads="1"/>
          </p:cNvSpPr>
          <p:nvPr/>
        </p:nvSpPr>
        <p:spPr bwMode="auto">
          <a:xfrm>
            <a:off x="2231782" y="2273301"/>
            <a:ext cx="61266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latin typeface="Arial" charset="0"/>
                <a:cs typeface="Arial" charset="0"/>
              </a:rPr>
              <a:t> 21</a:t>
            </a:r>
          </a:p>
        </p:txBody>
      </p:sp>
      <p:sp>
        <p:nvSpPr>
          <p:cNvPr id="112652" name="Text Box 12"/>
          <p:cNvSpPr txBox="1">
            <a:spLocks noChangeArrowheads="1"/>
          </p:cNvSpPr>
          <p:nvPr/>
        </p:nvSpPr>
        <p:spPr bwMode="auto">
          <a:xfrm>
            <a:off x="2838451" y="2276476"/>
            <a:ext cx="13500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/ 8 =     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2653" name="Text Box 13"/>
          <p:cNvSpPr txBox="1">
            <a:spLocks noChangeArrowheads="1"/>
          </p:cNvSpPr>
          <p:nvPr/>
        </p:nvSpPr>
        <p:spPr bwMode="auto">
          <a:xfrm>
            <a:off x="4974981" y="2276476"/>
            <a:ext cx="194957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>
                <a:latin typeface="Arial" charset="0"/>
                <a:cs typeface="Arial" charset="0"/>
              </a:rPr>
              <a:t>5</a:t>
            </a:r>
            <a:r>
              <a:rPr lang="en-US" altLang="en-US" sz="2400" b="1" i="0" u="none">
                <a:cs typeface="Times New Roman" pitchFamily="18" charset="0"/>
              </a:rPr>
              <a:t>             a</a:t>
            </a:r>
            <a:r>
              <a:rPr lang="en-US" altLang="en-US" sz="2400" b="1" i="0" u="none" baseline="-25000">
                <a:cs typeface="Times New Roman" pitchFamily="18" charset="0"/>
              </a:rPr>
              <a:t>1 </a:t>
            </a:r>
            <a:r>
              <a:rPr lang="en-US" altLang="en-US" sz="2400" b="1" i="0" u="none">
                <a:cs typeface="Times New Roman" pitchFamily="18" charset="0"/>
              </a:rPr>
              <a:t>= </a:t>
            </a:r>
            <a:r>
              <a:rPr lang="en-US" altLang="en-US" sz="2400" b="1" i="0" u="none">
                <a:latin typeface="Arial" charset="0"/>
                <a:cs typeface="Arial" charset="0"/>
              </a:rPr>
              <a:t>5</a:t>
            </a:r>
          </a:p>
        </p:txBody>
      </p:sp>
      <p:sp>
        <p:nvSpPr>
          <p:cNvPr id="112654" name="Text Box 14"/>
          <p:cNvSpPr txBox="1">
            <a:spLocks noChangeArrowheads="1"/>
          </p:cNvSpPr>
          <p:nvPr/>
        </p:nvSpPr>
        <p:spPr bwMode="auto">
          <a:xfrm>
            <a:off x="2231782" y="2633663"/>
            <a:ext cx="441146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latin typeface="Arial" charset="0"/>
                <a:cs typeface="Arial" charset="0"/>
              </a:rPr>
              <a:t> 2</a:t>
            </a:r>
          </a:p>
        </p:txBody>
      </p:sp>
      <p:sp>
        <p:nvSpPr>
          <p:cNvPr id="112655" name="Text Box 15"/>
          <p:cNvSpPr txBox="1">
            <a:spLocks noChangeArrowheads="1"/>
          </p:cNvSpPr>
          <p:nvPr/>
        </p:nvSpPr>
        <p:spPr bwMode="auto">
          <a:xfrm>
            <a:off x="2838451" y="2636838"/>
            <a:ext cx="13500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>
                <a:cs typeface="Times New Roman" pitchFamily="18" charset="0"/>
              </a:rPr>
              <a:t>/ 8 =      </a:t>
            </a:r>
            <a:r>
              <a:rPr lang="en-US" altLang="en-US" sz="2400" b="1" i="0" u="none"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12656" name="Text Box 16"/>
          <p:cNvSpPr txBox="1">
            <a:spLocks noChangeArrowheads="1"/>
          </p:cNvSpPr>
          <p:nvPr/>
        </p:nvSpPr>
        <p:spPr bwMode="auto">
          <a:xfrm>
            <a:off x="4974981" y="2636838"/>
            <a:ext cx="194957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>
                <a:latin typeface="Arial" charset="0"/>
                <a:cs typeface="Arial" charset="0"/>
              </a:rPr>
              <a:t>2</a:t>
            </a:r>
            <a:r>
              <a:rPr lang="en-US" altLang="en-US" sz="2400" b="1" i="0" u="none">
                <a:cs typeface="Times New Roman" pitchFamily="18" charset="0"/>
              </a:rPr>
              <a:t>             a</a:t>
            </a:r>
            <a:r>
              <a:rPr lang="en-US" altLang="en-US" sz="2400" b="1" i="0" u="none" baseline="-25000">
                <a:cs typeface="Times New Roman" pitchFamily="18" charset="0"/>
              </a:rPr>
              <a:t>2 </a:t>
            </a:r>
            <a:r>
              <a:rPr lang="en-US" altLang="en-US" sz="2400" b="1" i="0" u="none">
                <a:cs typeface="Times New Roman" pitchFamily="18" charset="0"/>
              </a:rPr>
              <a:t>= </a:t>
            </a:r>
            <a:r>
              <a:rPr lang="en-US" altLang="en-US" sz="2400" b="1" i="0" u="none"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2657" name="Line 17"/>
          <p:cNvSpPr>
            <a:spLocks noChangeShapeType="1"/>
          </p:cNvSpPr>
          <p:nvPr/>
        </p:nvSpPr>
        <p:spPr bwMode="auto">
          <a:xfrm>
            <a:off x="8532935" y="6742113"/>
            <a:ext cx="539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658" name="Text Box 18"/>
          <p:cNvSpPr txBox="1">
            <a:spLocks noChangeArrowheads="1"/>
          </p:cNvSpPr>
          <p:nvPr/>
        </p:nvSpPr>
        <p:spPr bwMode="auto">
          <a:xfrm>
            <a:off x="1752600" y="3733800"/>
            <a:ext cx="1596912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 smtClean="0">
                <a:cs typeface="Times New Roman" pitchFamily="18" charset="0"/>
              </a:rPr>
              <a:t> </a:t>
            </a:r>
            <a:r>
              <a:rPr lang="en-US" altLang="en-US" sz="2400" b="1" i="0" u="none" dirty="0">
                <a:cs typeface="Times New Roman" pitchFamily="18" charset="0"/>
              </a:rPr>
              <a:t>(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0.3125</a:t>
            </a:r>
            <a:r>
              <a:rPr lang="en-US" altLang="en-US" sz="2400" b="1" i="0" u="none" dirty="0">
                <a:cs typeface="Times New Roman" pitchFamily="18" charset="0"/>
              </a:rPr>
              <a:t>)</a:t>
            </a:r>
            <a:r>
              <a:rPr lang="en-US" altLang="en-US" sz="2400" b="1" i="0" u="none" baseline="-25000" dirty="0">
                <a:cs typeface="Times New Roman" pitchFamily="18" charset="0"/>
              </a:rPr>
              <a:t>10</a:t>
            </a:r>
          </a:p>
        </p:txBody>
      </p:sp>
      <p:sp>
        <p:nvSpPr>
          <p:cNvPr id="112659" name="Text Box 19"/>
          <p:cNvSpPr txBox="1">
            <a:spLocks noChangeArrowheads="1"/>
          </p:cNvSpPr>
          <p:nvPr/>
        </p:nvSpPr>
        <p:spPr bwMode="auto">
          <a:xfrm>
            <a:off x="3987312" y="4291014"/>
            <a:ext cx="79040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cs typeface="Times New Roman" pitchFamily="18" charset="0"/>
              </a:rPr>
              <a:t>Integer</a:t>
            </a:r>
          </a:p>
        </p:txBody>
      </p:sp>
      <p:sp>
        <p:nvSpPr>
          <p:cNvPr id="112660" name="Text Box 20"/>
          <p:cNvSpPr txBox="1">
            <a:spLocks noChangeArrowheads="1"/>
          </p:cNvSpPr>
          <p:nvPr/>
        </p:nvSpPr>
        <p:spPr bwMode="auto">
          <a:xfrm>
            <a:off x="4888524" y="4291014"/>
            <a:ext cx="87748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cs typeface="Times New Roman" pitchFamily="18" charset="0"/>
              </a:rPr>
              <a:t>Fraction</a:t>
            </a:r>
          </a:p>
        </p:txBody>
      </p:sp>
      <p:sp>
        <p:nvSpPr>
          <p:cNvPr id="112661" name="Text Box 21"/>
          <p:cNvSpPr txBox="1">
            <a:spLocks noChangeArrowheads="1"/>
          </p:cNvSpPr>
          <p:nvPr/>
        </p:nvSpPr>
        <p:spPr bwMode="auto">
          <a:xfrm>
            <a:off x="5958254" y="4286250"/>
            <a:ext cx="110459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cs typeface="Times New Roman" pitchFamily="18" charset="0"/>
              </a:rPr>
              <a:t>Coefficient</a:t>
            </a:r>
          </a:p>
        </p:txBody>
      </p:sp>
      <p:sp>
        <p:nvSpPr>
          <p:cNvPr id="112662" name="Text Box 22"/>
          <p:cNvSpPr txBox="1">
            <a:spLocks noChangeArrowheads="1"/>
          </p:cNvSpPr>
          <p:nvPr/>
        </p:nvSpPr>
        <p:spPr bwMode="auto">
          <a:xfrm>
            <a:off x="2187820" y="5589588"/>
            <a:ext cx="5376793" cy="111825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1" i="0" u="none" dirty="0">
                <a:latin typeface="Arial" charset="0"/>
                <a:cs typeface="Arial" charset="0"/>
              </a:rPr>
              <a:t>Answer:      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(.3125)</a:t>
            </a:r>
            <a:r>
              <a:rPr lang="en-US" altLang="en-US" sz="2000" b="1" i="0" u="none" baseline="-25000" dirty="0" smtClean="0">
                <a:latin typeface="Arial" charset="0"/>
                <a:cs typeface="Arial" charset="0"/>
              </a:rPr>
              <a:t>10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= (0.a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-1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-2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-3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)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8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= (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0.24)</a:t>
            </a:r>
            <a:r>
              <a:rPr lang="en-US" altLang="en-US" sz="2000" b="1" i="0" u="none" baseline="-25000" dirty="0" smtClean="0">
                <a:latin typeface="Arial" charset="0"/>
                <a:cs typeface="Arial" charset="0"/>
              </a:rPr>
              <a:t>8</a:t>
            </a:r>
          </a:p>
          <a:p>
            <a:endParaRPr lang="en-US" altLang="en-US" sz="2000" b="1" baseline="-25000" dirty="0" smtClean="0">
              <a:latin typeface="Arial" charset="0"/>
              <a:cs typeface="Arial" charset="0"/>
            </a:endParaRPr>
          </a:p>
          <a:p>
            <a:r>
              <a:rPr lang="en-US" altLang="en-US" sz="2000" b="1" i="0" u="none" dirty="0" smtClean="0">
                <a:latin typeface="Arial" charset="0"/>
                <a:cs typeface="Arial" charset="0"/>
              </a:rPr>
              <a:t>=(257.24)</a:t>
            </a:r>
            <a:r>
              <a:rPr lang="en-US" altLang="en-US" sz="2000" b="1" i="0" u="none" baseline="-25000" dirty="0" smtClean="0">
                <a:latin typeface="Arial" charset="0"/>
                <a:cs typeface="Arial" charset="0"/>
              </a:rPr>
              <a:t>8</a:t>
            </a:r>
            <a:endParaRPr lang="en-US" altLang="en-US" sz="4000" b="1" i="0" u="none" baseline="-25000" dirty="0" smtClean="0">
              <a:latin typeface="Arial" charset="0"/>
              <a:cs typeface="Arial" charset="0"/>
            </a:endParaRPr>
          </a:p>
          <a:p>
            <a:endParaRPr lang="en-US" altLang="en-US" sz="2000" b="1" i="0" u="none" baseline="-25000" dirty="0">
              <a:latin typeface="Arial" charset="0"/>
              <a:cs typeface="Arial" charset="0"/>
            </a:endParaRPr>
          </a:p>
        </p:txBody>
      </p:sp>
      <p:sp>
        <p:nvSpPr>
          <p:cNvPr id="112663" name="Text Box 23"/>
          <p:cNvSpPr txBox="1">
            <a:spLocks noChangeArrowheads="1"/>
          </p:cNvSpPr>
          <p:nvPr/>
        </p:nvSpPr>
        <p:spPr bwMode="auto">
          <a:xfrm>
            <a:off x="2231782" y="4576763"/>
            <a:ext cx="1127232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>
                <a:latin typeface="Arial" charset="0"/>
                <a:cs typeface="Arial" charset="0"/>
              </a:rPr>
              <a:t>0.3125</a:t>
            </a:r>
          </a:p>
        </p:txBody>
      </p:sp>
      <p:sp>
        <p:nvSpPr>
          <p:cNvPr id="112664" name="Text Box 24"/>
          <p:cNvSpPr txBox="1">
            <a:spLocks noChangeArrowheads="1"/>
          </p:cNvSpPr>
          <p:nvPr/>
        </p:nvSpPr>
        <p:spPr bwMode="auto">
          <a:xfrm>
            <a:off x="3264877" y="4579938"/>
            <a:ext cx="216918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>
                <a:cs typeface="Times New Roman" pitchFamily="18" charset="0"/>
              </a:rPr>
              <a:t>* 8 =    </a:t>
            </a:r>
            <a:r>
              <a:rPr lang="en-US" altLang="en-US" sz="2400" b="1" i="0" u="none">
                <a:latin typeface="Arial" charset="0"/>
                <a:cs typeface="Arial" charset="0"/>
              </a:rPr>
              <a:t>2    .    5</a:t>
            </a:r>
          </a:p>
        </p:txBody>
      </p:sp>
      <p:sp>
        <p:nvSpPr>
          <p:cNvPr id="112665" name="Text Box 25"/>
          <p:cNvSpPr txBox="1">
            <a:spLocks noChangeArrowheads="1"/>
          </p:cNvSpPr>
          <p:nvPr/>
        </p:nvSpPr>
        <p:spPr bwMode="auto">
          <a:xfrm>
            <a:off x="2231782" y="4937126"/>
            <a:ext cx="61266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>
                <a:latin typeface="Arial" charset="0"/>
                <a:cs typeface="Arial" charset="0"/>
              </a:rPr>
              <a:t>0.5</a:t>
            </a:r>
          </a:p>
        </p:txBody>
      </p:sp>
      <p:sp>
        <p:nvSpPr>
          <p:cNvPr id="112666" name="Text Box 26"/>
          <p:cNvSpPr txBox="1">
            <a:spLocks noChangeArrowheads="1"/>
          </p:cNvSpPr>
          <p:nvPr/>
        </p:nvSpPr>
        <p:spPr bwMode="auto">
          <a:xfrm>
            <a:off x="2971800" y="4953000"/>
            <a:ext cx="411480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* 8 =   </a:t>
            </a:r>
            <a:r>
              <a:rPr lang="en-US" altLang="en-US" sz="2400" b="1" i="0" u="none" dirty="0" smtClean="0">
                <a:cs typeface="Times New Roman" pitchFamily="18" charset="0"/>
              </a:rPr>
              <a:t>     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4    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.   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0</a:t>
            </a:r>
            <a:r>
              <a:rPr lang="en-US" altLang="en-US" sz="2400" b="1" i="0" u="none" dirty="0">
                <a:cs typeface="Times New Roman" pitchFamily="18" charset="0"/>
              </a:rPr>
              <a:t>        </a:t>
            </a:r>
            <a:r>
              <a:rPr lang="en-US" altLang="en-US" sz="2400" b="1" i="0" u="none" dirty="0" smtClean="0">
                <a:cs typeface="Times New Roman" pitchFamily="18" charset="0"/>
              </a:rPr>
              <a:t>   </a:t>
            </a:r>
            <a:r>
              <a:rPr lang="en-US" altLang="en-US" sz="2400" b="1" i="0" u="none" dirty="0">
                <a:cs typeface="Times New Roman" pitchFamily="18" charset="0"/>
              </a:rPr>
              <a:t>a</a:t>
            </a:r>
            <a:r>
              <a:rPr lang="en-US" altLang="en-US" sz="2400" b="1" i="0" u="none" baseline="-25000" dirty="0">
                <a:cs typeface="Times New Roman" pitchFamily="18" charset="0"/>
              </a:rPr>
              <a:t>-2 </a:t>
            </a:r>
            <a:r>
              <a:rPr lang="en-US" altLang="en-US" sz="2400" b="1" i="0" u="none" dirty="0">
                <a:cs typeface="Times New Roman" pitchFamily="18" charset="0"/>
              </a:rPr>
              <a:t>=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4</a:t>
            </a:r>
          </a:p>
        </p:txBody>
      </p:sp>
      <p:sp>
        <p:nvSpPr>
          <p:cNvPr id="112667" name="Text Box 27"/>
          <p:cNvSpPr txBox="1">
            <a:spLocks noChangeArrowheads="1"/>
          </p:cNvSpPr>
          <p:nvPr/>
        </p:nvSpPr>
        <p:spPr bwMode="auto">
          <a:xfrm>
            <a:off x="6037385" y="4573588"/>
            <a:ext cx="94448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a</a:t>
            </a:r>
            <a:r>
              <a:rPr lang="en-US" altLang="en-US" sz="2400" b="1" i="0" u="none" baseline="-25000" dirty="0">
                <a:cs typeface="Times New Roman" pitchFamily="18" charset="0"/>
              </a:rPr>
              <a:t>-1 </a:t>
            </a:r>
            <a:r>
              <a:rPr lang="en-US" altLang="en-US" sz="2400" b="1" i="0" u="none" dirty="0">
                <a:cs typeface="Times New Roman" pitchFamily="18" charset="0"/>
              </a:rPr>
              <a:t>=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53276" name="Slide Number Placeholder 28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24178BA-F289-4A86-B5B7-F8C53E63CD3A}" type="slidenum">
              <a:rPr lang="en-US" altLang="en-US">
                <a:solidFill>
                  <a:schemeClr val="tx1"/>
                </a:solidFill>
              </a:rPr>
              <a:pPr/>
              <a:t>3</a:t>
            </a:fld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0.10509 L 8.05556E-6 -3.7037E-6 " pathEditMode="relative" ptsTypes="AA">
                                      <p:cBhvr>
                                        <p:cTn id="8" dur="500" fill="hold"/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885 L 3.33333E-6 4.81481E-6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907 L 3.33333E-6 -1.48148E-6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0.10509 L 8.05556E-6 -3.7037E-6 " pathEditMode="relative" ptsTypes="AA">
                                      <p:cBhvr>
                                        <p:cTn id="58" dur="500" fill="hold"/>
                                        <p:tgtEl>
                                          <p:spTgt spid="1126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78 -0.04861 L -1.94444E-6 -3.7037E-6 " pathEditMode="relative" rAng="0" ptsTypes="AA">
                                      <p:cBhvr>
                                        <p:cTn id="76" dur="500" fill="hold"/>
                                        <p:tgtEl>
                                          <p:spTgt spid="1126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" y="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4" grpId="0"/>
      <p:bldP spid="112645" grpId="0"/>
      <p:bldP spid="112646" grpId="0"/>
      <p:bldP spid="112647" grpId="0"/>
      <p:bldP spid="112648" grpId="0"/>
      <p:bldP spid="112648" grpId="1"/>
      <p:bldP spid="112649" grpId="0"/>
      <p:bldP spid="112650" grpId="0"/>
      <p:bldP spid="112651" grpId="0"/>
      <p:bldP spid="112651" grpId="1"/>
      <p:bldP spid="112652" grpId="0"/>
      <p:bldP spid="112653" grpId="0"/>
      <p:bldP spid="112654" grpId="0"/>
      <p:bldP spid="112654" grpId="1"/>
      <p:bldP spid="112655" grpId="0"/>
      <p:bldP spid="112656" grpId="0"/>
      <p:bldP spid="112657" grpId="0" animBg="1"/>
      <p:bldP spid="112658" grpId="0"/>
      <p:bldP spid="112659" grpId="0"/>
      <p:bldP spid="112660" grpId="0"/>
      <p:bldP spid="112661" grpId="0"/>
      <p:bldP spid="112662" grpId="0"/>
      <p:bldP spid="112663" grpId="0"/>
      <p:bldP spid="112663" grpId="1"/>
      <p:bldP spid="112664" grpId="0"/>
      <p:bldP spid="112665" grpId="0"/>
      <p:bldP spid="112665" grpId="1"/>
      <p:bldP spid="112666" grpId="0"/>
      <p:bldP spid="11266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Decimal to Hexadecimal Conversion</a:t>
            </a: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792773" y="1089026"/>
            <a:ext cx="311014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Example: </a:t>
            </a:r>
            <a:r>
              <a:rPr lang="en-US" altLang="en-US" sz="2400" b="1" i="0" u="none" dirty="0" smtClean="0">
                <a:cs typeface="Times New Roman" pitchFamily="18" charset="0"/>
              </a:rPr>
              <a:t>(</a:t>
            </a:r>
            <a:r>
              <a:rPr lang="en-US" altLang="en-US" sz="2400" b="1" dirty="0" smtClean="0">
                <a:latin typeface="Arial" charset="0"/>
                <a:cs typeface="Arial" charset="0"/>
              </a:rPr>
              <a:t>2025.625</a:t>
            </a:r>
            <a:r>
              <a:rPr lang="en-US" altLang="en-US" sz="2400" b="1" i="0" u="none" dirty="0" smtClean="0">
                <a:cs typeface="Times New Roman" pitchFamily="18" charset="0"/>
              </a:rPr>
              <a:t>)</a:t>
            </a:r>
            <a:r>
              <a:rPr lang="en-US" altLang="en-US" sz="2400" b="1" i="0" u="none" baseline="-25000" dirty="0" smtClean="0">
                <a:cs typeface="Times New Roman" pitchFamily="18" charset="0"/>
              </a:rPr>
              <a:t>10</a:t>
            </a:r>
            <a:endParaRPr lang="en-US" altLang="en-US" sz="2400" b="1" i="0" u="none" baseline="-25000" dirty="0">
              <a:cs typeface="Times New Roman" pitchFamily="18" charset="0"/>
            </a:endParaRPr>
          </a:p>
        </p:txBody>
      </p:sp>
      <p:sp>
        <p:nvSpPr>
          <p:cNvPr id="112644" name="Text Box 4"/>
          <p:cNvSpPr txBox="1">
            <a:spLocks noChangeArrowheads="1"/>
          </p:cNvSpPr>
          <p:nvPr/>
        </p:nvSpPr>
        <p:spPr bwMode="auto">
          <a:xfrm>
            <a:off x="3492013" y="1627189"/>
            <a:ext cx="94897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cs typeface="Times New Roman" pitchFamily="18" charset="0"/>
              </a:rPr>
              <a:t>Quotient</a:t>
            </a:r>
          </a:p>
        </p:txBody>
      </p:sp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4573466" y="1627189"/>
            <a:ext cx="111460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cs typeface="Times New Roman" pitchFamily="18" charset="0"/>
              </a:rPr>
              <a:t>Remainder</a:t>
            </a:r>
          </a:p>
        </p:txBody>
      </p:sp>
      <p:sp>
        <p:nvSpPr>
          <p:cNvPr id="112646" name="Text Box 6"/>
          <p:cNvSpPr txBox="1">
            <a:spLocks noChangeArrowheads="1"/>
          </p:cNvSpPr>
          <p:nvPr/>
        </p:nvSpPr>
        <p:spPr bwMode="auto">
          <a:xfrm>
            <a:off x="6002215" y="1622425"/>
            <a:ext cx="110459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cs typeface="Times New Roman" pitchFamily="18" charset="0"/>
              </a:rPr>
              <a:t>Coefficient</a:t>
            </a:r>
          </a:p>
        </p:txBody>
      </p:sp>
      <p:sp>
        <p:nvSpPr>
          <p:cNvPr id="112647" name="Text Box 7"/>
          <p:cNvSpPr txBox="1">
            <a:spLocks noChangeArrowheads="1"/>
          </p:cNvSpPr>
          <p:nvPr/>
        </p:nvSpPr>
        <p:spPr bwMode="auto">
          <a:xfrm>
            <a:off x="2951285" y="3211513"/>
            <a:ext cx="494718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1" i="0" u="none" dirty="0">
                <a:latin typeface="Arial" charset="0"/>
                <a:cs typeface="Arial" charset="0"/>
              </a:rPr>
              <a:t>Answer:      (175)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10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= (a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2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1 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 dirty="0" smtClean="0">
                <a:latin typeface="Arial" charset="0"/>
                <a:cs typeface="Arial" charset="0"/>
              </a:rPr>
              <a:t>0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)</a:t>
            </a:r>
            <a:r>
              <a:rPr lang="en-US" altLang="en-US" sz="2000" b="1" baseline="-25000" dirty="0" smtClean="0">
                <a:latin typeface="Arial" charset="0"/>
                <a:cs typeface="Arial" charset="0"/>
              </a:rPr>
              <a:t>16</a:t>
            </a:r>
            <a:r>
              <a:rPr lang="en-US" altLang="en-US" sz="2000" b="1" dirty="0" smtClean="0">
                <a:latin typeface="Arial" charset="0"/>
                <a:cs typeface="Arial" charset="0"/>
              </a:rPr>
              <a:t> 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= (</a:t>
            </a:r>
            <a:r>
              <a:rPr lang="en-US" altLang="en-US" sz="2000" b="1" dirty="0" smtClean="0">
                <a:latin typeface="Arial" charset="0"/>
                <a:cs typeface="Arial" charset="0"/>
              </a:rPr>
              <a:t>7E9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)</a:t>
            </a:r>
            <a:r>
              <a:rPr lang="en-US" altLang="en-US" sz="2000" b="1" baseline="-25000" dirty="0" smtClean="0">
                <a:latin typeface="Arial" charset="0"/>
                <a:cs typeface="Arial" charset="0"/>
              </a:rPr>
              <a:t>16</a:t>
            </a:r>
            <a:endParaRPr lang="en-US" altLang="en-US" sz="2000" b="1" i="0" u="none" baseline="-25000" dirty="0">
              <a:latin typeface="Arial" charset="0"/>
              <a:cs typeface="Arial" charset="0"/>
            </a:endParaRPr>
          </a:p>
        </p:txBody>
      </p:sp>
      <p:sp>
        <p:nvSpPr>
          <p:cNvPr id="112648" name="Text Box 8"/>
          <p:cNvSpPr txBox="1">
            <a:spLocks noChangeArrowheads="1"/>
          </p:cNvSpPr>
          <p:nvPr/>
        </p:nvSpPr>
        <p:spPr bwMode="auto">
          <a:xfrm>
            <a:off x="2057400" y="1912938"/>
            <a:ext cx="104513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en-US" sz="2400" b="1" dirty="0" smtClean="0">
                <a:latin typeface="Arial" charset="0"/>
                <a:cs typeface="Arial" charset="0"/>
              </a:rPr>
              <a:t>2025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49" name="Text Box 9"/>
          <p:cNvSpPr txBox="1">
            <a:spLocks noChangeArrowheads="1"/>
          </p:cNvSpPr>
          <p:nvPr/>
        </p:nvSpPr>
        <p:spPr bwMode="auto">
          <a:xfrm>
            <a:off x="2838451" y="1916113"/>
            <a:ext cx="150393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/ </a:t>
            </a:r>
            <a:r>
              <a:rPr lang="en-US" altLang="en-US" sz="2400" b="1" i="0" u="none" dirty="0" smtClean="0">
                <a:cs typeface="Times New Roman" pitchFamily="18" charset="0"/>
              </a:rPr>
              <a:t>16 = </a:t>
            </a:r>
            <a:r>
              <a:rPr lang="en-US" altLang="en-US" sz="2400" b="1" dirty="0" smtClean="0">
                <a:latin typeface="Arial" charset="0"/>
                <a:cs typeface="Arial" charset="0"/>
              </a:rPr>
              <a:t>126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4974981" y="1916113"/>
            <a:ext cx="194957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dirty="0" smtClean="0">
                <a:latin typeface="Arial" charset="0"/>
                <a:cs typeface="Arial" charset="0"/>
              </a:rPr>
              <a:t>9</a:t>
            </a:r>
            <a:r>
              <a:rPr lang="en-US" altLang="en-US" sz="2400" b="1" i="0" u="none" dirty="0" smtClean="0">
                <a:cs typeface="Times New Roman" pitchFamily="18" charset="0"/>
              </a:rPr>
              <a:t>             </a:t>
            </a:r>
            <a:r>
              <a:rPr lang="en-US" altLang="en-US" sz="2400" b="1" i="0" u="none" dirty="0">
                <a:cs typeface="Times New Roman" pitchFamily="18" charset="0"/>
              </a:rPr>
              <a:t>a</a:t>
            </a:r>
            <a:r>
              <a:rPr lang="en-US" altLang="en-US" sz="2400" b="1" i="0" u="none" baseline="-25000" dirty="0">
                <a:cs typeface="Times New Roman" pitchFamily="18" charset="0"/>
              </a:rPr>
              <a:t>0 </a:t>
            </a:r>
            <a:r>
              <a:rPr lang="en-US" altLang="en-US" sz="2400" b="1" i="0" u="none" dirty="0">
                <a:cs typeface="Times New Roman" pitchFamily="18" charset="0"/>
              </a:rPr>
              <a:t>= </a:t>
            </a:r>
            <a:r>
              <a:rPr lang="en-US" altLang="en-US" sz="2400" b="1" dirty="0" smtClean="0">
                <a:latin typeface="Arial" charset="0"/>
                <a:cs typeface="Arial" charset="0"/>
              </a:rPr>
              <a:t>9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1" name="Text Box 11"/>
          <p:cNvSpPr txBox="1">
            <a:spLocks noChangeArrowheads="1"/>
          </p:cNvSpPr>
          <p:nvPr/>
        </p:nvSpPr>
        <p:spPr bwMode="auto">
          <a:xfrm>
            <a:off x="2231782" y="2273301"/>
            <a:ext cx="78418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latin typeface="Arial" charset="0"/>
                <a:cs typeface="Arial" charset="0"/>
              </a:rPr>
              <a:t> 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126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2" name="Text Box 12"/>
          <p:cNvSpPr txBox="1">
            <a:spLocks noChangeArrowheads="1"/>
          </p:cNvSpPr>
          <p:nvPr/>
        </p:nvSpPr>
        <p:spPr bwMode="auto">
          <a:xfrm>
            <a:off x="2838451" y="2276476"/>
            <a:ext cx="122982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/ </a:t>
            </a:r>
            <a:r>
              <a:rPr lang="en-US" altLang="en-US" sz="2400" b="1" i="0" u="none" dirty="0" smtClean="0">
                <a:cs typeface="Times New Roman" pitchFamily="18" charset="0"/>
              </a:rPr>
              <a:t>16 </a:t>
            </a:r>
            <a:r>
              <a:rPr lang="en-US" altLang="en-US" sz="2400" b="1" i="0" u="none" dirty="0">
                <a:cs typeface="Times New Roman" pitchFamily="18" charset="0"/>
              </a:rPr>
              <a:t>=  </a:t>
            </a:r>
            <a:r>
              <a:rPr lang="en-US" altLang="en-US" sz="2400" b="1" dirty="0">
                <a:latin typeface="Arial" charset="0"/>
                <a:cs typeface="Arial" charset="0"/>
              </a:rPr>
              <a:t>7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3" name="Text Box 13"/>
          <p:cNvSpPr txBox="1">
            <a:spLocks noChangeArrowheads="1"/>
          </p:cNvSpPr>
          <p:nvPr/>
        </p:nvSpPr>
        <p:spPr bwMode="auto">
          <a:xfrm>
            <a:off x="4974981" y="2276476"/>
            <a:ext cx="253947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dirty="0" smtClean="0">
                <a:latin typeface="Arial" charset="0"/>
                <a:cs typeface="Arial" charset="0"/>
              </a:rPr>
              <a:t>14</a:t>
            </a:r>
            <a:r>
              <a:rPr lang="en-US" altLang="en-US" sz="2400" b="1" i="0" u="none" dirty="0" smtClean="0">
                <a:cs typeface="Times New Roman" pitchFamily="18" charset="0"/>
              </a:rPr>
              <a:t>           a</a:t>
            </a:r>
            <a:r>
              <a:rPr lang="en-US" altLang="en-US" sz="2400" b="1" i="0" u="none" baseline="-25000" dirty="0" smtClean="0">
                <a:cs typeface="Times New Roman" pitchFamily="18" charset="0"/>
              </a:rPr>
              <a:t>1 </a:t>
            </a:r>
            <a:r>
              <a:rPr lang="en-US" altLang="en-US" sz="2400" b="1" i="0" u="none" dirty="0">
                <a:cs typeface="Times New Roman" pitchFamily="18" charset="0"/>
              </a:rPr>
              <a:t>= </a:t>
            </a:r>
            <a:r>
              <a:rPr lang="en-US" altLang="en-US" sz="2400" b="1" dirty="0" smtClean="0">
                <a:latin typeface="Arial" charset="0"/>
                <a:cs typeface="Arial" charset="0"/>
              </a:rPr>
              <a:t>14=E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4" name="Text Box 14"/>
          <p:cNvSpPr txBox="1">
            <a:spLocks noChangeArrowheads="1"/>
          </p:cNvSpPr>
          <p:nvPr/>
        </p:nvSpPr>
        <p:spPr bwMode="auto">
          <a:xfrm>
            <a:off x="2231782" y="2633663"/>
            <a:ext cx="61106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latin typeface="Arial" charset="0"/>
                <a:cs typeface="Arial" charset="0"/>
              </a:rPr>
              <a:t> 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  7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5" name="Text Box 15"/>
          <p:cNvSpPr txBox="1">
            <a:spLocks noChangeArrowheads="1"/>
          </p:cNvSpPr>
          <p:nvPr/>
        </p:nvSpPr>
        <p:spPr bwMode="auto">
          <a:xfrm>
            <a:off x="2838451" y="2636838"/>
            <a:ext cx="122982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/ </a:t>
            </a:r>
            <a:r>
              <a:rPr lang="en-US" altLang="en-US" sz="2400" b="1" i="0" u="none" dirty="0" smtClean="0">
                <a:cs typeface="Times New Roman" pitchFamily="18" charset="0"/>
              </a:rPr>
              <a:t>16 </a:t>
            </a:r>
            <a:r>
              <a:rPr lang="en-US" altLang="en-US" sz="2400" b="1" i="0" u="none" dirty="0">
                <a:cs typeface="Times New Roman" pitchFamily="18" charset="0"/>
              </a:rPr>
              <a:t>=  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0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6" name="Text Box 16"/>
          <p:cNvSpPr txBox="1">
            <a:spLocks noChangeArrowheads="1"/>
          </p:cNvSpPr>
          <p:nvPr/>
        </p:nvSpPr>
        <p:spPr bwMode="auto">
          <a:xfrm>
            <a:off x="4974981" y="2636838"/>
            <a:ext cx="210346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dirty="0" smtClean="0">
                <a:latin typeface="Arial" charset="0"/>
                <a:cs typeface="Arial" charset="0"/>
              </a:rPr>
              <a:t> 7</a:t>
            </a:r>
            <a:r>
              <a:rPr lang="en-US" altLang="en-US" sz="2400" b="1" i="0" u="none" dirty="0" smtClean="0">
                <a:cs typeface="Times New Roman" pitchFamily="18" charset="0"/>
              </a:rPr>
              <a:t>             a</a:t>
            </a:r>
            <a:r>
              <a:rPr lang="en-US" altLang="en-US" sz="2400" b="1" i="0" u="none" baseline="-25000" dirty="0" smtClean="0">
                <a:cs typeface="Times New Roman" pitchFamily="18" charset="0"/>
              </a:rPr>
              <a:t>2 </a:t>
            </a:r>
            <a:r>
              <a:rPr lang="en-US" altLang="en-US" sz="2400" b="1" i="0" u="none" dirty="0">
                <a:cs typeface="Times New Roman" pitchFamily="18" charset="0"/>
              </a:rPr>
              <a:t>= </a:t>
            </a:r>
            <a:r>
              <a:rPr lang="en-US" altLang="en-US" sz="2400" b="1" dirty="0" smtClean="0">
                <a:latin typeface="Arial" charset="0"/>
                <a:cs typeface="Arial" charset="0"/>
              </a:rPr>
              <a:t>7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57" name="Line 17"/>
          <p:cNvSpPr>
            <a:spLocks noChangeShapeType="1"/>
          </p:cNvSpPr>
          <p:nvPr/>
        </p:nvSpPr>
        <p:spPr bwMode="auto">
          <a:xfrm>
            <a:off x="8532935" y="6742113"/>
            <a:ext cx="539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658" name="Text Box 18"/>
          <p:cNvSpPr txBox="1">
            <a:spLocks noChangeArrowheads="1"/>
          </p:cNvSpPr>
          <p:nvPr/>
        </p:nvSpPr>
        <p:spPr bwMode="auto">
          <a:xfrm>
            <a:off x="792774" y="3752851"/>
            <a:ext cx="2595582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Example: (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0.625</a:t>
            </a:r>
            <a:r>
              <a:rPr lang="en-US" altLang="en-US" sz="2400" b="1" i="0" u="none" dirty="0" smtClean="0">
                <a:cs typeface="Times New Roman" pitchFamily="18" charset="0"/>
              </a:rPr>
              <a:t>)</a:t>
            </a:r>
            <a:r>
              <a:rPr lang="en-US" altLang="en-US" sz="2400" b="1" i="0" u="none" baseline="-25000" dirty="0" smtClean="0">
                <a:cs typeface="Times New Roman" pitchFamily="18" charset="0"/>
              </a:rPr>
              <a:t>10</a:t>
            </a:r>
            <a:endParaRPr lang="en-US" altLang="en-US" sz="2400" b="1" i="0" u="none" baseline="-25000" dirty="0">
              <a:cs typeface="Times New Roman" pitchFamily="18" charset="0"/>
            </a:endParaRPr>
          </a:p>
        </p:txBody>
      </p:sp>
      <p:sp>
        <p:nvSpPr>
          <p:cNvPr id="112659" name="Text Box 19"/>
          <p:cNvSpPr txBox="1">
            <a:spLocks noChangeArrowheads="1"/>
          </p:cNvSpPr>
          <p:nvPr/>
        </p:nvSpPr>
        <p:spPr bwMode="auto">
          <a:xfrm>
            <a:off x="3987312" y="4291014"/>
            <a:ext cx="79040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cs typeface="Times New Roman" pitchFamily="18" charset="0"/>
              </a:rPr>
              <a:t>Integer</a:t>
            </a:r>
          </a:p>
        </p:txBody>
      </p:sp>
      <p:sp>
        <p:nvSpPr>
          <p:cNvPr id="112660" name="Text Box 20"/>
          <p:cNvSpPr txBox="1">
            <a:spLocks noChangeArrowheads="1"/>
          </p:cNvSpPr>
          <p:nvPr/>
        </p:nvSpPr>
        <p:spPr bwMode="auto">
          <a:xfrm>
            <a:off x="4888524" y="4291014"/>
            <a:ext cx="87748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cs typeface="Times New Roman" pitchFamily="18" charset="0"/>
              </a:rPr>
              <a:t>Fraction</a:t>
            </a:r>
          </a:p>
        </p:txBody>
      </p:sp>
      <p:sp>
        <p:nvSpPr>
          <p:cNvPr id="112661" name="Text Box 21"/>
          <p:cNvSpPr txBox="1">
            <a:spLocks noChangeArrowheads="1"/>
          </p:cNvSpPr>
          <p:nvPr/>
        </p:nvSpPr>
        <p:spPr bwMode="auto">
          <a:xfrm>
            <a:off x="5958254" y="4286250"/>
            <a:ext cx="110459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 i="0" u="none">
                <a:cs typeface="Times New Roman" pitchFamily="18" charset="0"/>
              </a:rPr>
              <a:t>Coefficient</a:t>
            </a:r>
          </a:p>
        </p:txBody>
      </p:sp>
      <p:sp>
        <p:nvSpPr>
          <p:cNvPr id="112662" name="Text Box 22"/>
          <p:cNvSpPr txBox="1">
            <a:spLocks noChangeArrowheads="1"/>
          </p:cNvSpPr>
          <p:nvPr/>
        </p:nvSpPr>
        <p:spPr bwMode="auto">
          <a:xfrm>
            <a:off x="2187820" y="5589588"/>
            <a:ext cx="5371983" cy="91307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1" i="0" u="none" dirty="0">
                <a:latin typeface="Arial" charset="0"/>
                <a:cs typeface="Arial" charset="0"/>
              </a:rPr>
              <a:t>Answer:      (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0.625)</a:t>
            </a:r>
            <a:r>
              <a:rPr lang="en-US" altLang="en-US" sz="2000" b="1" i="0" u="none" baseline="-25000" dirty="0" smtClean="0">
                <a:latin typeface="Arial" charset="0"/>
                <a:cs typeface="Arial" charset="0"/>
              </a:rPr>
              <a:t>10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= (0.a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-1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-2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a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-3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)</a:t>
            </a:r>
            <a:r>
              <a:rPr lang="en-US" altLang="en-US" sz="2000" b="1" i="0" u="none" baseline="-25000" dirty="0">
                <a:latin typeface="Arial" charset="0"/>
                <a:cs typeface="Arial" charset="0"/>
              </a:rPr>
              <a:t>8 </a:t>
            </a:r>
            <a:r>
              <a:rPr lang="en-US" altLang="en-US" sz="2000" b="1" i="0" u="none" dirty="0">
                <a:latin typeface="Arial" charset="0"/>
                <a:cs typeface="Arial" charset="0"/>
              </a:rPr>
              <a:t>= (</a:t>
            </a:r>
            <a:r>
              <a:rPr lang="en-US" altLang="en-US" sz="2000" b="1" i="0" u="none" dirty="0" smtClean="0">
                <a:latin typeface="Arial" charset="0"/>
                <a:cs typeface="Arial" charset="0"/>
              </a:rPr>
              <a:t>0.A)</a:t>
            </a:r>
            <a:r>
              <a:rPr lang="en-US" altLang="en-US" sz="2000" b="1" baseline="-25000" dirty="0" smtClean="0">
                <a:latin typeface="Arial" charset="0"/>
                <a:cs typeface="Arial" charset="0"/>
              </a:rPr>
              <a:t>16</a:t>
            </a:r>
          </a:p>
          <a:p>
            <a:endParaRPr lang="en-US" altLang="en-US" sz="2000" b="1" i="0" u="none" baseline="-25000" dirty="0" smtClean="0">
              <a:latin typeface="Arial" charset="0"/>
              <a:cs typeface="Arial" charset="0"/>
            </a:endParaRPr>
          </a:p>
          <a:p>
            <a:r>
              <a:rPr lang="en-US" altLang="en-US" sz="2000" b="1" dirty="0" smtClean="0">
                <a:latin typeface="Arial" charset="0"/>
                <a:cs typeface="Arial" charset="0"/>
              </a:rPr>
              <a:t>=(7E9.A)</a:t>
            </a:r>
            <a:r>
              <a:rPr lang="en-US" altLang="en-US" sz="2000" b="1" baseline="-25000" dirty="0" smtClean="0">
                <a:latin typeface="Arial" charset="0"/>
                <a:cs typeface="Arial" charset="0"/>
              </a:rPr>
              <a:t>16</a:t>
            </a:r>
            <a:endParaRPr lang="en-US" altLang="en-US" sz="2000" b="1" i="0" u="none" baseline="-25000" dirty="0">
              <a:latin typeface="Arial" charset="0"/>
              <a:cs typeface="Arial" charset="0"/>
            </a:endParaRPr>
          </a:p>
        </p:txBody>
      </p:sp>
      <p:sp>
        <p:nvSpPr>
          <p:cNvPr id="112663" name="Text Box 23"/>
          <p:cNvSpPr txBox="1">
            <a:spLocks noChangeArrowheads="1"/>
          </p:cNvSpPr>
          <p:nvPr/>
        </p:nvSpPr>
        <p:spPr bwMode="auto">
          <a:xfrm>
            <a:off x="2231782" y="4576763"/>
            <a:ext cx="95571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 smtClean="0">
                <a:latin typeface="Arial" charset="0"/>
                <a:cs typeface="Arial" charset="0"/>
              </a:rPr>
              <a:t>0.625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64" name="Text Box 24"/>
          <p:cNvSpPr txBox="1">
            <a:spLocks noChangeArrowheads="1"/>
          </p:cNvSpPr>
          <p:nvPr/>
        </p:nvSpPr>
        <p:spPr bwMode="auto">
          <a:xfrm>
            <a:off x="3264877" y="4579938"/>
            <a:ext cx="239520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* </a:t>
            </a:r>
            <a:r>
              <a:rPr lang="en-US" altLang="en-US" sz="2400" b="1" dirty="0" smtClean="0">
                <a:cs typeface="Times New Roman" pitchFamily="18" charset="0"/>
              </a:rPr>
              <a:t>16</a:t>
            </a:r>
            <a:r>
              <a:rPr lang="en-US" altLang="en-US" sz="2400" b="1" i="0" u="none" dirty="0" smtClean="0">
                <a:cs typeface="Times New Roman" pitchFamily="18" charset="0"/>
              </a:rPr>
              <a:t> </a:t>
            </a:r>
            <a:r>
              <a:rPr lang="en-US" altLang="en-US" sz="2400" b="1" i="0" u="none" dirty="0">
                <a:cs typeface="Times New Roman" pitchFamily="18" charset="0"/>
              </a:rPr>
              <a:t>=   </a:t>
            </a:r>
            <a:r>
              <a:rPr lang="en-US" altLang="en-US" sz="2400" b="1" dirty="0" smtClean="0">
                <a:cs typeface="Times New Roman" pitchFamily="18" charset="0"/>
              </a:rPr>
              <a:t>10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    </a:t>
            </a:r>
            <a:r>
              <a:rPr lang="en-US" altLang="en-US" sz="2400" b="1" i="0" u="none" dirty="0">
                <a:latin typeface="Arial" charset="0"/>
                <a:cs typeface="Arial" charset="0"/>
              </a:rPr>
              <a:t>.    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0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112667" name="Text Box 27"/>
          <p:cNvSpPr txBox="1">
            <a:spLocks noChangeArrowheads="1"/>
          </p:cNvSpPr>
          <p:nvPr/>
        </p:nvSpPr>
        <p:spPr bwMode="auto">
          <a:xfrm>
            <a:off x="6037385" y="4573588"/>
            <a:ext cx="151836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 dirty="0">
                <a:cs typeface="Times New Roman" pitchFamily="18" charset="0"/>
              </a:rPr>
              <a:t>a</a:t>
            </a:r>
            <a:r>
              <a:rPr lang="en-US" altLang="en-US" sz="2400" b="1" i="0" u="none" baseline="-25000" dirty="0">
                <a:cs typeface="Times New Roman" pitchFamily="18" charset="0"/>
              </a:rPr>
              <a:t>-1 </a:t>
            </a:r>
            <a:r>
              <a:rPr lang="en-US" altLang="en-US" sz="2400" b="1" i="0" u="none" dirty="0">
                <a:cs typeface="Times New Roman" pitchFamily="18" charset="0"/>
              </a:rPr>
              <a:t>= </a:t>
            </a:r>
            <a:r>
              <a:rPr lang="en-US" altLang="en-US" sz="2400" b="1" i="0" u="none" dirty="0" smtClean="0">
                <a:latin typeface="Arial" charset="0"/>
                <a:cs typeface="Arial" charset="0"/>
              </a:rPr>
              <a:t>10=A</a:t>
            </a:r>
            <a:endParaRPr lang="en-US" altLang="en-US" sz="2400" b="1" i="0" u="none" dirty="0">
              <a:latin typeface="Arial" charset="0"/>
              <a:cs typeface="Arial" charset="0"/>
            </a:endParaRPr>
          </a:p>
        </p:txBody>
      </p:sp>
      <p:sp>
        <p:nvSpPr>
          <p:cNvPr id="53276" name="Slide Number Placeholder 28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24178BA-F289-4A86-B5B7-F8C53E63CD3A}" type="slidenum">
              <a:rPr lang="en-US" altLang="en-US">
                <a:solidFill>
                  <a:schemeClr val="tx1"/>
                </a:solidFill>
              </a:rPr>
              <a:pPr/>
              <a:t>4</a:t>
            </a:fld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0.10509 L 8.05556E-6 -3.7037E-6 " pathEditMode="relative" ptsTypes="AA">
                                      <p:cBhvr>
                                        <p:cTn id="8" dur="500" fill="hold"/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885 L 3.33333E-6 4.81481E-6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907 L 3.33333E-6 -1.48148E-6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0.10509 L 8.05556E-6 -3.7037E-6 " pathEditMode="relative" ptsTypes="AA">
                                      <p:cBhvr>
                                        <p:cTn id="58" dur="500" fill="hold"/>
                                        <p:tgtEl>
                                          <p:spTgt spid="1126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4" grpId="0"/>
      <p:bldP spid="112645" grpId="0"/>
      <p:bldP spid="112646" grpId="0"/>
      <p:bldP spid="112647" grpId="0"/>
      <p:bldP spid="112648" grpId="0"/>
      <p:bldP spid="112648" grpId="1"/>
      <p:bldP spid="112649" grpId="0"/>
      <p:bldP spid="112650" grpId="0"/>
      <p:bldP spid="112651" grpId="0"/>
      <p:bldP spid="112651" grpId="1"/>
      <p:bldP spid="112652" grpId="0"/>
      <p:bldP spid="112653" grpId="0"/>
      <p:bldP spid="112654" grpId="0"/>
      <p:bldP spid="112654" grpId="1"/>
      <p:bldP spid="112655" grpId="0"/>
      <p:bldP spid="112656" grpId="0"/>
      <p:bldP spid="112657" grpId="0" animBg="1"/>
      <p:bldP spid="112658" grpId="0"/>
      <p:bldP spid="112659" grpId="0"/>
      <p:bldP spid="112660" grpId="0"/>
      <p:bldP spid="112661" grpId="0"/>
      <p:bldP spid="112662" grpId="0"/>
      <p:bldP spid="112663" grpId="0"/>
      <p:bldP spid="112663" grpId="1"/>
      <p:bldP spid="112664" grpId="0"/>
      <p:bldP spid="11266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Binary </a:t>
            </a:r>
            <a:r>
              <a:rPr lang="en-US" altLang="en-US" smtClean="0">
                <a:latin typeface="Arial" charset="0"/>
                <a:cs typeface="Arial" charset="0"/>
              </a:rPr>
              <a:t>−</a:t>
            </a:r>
            <a:r>
              <a:rPr lang="en-US" altLang="en-US" smtClean="0"/>
              <a:t> Octal Conversion</a:t>
            </a:r>
          </a:p>
        </p:txBody>
      </p:sp>
      <p:sp>
        <p:nvSpPr>
          <p:cNvPr id="54275" name="Rectangle 4"/>
          <p:cNvSpPr>
            <a:spLocks noGrp="1" noChangeArrowheads="1"/>
          </p:cNvSpPr>
          <p:nvPr>
            <p:ph idx="1"/>
          </p:nvPr>
        </p:nvSpPr>
        <p:spPr>
          <a:xfrm>
            <a:off x="307731" y="1295400"/>
            <a:ext cx="5402874" cy="1627188"/>
          </a:xfrm>
        </p:spPr>
        <p:txBody>
          <a:bodyPr lIns="63500" tIns="25400" rIns="63500" bIns="25400">
            <a:spAutoFit/>
          </a:bodyPr>
          <a:lstStyle/>
          <a:p>
            <a:pPr eaLnBrk="1" hangingPunct="1"/>
            <a:r>
              <a:rPr lang="en-US" altLang="en-US" dirty="0" smtClean="0"/>
              <a:t>8 = 2</a:t>
            </a:r>
            <a:r>
              <a:rPr lang="en-US" altLang="en-US" baseline="30000" dirty="0" smtClean="0"/>
              <a:t>3</a:t>
            </a:r>
          </a:p>
          <a:p>
            <a:pPr eaLnBrk="1" hangingPunct="1"/>
            <a:r>
              <a:rPr lang="en-US" altLang="en-US" dirty="0" smtClean="0"/>
              <a:t>Each group of 3 bits represents an octal digit</a:t>
            </a:r>
          </a:p>
        </p:txBody>
      </p:sp>
      <p:sp>
        <p:nvSpPr>
          <p:cNvPr id="113667" name="Line 3"/>
          <p:cNvSpPr>
            <a:spLocks noChangeShapeType="1"/>
          </p:cNvSpPr>
          <p:nvPr/>
        </p:nvSpPr>
        <p:spPr bwMode="auto">
          <a:xfrm>
            <a:off x="8532935" y="6742113"/>
            <a:ext cx="539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3669" name="Group 5"/>
          <p:cNvGraphicFramePr>
            <a:graphicFrameLocks noGrp="1"/>
          </p:cNvGraphicFramePr>
          <p:nvPr/>
        </p:nvGraphicFramePr>
        <p:xfrm>
          <a:off x="6400800" y="1447799"/>
          <a:ext cx="2300653" cy="4213224"/>
        </p:xfrm>
        <a:graphic>
          <a:graphicData uri="http://schemas.openxmlformats.org/drawingml/2006/table">
            <a:tbl>
              <a:tblPr/>
              <a:tblGrid>
                <a:gridCol w="1151111">
                  <a:extLst>
                    <a:ext uri="{9D8B030D-6E8A-4147-A177-3AD203B41FA5}"/>
                  </a:extLst>
                </a:gridCol>
                <a:gridCol w="1149542">
                  <a:extLst>
                    <a:ext uri="{9D8B030D-6E8A-4147-A177-3AD203B41FA5}"/>
                  </a:extLst>
                </a:gridCol>
              </a:tblGrid>
              <a:tr h="468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Octal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Binary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/>
                </a:extLst>
              </a:tr>
              <a:tr h="468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68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68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68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68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68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68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68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113701" name="Text Box 37"/>
          <p:cNvSpPr txBox="1">
            <a:spLocks noChangeArrowheads="1"/>
          </p:cNvSpPr>
          <p:nvPr/>
        </p:nvSpPr>
        <p:spPr bwMode="auto">
          <a:xfrm>
            <a:off x="611066" y="3068638"/>
            <a:ext cx="13548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>
                <a:cs typeface="Times New Roman" pitchFamily="18" charset="0"/>
              </a:rPr>
              <a:t>Example:</a:t>
            </a:r>
            <a:endParaRPr lang="en-US" altLang="en-US" sz="2400" b="1" i="0" u="none" baseline="-25000">
              <a:cs typeface="Times New Roman" pitchFamily="18" charset="0"/>
            </a:endParaRPr>
          </a:p>
        </p:txBody>
      </p:sp>
      <p:sp>
        <p:nvSpPr>
          <p:cNvPr id="113702" name="Text Box 38"/>
          <p:cNvSpPr txBox="1">
            <a:spLocks noChangeArrowheads="1"/>
          </p:cNvSpPr>
          <p:nvPr/>
        </p:nvSpPr>
        <p:spPr bwMode="auto">
          <a:xfrm>
            <a:off x="2231781" y="3608389"/>
            <a:ext cx="3153427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800" b="1" i="0" u="none" dirty="0">
                <a:latin typeface="Arial" charset="0"/>
                <a:cs typeface="Arial" charset="0"/>
              </a:rPr>
              <a:t>(  1 0 1 1 0 . 0 1  )</a:t>
            </a:r>
            <a:r>
              <a:rPr lang="en-US" altLang="en-US" sz="2800" b="1" i="0" u="none" baseline="-25000" dirty="0"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3703" name="Text Box 39"/>
          <p:cNvSpPr txBox="1">
            <a:spLocks noChangeArrowheads="1"/>
          </p:cNvSpPr>
          <p:nvPr/>
        </p:nvSpPr>
        <p:spPr bwMode="auto">
          <a:xfrm>
            <a:off x="2231781" y="5049839"/>
            <a:ext cx="3147015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800" b="1" i="0" u="none">
                <a:latin typeface="Arial" charset="0"/>
                <a:cs typeface="Arial" charset="0"/>
              </a:rPr>
              <a:t>(  2       6    .   2   )</a:t>
            </a:r>
            <a:r>
              <a:rPr lang="en-US" altLang="en-US" sz="2800" b="1" i="0" u="none" baseline="-25000">
                <a:latin typeface="Arial" charset="0"/>
                <a:cs typeface="Arial" charset="0"/>
              </a:rPr>
              <a:t>8</a:t>
            </a: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4491181" y="4149726"/>
            <a:ext cx="312571" cy="898525"/>
            <a:chOff x="2700" y="2614"/>
            <a:chExt cx="197" cy="566"/>
          </a:xfrm>
        </p:grpSpPr>
        <p:sp>
          <p:nvSpPr>
            <p:cNvPr id="54326" name="AutoShape 41"/>
            <p:cNvSpPr>
              <a:spLocks/>
            </p:cNvSpPr>
            <p:nvPr/>
          </p:nvSpPr>
          <p:spPr bwMode="auto">
            <a:xfrm rot="16200000">
              <a:off x="2742" y="2572"/>
              <a:ext cx="113" cy="197"/>
            </a:xfrm>
            <a:prstGeom prst="leftBrace">
              <a:avLst>
                <a:gd name="adj1" fmla="val 33404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54327" name="AutoShape 42"/>
            <p:cNvSpPr>
              <a:spLocks/>
            </p:cNvSpPr>
            <p:nvPr/>
          </p:nvSpPr>
          <p:spPr bwMode="auto">
            <a:xfrm rot="5400000" flipV="1">
              <a:off x="2742" y="3025"/>
              <a:ext cx="113" cy="197"/>
            </a:xfrm>
            <a:prstGeom prst="leftBrace">
              <a:avLst>
                <a:gd name="adj1" fmla="val 33404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cxnSp>
          <p:nvCxnSpPr>
            <p:cNvPr id="54328" name="AutoShape 43"/>
            <p:cNvCxnSpPr>
              <a:cxnSpLocks noChangeShapeType="1"/>
              <a:stCxn id="54326" idx="1"/>
              <a:endCxn id="54327" idx="1"/>
            </p:cNvCxnSpPr>
            <p:nvPr/>
          </p:nvCxnSpPr>
          <p:spPr bwMode="auto">
            <a:xfrm rot="5400000">
              <a:off x="2629" y="2897"/>
              <a:ext cx="340" cy="1"/>
            </a:xfrm>
            <a:prstGeom prst="straightConnector1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</p:cxnSp>
      </p:grp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3516695" y="4149726"/>
            <a:ext cx="312572" cy="898525"/>
            <a:chOff x="2700" y="2614"/>
            <a:chExt cx="197" cy="566"/>
          </a:xfrm>
        </p:grpSpPr>
        <p:sp>
          <p:nvSpPr>
            <p:cNvPr id="54323" name="AutoShape 45"/>
            <p:cNvSpPr>
              <a:spLocks/>
            </p:cNvSpPr>
            <p:nvPr/>
          </p:nvSpPr>
          <p:spPr bwMode="auto">
            <a:xfrm rot="16200000">
              <a:off x="2742" y="2572"/>
              <a:ext cx="113" cy="197"/>
            </a:xfrm>
            <a:prstGeom prst="leftBrace">
              <a:avLst>
                <a:gd name="adj1" fmla="val 33404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54324" name="AutoShape 46"/>
            <p:cNvSpPr>
              <a:spLocks/>
            </p:cNvSpPr>
            <p:nvPr/>
          </p:nvSpPr>
          <p:spPr bwMode="auto">
            <a:xfrm rot="5400000" flipV="1">
              <a:off x="2742" y="3025"/>
              <a:ext cx="113" cy="197"/>
            </a:xfrm>
            <a:prstGeom prst="leftBrace">
              <a:avLst>
                <a:gd name="adj1" fmla="val 33404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cxnSp>
          <p:nvCxnSpPr>
            <p:cNvPr id="54325" name="AutoShape 47"/>
            <p:cNvCxnSpPr>
              <a:cxnSpLocks noChangeShapeType="1"/>
              <a:stCxn id="54323" idx="1"/>
              <a:endCxn id="54324" idx="1"/>
            </p:cNvCxnSpPr>
            <p:nvPr/>
          </p:nvCxnSpPr>
          <p:spPr bwMode="auto">
            <a:xfrm rot="5400000">
              <a:off x="2629" y="2897"/>
              <a:ext cx="340" cy="1"/>
            </a:xfrm>
            <a:prstGeom prst="straightConnector1">
              <a:avLst/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</p:cxn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2616949" y="4151314"/>
            <a:ext cx="312572" cy="898525"/>
            <a:chOff x="2700" y="2614"/>
            <a:chExt cx="197" cy="566"/>
          </a:xfrm>
        </p:grpSpPr>
        <p:sp>
          <p:nvSpPr>
            <p:cNvPr id="54320" name="AutoShape 49"/>
            <p:cNvSpPr>
              <a:spLocks/>
            </p:cNvSpPr>
            <p:nvPr/>
          </p:nvSpPr>
          <p:spPr bwMode="auto">
            <a:xfrm rot="16200000">
              <a:off x="2742" y="2572"/>
              <a:ext cx="113" cy="197"/>
            </a:xfrm>
            <a:prstGeom prst="leftBrace">
              <a:avLst>
                <a:gd name="adj1" fmla="val 33404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54321" name="AutoShape 50"/>
            <p:cNvSpPr>
              <a:spLocks/>
            </p:cNvSpPr>
            <p:nvPr/>
          </p:nvSpPr>
          <p:spPr bwMode="auto">
            <a:xfrm rot="5400000" flipV="1">
              <a:off x="2742" y="3025"/>
              <a:ext cx="113" cy="197"/>
            </a:xfrm>
            <a:prstGeom prst="leftBrace">
              <a:avLst>
                <a:gd name="adj1" fmla="val 33404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cxnSp>
          <p:nvCxnSpPr>
            <p:cNvPr id="54322" name="AutoShape 51"/>
            <p:cNvCxnSpPr>
              <a:cxnSpLocks noChangeShapeType="1"/>
              <a:stCxn id="54320" idx="1"/>
              <a:endCxn id="54321" idx="1"/>
            </p:cNvCxnSpPr>
            <p:nvPr/>
          </p:nvCxnSpPr>
          <p:spPr bwMode="auto">
            <a:xfrm rot="5400000">
              <a:off x="2629" y="2897"/>
              <a:ext cx="340" cy="1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</p:cxnSp>
      </p:grpSp>
      <p:sp>
        <p:nvSpPr>
          <p:cNvPr id="113716" name="Line 52"/>
          <p:cNvSpPr>
            <a:spLocks noChangeShapeType="1"/>
          </p:cNvSpPr>
          <p:nvPr/>
        </p:nvSpPr>
        <p:spPr bwMode="auto">
          <a:xfrm flipH="1">
            <a:off x="2539512" y="3376613"/>
            <a:ext cx="360485" cy="360362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3717" name="Line 53"/>
          <p:cNvSpPr>
            <a:spLocks noChangeShapeType="1"/>
          </p:cNvSpPr>
          <p:nvPr/>
        </p:nvSpPr>
        <p:spPr bwMode="auto">
          <a:xfrm>
            <a:off x="4547089" y="3325813"/>
            <a:ext cx="360485" cy="360362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3718" name="Text Box 54"/>
          <p:cNvSpPr txBox="1">
            <a:spLocks noChangeArrowheads="1"/>
          </p:cNvSpPr>
          <p:nvPr/>
        </p:nvSpPr>
        <p:spPr bwMode="auto">
          <a:xfrm>
            <a:off x="2951285" y="3068638"/>
            <a:ext cx="1799492" cy="2476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1800" b="1" i="0" u="none">
                <a:latin typeface="Arial" charset="0"/>
                <a:cs typeface="Arial" charset="0"/>
              </a:rPr>
              <a:t>Assume Zeros</a:t>
            </a:r>
          </a:p>
        </p:txBody>
      </p:sp>
      <p:sp>
        <p:nvSpPr>
          <p:cNvPr id="113719" name="Text Box 55"/>
          <p:cNvSpPr txBox="1">
            <a:spLocks noChangeArrowheads="1"/>
          </p:cNvSpPr>
          <p:nvPr/>
        </p:nvSpPr>
        <p:spPr bwMode="auto">
          <a:xfrm>
            <a:off x="611066" y="5851525"/>
            <a:ext cx="72009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2400" b="1" i="0" u="none">
                <a:cs typeface="Times New Roman" pitchFamily="18" charset="0"/>
              </a:rPr>
              <a:t>Works both ways (</a:t>
            </a:r>
            <a:r>
              <a:rPr lang="en-US" altLang="en-US" sz="2400" b="1" u="none">
                <a:cs typeface="Times New Roman" pitchFamily="18" charset="0"/>
              </a:rPr>
              <a:t>Binary</a:t>
            </a:r>
            <a:r>
              <a:rPr lang="en-US" altLang="en-US" sz="2400" b="1" i="0" u="none">
                <a:cs typeface="Times New Roman" pitchFamily="18" charset="0"/>
              </a:rPr>
              <a:t> to </a:t>
            </a:r>
            <a:r>
              <a:rPr lang="en-US" altLang="en-US" sz="2400" b="1" u="none">
                <a:cs typeface="Times New Roman" pitchFamily="18" charset="0"/>
              </a:rPr>
              <a:t>Octal</a:t>
            </a:r>
            <a:r>
              <a:rPr lang="en-US" altLang="en-US" sz="2400" b="1" i="0" u="none">
                <a:cs typeface="Times New Roman" pitchFamily="18" charset="0"/>
              </a:rPr>
              <a:t> &amp; </a:t>
            </a:r>
            <a:r>
              <a:rPr lang="en-US" altLang="en-US" sz="2400" b="1" u="none">
                <a:cs typeface="Times New Roman" pitchFamily="18" charset="0"/>
              </a:rPr>
              <a:t>Octal</a:t>
            </a:r>
            <a:r>
              <a:rPr lang="en-US" altLang="en-US" sz="2400" b="1" i="0" u="none">
                <a:cs typeface="Times New Roman" pitchFamily="18" charset="0"/>
              </a:rPr>
              <a:t> to </a:t>
            </a:r>
            <a:r>
              <a:rPr lang="en-US" altLang="en-US" sz="2400" b="1" u="none">
                <a:cs typeface="Times New Roman" pitchFamily="18" charset="0"/>
              </a:rPr>
              <a:t>Binary</a:t>
            </a:r>
            <a:r>
              <a:rPr lang="en-US" altLang="en-US" sz="2400" b="1" i="0" u="none">
                <a:cs typeface="Times New Roman" pitchFamily="18" charset="0"/>
              </a:rPr>
              <a:t>)</a:t>
            </a:r>
            <a:endParaRPr lang="en-US" altLang="en-US" sz="2400" b="1" i="0" u="none" baseline="-25000">
              <a:cs typeface="Times New Roman" pitchFamily="18" charset="0"/>
            </a:endParaRPr>
          </a:p>
        </p:txBody>
      </p:sp>
      <p:sp>
        <p:nvSpPr>
          <p:cNvPr id="54319" name="Slide Number Placeholder 2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54B4A3C-17B4-4C45-98BB-3EC6C16370E0}" type="slidenum">
              <a:rPr lang="en-US" altLang="en-US">
                <a:solidFill>
                  <a:schemeClr val="tx1"/>
                </a:solidFill>
              </a:rPr>
              <a:pPr/>
              <a:t>5</a:t>
            </a:fld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animBg="1"/>
      <p:bldP spid="113701" grpId="0"/>
      <p:bldP spid="113702" grpId="0"/>
      <p:bldP spid="113703" grpId="0"/>
      <p:bldP spid="113716" grpId="0" animBg="1"/>
      <p:bldP spid="113717" grpId="0" animBg="1"/>
      <p:bldP spid="113718" grpId="0"/>
      <p:bldP spid="1137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Binary </a:t>
            </a:r>
            <a:r>
              <a:rPr lang="en-US" altLang="en-US" smtClean="0">
                <a:latin typeface="Arial" charset="0"/>
                <a:cs typeface="Arial" charset="0"/>
              </a:rPr>
              <a:t>−</a:t>
            </a:r>
            <a:r>
              <a:rPr lang="en-US" altLang="en-US" smtClean="0"/>
              <a:t> Hexadecimal Conversion</a:t>
            </a:r>
          </a:p>
        </p:txBody>
      </p:sp>
      <p:sp>
        <p:nvSpPr>
          <p:cNvPr id="55299" name="Rectangle 4"/>
          <p:cNvSpPr>
            <a:spLocks noGrp="1" noChangeArrowheads="1"/>
          </p:cNvSpPr>
          <p:nvPr>
            <p:ph idx="1"/>
          </p:nvPr>
        </p:nvSpPr>
        <p:spPr>
          <a:xfrm>
            <a:off x="307731" y="1295400"/>
            <a:ext cx="5402874" cy="2119555"/>
          </a:xfrm>
        </p:spPr>
        <p:txBody>
          <a:bodyPr lIns="63500" tIns="25400" rIns="63500" bIns="25400">
            <a:spAutoFit/>
          </a:bodyPr>
          <a:lstStyle/>
          <a:p>
            <a:pPr eaLnBrk="1" hangingPunct="1"/>
            <a:r>
              <a:rPr lang="en-US" altLang="en-US" smtClean="0"/>
              <a:t>16 = 2</a:t>
            </a:r>
            <a:r>
              <a:rPr lang="en-US" altLang="en-US" baseline="30000" smtClean="0"/>
              <a:t>4</a:t>
            </a:r>
          </a:p>
          <a:p>
            <a:pPr eaLnBrk="1" hangingPunct="1"/>
            <a:r>
              <a:rPr lang="en-US" altLang="en-US" smtClean="0"/>
              <a:t>Each group of 4 bits represents a hexadecimal digit</a:t>
            </a:r>
          </a:p>
        </p:txBody>
      </p:sp>
      <p:sp>
        <p:nvSpPr>
          <p:cNvPr id="114691" name="Line 3"/>
          <p:cNvSpPr>
            <a:spLocks noChangeShapeType="1"/>
          </p:cNvSpPr>
          <p:nvPr/>
        </p:nvSpPr>
        <p:spPr bwMode="auto">
          <a:xfrm>
            <a:off x="8532935" y="6742113"/>
            <a:ext cx="539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4693" name="Group 5"/>
          <p:cNvGraphicFramePr>
            <a:graphicFrameLocks noGrp="1"/>
          </p:cNvGraphicFramePr>
          <p:nvPr/>
        </p:nvGraphicFramePr>
        <p:xfrm>
          <a:off x="6372958" y="1089026"/>
          <a:ext cx="2328495" cy="4710117"/>
        </p:xfrm>
        <a:graphic>
          <a:graphicData uri="http://schemas.openxmlformats.org/drawingml/2006/table">
            <a:tbl>
              <a:tblPr/>
              <a:tblGrid>
                <a:gridCol w="1165041">
                  <a:extLst>
                    <a:ext uri="{9D8B030D-6E8A-4147-A177-3AD203B41FA5}"/>
                  </a:extLst>
                </a:gridCol>
                <a:gridCol w="1163454">
                  <a:extLst>
                    <a:ext uri="{9D8B030D-6E8A-4147-A177-3AD203B41FA5}"/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Hex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Binary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/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0 0 0 0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0 0 0 1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0 0 1 0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0 0 1 1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0 1 0 0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0 1 0 1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0 1 1 0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0 1 1 1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1 0 0 0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1 0 0 1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1 0 1 0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1 0 1 1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1 1 0 0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1 1 0 1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1 1 1 0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F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1 1 1 1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114749" name="Text Box 61"/>
          <p:cNvSpPr txBox="1">
            <a:spLocks noChangeArrowheads="1"/>
          </p:cNvSpPr>
          <p:nvPr/>
        </p:nvSpPr>
        <p:spPr bwMode="auto">
          <a:xfrm>
            <a:off x="571500" y="3473451"/>
            <a:ext cx="13548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>
                <a:cs typeface="Times New Roman" pitchFamily="18" charset="0"/>
              </a:rPr>
              <a:t>Example:</a:t>
            </a:r>
            <a:endParaRPr lang="en-US" altLang="en-US" sz="2400" b="1" i="0" u="none" baseline="-25000">
              <a:cs typeface="Times New Roman" pitchFamily="18" charset="0"/>
            </a:endParaRPr>
          </a:p>
        </p:txBody>
      </p:sp>
      <p:sp>
        <p:nvSpPr>
          <p:cNvPr id="114750" name="Text Box 62"/>
          <p:cNvSpPr txBox="1">
            <a:spLocks noChangeArrowheads="1"/>
          </p:cNvSpPr>
          <p:nvPr/>
        </p:nvSpPr>
        <p:spPr bwMode="auto">
          <a:xfrm>
            <a:off x="2231781" y="3608389"/>
            <a:ext cx="3153427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800" b="1" i="0" u="none">
                <a:latin typeface="Arial" charset="0"/>
                <a:cs typeface="Arial" charset="0"/>
              </a:rPr>
              <a:t>(  1 0 1 1 0 . 0 1  )</a:t>
            </a:r>
            <a:r>
              <a:rPr lang="en-US" altLang="en-US" sz="2800" b="1" i="0" u="none" baseline="-25000"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4751" name="Text Box 63"/>
          <p:cNvSpPr txBox="1">
            <a:spLocks noChangeArrowheads="1"/>
          </p:cNvSpPr>
          <p:nvPr/>
        </p:nvSpPr>
        <p:spPr bwMode="auto">
          <a:xfrm>
            <a:off x="2231782" y="5049839"/>
            <a:ext cx="3280065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800" b="1" i="0" u="none">
                <a:latin typeface="Arial" charset="0"/>
                <a:cs typeface="Arial" charset="0"/>
              </a:rPr>
              <a:t>( 1      6      .   4   )</a:t>
            </a:r>
            <a:r>
              <a:rPr lang="en-US" altLang="en-US" sz="2800" b="1" i="0" u="none" baseline="-25000">
                <a:latin typeface="Arial" charset="0"/>
                <a:cs typeface="Arial" charset="0"/>
              </a:rPr>
              <a:t>16</a:t>
            </a:r>
          </a:p>
        </p:txBody>
      </p:sp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4491181" y="4149726"/>
            <a:ext cx="312571" cy="898525"/>
            <a:chOff x="2700" y="2614"/>
            <a:chExt cx="197" cy="566"/>
          </a:xfrm>
        </p:grpSpPr>
        <p:sp>
          <p:nvSpPr>
            <p:cNvPr id="55374" name="AutoShape 65"/>
            <p:cNvSpPr>
              <a:spLocks/>
            </p:cNvSpPr>
            <p:nvPr/>
          </p:nvSpPr>
          <p:spPr bwMode="auto">
            <a:xfrm rot="16200000">
              <a:off x="2742" y="2572"/>
              <a:ext cx="113" cy="197"/>
            </a:xfrm>
            <a:prstGeom prst="leftBrace">
              <a:avLst>
                <a:gd name="adj1" fmla="val 33404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55375" name="AutoShape 66"/>
            <p:cNvSpPr>
              <a:spLocks/>
            </p:cNvSpPr>
            <p:nvPr/>
          </p:nvSpPr>
          <p:spPr bwMode="auto">
            <a:xfrm rot="5400000" flipV="1">
              <a:off x="2742" y="3025"/>
              <a:ext cx="113" cy="197"/>
            </a:xfrm>
            <a:prstGeom prst="leftBrace">
              <a:avLst>
                <a:gd name="adj1" fmla="val 33404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cxnSp>
          <p:nvCxnSpPr>
            <p:cNvPr id="55376" name="AutoShape 67"/>
            <p:cNvCxnSpPr>
              <a:cxnSpLocks noChangeShapeType="1"/>
              <a:stCxn id="55374" idx="1"/>
              <a:endCxn id="55375" idx="1"/>
            </p:cNvCxnSpPr>
            <p:nvPr/>
          </p:nvCxnSpPr>
          <p:spPr bwMode="auto">
            <a:xfrm rot="5400000">
              <a:off x="2629" y="2897"/>
              <a:ext cx="340" cy="1"/>
            </a:xfrm>
            <a:prstGeom prst="straightConnector1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</p:cxnSp>
      </p:grpSp>
      <p:grpSp>
        <p:nvGrpSpPr>
          <p:cNvPr id="3" name="Group 68"/>
          <p:cNvGrpSpPr>
            <a:grpSpLocks/>
          </p:cNvGrpSpPr>
          <p:nvPr/>
        </p:nvGrpSpPr>
        <p:grpSpPr bwMode="auto">
          <a:xfrm>
            <a:off x="3336964" y="4148139"/>
            <a:ext cx="311546" cy="898525"/>
            <a:chOff x="2734" y="2613"/>
            <a:chExt cx="130" cy="566"/>
          </a:xfrm>
        </p:grpSpPr>
        <p:sp>
          <p:nvSpPr>
            <p:cNvPr id="55371" name="AutoShape 69"/>
            <p:cNvSpPr>
              <a:spLocks/>
            </p:cNvSpPr>
            <p:nvPr/>
          </p:nvSpPr>
          <p:spPr bwMode="auto">
            <a:xfrm rot="16200000">
              <a:off x="2742" y="2605"/>
              <a:ext cx="113" cy="130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55372" name="AutoShape 70"/>
            <p:cNvSpPr>
              <a:spLocks/>
            </p:cNvSpPr>
            <p:nvPr/>
          </p:nvSpPr>
          <p:spPr bwMode="auto">
            <a:xfrm rot="5400000" flipV="1">
              <a:off x="2742" y="3058"/>
              <a:ext cx="113" cy="130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cxnSp>
          <p:nvCxnSpPr>
            <p:cNvPr id="55373" name="AutoShape 71"/>
            <p:cNvCxnSpPr>
              <a:cxnSpLocks noChangeShapeType="1"/>
              <a:stCxn id="55371" idx="1"/>
              <a:endCxn id="55372" idx="1"/>
            </p:cNvCxnSpPr>
            <p:nvPr/>
          </p:nvCxnSpPr>
          <p:spPr bwMode="auto">
            <a:xfrm rot="5400000">
              <a:off x="2629" y="2897"/>
              <a:ext cx="340" cy="1"/>
            </a:xfrm>
            <a:prstGeom prst="straightConnector1">
              <a:avLst/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</p:cxnSp>
      </p:grpSp>
      <p:grpSp>
        <p:nvGrpSpPr>
          <p:cNvPr id="4" name="Group 72"/>
          <p:cNvGrpSpPr>
            <a:grpSpLocks/>
          </p:cNvGrpSpPr>
          <p:nvPr/>
        </p:nvGrpSpPr>
        <p:grpSpPr bwMode="auto">
          <a:xfrm>
            <a:off x="2470790" y="4149726"/>
            <a:ext cx="311825" cy="898525"/>
            <a:chOff x="2635" y="2614"/>
            <a:chExt cx="328" cy="566"/>
          </a:xfrm>
        </p:grpSpPr>
        <p:sp>
          <p:nvSpPr>
            <p:cNvPr id="55368" name="AutoShape 73"/>
            <p:cNvSpPr>
              <a:spLocks/>
            </p:cNvSpPr>
            <p:nvPr/>
          </p:nvSpPr>
          <p:spPr bwMode="auto">
            <a:xfrm rot="16200000">
              <a:off x="2742" y="2507"/>
              <a:ext cx="113" cy="328"/>
            </a:xfrm>
            <a:prstGeom prst="leftBrace">
              <a:avLst>
                <a:gd name="adj1" fmla="val 33403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55369" name="AutoShape 74"/>
            <p:cNvSpPr>
              <a:spLocks/>
            </p:cNvSpPr>
            <p:nvPr/>
          </p:nvSpPr>
          <p:spPr bwMode="auto">
            <a:xfrm rot="5400000" flipV="1">
              <a:off x="2742" y="2960"/>
              <a:ext cx="113" cy="328"/>
            </a:xfrm>
            <a:prstGeom prst="leftBrace">
              <a:avLst>
                <a:gd name="adj1" fmla="val 33403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cxnSp>
          <p:nvCxnSpPr>
            <p:cNvPr id="55370" name="AutoShape 75"/>
            <p:cNvCxnSpPr>
              <a:cxnSpLocks noChangeShapeType="1"/>
              <a:stCxn id="55368" idx="1"/>
              <a:endCxn id="55369" idx="1"/>
            </p:cNvCxnSpPr>
            <p:nvPr/>
          </p:nvCxnSpPr>
          <p:spPr bwMode="auto">
            <a:xfrm rot="5400000">
              <a:off x="2629" y="2897"/>
              <a:ext cx="340" cy="2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</p:cxnSp>
      </p:grpSp>
      <p:sp>
        <p:nvSpPr>
          <p:cNvPr id="114764" name="Line 76"/>
          <p:cNvSpPr>
            <a:spLocks noChangeShapeType="1"/>
          </p:cNvSpPr>
          <p:nvPr/>
        </p:nvSpPr>
        <p:spPr bwMode="auto">
          <a:xfrm flipH="1">
            <a:off x="2539512" y="3376613"/>
            <a:ext cx="360485" cy="360362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4765" name="Line 77"/>
          <p:cNvSpPr>
            <a:spLocks noChangeShapeType="1"/>
          </p:cNvSpPr>
          <p:nvPr/>
        </p:nvSpPr>
        <p:spPr bwMode="auto">
          <a:xfrm>
            <a:off x="4547089" y="3325813"/>
            <a:ext cx="360485" cy="360362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4766" name="Text Box 78"/>
          <p:cNvSpPr txBox="1">
            <a:spLocks noChangeArrowheads="1"/>
          </p:cNvSpPr>
          <p:nvPr/>
        </p:nvSpPr>
        <p:spPr bwMode="auto">
          <a:xfrm>
            <a:off x="2951285" y="3068638"/>
            <a:ext cx="1799492" cy="2476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1800" b="1" i="0" u="none">
                <a:latin typeface="Arial" charset="0"/>
                <a:cs typeface="Arial" charset="0"/>
              </a:rPr>
              <a:t>Assume Zeros</a:t>
            </a:r>
          </a:p>
        </p:txBody>
      </p:sp>
      <p:sp>
        <p:nvSpPr>
          <p:cNvPr id="114767" name="Text Box 79"/>
          <p:cNvSpPr txBox="1">
            <a:spLocks noChangeArrowheads="1"/>
          </p:cNvSpPr>
          <p:nvPr/>
        </p:nvSpPr>
        <p:spPr bwMode="auto">
          <a:xfrm>
            <a:off x="611066" y="5851525"/>
            <a:ext cx="72009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2400" b="1" i="0" u="none">
                <a:cs typeface="Times New Roman" pitchFamily="18" charset="0"/>
              </a:rPr>
              <a:t>Works both ways (</a:t>
            </a:r>
            <a:r>
              <a:rPr lang="en-US" altLang="en-US" sz="2400" b="1" u="none">
                <a:cs typeface="Times New Roman" pitchFamily="18" charset="0"/>
              </a:rPr>
              <a:t>Binary</a:t>
            </a:r>
            <a:r>
              <a:rPr lang="en-US" altLang="en-US" sz="2400" b="1" i="0" u="none">
                <a:cs typeface="Times New Roman" pitchFamily="18" charset="0"/>
              </a:rPr>
              <a:t> to </a:t>
            </a:r>
            <a:r>
              <a:rPr lang="en-US" altLang="en-US" sz="2400" b="1" u="none">
                <a:cs typeface="Times New Roman" pitchFamily="18" charset="0"/>
              </a:rPr>
              <a:t>Hex</a:t>
            </a:r>
            <a:r>
              <a:rPr lang="en-US" altLang="en-US" sz="2400" b="1" i="0" u="none">
                <a:cs typeface="Times New Roman" pitchFamily="18" charset="0"/>
              </a:rPr>
              <a:t> &amp; </a:t>
            </a:r>
            <a:r>
              <a:rPr lang="en-US" altLang="en-US" sz="2400" b="1" u="none">
                <a:cs typeface="Times New Roman" pitchFamily="18" charset="0"/>
              </a:rPr>
              <a:t>Hex </a:t>
            </a:r>
            <a:r>
              <a:rPr lang="en-US" altLang="en-US" sz="2400" b="1" i="0" u="none">
                <a:cs typeface="Times New Roman" pitchFamily="18" charset="0"/>
              </a:rPr>
              <a:t>to </a:t>
            </a:r>
            <a:r>
              <a:rPr lang="en-US" altLang="en-US" sz="2400" b="1" u="none">
                <a:cs typeface="Times New Roman" pitchFamily="18" charset="0"/>
              </a:rPr>
              <a:t>Binary</a:t>
            </a:r>
            <a:r>
              <a:rPr lang="en-US" altLang="en-US" sz="2400" b="1" i="0" u="none">
                <a:cs typeface="Times New Roman" pitchFamily="18" charset="0"/>
              </a:rPr>
              <a:t>)</a:t>
            </a:r>
            <a:endParaRPr lang="en-US" altLang="en-US" sz="2400" b="1" i="0" u="none" baseline="-25000">
              <a:cs typeface="Times New Roman" pitchFamily="18" charset="0"/>
            </a:endParaRPr>
          </a:p>
        </p:txBody>
      </p:sp>
      <p:sp>
        <p:nvSpPr>
          <p:cNvPr id="55367" name="Slide Number Placeholder 2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6892417-44D2-421C-982E-0F3CCC69A795}" type="slidenum">
              <a:rPr lang="en-US" altLang="en-US">
                <a:solidFill>
                  <a:schemeClr val="tx1"/>
                </a:solidFill>
              </a:rPr>
              <a:pPr/>
              <a:t>6</a:t>
            </a:fld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animBg="1"/>
      <p:bldP spid="114749" grpId="0"/>
      <p:bldP spid="114750" grpId="0"/>
      <p:bldP spid="114751" grpId="0"/>
      <p:bldP spid="114764" grpId="0" animBg="1"/>
      <p:bldP spid="114765" grpId="0" animBg="1"/>
      <p:bldP spid="114766" grpId="0"/>
      <p:bldP spid="11476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Octal </a:t>
            </a:r>
            <a:r>
              <a:rPr lang="en-US" altLang="en-US" smtClean="0">
                <a:latin typeface="Arial" charset="0"/>
                <a:cs typeface="Arial" charset="0"/>
              </a:rPr>
              <a:t>−</a:t>
            </a:r>
            <a:r>
              <a:rPr lang="en-US" altLang="en-US" smtClean="0"/>
              <a:t> Hexadecimal Conversion</a:t>
            </a:r>
          </a:p>
        </p:txBody>
      </p:sp>
      <p:sp>
        <p:nvSpPr>
          <p:cNvPr id="56323" name="Rectangle 4"/>
          <p:cNvSpPr>
            <a:spLocks noGrp="1" noChangeArrowheads="1"/>
          </p:cNvSpPr>
          <p:nvPr>
            <p:ph idx="1"/>
          </p:nvPr>
        </p:nvSpPr>
        <p:spPr>
          <a:xfrm>
            <a:off x="432289" y="1089026"/>
            <a:ext cx="8461131" cy="544513"/>
          </a:xfrm>
        </p:spPr>
        <p:txBody>
          <a:bodyPr lIns="63500" tIns="25400" rIns="63500" bIns="25400">
            <a:spAutoFit/>
          </a:bodyPr>
          <a:lstStyle/>
          <a:p>
            <a:pPr eaLnBrk="1" hangingPunct="1"/>
            <a:r>
              <a:rPr lang="en-US" altLang="en-US" dirty="0" smtClean="0"/>
              <a:t>Convert to Binary as an intermediate step</a:t>
            </a:r>
            <a:endParaRPr lang="en-US" altLang="en-US" baseline="30000" dirty="0" smtClean="0"/>
          </a:p>
        </p:txBody>
      </p:sp>
      <p:sp>
        <p:nvSpPr>
          <p:cNvPr id="115715" name="Line 3"/>
          <p:cNvSpPr>
            <a:spLocks noChangeShapeType="1"/>
          </p:cNvSpPr>
          <p:nvPr/>
        </p:nvSpPr>
        <p:spPr bwMode="auto">
          <a:xfrm>
            <a:off x="8532935" y="6742113"/>
            <a:ext cx="539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5717" name="Text Box 5"/>
          <p:cNvSpPr txBox="1">
            <a:spLocks noChangeArrowheads="1"/>
          </p:cNvSpPr>
          <p:nvPr/>
        </p:nvSpPr>
        <p:spPr bwMode="auto">
          <a:xfrm>
            <a:off x="611066" y="1628776"/>
            <a:ext cx="13548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 b="1" i="0" u="none">
                <a:cs typeface="Times New Roman" pitchFamily="18" charset="0"/>
              </a:rPr>
              <a:t>Example:</a:t>
            </a:r>
            <a:endParaRPr lang="en-US" altLang="en-US" sz="2400" b="1" i="0" u="none" baseline="-25000">
              <a:cs typeface="Times New Roman" pitchFamily="18" charset="0"/>
            </a:endParaRPr>
          </a:p>
        </p:txBody>
      </p:sp>
      <p:sp>
        <p:nvSpPr>
          <p:cNvPr id="115718" name="Text Box 6"/>
          <p:cNvSpPr txBox="1">
            <a:spLocks noChangeArrowheads="1"/>
          </p:cNvSpPr>
          <p:nvPr/>
        </p:nvSpPr>
        <p:spPr bwMode="auto">
          <a:xfrm>
            <a:off x="2590800" y="3608389"/>
            <a:ext cx="3554178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800" b="1" i="0" u="none">
                <a:latin typeface="Arial" charset="0"/>
                <a:cs typeface="Arial" charset="0"/>
              </a:rPr>
              <a:t>( 0 1 0 1 1 0 . 0 1 0 )</a:t>
            </a:r>
            <a:r>
              <a:rPr lang="en-US" altLang="en-US" sz="2800" b="1" i="0" u="none" baseline="-25000"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5719" name="Text Box 7"/>
          <p:cNvSpPr txBox="1">
            <a:spLocks noChangeArrowheads="1"/>
          </p:cNvSpPr>
          <p:nvPr/>
        </p:nvSpPr>
        <p:spPr bwMode="auto">
          <a:xfrm>
            <a:off x="2771043" y="5049839"/>
            <a:ext cx="3379451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800" b="1" i="0" u="none">
                <a:latin typeface="Arial" charset="0"/>
                <a:cs typeface="Arial" charset="0"/>
              </a:rPr>
              <a:t>( 1       6     .    4   )</a:t>
            </a:r>
            <a:r>
              <a:rPr lang="en-US" altLang="en-US" sz="2800" b="1" i="0" u="none" baseline="-25000">
                <a:latin typeface="Arial" charset="0"/>
                <a:cs typeface="Arial" charset="0"/>
              </a:rPr>
              <a:t>16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135951" y="4149726"/>
            <a:ext cx="312571" cy="898525"/>
            <a:chOff x="2700" y="2614"/>
            <a:chExt cx="197" cy="566"/>
          </a:xfrm>
        </p:grpSpPr>
        <p:sp>
          <p:nvSpPr>
            <p:cNvPr id="56356" name="AutoShape 9"/>
            <p:cNvSpPr>
              <a:spLocks/>
            </p:cNvSpPr>
            <p:nvPr/>
          </p:nvSpPr>
          <p:spPr bwMode="auto">
            <a:xfrm rot="16200000">
              <a:off x="2742" y="2572"/>
              <a:ext cx="113" cy="197"/>
            </a:xfrm>
            <a:prstGeom prst="leftBrace">
              <a:avLst>
                <a:gd name="adj1" fmla="val 33404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56357" name="AutoShape 10"/>
            <p:cNvSpPr>
              <a:spLocks/>
            </p:cNvSpPr>
            <p:nvPr/>
          </p:nvSpPr>
          <p:spPr bwMode="auto">
            <a:xfrm rot="5400000" flipV="1">
              <a:off x="2742" y="3025"/>
              <a:ext cx="113" cy="197"/>
            </a:xfrm>
            <a:prstGeom prst="leftBrace">
              <a:avLst>
                <a:gd name="adj1" fmla="val 33404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cxnSp>
          <p:nvCxnSpPr>
            <p:cNvPr id="56358" name="AutoShape 11"/>
            <p:cNvCxnSpPr>
              <a:cxnSpLocks noChangeShapeType="1"/>
              <a:stCxn id="56356" idx="1"/>
              <a:endCxn id="56357" idx="1"/>
            </p:cNvCxnSpPr>
            <p:nvPr/>
          </p:nvCxnSpPr>
          <p:spPr bwMode="auto">
            <a:xfrm rot="5400000">
              <a:off x="2629" y="2897"/>
              <a:ext cx="340" cy="1"/>
            </a:xfrm>
            <a:prstGeom prst="straightConnector1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</p:cxn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875581" y="4149731"/>
            <a:ext cx="311944" cy="898526"/>
            <a:chOff x="2733" y="2614"/>
            <a:chExt cx="131" cy="566"/>
          </a:xfrm>
        </p:grpSpPr>
        <p:sp>
          <p:nvSpPr>
            <p:cNvPr id="56353" name="AutoShape 13"/>
            <p:cNvSpPr>
              <a:spLocks/>
            </p:cNvSpPr>
            <p:nvPr/>
          </p:nvSpPr>
          <p:spPr bwMode="auto">
            <a:xfrm rot="16200000">
              <a:off x="2742" y="2605"/>
              <a:ext cx="113" cy="131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56354" name="AutoShape 14"/>
            <p:cNvSpPr>
              <a:spLocks/>
            </p:cNvSpPr>
            <p:nvPr/>
          </p:nvSpPr>
          <p:spPr bwMode="auto">
            <a:xfrm rot="5400000" flipV="1">
              <a:off x="2742" y="3058"/>
              <a:ext cx="113" cy="131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cxnSp>
          <p:nvCxnSpPr>
            <p:cNvPr id="56355" name="AutoShape 15"/>
            <p:cNvCxnSpPr>
              <a:cxnSpLocks noChangeShapeType="1"/>
              <a:stCxn id="56353" idx="1"/>
              <a:endCxn id="56354" idx="1"/>
            </p:cNvCxnSpPr>
            <p:nvPr/>
          </p:nvCxnSpPr>
          <p:spPr bwMode="auto">
            <a:xfrm rot="5400000">
              <a:off x="2628" y="2897"/>
              <a:ext cx="340" cy="1"/>
            </a:xfrm>
            <a:prstGeom prst="straightConnector1">
              <a:avLst/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</p:cxn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3010831" y="4149726"/>
            <a:ext cx="311727" cy="898525"/>
            <a:chOff x="2634" y="2614"/>
            <a:chExt cx="330" cy="566"/>
          </a:xfrm>
        </p:grpSpPr>
        <p:sp>
          <p:nvSpPr>
            <p:cNvPr id="56350" name="AutoShape 17"/>
            <p:cNvSpPr>
              <a:spLocks/>
            </p:cNvSpPr>
            <p:nvPr/>
          </p:nvSpPr>
          <p:spPr bwMode="auto">
            <a:xfrm rot="16200000">
              <a:off x="2742" y="2506"/>
              <a:ext cx="113" cy="330"/>
            </a:xfrm>
            <a:prstGeom prst="leftBrace">
              <a:avLst>
                <a:gd name="adj1" fmla="val 33403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56351" name="AutoShape 18"/>
            <p:cNvSpPr>
              <a:spLocks/>
            </p:cNvSpPr>
            <p:nvPr/>
          </p:nvSpPr>
          <p:spPr bwMode="auto">
            <a:xfrm rot="5400000" flipV="1">
              <a:off x="2742" y="2959"/>
              <a:ext cx="113" cy="330"/>
            </a:xfrm>
            <a:prstGeom prst="leftBrace">
              <a:avLst>
                <a:gd name="adj1" fmla="val 33403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cxnSp>
          <p:nvCxnSpPr>
            <p:cNvPr id="56352" name="AutoShape 19"/>
            <p:cNvCxnSpPr>
              <a:cxnSpLocks noChangeShapeType="1"/>
              <a:stCxn id="56350" idx="1"/>
              <a:endCxn id="56351" idx="1"/>
            </p:cNvCxnSpPr>
            <p:nvPr/>
          </p:nvCxnSpPr>
          <p:spPr bwMode="auto">
            <a:xfrm rot="5400000">
              <a:off x="2629" y="2897"/>
              <a:ext cx="340" cy="2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</p:cxnSp>
      </p:grpSp>
      <p:sp>
        <p:nvSpPr>
          <p:cNvPr id="115732" name="Line 20"/>
          <p:cNvSpPr>
            <a:spLocks noChangeShapeType="1"/>
          </p:cNvSpPr>
          <p:nvPr/>
        </p:nvSpPr>
        <p:spPr bwMode="auto">
          <a:xfrm flipH="1">
            <a:off x="5717931" y="3357563"/>
            <a:ext cx="360485" cy="360362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5733" name="Line 21"/>
          <p:cNvSpPr>
            <a:spLocks noChangeShapeType="1"/>
          </p:cNvSpPr>
          <p:nvPr/>
        </p:nvSpPr>
        <p:spPr bwMode="auto">
          <a:xfrm>
            <a:off x="2476500" y="3371851"/>
            <a:ext cx="360485" cy="360363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5734" name="Text Box 22"/>
          <p:cNvSpPr txBox="1">
            <a:spLocks noChangeArrowheads="1"/>
          </p:cNvSpPr>
          <p:nvPr/>
        </p:nvSpPr>
        <p:spPr bwMode="auto">
          <a:xfrm>
            <a:off x="6191251" y="3249613"/>
            <a:ext cx="1800957" cy="2476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1800" b="1" i="0" u="none">
                <a:latin typeface="Arial" charset="0"/>
                <a:cs typeface="Arial" charset="0"/>
              </a:rPr>
              <a:t>Assume Zeros</a:t>
            </a:r>
          </a:p>
        </p:txBody>
      </p:sp>
      <p:sp>
        <p:nvSpPr>
          <p:cNvPr id="115735" name="Text Box 23"/>
          <p:cNvSpPr txBox="1">
            <a:spLocks noChangeArrowheads="1"/>
          </p:cNvSpPr>
          <p:nvPr/>
        </p:nvSpPr>
        <p:spPr bwMode="auto">
          <a:xfrm>
            <a:off x="1150328" y="5851525"/>
            <a:ext cx="72009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2400" b="1" i="0" u="none">
                <a:cs typeface="Times New Roman" pitchFamily="18" charset="0"/>
              </a:rPr>
              <a:t>Works both ways (</a:t>
            </a:r>
            <a:r>
              <a:rPr lang="en-US" altLang="en-US" sz="2400" b="1" u="none">
                <a:cs typeface="Times New Roman" pitchFamily="18" charset="0"/>
              </a:rPr>
              <a:t>Octal</a:t>
            </a:r>
            <a:r>
              <a:rPr lang="en-US" altLang="en-US" sz="2400" b="1" i="0" u="none">
                <a:cs typeface="Times New Roman" pitchFamily="18" charset="0"/>
              </a:rPr>
              <a:t> to </a:t>
            </a:r>
            <a:r>
              <a:rPr lang="en-US" altLang="en-US" sz="2400" b="1" u="none">
                <a:cs typeface="Times New Roman" pitchFamily="18" charset="0"/>
              </a:rPr>
              <a:t>Hex</a:t>
            </a:r>
            <a:r>
              <a:rPr lang="en-US" altLang="en-US" sz="2400" b="1" i="0" u="none">
                <a:cs typeface="Times New Roman" pitchFamily="18" charset="0"/>
              </a:rPr>
              <a:t> &amp; </a:t>
            </a:r>
            <a:r>
              <a:rPr lang="en-US" altLang="en-US" sz="2400" b="1" u="none">
                <a:cs typeface="Times New Roman" pitchFamily="18" charset="0"/>
              </a:rPr>
              <a:t>Hex </a:t>
            </a:r>
            <a:r>
              <a:rPr lang="en-US" altLang="en-US" sz="2400" b="1" i="0" u="none">
                <a:cs typeface="Times New Roman" pitchFamily="18" charset="0"/>
              </a:rPr>
              <a:t>to </a:t>
            </a:r>
            <a:r>
              <a:rPr lang="en-US" altLang="en-US" sz="2400" b="1" u="none">
                <a:cs typeface="Times New Roman" pitchFamily="18" charset="0"/>
              </a:rPr>
              <a:t>Octal</a:t>
            </a:r>
            <a:r>
              <a:rPr lang="en-US" altLang="en-US" sz="2400" b="1" i="0" u="none">
                <a:cs typeface="Times New Roman" pitchFamily="18" charset="0"/>
              </a:rPr>
              <a:t>)</a:t>
            </a:r>
            <a:endParaRPr lang="en-US" altLang="en-US" sz="2400" b="1" i="0" u="none" baseline="-25000">
              <a:cs typeface="Times New Roman" pitchFamily="18" charset="0"/>
            </a:endParaRPr>
          </a:p>
        </p:txBody>
      </p:sp>
      <p:sp>
        <p:nvSpPr>
          <p:cNvPr id="115736" name="Text Box 24"/>
          <p:cNvSpPr txBox="1">
            <a:spLocks noChangeArrowheads="1"/>
          </p:cNvSpPr>
          <p:nvPr/>
        </p:nvSpPr>
        <p:spPr bwMode="auto">
          <a:xfrm>
            <a:off x="2771043" y="2168526"/>
            <a:ext cx="3246402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800" b="1" i="0" u="none">
                <a:latin typeface="Arial" charset="0"/>
                <a:cs typeface="Arial" charset="0"/>
              </a:rPr>
              <a:t>(   2      6    .    2   )</a:t>
            </a:r>
            <a:r>
              <a:rPr lang="en-US" altLang="en-US" sz="2800" b="1" i="0" u="none" baseline="-25000">
                <a:latin typeface="Arial" charset="0"/>
                <a:cs typeface="Arial" charset="0"/>
              </a:rPr>
              <a:t>8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5144743" y="2708276"/>
            <a:ext cx="312571" cy="898525"/>
            <a:chOff x="2700" y="2614"/>
            <a:chExt cx="197" cy="566"/>
          </a:xfrm>
        </p:grpSpPr>
        <p:sp>
          <p:nvSpPr>
            <p:cNvPr id="56347" name="AutoShape 26"/>
            <p:cNvSpPr>
              <a:spLocks/>
            </p:cNvSpPr>
            <p:nvPr/>
          </p:nvSpPr>
          <p:spPr bwMode="auto">
            <a:xfrm rot="16200000">
              <a:off x="2742" y="2572"/>
              <a:ext cx="113" cy="197"/>
            </a:xfrm>
            <a:prstGeom prst="leftBrace">
              <a:avLst>
                <a:gd name="adj1" fmla="val 33404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56348" name="AutoShape 27"/>
            <p:cNvSpPr>
              <a:spLocks/>
            </p:cNvSpPr>
            <p:nvPr/>
          </p:nvSpPr>
          <p:spPr bwMode="auto">
            <a:xfrm rot="5400000" flipV="1">
              <a:off x="2742" y="3025"/>
              <a:ext cx="113" cy="197"/>
            </a:xfrm>
            <a:prstGeom prst="leftBrace">
              <a:avLst>
                <a:gd name="adj1" fmla="val 33404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cxnSp>
          <p:nvCxnSpPr>
            <p:cNvPr id="56349" name="AutoShape 28"/>
            <p:cNvCxnSpPr>
              <a:cxnSpLocks noChangeShapeType="1"/>
              <a:stCxn id="56347" idx="1"/>
              <a:endCxn id="56348" idx="1"/>
            </p:cNvCxnSpPr>
            <p:nvPr/>
          </p:nvCxnSpPr>
          <p:spPr bwMode="auto">
            <a:xfrm rot="5400000">
              <a:off x="2629" y="2897"/>
              <a:ext cx="340" cy="1"/>
            </a:xfrm>
            <a:prstGeom prst="straightConnector1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</p:cxn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4055956" y="2708276"/>
            <a:ext cx="312572" cy="898525"/>
            <a:chOff x="2700" y="2614"/>
            <a:chExt cx="197" cy="566"/>
          </a:xfrm>
        </p:grpSpPr>
        <p:sp>
          <p:nvSpPr>
            <p:cNvPr id="56344" name="AutoShape 30"/>
            <p:cNvSpPr>
              <a:spLocks/>
            </p:cNvSpPr>
            <p:nvPr/>
          </p:nvSpPr>
          <p:spPr bwMode="auto">
            <a:xfrm rot="16200000">
              <a:off x="2742" y="2572"/>
              <a:ext cx="113" cy="197"/>
            </a:xfrm>
            <a:prstGeom prst="leftBrace">
              <a:avLst>
                <a:gd name="adj1" fmla="val 33404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56345" name="AutoShape 31"/>
            <p:cNvSpPr>
              <a:spLocks/>
            </p:cNvSpPr>
            <p:nvPr/>
          </p:nvSpPr>
          <p:spPr bwMode="auto">
            <a:xfrm rot="5400000" flipV="1">
              <a:off x="2742" y="3025"/>
              <a:ext cx="113" cy="197"/>
            </a:xfrm>
            <a:prstGeom prst="leftBrace">
              <a:avLst>
                <a:gd name="adj1" fmla="val 33404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cxnSp>
          <p:nvCxnSpPr>
            <p:cNvPr id="56346" name="AutoShape 32"/>
            <p:cNvCxnSpPr>
              <a:cxnSpLocks noChangeShapeType="1"/>
              <a:stCxn id="56344" idx="1"/>
              <a:endCxn id="56345" idx="1"/>
            </p:cNvCxnSpPr>
            <p:nvPr/>
          </p:nvCxnSpPr>
          <p:spPr bwMode="auto">
            <a:xfrm rot="5400000">
              <a:off x="2629" y="2897"/>
              <a:ext cx="340" cy="1"/>
            </a:xfrm>
            <a:prstGeom prst="straightConnector1">
              <a:avLst/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</p:cxnSp>
      </p:grpSp>
      <p:grpSp>
        <p:nvGrpSpPr>
          <p:cNvPr id="7" name="Group 33"/>
          <p:cNvGrpSpPr>
            <a:grpSpLocks/>
          </p:cNvGrpSpPr>
          <p:nvPr/>
        </p:nvGrpSpPr>
        <p:grpSpPr bwMode="auto">
          <a:xfrm>
            <a:off x="3198712" y="2709864"/>
            <a:ext cx="312571" cy="898525"/>
            <a:chOff x="2700" y="2614"/>
            <a:chExt cx="197" cy="566"/>
          </a:xfrm>
        </p:grpSpPr>
        <p:sp>
          <p:nvSpPr>
            <p:cNvPr id="56341" name="AutoShape 34"/>
            <p:cNvSpPr>
              <a:spLocks/>
            </p:cNvSpPr>
            <p:nvPr/>
          </p:nvSpPr>
          <p:spPr bwMode="auto">
            <a:xfrm rot="16200000">
              <a:off x="2742" y="2572"/>
              <a:ext cx="113" cy="197"/>
            </a:xfrm>
            <a:prstGeom prst="leftBrace">
              <a:avLst>
                <a:gd name="adj1" fmla="val 33404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56342" name="AutoShape 35"/>
            <p:cNvSpPr>
              <a:spLocks/>
            </p:cNvSpPr>
            <p:nvPr/>
          </p:nvSpPr>
          <p:spPr bwMode="auto">
            <a:xfrm rot="5400000" flipV="1">
              <a:off x="2742" y="3025"/>
              <a:ext cx="113" cy="197"/>
            </a:xfrm>
            <a:prstGeom prst="leftBrace">
              <a:avLst>
                <a:gd name="adj1" fmla="val 33404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cxnSp>
          <p:nvCxnSpPr>
            <p:cNvPr id="56343" name="AutoShape 36"/>
            <p:cNvCxnSpPr>
              <a:cxnSpLocks noChangeShapeType="1"/>
              <a:stCxn id="56341" idx="1"/>
              <a:endCxn id="56342" idx="1"/>
            </p:cNvCxnSpPr>
            <p:nvPr/>
          </p:nvCxnSpPr>
          <p:spPr bwMode="auto">
            <a:xfrm rot="5400000">
              <a:off x="2629" y="2897"/>
              <a:ext cx="340" cy="1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</p:cxnSp>
      </p:grpSp>
      <p:sp>
        <p:nvSpPr>
          <p:cNvPr id="115749" name="Text Box 37"/>
          <p:cNvSpPr txBox="1">
            <a:spLocks noChangeArrowheads="1"/>
          </p:cNvSpPr>
          <p:nvPr/>
        </p:nvSpPr>
        <p:spPr bwMode="auto">
          <a:xfrm>
            <a:off x="791308" y="3249613"/>
            <a:ext cx="1799492" cy="2476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1800" b="1" i="0" u="none">
                <a:latin typeface="Arial" charset="0"/>
                <a:cs typeface="Arial" charset="0"/>
              </a:rPr>
              <a:t>Assume Zeros</a:t>
            </a:r>
          </a:p>
        </p:txBody>
      </p:sp>
      <p:sp>
        <p:nvSpPr>
          <p:cNvPr id="56340" name="Slide Number Placeholder 38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6EE1792-C90A-4E01-B105-2BFD503E6B0D}" type="slidenum">
              <a:rPr lang="en-US" altLang="en-US">
                <a:solidFill>
                  <a:schemeClr val="tx1"/>
                </a:solidFill>
              </a:rPr>
              <a:pPr/>
              <a:t>7</a:t>
            </a:fld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animBg="1"/>
      <p:bldP spid="115717" grpId="0"/>
      <p:bldP spid="115718" grpId="0"/>
      <p:bldP spid="115719" grpId="0"/>
      <p:bldP spid="115732" grpId="0" animBg="1"/>
      <p:bldP spid="115733" grpId="0" animBg="1"/>
      <p:bldP spid="115734" grpId="0"/>
      <p:bldP spid="115735" grpId="0"/>
      <p:bldP spid="115736" grpId="0"/>
      <p:bldP spid="1157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209551" y="274638"/>
            <a:ext cx="8477250" cy="8747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Decimal, Binary, Octal and Hexadecimal</a:t>
            </a:r>
          </a:p>
        </p:txBody>
      </p:sp>
      <p:graphicFrame>
        <p:nvGraphicFramePr>
          <p:cNvPr id="116739" name="Group 3"/>
          <p:cNvGraphicFramePr>
            <a:graphicFrameLocks noGrp="1"/>
          </p:cNvGraphicFramePr>
          <p:nvPr/>
        </p:nvGraphicFramePr>
        <p:xfrm>
          <a:off x="2243505" y="1268414"/>
          <a:ext cx="4655528" cy="4710117"/>
        </p:xfrm>
        <a:graphic>
          <a:graphicData uri="http://schemas.openxmlformats.org/drawingml/2006/table">
            <a:tbl>
              <a:tblPr/>
              <a:tblGrid>
                <a:gridCol w="1165072">
                  <a:extLst>
                    <a:ext uri="{9D8B030D-6E8A-4147-A177-3AD203B41FA5}"/>
                  </a:extLst>
                </a:gridCol>
                <a:gridCol w="1163485">
                  <a:extLst>
                    <a:ext uri="{9D8B030D-6E8A-4147-A177-3AD203B41FA5}"/>
                  </a:extLst>
                </a:gridCol>
                <a:gridCol w="1163486">
                  <a:extLst>
                    <a:ext uri="{9D8B030D-6E8A-4147-A177-3AD203B41FA5}"/>
                  </a:extLst>
                </a:gridCol>
                <a:gridCol w="1163485">
                  <a:extLst>
                    <a:ext uri="{9D8B030D-6E8A-4147-A177-3AD203B41FA5}"/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Decimal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Binary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Octal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Hex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/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0000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0001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0010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0011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0100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0101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0110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0111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1000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09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1001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1010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1011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1100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1101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1110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1111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F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                                 </a:t>
            </a:r>
          </a:p>
          <a:p>
            <a:pPr>
              <a:buNone/>
            </a:pPr>
            <a:r>
              <a:rPr lang="en-US" dirty="0" smtClean="0"/>
              <a:t>                                      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640</Words>
  <Application>Microsoft Office PowerPoint</Application>
  <PresentationFormat>On-screen Show (4:3)</PresentationFormat>
  <Paragraphs>231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 BCA Ist Semester  Introduction of Logic Circuit and Digital Design(ILCDD) Course Code: BCAC0003</vt:lpstr>
      <vt:lpstr>Decimal (Fraction) to Binary Conversion</vt:lpstr>
      <vt:lpstr>Decimal to Octal Conversion</vt:lpstr>
      <vt:lpstr>Decimal to Hexadecimal Conversion</vt:lpstr>
      <vt:lpstr>Binary − Octal Conversion</vt:lpstr>
      <vt:lpstr>Binary − Hexadecimal Conversion</vt:lpstr>
      <vt:lpstr>Octal − Hexadecimal Conversion</vt:lpstr>
      <vt:lpstr>Decimal, Binary, Octal and Hexadecimal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BCA Ist Semester  Introduction of Logic Circuit and Digital Design(ILCDD) Course Code: BCAC003</dc:title>
  <dc:creator>ADMIN</dc:creator>
  <cp:lastModifiedBy>HP</cp:lastModifiedBy>
  <cp:revision>7</cp:revision>
  <dcterms:created xsi:type="dcterms:W3CDTF">2020-10-19T04:15:51Z</dcterms:created>
  <dcterms:modified xsi:type="dcterms:W3CDTF">2021-10-06T06:08:41Z</dcterms:modified>
</cp:coreProperties>
</file>