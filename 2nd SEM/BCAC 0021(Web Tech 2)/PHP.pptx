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1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310" r:id="rId10"/>
    <p:sldId id="447" r:id="rId11"/>
    <p:sldId id="268" r:id="rId12"/>
    <p:sldId id="446" r:id="rId13"/>
    <p:sldId id="448" r:id="rId14"/>
    <p:sldId id="256" r:id="rId15"/>
    <p:sldId id="451" r:id="rId16"/>
    <p:sldId id="452" r:id="rId17"/>
    <p:sldId id="453" r:id="rId18"/>
    <p:sldId id="258" r:id="rId19"/>
    <p:sldId id="454" r:id="rId20"/>
    <p:sldId id="455" r:id="rId21"/>
    <p:sldId id="456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8" r:id="rId31"/>
    <p:sldId id="277" r:id="rId32"/>
    <p:sldId id="279" r:id="rId33"/>
    <p:sldId id="280" r:id="rId34"/>
    <p:sldId id="281" r:id="rId35"/>
    <p:sldId id="282" r:id="rId36"/>
    <p:sldId id="283" r:id="rId37"/>
    <p:sldId id="284" r:id="rId38"/>
    <p:sldId id="286" r:id="rId39"/>
    <p:sldId id="285" r:id="rId40"/>
    <p:sldId id="287" r:id="rId41"/>
    <p:sldId id="288" r:id="rId42"/>
    <p:sldId id="463" r:id="rId43"/>
    <p:sldId id="289" r:id="rId44"/>
    <p:sldId id="291" r:id="rId45"/>
    <p:sldId id="290" r:id="rId46"/>
    <p:sldId id="292" r:id="rId47"/>
    <p:sldId id="293" r:id="rId48"/>
    <p:sldId id="294" r:id="rId49"/>
    <p:sldId id="466" r:id="rId50"/>
    <p:sldId id="295" r:id="rId51"/>
    <p:sldId id="296" r:id="rId52"/>
    <p:sldId id="297" r:id="rId53"/>
    <p:sldId id="305" r:id="rId54"/>
    <p:sldId id="306" r:id="rId55"/>
    <p:sldId id="307" r:id="rId56"/>
    <p:sldId id="308" r:id="rId57"/>
    <p:sldId id="298" r:id="rId58"/>
    <p:sldId id="299" r:id="rId59"/>
    <p:sldId id="301" r:id="rId60"/>
    <p:sldId id="302" r:id="rId61"/>
    <p:sldId id="304" r:id="rId62"/>
    <p:sldId id="309" r:id="rId63"/>
    <p:sldId id="467" r:id="rId64"/>
    <p:sldId id="468" r:id="rId65"/>
    <p:sldId id="469" r:id="rId66"/>
    <p:sldId id="470" r:id="rId67"/>
    <p:sldId id="471" r:id="rId68"/>
    <p:sldId id="477" r:id="rId69"/>
    <p:sldId id="472" r:id="rId70"/>
    <p:sldId id="473" r:id="rId71"/>
    <p:sldId id="474" r:id="rId72"/>
    <p:sldId id="478" r:id="rId73"/>
    <p:sldId id="475" r:id="rId74"/>
    <p:sldId id="476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RU SIMRAN SINGH" initials="GS" lastIdx="1" clrIdx="0">
    <p:extLst>
      <p:ext uri="{19B8F6BF-5375-455C-9EA6-DF929625EA0E}">
        <p15:presenceInfo xmlns:p15="http://schemas.microsoft.com/office/powerpoint/2012/main" userId="S::DAVIM201900069GURUSIMRAN@davim.ac.in::24251834-b2a3-445b-8dd8-27cd477051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77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73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23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23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7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26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6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7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06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817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45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3672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33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190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36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4C583-90C3-4352-A0AD-CEB8BC4645FF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5B3305-449E-4F33-9C70-435A474C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54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www.apachefriends.org/download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func_string_rtrim.asp" TargetMode="External"/><Relationship Id="rId2" Type="http://schemas.openxmlformats.org/officeDocument/2006/relationships/hyperlink" Target="https://www.w3schools.com/php/func_string_ltrim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5664" y="2013715"/>
            <a:ext cx="8367937" cy="2616199"/>
          </a:xfrm>
        </p:spPr>
        <p:txBody>
          <a:bodyPr>
            <a:normAutofit fontScale="90000"/>
          </a:bodyPr>
          <a:lstStyle/>
          <a:p>
            <a:pPr algn="l"/>
            <a:r>
              <a:rPr lang="en-IN" sz="5400" b="1" dirty="0"/>
              <a:t>					</a:t>
            </a:r>
            <a:br>
              <a:rPr lang="en-IN" sz="5400" b="1" dirty="0"/>
            </a:br>
            <a:r>
              <a:rPr lang="en-IN" sz="5400" b="1" dirty="0"/>
              <a:t/>
            </a:r>
            <a:br>
              <a:rPr lang="en-IN" sz="5400" b="1" dirty="0"/>
            </a:br>
            <a:r>
              <a:rPr lang="en-IN" sz="5400" b="1" dirty="0"/>
              <a:t/>
            </a:r>
            <a:br>
              <a:rPr lang="en-IN" sz="5400" b="1" dirty="0"/>
            </a:br>
            <a:r>
              <a:rPr lang="en-IN" sz="5400" b="1" dirty="0"/>
              <a:t/>
            </a:r>
            <a:br>
              <a:rPr lang="en-IN" sz="5400" b="1" dirty="0"/>
            </a:br>
            <a:r>
              <a:rPr lang="en-US" sz="5400" b="1" cap="small" dirty="0">
                <a:solidFill>
                  <a:srgbClr val="FF0000"/>
                </a:solidFill>
              </a:rPr>
              <a:t>WEB</a:t>
            </a:r>
            <a:r>
              <a:rPr lang="en-US" sz="5400" b="1" cap="small" dirty="0"/>
              <a:t> </a:t>
            </a:r>
            <a:r>
              <a:rPr lang="en-US" sz="5400" b="1" cap="small" dirty="0" smtClean="0">
                <a:solidFill>
                  <a:schemeClr val="accent2"/>
                </a:solidFill>
              </a:rPr>
              <a:t>TECHNOLOGY II </a:t>
            </a:r>
            <a:r>
              <a:rPr lang="en-US" sz="5400" dirty="0">
                <a:solidFill>
                  <a:schemeClr val="accent2"/>
                </a:solidFill>
              </a:rPr>
              <a:t/>
            </a:r>
            <a:br>
              <a:rPr lang="en-US" sz="5400" dirty="0">
                <a:solidFill>
                  <a:schemeClr val="accent2"/>
                </a:solidFill>
              </a:rPr>
            </a:br>
            <a:endParaRPr lang="en-IN" sz="5400" b="1" dirty="0">
              <a:solidFill>
                <a:schemeClr val="accent2"/>
              </a:solidFill>
            </a:endParaRPr>
          </a:p>
        </p:txBody>
      </p:sp>
      <p:pic>
        <p:nvPicPr>
          <p:cNvPr id="4" name="Picture 2" descr="Gla Logo">
            <a:extLst>
              <a:ext uri="{FF2B5EF4-FFF2-40B4-BE49-F238E27FC236}">
                <a16:creationId xmlns:a16="http://schemas.microsoft.com/office/drawing/2014/main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103" y="4098472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91C2252-46CE-E0EB-683D-0C6D566CA1E8}"/>
              </a:ext>
            </a:extLst>
          </p:cNvPr>
          <p:cNvSpPr txBox="1">
            <a:spLocks/>
          </p:cNvSpPr>
          <p:nvPr/>
        </p:nvSpPr>
        <p:spPr>
          <a:xfrm>
            <a:off x="1914920" y="438364"/>
            <a:ext cx="7853682" cy="134954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US" sz="5300" b="1" cap="small" dirty="0"/>
          </a:p>
          <a:p>
            <a:pPr algn="l"/>
            <a:r>
              <a:rPr lang="en-US" sz="5300" b="1" cap="small" dirty="0" smtClean="0"/>
              <a:t>BCAC0021 </a:t>
            </a:r>
            <a:r>
              <a:rPr lang="en-US" sz="5300" b="1" cap="small" dirty="0"/>
              <a:t>: WEB </a:t>
            </a:r>
            <a:r>
              <a:rPr lang="en-US" sz="5300" b="1" cap="small" dirty="0" smtClean="0"/>
              <a:t>TECHNOLOGY II </a:t>
            </a:r>
            <a:endParaRPr lang="en-US" sz="5300" dirty="0"/>
          </a:p>
          <a:p>
            <a:pPr algn="l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AC35F-8F7D-4124-7F2A-B43FE8C4694B}"/>
              </a:ext>
            </a:extLst>
          </p:cNvPr>
          <p:cNvSpPr/>
          <p:nvPr/>
        </p:nvSpPr>
        <p:spPr>
          <a:xfrm>
            <a:off x="3969702" y="2106497"/>
            <a:ext cx="429208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1</a:t>
            </a:r>
          </a:p>
        </p:txBody>
      </p:sp>
    </p:spTree>
    <p:extLst>
      <p:ext uri="{BB962C8B-B14F-4D97-AF65-F5344CB8AC3E}">
        <p14:creationId xmlns:p14="http://schemas.microsoft.com/office/powerpoint/2010/main" val="114981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294B-50D7-9623-615F-717CAAFBB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48" y="356383"/>
            <a:ext cx="9549878" cy="200699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Requirements to build a website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8004AF3-7003-A906-3D2B-A79CDA69B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53" y="2116991"/>
            <a:ext cx="8596668" cy="26240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12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9C0853-44E2-13D0-AA70-9E628A91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87" y="935500"/>
            <a:ext cx="5755578" cy="3988191"/>
          </a:xfrm>
          <a:prstGeom prst="rect">
            <a:avLst/>
          </a:prstGeom>
          <a:ln>
            <a:tailEnd type="triangle"/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AD79D-88BB-32FE-8A81-A79D40CBDFF7}"/>
              </a:ext>
            </a:extLst>
          </p:cNvPr>
          <p:cNvCxnSpPr>
            <a:cxnSpLocks/>
          </p:cNvCxnSpPr>
          <p:nvPr/>
        </p:nvCxnSpPr>
        <p:spPr>
          <a:xfrm flipH="1">
            <a:off x="6554598" y="3853695"/>
            <a:ext cx="338571" cy="17452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29CC9A-4C6D-CA5A-9B44-A21025516ACC}"/>
              </a:ext>
            </a:extLst>
          </p:cNvPr>
          <p:cNvSpPr txBox="1"/>
          <p:nvPr/>
        </p:nvSpPr>
        <p:spPr>
          <a:xfrm>
            <a:off x="5112660" y="5598942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Metallic Body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CA9307-3A05-7D47-D9C0-780B2CF01BE0}"/>
              </a:ext>
            </a:extLst>
          </p:cNvPr>
          <p:cNvCxnSpPr>
            <a:cxnSpLocks/>
          </p:cNvCxnSpPr>
          <p:nvPr/>
        </p:nvCxnSpPr>
        <p:spPr>
          <a:xfrm flipH="1" flipV="1">
            <a:off x="1589649" y="2173073"/>
            <a:ext cx="2658794" cy="7565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A28690-EC9B-251F-9ED1-FA14797841FA}"/>
              </a:ext>
            </a:extLst>
          </p:cNvPr>
          <p:cNvCxnSpPr>
            <a:cxnSpLocks/>
          </p:cNvCxnSpPr>
          <p:nvPr/>
        </p:nvCxnSpPr>
        <p:spPr>
          <a:xfrm>
            <a:off x="7422805" y="3546325"/>
            <a:ext cx="1481571" cy="307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8673F80-8F13-69BA-9369-D28AEE77801C}"/>
              </a:ext>
            </a:extLst>
          </p:cNvPr>
          <p:cNvSpPr txBox="1"/>
          <p:nvPr/>
        </p:nvSpPr>
        <p:spPr>
          <a:xfrm>
            <a:off x="8904376" y="3546325"/>
            <a:ext cx="237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Color</a:t>
            </a:r>
            <a:endParaRPr lang="en-IN" sz="2400" b="1" dirty="0"/>
          </a:p>
          <a:p>
            <a:r>
              <a:rPr lang="en-IN" sz="2400" b="1" dirty="0"/>
              <a:t>Design</a:t>
            </a:r>
          </a:p>
          <a:p>
            <a:r>
              <a:rPr lang="en-IN" sz="2400" b="1" dirty="0"/>
              <a:t>Style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D19B17-E561-719B-7AD6-7DC4AD19C1FA}"/>
              </a:ext>
            </a:extLst>
          </p:cNvPr>
          <p:cNvSpPr txBox="1"/>
          <p:nvPr/>
        </p:nvSpPr>
        <p:spPr>
          <a:xfrm>
            <a:off x="474651" y="1808409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Engine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DBFD6B-6B6E-8FBD-66BA-F985EBF29625}"/>
              </a:ext>
            </a:extLst>
          </p:cNvPr>
          <p:cNvSpPr txBox="1"/>
          <p:nvPr/>
        </p:nvSpPr>
        <p:spPr>
          <a:xfrm>
            <a:off x="5492488" y="5955581"/>
            <a:ext cx="2377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(HTML)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2B573-CA94-FD84-58D2-180334842C65}"/>
              </a:ext>
            </a:extLst>
          </p:cNvPr>
          <p:cNvSpPr txBox="1"/>
          <p:nvPr/>
        </p:nvSpPr>
        <p:spPr>
          <a:xfrm>
            <a:off x="0" y="1405966"/>
            <a:ext cx="2780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(JavaScript)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13A33-CDC2-C0A5-B82F-7CA6DA16FC06}"/>
              </a:ext>
            </a:extLst>
          </p:cNvPr>
          <p:cNvSpPr txBox="1"/>
          <p:nvPr/>
        </p:nvSpPr>
        <p:spPr>
          <a:xfrm>
            <a:off x="8741651" y="3038441"/>
            <a:ext cx="2377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(CSS)</a:t>
            </a:r>
          </a:p>
        </p:txBody>
      </p:sp>
    </p:spTree>
    <p:extLst>
      <p:ext uri="{BB962C8B-B14F-4D97-AF65-F5344CB8AC3E}">
        <p14:creationId xmlns:p14="http://schemas.microsoft.com/office/powerpoint/2010/main" val="313072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9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7462-76E4-FAFA-8CB3-47A5AA6D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1773"/>
            <a:ext cx="8596668" cy="13208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website works?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158A87-DE21-5203-CB19-E7E700226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4722" y="1782993"/>
            <a:ext cx="2154761" cy="23996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72404-31B0-1414-17A6-014B3D58CFA1}"/>
              </a:ext>
            </a:extLst>
          </p:cNvPr>
          <p:cNvSpPr txBox="1"/>
          <p:nvPr/>
        </p:nvSpPr>
        <p:spPr>
          <a:xfrm>
            <a:off x="677334" y="4318936"/>
            <a:ext cx="2194560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3B7308-BD86-C4EA-9FC9-8E96AA6C7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378" y="1744773"/>
            <a:ext cx="2311924" cy="26898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A859BE-F193-185A-02C2-A51E03E9E9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1" t="554" r="7566" b="12452"/>
          <a:stretch/>
        </p:blipFill>
        <p:spPr>
          <a:xfrm>
            <a:off x="7806885" y="4318936"/>
            <a:ext cx="1218909" cy="161270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8119C2-0AF2-E54C-ACBD-75F5AD5D7059}"/>
              </a:ext>
            </a:extLst>
          </p:cNvPr>
          <p:cNvCxnSpPr/>
          <p:nvPr/>
        </p:nvCxnSpPr>
        <p:spPr>
          <a:xfrm flipH="1">
            <a:off x="2745939" y="2003220"/>
            <a:ext cx="4459458" cy="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72AE5F-E98C-A0A6-9D92-3AD53E4617F8}"/>
              </a:ext>
            </a:extLst>
          </p:cNvPr>
          <p:cNvCxnSpPr>
            <a:cxnSpLocks/>
          </p:cNvCxnSpPr>
          <p:nvPr/>
        </p:nvCxnSpPr>
        <p:spPr>
          <a:xfrm>
            <a:off x="2903868" y="4009121"/>
            <a:ext cx="4143599" cy="0"/>
          </a:xfrm>
          <a:prstGeom prst="straightConnector1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F2286F7-DAE5-D882-088F-95588F65616F}"/>
              </a:ext>
            </a:extLst>
          </p:cNvPr>
          <p:cNvSpPr txBox="1"/>
          <p:nvPr/>
        </p:nvSpPr>
        <p:spPr>
          <a:xfrm>
            <a:off x="2889458" y="1319751"/>
            <a:ext cx="4740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requests for the website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BC4DC8-3F0A-A191-C612-6D5EA45B9A25}"/>
              </a:ext>
            </a:extLst>
          </p:cNvPr>
          <p:cNvSpPr txBox="1"/>
          <p:nvPr/>
        </p:nvSpPr>
        <p:spPr>
          <a:xfrm>
            <a:off x="3120090" y="3429000"/>
            <a:ext cx="4740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returns the response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21BA7C-2DB1-10DF-A5F4-A2AF0BC52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12" y="4212633"/>
            <a:ext cx="1417622" cy="15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2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1C9-F0A2-5D5B-D5CF-C5413D5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89" y="0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b="1" dirty="0"/>
              <a:t>Role of 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F7CE12-DC26-6B89-35BF-21ADDEA76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794" y="1953455"/>
            <a:ext cx="2538088" cy="295109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CD4A57-AF0D-23F2-7600-8D430CC47D50}"/>
              </a:ext>
            </a:extLst>
          </p:cNvPr>
          <p:cNvSpPr txBox="1"/>
          <p:nvPr/>
        </p:nvSpPr>
        <p:spPr>
          <a:xfrm>
            <a:off x="367844" y="974578"/>
            <a:ext cx="641438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stands for Hyper Text Markup Language.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is the standard markup language for creating Web pages.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describes the structure of a Web page.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consists of a series of elements.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elements tell the browser how to display the content</a:t>
            </a:r>
            <a:r>
              <a:rPr lang="en-US" sz="28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4338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1C9-F0A2-5D5B-D5CF-C5413D5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14" y="0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CSS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7A5351-C37A-0493-3740-4F8B9F080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28" y="2521243"/>
            <a:ext cx="2270907" cy="270308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F91E1C-57CF-0DAA-6619-AD3BF65FDBFF}"/>
              </a:ext>
            </a:extLst>
          </p:cNvPr>
          <p:cNvSpPr txBox="1"/>
          <p:nvPr/>
        </p:nvSpPr>
        <p:spPr>
          <a:xfrm>
            <a:off x="162297" y="984128"/>
            <a:ext cx="7842221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stands for Cascading Style Sheets.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describes how HTML elements are to be displayed on screen, paper, or in other media.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saves a lot of work. It can control the layout of multiple web pages all at once.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makes our websites beautiful and </a:t>
            </a:r>
            <a:r>
              <a:rPr 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looking.</a:t>
            </a:r>
            <a:r>
              <a:rPr lang="en-US" b="1" dirty="0"/>
              <a:t/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252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1C9-F0A2-5D5B-D5CF-C5413D5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89" y="352084"/>
            <a:ext cx="8596668" cy="1320800"/>
          </a:xfrm>
        </p:spPr>
        <p:txBody>
          <a:bodyPr/>
          <a:lstStyle/>
          <a:p>
            <a:r>
              <a:rPr lang="en-IN" dirty="0"/>
              <a:t>Role of JAVASCRIPT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3C7D18-8D1F-F721-8112-32EC60B20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196" y="2463800"/>
            <a:ext cx="2636296" cy="270803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A119D-2D3D-6523-2443-C864AC2E9516}"/>
              </a:ext>
            </a:extLst>
          </p:cNvPr>
          <p:cNvSpPr txBox="1"/>
          <p:nvPr/>
        </p:nvSpPr>
        <p:spPr>
          <a:xfrm>
            <a:off x="522589" y="1401770"/>
            <a:ext cx="71889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JavaScript, often known as JS, is a high-level dynamic interpreted programming language.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the programming language of the Web.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client-side scripting to create completely dynamic web applications and websites.</a:t>
            </a:r>
          </a:p>
        </p:txBody>
      </p:sp>
    </p:spTree>
    <p:extLst>
      <p:ext uri="{BB962C8B-B14F-4D97-AF65-F5344CB8AC3E}">
        <p14:creationId xmlns:p14="http://schemas.microsoft.com/office/powerpoint/2010/main" val="1633314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1C9-F0A2-5D5B-D5CF-C5413D5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30" y="161199"/>
            <a:ext cx="8596668" cy="1320800"/>
          </a:xfrm>
        </p:spPr>
        <p:txBody>
          <a:bodyPr/>
          <a:lstStyle/>
          <a:p>
            <a:r>
              <a:rPr lang="en-IN" dirty="0"/>
              <a:t>Role of PHP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5FF79F-B512-6A7B-3B9D-4817F386D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785" y="2739257"/>
            <a:ext cx="2700998" cy="17433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BCA76F-695B-6AD2-C6D8-279BE1D13BF3}"/>
              </a:ext>
            </a:extLst>
          </p:cNvPr>
          <p:cNvSpPr txBox="1"/>
          <p:nvPr/>
        </p:nvSpPr>
        <p:spPr>
          <a:xfrm>
            <a:off x="459117" y="926828"/>
            <a:ext cx="70176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is an acronym for "PHP: Hypertext Preprocessor“.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 originally created by  Rasmus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Lerdorf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1994.</a:t>
            </a: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is a popular general-purpose scripting language.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scripts are executed on the server</a:t>
            </a:r>
            <a:r>
              <a:rPr lang="en-US" sz="2800" b="1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59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1C9-F0A2-5D5B-D5CF-C5413D5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30" y="161199"/>
            <a:ext cx="8596668" cy="1320800"/>
          </a:xfrm>
        </p:spPr>
        <p:txBody>
          <a:bodyPr/>
          <a:lstStyle/>
          <a:p>
            <a:r>
              <a:rPr lang="en-IN" dirty="0"/>
              <a:t>Role of PHP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5FF79F-B512-6A7B-3B9D-4817F386D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785" y="2739257"/>
            <a:ext cx="2700998" cy="17433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BCA76F-695B-6AD2-C6D8-279BE1D13BF3}"/>
              </a:ext>
            </a:extLst>
          </p:cNvPr>
          <p:cNvSpPr txBox="1"/>
          <p:nvPr/>
        </p:nvSpPr>
        <p:spPr>
          <a:xfrm>
            <a:off x="459117" y="926828"/>
            <a:ext cx="70176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is free to download and use.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PHP is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3200" b="1">
                <a:latin typeface="Times New Roman" pitchFamily="18" charset="0"/>
                <a:cs typeface="Times New Roman" pitchFamily="18" charset="0"/>
              </a:rPr>
              <a:t>open-source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Interpreted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object-oriented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scripting language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/>
              <a:t>Rasmus </a:t>
            </a:r>
            <a:r>
              <a:rPr lang="en-US" sz="2800" b="1" dirty="0" err="1"/>
              <a:t>Lerdorf</a:t>
            </a:r>
            <a:r>
              <a:rPr lang="en-US" sz="2800" b="1" dirty="0"/>
              <a:t> in 1994 </a:t>
            </a:r>
            <a:r>
              <a:rPr lang="en-US" sz="2800" b="1" dirty="0">
                <a:sym typeface="Wingdings" pitchFamily="2" charset="2"/>
              </a:rPr>
              <a:t></a:t>
            </a:r>
            <a:r>
              <a:rPr lang="en-US" sz="2800" dirty="0"/>
              <a:t>market in 1995.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 </a:t>
            </a:r>
            <a:r>
              <a:rPr lang="en-US" sz="2800" b="1" dirty="0"/>
              <a:t>PHP 7.4.0</a:t>
            </a:r>
            <a:r>
              <a:rPr lang="en-US" sz="2800" dirty="0"/>
              <a:t> is the latest version of PHP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2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354" y="96158"/>
            <a:ext cx="10018713" cy="812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dirty="0"/>
              <a:t>Why use PHP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354" y="867230"/>
            <a:ext cx="8851676" cy="48641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</a:rPr>
              <a:t>Dynamic content, </a:t>
            </a:r>
            <a:r>
              <a:rPr lang="en-US" sz="2800" dirty="0">
                <a:solidFill>
                  <a:schemeClr val="accent1"/>
                </a:solidFill>
              </a:rPr>
              <a:t>database</a:t>
            </a:r>
            <a:r>
              <a:rPr lang="en-US" sz="2800" dirty="0">
                <a:solidFill>
                  <a:srgbClr val="FF0000"/>
                </a:solidFill>
              </a:rPr>
              <a:t> as well as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session tracking </a:t>
            </a:r>
            <a:r>
              <a:rPr lang="en-US" sz="2800" dirty="0">
                <a:solidFill>
                  <a:srgbClr val="FF0000"/>
                </a:solidFill>
              </a:rPr>
              <a:t>for the website.</a:t>
            </a:r>
          </a:p>
          <a:p>
            <a:pPr algn="just"/>
            <a:r>
              <a:rPr lang="en-US" sz="2800" dirty="0"/>
              <a:t>Access cookies  &amp; Set Cookies.</a:t>
            </a:r>
          </a:p>
          <a:p>
            <a:pPr algn="just"/>
            <a:r>
              <a:rPr lang="en-US" sz="2800" dirty="0"/>
              <a:t>Data Encrypt  &amp; Validation.</a:t>
            </a:r>
          </a:p>
          <a:p>
            <a:pPr algn="just"/>
            <a:r>
              <a:rPr lang="en-US" sz="2800" dirty="0"/>
              <a:t>HTTP, POP3, SNMP, LDAP, IMAP </a:t>
            </a:r>
          </a:p>
          <a:p>
            <a:pPr algn="just">
              <a:buNone/>
            </a:pPr>
            <a:r>
              <a:rPr lang="en-US" sz="2800" dirty="0">
                <a:solidFill>
                  <a:srgbClr val="FF0000"/>
                </a:solidFill>
              </a:rPr>
              <a:t>                    </a:t>
            </a:r>
            <a:r>
              <a:rPr lang="en-US" sz="2800" dirty="0"/>
              <a:t>Simple Network Management Protocol </a:t>
            </a:r>
          </a:p>
          <a:p>
            <a:pPr algn="just">
              <a:buNone/>
            </a:pPr>
            <a:r>
              <a:rPr lang="en-US" sz="2800" dirty="0">
                <a:solidFill>
                  <a:srgbClr val="FF0000"/>
                </a:solidFill>
              </a:rPr>
              <a:t>                    </a:t>
            </a:r>
            <a:r>
              <a:rPr lang="en-US" sz="2800" dirty="0"/>
              <a:t>Light Weight Directory Access Protocol </a:t>
            </a:r>
          </a:p>
          <a:p>
            <a:pPr algn="just">
              <a:buNone/>
            </a:pPr>
            <a:r>
              <a:rPr lang="en-US" sz="2800" dirty="0"/>
              <a:t>                    Post Office Protocol 3</a:t>
            </a:r>
          </a:p>
          <a:p>
            <a:pPr algn="just">
              <a:buNone/>
            </a:pPr>
            <a:r>
              <a:rPr lang="en-US" sz="2800" dirty="0">
                <a:solidFill>
                  <a:srgbClr val="FF0000"/>
                </a:solidFill>
              </a:rPr>
              <a:t>                   </a:t>
            </a:r>
            <a:r>
              <a:rPr lang="en-US" sz="2800" b="1" dirty="0"/>
              <a:t>Internet Message Access Protocol</a:t>
            </a:r>
          </a:p>
          <a:p>
            <a:pPr algn="just"/>
            <a:r>
              <a:rPr lang="en-US" sz="2800" dirty="0"/>
              <a:t>Control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user to access  ????</a:t>
            </a:r>
          </a:p>
          <a:p>
            <a:pPr algn="just"/>
            <a:r>
              <a:rPr lang="en-US" sz="2800" dirty="0"/>
              <a:t>Handle the forms, such as - collect the data from users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45DB-3279-0726-14C4-6E4F9763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02" y="413594"/>
            <a:ext cx="8596668" cy="1320800"/>
          </a:xfrm>
        </p:spPr>
        <p:txBody>
          <a:bodyPr/>
          <a:lstStyle/>
          <a:p>
            <a:r>
              <a:rPr lang="en-IN" b="1" dirty="0"/>
              <a:t>Basic Syntax of PHP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82C41D-E2FB-D679-6713-00F1AA5E4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759" y="1366896"/>
            <a:ext cx="7722499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PHP script can be placed anywhere in the document.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PHP script starts with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ends with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35520-F8AA-1BDA-EAE5-79DC40A78618}"/>
              </a:ext>
            </a:extLst>
          </p:cNvPr>
          <p:cNvSpPr txBox="1"/>
          <p:nvPr/>
        </p:nvSpPr>
        <p:spPr>
          <a:xfrm>
            <a:off x="1195753" y="2968283"/>
            <a:ext cx="454386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PHP code goes here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b="1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FB9A343-8627-09FC-0DC1-9693E0D53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12" y="4445691"/>
            <a:ext cx="8835268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PHP file normally contains HTML tags and some PHP scripting code.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PHP script is executed on the server, and the plain HTML result is sent back to the browser.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2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929" y="203201"/>
            <a:ext cx="8719457" cy="914400"/>
          </a:xfrm>
          <a:solidFill>
            <a:schemeClr val="accent2"/>
          </a:solidFill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Facts on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929" y="1562099"/>
            <a:ext cx="10453690" cy="4305301"/>
          </a:xfrm>
        </p:spPr>
        <p:txBody>
          <a:bodyPr>
            <a:noAutofit/>
          </a:bodyPr>
          <a:lstStyle/>
          <a:p>
            <a:r>
              <a:rPr lang="en-US" sz="2800" dirty="0"/>
              <a:t>PHP stands for </a:t>
            </a:r>
            <a:r>
              <a:rPr lang="en-US" sz="2800" dirty="0">
                <a:solidFill>
                  <a:srgbClr val="FF0000"/>
                </a:solidFill>
              </a:rPr>
              <a:t>Hypertext Preprocessor.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Interpreted Language</a:t>
            </a:r>
            <a:r>
              <a:rPr lang="en-US" sz="2800" dirty="0"/>
              <a:t>  -</a:t>
            </a:r>
            <a:r>
              <a:rPr lang="en-US" sz="2800" dirty="0">
                <a:sym typeface="Wingdings" pitchFamily="2" charset="2"/>
              </a:rPr>
              <a:t> ??? [</a:t>
            </a:r>
            <a:r>
              <a:rPr lang="en-US" sz="2800" dirty="0"/>
              <a:t>no need for compilation]</a:t>
            </a:r>
          </a:p>
          <a:p>
            <a:r>
              <a:rPr lang="en-US" sz="2800" dirty="0"/>
              <a:t>Faster than other scripting languages  -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JSP , ASP </a:t>
            </a:r>
            <a:r>
              <a:rPr lang="en-US" sz="2800" dirty="0">
                <a:sym typeface="Wingdings" pitchFamily="2" charset="2"/>
              </a:rPr>
              <a:t>etc</a:t>
            </a:r>
          </a:p>
          <a:p>
            <a:r>
              <a:rPr lang="en-US" sz="2800" dirty="0"/>
              <a:t>Server-side scripting language </a:t>
            </a:r>
            <a:r>
              <a:rPr lang="en-US" sz="2800" dirty="0">
                <a:sym typeface="Wingdings" pitchFamily="2" charset="2"/>
              </a:rPr>
              <a:t> ?????    </a:t>
            </a:r>
          </a:p>
          <a:p>
            <a:pPr>
              <a:buNone/>
            </a:pPr>
            <a:r>
              <a:rPr lang="en-US" sz="2800" dirty="0">
                <a:sym typeface="Wingdings" pitchFamily="2" charset="2"/>
              </a:rPr>
              <a:t>                                                    [ 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manage Dynamic  Content] </a:t>
            </a:r>
          </a:p>
          <a:p>
            <a:r>
              <a:rPr lang="en-US" sz="2800" dirty="0"/>
              <a:t> Embedded into -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HTML</a:t>
            </a:r>
          </a:p>
          <a:p>
            <a:r>
              <a:rPr lang="en-US" sz="2800" dirty="0"/>
              <a:t>Simple and easy to learn language 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Open Source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5538" name="Picture 2" descr="PHP Featur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3338" y="0"/>
            <a:ext cx="7966076" cy="66383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9CEEA-DED4-2753-DFF5-BD373AF9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87" y="51998"/>
            <a:ext cx="8596668" cy="1320800"/>
          </a:xfrm>
        </p:spPr>
        <p:txBody>
          <a:bodyPr/>
          <a:lstStyle/>
          <a:p>
            <a:r>
              <a:rPr lang="en-IN" sz="4400" dirty="0"/>
              <a:t>Installation</a:t>
            </a:r>
            <a:r>
              <a:rPr lang="en-IN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1A7757-FEFA-4C3D-472B-344E0E61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66" y="1175851"/>
            <a:ext cx="6089225" cy="5379694"/>
          </a:xfrm>
        </p:spPr>
        <p:txBody>
          <a:bodyPr>
            <a:normAutofit/>
          </a:bodyPr>
          <a:lstStyle/>
          <a:p>
            <a:r>
              <a:rPr lang="en-IN" sz="2800" b="1" dirty="0"/>
              <a:t>XAMPP download (Apache, PHP, MYSQL)</a:t>
            </a:r>
          </a:p>
          <a:p>
            <a:pPr marL="400050" lvl="1" indent="0">
              <a:buNone/>
            </a:pPr>
            <a:r>
              <a:rPr lang="en-IN" sz="1800" b="1" dirty="0">
                <a:hlinkClick r:id="rId2"/>
              </a:rPr>
              <a:t>https://www.apachefriends.org/download.html</a:t>
            </a:r>
            <a:endParaRPr lang="en-IN" sz="1800" b="1" dirty="0"/>
          </a:p>
          <a:p>
            <a:endParaRPr lang="en-IN" sz="2800" b="1" dirty="0"/>
          </a:p>
          <a:p>
            <a:r>
              <a:rPr lang="en-IN" sz="2800" b="1" dirty="0"/>
              <a:t>In xampp control panel, click on start for Apache and </a:t>
            </a:r>
            <a:r>
              <a:rPr lang="en-IN" sz="2800" b="1" dirty="0" err="1"/>
              <a:t>MySql</a:t>
            </a:r>
            <a:r>
              <a:rPr lang="en-IN" sz="2800" b="1" dirty="0"/>
              <a:t> </a:t>
            </a:r>
          </a:p>
          <a:p>
            <a:pPr marL="400050" lvl="1" indent="0">
              <a:buNone/>
            </a:pPr>
            <a:endParaRPr lang="en-IN" sz="2800" b="1" dirty="0"/>
          </a:p>
          <a:p>
            <a:r>
              <a:rPr lang="en-IN" sz="2800" b="1" dirty="0"/>
              <a:t>Visual Studio Code (Editor)</a:t>
            </a:r>
          </a:p>
          <a:p>
            <a:pPr marL="0" indent="0">
              <a:buNone/>
            </a:pPr>
            <a:r>
              <a:rPr lang="en-IN" sz="2000" b="1" dirty="0">
                <a:hlinkClick r:id="rId3"/>
              </a:rPr>
              <a:t>https://code.visualstudio.com/</a:t>
            </a:r>
            <a:endParaRPr lang="en-IN" sz="2000" b="1" dirty="0"/>
          </a:p>
          <a:p>
            <a:pPr marL="0" indent="0">
              <a:buNone/>
            </a:pPr>
            <a:endParaRPr lang="en-IN" sz="2800" b="1" dirty="0"/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2F0C6A42-94F6-970E-96EC-125F56F48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2616"/>
            <a:ext cx="4238810" cy="405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9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3010" name="Picture 2" descr="Install PH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064" y="0"/>
            <a:ext cx="4251916" cy="3074796"/>
          </a:xfrm>
          <a:prstGeom prst="rect">
            <a:avLst/>
          </a:prstGeom>
          <a:noFill/>
        </p:spPr>
      </p:pic>
      <p:pic>
        <p:nvPicPr>
          <p:cNvPr id="43012" name="Picture 4" descr="Install PH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6050" y="251209"/>
            <a:ext cx="3720680" cy="3114989"/>
          </a:xfrm>
          <a:prstGeom prst="rect">
            <a:avLst/>
          </a:prstGeom>
          <a:noFill/>
        </p:spPr>
      </p:pic>
      <p:pic>
        <p:nvPicPr>
          <p:cNvPr id="43014" name="Picture 6" descr="Install PH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22346" y="3504168"/>
            <a:ext cx="3593367" cy="3177985"/>
          </a:xfrm>
          <a:prstGeom prst="rect">
            <a:avLst/>
          </a:prstGeom>
          <a:noFill/>
        </p:spPr>
      </p:pic>
      <p:pic>
        <p:nvPicPr>
          <p:cNvPr id="43016" name="Picture 8" descr="Install PHP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1112" y="3597310"/>
            <a:ext cx="3938954" cy="3082927"/>
          </a:xfrm>
          <a:prstGeom prst="rect">
            <a:avLst/>
          </a:prstGeom>
          <a:noFill/>
        </p:spPr>
      </p:pic>
      <p:sp>
        <p:nvSpPr>
          <p:cNvPr id="10" name="Right Arrow 9"/>
          <p:cNvSpPr/>
          <p:nvPr/>
        </p:nvSpPr>
        <p:spPr>
          <a:xfrm>
            <a:off x="4481565" y="1848897"/>
            <a:ext cx="2311121" cy="81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9912685">
            <a:off x="4071281" y="3031918"/>
            <a:ext cx="2774729" cy="81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201886" y="5437834"/>
            <a:ext cx="2540558" cy="81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5778" name="Picture 2" descr="Install PH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089679" cy="3431844"/>
          </a:xfrm>
          <a:prstGeom prst="rect">
            <a:avLst/>
          </a:prstGeom>
          <a:noFill/>
        </p:spPr>
      </p:pic>
      <p:pic>
        <p:nvPicPr>
          <p:cNvPr id="75780" name="Picture 4" descr="Install PH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91235" y="0"/>
            <a:ext cx="4055591" cy="3403239"/>
          </a:xfrm>
          <a:prstGeom prst="rect">
            <a:avLst/>
          </a:prstGeom>
          <a:noFill/>
        </p:spPr>
      </p:pic>
      <p:pic>
        <p:nvPicPr>
          <p:cNvPr id="75782" name="Picture 6" descr="Install PH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466662"/>
            <a:ext cx="3370814" cy="2828610"/>
          </a:xfrm>
          <a:prstGeom prst="rect">
            <a:avLst/>
          </a:prstGeom>
          <a:noFill/>
        </p:spPr>
      </p:pic>
      <p:pic>
        <p:nvPicPr>
          <p:cNvPr id="75784" name="Picture 8" descr="Install PHP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22228" y="3679336"/>
            <a:ext cx="2913174" cy="2206211"/>
          </a:xfrm>
          <a:prstGeom prst="rect">
            <a:avLst/>
          </a:prstGeom>
          <a:noFill/>
        </p:spPr>
      </p:pic>
      <p:sp>
        <p:nvSpPr>
          <p:cNvPr id="10" name="Right Arrow 9"/>
          <p:cNvSpPr/>
          <p:nvPr/>
        </p:nvSpPr>
        <p:spPr>
          <a:xfrm>
            <a:off x="4149969" y="984739"/>
            <a:ext cx="2311121" cy="81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9221587">
            <a:off x="3235591" y="3461417"/>
            <a:ext cx="3384902" cy="5343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3396343" y="4873451"/>
            <a:ext cx="3114989" cy="813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6802" name="Picture 2" descr="Install PH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672" y="249518"/>
            <a:ext cx="5476960" cy="3538712"/>
          </a:xfrm>
          <a:prstGeom prst="rect">
            <a:avLst/>
          </a:prstGeom>
          <a:noFill/>
        </p:spPr>
      </p:pic>
      <p:pic>
        <p:nvPicPr>
          <p:cNvPr id="76804" name="Picture 4" descr="Install PH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50997" y="2007979"/>
            <a:ext cx="5663585" cy="3659292"/>
          </a:xfrm>
          <a:prstGeom prst="rect">
            <a:avLst/>
          </a:prstGeom>
          <a:noFill/>
        </p:spPr>
      </p:pic>
      <p:sp>
        <p:nvSpPr>
          <p:cNvPr id="8" name="Curved Down Arrow 7"/>
          <p:cNvSpPr/>
          <p:nvPr/>
        </p:nvSpPr>
        <p:spPr>
          <a:xfrm rot="2629911">
            <a:off x="5667270" y="683288"/>
            <a:ext cx="1979526" cy="90435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6EB8-E149-88D0-961F-239CB26F3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03" y="0"/>
            <a:ext cx="8596668" cy="1320800"/>
          </a:xfrm>
        </p:spPr>
        <p:txBody>
          <a:bodyPr/>
          <a:lstStyle/>
          <a:p>
            <a:pPr algn="just"/>
            <a:r>
              <a:rPr lang="en-IN" dirty="0"/>
              <a:t>Installation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60B41-5B0B-2A01-BE65-CB5A50A4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303" y="899551"/>
            <a:ext cx="5329570" cy="572906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3200" b="1" dirty="0"/>
              <a:t> </a:t>
            </a:r>
            <a:r>
              <a:rPr lang="en-IN" sz="3000" b="1" dirty="0"/>
              <a:t>Open </a:t>
            </a:r>
            <a:r>
              <a:rPr lang="en-IN" sz="3000" b="1" i="1" dirty="0"/>
              <a:t>‘c:/xampp/htdocs’</a:t>
            </a:r>
            <a:r>
              <a:rPr lang="en-IN" sz="3000" b="1" dirty="0"/>
              <a:t> folder on your computer. </a:t>
            </a:r>
          </a:p>
          <a:p>
            <a:pPr lvl="1" algn="just"/>
            <a:r>
              <a:rPr lang="en-IN" sz="3000" b="1" dirty="0"/>
              <a:t>Make a new folder by your name(</a:t>
            </a:r>
            <a:r>
              <a:rPr lang="en-IN" sz="3000" b="1" dirty="0" err="1"/>
              <a:t>anshu</a:t>
            </a:r>
            <a:r>
              <a:rPr lang="en-IN" sz="3000" b="1" dirty="0"/>
              <a:t>)</a:t>
            </a:r>
          </a:p>
          <a:p>
            <a:pPr algn="just"/>
            <a:endParaRPr lang="en-IN" sz="3000" b="1" dirty="0"/>
          </a:p>
          <a:p>
            <a:pPr algn="just"/>
            <a:r>
              <a:rPr lang="en-IN" sz="3000" b="1" dirty="0"/>
              <a:t>Now open VS Code, and in that open the folder with your name (i.e. </a:t>
            </a:r>
            <a:r>
              <a:rPr lang="en-IN" sz="3000" b="1" dirty="0" err="1"/>
              <a:t>anshu</a:t>
            </a:r>
            <a:r>
              <a:rPr lang="en-IN" sz="3000" b="1" dirty="0"/>
              <a:t>).</a:t>
            </a:r>
          </a:p>
          <a:p>
            <a:pPr algn="just"/>
            <a:endParaRPr lang="en-IN" sz="3000" b="1" dirty="0"/>
          </a:p>
          <a:p>
            <a:pPr algn="just"/>
            <a:r>
              <a:rPr lang="en-IN" sz="3000" b="1" dirty="0"/>
              <a:t>Make your first php file in this folder and save it with ‘</a:t>
            </a:r>
            <a:r>
              <a:rPr lang="en-IN" sz="3000" b="1" dirty="0" err="1"/>
              <a:t>index.php</a:t>
            </a:r>
            <a:r>
              <a:rPr lang="en-IN" sz="3000" b="1" dirty="0"/>
              <a:t>’</a:t>
            </a:r>
          </a:p>
          <a:p>
            <a:pPr algn="just"/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84407-54CC-04F7-551A-1161F9F06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0800"/>
            <a:ext cx="5453575" cy="44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5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4" y="70888"/>
            <a:ext cx="10018713" cy="636683"/>
          </a:xfrm>
          <a:solidFill>
            <a:srgbClr val="00B050"/>
          </a:solidFill>
        </p:spPr>
        <p:txBody>
          <a:bodyPr>
            <a:no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455" y="707571"/>
            <a:ext cx="10018713" cy="3124201"/>
          </a:xfrm>
        </p:spPr>
        <p:txBody>
          <a:bodyPr/>
          <a:lstStyle/>
          <a:p>
            <a:pPr>
              <a:buNone/>
            </a:pPr>
            <a:r>
              <a:rPr lang="en-US" b="1" dirty="0"/>
              <a:t>&lt;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?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//your code here  </a:t>
            </a:r>
          </a:p>
          <a:p>
            <a:pPr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?&gt;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640000" y="941756"/>
            <a:ext cx="6893168" cy="415498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&lt;!DOCTYPE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&lt;html&gt;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&lt;body&gt;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"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&lt;h2&gt;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Welcome Students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&lt;/h2&gt;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";  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?&gt;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&lt;/body&gt;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&lt;/html&gt;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/>
              <a:t> </a:t>
            </a:r>
          </a:p>
        </p:txBody>
      </p:sp>
      <p:sp>
        <p:nvSpPr>
          <p:cNvPr id="7" name="Cloud Callout 6"/>
          <p:cNvSpPr/>
          <p:nvPr/>
        </p:nvSpPr>
        <p:spPr>
          <a:xfrm>
            <a:off x="1748413" y="2793442"/>
            <a:ext cx="2532185" cy="219054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HOW TO RUN ??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026" y="368733"/>
            <a:ext cx="10018713" cy="358307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21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PHP programs can be written on any editor, such as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Notepad, Notepad++, Dreamweaver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lnSpc>
                <a:spcPct val="21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programs save with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extension, i.e., filename.php inside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htdocs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folder -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xampp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folder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C drive/ root Directory. computer/ PC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1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Run the XAMPP server and start the Apache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1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Now, open the web browser and type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http://localhost/hello.php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on your browser window.</a:t>
            </a:r>
          </a:p>
          <a:p>
            <a:pPr>
              <a:lnSpc>
                <a:spcPct val="210000"/>
              </a:lnSpc>
            </a:pPr>
            <a:r>
              <a:rPr lang="en-US" dirty="0"/>
              <a:t>The output for the above </a:t>
            </a:r>
            <a:r>
              <a:rPr lang="en-US" b="1" dirty="0"/>
              <a:t>hello.php</a:t>
            </a:r>
            <a:r>
              <a:rPr lang="en-US" dirty="0"/>
              <a:t> program will be shown as the screenshot.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7826" name="Picture 2" descr="run PHP code in XAMP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6211" y="4213555"/>
            <a:ext cx="7678930" cy="19259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0484" y="86459"/>
            <a:ext cx="609600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&lt;?</a:t>
            </a:r>
            <a:r>
              <a:rPr lang="en-US" b="1" dirty="0" err="1">
                <a:solidFill>
                  <a:srgbClr val="FF0000"/>
                </a:solidFill>
              </a:rPr>
              <a:t>php</a:t>
            </a:r>
            <a:r>
              <a:rPr lang="en-US" dirty="0">
                <a:solidFill>
                  <a:srgbClr val="FF0000"/>
                </a:solidFill>
              </a:rPr>
              <a:t>  </a:t>
            </a:r>
          </a:p>
          <a:p>
            <a:r>
              <a:rPr lang="en-US" dirty="0">
                <a:solidFill>
                  <a:srgbClr val="FF0000"/>
                </a:solidFill>
              </a:rPr>
              <a:t>echo "Hello by PHP echo";  </a:t>
            </a:r>
          </a:p>
          <a:p>
            <a:r>
              <a:rPr lang="en-US" b="1" dirty="0">
                <a:solidFill>
                  <a:srgbClr val="FF0000"/>
                </a:solidFill>
              </a:rPr>
              <a:t>?&gt;</a:t>
            </a:r>
            <a:r>
              <a:rPr lang="en-US" dirty="0">
                <a:solidFill>
                  <a:srgbClr val="FF0000"/>
                </a:solidFill>
              </a:rPr>
              <a:t>  </a:t>
            </a:r>
          </a:p>
        </p:txBody>
      </p:sp>
      <p:sp>
        <p:nvSpPr>
          <p:cNvPr id="7" name="Rectangle 6"/>
          <p:cNvSpPr/>
          <p:nvPr/>
        </p:nvSpPr>
        <p:spPr>
          <a:xfrm>
            <a:off x="483327" y="1138503"/>
            <a:ext cx="6106049" cy="20313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&lt;?</a:t>
            </a:r>
            <a:r>
              <a:rPr lang="en-US" b="1" dirty="0" err="1">
                <a:solidFill>
                  <a:srgbClr val="FF0000"/>
                </a:solidFill>
              </a:rPr>
              <a:t>php</a:t>
            </a:r>
            <a:r>
              <a:rPr lang="en-US" dirty="0">
                <a:solidFill>
                  <a:srgbClr val="FF0000"/>
                </a:solidFill>
              </a:rPr>
              <a:t>  </a:t>
            </a:r>
          </a:p>
          <a:p>
            <a:r>
              <a:rPr lang="en-US" dirty="0">
                <a:solidFill>
                  <a:srgbClr val="0070C0"/>
                </a:solidFill>
              </a:rPr>
              <a:t>echo</a:t>
            </a:r>
            <a:r>
              <a:rPr lang="en-US" dirty="0">
                <a:solidFill>
                  <a:srgbClr val="FF0000"/>
                </a:solidFill>
              </a:rPr>
              <a:t> "Hello by PHP echo  </a:t>
            </a:r>
          </a:p>
          <a:p>
            <a:r>
              <a:rPr lang="en-US" dirty="0">
                <a:solidFill>
                  <a:srgbClr val="FF0000"/>
                </a:solidFill>
              </a:rPr>
              <a:t>this is multi line  </a:t>
            </a:r>
          </a:p>
          <a:p>
            <a:r>
              <a:rPr lang="en-US" dirty="0">
                <a:solidFill>
                  <a:srgbClr val="FF0000"/>
                </a:solidFill>
              </a:rPr>
              <a:t>text printed by   </a:t>
            </a:r>
          </a:p>
          <a:p>
            <a:r>
              <a:rPr lang="en-US" dirty="0">
                <a:solidFill>
                  <a:srgbClr val="FF0000"/>
                </a:solidFill>
              </a:rPr>
              <a:t>PHP echo statement  </a:t>
            </a:r>
          </a:p>
          <a:p>
            <a:r>
              <a:rPr lang="en-US" dirty="0">
                <a:solidFill>
                  <a:srgbClr val="FF0000"/>
                </a:solidFill>
              </a:rPr>
              <a:t>";  </a:t>
            </a:r>
          </a:p>
          <a:p>
            <a:r>
              <a:rPr lang="en-US" b="1" dirty="0">
                <a:solidFill>
                  <a:srgbClr val="FF0000"/>
                </a:solidFill>
              </a:rPr>
              <a:t>?&gt;</a:t>
            </a:r>
            <a:r>
              <a:rPr lang="en-US" dirty="0">
                <a:solidFill>
                  <a:srgbClr val="FF0000"/>
                </a:solidFill>
              </a:rPr>
              <a:t>  </a:t>
            </a:r>
          </a:p>
        </p:txBody>
      </p:sp>
      <p:sp>
        <p:nvSpPr>
          <p:cNvPr id="8" name="Rectangle 7"/>
          <p:cNvSpPr/>
          <p:nvPr/>
        </p:nvSpPr>
        <p:spPr>
          <a:xfrm>
            <a:off x="805542" y="3298542"/>
            <a:ext cx="6096000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echo "Hello escape”,\"sequence\" ,characters";  </a:t>
            </a:r>
          </a:p>
          <a:p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257299" y="4323220"/>
            <a:ext cx="6096000" cy="12003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msg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="Hello 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JavaTpoint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 PHP";  </a:t>
            </a:r>
          </a:p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 "Message is: $</a:t>
            </a:r>
            <a:r>
              <a:rPr lang="en-US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msg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";    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/>
              <a:t>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8559" y="4692553"/>
            <a:ext cx="356520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Printing Variable Value</a:t>
            </a: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47947" y="3484347"/>
            <a:ext cx="362791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Printing</a:t>
            </a: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Escaping Characters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9665" y="2001814"/>
            <a:ext cx="366158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Printing Multi Line String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0306" y="354598"/>
            <a:ext cx="364116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Printing 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081" y="5616137"/>
            <a:ext cx="60960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/>
              <a:t>&lt;?</a:t>
            </a:r>
            <a:r>
              <a:rPr lang="en-US" b="1" dirty="0" err="1"/>
              <a:t>php</a:t>
            </a:r>
            <a:r>
              <a:rPr lang="en-US" dirty="0"/>
              <a:t>  </a:t>
            </a:r>
          </a:p>
          <a:p>
            <a:r>
              <a:rPr lang="en-US" dirty="0"/>
              <a:t>print "Hello by PHP print ";  </a:t>
            </a:r>
          </a:p>
          <a:p>
            <a:r>
              <a:rPr lang="en-US" dirty="0"/>
              <a:t>print ("Hello by PHP print()");  </a:t>
            </a:r>
          </a:p>
          <a:p>
            <a:r>
              <a:rPr lang="en-US" b="1" dirty="0"/>
              <a:t>?&gt;</a:t>
            </a:r>
            <a:r>
              <a:rPr lang="en-US" dirty="0"/>
              <a:t> 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1416" y="5993091"/>
            <a:ext cx="354068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Printing String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45DB-3279-0726-14C4-6E4F9763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02" y="413594"/>
            <a:ext cx="8596668" cy="1320800"/>
          </a:xfrm>
        </p:spPr>
        <p:txBody>
          <a:bodyPr/>
          <a:lstStyle/>
          <a:p>
            <a:r>
              <a:rPr lang="en-IN" b="1" dirty="0"/>
              <a:t>Basic Syntax of PHP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35520-F8AA-1BDA-EAE5-79DC40A78618}"/>
              </a:ext>
            </a:extLst>
          </p:cNvPr>
          <p:cNvSpPr txBox="1"/>
          <p:nvPr/>
        </p:nvSpPr>
        <p:spPr>
          <a:xfrm>
            <a:off x="913775" y="1444829"/>
            <a:ext cx="4543866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 first PHP page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2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1DCEAD-3F11-76AA-5987-C8846A752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807" y="1362171"/>
            <a:ext cx="433111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script uses a built-in PHP function "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to output the text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"Hello World!"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a web page: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8E84D7-F182-BEBA-0D43-D474177523DC}"/>
              </a:ext>
            </a:extLst>
          </p:cNvPr>
          <p:cNvCxnSpPr>
            <a:cxnSpLocks/>
          </p:cNvCxnSpPr>
          <p:nvPr/>
        </p:nvCxnSpPr>
        <p:spPr>
          <a:xfrm flipH="1">
            <a:off x="4365523" y="2765629"/>
            <a:ext cx="1730477" cy="1393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581B11B7-0315-4125-99EA-5951222D2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526" y="4113062"/>
            <a:ext cx="454386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statements end with a semicolon (;). </a:t>
            </a:r>
          </a:p>
        </p:txBody>
      </p:sp>
    </p:spTree>
    <p:extLst>
      <p:ext uri="{BB962C8B-B14F-4D97-AF65-F5344CB8AC3E}">
        <p14:creationId xmlns:p14="http://schemas.microsoft.com/office/powerpoint/2010/main" val="31555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7D69-693E-43C7-18C7-64A4E2C8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PHP Case Sensitivity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E02DCB-6F99-70A4-D2A8-9FC719D9C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4358900" cy="39703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PHP, keywords (e.g.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etc.), classes, functions, and user-defined functions are not case-sensitive.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example, all three echo statements below are equal and legal: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4A999-A61F-F40A-CF42-A0A6008037A7}"/>
              </a:ext>
            </a:extLst>
          </p:cNvPr>
          <p:cNvSpPr txBox="1"/>
          <p:nvPr/>
        </p:nvSpPr>
        <p:spPr>
          <a:xfrm>
            <a:off x="5320981" y="1724085"/>
            <a:ext cx="4498268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!DOCTYPE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html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"Hello World!&lt;</a:t>
            </a:r>
            <a:r>
              <a:rPr lang="en-IN" sz="2400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"Hello World!&lt;</a:t>
            </a:r>
            <a:r>
              <a:rPr lang="en-IN" sz="2400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"Hello World!&lt;</a:t>
            </a:r>
            <a:r>
              <a:rPr lang="en-IN" sz="2400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/body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/html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13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7D69-693E-43C7-18C7-64A4E2C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22" y="0"/>
            <a:ext cx="8596668" cy="1320800"/>
          </a:xfrm>
        </p:spPr>
        <p:txBody>
          <a:bodyPr/>
          <a:lstStyle/>
          <a:p>
            <a:r>
              <a:rPr lang="en-IN" b="1" dirty="0"/>
              <a:t>PHP Case Sensitivity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4A999-A61F-F40A-CF42-A0A6008037A7}"/>
              </a:ext>
            </a:extLst>
          </p:cNvPr>
          <p:cNvSpPr txBox="1"/>
          <p:nvPr/>
        </p:nvSpPr>
        <p:spPr>
          <a:xfrm>
            <a:off x="267902" y="915158"/>
            <a:ext cx="6378558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$color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"My car is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$color .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"My house is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$COLOR .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"My boat is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. $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36F758-0155-A849-084D-6414975F6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2133" y="1930400"/>
            <a:ext cx="5379868" cy="26776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nly the first statement will display the value of 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variable!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because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treated as three different variables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0961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FFB6-F26B-6956-8B70-1A85BF87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52" y="139511"/>
            <a:ext cx="8596668" cy="1320800"/>
          </a:xfrm>
        </p:spPr>
        <p:txBody>
          <a:bodyPr>
            <a:normAutofit/>
          </a:bodyPr>
          <a:lstStyle/>
          <a:p>
            <a:pPr algn="just"/>
            <a:r>
              <a:rPr lang="en-IN" sz="4000" dirty="0"/>
              <a:t>PHP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B76C-1906-10BC-523E-DB91D56E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322" y="1083883"/>
            <a:ext cx="8596668" cy="4690234"/>
          </a:xfrm>
        </p:spPr>
        <p:txBody>
          <a:bodyPr>
            <a:noAutofit/>
          </a:bodyPr>
          <a:lstStyle/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comment in PHP code is a line that is not executed as a part of the program. </a:t>
            </a:r>
          </a:p>
          <a:p>
            <a:pPr algn="just"/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only purpose is to be read by someone who is looking at the code.</a:t>
            </a:r>
          </a:p>
          <a:p>
            <a:pPr algn="just"/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Comments can be used to: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others understand your code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Remind yourself of what you did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71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FFB6-F26B-6956-8B70-1A85BF87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52" y="139511"/>
            <a:ext cx="8596668" cy="1320800"/>
          </a:xfrm>
        </p:spPr>
        <p:txBody>
          <a:bodyPr>
            <a:normAutofit/>
          </a:bodyPr>
          <a:lstStyle/>
          <a:p>
            <a:pPr algn="just"/>
            <a:r>
              <a:rPr lang="en-IN" sz="4000" dirty="0"/>
              <a:t>PHP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B76C-1906-10BC-523E-DB91D56ED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78" y="853093"/>
            <a:ext cx="9080815" cy="4690234"/>
          </a:xfrm>
        </p:spPr>
        <p:txBody>
          <a:bodyPr>
            <a:noAutofit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supports Two ways of commenting:</a:t>
            </a:r>
          </a:p>
          <a:p>
            <a:pPr lvl="1" algn="just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Single-line commenting (# or //)</a:t>
            </a:r>
          </a:p>
          <a:p>
            <a:pPr lvl="1" algn="just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 commenting (/*---------*/)</a:t>
            </a:r>
          </a:p>
          <a:p>
            <a:pPr lvl="1" algn="just"/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E7570-5501-626E-AA0B-CABBEAA13CD4}"/>
              </a:ext>
            </a:extLst>
          </p:cNvPr>
          <p:cNvSpPr txBox="1"/>
          <p:nvPr/>
        </p:nvSpPr>
        <p:spPr>
          <a:xfrm>
            <a:off x="788159" y="2748171"/>
            <a:ext cx="4316104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This is a single-line comment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This is also a single-line comment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5108F-BAD8-C7E7-0FD0-A21C45D913C8}"/>
              </a:ext>
            </a:extLst>
          </p:cNvPr>
          <p:cNvSpPr txBox="1"/>
          <p:nvPr/>
        </p:nvSpPr>
        <p:spPr>
          <a:xfrm>
            <a:off x="5305568" y="2609671"/>
            <a:ext cx="510767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 is a multiple-lines comment block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that spans multiple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lines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839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DAB7-D845-02B8-314E-3426F276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77" y="152400"/>
            <a:ext cx="8596668" cy="729343"/>
          </a:xfrm>
        </p:spPr>
        <p:txBody>
          <a:bodyPr/>
          <a:lstStyle/>
          <a:p>
            <a:r>
              <a:rPr lang="en-IN" dirty="0"/>
              <a:t>PHP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FD47F-E802-23EB-157B-C87187D7A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25" y="772517"/>
            <a:ext cx="7593209" cy="1320799"/>
          </a:xfr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 are "containers" for storing information.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C22954-2CF4-1827-FE89-DD8D2379A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60" y="2093316"/>
            <a:ext cx="8835156" cy="20261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Creating (Declaring) PHP Variables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b="1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PHP, a variable starts with the $ sign, followed by the name of the variable: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0472E-8F01-7FE8-8793-E87F1629F390}"/>
              </a:ext>
            </a:extLst>
          </p:cNvPr>
          <p:cNvSpPr txBox="1"/>
          <p:nvPr/>
        </p:nvSpPr>
        <p:spPr>
          <a:xfrm>
            <a:off x="6311357" y="4215863"/>
            <a:ext cx="3929986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$txt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$x = 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$y = 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10.5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7A41B8-22BC-2428-2B6F-4B1814DBC69E}"/>
              </a:ext>
            </a:extLst>
          </p:cNvPr>
          <p:cNvSpPr/>
          <p:nvPr/>
        </p:nvSpPr>
        <p:spPr>
          <a:xfrm>
            <a:off x="942982" y="4176866"/>
            <a:ext cx="5071068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="hello string";  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$x=200;  </a:t>
            </a:r>
          </a:p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$y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=44.6;  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 "string is: $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/&gt;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";  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 "integer is: $x 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/&gt;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";  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 "float is: $y 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/&gt;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";  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?&gt;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330296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4" grpId="1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DAB7-D845-02B8-314E-3426F276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55" y="-11027"/>
            <a:ext cx="8596668" cy="1320800"/>
          </a:xfrm>
        </p:spPr>
        <p:txBody>
          <a:bodyPr/>
          <a:lstStyle/>
          <a:p>
            <a:pPr algn="just"/>
            <a:r>
              <a:rPr lang="en-IN" b="1" dirty="0"/>
              <a:t>PHP Variables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1793F46-C71F-FE0E-AB3F-B947BAB986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5855" y="685515"/>
            <a:ext cx="8886509" cy="5940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can have a short name (like x and y) or a more descriptive name (age,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carname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total_volume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Rules for PHP variables: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starts with 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sign, followed by the name of the variable</a:t>
            </a: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 must start with a letter or the underscore character</a:t>
            </a: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 cannot start with a number</a:t>
            </a: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 can only contain alpha-numeric characters and underscores (A-z, 0-9, and _ )</a:t>
            </a: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 names are case-sensitive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$age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$AGE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two different variables)</a:t>
            </a:r>
          </a:p>
          <a:p>
            <a:pPr marL="457200" lvl="1" indent="0" algn="just" defTabSz="914400">
              <a:buClrTx/>
              <a:buSzTx/>
              <a:buNone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is a loosely typed language.</a:t>
            </a:r>
          </a:p>
        </p:txBody>
      </p:sp>
    </p:spTree>
    <p:extLst>
      <p:ext uri="{BB962C8B-B14F-4D97-AF65-F5344CB8AC3E}">
        <p14:creationId xmlns:p14="http://schemas.microsoft.com/office/powerpoint/2010/main" val="314184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EEA3-C5F7-178F-99BF-060F1197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/>
          <a:lstStyle/>
          <a:p>
            <a:r>
              <a:rPr lang="en-IN" dirty="0"/>
              <a:t>PHP Variables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4E4BF-CADA-AA9A-1210-B703B5925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99" y="777922"/>
            <a:ext cx="8944338" cy="4471869"/>
          </a:xfrm>
        </p:spPr>
        <p:txBody>
          <a:bodyPr>
            <a:noAutofit/>
          </a:bodyPr>
          <a:lstStyle/>
          <a:p>
            <a:pPr algn="just"/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PHP, variables can be declared anywhere in the script.</a:t>
            </a:r>
          </a:p>
          <a:p>
            <a:pPr algn="just"/>
            <a:endParaRPr lang="en-US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a variable is the part of the script where the variable can be referenced/used.</a:t>
            </a:r>
          </a:p>
          <a:p>
            <a:pPr algn="just"/>
            <a:endParaRPr lang="en-US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has three different variable scopes: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62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AB60-45E3-75D6-A7DE-2EF5FCC2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209" y="152825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/>
              <a:t>Local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B0AD-C915-32B2-3755-585058E8D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27206"/>
            <a:ext cx="5137323" cy="196451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declared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function has a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can only be accessed within that function.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8BAB6-ACA1-A934-C1A4-5CD9DE10B184}"/>
              </a:ext>
            </a:extLst>
          </p:cNvPr>
          <p:cNvSpPr txBox="1"/>
          <p:nvPr/>
        </p:nvSpPr>
        <p:spPr>
          <a:xfrm>
            <a:off x="429614" y="1270000"/>
            <a:ext cx="5466219" cy="4893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$x = 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local scope</a:t>
            </a:r>
            <a:b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"&lt;p&gt;Variable x inside function is: $x&lt;/p&gt;"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using x outside the function will generate an error</a:t>
            </a:r>
            <a:b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"&lt;p&gt;Variable x outside function is: $x&lt;/p&gt;"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8579A5-46AE-D347-00FF-739E5A3CB0CF}"/>
              </a:ext>
            </a:extLst>
          </p:cNvPr>
          <p:cNvSpPr txBox="1"/>
          <p:nvPr/>
        </p:nvSpPr>
        <p:spPr>
          <a:xfrm>
            <a:off x="6096000" y="3181446"/>
            <a:ext cx="423535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pPr algn="l"/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x inside function is: 5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x outside function is: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FC330-6BAE-B9CA-AC05-B4C146693141}"/>
              </a:ext>
            </a:extLst>
          </p:cNvPr>
          <p:cNvSpPr txBox="1"/>
          <p:nvPr/>
        </p:nvSpPr>
        <p:spPr>
          <a:xfrm>
            <a:off x="6096000" y="5040827"/>
            <a:ext cx="56663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One can have local variables with the same name in different functions, because local variables are only recognized by the function in which they are declared.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4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7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EEA3-C5F7-178F-99BF-060F1197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82" y="128875"/>
            <a:ext cx="8596668" cy="1320800"/>
          </a:xfrm>
        </p:spPr>
        <p:txBody>
          <a:bodyPr/>
          <a:lstStyle/>
          <a:p>
            <a:r>
              <a:rPr lang="en-IN" b="1" dirty="0"/>
              <a:t>Global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4E4BF-CADA-AA9A-1210-B703B5925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614" y="1296538"/>
            <a:ext cx="4982547" cy="21324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declared outside a function has a </a:t>
            </a:r>
            <a:r>
              <a:rPr lang="en-US" sz="28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can only be accessed outside a function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C5E38-DF7B-F2AA-8DB7-48D6B89715DC}"/>
              </a:ext>
            </a:extLst>
          </p:cNvPr>
          <p:cNvSpPr txBox="1"/>
          <p:nvPr/>
        </p:nvSpPr>
        <p:spPr>
          <a:xfrm>
            <a:off x="445812" y="897919"/>
            <a:ext cx="4899752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2400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$x = </a:t>
            </a:r>
            <a:r>
              <a:rPr lang="en-IN" sz="24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24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global scope</a:t>
            </a:r>
            <a:br>
              <a:rPr lang="en-IN" sz="24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using x inside this function will generate an error</a:t>
            </a:r>
            <a:br>
              <a:rPr lang="en-IN" sz="2400" b="1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"&lt;p&gt;Variable x inside function is: $x&lt;/p&gt;"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"&lt;p&gt;Variable x outside function is: $x&lt;/p&gt;"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2400" b="1" dirty="0"/>
              <a:t/>
            </a:r>
            <a:br>
              <a:rPr lang="en-IN" sz="2400" b="1" dirty="0"/>
            </a:br>
            <a:r>
              <a:rPr lang="en-IN" sz="24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30632-EE4D-99D9-A7FC-14D12C8B1306}"/>
              </a:ext>
            </a:extLst>
          </p:cNvPr>
          <p:cNvSpPr txBox="1"/>
          <p:nvPr/>
        </p:nvSpPr>
        <p:spPr>
          <a:xfrm>
            <a:off x="5468615" y="3615341"/>
            <a:ext cx="4982547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 x inside function is: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 x outside function is: 5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23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D968-6626-8B63-8129-E7DC7DBA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89" y="227463"/>
            <a:ext cx="8596668" cy="1320800"/>
          </a:xfrm>
        </p:spPr>
        <p:txBody>
          <a:bodyPr/>
          <a:lstStyle/>
          <a:p>
            <a:r>
              <a:rPr lang="en-IN" dirty="0"/>
              <a:t>Global Keyword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D9F0504-A92A-2431-89C4-63A7C6F3A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689" y="1407785"/>
            <a:ext cx="6201235" cy="26776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keyword is used to access a global variable from within a function.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do this, use 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keyword before the variables (inside the function):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1D416-530E-1970-4BE6-E855BE11E821}"/>
              </a:ext>
            </a:extLst>
          </p:cNvPr>
          <p:cNvSpPr txBox="1"/>
          <p:nvPr/>
        </p:nvSpPr>
        <p:spPr>
          <a:xfrm>
            <a:off x="6801952" y="1407785"/>
            <a:ext cx="4288809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s-ES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$x = 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$y = 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s-E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$x, $y;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$y = $x + $y;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s-ES" sz="2400" dirty="0"/>
              <a:t/>
            </a:r>
            <a:br>
              <a:rPr lang="es-ES" sz="2400" dirty="0"/>
            </a:br>
            <a:r>
              <a:rPr lang="es-E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$y; </a:t>
            </a:r>
            <a:r>
              <a:rPr lang="es-E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 15</a:t>
            </a:r>
            <a:br>
              <a:rPr lang="es-E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s-E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8606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24AF-CB1C-AD88-F042-4273C30F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40" y="149031"/>
            <a:ext cx="8596668" cy="1320800"/>
          </a:xfrm>
        </p:spPr>
        <p:txBody>
          <a:bodyPr/>
          <a:lstStyle/>
          <a:p>
            <a:r>
              <a:rPr lang="en-IN" dirty="0"/>
              <a:t>Static Keyword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61960E-680E-ADA2-1C55-1F2D3C4F16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616" y="1377498"/>
            <a:ext cx="8807861" cy="501675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Normally, when a function is completed/executed, all of its variables are deleted.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sometimes we want a local variable NOT to be deleted.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need it for a further job.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do this, use the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keyword when you first declare the variable.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14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24AF-CB1C-AD88-F042-4273C30F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40" y="149031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/>
              <a:t>Static Keyword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26563-2F2F-089F-FA50-9AF22E357634}"/>
              </a:ext>
            </a:extLst>
          </p:cNvPr>
          <p:cNvSpPr txBox="1"/>
          <p:nvPr/>
        </p:nvSpPr>
        <p:spPr>
          <a:xfrm>
            <a:off x="612508" y="1037346"/>
            <a:ext cx="4928483" cy="5509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32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$x = 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$x;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$x++;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myTest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B0F57-8C9D-E0E3-5C95-318DE81A32C7}"/>
              </a:ext>
            </a:extLst>
          </p:cNvPr>
          <p:cNvSpPr txBox="1"/>
          <p:nvPr/>
        </p:nvSpPr>
        <p:spPr>
          <a:xfrm>
            <a:off x="6541829" y="2167116"/>
            <a:ext cx="1583140" cy="25237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Output:</a:t>
            </a:r>
          </a:p>
          <a:p>
            <a:endParaRPr lang="en-IN" sz="2800" dirty="0"/>
          </a:p>
          <a:p>
            <a:r>
              <a:rPr lang="en-IN" sz="2800" dirty="0"/>
              <a:t>0</a:t>
            </a:r>
          </a:p>
          <a:p>
            <a:r>
              <a:rPr lang="en-IN" sz="2800" dirty="0"/>
              <a:t>1</a:t>
            </a:r>
          </a:p>
          <a:p>
            <a:r>
              <a:rPr lang="en-IN" sz="2800" dirty="0"/>
              <a:t>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4E126-3614-C57A-8786-8D9C8F02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31" y="167742"/>
            <a:ext cx="8835156" cy="1320800"/>
          </a:xfrm>
        </p:spPr>
        <p:txBody>
          <a:bodyPr/>
          <a:lstStyle/>
          <a:p>
            <a:pPr algn="just"/>
            <a:r>
              <a:rPr lang="en-IN" b="1" dirty="0"/>
              <a:t>PHP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C1BB6-4AA1-4D33-5DD7-C86492F35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3" y="1270000"/>
            <a:ext cx="9189997" cy="521602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Constants are like variables except that once they are defined they cannot be changed or undefined.</a:t>
            </a:r>
          </a:p>
          <a:p>
            <a:pPr algn="just"/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onstant is an identifier (name) for a simple value. The value cannot be changed during the script.</a:t>
            </a:r>
          </a:p>
          <a:p>
            <a:pPr algn="just"/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valid constant name starts with a letter or underscore (no $ sign before the constant name).</a:t>
            </a:r>
          </a:p>
          <a:p>
            <a:pPr algn="just"/>
            <a:endParaRPr lang="en-US" sz="32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variables, constants are automatically global across the entire script.</a:t>
            </a:r>
            <a:r>
              <a:rPr lang="en-US" b="1" dirty="0"/>
              <a:t/>
            </a:r>
            <a:br>
              <a:rPr lang="en-US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69453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A125-0EAE-9C56-9C2C-BBE1D545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PHP Constant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CD81F-C990-AED6-9116-D62993EEE6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0198" y="1450762"/>
            <a:ext cx="8321252" cy="5847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constant, use 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define()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function.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38756-609C-9216-B3CB-C961EE80422D}"/>
              </a:ext>
            </a:extLst>
          </p:cNvPr>
          <p:cNvSpPr txBox="1"/>
          <p:nvPr/>
        </p:nvSpPr>
        <p:spPr>
          <a:xfrm>
            <a:off x="677333" y="2245352"/>
            <a:ext cx="610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809CF-D467-BB8F-1752-9BAD299F1C61}"/>
              </a:ext>
            </a:extLst>
          </p:cNvPr>
          <p:cNvSpPr txBox="1"/>
          <p:nvPr/>
        </p:nvSpPr>
        <p:spPr>
          <a:xfrm>
            <a:off x="677333" y="2959020"/>
            <a:ext cx="723103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define(</a:t>
            </a: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case-insensitive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A7E8B-3583-8552-4207-7F03D0319038}"/>
              </a:ext>
            </a:extLst>
          </p:cNvPr>
          <p:cNvSpPr txBox="1"/>
          <p:nvPr/>
        </p:nvSpPr>
        <p:spPr>
          <a:xfrm>
            <a:off x="642490" y="3804216"/>
            <a:ext cx="859666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 algn="l"/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Specifies the name of the constant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Specifies the value of the constant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case-insensitive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Specifies whether the constant name should be case-insensitive. Default is false</a:t>
            </a:r>
          </a:p>
        </p:txBody>
      </p:sp>
    </p:spTree>
    <p:extLst>
      <p:ext uri="{BB962C8B-B14F-4D97-AF65-F5344CB8AC3E}">
        <p14:creationId xmlns:p14="http://schemas.microsoft.com/office/powerpoint/2010/main" val="4165423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A125-0EAE-9C56-9C2C-BBE1D545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3" y="202526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/>
              <a:t>Create a PHP Constant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F9ECA-0811-A32E-D774-59C3876914AC}"/>
              </a:ext>
            </a:extLst>
          </p:cNvPr>
          <p:cNvSpPr txBox="1"/>
          <p:nvPr/>
        </p:nvSpPr>
        <p:spPr>
          <a:xfrm>
            <a:off x="677333" y="1392495"/>
            <a:ext cx="5054727" cy="5693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//case-sensitive constant name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define("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Web_Technology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"I am learning PHP");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Web_Technology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13F70-9B3F-BEAA-5DCD-19E692B8D51D}"/>
              </a:ext>
            </a:extLst>
          </p:cNvPr>
          <p:cNvSpPr txBox="1"/>
          <p:nvPr/>
        </p:nvSpPr>
        <p:spPr>
          <a:xfrm>
            <a:off x="5959521" y="2174686"/>
            <a:ext cx="368944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3200" b="0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I am learning PHP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62EAAC-BC6C-3A3A-5909-60A54948A59C}"/>
              </a:ext>
            </a:extLst>
          </p:cNvPr>
          <p:cNvCxnSpPr>
            <a:cxnSpLocks/>
          </p:cNvCxnSpPr>
          <p:nvPr/>
        </p:nvCxnSpPr>
        <p:spPr>
          <a:xfrm>
            <a:off x="3671249" y="4390113"/>
            <a:ext cx="3302757" cy="7960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9DB0F0-0E8E-A327-325C-2ED9FED48F82}"/>
              </a:ext>
            </a:extLst>
          </p:cNvPr>
          <p:cNvSpPr txBox="1"/>
          <p:nvPr/>
        </p:nvSpPr>
        <p:spPr>
          <a:xfrm>
            <a:off x="6359857" y="5186148"/>
            <a:ext cx="26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Constant</a:t>
            </a:r>
          </a:p>
        </p:txBody>
      </p:sp>
    </p:spTree>
    <p:extLst>
      <p:ext uri="{BB962C8B-B14F-4D97-AF65-F5344CB8AC3E}">
        <p14:creationId xmlns:p14="http://schemas.microsoft.com/office/powerpoint/2010/main" val="3845824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A125-0EAE-9C56-9C2C-BBE1D545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3" y="202526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/>
              <a:t>Create a PHP Constant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13F70-9B3F-BEAA-5DCD-19E692B8D51D}"/>
              </a:ext>
            </a:extLst>
          </p:cNvPr>
          <p:cNvSpPr txBox="1"/>
          <p:nvPr/>
        </p:nvSpPr>
        <p:spPr>
          <a:xfrm>
            <a:off x="5959521" y="2174686"/>
            <a:ext cx="418076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3200" b="0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WEB_TECHNOLOGY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9DB0F0-0E8E-A327-325C-2ED9FED48F82}"/>
              </a:ext>
            </a:extLst>
          </p:cNvPr>
          <p:cNvSpPr txBox="1"/>
          <p:nvPr/>
        </p:nvSpPr>
        <p:spPr>
          <a:xfrm>
            <a:off x="6359857" y="5186148"/>
            <a:ext cx="2634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Constant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4AF69-3D95-5357-E48D-7413E210C6D2}"/>
              </a:ext>
            </a:extLst>
          </p:cNvPr>
          <p:cNvSpPr txBox="1"/>
          <p:nvPr/>
        </p:nvSpPr>
        <p:spPr>
          <a:xfrm>
            <a:off x="499913" y="964952"/>
            <a:ext cx="5163908" cy="5693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case-insensitive constant name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define("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Web_Technology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"I am learning PHP",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WEB_TECHNOLOGY;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 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A77282-7A59-7E5D-F659-9EF48E5DE90B}"/>
              </a:ext>
            </a:extLst>
          </p:cNvPr>
          <p:cNvCxnSpPr>
            <a:cxnSpLocks/>
          </p:cNvCxnSpPr>
          <p:nvPr/>
        </p:nvCxnSpPr>
        <p:spPr>
          <a:xfrm>
            <a:off x="4289947" y="3998793"/>
            <a:ext cx="2738650" cy="1282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486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03B2-4889-F978-E13A-1471AB69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07" y="295701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/>
              <a:t>Constants are global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0207-7DBB-7213-8B21-BB7C3FE4F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07" y="1106831"/>
            <a:ext cx="10906030" cy="69467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Constants are automatically global and can be used across the entire script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DE935-F94C-1893-16DD-052A0517D7D0}"/>
              </a:ext>
            </a:extLst>
          </p:cNvPr>
          <p:cNvSpPr txBox="1"/>
          <p:nvPr/>
        </p:nvSpPr>
        <p:spPr>
          <a:xfrm>
            <a:off x="448907" y="1853318"/>
            <a:ext cx="6813644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define("BCA", "I am a student of BCA Third Year");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myTest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BCA;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myTest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24BB3-DD13-60A6-78C9-626B94CDAA58}"/>
              </a:ext>
            </a:extLst>
          </p:cNvPr>
          <p:cNvSpPr txBox="1"/>
          <p:nvPr/>
        </p:nvSpPr>
        <p:spPr>
          <a:xfrm>
            <a:off x="7368843" y="3007479"/>
            <a:ext cx="461389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 am a student of BCA Third Year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28754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93B2-A160-EF3A-E6AE-0F341547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04" y="202488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C0BA-AA68-1616-9075-0CCBF02E3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04" y="1009934"/>
            <a:ext cx="9558487" cy="564557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Operators are used to perform operations on variables and values.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divides the operators into the following groups: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Increment/Decrement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 operators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assignment operators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5244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F932-8E5A-ADE3-2F4F-969A57B0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21" y="179390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5A08-6756-2696-66E7-B8BEC9541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94381"/>
            <a:ext cx="8596668" cy="1320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arithmetic operators are used with numeric values to perform common arithmetical operations, such as addition, subtraction, multiplication etc.</a:t>
            </a:r>
            <a:endParaRPr lang="en-IN" sz="2800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1C00D-EBF1-C0BA-06DC-9A16F8CC7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374710"/>
            <a:ext cx="8596668" cy="42581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684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4033" name="Rectangle 1"/>
          <p:cNvSpPr>
            <a:spLocks noChangeArrowheads="1"/>
          </p:cNvSpPr>
          <p:nvPr/>
        </p:nvSpPr>
        <p:spPr bwMode="auto">
          <a:xfrm>
            <a:off x="908958" y="40749"/>
            <a:ext cx="6036128" cy="6817251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&lt;html&gt;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&lt;head&gt;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&lt;title&gt;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Arithmetical Operators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&lt;/title&gt;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/head&gt;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&lt;body&gt;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&lt;?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php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ar(--bs-font-monospace)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var(--bs-font-monospace)"/>
                <a:cs typeface="Arial" pitchFamily="34" charset="0"/>
              </a:rPr>
              <a:t>42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$b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var(--bs-font-monospace)"/>
                <a:cs typeface="Arial" pitchFamily="34" charset="0"/>
              </a:rPr>
              <a:t>20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+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$b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Addtion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-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$b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Substraction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*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$b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"Multiplication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/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$b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"Division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%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$b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"Modulus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++;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"Increment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$c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$a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--;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echo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"Decrement Operation Result: $c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br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var(--bs-font-monospace)"/>
                <a:cs typeface="Arial" pitchFamily="34" charset="0"/>
              </a:rPr>
              <a:t>/&gt;"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  <a:cs typeface="Arial" pitchFamily="34" charset="0"/>
              </a:rPr>
              <a:t>?&gt;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&lt;/body&gt;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  <a:cs typeface="Arial" pitchFamily="34" charset="0"/>
              </a:rPr>
              <a:t>&lt;/html&gt;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5C0E-EDF3-B623-0152-925B1C7C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5235"/>
            <a:ext cx="8596668" cy="866586"/>
          </a:xfrm>
        </p:spPr>
        <p:txBody>
          <a:bodyPr>
            <a:normAutofit fontScale="90000"/>
          </a:bodyPr>
          <a:lstStyle/>
          <a:p>
            <a:r>
              <a:rPr lang="en-IN" sz="4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Assignment Operators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/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1F6A-B93C-009A-6A1F-1B8F2D6AD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51" y="841960"/>
            <a:ext cx="8596668" cy="2511188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assignment operators are used with numeric values to write a value to a variable.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basic assignment operator in PHP is "=". It means that the left operand gets set to the value of the assignment expression on the right.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6EBD6-8867-35F9-EE4C-08E12DE1F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975212"/>
            <a:ext cx="8596667" cy="3674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2148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5C0E-EDF3-B623-0152-925B1C7C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5235"/>
            <a:ext cx="8596668" cy="866586"/>
          </a:xfrm>
        </p:spPr>
        <p:txBody>
          <a:bodyPr>
            <a:normAutofit fontScale="90000"/>
          </a:bodyPr>
          <a:lstStyle/>
          <a:p>
            <a:r>
              <a:rPr lang="en-IN" sz="4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Assignment Operators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/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1F6A-B93C-009A-6A1F-1B8F2D6AD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51" y="841960"/>
            <a:ext cx="8596668" cy="2511188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assignment operators are used with numeric values to write a value to a variable.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basic assignment operator in PHP is "=". It means that the left operand gets set to the value of the assignment expression on the right.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6EBD6-8867-35F9-EE4C-08E12DE1F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975212"/>
            <a:ext cx="8596667" cy="3674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54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5C0E-EDF3-B623-0152-925B1C7C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5235"/>
            <a:ext cx="8596668" cy="866586"/>
          </a:xfrm>
        </p:spPr>
        <p:txBody>
          <a:bodyPr>
            <a:normAutofit fontScale="90000"/>
          </a:bodyPr>
          <a:lstStyle/>
          <a:p>
            <a:r>
              <a:rPr lang="en-IN" sz="3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Comparison Operators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/>
            </a:r>
            <a:br>
              <a:rPr lang="en-IN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/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1F6A-B93C-009A-6A1F-1B8F2D6AD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82" y="658528"/>
            <a:ext cx="8596668" cy="2511188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PHP comparison operators are used to compare two values (number or string):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D1837E-CA49-C62E-16CA-79888DCCF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5719"/>
            <a:ext cx="8862451" cy="52270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76729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3273-D0DE-F474-FF68-189CC89E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0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Increment / Decrement Operators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B5DEB-DB33-D4B7-8472-0135E44D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6" y="956350"/>
            <a:ext cx="9162703" cy="3880773"/>
          </a:xfrm>
        </p:spPr>
        <p:txBody>
          <a:bodyPr/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increment operators are used to increment a variable's value.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decrement operators are used to decrement a variable's value.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AB767-67CF-0F3F-8354-613B00FD2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08" y="2896735"/>
            <a:ext cx="8766917" cy="34631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10256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EB6D-6898-B5BB-A658-606820ED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BC21B-1E81-EDA2-E978-EEDA98EFC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4777"/>
            <a:ext cx="9285532" cy="4676586"/>
          </a:xfrm>
        </p:spPr>
        <p:txBody>
          <a:bodyPr/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logical operators are used to combine conditional statements.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8EFEBA-6BDC-AFE5-CD5F-779841B26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66" y="2333767"/>
            <a:ext cx="8343836" cy="42990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9010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D6CD-4BE9-AB6A-47B1-ABC9858D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Operators</a:t>
            </a:r>
            <a:br>
              <a:rPr lang="en-IN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A767-5A68-49B9-A8ED-23DF0CDB3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26" y="1379182"/>
            <a:ext cx="10391002" cy="3880773"/>
          </a:xfrm>
        </p:spPr>
        <p:txBody>
          <a:bodyPr/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has two operators that are specially designed for strings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92F1B-F647-2FBF-7E54-6EA38729F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62" y="2381944"/>
            <a:ext cx="8038531" cy="30968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5974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2">
            <a:lum bright="-33000" contrast="75000"/>
          </a:blip>
          <a:srcRect/>
          <a:stretch>
            <a:fillRect/>
          </a:stretch>
        </p:blipFill>
        <p:spPr bwMode="auto">
          <a:xfrm>
            <a:off x="2203969" y="1652815"/>
            <a:ext cx="6465369" cy="3068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CE0D-9943-425E-8B78-FC9A00DB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73" y="93764"/>
            <a:ext cx="8596668" cy="1320800"/>
          </a:xfrm>
        </p:spPr>
        <p:txBody>
          <a:bodyPr>
            <a:normAutofit/>
          </a:bodyPr>
          <a:lstStyle/>
          <a:p>
            <a:r>
              <a:rPr lang="en-IN" sz="5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Array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556A-F231-7C1B-4EBB-02AA2BE4B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73" y="1038237"/>
            <a:ext cx="9654021" cy="3880773"/>
          </a:xfrm>
        </p:spPr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array operators are used to compare arrays.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FF529-2082-A9EC-AC4C-CDBF6E230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883391"/>
            <a:ext cx="8807859" cy="4763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96801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DD5E-1D8D-DE85-4556-473B1EF7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544839" cy="1320800"/>
          </a:xfrm>
        </p:spPr>
        <p:txBody>
          <a:bodyPr>
            <a:noAutofit/>
          </a:bodyPr>
          <a:lstStyle/>
          <a:p>
            <a:r>
              <a:rPr lang="en-IN" sz="4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Conditional 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DDF8F-D175-3452-7201-5CE66E12A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9493"/>
            <a:ext cx="9544839" cy="4471870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 conditional assignment operators are used to set a value depending on conditions: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1BE2F-9392-07B3-6E86-E782F99B0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2470245"/>
            <a:ext cx="8698679" cy="39851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5351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C022-BA4C-5AED-9F4B-1BEDB142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76" y="76200"/>
            <a:ext cx="8998929" cy="1320800"/>
          </a:xfrm>
        </p:spPr>
        <p:txBody>
          <a:bodyPr>
            <a:noAutofit/>
          </a:bodyPr>
          <a:lstStyle/>
          <a:p>
            <a:r>
              <a:rPr lang="en-IN" sz="4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Strings</a:t>
            </a:r>
            <a:br>
              <a:rPr lang="en-IN" sz="4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6503-3747-DC64-DB58-9D813B494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51857"/>
            <a:ext cx="8998929" cy="4789506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PHP string is a sequence of characters i.e., used to store and manipulate text. </a:t>
            </a:r>
          </a:p>
          <a:p>
            <a:pPr algn="just"/>
            <a:endParaRPr lang="en-US" sz="32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3200" b="0" i="0" dirty="0">
                <a:solidFill>
                  <a:srgbClr val="333333"/>
                </a:solidFill>
                <a:effectLst/>
                <a:latin typeface="inter-regular"/>
              </a:rPr>
              <a:t>There are 4 ways to specify a string literal in PHP.</a:t>
            </a:r>
          </a:p>
          <a:p>
            <a:pPr algn="just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-regular"/>
              </a:rPr>
              <a:t>single quoted</a:t>
            </a:r>
          </a:p>
          <a:p>
            <a:pPr algn="just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-regular"/>
              </a:rPr>
              <a:t>double quoted</a:t>
            </a:r>
          </a:p>
          <a:p>
            <a:pPr algn="just">
              <a:buFont typeface="+mj-lt"/>
              <a:buAutoNum type="arabicPeriod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-regular"/>
              </a:rPr>
              <a:t>heredoc syntax</a:t>
            </a:r>
          </a:p>
          <a:p>
            <a:pPr algn="just">
              <a:buFont typeface="+mj-lt"/>
              <a:buAutoNum type="arabicPeriod"/>
            </a:pPr>
            <a:r>
              <a:rPr lang="en-US" sz="3200" b="0" i="0" dirty="0" err="1">
                <a:solidFill>
                  <a:srgbClr val="000000"/>
                </a:solidFill>
                <a:effectLst/>
                <a:latin typeface="inter-regular"/>
              </a:rPr>
              <a:t>newdoc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ter-regular"/>
              </a:rPr>
              <a:t> syntax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618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9D54-A2AC-83DF-7A26-CDB28CD3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562" y="163285"/>
            <a:ext cx="8596668" cy="1320800"/>
          </a:xfrm>
        </p:spPr>
        <p:txBody>
          <a:bodyPr/>
          <a:lstStyle/>
          <a:p>
            <a:r>
              <a:rPr lang="en-I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 Strings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A3EC-D91E-F1A1-4C88-EE568AFE6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787" y="947057"/>
            <a:ext cx="9301842" cy="568234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b="1" i="0" dirty="0">
                <a:solidFill>
                  <a:srgbClr val="610B38"/>
                </a:solidFill>
                <a:effectLst/>
                <a:latin typeface="erdana"/>
              </a:rPr>
              <a:t>Single Quoted</a:t>
            </a: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A string in PHP can be created by enclosing the text in a single-quote.</a:t>
            </a:r>
          </a:p>
          <a:p>
            <a:pPr algn="just"/>
            <a:endParaRPr lang="en-US" sz="24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 It is the easiest way to specify string in PHP.</a:t>
            </a:r>
          </a:p>
          <a:p>
            <a:pPr marL="0" indent="0" algn="just">
              <a:buNone/>
            </a:pPr>
            <a:endParaRPr lang="en-US" sz="24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For specifying a literal single quote, escape it with a backslash (\) and to specify a literal backslash (\) use double backslash (\\). </a:t>
            </a:r>
          </a:p>
          <a:p>
            <a:pPr algn="just"/>
            <a:endParaRPr lang="en-US" sz="2400" b="1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inter-regular"/>
              </a:rPr>
              <a:t>All the other instances with backslash such as \r or \n, will be output same as they specified instead of having any special meaning.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505074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A6A4-8F55-C155-2063-9285095A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0EDC-1C9C-44DC-064A-DEC35D0BD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4" y="1550989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Double Quoted</a:t>
            </a:r>
          </a:p>
          <a:p>
            <a:pPr marL="0" indent="0">
              <a:buNone/>
            </a:pPr>
            <a:endParaRPr lang="en-US" sz="28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In PHP, we can specify string through enclosing text within double quote also. </a:t>
            </a: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But escape sequences and variables will be interpreted using double quote PHP strings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88571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A6A4-8F55-C155-2063-9285095A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77" y="103414"/>
            <a:ext cx="8596668" cy="1320800"/>
          </a:xfrm>
        </p:spPr>
        <p:txBody>
          <a:bodyPr/>
          <a:lstStyle/>
          <a:p>
            <a:r>
              <a:rPr lang="en-IN" dirty="0"/>
              <a:t>PHP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0EDC-1C9C-44DC-064A-DEC35D0BD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847" y="892403"/>
            <a:ext cx="8956523" cy="494778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dirty="0">
                <a:solidFill>
                  <a:srgbClr val="610B38"/>
                </a:solidFill>
                <a:effectLst/>
                <a:latin typeface="erdana"/>
              </a:rPr>
              <a:t>Heredoc</a:t>
            </a: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inter-regular"/>
              </a:rPr>
              <a:t>Heredoc syntax (&lt;&lt;&lt;) is the third way to delimit strings.</a:t>
            </a: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inter-regular"/>
              </a:rPr>
              <a:t>In Heredoc syntax, an identifier is provided after this heredoc &lt;&lt;&lt; operator, and immediately a new line is started to write any text.</a:t>
            </a: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inter-regular"/>
              </a:rPr>
              <a:t>To close the quotation, the string follows itself and then again that same identifier is provided.</a:t>
            </a: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inter-regular"/>
              </a:rPr>
              <a:t> That closing identifier must begin from the new line without any whitespace or tab.</a:t>
            </a:r>
            <a:br>
              <a:rPr lang="en-US" sz="2800" b="1" i="0" dirty="0">
                <a:solidFill>
                  <a:srgbClr val="333333"/>
                </a:solidFill>
                <a:effectLst/>
                <a:latin typeface="inter-regular"/>
              </a:rPr>
            </a:br>
            <a:endParaRPr lang="en-US" sz="2800" b="1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71912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A6A4-8F55-C155-2063-9285095A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77" y="103414"/>
            <a:ext cx="8596668" cy="1320800"/>
          </a:xfrm>
        </p:spPr>
        <p:txBody>
          <a:bodyPr/>
          <a:lstStyle/>
          <a:p>
            <a:r>
              <a:rPr lang="en-IN" dirty="0"/>
              <a:t>PHP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0EDC-1C9C-44DC-064A-DEC35D0BD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90" y="990601"/>
            <a:ext cx="8956523" cy="549184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b="0" i="0" dirty="0" err="1">
                <a:solidFill>
                  <a:srgbClr val="610B38"/>
                </a:solidFill>
                <a:effectLst/>
                <a:latin typeface="erdana"/>
              </a:rPr>
              <a:t>Newdoc</a:t>
            </a:r>
            <a:endParaRPr lang="en-US" sz="2800" b="0" i="0" dirty="0">
              <a:solidFill>
                <a:srgbClr val="610B38"/>
              </a:solidFill>
              <a:effectLst/>
              <a:latin typeface="erdana"/>
            </a:endParaRPr>
          </a:p>
          <a:p>
            <a:pPr algn="just"/>
            <a:r>
              <a:rPr lang="en-US" sz="2800" b="0" i="0" dirty="0" err="1">
                <a:solidFill>
                  <a:srgbClr val="333333"/>
                </a:solidFill>
                <a:effectLst/>
                <a:latin typeface="inter-regular"/>
              </a:rPr>
              <a:t>Newdoc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is similar to the heredoc.</a:t>
            </a:r>
          </a:p>
          <a:p>
            <a:pPr algn="just"/>
            <a:endParaRPr lang="en-US" sz="28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It is also identified with three less than symbols &lt;&lt;&lt; followed by an identifier.</a:t>
            </a:r>
          </a:p>
          <a:p>
            <a:pPr algn="just"/>
            <a:endParaRPr lang="en-US" sz="28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But here identifier is enclosed in single-quote, 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inter-bold"/>
              </a:rPr>
              <a:t>e.g. &lt;&lt;&lt;'EXP'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inter-regular"/>
              </a:rPr>
              <a:t>Newdoc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follows the same rule as heredocs.</a:t>
            </a:r>
          </a:p>
          <a:p>
            <a:pPr marL="0" indent="0" algn="just">
              <a:buNone/>
            </a:pPr>
            <a:endParaRPr lang="en-US" sz="28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The difference between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inter-regular"/>
              </a:rPr>
              <a:t>newdoc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and heredoc is that -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inter-regular"/>
              </a:rPr>
              <a:t>Newdoc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is a 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inter-bold"/>
              </a:rPr>
              <a:t>single-quoted string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 whereas heredoc is a 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inter-bold"/>
              </a:rPr>
              <a:t>double-quoted string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68357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21C7-93EE-285C-D581-1337CD08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86" y="0"/>
            <a:ext cx="8596668" cy="1320800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Functions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505B-1CBB-3476-9517-13048B39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4" y="778930"/>
            <a:ext cx="9312826" cy="3880773"/>
          </a:xfrm>
        </p:spPr>
        <p:txBody>
          <a:bodyPr>
            <a:normAutofit/>
          </a:bodyPr>
          <a:lstStyle/>
          <a:p>
            <a:r>
              <a:rPr lang="en-US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- Return the Length of a String</a:t>
            </a:r>
          </a:p>
          <a:p>
            <a:pPr lvl="1"/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 </a:t>
            </a: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 returns the length of a string</a:t>
            </a:r>
            <a:endParaRPr lang="en-US" sz="3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81927-DE15-A9A8-26BA-4B09FCC2B0EE}"/>
              </a:ext>
            </a:extLst>
          </p:cNvPr>
          <p:cNvSpPr txBox="1"/>
          <p:nvPr/>
        </p:nvSpPr>
        <p:spPr>
          <a:xfrm>
            <a:off x="815453" y="2293418"/>
            <a:ext cx="4889311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&lt;!DOCTYPE html&gt;</a:t>
            </a:r>
          </a:p>
          <a:p>
            <a:r>
              <a:rPr lang="en-IN" sz="2400" dirty="0"/>
              <a:t>&lt;html&gt;</a:t>
            </a:r>
          </a:p>
          <a:p>
            <a:r>
              <a:rPr lang="en-IN" sz="2400" dirty="0"/>
              <a:t>&lt;body&gt;</a:t>
            </a:r>
          </a:p>
          <a:p>
            <a:endParaRPr lang="en-IN" sz="2400" dirty="0"/>
          </a:p>
          <a:p>
            <a:r>
              <a:rPr lang="en-IN" sz="2400" dirty="0"/>
              <a:t>&lt;?</a:t>
            </a:r>
            <a:r>
              <a:rPr lang="en-IN" sz="2400" dirty="0" err="1"/>
              <a:t>php</a:t>
            </a:r>
            <a:endParaRPr lang="en-IN" sz="2400" dirty="0"/>
          </a:p>
          <a:p>
            <a:r>
              <a:rPr lang="en-IN" sz="2400" dirty="0"/>
              <a:t>echo </a:t>
            </a:r>
            <a:r>
              <a:rPr lang="en-IN" sz="2400" dirty="0" err="1"/>
              <a:t>strlen</a:t>
            </a:r>
            <a:r>
              <a:rPr lang="en-IN" sz="2400" dirty="0"/>
              <a:t>("Hello world!");</a:t>
            </a:r>
          </a:p>
          <a:p>
            <a:r>
              <a:rPr lang="en-IN" sz="2400" dirty="0"/>
              <a:t>?&gt; </a:t>
            </a:r>
          </a:p>
          <a:p>
            <a:r>
              <a:rPr lang="en-IN" sz="2400" dirty="0"/>
              <a:t> </a:t>
            </a:r>
          </a:p>
          <a:p>
            <a:r>
              <a:rPr lang="en-IN" sz="2400" dirty="0"/>
              <a:t>&lt;/body&gt;</a:t>
            </a:r>
          </a:p>
          <a:p>
            <a:r>
              <a:rPr lang="en-IN" sz="2400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4DAA2-B1C2-B248-87C1-B243426E524E}"/>
              </a:ext>
            </a:extLst>
          </p:cNvPr>
          <p:cNvSpPr txBox="1"/>
          <p:nvPr/>
        </p:nvSpPr>
        <p:spPr>
          <a:xfrm>
            <a:off x="6759054" y="2805585"/>
            <a:ext cx="1497842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3200" b="0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12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3965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21C7-93EE-285C-D581-1337CD08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86" y="0"/>
            <a:ext cx="8596668" cy="1320800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Functions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505B-1CBB-3476-9517-13048B39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4" y="778930"/>
            <a:ext cx="10036158" cy="3880773"/>
          </a:xfrm>
        </p:spPr>
        <p:txBody>
          <a:bodyPr>
            <a:normAutofit/>
          </a:bodyPr>
          <a:lstStyle/>
          <a:p>
            <a:pPr algn="l"/>
            <a:r>
              <a:rPr lang="en-US" sz="4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str_word_count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- Count Words in a String</a:t>
            </a:r>
          </a:p>
          <a:p>
            <a:pPr lvl="1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PHP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str_word_count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function counts the number of words in a string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81927-DE15-A9A8-26BA-4B09FCC2B0EE}"/>
              </a:ext>
            </a:extLst>
          </p:cNvPr>
          <p:cNvSpPr txBox="1"/>
          <p:nvPr/>
        </p:nvSpPr>
        <p:spPr>
          <a:xfrm>
            <a:off x="815453" y="2293418"/>
            <a:ext cx="4889311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&lt;!DOCTYPE html&gt;</a:t>
            </a:r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&lt;body&gt;</a:t>
            </a:r>
          </a:p>
          <a:p>
            <a:endParaRPr lang="en-US" sz="2400" dirty="0"/>
          </a:p>
          <a:p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r>
              <a:rPr lang="en-US" sz="2400" dirty="0"/>
              <a:t>echo </a:t>
            </a:r>
            <a:r>
              <a:rPr lang="en-US" sz="2400" dirty="0" err="1"/>
              <a:t>str_word_count</a:t>
            </a:r>
            <a:r>
              <a:rPr lang="en-US" sz="2400" dirty="0"/>
              <a:t>("Hello world!");</a:t>
            </a:r>
          </a:p>
          <a:p>
            <a:r>
              <a:rPr lang="en-US" sz="2400" dirty="0"/>
              <a:t>?&gt; 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4DAA2-B1C2-B248-87C1-B243426E524E}"/>
              </a:ext>
            </a:extLst>
          </p:cNvPr>
          <p:cNvSpPr txBox="1"/>
          <p:nvPr/>
        </p:nvSpPr>
        <p:spPr>
          <a:xfrm>
            <a:off x="6759054" y="2805585"/>
            <a:ext cx="1497842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3200" b="0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2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CA5D0-456C-796A-9705-F20D40F5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840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60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21C7-93EE-285C-D581-1337CD08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4" y="111204"/>
            <a:ext cx="8596668" cy="1320800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Functions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505B-1CBB-3476-9517-13048B39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4" y="778930"/>
            <a:ext cx="10036158" cy="3880773"/>
          </a:xfrm>
        </p:spPr>
        <p:txBody>
          <a:bodyPr>
            <a:normAutofit/>
          </a:bodyPr>
          <a:lstStyle/>
          <a:p>
            <a:pPr algn="l"/>
            <a:r>
              <a:rPr lang="en-IN" sz="4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strrev</a:t>
            </a:r>
            <a:r>
              <a:rPr lang="en-IN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 - Reverse a String</a:t>
            </a:r>
          </a:p>
          <a:p>
            <a:pPr lvl="1"/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PHP 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strrev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function reverses a string</a:t>
            </a:r>
            <a:endParaRPr lang="en-IN" sz="2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81927-DE15-A9A8-26BA-4B09FCC2B0EE}"/>
              </a:ext>
            </a:extLst>
          </p:cNvPr>
          <p:cNvSpPr txBox="1"/>
          <p:nvPr/>
        </p:nvSpPr>
        <p:spPr>
          <a:xfrm>
            <a:off x="815453" y="2293418"/>
            <a:ext cx="4889311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&lt;!DOCTYPE html&gt;</a:t>
            </a:r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&lt;body&gt;</a:t>
            </a:r>
          </a:p>
          <a:p>
            <a:endParaRPr lang="en-US" sz="2400" dirty="0"/>
          </a:p>
          <a:p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r>
              <a:rPr lang="en-US" sz="2400" dirty="0"/>
              <a:t>echo </a:t>
            </a:r>
            <a:r>
              <a:rPr lang="en-US" sz="2400" dirty="0" err="1"/>
              <a:t>strrev</a:t>
            </a:r>
            <a:r>
              <a:rPr lang="en-US" sz="2400" dirty="0"/>
              <a:t>("Hello world!");</a:t>
            </a:r>
          </a:p>
          <a:p>
            <a:r>
              <a:rPr lang="en-US" sz="2400" dirty="0"/>
              <a:t>?&gt; 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4DAA2-B1C2-B248-87C1-B243426E524E}"/>
              </a:ext>
            </a:extLst>
          </p:cNvPr>
          <p:cNvSpPr txBox="1"/>
          <p:nvPr/>
        </p:nvSpPr>
        <p:spPr>
          <a:xfrm>
            <a:off x="6487238" y="2695432"/>
            <a:ext cx="3244755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3200" b="0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!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dlrow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N" sz="3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olleH</a:t>
            </a: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CA5D0-456C-796A-9705-F20D40F5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840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E3D54D-751E-47C1-70F4-4C46BD182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276"/>
            <a:ext cx="3177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7147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21C7-93EE-285C-D581-1337CD08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4" y="111204"/>
            <a:ext cx="8596668" cy="1320800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Functions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505B-1CBB-3476-9517-13048B39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4" y="778930"/>
            <a:ext cx="10036158" cy="3880773"/>
          </a:xfrm>
        </p:spPr>
        <p:txBody>
          <a:bodyPr>
            <a:normAutofit/>
          </a:bodyPr>
          <a:lstStyle/>
          <a:p>
            <a:pPr algn="l"/>
            <a:r>
              <a:rPr lang="en-US" sz="4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strpos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 - Search For a Text Within a String</a:t>
            </a:r>
          </a:p>
          <a:p>
            <a:pPr lvl="1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PHP </a:t>
            </a:r>
            <a:r>
              <a:rPr lang="en-US" alt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strpos</a:t>
            </a:r>
            <a:r>
              <a:rPr lang="en-US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() function searches for a specific text within a string. If a match is found, the function returns the character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position of the first match. If no match is found, it will return FALSE.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81927-DE15-A9A8-26BA-4B09FCC2B0EE}"/>
              </a:ext>
            </a:extLst>
          </p:cNvPr>
          <p:cNvSpPr txBox="1"/>
          <p:nvPr/>
        </p:nvSpPr>
        <p:spPr>
          <a:xfrm>
            <a:off x="793848" y="2367886"/>
            <a:ext cx="4889311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&lt;!DOCTYPE html&gt;</a:t>
            </a:r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&lt;body&gt;</a:t>
            </a:r>
          </a:p>
          <a:p>
            <a:endParaRPr lang="en-US" sz="2400" dirty="0"/>
          </a:p>
          <a:p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r>
              <a:rPr lang="en-US" sz="2400" dirty="0"/>
              <a:t>echo </a:t>
            </a:r>
            <a:r>
              <a:rPr lang="en-US" sz="2400" dirty="0" err="1"/>
              <a:t>strpos</a:t>
            </a:r>
            <a:r>
              <a:rPr lang="en-US" sz="2400" dirty="0"/>
              <a:t>("Hello world!", "world");</a:t>
            </a:r>
          </a:p>
          <a:p>
            <a:r>
              <a:rPr lang="en-US" sz="2400" dirty="0"/>
              <a:t>?&gt; 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4DAA2-B1C2-B248-87C1-B243426E524E}"/>
              </a:ext>
            </a:extLst>
          </p:cNvPr>
          <p:cNvSpPr txBox="1"/>
          <p:nvPr/>
        </p:nvSpPr>
        <p:spPr>
          <a:xfrm>
            <a:off x="6487238" y="2695432"/>
            <a:ext cx="3244755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pPr algn="l"/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</a:p>
          <a:p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CA5D0-456C-796A-9705-F20D40F5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840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E3D54D-751E-47C1-70F4-4C46BD182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276"/>
            <a:ext cx="3177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1799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21C7-93EE-285C-D581-1337CD08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4" y="111204"/>
            <a:ext cx="8596668" cy="1320800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Functions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505B-1CBB-3476-9517-13048B393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4" y="778930"/>
            <a:ext cx="10036158" cy="3880773"/>
          </a:xfrm>
        </p:spPr>
        <p:txBody>
          <a:bodyPr>
            <a:normAutofit/>
          </a:bodyPr>
          <a:lstStyle/>
          <a:p>
            <a:pPr algn="l"/>
            <a:r>
              <a:rPr lang="en-US" sz="4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str_replace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 - Replace Text Within a String</a:t>
            </a:r>
          </a:p>
          <a:p>
            <a:pPr lvl="1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PHP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str_replace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function replaces some characters with some other characters in a string.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IN" sz="3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81927-DE15-A9A8-26BA-4B09FCC2B0EE}"/>
              </a:ext>
            </a:extLst>
          </p:cNvPr>
          <p:cNvSpPr txBox="1"/>
          <p:nvPr/>
        </p:nvSpPr>
        <p:spPr>
          <a:xfrm>
            <a:off x="793848" y="2367886"/>
            <a:ext cx="4889311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&lt;!DOCTYPE html&gt;</a:t>
            </a:r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&lt;body&gt;</a:t>
            </a:r>
          </a:p>
          <a:p>
            <a:endParaRPr lang="en-US" sz="2400" dirty="0"/>
          </a:p>
          <a:p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r>
              <a:rPr lang="en-US" sz="2400" dirty="0"/>
              <a:t>echo </a:t>
            </a:r>
            <a:r>
              <a:rPr lang="en-US" sz="2400" dirty="0" err="1"/>
              <a:t>str_replace</a:t>
            </a:r>
            <a:r>
              <a:rPr lang="en-US" sz="2400" dirty="0"/>
              <a:t>("world", "Dolly", "Hello world!");</a:t>
            </a:r>
          </a:p>
          <a:p>
            <a:r>
              <a:rPr lang="en-US" sz="2400" dirty="0"/>
              <a:t>?&gt; 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4DAA2-B1C2-B248-87C1-B243426E524E}"/>
              </a:ext>
            </a:extLst>
          </p:cNvPr>
          <p:cNvSpPr txBox="1"/>
          <p:nvPr/>
        </p:nvSpPr>
        <p:spPr>
          <a:xfrm>
            <a:off x="6487238" y="2695432"/>
            <a:ext cx="3244755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pPr algn="l"/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en-I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Dolly!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CA5D0-456C-796A-9705-F20D40F5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840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E3D54D-751E-47C1-70F4-4C46BD182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276"/>
            <a:ext cx="3177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9442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21C7-93EE-285C-D581-1337CD08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14" y="111204"/>
            <a:ext cx="8596668" cy="1320800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String Functions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B475D74-AE5B-86DE-807B-B79B8603F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327724"/>
              </p:ext>
            </p:extLst>
          </p:nvPr>
        </p:nvGraphicFramePr>
        <p:xfrm>
          <a:off x="712185" y="870857"/>
          <a:ext cx="8801929" cy="535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540">
                  <a:extLst>
                    <a:ext uri="{9D8B030D-6E8A-4147-A177-3AD203B41FA5}">
                      <a16:colId xmlns:a16="http://schemas.microsoft.com/office/drawing/2014/main" val="358255186"/>
                    </a:ext>
                  </a:extLst>
                </a:gridCol>
                <a:gridCol w="6713389">
                  <a:extLst>
                    <a:ext uri="{9D8B030D-6E8A-4147-A177-3AD203B41FA5}">
                      <a16:colId xmlns:a16="http://schemas.microsoft.com/office/drawing/2014/main" val="162964082"/>
                    </a:ext>
                  </a:extLst>
                </a:gridCol>
              </a:tblGrid>
              <a:tr h="520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Name of the 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Function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828805"/>
                  </a:ext>
                </a:extLst>
              </a:tr>
              <a:tr h="892126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whitespace or other characters from the beginning and end of the string.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438886963"/>
                  </a:ext>
                </a:extLst>
              </a:tr>
              <a:tr h="892126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20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ucfirst</a:t>
                      </a: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 the first character of the string to uppercase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46898415"/>
                  </a:ext>
                </a:extLst>
              </a:tr>
              <a:tr h="91195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/>
                        <a:t>ucwords</a:t>
                      </a:r>
                      <a:r>
                        <a:rPr lang="en-IN" sz="2000" b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 the first character of each word in a string to uppercase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087646"/>
                  </a:ext>
                </a:extLst>
              </a:tr>
              <a:tr h="91195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/>
                        <a:t>substr_count</a:t>
                      </a:r>
                      <a:r>
                        <a:rPr lang="en-IN" sz="2000" b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the number of times occurrence of a substring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67036"/>
                  </a:ext>
                </a:extLst>
              </a:tr>
              <a:tr h="520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/>
                        <a:t>strtolower</a:t>
                      </a:r>
                      <a:r>
                        <a:rPr lang="en-IN" sz="2000" b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Convert a string to its lower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521923"/>
                  </a:ext>
                </a:extLst>
              </a:tr>
              <a:tr h="52085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/>
                        <a:t>strtoupper</a:t>
                      </a:r>
                      <a:r>
                        <a:rPr lang="en-IN" sz="2000" b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Convert a string to its upper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4981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D0CA5D0-456C-796A-9705-F20D40F51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840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E3D54D-751E-47C1-70F4-4C46BD182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9276"/>
            <a:ext cx="3177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749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97" y="214532"/>
            <a:ext cx="10018713" cy="6858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PHP Function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69128" y="320457"/>
            <a:ext cx="6096000" cy="3108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 BCA() 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 echo "Hello world!";</a:t>
            </a:r>
            <a:b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b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BCA(); // call the function</a:t>
            </a:r>
            <a:b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2100" y="3718679"/>
            <a:ext cx="6096000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  BCA($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 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"$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en-US" sz="2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&gt;";</a:t>
            </a:r>
            <a:b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b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BCA(“Ram");</a:t>
            </a:r>
            <a:b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BCA(“Shyam");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8" name="Line Callout 3 (No Border) 7"/>
          <p:cNvSpPr/>
          <p:nvPr/>
        </p:nvSpPr>
        <p:spPr>
          <a:xfrm>
            <a:off x="1574800" y="4145643"/>
            <a:ext cx="2235200" cy="1054100"/>
          </a:xfrm>
          <a:prstGeom prst="callout3">
            <a:avLst>
              <a:gd name="adj1" fmla="val 48871"/>
              <a:gd name="adj2" fmla="val -2083"/>
              <a:gd name="adj3" fmla="val 18750"/>
              <a:gd name="adj4" fmla="val -16667"/>
              <a:gd name="adj5" fmla="val 100000"/>
              <a:gd name="adj6" fmla="val -16667"/>
              <a:gd name="adj7" fmla="val 171999"/>
              <a:gd name="adj8" fmla="val 1098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Arguments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7457" y="287581"/>
            <a:ext cx="7226300" cy="378565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function BCA(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$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echo "$name is $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&gt;";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BCA(“Ram","75");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BCA("Sita","78");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BCA("Kaijal","83");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2663" y="3222531"/>
            <a:ext cx="6096000" cy="273921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add_Numbers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$a,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$b)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return $a + $b;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add_Numbers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(5,);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7371" y="848116"/>
            <a:ext cx="8775700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declare(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strict_types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=1); ?&gt;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 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set_Height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$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50) 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echo "The height is : $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&gt;";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Set_Height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(350);</a:t>
            </a:r>
          </a:p>
          <a:p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Set_Height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Set_Height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(135);</a:t>
            </a:r>
          </a:p>
          <a:p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Set_Height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(80);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66485" y="58846"/>
            <a:ext cx="8788400" cy="674030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declare(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strict_types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=1); ?&gt;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function sum(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$x,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$y)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$z = $x + $y;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return $z;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 "5 + 10 = " . sum(5,10) . "&lt;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&gt;";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 "7 + 13 = " . sum(7,13) . "&lt;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&gt;";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 "2 + 4 = " . sum(2,4);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lum bright="-7000" contrast="39000"/>
          </a:blip>
          <a:srcRect/>
          <a:stretch>
            <a:fillRect/>
          </a:stretch>
        </p:blipFill>
        <p:spPr bwMode="auto">
          <a:xfrm>
            <a:off x="281214" y="269841"/>
            <a:ext cx="9055100" cy="6454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5BBC15-D8A2-B89C-F2B5-331622B715ED}"/>
              </a:ext>
            </a:extLst>
          </p:cNvPr>
          <p:cNvSpPr txBox="1"/>
          <p:nvPr/>
        </p:nvSpPr>
        <p:spPr>
          <a:xfrm>
            <a:off x="834118" y="296279"/>
            <a:ext cx="8201025" cy="600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IN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is_string_lower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($str){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($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=0; $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($str); $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if(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($str[$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]) &gt;=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('A') &amp;&amp;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($str[$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&lt;=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('Z'))){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retun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-1;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else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1;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$result= 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is_string_lower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IN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if($result == 1)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echo "string is in lower case";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 "String is not in lower case";</a:t>
            </a:r>
          </a:p>
          <a:p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7736398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8471"/>
            <a:ext cx="8937171" cy="312420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Write a function to reverse a string.</a:t>
            </a:r>
          </a:p>
          <a:p>
            <a:pPr>
              <a:lnSpc>
                <a:spcPct val="200000"/>
              </a:lnSpc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Write a PHP function that checks whether a string is all lowercase.</a:t>
            </a:r>
          </a:p>
          <a:p>
            <a:pPr>
              <a:lnSpc>
                <a:spcPct val="200000"/>
              </a:lnSpc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Write a function to calculate the factorial of a number (a non-negative integer). The function accepts the number as an argument</a:t>
            </a:r>
            <a:r>
              <a:rPr lang="en-US" sz="2600" b="1" dirty="0"/>
              <a:t>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89475-7BFA-D544-3DC0-D0CA858B08B5}"/>
              </a:ext>
            </a:extLst>
          </p:cNvPr>
          <p:cNvSpPr txBox="1"/>
          <p:nvPr/>
        </p:nvSpPr>
        <p:spPr>
          <a:xfrm>
            <a:off x="457200" y="451513"/>
            <a:ext cx="8643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Programs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20800" y="60236"/>
            <a:ext cx="5676900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addcslashes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("Hello World!","W");</a:t>
            </a:r>
            <a:b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echo($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  <a:b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50100" y="301536"/>
            <a:ext cx="468630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backslashes in front of the specified characters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2700" y="1457236"/>
            <a:ext cx="5791200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addslashes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('What does "your" mean?');</a:t>
            </a:r>
          </a:p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echo($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?&gt; </a:t>
            </a:r>
          </a:p>
        </p:txBody>
      </p:sp>
      <p:sp>
        <p:nvSpPr>
          <p:cNvPr id="9" name="Rectangle 8"/>
          <p:cNvSpPr/>
          <p:nvPr/>
        </p:nvSpPr>
        <p:spPr>
          <a:xfrm>
            <a:off x="7436109" y="2075934"/>
            <a:ext cx="3828792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Add a backslash in front of each double quote (")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059" y="2923164"/>
            <a:ext cx="5816600" cy="181588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bin2hex("Hello World!");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echo($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6244" y="3752334"/>
            <a:ext cx="404469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Convert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hexadecimal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059" y="4851359"/>
            <a:ext cx="5803900" cy="193899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 "Hello World!";</a:t>
            </a:r>
            <a:b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 $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. "&lt;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&gt;";</a:t>
            </a:r>
            <a:b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echo chop($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str,"World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!");</a:t>
            </a:r>
            <a:b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3600" y="5353735"/>
            <a:ext cx="4711700" cy="10772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Removes</a:t>
            </a:r>
            <a:r>
              <a:rPr lang="en-US" sz="2000" dirty="0"/>
              <a:t> </a:t>
            </a:r>
            <a:r>
              <a:rPr lang="en-US" sz="2000" b="1" dirty="0">
                <a:sym typeface="Wingdings" pitchFamily="2" charset="2"/>
              </a:rPr>
              <a:t> W</a:t>
            </a:r>
            <a:r>
              <a:rPr lang="en-US" sz="2000" b="1" dirty="0"/>
              <a:t>hitespaces </a:t>
            </a:r>
            <a:r>
              <a:rPr lang="en-US" sz="2000" dirty="0"/>
              <a:t>or other </a:t>
            </a:r>
            <a:r>
              <a:rPr lang="en-US" sz="2000" b="1" dirty="0"/>
              <a:t>predefined characters</a:t>
            </a:r>
          </a:p>
          <a:p>
            <a:r>
              <a:rPr lang="en-US" sz="2000" dirty="0"/>
              <a:t> from the </a:t>
            </a:r>
            <a:r>
              <a:rPr lang="en-US" sz="2000" b="1" dirty="0"/>
              <a:t>right end of a string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90664" y="6041362"/>
            <a:ext cx="681008" cy="365125"/>
          </a:xfrm>
        </p:spPr>
        <p:txBody>
          <a:bodyPr/>
          <a:lstStyle/>
          <a:p>
            <a:fld id="{4FAB73BC-B049-4115-A692-8D63A059BFB8}" type="slidenum">
              <a:rPr lang="en-US" b="1" smtClean="0"/>
              <a:pPr/>
              <a:t>71</a:t>
            </a:fld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435100" y="210235"/>
            <a:ext cx="4227329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php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echo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chr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(52) . "&lt;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&gt;";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echo chr(055) . "&lt;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&gt;";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echo chr(0x56) . "&lt;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&gt;";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0712" y="755134"/>
            <a:ext cx="654152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Character from the specified ASCII value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1409700" y="2219236"/>
            <a:ext cx="423998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= "Hello world!";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echo 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chunk_split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($str,1,".");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025873" y="2761734"/>
            <a:ext cx="574907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Splits a string into a series of smaller parts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8900" y="3870236"/>
            <a:ext cx="4328583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&lt;?</a:t>
            </a:r>
            <a:r>
              <a:rPr lang="en-US" sz="2400" b="1" dirty="0" err="1"/>
              <a:t>php</a:t>
            </a:r>
            <a:endParaRPr lang="en-US" sz="2400" b="1" dirty="0"/>
          </a:p>
          <a:p>
            <a:r>
              <a:rPr lang="en-US" sz="2400" b="1" dirty="0"/>
              <a:t>$</a:t>
            </a:r>
            <a:r>
              <a:rPr lang="en-US" sz="2400" b="1" dirty="0" err="1"/>
              <a:t>str</a:t>
            </a:r>
            <a:r>
              <a:rPr lang="en-US" sz="2400" b="1" dirty="0"/>
              <a:t> = "Hello world!";</a:t>
            </a:r>
          </a:p>
          <a:p>
            <a:r>
              <a:rPr lang="en-US" sz="2400" b="1" dirty="0"/>
              <a:t>echo </a:t>
            </a:r>
            <a:r>
              <a:rPr lang="en-US" sz="2400" b="1" dirty="0" err="1"/>
              <a:t>chunk_split</a:t>
            </a:r>
            <a:r>
              <a:rPr lang="en-US" sz="2400" b="1" dirty="0"/>
              <a:t>($str,6,"...");</a:t>
            </a:r>
          </a:p>
          <a:p>
            <a:r>
              <a:rPr lang="en-US" sz="2400" b="1" dirty="0"/>
              <a:t>?&gt;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67400" y="4121835"/>
            <a:ext cx="607520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Split the string after each sixth character and add a "..." after each split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340758" y="831671"/>
            <a:ext cx="4406900" cy="132343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$str = "Hello World!";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echo 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count_chars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($str,3);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81164-9840-9360-1C1F-FDBD79F45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37" y="2691382"/>
            <a:ext cx="8867840" cy="2776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392172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16000" y="207194"/>
            <a:ext cx="591820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 array('Hello',‘Dear!','Beautiful','Day!');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echo join(" ",$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58384" y="755134"/>
            <a:ext cx="485581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Join array elements with a string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9500" y="1877536"/>
            <a:ext cx="5778500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$number = 1234.56;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setlocale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LC_MONETARY,"en_US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");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echo 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money_format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("The price is %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", $number);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7069369" y="1974334"/>
            <a:ext cx="492519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setlocale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LC_MONETARY,"en_US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93967" y="2571234"/>
            <a:ext cx="37945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Setlocale(LC_MONETARY,"de_DE");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7900" y="3565436"/>
            <a:ext cx="613410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$number = -1234.5672;</a:t>
            </a:r>
            <a:b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echo 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money_format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("%=*(#10.2n",$number);</a:t>
            </a:r>
            <a:b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5240635"/>
            <a:ext cx="6096000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php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echo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similar_text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("Hello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World","Hello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Peter");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4364" y="5365234"/>
            <a:ext cx="3342582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between two strings and return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matching characters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5039" y="4146034"/>
            <a:ext cx="231345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(******1234.57)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911" y="3263901"/>
            <a:ext cx="10018713" cy="901700"/>
          </a:xfrm>
        </p:spPr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654628" y="4469598"/>
            <a:ext cx="4140200" cy="17543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Hello World! Beautiful Day!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Hello+World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!+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Beautiful+Day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!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Hello-World!-Beautiful-Day!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HelloXWorld!XBeautifulXDay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sp>
        <p:nvSpPr>
          <p:cNvPr id="7" name="Rectangle 6"/>
          <p:cNvSpPr/>
          <p:nvPr/>
        </p:nvSpPr>
        <p:spPr>
          <a:xfrm>
            <a:off x="73412" y="317414"/>
            <a:ext cx="3276600" cy="193899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&lt;?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 "Hello World!";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echo $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. "&lt;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&gt;";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echo trim($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str,"Hed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!");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?&gt;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11621" y="937660"/>
            <a:ext cx="990600" cy="69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02221" y="866719"/>
            <a:ext cx="16417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trim() 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5144723" y="558248"/>
            <a:ext cx="1562100" cy="1549400"/>
          </a:xfrm>
          <a:prstGeom prst="rightBrace">
            <a:avLst/>
          </a:prstGeom>
          <a:ln w="12700">
            <a:solidFill>
              <a:schemeClr val="accent4"/>
            </a:solidFill>
          </a:ln>
          <a:effectLst>
            <a:outerShdw blurRad="50800" dist="50800" dir="5400000" algn="ctr" rotWithShape="0">
              <a:srgbClr val="000000">
                <a:alpha val="96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74972" y="60574"/>
            <a:ext cx="295547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ltrim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()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Removes whitespace from the left side of a string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rtrim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()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Removes whitespace from the right side of a string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00302" y="4404935"/>
            <a:ext cx="3904812" cy="916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63582" y="5469212"/>
            <a:ext cx="3778251" cy="894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ppt/theme/themeOverride2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1704</TotalTime>
  <Words>2750</Words>
  <Application>Microsoft Office PowerPoint</Application>
  <PresentationFormat>Widescreen</PresentationFormat>
  <Paragraphs>651</Paragraphs>
  <Slides>74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Arial</vt:lpstr>
      <vt:lpstr>Consolas</vt:lpstr>
      <vt:lpstr>erdana</vt:lpstr>
      <vt:lpstr>inter-bold</vt:lpstr>
      <vt:lpstr>inter-regular</vt:lpstr>
      <vt:lpstr>Segoe UI</vt:lpstr>
      <vt:lpstr>Times New Roman</vt:lpstr>
      <vt:lpstr>Trebuchet MS</vt:lpstr>
      <vt:lpstr>var(--bs-font-monospace)</vt:lpstr>
      <vt:lpstr>Verdana</vt:lpstr>
      <vt:lpstr>Wingdings</vt:lpstr>
      <vt:lpstr>Wingdings 3</vt:lpstr>
      <vt:lpstr>Facet</vt:lpstr>
      <vt:lpstr>         WEB TECHNOLOGY II  </vt:lpstr>
      <vt:lpstr>Basic Requirements to build a website</vt:lpstr>
      <vt:lpstr>PowerPoint Presentation</vt:lpstr>
      <vt:lpstr>How website works?</vt:lpstr>
      <vt:lpstr>Role of HTML</vt:lpstr>
      <vt:lpstr>Role of CSS</vt:lpstr>
      <vt:lpstr>Role of JAVASCRIPT</vt:lpstr>
      <vt:lpstr>Role of PHP</vt:lpstr>
      <vt:lpstr>Role of PHP</vt:lpstr>
      <vt:lpstr>Why use PHP </vt:lpstr>
      <vt:lpstr>Basic Syntax of PHP</vt:lpstr>
      <vt:lpstr>Facts on PHP</vt:lpstr>
      <vt:lpstr>PowerPoint Presentation</vt:lpstr>
      <vt:lpstr>Installation </vt:lpstr>
      <vt:lpstr>PowerPoint Presentation</vt:lpstr>
      <vt:lpstr>PowerPoint Presentation</vt:lpstr>
      <vt:lpstr>PowerPoint Presentation</vt:lpstr>
      <vt:lpstr>Installation </vt:lpstr>
      <vt:lpstr>Php Code</vt:lpstr>
      <vt:lpstr>PowerPoint Presentation</vt:lpstr>
      <vt:lpstr>PowerPoint Presentation</vt:lpstr>
      <vt:lpstr>Basic Syntax of PHP</vt:lpstr>
      <vt:lpstr>PHP Case Sensitivity</vt:lpstr>
      <vt:lpstr>PHP Case Sensitivity</vt:lpstr>
      <vt:lpstr>PHP Comments</vt:lpstr>
      <vt:lpstr>PHP Comments</vt:lpstr>
      <vt:lpstr>PHP Variables </vt:lpstr>
      <vt:lpstr>PHP Variables </vt:lpstr>
      <vt:lpstr>PHP Variables Scope</vt:lpstr>
      <vt:lpstr>Local Scope</vt:lpstr>
      <vt:lpstr>Global Scope</vt:lpstr>
      <vt:lpstr>Global Keyword</vt:lpstr>
      <vt:lpstr>Static Keyword</vt:lpstr>
      <vt:lpstr>Static Keyword</vt:lpstr>
      <vt:lpstr>PHP Constants</vt:lpstr>
      <vt:lpstr>Create a PHP Constant</vt:lpstr>
      <vt:lpstr>Create a PHP Constant</vt:lpstr>
      <vt:lpstr>Create a PHP Constant</vt:lpstr>
      <vt:lpstr>Constants are global</vt:lpstr>
      <vt:lpstr>PHP Operators</vt:lpstr>
      <vt:lpstr>PHP Arithmetic Operators</vt:lpstr>
      <vt:lpstr>PowerPoint Presentation</vt:lpstr>
      <vt:lpstr>PHP Assignment Operators </vt:lpstr>
      <vt:lpstr>PHP Assignment Operators </vt:lpstr>
      <vt:lpstr>PHP Comparison Operators  </vt:lpstr>
      <vt:lpstr>PHP Increment / Decrement Operators </vt:lpstr>
      <vt:lpstr>PHP Logical Operators</vt:lpstr>
      <vt:lpstr>PHP String Operators </vt:lpstr>
      <vt:lpstr>PowerPoint Presentation</vt:lpstr>
      <vt:lpstr>PHP Array Operators</vt:lpstr>
      <vt:lpstr>PHP Conditional Assignment Operators</vt:lpstr>
      <vt:lpstr>PHP Strings </vt:lpstr>
      <vt:lpstr>PHP Strings</vt:lpstr>
      <vt:lpstr>PHP Strings</vt:lpstr>
      <vt:lpstr>PHP Strings</vt:lpstr>
      <vt:lpstr>PHP Strings</vt:lpstr>
      <vt:lpstr>PHP String Functions </vt:lpstr>
      <vt:lpstr>PHP String Functions </vt:lpstr>
      <vt:lpstr>PHP String Functions </vt:lpstr>
      <vt:lpstr>PHP String Functions </vt:lpstr>
      <vt:lpstr>PHP String Functions </vt:lpstr>
      <vt:lpstr>PHP String Functions </vt:lpstr>
      <vt:lpstr>PHP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GURU SIMRAN SINGH</dc:creator>
  <cp:lastModifiedBy>user</cp:lastModifiedBy>
  <cp:revision>349</cp:revision>
  <dcterms:created xsi:type="dcterms:W3CDTF">2023-07-26T09:57:58Z</dcterms:created>
  <dcterms:modified xsi:type="dcterms:W3CDTF">2024-01-09T11:26:37Z</dcterms:modified>
</cp:coreProperties>
</file>