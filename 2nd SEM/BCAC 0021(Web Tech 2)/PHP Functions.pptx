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8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9" r:id="rId22"/>
    <p:sldId id="280" r:id="rId23"/>
    <p:sldId id="281" r:id="rId24"/>
    <p:sldId id="284" r:id="rId25"/>
    <p:sldId id="283" r:id="rId26"/>
    <p:sldId id="285" r:id="rId27"/>
    <p:sldId id="286" r:id="rId28"/>
    <p:sldId id="289" r:id="rId29"/>
    <p:sldId id="287" r:id="rId30"/>
    <p:sldId id="292" r:id="rId31"/>
    <p:sldId id="288" r:id="rId32"/>
    <p:sldId id="291" r:id="rId33"/>
    <p:sldId id="290" r:id="rId34"/>
    <p:sldId id="282" r:id="rId35"/>
    <p:sldId id="293" r:id="rId36"/>
    <p:sldId id="294" r:id="rId37"/>
    <p:sldId id="295" r:id="rId38"/>
    <p:sldId id="296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65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227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25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650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960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114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16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35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033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35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0922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912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66848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596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416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494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6074AA-D6BF-4E5F-8636-8E0E1896B6DA}" type="datetimeFigureOut">
              <a:rPr lang="en-IN" smtClean="0"/>
              <a:t>20-11-2023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C335B23-C614-4A55-A811-0255D551F8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680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739D-5291-751C-3266-CE9F73E82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 Functions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0417F-05E5-ABA4-2DC4-2A41D4495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15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3E72-2706-A1B0-BCB6-D60F0D7A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56" y="516888"/>
            <a:ext cx="8596668" cy="1320800"/>
          </a:xfrm>
        </p:spPr>
        <p:txBody>
          <a:bodyPr/>
          <a:lstStyle/>
          <a:p>
            <a:r>
              <a:rPr lang="en-US" dirty="0"/>
              <a:t>PHP Functions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103D1-BE62-CF7F-CEE3-023D9CFFA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2357"/>
            <a:ext cx="8596668" cy="459900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PHP function is a piece of code that can be reused many times. </a:t>
            </a:r>
          </a:p>
          <a:p>
            <a:pPr algn="just"/>
            <a:endParaRPr lang="en-US" sz="28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inter-regular"/>
              </a:rPr>
              <a:t>It can take input as argument list and </a:t>
            </a:r>
            <a:r>
              <a:rPr lang="en-US" sz="2800" dirty="0">
                <a:solidFill>
                  <a:srgbClr val="333333"/>
                </a:solidFill>
                <a:latin typeface="inter-regular"/>
              </a:rPr>
              <a:t>return value. </a:t>
            </a:r>
          </a:p>
          <a:p>
            <a:pPr algn="just"/>
            <a:endParaRPr lang="en-US" sz="2800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800" dirty="0">
                <a:solidFill>
                  <a:srgbClr val="333333"/>
                </a:solidFill>
                <a:latin typeface="inter-regular"/>
              </a:rPr>
              <a:t>There are thousands of built-in functions in PHP that can be called directly, from within a script, to perform a specific task.</a:t>
            </a:r>
          </a:p>
          <a:p>
            <a:pPr algn="just"/>
            <a:endParaRPr lang="en-US" sz="2800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800" dirty="0">
                <a:solidFill>
                  <a:srgbClr val="333333"/>
                </a:solidFill>
                <a:latin typeface="inter-regular"/>
              </a:rPr>
              <a:t>In PHP, we can define Conditional function, Function within Function and Recursive function also.</a:t>
            </a:r>
          </a:p>
          <a:p>
            <a:endParaRPr lang="en-IN" dirty="0">
              <a:solidFill>
                <a:srgbClr val="333333"/>
              </a:solidFill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2963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3E72-2706-A1B0-BCB6-D60F0D7A4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648" y="538844"/>
            <a:ext cx="8596668" cy="1320800"/>
          </a:xfrm>
        </p:spPr>
        <p:txBody>
          <a:bodyPr/>
          <a:lstStyle/>
          <a:p>
            <a:r>
              <a:rPr lang="en-IN" dirty="0"/>
              <a:t>Advantage of PHP Functions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8A1EFC6-A4DD-6236-61DA-19CCE7FFB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070" y="1774701"/>
            <a:ext cx="6599273" cy="3308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-bold"/>
              </a:rPr>
              <a:t>Code Reusability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-bold"/>
              </a:rPr>
              <a:t>Less Code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3600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600" b="1" i="0" dirty="0">
                <a:solidFill>
                  <a:srgbClr val="333333"/>
                </a:solidFill>
                <a:effectLst/>
                <a:latin typeface="inter-bold"/>
              </a:rPr>
              <a:t>Easy to understand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/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Duratio8:10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AD8E0F6-D317-C8B6-6AD9-43015A977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809" y="2100350"/>
            <a:ext cx="2265363" cy="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Loaded: 11.37%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AB192BC-5B5F-7481-97DC-F47AC200E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809" y="2100350"/>
            <a:ext cx="2265363" cy="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Â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5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B2F5-DE6B-78CE-DFA2-8DE34375F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User-defined Functions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A4D3C-EDF4-7CBC-BAAB-544EA216A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10861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Besides the built-in PHP functions, it is possible to create your own functions.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function is a block of statements that can be used repeatedly in a program.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function will not execute automatically when a page loads.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function will be executed by a call to the function.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2338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B4FA-8D23-032B-022C-93CC660A7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Create a User Defined Function in PHP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1D5BEE-50FC-B6AB-E251-57CDBD22C5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8172" y="2556970"/>
            <a:ext cx="5981700" cy="192357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38088" rIns="0" bIns="3808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00000"/>
              </a:solidFill>
              <a:latin typeface="Verdana" panose="020B0604030504040204" pitchFamily="34" charset="0"/>
              <a:cs typeface="Segoe UI" panose="020B0502040204020203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	Syntax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function 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	code to be executed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A28151-4755-772F-C8C1-01DC969535E9}"/>
              </a:ext>
            </a:extLst>
          </p:cNvPr>
          <p:cNvSpPr txBox="1"/>
          <p:nvPr/>
        </p:nvSpPr>
        <p:spPr>
          <a:xfrm>
            <a:off x="377976" y="1594214"/>
            <a:ext cx="111366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A user-defined function declaration starts with the word 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   function: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26E3EF-528F-0480-C4A8-198D0ECAE442}"/>
              </a:ext>
            </a:extLst>
          </p:cNvPr>
          <p:cNvSpPr txBox="1"/>
          <p:nvPr/>
        </p:nvSpPr>
        <p:spPr>
          <a:xfrm>
            <a:off x="898751" y="4974870"/>
            <a:ext cx="103944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function name must start with a letter or an underscore.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Function names are NOT case-sensitive.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86962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B290-2AE7-A7C0-BCFB-585446FC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610B4B"/>
                </a:solidFill>
                <a:effectLst/>
                <a:latin typeface="erdana"/>
              </a:rPr>
              <a:t>PHP Functions Example</a:t>
            </a:r>
            <a:br>
              <a:rPr lang="en-IN" b="0" i="0" dirty="0">
                <a:solidFill>
                  <a:srgbClr val="610B4B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43998-6B64-5BD6-2031-E1D8DA9B79E1}"/>
              </a:ext>
            </a:extLst>
          </p:cNvPr>
          <p:cNvSpPr txBox="1"/>
          <p:nvPr/>
        </p:nvSpPr>
        <p:spPr>
          <a:xfrm>
            <a:off x="677334" y="1835433"/>
            <a:ext cx="6098720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&lt;?</a:t>
            </a:r>
            <a:r>
              <a:rPr lang="en-IN" dirty="0" err="1"/>
              <a:t>php</a:t>
            </a:r>
            <a:r>
              <a:rPr lang="en-IN" dirty="0"/>
              <a:t>  </a:t>
            </a:r>
          </a:p>
          <a:p>
            <a:r>
              <a:rPr lang="en-IN" dirty="0"/>
              <a:t>function </a:t>
            </a:r>
            <a:r>
              <a:rPr lang="en-IN" dirty="0" err="1"/>
              <a:t>sayHello</a:t>
            </a:r>
            <a:r>
              <a:rPr lang="en-IN" dirty="0"/>
              <a:t>(){  </a:t>
            </a:r>
          </a:p>
          <a:p>
            <a:r>
              <a:rPr lang="en-IN" dirty="0"/>
              <a:t>echo "Hello PHP Function";  </a:t>
            </a:r>
          </a:p>
          <a:p>
            <a:r>
              <a:rPr lang="en-IN" dirty="0"/>
              <a:t>}  </a:t>
            </a:r>
          </a:p>
          <a:p>
            <a:r>
              <a:rPr lang="en-IN" dirty="0" err="1"/>
              <a:t>sayHello</a:t>
            </a:r>
            <a:r>
              <a:rPr lang="en-IN" dirty="0"/>
              <a:t>();//calling function  </a:t>
            </a:r>
          </a:p>
          <a:p>
            <a:r>
              <a:rPr lang="en-IN" dirty="0"/>
              <a:t>?&gt;  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4CE37-D256-02BF-62EC-FA27C08C83EB}"/>
              </a:ext>
            </a:extLst>
          </p:cNvPr>
          <p:cNvSpPr txBox="1"/>
          <p:nvPr/>
        </p:nvSpPr>
        <p:spPr>
          <a:xfrm>
            <a:off x="7115176" y="3220427"/>
            <a:ext cx="228414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PHP Function</a:t>
            </a:r>
            <a:endParaRPr lang="en-IN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5B1C943-E208-1D6F-F2C2-B08165218CA9}"/>
              </a:ext>
            </a:extLst>
          </p:cNvPr>
          <p:cNvCxnSpPr/>
          <p:nvPr/>
        </p:nvCxnSpPr>
        <p:spPr>
          <a:xfrm flipV="1">
            <a:off x="1356188" y="1038432"/>
            <a:ext cx="5008652" cy="2388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7CB562-7337-EADA-E234-EB81998D5853}"/>
              </a:ext>
            </a:extLst>
          </p:cNvPr>
          <p:cNvCxnSpPr>
            <a:cxnSpLocks/>
          </p:cNvCxnSpPr>
          <p:nvPr/>
        </p:nvCxnSpPr>
        <p:spPr>
          <a:xfrm flipV="1">
            <a:off x="2325384" y="2535205"/>
            <a:ext cx="5227129" cy="766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CFA960-A100-0880-0362-8E3825579069}"/>
              </a:ext>
            </a:extLst>
          </p:cNvPr>
          <p:cNvCxnSpPr>
            <a:cxnSpLocks/>
          </p:cNvCxnSpPr>
          <p:nvPr/>
        </p:nvCxnSpPr>
        <p:spPr>
          <a:xfrm>
            <a:off x="1356188" y="4363893"/>
            <a:ext cx="3955551" cy="1702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E776A8-489A-090A-6701-3FC1B2754826}"/>
              </a:ext>
            </a:extLst>
          </p:cNvPr>
          <p:cNvSpPr txBox="1"/>
          <p:nvPr/>
        </p:nvSpPr>
        <p:spPr>
          <a:xfrm>
            <a:off x="6364840" y="681532"/>
            <a:ext cx="2172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keyword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DB278-56AA-3644-EA52-B7A8FD9A5B61}"/>
              </a:ext>
            </a:extLst>
          </p:cNvPr>
          <p:cNvSpPr txBox="1"/>
          <p:nvPr/>
        </p:nvSpPr>
        <p:spPr>
          <a:xfrm>
            <a:off x="7642260" y="2323818"/>
            <a:ext cx="2172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Function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EE2CD7-CE9A-8E88-3697-208476BD930B}"/>
              </a:ext>
            </a:extLst>
          </p:cNvPr>
          <p:cNvSpPr txBox="1"/>
          <p:nvPr/>
        </p:nvSpPr>
        <p:spPr>
          <a:xfrm>
            <a:off x="7203191" y="5159420"/>
            <a:ext cx="343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Code to be executed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460FCA-C849-3C83-06D4-00384825118D}"/>
              </a:ext>
            </a:extLst>
          </p:cNvPr>
          <p:cNvCxnSpPr>
            <a:cxnSpLocks/>
          </p:cNvCxnSpPr>
          <p:nvPr/>
        </p:nvCxnSpPr>
        <p:spPr>
          <a:xfrm>
            <a:off x="3536933" y="3729434"/>
            <a:ext cx="4488095" cy="1497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8D20C2-3421-C6BB-77F7-66E6C496B2C1}"/>
              </a:ext>
            </a:extLst>
          </p:cNvPr>
          <p:cNvSpPr txBox="1"/>
          <p:nvPr/>
        </p:nvSpPr>
        <p:spPr>
          <a:xfrm>
            <a:off x="5531928" y="6031468"/>
            <a:ext cx="2172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Function call</a:t>
            </a:r>
          </a:p>
        </p:txBody>
      </p:sp>
    </p:spTree>
    <p:extLst>
      <p:ext uri="{BB962C8B-B14F-4D97-AF65-F5344CB8AC3E}">
        <p14:creationId xmlns:p14="http://schemas.microsoft.com/office/powerpoint/2010/main" val="261535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4C6E-72D5-4ADC-B1BA-C1085F20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Function Arguments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B82FB-E5F0-FA83-EAF2-7D0AC0D7E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020" y="1502230"/>
            <a:ext cx="8596668" cy="4468376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Information can be passed to functions through arguments.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argument is just like a variable.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Arguments are specified after the function name, inside the parentheses.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pass the information in PHP function through arguments which is separated by comma.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supports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by Value (default)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 by Reference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argument values </a:t>
            </a: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Variable-length argument list.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600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9C8DD6-D1F6-05C3-0716-7579A2C18266}"/>
              </a:ext>
            </a:extLst>
          </p:cNvPr>
          <p:cNvSpPr txBox="1"/>
          <p:nvPr/>
        </p:nvSpPr>
        <p:spPr>
          <a:xfrm>
            <a:off x="854789" y="843978"/>
            <a:ext cx="4646839" cy="56938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dirty="0"/>
              <a:t>&lt;!DOCTYPE html&gt;</a:t>
            </a:r>
          </a:p>
          <a:p>
            <a:r>
              <a:rPr lang="en-IN" sz="2800" dirty="0"/>
              <a:t>&lt;html&gt;</a:t>
            </a:r>
          </a:p>
          <a:p>
            <a:r>
              <a:rPr lang="en-IN" sz="2800" dirty="0"/>
              <a:t>&lt;body&gt;</a:t>
            </a:r>
          </a:p>
          <a:p>
            <a:r>
              <a:rPr lang="en-IN" sz="2800" dirty="0"/>
              <a:t>&lt;?</a:t>
            </a:r>
            <a:r>
              <a:rPr lang="en-IN" sz="2800" dirty="0" err="1"/>
              <a:t>php</a:t>
            </a:r>
            <a:r>
              <a:rPr lang="en-IN" sz="2800" dirty="0"/>
              <a:t>  </a:t>
            </a:r>
          </a:p>
          <a:p>
            <a:r>
              <a:rPr lang="en-IN" sz="2800" dirty="0"/>
              <a:t>function </a:t>
            </a:r>
            <a:r>
              <a:rPr lang="en-IN" sz="2800" dirty="0" err="1"/>
              <a:t>sayHello</a:t>
            </a:r>
            <a:r>
              <a:rPr lang="en-IN" sz="2800" dirty="0">
                <a:solidFill>
                  <a:srgbClr val="FF0000"/>
                </a:solidFill>
              </a:rPr>
              <a:t>($name</a:t>
            </a:r>
            <a:r>
              <a:rPr lang="en-IN" sz="2800" dirty="0"/>
              <a:t>){  </a:t>
            </a:r>
          </a:p>
          <a:p>
            <a:r>
              <a:rPr lang="en-IN" sz="2800" dirty="0"/>
              <a:t>echo "Hello $name&lt;</a:t>
            </a:r>
            <a:r>
              <a:rPr lang="en-IN" sz="2800" dirty="0" err="1"/>
              <a:t>br</a:t>
            </a:r>
            <a:r>
              <a:rPr lang="en-IN" sz="2800" dirty="0"/>
              <a:t>/&gt;";  </a:t>
            </a:r>
          </a:p>
          <a:p>
            <a:r>
              <a:rPr lang="en-IN" sz="2800" dirty="0"/>
              <a:t>}  </a:t>
            </a:r>
          </a:p>
          <a:p>
            <a:r>
              <a:rPr lang="en-IN" sz="2800" dirty="0" err="1"/>
              <a:t>sayHello</a:t>
            </a:r>
            <a:r>
              <a:rPr lang="en-IN" sz="2800" dirty="0"/>
              <a:t>("</a:t>
            </a:r>
            <a:r>
              <a:rPr lang="en-IN" sz="2800" dirty="0">
                <a:solidFill>
                  <a:srgbClr val="FF0000"/>
                </a:solidFill>
              </a:rPr>
              <a:t>Sakshi</a:t>
            </a:r>
            <a:r>
              <a:rPr lang="en-IN" sz="2800" dirty="0"/>
              <a:t>");  </a:t>
            </a:r>
          </a:p>
          <a:p>
            <a:r>
              <a:rPr lang="en-IN" sz="2800" dirty="0" err="1"/>
              <a:t>sayHello</a:t>
            </a:r>
            <a:r>
              <a:rPr lang="en-IN" sz="2800" dirty="0"/>
              <a:t>("</a:t>
            </a:r>
            <a:r>
              <a:rPr lang="en-IN" sz="2800" dirty="0">
                <a:solidFill>
                  <a:srgbClr val="FF0000"/>
                </a:solidFill>
              </a:rPr>
              <a:t>Divya</a:t>
            </a:r>
            <a:r>
              <a:rPr lang="en-IN" sz="2800" dirty="0"/>
              <a:t>");  </a:t>
            </a:r>
          </a:p>
          <a:p>
            <a:r>
              <a:rPr lang="en-IN" sz="2800" dirty="0" err="1"/>
              <a:t>sayHello</a:t>
            </a:r>
            <a:r>
              <a:rPr lang="en-IN" sz="2800" dirty="0"/>
              <a:t>("</a:t>
            </a:r>
            <a:r>
              <a:rPr lang="en-IN" sz="2800" dirty="0">
                <a:solidFill>
                  <a:srgbClr val="FF0000"/>
                </a:solidFill>
              </a:rPr>
              <a:t>Dheeraj</a:t>
            </a:r>
            <a:r>
              <a:rPr lang="en-IN" sz="2800" dirty="0"/>
              <a:t>");  </a:t>
            </a:r>
          </a:p>
          <a:p>
            <a:r>
              <a:rPr lang="en-IN" sz="2800" dirty="0"/>
              <a:t>?&gt; </a:t>
            </a:r>
          </a:p>
          <a:p>
            <a:r>
              <a:rPr lang="en-IN" sz="2800" dirty="0"/>
              <a:t>&lt;/body&gt;</a:t>
            </a:r>
          </a:p>
          <a:p>
            <a:r>
              <a:rPr lang="en-IN" sz="2800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8D49F-B73F-5CA2-62A0-E8D1D70BC473}"/>
              </a:ext>
            </a:extLst>
          </p:cNvPr>
          <p:cNvSpPr txBox="1"/>
          <p:nvPr/>
        </p:nvSpPr>
        <p:spPr>
          <a:xfrm>
            <a:off x="6331404" y="2599943"/>
            <a:ext cx="2034268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Sakshi</a:t>
            </a:r>
            <a:br>
              <a:rPr lang="en-IN" b="1" dirty="0"/>
            </a:b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Divya</a:t>
            </a:r>
            <a:br>
              <a:rPr lang="en-IN" b="1" dirty="0"/>
            </a:b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Dheeraj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5938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E1B5-2387-C32B-8AF8-150AB35C2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following example has a function with two arguments: 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957C6-EAD3-C0AA-F5BF-E5F4AFC95F90}"/>
              </a:ext>
            </a:extLst>
          </p:cNvPr>
          <p:cNvSpPr txBox="1"/>
          <p:nvPr/>
        </p:nvSpPr>
        <p:spPr>
          <a:xfrm>
            <a:off x="677334" y="2368834"/>
            <a:ext cx="5347909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&lt;body&gt;</a:t>
            </a:r>
          </a:p>
          <a:p>
            <a:r>
              <a:rPr lang="en-IN" dirty="0"/>
              <a:t>&lt;?</a:t>
            </a:r>
            <a:r>
              <a:rPr lang="en-IN" dirty="0" err="1"/>
              <a:t>php</a:t>
            </a:r>
            <a:r>
              <a:rPr lang="en-IN" dirty="0"/>
              <a:t>  </a:t>
            </a:r>
          </a:p>
          <a:p>
            <a:r>
              <a:rPr lang="en-IN" dirty="0"/>
              <a:t>function </a:t>
            </a:r>
            <a:r>
              <a:rPr lang="en-IN" dirty="0" err="1"/>
              <a:t>sayHello</a:t>
            </a:r>
            <a:r>
              <a:rPr lang="en-IN" dirty="0">
                <a:solidFill>
                  <a:srgbClr val="FF0000"/>
                </a:solidFill>
              </a:rPr>
              <a:t>($</a:t>
            </a:r>
            <a:r>
              <a:rPr lang="en-IN" dirty="0" err="1">
                <a:solidFill>
                  <a:srgbClr val="FF0000"/>
                </a:solidFill>
              </a:rPr>
              <a:t>name,$age</a:t>
            </a:r>
            <a:r>
              <a:rPr lang="en-IN" dirty="0"/>
              <a:t>){  </a:t>
            </a:r>
          </a:p>
          <a:p>
            <a:r>
              <a:rPr lang="en-IN" dirty="0"/>
              <a:t>echo "Hello $name, you are $age years old&lt;</a:t>
            </a:r>
            <a:r>
              <a:rPr lang="en-IN" dirty="0" err="1"/>
              <a:t>br</a:t>
            </a:r>
            <a:r>
              <a:rPr lang="en-IN" dirty="0"/>
              <a:t>/&gt;";  </a:t>
            </a:r>
          </a:p>
          <a:p>
            <a:r>
              <a:rPr lang="en-IN" dirty="0"/>
              <a:t>}  </a:t>
            </a:r>
          </a:p>
          <a:p>
            <a:r>
              <a:rPr lang="en-IN" dirty="0" err="1"/>
              <a:t>sayHello</a:t>
            </a:r>
            <a:r>
              <a:rPr lang="en-IN" dirty="0"/>
              <a:t>("Sakshi",23);  </a:t>
            </a:r>
          </a:p>
          <a:p>
            <a:r>
              <a:rPr lang="en-IN" dirty="0" err="1"/>
              <a:t>sayHello</a:t>
            </a:r>
            <a:r>
              <a:rPr lang="en-IN" dirty="0"/>
              <a:t>("Divya",26);  </a:t>
            </a:r>
          </a:p>
          <a:p>
            <a:r>
              <a:rPr lang="en-IN" dirty="0" err="1"/>
              <a:t>sayHello</a:t>
            </a:r>
            <a:r>
              <a:rPr lang="en-IN" dirty="0"/>
              <a:t>("Dheeraj",32);  </a:t>
            </a:r>
          </a:p>
          <a:p>
            <a:r>
              <a:rPr lang="en-IN" dirty="0"/>
              <a:t>?&gt;   </a:t>
            </a:r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5B991-2A04-142E-A201-BCDAD0E0DE74}"/>
              </a:ext>
            </a:extLst>
          </p:cNvPr>
          <p:cNvSpPr txBox="1"/>
          <p:nvPr/>
        </p:nvSpPr>
        <p:spPr>
          <a:xfrm>
            <a:off x="6280638" y="3244079"/>
            <a:ext cx="3761137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Sakshi, you are 23 years old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Divya, you are 26 years old</a:t>
            </a:r>
            <a:br>
              <a:rPr lang="en-US" b="1" dirty="0"/>
            </a:b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Dheeraj, you are 32 years old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16587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14BB-2F35-8C92-F1A3-21A87A46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05" y="156238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Call By Reference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06830-A83D-4432-32BD-EFF6B9D93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706" y="1134940"/>
            <a:ext cx="8596668" cy="4588119"/>
          </a:xfrm>
        </p:spPr>
        <p:txBody>
          <a:bodyPr/>
          <a:lstStyle/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Value passed to the function doesn't modify the actual value by default (call by value). </a:t>
            </a:r>
          </a:p>
          <a:p>
            <a:pPr algn="just"/>
            <a:endParaRPr lang="en-US" sz="2400" dirty="0">
              <a:solidFill>
                <a:srgbClr val="333333"/>
              </a:solidFill>
              <a:latin typeface="inter-regular"/>
            </a:endParaRP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But we can do so by passing value as a reference.</a:t>
            </a: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By default, value passed to the function is call by value. To pass value as a reference, you need to use ampersand (&amp;) symbol before the argument name.</a:t>
            </a:r>
          </a:p>
          <a:p>
            <a:pPr algn="just"/>
            <a:endParaRPr lang="en-US" sz="2400" b="0" i="0" dirty="0">
              <a:solidFill>
                <a:srgbClr val="333333"/>
              </a:solidFill>
              <a:effectLst/>
              <a:latin typeface="inter-regular"/>
            </a:endParaRPr>
          </a:p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inter-regular"/>
              </a:rPr>
              <a:t>Let's see a simple example of call by reference in PHP.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13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214BB-2F35-8C92-F1A3-21A87A46F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05" y="156238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610B38"/>
                </a:solidFill>
                <a:effectLst/>
                <a:latin typeface="erdana"/>
              </a:rPr>
              <a:t>PHP Call By Reference</a:t>
            </a:r>
            <a:br>
              <a:rPr lang="en-IN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D93DF-7E21-2A7D-23C2-E91E1F0E9C2D}"/>
              </a:ext>
            </a:extLst>
          </p:cNvPr>
          <p:cNvSpPr txBox="1"/>
          <p:nvPr/>
        </p:nvSpPr>
        <p:spPr>
          <a:xfrm>
            <a:off x="643619" y="1703632"/>
            <a:ext cx="7068910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dirty="0"/>
              <a:t>&lt;?</a:t>
            </a:r>
            <a:r>
              <a:rPr lang="en-IN" sz="2800" dirty="0" err="1"/>
              <a:t>php</a:t>
            </a:r>
            <a:r>
              <a:rPr lang="en-IN" sz="2800" dirty="0"/>
              <a:t>  </a:t>
            </a:r>
          </a:p>
          <a:p>
            <a:r>
              <a:rPr lang="en-IN" sz="2800" dirty="0"/>
              <a:t>function adder(</a:t>
            </a:r>
            <a:r>
              <a:rPr lang="en-IN" sz="2800" b="0" i="0" dirty="0">
                <a:solidFill>
                  <a:srgbClr val="610B38"/>
                </a:solidFill>
                <a:effectLst/>
                <a:latin typeface="erdana"/>
              </a:rPr>
              <a:t>&amp;</a:t>
            </a:r>
            <a:r>
              <a:rPr lang="en-IN" sz="2800" dirty="0"/>
              <a:t>$str2)  </a:t>
            </a:r>
          </a:p>
          <a:p>
            <a:r>
              <a:rPr lang="en-IN" sz="2800" dirty="0"/>
              <a:t>{  </a:t>
            </a:r>
          </a:p>
          <a:p>
            <a:r>
              <a:rPr lang="en-IN" sz="2800" dirty="0"/>
              <a:t>    $str2 .= 'Call By Reference';  </a:t>
            </a:r>
          </a:p>
          <a:p>
            <a:r>
              <a:rPr lang="en-IN" sz="2800" dirty="0"/>
              <a:t>    echo $str2;</a:t>
            </a:r>
          </a:p>
          <a:p>
            <a:r>
              <a:rPr lang="en-IN" sz="2800" dirty="0"/>
              <a:t>}  </a:t>
            </a:r>
          </a:p>
          <a:p>
            <a:r>
              <a:rPr lang="en-IN" sz="2800" dirty="0"/>
              <a:t>$str = 'Hello ';  </a:t>
            </a:r>
          </a:p>
          <a:p>
            <a:r>
              <a:rPr lang="en-IN" sz="2800" dirty="0"/>
              <a:t>adder($str);  </a:t>
            </a:r>
          </a:p>
          <a:p>
            <a:r>
              <a:rPr lang="en-IN" sz="2800" dirty="0"/>
              <a:t>?&gt;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3037F2-CB9F-2F53-79EB-E96325A6AD13}"/>
              </a:ext>
            </a:extLst>
          </p:cNvPr>
          <p:cNvSpPr txBox="1"/>
          <p:nvPr/>
        </p:nvSpPr>
        <p:spPr>
          <a:xfrm>
            <a:off x="6195334" y="3245899"/>
            <a:ext cx="4984294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Call By Reference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28202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289907-0090-44D1-C582-98A4BAACDAFE}"/>
              </a:ext>
            </a:extLst>
          </p:cNvPr>
          <p:cNvSpPr txBox="1"/>
          <p:nvPr/>
        </p:nvSpPr>
        <p:spPr>
          <a:xfrm>
            <a:off x="783403" y="1038416"/>
            <a:ext cx="4795463" cy="5016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1" dirty="0"/>
              <a:t>&lt;!DOCTYPE html&gt;</a:t>
            </a:r>
          </a:p>
          <a:p>
            <a:r>
              <a:rPr lang="en-IN" sz="2000" b="1" dirty="0"/>
              <a:t>&lt;html&gt;</a:t>
            </a:r>
          </a:p>
          <a:p>
            <a:r>
              <a:rPr lang="en-IN" sz="2000" b="1" dirty="0"/>
              <a:t>&lt;body&gt;</a:t>
            </a:r>
          </a:p>
          <a:p>
            <a:endParaRPr lang="en-IN" sz="2000" b="1" dirty="0"/>
          </a:p>
          <a:p>
            <a:r>
              <a:rPr lang="en-IN" sz="2000" b="1" dirty="0"/>
              <a:t>&lt;?</a:t>
            </a:r>
            <a:r>
              <a:rPr lang="en-IN" sz="2000" b="1" dirty="0" err="1"/>
              <a:t>php</a:t>
            </a:r>
            <a:endParaRPr lang="en-IN" sz="2000" b="1" dirty="0"/>
          </a:p>
          <a:p>
            <a:r>
              <a:rPr lang="en-IN" sz="2000" b="1" dirty="0"/>
              <a:t>function </a:t>
            </a:r>
            <a:r>
              <a:rPr lang="en-IN" sz="2000" b="1" dirty="0" err="1"/>
              <a:t>add_five</a:t>
            </a:r>
            <a:r>
              <a:rPr lang="en-IN" sz="2000" b="1" dirty="0"/>
              <a:t>(</a:t>
            </a:r>
            <a:r>
              <a:rPr lang="en-IN" sz="2000" b="0" i="0" dirty="0">
                <a:solidFill>
                  <a:srgbClr val="610B38"/>
                </a:solidFill>
                <a:effectLst/>
                <a:latin typeface="erdana"/>
              </a:rPr>
              <a:t>&amp;</a:t>
            </a:r>
            <a:r>
              <a:rPr lang="en-IN" sz="2000" b="1" dirty="0"/>
              <a:t>$value) {</a:t>
            </a:r>
          </a:p>
          <a:p>
            <a:r>
              <a:rPr lang="en-IN" sz="2000" b="1" dirty="0"/>
              <a:t>  $value += 5;</a:t>
            </a:r>
          </a:p>
          <a:p>
            <a:r>
              <a:rPr lang="en-IN" sz="2000" b="1" dirty="0"/>
              <a:t>}</a:t>
            </a:r>
          </a:p>
          <a:p>
            <a:endParaRPr lang="en-IN" sz="2000" b="1" dirty="0"/>
          </a:p>
          <a:p>
            <a:r>
              <a:rPr lang="en-IN" sz="2000" b="1" dirty="0"/>
              <a:t>$</a:t>
            </a:r>
            <a:r>
              <a:rPr lang="en-IN" sz="2000" b="1" dirty="0" err="1"/>
              <a:t>num</a:t>
            </a:r>
            <a:r>
              <a:rPr lang="en-IN" sz="2000" b="1" dirty="0"/>
              <a:t> = 2;</a:t>
            </a:r>
          </a:p>
          <a:p>
            <a:r>
              <a:rPr lang="en-IN" sz="2000" b="1" dirty="0" err="1"/>
              <a:t>add_five</a:t>
            </a:r>
            <a:r>
              <a:rPr lang="en-IN" sz="2000" b="1" dirty="0"/>
              <a:t>($</a:t>
            </a:r>
            <a:r>
              <a:rPr lang="en-IN" sz="2000" b="1" dirty="0" err="1"/>
              <a:t>num</a:t>
            </a:r>
            <a:r>
              <a:rPr lang="en-IN" sz="2000" b="1" dirty="0"/>
              <a:t>);</a:t>
            </a:r>
          </a:p>
          <a:p>
            <a:r>
              <a:rPr lang="en-IN" sz="2000" b="1" dirty="0"/>
              <a:t>echo $</a:t>
            </a:r>
            <a:r>
              <a:rPr lang="en-IN" sz="2000" b="1" dirty="0" err="1"/>
              <a:t>num</a:t>
            </a:r>
            <a:r>
              <a:rPr lang="en-IN" sz="2000" b="1" dirty="0"/>
              <a:t>;</a:t>
            </a:r>
          </a:p>
          <a:p>
            <a:r>
              <a:rPr lang="en-IN" sz="2000" b="1" dirty="0"/>
              <a:t>?&gt;</a:t>
            </a:r>
          </a:p>
          <a:p>
            <a:endParaRPr lang="en-IN" sz="2000" b="1" dirty="0"/>
          </a:p>
          <a:p>
            <a:r>
              <a:rPr lang="en-IN" sz="2000" b="1" dirty="0"/>
              <a:t>&lt;/body&gt;</a:t>
            </a:r>
          </a:p>
          <a:p>
            <a:r>
              <a:rPr lang="en-IN" sz="2000" b="1" dirty="0"/>
              <a:t>&lt;/html&gt;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B90629-EA11-84F3-CD2A-241C077582AE}"/>
              </a:ext>
            </a:extLst>
          </p:cNvPr>
          <p:cNvSpPr txBox="1"/>
          <p:nvPr/>
        </p:nvSpPr>
        <p:spPr>
          <a:xfrm>
            <a:off x="5974422" y="2291137"/>
            <a:ext cx="148461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Output:</a:t>
            </a:r>
          </a:p>
          <a:p>
            <a:endParaRPr lang="en-IN" dirty="0"/>
          </a:p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7224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CF536-4BED-E024-5EDF-F9335680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PHP Function: Default Argument Value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E6829-D5A6-C90C-BBAF-BFBE58539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4501"/>
            <a:ext cx="8596668" cy="4326862"/>
          </a:xfrm>
        </p:spPr>
        <p:txBody>
          <a:bodyPr>
            <a:normAutofit/>
          </a:bodyPr>
          <a:lstStyle/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can specify a default argument value in function. </a:t>
            </a:r>
          </a:p>
          <a:p>
            <a:pPr algn="just"/>
            <a:endParaRPr lang="en-US" sz="2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calling PHP function if you don't specify any argument, it will take the default argument. </a:t>
            </a:r>
          </a:p>
          <a:p>
            <a:pPr algn="just"/>
            <a:endParaRPr lang="en-US" sz="28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see a simple example of using default argument value in PHP function.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726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F7E022-4D54-346F-B7DE-A20E10CFB3C5}"/>
              </a:ext>
            </a:extLst>
          </p:cNvPr>
          <p:cNvSpPr txBox="1"/>
          <p:nvPr/>
        </p:nvSpPr>
        <p:spPr>
          <a:xfrm>
            <a:off x="616403" y="612844"/>
            <a:ext cx="4995183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&lt;!DOCTYPE html&gt;</a:t>
            </a:r>
          </a:p>
          <a:p>
            <a:r>
              <a:rPr lang="en-IN" sz="2400" dirty="0"/>
              <a:t>&lt;html&gt;</a:t>
            </a:r>
          </a:p>
          <a:p>
            <a:r>
              <a:rPr lang="en-IN" sz="2400" dirty="0"/>
              <a:t>&lt;body&gt;</a:t>
            </a:r>
          </a:p>
          <a:p>
            <a:endParaRPr lang="en-IN" sz="2400" dirty="0"/>
          </a:p>
          <a:p>
            <a:r>
              <a:rPr lang="en-IN" sz="2400" dirty="0"/>
              <a:t>&lt;?</a:t>
            </a:r>
            <a:r>
              <a:rPr lang="en-IN" sz="2400" dirty="0" err="1"/>
              <a:t>php</a:t>
            </a:r>
            <a:r>
              <a:rPr lang="en-IN" sz="2400" dirty="0"/>
              <a:t>  </a:t>
            </a:r>
          </a:p>
          <a:p>
            <a:r>
              <a:rPr lang="en-IN" sz="2400" dirty="0"/>
              <a:t>function </a:t>
            </a:r>
            <a:r>
              <a:rPr lang="en-IN" sz="2400" dirty="0" err="1"/>
              <a:t>sayHello</a:t>
            </a:r>
            <a:r>
              <a:rPr lang="en-IN" sz="2400" dirty="0"/>
              <a:t>($name="Rohit"){  </a:t>
            </a:r>
          </a:p>
          <a:p>
            <a:r>
              <a:rPr lang="en-IN" sz="2400" dirty="0"/>
              <a:t>echo "Hello $name&lt;</a:t>
            </a:r>
            <a:r>
              <a:rPr lang="en-IN" sz="2400" dirty="0" err="1"/>
              <a:t>br</a:t>
            </a:r>
            <a:r>
              <a:rPr lang="en-IN" sz="2400" dirty="0"/>
              <a:t>/&gt;";  </a:t>
            </a:r>
          </a:p>
          <a:p>
            <a:r>
              <a:rPr lang="en-IN" sz="2400" dirty="0"/>
              <a:t>}  </a:t>
            </a:r>
          </a:p>
          <a:p>
            <a:endParaRPr lang="en-IN" sz="2400" dirty="0"/>
          </a:p>
          <a:p>
            <a:r>
              <a:rPr lang="en-IN" sz="2400" dirty="0" err="1"/>
              <a:t>sayHello</a:t>
            </a:r>
            <a:r>
              <a:rPr lang="en-IN" sz="2400" dirty="0"/>
              <a:t>("Ankur");  </a:t>
            </a:r>
          </a:p>
          <a:p>
            <a:r>
              <a:rPr lang="en-IN" sz="2400" dirty="0" err="1">
                <a:solidFill>
                  <a:srgbClr val="FF0000"/>
                </a:solidFill>
              </a:rPr>
              <a:t>sayHello</a:t>
            </a:r>
            <a:r>
              <a:rPr lang="en-IN" sz="2400" dirty="0">
                <a:solidFill>
                  <a:srgbClr val="FF0000"/>
                </a:solidFill>
              </a:rPr>
              <a:t>(); </a:t>
            </a:r>
            <a:r>
              <a:rPr lang="en-IN" sz="2400" dirty="0"/>
              <a:t>//passing no value  </a:t>
            </a:r>
          </a:p>
          <a:p>
            <a:r>
              <a:rPr lang="en-IN" sz="2400" dirty="0" err="1"/>
              <a:t>sayHello</a:t>
            </a:r>
            <a:r>
              <a:rPr lang="en-IN" sz="2400" dirty="0"/>
              <a:t>("Vishal");  </a:t>
            </a:r>
          </a:p>
          <a:p>
            <a:r>
              <a:rPr lang="en-IN" sz="2400" dirty="0"/>
              <a:t>?&gt;</a:t>
            </a:r>
          </a:p>
          <a:p>
            <a:r>
              <a:rPr lang="en-IN" sz="2400" dirty="0"/>
              <a:t>&lt;/body&gt;</a:t>
            </a:r>
          </a:p>
          <a:p>
            <a:r>
              <a:rPr lang="en-IN" sz="2400" dirty="0"/>
              <a:t>&lt;/html&gt;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BE33D-C9BC-00F1-68A0-7356F4C842EE}"/>
              </a:ext>
            </a:extLst>
          </p:cNvPr>
          <p:cNvSpPr txBox="1"/>
          <p:nvPr/>
        </p:nvSpPr>
        <p:spPr>
          <a:xfrm>
            <a:off x="5885090" y="2186286"/>
            <a:ext cx="1854653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b-NO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nb-NO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nb-NO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Ankur</a:t>
            </a:r>
            <a:br>
              <a:rPr lang="nb-NO" sz="2400" b="1" dirty="0"/>
            </a:br>
            <a:r>
              <a:rPr lang="nb-NO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Rohit</a:t>
            </a:r>
            <a:br>
              <a:rPr lang="nb-NO" sz="2400" b="1" dirty="0"/>
            </a:br>
            <a:r>
              <a:rPr lang="nb-NO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Hello Vishal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627018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16A3BC-1193-82BC-2CC2-9C4ACD82E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171" y="552973"/>
            <a:ext cx="8474530" cy="563231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solidFill>
                  <a:srgbClr val="000000"/>
                </a:solidFill>
                <a:latin typeface="Verdana" panose="020B0604030504040204" pitchFamily="34" charset="0"/>
              </a:rPr>
              <a:t>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 did not have to tell PHP which data type the variable is.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PHP automatically associates a data type to the variable, depending on its value.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Since the data types are not set in a strict sense, you can do things like adding a string to an integer without causing an error.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PHP 7, type declarations were added.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This gives us an option to specify the expected data type when declaring a function, and by adding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declaration, it will throw a "Fatal Error" if the data type mismatches.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the following example we try to send both a number and a string to the function without using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strict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536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2D30CE-9791-6613-4670-44AF5A89F36E}"/>
              </a:ext>
            </a:extLst>
          </p:cNvPr>
          <p:cNvSpPr txBox="1"/>
          <p:nvPr/>
        </p:nvSpPr>
        <p:spPr>
          <a:xfrm>
            <a:off x="681717" y="829759"/>
            <a:ext cx="7683953" cy="30469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dirty="0"/>
              <a:t>&lt;?</a:t>
            </a:r>
            <a:r>
              <a:rPr lang="en-IN" sz="2400" dirty="0" err="1"/>
              <a:t>php</a:t>
            </a:r>
            <a:endParaRPr lang="en-IN" sz="2400" dirty="0"/>
          </a:p>
          <a:p>
            <a:r>
              <a:rPr lang="en-IN" sz="2400" dirty="0"/>
              <a:t>function </a:t>
            </a:r>
            <a:r>
              <a:rPr lang="en-IN" sz="2400" dirty="0" err="1"/>
              <a:t>addNumbers</a:t>
            </a:r>
            <a:r>
              <a:rPr lang="en-IN" sz="2400" dirty="0"/>
              <a:t>(int $a, int $b) {</a:t>
            </a:r>
          </a:p>
          <a:p>
            <a:r>
              <a:rPr lang="en-IN" sz="2400" dirty="0"/>
              <a:t>  return $a + $b;</a:t>
            </a:r>
          </a:p>
          <a:p>
            <a:r>
              <a:rPr lang="en-IN" sz="2400" dirty="0"/>
              <a:t>}</a:t>
            </a:r>
          </a:p>
          <a:p>
            <a:r>
              <a:rPr lang="en-IN" sz="2400" dirty="0"/>
              <a:t>echo </a:t>
            </a:r>
            <a:r>
              <a:rPr lang="en-IN" sz="2400" dirty="0" err="1"/>
              <a:t>addNumbers</a:t>
            </a:r>
            <a:r>
              <a:rPr lang="en-IN" sz="2400" dirty="0"/>
              <a:t>(5, "5 days"); </a:t>
            </a:r>
          </a:p>
          <a:p>
            <a:r>
              <a:rPr lang="en-IN" sz="2400" dirty="0"/>
              <a:t>// since strict is NOT enabled "5 days" is changed to int(5), and it will return 10</a:t>
            </a:r>
          </a:p>
          <a:p>
            <a:r>
              <a:rPr lang="en-IN" sz="2400" dirty="0"/>
              <a:t>?&gt;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9F4C3B-F96E-97FB-3062-3F2BE431F677}"/>
              </a:ext>
            </a:extLst>
          </p:cNvPr>
          <p:cNvSpPr txBox="1"/>
          <p:nvPr/>
        </p:nvSpPr>
        <p:spPr>
          <a:xfrm>
            <a:off x="5693228" y="4517571"/>
            <a:ext cx="2857500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400" dirty="0"/>
              <a:t>Output:</a:t>
            </a:r>
          </a:p>
          <a:p>
            <a:r>
              <a:rPr lang="en-IN" sz="2400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601207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AFF6CB-5B8C-5B65-F512-C247AEE9DC4A}"/>
              </a:ext>
            </a:extLst>
          </p:cNvPr>
          <p:cNvSpPr txBox="1"/>
          <p:nvPr/>
        </p:nvSpPr>
        <p:spPr>
          <a:xfrm>
            <a:off x="855888" y="783789"/>
            <a:ext cx="7096125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000" b="1" dirty="0"/>
              <a:t>&lt;?</a:t>
            </a:r>
            <a:r>
              <a:rPr lang="en-IN" sz="2000" b="1" dirty="0" err="1"/>
              <a:t>php</a:t>
            </a:r>
            <a:r>
              <a:rPr lang="en-IN" sz="2000" b="1" dirty="0"/>
              <a:t> declare(</a:t>
            </a:r>
            <a:r>
              <a:rPr lang="en-IN" sz="2000" b="1" dirty="0" err="1"/>
              <a:t>strict_types</a:t>
            </a:r>
            <a:r>
              <a:rPr lang="en-IN" sz="2000" b="1" dirty="0"/>
              <a:t>=1); // strict requirement</a:t>
            </a:r>
          </a:p>
          <a:p>
            <a:endParaRPr lang="en-IN" sz="2000" b="1" dirty="0"/>
          </a:p>
          <a:p>
            <a:r>
              <a:rPr lang="en-IN" sz="2000" b="1" dirty="0"/>
              <a:t>function </a:t>
            </a:r>
            <a:r>
              <a:rPr lang="en-IN" sz="2000" b="1" dirty="0" err="1"/>
              <a:t>addNumbers</a:t>
            </a:r>
            <a:r>
              <a:rPr lang="en-IN" sz="2000" b="1" dirty="0"/>
              <a:t>(int $a, int $b) {</a:t>
            </a:r>
          </a:p>
          <a:p>
            <a:r>
              <a:rPr lang="en-IN" sz="2000" b="1" dirty="0"/>
              <a:t>  return $a + $b;</a:t>
            </a:r>
          </a:p>
          <a:p>
            <a:r>
              <a:rPr lang="en-IN" sz="2000" b="1" dirty="0"/>
              <a:t>}</a:t>
            </a:r>
          </a:p>
          <a:p>
            <a:r>
              <a:rPr lang="en-IN" sz="2000" b="1" dirty="0"/>
              <a:t>echo </a:t>
            </a:r>
            <a:r>
              <a:rPr lang="en-IN" sz="2000" b="1" dirty="0" err="1"/>
              <a:t>addNumbers</a:t>
            </a:r>
            <a:r>
              <a:rPr lang="en-IN" sz="2000" b="1" dirty="0"/>
              <a:t>(5, "5 days"); </a:t>
            </a:r>
          </a:p>
          <a:p>
            <a:r>
              <a:rPr lang="en-IN" sz="2000" b="1" dirty="0"/>
              <a:t>// since strict is enabled and "5 days" is not an integer, an error will be thrown</a:t>
            </a:r>
          </a:p>
          <a:p>
            <a:r>
              <a:rPr lang="en-IN" sz="2000" b="1" dirty="0"/>
              <a:t>?&gt;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A5A50-304C-BD2C-0AC9-1BC9CCF7BDD2}"/>
              </a:ext>
            </a:extLst>
          </p:cNvPr>
          <p:cNvSpPr txBox="1"/>
          <p:nvPr/>
        </p:nvSpPr>
        <p:spPr>
          <a:xfrm>
            <a:off x="1879146" y="4405129"/>
            <a:ext cx="7379153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PHP Fatal error: Uncaught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TypeError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 Argument 2 passed to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addNumbers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() must be of the type integer, string given, called in /home/bWN0Ml/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prog.php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on line 6 and defined in /home/bWN0Ml/prog.php:3 Stack trace: #0 /home/bWN0Ml/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prog.php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(6):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addNumbers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(5, '5 days') #1 {main} thrown in /home/bWN0Ml/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prog.php</a:t>
            </a:r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on line 3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64840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08ECF-E292-6FEB-6B0B-06CD46E1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89" y="133003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Functions - Returning values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DD841C-A3CD-25DC-AEF7-6F6112CF81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2040" y="1093691"/>
            <a:ext cx="1055593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let a function return a value, use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B14410-AAD6-CC64-80E9-E47C2FBFE941}"/>
              </a:ext>
            </a:extLst>
          </p:cNvPr>
          <p:cNvSpPr txBox="1"/>
          <p:nvPr/>
        </p:nvSpPr>
        <p:spPr>
          <a:xfrm>
            <a:off x="638695" y="1555356"/>
            <a:ext cx="6098770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&lt;?</a:t>
            </a:r>
            <a:r>
              <a:rPr lang="en-IN" b="1" dirty="0" err="1"/>
              <a:t>php</a:t>
            </a:r>
            <a:r>
              <a:rPr lang="en-IN" b="1" dirty="0"/>
              <a:t> declare(</a:t>
            </a:r>
            <a:r>
              <a:rPr lang="en-IN" b="1" dirty="0" err="1"/>
              <a:t>strict_types</a:t>
            </a:r>
            <a:r>
              <a:rPr lang="en-IN" b="1" dirty="0"/>
              <a:t>=1); // strict requirement ?&gt;</a:t>
            </a:r>
          </a:p>
          <a:p>
            <a:r>
              <a:rPr lang="en-IN" b="1" dirty="0"/>
              <a:t>&lt;!DOCTYPE html&gt;</a:t>
            </a:r>
          </a:p>
          <a:p>
            <a:r>
              <a:rPr lang="en-IN" b="1" dirty="0"/>
              <a:t>&lt;html&gt;</a:t>
            </a:r>
          </a:p>
          <a:p>
            <a:r>
              <a:rPr lang="en-IN" b="1" dirty="0"/>
              <a:t>&lt;body&gt;</a:t>
            </a:r>
          </a:p>
          <a:p>
            <a:endParaRPr lang="en-IN" b="1" dirty="0"/>
          </a:p>
          <a:p>
            <a:r>
              <a:rPr lang="en-IN" b="1" dirty="0"/>
              <a:t>&lt;?</a:t>
            </a:r>
            <a:r>
              <a:rPr lang="en-IN" b="1" dirty="0" err="1"/>
              <a:t>php</a:t>
            </a:r>
            <a:endParaRPr lang="en-IN" b="1" dirty="0"/>
          </a:p>
          <a:p>
            <a:r>
              <a:rPr lang="en-IN" b="1" dirty="0"/>
              <a:t>function sum(int $x, int $y) {</a:t>
            </a:r>
          </a:p>
          <a:p>
            <a:r>
              <a:rPr lang="en-IN" b="1" dirty="0"/>
              <a:t>  $z = $x + $y;</a:t>
            </a:r>
          </a:p>
          <a:p>
            <a:r>
              <a:rPr lang="en-IN" b="1" dirty="0"/>
              <a:t>  return $z;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echo "5 + 10 = " . sum(5,10) . "&lt;</a:t>
            </a:r>
            <a:r>
              <a:rPr lang="en-IN" b="1" dirty="0" err="1"/>
              <a:t>br</a:t>
            </a:r>
            <a:r>
              <a:rPr lang="en-IN" b="1" dirty="0"/>
              <a:t>&gt;";</a:t>
            </a:r>
          </a:p>
          <a:p>
            <a:r>
              <a:rPr lang="en-IN" b="1" dirty="0"/>
              <a:t>echo "7 + 13 = " . sum(7,13) . "&lt;</a:t>
            </a:r>
            <a:r>
              <a:rPr lang="en-IN" b="1" dirty="0" err="1"/>
              <a:t>br</a:t>
            </a:r>
            <a:r>
              <a:rPr lang="en-IN" b="1" dirty="0"/>
              <a:t>&gt;";</a:t>
            </a:r>
          </a:p>
          <a:p>
            <a:r>
              <a:rPr lang="en-IN" b="1" dirty="0"/>
              <a:t>echo "2 + 4 = " . sum(2,4);</a:t>
            </a:r>
          </a:p>
          <a:p>
            <a:r>
              <a:rPr lang="en-IN" b="1" dirty="0"/>
              <a:t>?&gt;</a:t>
            </a:r>
          </a:p>
          <a:p>
            <a:endParaRPr lang="en-IN" b="1" dirty="0"/>
          </a:p>
          <a:p>
            <a:r>
              <a:rPr lang="en-IN" b="1" dirty="0"/>
              <a:t>&lt;/body&gt;</a:t>
            </a:r>
          </a:p>
          <a:p>
            <a:r>
              <a:rPr lang="en-IN" b="1" dirty="0"/>
              <a:t>&lt;/html&gt;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0DEFC1-F967-4AB3-BC8E-0C863EBBE47F}"/>
              </a:ext>
            </a:extLst>
          </p:cNvPr>
          <p:cNvSpPr txBox="1"/>
          <p:nvPr/>
        </p:nvSpPr>
        <p:spPr>
          <a:xfrm>
            <a:off x="7250084" y="2900833"/>
            <a:ext cx="1666701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IN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 + 10 = 15</a:t>
            </a:r>
            <a:br>
              <a:rPr lang="en-IN" sz="2400" b="1" dirty="0"/>
            </a:br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 + 13 = 20</a:t>
            </a:r>
            <a:br>
              <a:rPr lang="en-IN" sz="2400" b="1" dirty="0"/>
            </a:br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 + 4 = 6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52764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92F1D-85DA-991E-BA3D-98D13A61A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77" y="482809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Return Type Declarations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C62B9F-9FB1-E3E0-BAB4-1DB2044E5B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7349" y="1767557"/>
            <a:ext cx="9566123" cy="394723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PHP 7 also supports Type Declarations for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Like with the type declaration for function arguments, by enabling the strict requirement, it will throw a "Fatal Error" on a type mismatch.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1050" dirty="0"/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declare a type for the function return, add a colon (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and the type right before the opening curly (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)bracket when declaring the function.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32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D39B70-E4C3-C6FA-E65A-95947626444E}"/>
              </a:ext>
            </a:extLst>
          </p:cNvPr>
          <p:cNvSpPr txBox="1"/>
          <p:nvPr/>
        </p:nvSpPr>
        <p:spPr>
          <a:xfrm>
            <a:off x="469446" y="687658"/>
            <a:ext cx="782546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/>
              <a:t>&lt;?</a:t>
            </a:r>
            <a:r>
              <a:rPr lang="en-IN" sz="2400" b="1" dirty="0" err="1"/>
              <a:t>php</a:t>
            </a:r>
            <a:r>
              <a:rPr lang="en-IN" sz="2400" b="1" dirty="0"/>
              <a:t> declare(</a:t>
            </a:r>
            <a:r>
              <a:rPr lang="en-IN" sz="2400" b="1" dirty="0" err="1"/>
              <a:t>strict_types</a:t>
            </a:r>
            <a:r>
              <a:rPr lang="en-IN" sz="2400" b="1" dirty="0"/>
              <a:t>=1); // strict requirement</a:t>
            </a:r>
          </a:p>
          <a:p>
            <a:r>
              <a:rPr lang="en-IN" sz="2400" b="1" dirty="0"/>
              <a:t>function </a:t>
            </a:r>
            <a:r>
              <a:rPr lang="en-IN" sz="2400" b="1" dirty="0" err="1"/>
              <a:t>addNumbers</a:t>
            </a:r>
            <a:r>
              <a:rPr lang="en-IN" sz="2400" b="1" dirty="0"/>
              <a:t>(float $a, float $b) : float {</a:t>
            </a:r>
          </a:p>
          <a:p>
            <a:r>
              <a:rPr lang="en-IN" sz="2400" b="1" dirty="0"/>
              <a:t>  return $a + $b;</a:t>
            </a:r>
          </a:p>
          <a:p>
            <a:r>
              <a:rPr lang="en-IN" sz="2400" b="1" dirty="0"/>
              <a:t>}</a:t>
            </a:r>
          </a:p>
          <a:p>
            <a:r>
              <a:rPr lang="en-IN" sz="2400" b="1" dirty="0"/>
              <a:t>echo </a:t>
            </a:r>
            <a:r>
              <a:rPr lang="en-IN" sz="2400" b="1" dirty="0" err="1"/>
              <a:t>addNumbers</a:t>
            </a:r>
            <a:r>
              <a:rPr lang="en-IN" sz="2400" b="1" dirty="0"/>
              <a:t>(1.2, 5.2); </a:t>
            </a:r>
          </a:p>
          <a:p>
            <a:r>
              <a:rPr lang="en-IN" sz="2400" b="1" dirty="0"/>
              <a:t>?&gt;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029C4-E910-DB98-D1C0-BEED06A51519}"/>
              </a:ext>
            </a:extLst>
          </p:cNvPr>
          <p:cNvSpPr txBox="1"/>
          <p:nvPr/>
        </p:nvSpPr>
        <p:spPr>
          <a:xfrm>
            <a:off x="7817305" y="1715184"/>
            <a:ext cx="114163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6.4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A60D07-47DA-04BB-47F9-C472E64E8A47}"/>
              </a:ext>
            </a:extLst>
          </p:cNvPr>
          <p:cNvSpPr txBox="1"/>
          <p:nvPr/>
        </p:nvSpPr>
        <p:spPr>
          <a:xfrm>
            <a:off x="659946" y="3915272"/>
            <a:ext cx="7009039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/>
              <a:t>&lt;?</a:t>
            </a:r>
            <a:r>
              <a:rPr lang="en-IN" sz="2400" b="1" dirty="0" err="1"/>
              <a:t>php</a:t>
            </a:r>
            <a:r>
              <a:rPr lang="en-IN" sz="2400" b="1" dirty="0"/>
              <a:t> declare(</a:t>
            </a:r>
            <a:r>
              <a:rPr lang="en-IN" sz="2400" b="1" dirty="0" err="1"/>
              <a:t>strict_types</a:t>
            </a:r>
            <a:r>
              <a:rPr lang="en-IN" sz="2400" b="1" dirty="0"/>
              <a:t>=1); // strict requirement</a:t>
            </a:r>
          </a:p>
          <a:p>
            <a:r>
              <a:rPr lang="en-IN" sz="2400" b="1" dirty="0"/>
              <a:t>function </a:t>
            </a:r>
            <a:r>
              <a:rPr lang="en-IN" sz="2400" b="1" dirty="0" err="1"/>
              <a:t>addNumbers</a:t>
            </a:r>
            <a:r>
              <a:rPr lang="en-IN" sz="2400" b="1" dirty="0"/>
              <a:t>(float $a, float $b) : int {</a:t>
            </a:r>
          </a:p>
          <a:p>
            <a:r>
              <a:rPr lang="en-IN" sz="2400" b="1" dirty="0"/>
              <a:t>  return (int)($a + $b);</a:t>
            </a:r>
          </a:p>
          <a:p>
            <a:r>
              <a:rPr lang="en-IN" sz="2400" b="1" dirty="0"/>
              <a:t>}</a:t>
            </a:r>
          </a:p>
          <a:p>
            <a:r>
              <a:rPr lang="en-IN" sz="2400" b="1" dirty="0"/>
              <a:t>echo </a:t>
            </a:r>
            <a:r>
              <a:rPr lang="en-IN" sz="2400" b="1" dirty="0" err="1"/>
              <a:t>addNumbers</a:t>
            </a:r>
            <a:r>
              <a:rPr lang="en-IN" sz="2400" b="1" dirty="0"/>
              <a:t>(1.2, 5.2); </a:t>
            </a:r>
          </a:p>
          <a:p>
            <a:r>
              <a:rPr lang="en-IN" sz="2400" b="1" dirty="0"/>
              <a:t>?&gt;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B8107-2766-22CB-6525-B5F01C92FA1E}"/>
              </a:ext>
            </a:extLst>
          </p:cNvPr>
          <p:cNvSpPr txBox="1"/>
          <p:nvPr/>
        </p:nvSpPr>
        <p:spPr>
          <a:xfrm>
            <a:off x="7463519" y="5254100"/>
            <a:ext cx="114163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07963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DF518-C0C3-A3A4-A7EF-77EA02EB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>
                <a:solidFill>
                  <a:srgbClr val="610B38"/>
                </a:solidFill>
                <a:effectLst/>
                <a:latin typeface="erdana"/>
              </a:rPr>
              <a:t>PHP Variable Length Argument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6E3A8-416E-3D2E-E2D6-6194CC6DF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8180"/>
            <a:ext cx="8596668" cy="469741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 supports variable length argument function. </a:t>
            </a:r>
          </a:p>
          <a:p>
            <a:pPr algn="just"/>
            <a:endParaRPr lang="en-US" sz="2800" b="1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means you can pass 0, 1 or n number of arguments in function.</a:t>
            </a:r>
          </a:p>
          <a:p>
            <a:pPr algn="just"/>
            <a:endParaRPr lang="en-US" sz="28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do so, you need to use 3 ellipses (dots) before the argument name.</a:t>
            </a:r>
          </a:p>
          <a:p>
            <a:pPr algn="just"/>
            <a:endParaRPr lang="en-US" sz="28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3 dot concept is implemented for variable length argument since PHP 5.6.</a:t>
            </a:r>
          </a:p>
          <a:p>
            <a:pPr algn="just"/>
            <a:endParaRPr lang="en-US" sz="28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Let's see a simple example of PHP variable length argument function.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77099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972409-1F9B-4500-6D79-FAB147618C47}"/>
              </a:ext>
            </a:extLst>
          </p:cNvPr>
          <p:cNvSpPr txBox="1"/>
          <p:nvPr/>
        </p:nvSpPr>
        <p:spPr>
          <a:xfrm>
            <a:off x="711485" y="1012954"/>
            <a:ext cx="6097712" cy="4832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&lt;?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inter-regular"/>
              </a:rPr>
              <a:t>php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2800" b="1" i="0" dirty="0">
                <a:solidFill>
                  <a:srgbClr val="006699"/>
                </a:solidFill>
                <a:effectLst/>
                <a:latin typeface="inter-regular"/>
              </a:rPr>
              <a:t>function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add(...$numbers) {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  $sum = 0;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inter-regular"/>
              </a:rPr>
              <a:t>foreach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($numbers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inter-regular"/>
              </a:rPr>
              <a:t>as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$n) {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      $sum += $n;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  }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  </a:t>
            </a:r>
            <a:r>
              <a:rPr lang="en-US" sz="2800" b="1" i="0" dirty="0">
                <a:solidFill>
                  <a:srgbClr val="006699"/>
                </a:solidFill>
                <a:effectLst/>
                <a:latin typeface="inter-regular"/>
              </a:rPr>
              <a:t>return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$sum;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}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echo add(1, 2, 3, 4);  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inter-regular"/>
              </a:rPr>
              <a:t>?&gt;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124730-D5A5-63DB-DA4C-EE5D4DEE303E}"/>
              </a:ext>
            </a:extLst>
          </p:cNvPr>
          <p:cNvSpPr txBox="1"/>
          <p:nvPr/>
        </p:nvSpPr>
        <p:spPr>
          <a:xfrm>
            <a:off x="7099443" y="3349375"/>
            <a:ext cx="1021433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b="1" dirty="0"/>
              <a:t>Output:</a:t>
            </a:r>
          </a:p>
          <a:p>
            <a:r>
              <a:rPr lang="en-IN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27729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A8846-F183-01F1-A39F-9B2C09ECE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91" y="141514"/>
            <a:ext cx="8596668" cy="1320800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include and require Statements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28E85-4CFB-6FAC-2830-0C74CC353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447" y="903288"/>
            <a:ext cx="9397396" cy="6743925"/>
          </a:xfrm>
        </p:spPr>
        <p:txBody>
          <a:bodyPr>
            <a:normAutofit/>
          </a:bodyPr>
          <a:lstStyle/>
          <a:p>
            <a:pPr algn="just"/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require() and include() Functions are utilized to add the external PHP files in the current PHP script.</a:t>
            </a:r>
            <a:endParaRPr lang="en-US" sz="2400" b="1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(or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statement takes all the text/code/markup that exists in the specified file and copies it into the file that uses the include statement.</a:t>
            </a:r>
          </a:p>
          <a:p>
            <a:pPr algn="just"/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Including files is very useful when you want to include the same PHP, HTML, or text on multiple pages of a website.</a:t>
            </a:r>
            <a:endParaRPr lang="en-US" sz="2400" b="1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this, both functions enhance the code reusability, along with breaking down large applications into smaller, more manageable parts.</a:t>
            </a:r>
          </a:p>
          <a:p>
            <a:pPr algn="just"/>
            <a:r>
              <a:rPr lang="en-US" sz="24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Including files saves a lot of work. This means that you can create a standard header, footer, or menu file for all your web pages. </a:t>
            </a:r>
          </a:p>
          <a:p>
            <a:pPr algn="just"/>
            <a:r>
              <a:rPr lang="en-US" sz="2400" b="1" dirty="0">
                <a:solidFill>
                  <a:srgbClr val="27323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Then, when the header needs to be updated, you can only update the header include file.</a:t>
            </a:r>
          </a:p>
          <a:p>
            <a:pPr algn="just"/>
            <a:endParaRPr lang="en-US" sz="3600" b="1" dirty="0">
              <a:solidFill>
                <a:srgbClr val="27323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A15BE8-CAFA-20B1-7F36-1299D6B75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1"/>
            <a:ext cx="240772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36816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4ABA4-CADF-9996-1AE8-3F5E024D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72778-3BA9-8051-83A2-6B2A7D1FF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7997" y="1930400"/>
            <a:ext cx="4070631" cy="234609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l">
              <a:buNone/>
            </a:pPr>
            <a:endParaRPr lang="en-US" sz="2400" b="1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l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include '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';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require '</a:t>
            </a:r>
            <a:r>
              <a:rPr lang="en-US" sz="24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';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4984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BDD3-0EB0-4C99-467D-9BF12E88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20" y="208418"/>
            <a:ext cx="8596668" cy="1320800"/>
          </a:xfrm>
        </p:spPr>
        <p:txBody>
          <a:bodyPr/>
          <a:lstStyle/>
          <a:p>
            <a:r>
              <a:rPr lang="en-IN" b="1" dirty="0"/>
              <a:t>PHP include()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4C546-DF64-B0C5-BDC1-79557D733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748" y="1326018"/>
            <a:ext cx="9468152" cy="5328782"/>
          </a:xfrm>
        </p:spPr>
        <p:txBody>
          <a:bodyPr>
            <a:normAutofit/>
          </a:bodyPr>
          <a:lstStyle/>
          <a:p>
            <a:pPr algn="just"/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include() function in PHP is basically used to include the contents/code/data of one PHP file to another PHP file.</a:t>
            </a:r>
          </a:p>
          <a:p>
            <a:pPr algn="just"/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During this process if there are any kind of errors then this include() function will pop up a warning, it will not stop the execution of the script rather the script will continue its process. </a:t>
            </a:r>
          </a:p>
          <a:p>
            <a:pPr algn="just"/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order to use this include() function, we will first need to create two PHP files. </a:t>
            </a:r>
          </a:p>
          <a:p>
            <a:pPr algn="just"/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the include() function, include one PHP file into another one. </a:t>
            </a:r>
          </a:p>
          <a:p>
            <a:pPr algn="just"/>
            <a:r>
              <a:rPr lang="en-US" sz="24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that, you will see two PHP files combined into one HTML file. 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428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4275-7B09-795A-341B-499A545E9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 include Examples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85606-CBDD-833C-CCBC-DFA37B1A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43" y="2988888"/>
            <a:ext cx="11365038" cy="162190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sz="2000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lang="en-IN" sz="2000" b="1" dirty="0"/>
            </a:br>
            <a:r>
              <a:rPr lang="en-IN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echo "&lt;p&gt;Copyright &amp;copy; 1999-" . date("Y") . “ www.glauniversity.ac.in&lt;/p&gt;";</a:t>
            </a:r>
            <a:br>
              <a:rPr lang="en-IN" sz="2000" b="1" dirty="0"/>
            </a:br>
            <a:r>
              <a:rPr lang="en-IN" sz="20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?&gt;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578D64-C224-1986-A58F-3509E3BE3CB4}"/>
              </a:ext>
            </a:extLst>
          </p:cNvPr>
          <p:cNvSpPr txBox="1"/>
          <p:nvPr/>
        </p:nvSpPr>
        <p:spPr>
          <a:xfrm>
            <a:off x="349135" y="1734589"/>
            <a:ext cx="93047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Assume we have a standard footer file called "</a:t>
            </a:r>
            <a:r>
              <a:rPr lang="en-US" sz="240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footer.php</a:t>
            </a:r>
            <a:r>
              <a:rPr lang="en-US" sz="240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", that looks like this:</a:t>
            </a:r>
            <a:r>
              <a:rPr lang="en-IN" sz="240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1F019-9321-596B-DB80-E7F59D21376F}"/>
              </a:ext>
            </a:extLst>
          </p:cNvPr>
          <p:cNvSpPr txBox="1"/>
          <p:nvPr/>
        </p:nvSpPr>
        <p:spPr>
          <a:xfrm>
            <a:off x="775855" y="5203767"/>
            <a:ext cx="7187738" cy="78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6CBCD0C-095C-DF24-6994-3A526878B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29" y="5003712"/>
            <a:ext cx="83420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To include the footer file in a page, use the 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statement: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3EC6CF-511C-8898-260B-DA36BBB7C411}"/>
              </a:ext>
            </a:extLst>
          </p:cNvPr>
          <p:cNvSpPr txBox="1"/>
          <p:nvPr/>
        </p:nvSpPr>
        <p:spPr>
          <a:xfrm>
            <a:off x="928255" y="5356167"/>
            <a:ext cx="7187738" cy="78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7303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6BAE3-619E-4F18-B079-B0F5A50842AA}"/>
              </a:ext>
            </a:extLst>
          </p:cNvPr>
          <p:cNvSpPr txBox="1"/>
          <p:nvPr/>
        </p:nvSpPr>
        <p:spPr>
          <a:xfrm>
            <a:off x="561976" y="446918"/>
            <a:ext cx="8848724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&lt;html lang="</a:t>
            </a:r>
            <a:r>
              <a:rPr lang="en-I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&lt;meta charset="UTF-8"&gt;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&lt;meta name="viewport" content="width=device-width, initial-scale=1.0"&gt;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&lt;title&gt;Document&lt;/title&gt;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&lt;h1&gt;Welcome to GLA University&lt;/h1&gt;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&lt;p&gt;About GLA &lt;/p&gt;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&lt;p&gt;Some more text.&lt;/p&gt;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include '</a:t>
            </a:r>
            <a:r>
              <a:rPr lang="en-I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footer.php</a:t>
            </a:r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';?&gt;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DC7AC-F256-F6DB-FB60-543AFC30F567}"/>
              </a:ext>
            </a:extLst>
          </p:cNvPr>
          <p:cNvSpPr txBox="1"/>
          <p:nvPr/>
        </p:nvSpPr>
        <p:spPr>
          <a:xfrm>
            <a:off x="8534399" y="2905780"/>
            <a:ext cx="208582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accent5"/>
                </a:solidFill>
              </a:rPr>
              <a:t>include.php</a:t>
            </a:r>
            <a:endParaRPr lang="en-IN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693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A62161-7167-0851-B5A8-91514153C4B3}"/>
              </a:ext>
            </a:extLst>
          </p:cNvPr>
          <p:cNvSpPr txBox="1"/>
          <p:nvPr/>
        </p:nvSpPr>
        <p:spPr>
          <a:xfrm>
            <a:off x="817789" y="866604"/>
            <a:ext cx="6098720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php</a:t>
            </a:r>
            <a:endParaRPr lang="en-IN" sz="24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echo "&lt;address&gt; GLA UNIVERSITY&lt;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17km Stone, NH-19,&lt;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Mathura-Delhi Road&lt;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P.O. 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Chaumuhan</a:t>
            </a: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,&lt;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Mathura-281 406 (U.P.) India&lt;/address&gt;"; 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echo "&lt;p&gt; Contact Us&lt;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+91-5662-250900,&lt;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250909, 241489,&lt;</a:t>
            </a:r>
            <a:r>
              <a:rPr lang="en-IN" sz="24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+91-9927064017&lt;/p&gt;";</a:t>
            </a:r>
          </a:p>
          <a:p>
            <a:b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echo "&lt;p&gt;Email: glauniversity@gla.ac.in&lt;/p&gt;";</a:t>
            </a:r>
          </a:p>
          <a:p>
            <a:r>
              <a:rPr lang="en-IN" sz="24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?&gt;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34598-C911-F844-8D4B-F55C03E8E50B}"/>
              </a:ext>
            </a:extLst>
          </p:cNvPr>
          <p:cNvSpPr txBox="1"/>
          <p:nvPr/>
        </p:nvSpPr>
        <p:spPr>
          <a:xfrm>
            <a:off x="6384470" y="2905780"/>
            <a:ext cx="1860061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accent5"/>
                </a:solidFill>
              </a:rPr>
              <a:t>footer.php</a:t>
            </a:r>
            <a:endParaRPr lang="en-IN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297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2DB2A-4B43-D721-6979-B63D77814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92" y="359228"/>
            <a:ext cx="10207165" cy="62655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5B821B-29FB-099D-AF05-F161E40043A4}"/>
              </a:ext>
            </a:extLst>
          </p:cNvPr>
          <p:cNvSpPr txBox="1"/>
          <p:nvPr/>
        </p:nvSpPr>
        <p:spPr>
          <a:xfrm>
            <a:off x="8024332" y="2284393"/>
            <a:ext cx="3953583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5"/>
                </a:solidFill>
              </a:rPr>
              <a:t>Output </a:t>
            </a:r>
          </a:p>
          <a:p>
            <a:r>
              <a:rPr lang="en-IN" sz="2800" dirty="0">
                <a:solidFill>
                  <a:schemeClr val="accent5"/>
                </a:solidFill>
              </a:rPr>
              <a:t>when </a:t>
            </a:r>
            <a:r>
              <a:rPr lang="en-IN" sz="2800" dirty="0" err="1">
                <a:solidFill>
                  <a:schemeClr val="accent5"/>
                </a:solidFill>
              </a:rPr>
              <a:t>footer.php</a:t>
            </a:r>
            <a:r>
              <a:rPr lang="en-IN" sz="2800" dirty="0">
                <a:solidFill>
                  <a:schemeClr val="accent5"/>
                </a:solidFill>
              </a:rPr>
              <a:t> found </a:t>
            </a:r>
          </a:p>
        </p:txBody>
      </p:sp>
    </p:spTree>
    <p:extLst>
      <p:ext uri="{BB962C8B-B14F-4D97-AF65-F5344CB8AC3E}">
        <p14:creationId xmlns:p14="http://schemas.microsoft.com/office/powerpoint/2010/main" val="3325524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5C2D29-30D1-FC30-75C4-4CEFD4ED9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15" y="559488"/>
            <a:ext cx="7685314" cy="50967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82AA70-B23A-C849-4115-39E25B452479}"/>
              </a:ext>
            </a:extLst>
          </p:cNvPr>
          <p:cNvSpPr txBox="1"/>
          <p:nvPr/>
        </p:nvSpPr>
        <p:spPr>
          <a:xfrm>
            <a:off x="6989497" y="1976129"/>
            <a:ext cx="473418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5"/>
                </a:solidFill>
              </a:rPr>
              <a:t>Output </a:t>
            </a:r>
          </a:p>
          <a:p>
            <a:r>
              <a:rPr lang="en-IN" sz="2800" dirty="0">
                <a:solidFill>
                  <a:schemeClr val="accent5"/>
                </a:solidFill>
              </a:rPr>
              <a:t>when </a:t>
            </a:r>
            <a:r>
              <a:rPr lang="en-IN" sz="2800" dirty="0" err="1">
                <a:solidFill>
                  <a:schemeClr val="accent5"/>
                </a:solidFill>
              </a:rPr>
              <a:t>footer.php</a:t>
            </a:r>
            <a:r>
              <a:rPr lang="en-IN" sz="2800" dirty="0">
                <a:solidFill>
                  <a:schemeClr val="accent5"/>
                </a:solidFill>
              </a:rPr>
              <a:t> NOT found </a:t>
            </a:r>
          </a:p>
        </p:txBody>
      </p:sp>
    </p:spTree>
    <p:extLst>
      <p:ext uri="{BB962C8B-B14F-4D97-AF65-F5344CB8AC3E}">
        <p14:creationId xmlns:p14="http://schemas.microsoft.com/office/powerpoint/2010/main" val="648352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6CDE-E017-24DF-5ACD-C90248DF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892" y="130628"/>
            <a:ext cx="8596668" cy="1320800"/>
          </a:xfrm>
        </p:spPr>
        <p:txBody>
          <a:bodyPr/>
          <a:lstStyle/>
          <a:p>
            <a:r>
              <a:rPr lang="en-IN" dirty="0"/>
              <a:t>PHP require()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98E87-59EB-1CAC-9813-2EF40FDCC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892" y="889000"/>
            <a:ext cx="9359294" cy="5217886"/>
          </a:xfrm>
        </p:spPr>
        <p:txBody>
          <a:bodyPr>
            <a:noAutofit/>
          </a:bodyPr>
          <a:lstStyle/>
          <a:p>
            <a:pPr algn="just"/>
            <a:r>
              <a:rPr lang="en-US" sz="2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require() function in PHP is basically used to include the contents/code/data of one PHP file to another PHP file. </a:t>
            </a:r>
          </a:p>
          <a:p>
            <a:pPr algn="just"/>
            <a:r>
              <a:rPr lang="en-US" sz="2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this process, if there are any kind of errors then this require() function will pop up a warning along with a fatal error and it will immediately stop the execution of the script. </a:t>
            </a:r>
          </a:p>
          <a:p>
            <a:pPr algn="just"/>
            <a:r>
              <a:rPr lang="en-US" sz="2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order to use this require() function, we will first need to create two PHP files. </a:t>
            </a:r>
          </a:p>
          <a:p>
            <a:pPr algn="just"/>
            <a:r>
              <a:rPr lang="en-US" sz="2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the require() function, include one PHP file into another one. </a:t>
            </a:r>
          </a:p>
          <a:p>
            <a:pPr algn="just"/>
            <a:r>
              <a:rPr lang="en-US" sz="2800" b="1" i="0" dirty="0">
                <a:solidFill>
                  <a:srgbClr val="27323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that, you will see two PHP files combined into one HTML file.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0560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86BAE3-619E-4F18-B079-B0F5A50842AA}"/>
              </a:ext>
            </a:extLst>
          </p:cNvPr>
          <p:cNvSpPr txBox="1"/>
          <p:nvPr/>
        </p:nvSpPr>
        <p:spPr>
          <a:xfrm>
            <a:off x="561976" y="446918"/>
            <a:ext cx="8848724" cy="59093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&lt;html lang="</a:t>
            </a:r>
            <a:r>
              <a:rPr lang="en-I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&lt;meta charset="UTF-8"&gt;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&lt;meta name="viewport" content="width=device-width, initial-scale=1.0"&gt;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&lt;title&gt;Document&lt;/title&gt;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&lt;h1&gt;Welcome to GLA University&lt;/h1&gt;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&lt;p&gt;About GLA &lt;/p&gt;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&lt;p&gt;Some more text.&lt;/p&gt;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&lt;?</a:t>
            </a:r>
            <a:r>
              <a:rPr lang="en-I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</a:t>
            </a:r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'</a:t>
            </a:r>
            <a:r>
              <a:rPr lang="en-IN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footer.php</a:t>
            </a:r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';?&gt;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4C37DD-887C-A0DC-A720-B9F5E4FB29B1}"/>
              </a:ext>
            </a:extLst>
          </p:cNvPr>
          <p:cNvSpPr txBox="1"/>
          <p:nvPr/>
        </p:nvSpPr>
        <p:spPr>
          <a:xfrm>
            <a:off x="8534399" y="2905780"/>
            <a:ext cx="2081019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2800" dirty="0" err="1">
                <a:solidFill>
                  <a:schemeClr val="accent5"/>
                </a:solidFill>
              </a:rPr>
              <a:t>require.php</a:t>
            </a:r>
            <a:endParaRPr lang="en-IN" sz="28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479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C1AED-B7B6-96B2-F930-7966DF9B7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86" y="345274"/>
            <a:ext cx="8501743" cy="56037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E40DBE-1318-9F02-E328-EE7196B783E6}"/>
              </a:ext>
            </a:extLst>
          </p:cNvPr>
          <p:cNvSpPr txBox="1"/>
          <p:nvPr/>
        </p:nvSpPr>
        <p:spPr>
          <a:xfrm>
            <a:off x="7028289" y="2474893"/>
            <a:ext cx="4734181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IN" sz="2800" dirty="0">
                <a:solidFill>
                  <a:schemeClr val="accent5"/>
                </a:solidFill>
              </a:rPr>
              <a:t>Output </a:t>
            </a:r>
          </a:p>
          <a:p>
            <a:r>
              <a:rPr lang="en-IN" sz="2800" dirty="0">
                <a:solidFill>
                  <a:schemeClr val="accent5"/>
                </a:solidFill>
              </a:rPr>
              <a:t>when </a:t>
            </a:r>
            <a:r>
              <a:rPr lang="en-IN" sz="2800" dirty="0" err="1">
                <a:solidFill>
                  <a:schemeClr val="accent5"/>
                </a:solidFill>
              </a:rPr>
              <a:t>footer.php</a:t>
            </a:r>
            <a:r>
              <a:rPr lang="en-IN" sz="2800" dirty="0">
                <a:solidFill>
                  <a:schemeClr val="accent5"/>
                </a:solidFill>
              </a:rPr>
              <a:t> NOT found </a:t>
            </a:r>
          </a:p>
        </p:txBody>
      </p:sp>
    </p:spTree>
    <p:extLst>
      <p:ext uri="{BB962C8B-B14F-4D97-AF65-F5344CB8AC3E}">
        <p14:creationId xmlns:p14="http://schemas.microsoft.com/office/powerpoint/2010/main" val="6058170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F531-810B-C1D5-45F6-B8E04C81C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48" y="0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Difference between require() and include() Functions</a:t>
            </a:r>
            <a:b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A3DDFE-5B81-12A9-F6B9-4E2ADB79D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214459"/>
              </p:ext>
            </p:extLst>
          </p:nvPr>
        </p:nvGraphicFramePr>
        <p:xfrm>
          <a:off x="520020" y="2839176"/>
          <a:ext cx="8596312" cy="1943100"/>
        </p:xfrm>
        <a:graphic>
          <a:graphicData uri="http://schemas.openxmlformats.org/drawingml/2006/table">
            <a:tbl>
              <a:tblPr/>
              <a:tblGrid>
                <a:gridCol w="4329566">
                  <a:extLst>
                    <a:ext uri="{9D8B030D-6E8A-4147-A177-3AD203B41FA5}">
                      <a16:colId xmlns:a16="http://schemas.microsoft.com/office/drawing/2014/main" val="1357422505"/>
                    </a:ext>
                  </a:extLst>
                </a:gridCol>
                <a:gridCol w="4266746">
                  <a:extLst>
                    <a:ext uri="{9D8B030D-6E8A-4147-A177-3AD203B41FA5}">
                      <a16:colId xmlns:a16="http://schemas.microsoft.com/office/drawing/2014/main" val="784724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endParaRPr lang="en-IN" sz="125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5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493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125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5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4658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125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5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109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125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5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883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125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5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678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endParaRPr lang="en-US" sz="1250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5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625" marR="47625" marT="66675" marB="66675" anchor="ctr">
                    <a:lnL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29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67953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1EAE72ED-E81B-22BA-836B-D90CCACCE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14" y="965111"/>
            <a:ext cx="9311898" cy="569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9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DF0AB-4DDF-19ED-C5F3-62BBD4ED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63" y="167813"/>
            <a:ext cx="8596668" cy="1320800"/>
          </a:xfrm>
        </p:spPr>
        <p:txBody>
          <a:bodyPr/>
          <a:lstStyle/>
          <a:p>
            <a:r>
              <a:rPr lang="en-IN" sz="4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 </a:t>
            </a:r>
            <a:r>
              <a:rPr lang="en-IN" sz="4400" b="1" i="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isset</a:t>
            </a:r>
            <a:r>
              <a:rPr lang="en-IN" sz="4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() Function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864D5-3485-1CBA-9C98-0841081CE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220" y="1260012"/>
            <a:ext cx="9059937" cy="5026487"/>
          </a:xfrm>
        </p:spPr>
        <p:txBody>
          <a:bodyPr>
            <a:normAutofit fontScale="850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8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isset</a:t>
            </a:r>
            <a:r>
              <a:rPr lang="en-US" sz="3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function checks whether a variable is set, which means that it has to be declared and is not NULL.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returns true if the variable exists and is not NULL, otherwise it returns false.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multiple variables are supplied, then this function will return true only if all of the variables are set.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38347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A1781A-71A3-B9F9-367B-A0CA0590A098}"/>
              </a:ext>
            </a:extLst>
          </p:cNvPr>
          <p:cNvSpPr txBox="1"/>
          <p:nvPr/>
        </p:nvSpPr>
        <p:spPr>
          <a:xfrm>
            <a:off x="251731" y="319384"/>
            <a:ext cx="93821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Example:</a:t>
            </a:r>
            <a:r>
              <a:rPr lang="en-US" sz="2400" b="1" dirty="0">
                <a:solidFill>
                  <a:srgbClr val="000000"/>
                </a:solidFill>
                <a:latin typeface="Segoe UI" panose="020B0502040204020203" pitchFamily="34" charset="0"/>
              </a:rPr>
              <a:t> </a:t>
            </a:r>
            <a:r>
              <a:rPr lang="en-US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Check whether a variable is empty. Also check whether the variable is set/declared: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965F3-6B6F-602C-4B00-E4B01A52FEB0}"/>
              </a:ext>
            </a:extLst>
          </p:cNvPr>
          <p:cNvSpPr txBox="1"/>
          <p:nvPr/>
        </p:nvSpPr>
        <p:spPr>
          <a:xfrm>
            <a:off x="730704" y="1150381"/>
            <a:ext cx="6098720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dirty="0"/>
              <a:t>&lt;!DOCTYPE html&gt;</a:t>
            </a:r>
          </a:p>
          <a:p>
            <a:r>
              <a:rPr lang="en-IN" b="1" dirty="0"/>
              <a:t>&lt;html&gt;</a:t>
            </a:r>
          </a:p>
          <a:p>
            <a:r>
              <a:rPr lang="en-IN" b="1" dirty="0"/>
              <a:t>&lt;body&gt;</a:t>
            </a:r>
          </a:p>
          <a:p>
            <a:endParaRPr lang="en-IN" b="1" dirty="0"/>
          </a:p>
          <a:p>
            <a:r>
              <a:rPr lang="en-IN" b="1" dirty="0"/>
              <a:t>&lt;?</a:t>
            </a:r>
            <a:r>
              <a:rPr lang="en-IN" b="1" dirty="0" err="1"/>
              <a:t>php</a:t>
            </a:r>
            <a:endParaRPr lang="en-IN" b="1" dirty="0"/>
          </a:p>
          <a:p>
            <a:r>
              <a:rPr lang="en-IN" b="1" dirty="0"/>
              <a:t>$a = 0;</a:t>
            </a:r>
          </a:p>
          <a:p>
            <a:r>
              <a:rPr lang="en-IN" b="1" dirty="0"/>
              <a:t>// True because $a is set</a:t>
            </a:r>
          </a:p>
          <a:p>
            <a:r>
              <a:rPr lang="en-IN" b="1" dirty="0"/>
              <a:t>if (</a:t>
            </a:r>
            <a:r>
              <a:rPr lang="en-IN" b="1" dirty="0" err="1"/>
              <a:t>isset</a:t>
            </a:r>
            <a:r>
              <a:rPr lang="en-IN" b="1" dirty="0"/>
              <a:t>($a)) {</a:t>
            </a:r>
          </a:p>
          <a:p>
            <a:r>
              <a:rPr lang="en-IN" b="1" dirty="0"/>
              <a:t>  echo "Variable 'a' is set.&lt;</a:t>
            </a:r>
            <a:r>
              <a:rPr lang="en-IN" b="1" dirty="0" err="1"/>
              <a:t>br</a:t>
            </a:r>
            <a:r>
              <a:rPr lang="en-IN" b="1" dirty="0"/>
              <a:t>&gt;";</a:t>
            </a:r>
          </a:p>
          <a:p>
            <a:r>
              <a:rPr lang="en-IN" b="1" dirty="0"/>
              <a:t>}</a:t>
            </a:r>
          </a:p>
          <a:p>
            <a:endParaRPr lang="en-IN" b="1" dirty="0"/>
          </a:p>
          <a:p>
            <a:r>
              <a:rPr lang="en-IN" b="1" dirty="0"/>
              <a:t>$b = null;</a:t>
            </a:r>
          </a:p>
          <a:p>
            <a:r>
              <a:rPr lang="en-IN" b="1" dirty="0"/>
              <a:t>// False because $b is NULL</a:t>
            </a:r>
          </a:p>
          <a:p>
            <a:r>
              <a:rPr lang="en-IN" b="1" dirty="0"/>
              <a:t>if (</a:t>
            </a:r>
            <a:r>
              <a:rPr lang="en-IN" b="1" dirty="0" err="1"/>
              <a:t>isset</a:t>
            </a:r>
            <a:r>
              <a:rPr lang="en-IN" b="1" dirty="0"/>
              <a:t>($b)) {</a:t>
            </a:r>
          </a:p>
          <a:p>
            <a:r>
              <a:rPr lang="en-IN" b="1" dirty="0"/>
              <a:t>  echo "Variable 'b' is set.";</a:t>
            </a:r>
          </a:p>
          <a:p>
            <a:r>
              <a:rPr lang="en-IN" b="1" dirty="0"/>
              <a:t>}</a:t>
            </a:r>
          </a:p>
          <a:p>
            <a:r>
              <a:rPr lang="en-IN" b="1" dirty="0"/>
              <a:t>?&gt;</a:t>
            </a:r>
          </a:p>
          <a:p>
            <a:endParaRPr lang="en-IN" b="1" dirty="0"/>
          </a:p>
          <a:p>
            <a:r>
              <a:rPr lang="en-IN" b="1" dirty="0"/>
              <a:t>&lt;/body&gt;</a:t>
            </a:r>
          </a:p>
          <a:p>
            <a:r>
              <a:rPr lang="en-IN" b="1" dirty="0"/>
              <a:t>&lt;/html&gt;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217E1-7C6E-3D46-A51E-E14DAE5203E3}"/>
              </a:ext>
            </a:extLst>
          </p:cNvPr>
          <p:cNvSpPr txBox="1"/>
          <p:nvPr/>
        </p:nvSpPr>
        <p:spPr>
          <a:xfrm>
            <a:off x="5895480" y="2997040"/>
            <a:ext cx="299814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r>
              <a:rPr lang="en-I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Variable 'a' is set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74995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08C57-321A-8342-2E08-73D1F543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77" y="609600"/>
            <a:ext cx="8596668" cy="1320800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PHP unset() Function</a:t>
            </a:r>
            <a:br>
              <a:rPr lang="en-IN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FC41E-1FAF-B50A-15E4-2825BB87E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4441162"/>
          </a:xfrm>
        </p:spPr>
        <p:txBody>
          <a:bodyPr/>
          <a:lstStyle/>
          <a:p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unset() function unsets a variable.</a:t>
            </a:r>
          </a:p>
          <a:p>
            <a:pPr algn="l"/>
            <a:r>
              <a:rPr lang="en-IN" sz="2400" b="1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Syntax</a:t>
            </a:r>
          </a:p>
          <a:p>
            <a:pPr marL="0" indent="0" algn="l">
              <a:buNone/>
            </a:pP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unset(</a:t>
            </a:r>
            <a:r>
              <a:rPr lang="en-IN" sz="2400" b="1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variable, ....</a:t>
            </a:r>
            <a:r>
              <a:rPr lang="en-IN" sz="24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7633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A8C148-3963-CF20-A651-DDADAF3E58E3}"/>
              </a:ext>
            </a:extLst>
          </p:cNvPr>
          <p:cNvSpPr txBox="1"/>
          <p:nvPr/>
        </p:nvSpPr>
        <p:spPr>
          <a:xfrm>
            <a:off x="502104" y="302359"/>
            <a:ext cx="6098720" cy="65556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2800" dirty="0"/>
              <a:t>&lt;!DOCTYPE html&gt;</a:t>
            </a:r>
          </a:p>
          <a:p>
            <a:r>
              <a:rPr lang="en-IN" sz="2800" dirty="0"/>
              <a:t>&lt;html&gt;</a:t>
            </a:r>
          </a:p>
          <a:p>
            <a:r>
              <a:rPr lang="en-IN" sz="2800" dirty="0"/>
              <a:t>&lt;body&gt;</a:t>
            </a:r>
          </a:p>
          <a:p>
            <a:endParaRPr lang="en-IN" sz="2800" dirty="0"/>
          </a:p>
          <a:p>
            <a:r>
              <a:rPr lang="en-IN" sz="2800" dirty="0"/>
              <a:t>&lt;?</a:t>
            </a:r>
            <a:r>
              <a:rPr lang="en-IN" sz="2800" dirty="0" err="1"/>
              <a:t>php</a:t>
            </a:r>
            <a:endParaRPr lang="en-IN" sz="2800" dirty="0"/>
          </a:p>
          <a:p>
            <a:r>
              <a:rPr lang="en-IN" sz="2800" dirty="0"/>
              <a:t>$a = "Hello world!";</a:t>
            </a:r>
          </a:p>
          <a:p>
            <a:r>
              <a:rPr lang="en-IN" sz="2800" dirty="0"/>
              <a:t>echo "The value of variable 'a' before unset: " . $a . "&lt;</a:t>
            </a:r>
            <a:r>
              <a:rPr lang="en-IN" sz="2800" dirty="0" err="1"/>
              <a:t>br</a:t>
            </a:r>
            <a:r>
              <a:rPr lang="en-IN" sz="2800" dirty="0"/>
              <a:t>&gt;";</a:t>
            </a:r>
          </a:p>
          <a:p>
            <a:r>
              <a:rPr lang="en-IN" sz="2800" dirty="0"/>
              <a:t>unset($a);</a:t>
            </a:r>
          </a:p>
          <a:p>
            <a:r>
              <a:rPr lang="en-IN" sz="2800" dirty="0"/>
              <a:t>echo "The value of variable 'a' after unset: " . $a;</a:t>
            </a:r>
          </a:p>
          <a:p>
            <a:r>
              <a:rPr lang="en-IN" sz="2800" dirty="0"/>
              <a:t>?&gt;</a:t>
            </a:r>
          </a:p>
          <a:p>
            <a:endParaRPr lang="en-IN" sz="2800" dirty="0"/>
          </a:p>
          <a:p>
            <a:r>
              <a:rPr lang="en-IN" sz="2800" dirty="0"/>
              <a:t>&lt;/body&gt;</a:t>
            </a:r>
          </a:p>
          <a:p>
            <a:r>
              <a:rPr lang="en-IN" sz="2800" dirty="0"/>
              <a:t>&lt;/html&gt;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AC5C0-B464-051C-38FC-AC38A2BD569F}"/>
              </a:ext>
            </a:extLst>
          </p:cNvPr>
          <p:cNvSpPr txBox="1"/>
          <p:nvPr/>
        </p:nvSpPr>
        <p:spPr>
          <a:xfrm>
            <a:off x="4029074" y="779013"/>
            <a:ext cx="7406367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Output:</a:t>
            </a:r>
          </a:p>
          <a:p>
            <a:endParaRPr lang="en-US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value of variable 'a' before unset: Hello world!</a:t>
            </a:r>
            <a:br>
              <a:rPr lang="en-US" sz="2400" b="1" dirty="0"/>
            </a:br>
            <a:r>
              <a:rPr 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value of variable 'a' after unset: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2934298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401</TotalTime>
  <Words>2594</Words>
  <Application>Microsoft Office PowerPoint</Application>
  <PresentationFormat>Widescreen</PresentationFormat>
  <Paragraphs>379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2" baseType="lpstr">
      <vt:lpstr>Arial</vt:lpstr>
      <vt:lpstr>Consolas</vt:lpstr>
      <vt:lpstr>erdana</vt:lpstr>
      <vt:lpstr>inter-bold</vt:lpstr>
      <vt:lpstr>inter-regular</vt:lpstr>
      <vt:lpstr>Nunito</vt:lpstr>
      <vt:lpstr>Roboto</vt:lpstr>
      <vt:lpstr>Segoe UI</vt:lpstr>
      <vt:lpstr>Times New Roman</vt:lpstr>
      <vt:lpstr>Trebuchet MS</vt:lpstr>
      <vt:lpstr>Verdana</vt:lpstr>
      <vt:lpstr>Wingdings</vt:lpstr>
      <vt:lpstr>Wingdings 3</vt:lpstr>
      <vt:lpstr>Facet</vt:lpstr>
      <vt:lpstr>PHP Functions</vt:lpstr>
      <vt:lpstr>PHP Functions</vt:lpstr>
      <vt:lpstr>Advantage of PHP Functions </vt:lpstr>
      <vt:lpstr>PHP User-defined Functions </vt:lpstr>
      <vt:lpstr>Create a User Defined Function in PHP </vt:lpstr>
      <vt:lpstr>PHP Functions Example </vt:lpstr>
      <vt:lpstr>PHP Function Arguments </vt:lpstr>
      <vt:lpstr>PowerPoint Presentation</vt:lpstr>
      <vt:lpstr>The following example has a function with two arguments: </vt:lpstr>
      <vt:lpstr>PHP Call By Reference </vt:lpstr>
      <vt:lpstr>PHP Call By Reference </vt:lpstr>
      <vt:lpstr>PowerPoint Presentation</vt:lpstr>
      <vt:lpstr>PHP Function: Default Argument Value </vt:lpstr>
      <vt:lpstr>PowerPoint Presentation</vt:lpstr>
      <vt:lpstr>PowerPoint Presentation</vt:lpstr>
      <vt:lpstr>PowerPoint Presentation</vt:lpstr>
      <vt:lpstr>PowerPoint Presentation</vt:lpstr>
      <vt:lpstr>PHP Functions - Returning values </vt:lpstr>
      <vt:lpstr>PHP Return Type Declarations </vt:lpstr>
      <vt:lpstr>PowerPoint Presentation</vt:lpstr>
      <vt:lpstr>PHP Variable Length Argument Function</vt:lpstr>
      <vt:lpstr>PowerPoint Presentation</vt:lpstr>
      <vt:lpstr>PHP include and require Statements </vt:lpstr>
      <vt:lpstr>Syntax</vt:lpstr>
      <vt:lpstr>PHP include() Function </vt:lpstr>
      <vt:lpstr>PHP include Examples </vt:lpstr>
      <vt:lpstr>PowerPoint Presentation</vt:lpstr>
      <vt:lpstr>PowerPoint Presentation</vt:lpstr>
      <vt:lpstr>PowerPoint Presentation</vt:lpstr>
      <vt:lpstr>PowerPoint Presentation</vt:lpstr>
      <vt:lpstr>PHP require() Function </vt:lpstr>
      <vt:lpstr>PowerPoint Presentation</vt:lpstr>
      <vt:lpstr>PowerPoint Presentation</vt:lpstr>
      <vt:lpstr>Difference between require() and include() Functions </vt:lpstr>
      <vt:lpstr>PHP isset() Function </vt:lpstr>
      <vt:lpstr>PowerPoint Presentation</vt:lpstr>
      <vt:lpstr>PHP unset() Function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Functions</dc:title>
  <dc:creator>Akanksha Arora</dc:creator>
  <cp:lastModifiedBy>Akanksha Arora</cp:lastModifiedBy>
  <cp:revision>160</cp:revision>
  <dcterms:created xsi:type="dcterms:W3CDTF">2023-11-08T03:21:01Z</dcterms:created>
  <dcterms:modified xsi:type="dcterms:W3CDTF">2023-11-20T03:41:56Z</dcterms:modified>
</cp:coreProperties>
</file>