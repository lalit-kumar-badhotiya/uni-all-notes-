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2BDC1-E9C6-3E9A-9A80-1904BC7B4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23B867-19B2-A79C-3F9A-A0A3A94A9B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D4F0D5-6966-25A7-F1C4-9FC0EDE2B8A6}"/>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5" name="Footer Placeholder 4">
            <a:extLst>
              <a:ext uri="{FF2B5EF4-FFF2-40B4-BE49-F238E27FC236}">
                <a16:creationId xmlns:a16="http://schemas.microsoft.com/office/drawing/2014/main" id="{373A7F15-E88A-4E6B-488F-38F2D39AB8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777389-FF8D-C754-4424-9763B1836D32}"/>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3504347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250C-932F-398A-E1DD-39FE3337E9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EA44A2-F3C2-DF12-3F87-BA94B7A546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82564B-A749-2477-DEF0-97795427CD94}"/>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5" name="Footer Placeholder 4">
            <a:extLst>
              <a:ext uri="{FF2B5EF4-FFF2-40B4-BE49-F238E27FC236}">
                <a16:creationId xmlns:a16="http://schemas.microsoft.com/office/drawing/2014/main" id="{A9570B9D-5C51-DA3D-3467-2D4B4914ED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23C3BA-3DA0-4C4F-E89F-CA88C4B807DE}"/>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2256204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41416-3235-D178-E18C-D46E6A622B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7A2B24-2A4B-9363-374E-D6C4EC8D24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B0C6A4-C5D0-35CD-E8F5-751E1B34E34E}"/>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5" name="Footer Placeholder 4">
            <a:extLst>
              <a:ext uri="{FF2B5EF4-FFF2-40B4-BE49-F238E27FC236}">
                <a16:creationId xmlns:a16="http://schemas.microsoft.com/office/drawing/2014/main" id="{93650257-A458-976C-0DCB-FD48ADDA12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C9DA8A-E972-61D0-FF15-84F0D96858AD}"/>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213230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14502-78E5-B6F6-DBA1-D8283A010D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0EF586-72F2-6A30-6EFB-AD2B067051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5ABAE9-95C8-57C8-CC33-0358C323C2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92F180D-7A2A-D06D-E53A-253ECAF022A9}"/>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6" name="Footer Placeholder 5">
            <a:extLst>
              <a:ext uri="{FF2B5EF4-FFF2-40B4-BE49-F238E27FC236}">
                <a16:creationId xmlns:a16="http://schemas.microsoft.com/office/drawing/2014/main" id="{D0B456C0-98EF-A01C-9061-955C2F86F2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3C6F94-6E9C-458E-2482-334E9AF79006}"/>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3397270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98D9-2728-065A-69A0-F88845590D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06794C-49AF-BDF2-6421-B1DC60B0F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6F28FE-A183-0F80-1DA2-67DFB721EF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66E687D-3A72-1F3A-2570-AD24884B64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F5DF59-AF44-1553-7AE1-151D221AC0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A7C7FA-36B7-A2C0-C551-C17FF51A3FBD}"/>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8" name="Footer Placeholder 7">
            <a:extLst>
              <a:ext uri="{FF2B5EF4-FFF2-40B4-BE49-F238E27FC236}">
                <a16:creationId xmlns:a16="http://schemas.microsoft.com/office/drawing/2014/main" id="{96D07472-BB64-6DEC-B0BC-81D520EB9C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5D2CA9-2122-9BB9-7840-F717EC37B486}"/>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3469787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4548D-565A-D84A-6A25-97EAD1C5D1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643E81-9460-6BEA-187A-578A1CF61BB2}"/>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4" name="Footer Placeholder 3">
            <a:extLst>
              <a:ext uri="{FF2B5EF4-FFF2-40B4-BE49-F238E27FC236}">
                <a16:creationId xmlns:a16="http://schemas.microsoft.com/office/drawing/2014/main" id="{72DEEE6D-EFBA-84FC-AF44-16B8B8279B2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6E3355-01C3-1B17-31E5-2328F785620E}"/>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1363056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D79D25-42C5-D5A6-B356-AEB7067AB404}"/>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3" name="Footer Placeholder 2">
            <a:extLst>
              <a:ext uri="{FF2B5EF4-FFF2-40B4-BE49-F238E27FC236}">
                <a16:creationId xmlns:a16="http://schemas.microsoft.com/office/drawing/2014/main" id="{69C1A09A-B2E3-4274-0EAA-BACB8E261B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E0E583-9031-036C-973C-2C8E44C64633}"/>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117126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4B12-1869-DADF-E43A-E1AB33288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DAE972-4A76-BE2B-913A-33A7AAA6FE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E5010C-034F-4E49-3C87-E72CC7C1C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A0C992-2618-D186-E76A-F5F50962ABEE}"/>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6" name="Footer Placeholder 5">
            <a:extLst>
              <a:ext uri="{FF2B5EF4-FFF2-40B4-BE49-F238E27FC236}">
                <a16:creationId xmlns:a16="http://schemas.microsoft.com/office/drawing/2014/main" id="{3FDF6AAF-4A50-6B0F-D4B0-6A707D8C2A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0A11C3-B5AD-4A7E-B43F-FF7C4F4A931B}"/>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3100744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61EF-19B0-35C4-D961-B102EE6C8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8D4B84-5B41-0C26-1F7C-5E5C2CE913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268A8C-7389-6DCE-AD59-28059866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DD7F77-BA80-6786-1DCF-9855C069F243}"/>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6" name="Footer Placeholder 5">
            <a:extLst>
              <a:ext uri="{FF2B5EF4-FFF2-40B4-BE49-F238E27FC236}">
                <a16:creationId xmlns:a16="http://schemas.microsoft.com/office/drawing/2014/main" id="{D1EAA983-1A55-755A-F5E5-9AD6A28584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C8670A-576B-4117-E8C5-20D443D34D9A}"/>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2493323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912C-2E95-912D-5FC1-F29DBA6644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44FD47-123B-E27B-5676-3C89617C73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F1389C-C426-9347-898C-6A6375D599BB}"/>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5" name="Footer Placeholder 4">
            <a:extLst>
              <a:ext uri="{FF2B5EF4-FFF2-40B4-BE49-F238E27FC236}">
                <a16:creationId xmlns:a16="http://schemas.microsoft.com/office/drawing/2014/main" id="{96A1EFF8-E47A-3AFB-FF97-14BC795BCC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0839D4-99FD-35B0-022F-F450DC92DDD1}"/>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3010484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EC4213-EBC5-E475-9D38-6BBCCB5319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B66BC8-DC42-4176-F4DC-3B7304656A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45B68E-A205-02C8-C122-9E6BFCD459E1}"/>
              </a:ext>
            </a:extLst>
          </p:cNvPr>
          <p:cNvSpPr>
            <a:spLocks noGrp="1"/>
          </p:cNvSpPr>
          <p:nvPr>
            <p:ph type="dt" sz="half" idx="10"/>
          </p:nvPr>
        </p:nvSpPr>
        <p:spPr/>
        <p:txBody>
          <a:bodyPr/>
          <a:lstStyle/>
          <a:p>
            <a:fld id="{A13D68EB-9819-4AED-B4C5-E05D24475B84}" type="datetimeFigureOut">
              <a:rPr lang="en-IN" smtClean="0"/>
              <a:t>10-01-2024</a:t>
            </a:fld>
            <a:endParaRPr lang="en-IN"/>
          </a:p>
        </p:txBody>
      </p:sp>
      <p:sp>
        <p:nvSpPr>
          <p:cNvPr id="5" name="Footer Placeholder 4">
            <a:extLst>
              <a:ext uri="{FF2B5EF4-FFF2-40B4-BE49-F238E27FC236}">
                <a16:creationId xmlns:a16="http://schemas.microsoft.com/office/drawing/2014/main" id="{DAEF042D-241A-0C03-E71C-E162E5BA0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93443E-9D62-7DDF-21F3-E5E0829485BA}"/>
              </a:ext>
            </a:extLst>
          </p:cNvPr>
          <p:cNvSpPr>
            <a:spLocks noGrp="1"/>
          </p:cNvSpPr>
          <p:nvPr>
            <p:ph type="sldNum" sz="quarter" idx="12"/>
          </p:nvPr>
        </p:nvSpPr>
        <p:spPr/>
        <p:txBody>
          <a:bodyPr/>
          <a:lstStyle/>
          <a:p>
            <a:fld id="{CD86619E-18C5-4BA6-B017-25A0BE637E86}" type="slidenum">
              <a:rPr lang="en-IN" smtClean="0"/>
              <a:t>‹#›</a:t>
            </a:fld>
            <a:endParaRPr lang="en-IN"/>
          </a:p>
        </p:txBody>
      </p:sp>
    </p:spTree>
    <p:extLst>
      <p:ext uri="{BB962C8B-B14F-4D97-AF65-F5344CB8AC3E}">
        <p14:creationId xmlns:p14="http://schemas.microsoft.com/office/powerpoint/2010/main" val="38712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E0D419-8E36-10D9-1F25-0AC7DBCD0D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F54369-5AA0-AEBD-528A-5CC617C459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78CC1B-2A15-191F-E0AC-3D9845B45A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3D68EB-9819-4AED-B4C5-E05D24475B84}" type="datetimeFigureOut">
              <a:rPr lang="en-IN" smtClean="0"/>
              <a:t>10-01-2024</a:t>
            </a:fld>
            <a:endParaRPr lang="en-IN"/>
          </a:p>
        </p:txBody>
      </p:sp>
      <p:sp>
        <p:nvSpPr>
          <p:cNvPr id="5" name="Footer Placeholder 4">
            <a:extLst>
              <a:ext uri="{FF2B5EF4-FFF2-40B4-BE49-F238E27FC236}">
                <a16:creationId xmlns:a16="http://schemas.microsoft.com/office/drawing/2014/main" id="{47DDC244-17C5-8766-70E9-6A8E64AD35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5065DF4-C94E-A1DA-1AFC-31EC9C4574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86619E-18C5-4BA6-B017-25A0BE637E86}" type="slidenum">
              <a:rPr lang="en-IN" smtClean="0"/>
              <a:t>‹#›</a:t>
            </a:fld>
            <a:endParaRPr lang="en-IN"/>
          </a:p>
        </p:txBody>
      </p:sp>
    </p:spTree>
    <p:extLst>
      <p:ext uri="{BB962C8B-B14F-4D97-AF65-F5344CB8AC3E}">
        <p14:creationId xmlns:p14="http://schemas.microsoft.com/office/powerpoint/2010/main" val="3359860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638585"/>
            <a:ext cx="12191999" cy="1111839"/>
          </a:xfrm>
          <a:solidFill>
            <a:schemeClr val="accent2"/>
          </a:solidFill>
        </p:spPr>
        <p:txBody>
          <a:bodyPr/>
          <a:lstStyle/>
          <a:p>
            <a:r>
              <a:rPr lang="en-US" dirty="0">
                <a:solidFill>
                  <a:schemeClr val="tx1">
                    <a:lumMod val="95000"/>
                    <a:lumOff val="5000"/>
                  </a:schemeClr>
                </a:solidFill>
              </a:rPr>
              <a:t>      </a:t>
            </a:r>
            <a:r>
              <a:rPr lang="en-US" sz="6600" dirty="0">
                <a:solidFill>
                  <a:schemeClr val="tx1">
                    <a:lumMod val="95000"/>
                    <a:lumOff val="5000"/>
                  </a:schemeClr>
                </a:solidFill>
                <a:latin typeface="Times New Roman" panose="02020603050405020304" pitchFamily="18" charset="0"/>
                <a:cs typeface="Times New Roman" panose="02020603050405020304" pitchFamily="18" charset="0"/>
              </a:rPr>
              <a:t>Introduction of MS-Office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07623"/>
            <a:ext cx="12191999" cy="4650377"/>
          </a:xfrm>
          <a:prstGeom prst="rect">
            <a:avLst/>
          </a:prstGeom>
        </p:spPr>
      </p:pic>
    </p:spTree>
    <p:extLst>
      <p:ext uri="{BB962C8B-B14F-4D97-AF65-F5344CB8AC3E}">
        <p14:creationId xmlns:p14="http://schemas.microsoft.com/office/powerpoint/2010/main" val="4143830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EC7C9-7A10-39DB-75B0-6039F6C37D08}"/>
              </a:ext>
            </a:extLst>
          </p:cNvPr>
          <p:cNvSpPr>
            <a:spLocks noGrp="1"/>
          </p:cNvSpPr>
          <p:nvPr>
            <p:ph type="ctrTitle"/>
          </p:nvPr>
        </p:nvSpPr>
        <p:spPr/>
        <p:txBody>
          <a:bodyPr>
            <a:normAutofit/>
          </a:bodyPr>
          <a:lstStyle/>
          <a:p>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618FB8F-D403-4517-38EC-6FC492A7C4CA}"/>
              </a:ext>
            </a:extLst>
          </p:cNvPr>
          <p:cNvSpPr>
            <a:spLocks noGrp="1"/>
          </p:cNvSpPr>
          <p:nvPr>
            <p:ph type="subTitle" idx="1"/>
          </p:nvPr>
        </p:nvSpPr>
        <p:spPr>
          <a:xfrm>
            <a:off x="1391920" y="4246880"/>
            <a:ext cx="9408160" cy="2595563"/>
          </a:xfrm>
        </p:spPr>
        <p:txBody>
          <a:bodyPr/>
          <a:lstStyle/>
          <a:p>
            <a:endParaRPr lang="en-US" dirty="0"/>
          </a:p>
          <a:p>
            <a:r>
              <a:rPr lang="en-US" dirty="0">
                <a:latin typeface="Times New Roman" panose="02020603050405020304" pitchFamily="18" charset="0"/>
                <a:cs typeface="Times New Roman" panose="02020603050405020304" pitchFamily="18" charset="0"/>
              </a:rPr>
              <a:t>Microsoft Office is a suite of productivity applications developed by Microsoft. It includes several programs designed to help users create documents, spreadsheets, presentations, emails, and more. Some of the most commonly used applications in Microsoft Office include: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1AFBA97-10F8-E58C-AACB-4A8E913AA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9680" y="543560"/>
            <a:ext cx="9692640" cy="3877056"/>
          </a:xfrm>
          <a:prstGeom prst="rect">
            <a:avLst/>
          </a:prstGeom>
        </p:spPr>
      </p:pic>
    </p:spTree>
    <p:extLst>
      <p:ext uri="{BB962C8B-B14F-4D97-AF65-F5344CB8AC3E}">
        <p14:creationId xmlns:p14="http://schemas.microsoft.com/office/powerpoint/2010/main" val="2704752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3EEF1C-D8C1-F701-32D0-A842FE8C81A2}"/>
              </a:ext>
            </a:extLst>
          </p:cNvPr>
          <p:cNvSpPr txBox="1"/>
          <p:nvPr/>
        </p:nvSpPr>
        <p:spPr>
          <a:xfrm>
            <a:off x="934720" y="599440"/>
            <a:ext cx="9743440" cy="4524315"/>
          </a:xfrm>
          <a:prstGeom prst="rect">
            <a:avLst/>
          </a:prstGeom>
          <a:noFill/>
        </p:spPr>
        <p:txBody>
          <a:bodyPr wrap="square">
            <a:spAutoFit/>
          </a:bodyPr>
          <a:lstStyle/>
          <a:p>
            <a:pPr>
              <a:buFont typeface="+mj-lt"/>
              <a:buAutoNum type="arabicPeriod"/>
            </a:pPr>
            <a:r>
              <a:rPr lang="en-US" sz="2400" b="1" dirty="0">
                <a:latin typeface="Times New Roman" panose="02020603050405020304" pitchFamily="18" charset="0"/>
                <a:cs typeface="Times New Roman" panose="02020603050405020304" pitchFamily="18" charset="0"/>
              </a:rPr>
              <a:t>Word</a:t>
            </a:r>
            <a:r>
              <a:rPr lang="en-US" sz="2400" dirty="0">
                <a:latin typeface="Times New Roman" panose="02020603050405020304" pitchFamily="18" charset="0"/>
                <a:cs typeface="Times New Roman" panose="02020603050405020304" pitchFamily="18" charset="0"/>
              </a:rPr>
              <a:t>: A word processing program used for creating documents such as letters, reports, resumes, and more.</a:t>
            </a:r>
          </a:p>
          <a:p>
            <a:pPr>
              <a:buFont typeface="+mj-lt"/>
              <a:buAutoNum type="arabicPeriod"/>
            </a:pPr>
            <a:r>
              <a:rPr lang="en-US" sz="2400" b="1" dirty="0">
                <a:latin typeface="Times New Roman" panose="02020603050405020304" pitchFamily="18" charset="0"/>
                <a:cs typeface="Times New Roman" panose="02020603050405020304" pitchFamily="18" charset="0"/>
              </a:rPr>
              <a:t>Excel</a:t>
            </a:r>
            <a:r>
              <a:rPr lang="en-US" sz="2400" dirty="0">
                <a:latin typeface="Times New Roman" panose="02020603050405020304" pitchFamily="18" charset="0"/>
                <a:cs typeface="Times New Roman" panose="02020603050405020304" pitchFamily="18" charset="0"/>
              </a:rPr>
              <a:t>: A spreadsheet application used for creating and analyzing data with tools for calculations, graphs, and data visualization.</a:t>
            </a:r>
          </a:p>
          <a:p>
            <a:pPr>
              <a:buFont typeface="+mj-lt"/>
              <a:buAutoNum type="arabicPeriod"/>
            </a:pPr>
            <a:r>
              <a:rPr lang="en-US" sz="2400" b="1" dirty="0">
                <a:latin typeface="Times New Roman" panose="02020603050405020304" pitchFamily="18" charset="0"/>
                <a:cs typeface="Times New Roman" panose="02020603050405020304" pitchFamily="18" charset="0"/>
              </a:rPr>
              <a:t>PowerPoint</a:t>
            </a:r>
            <a:r>
              <a:rPr lang="en-US" sz="2400" dirty="0">
                <a:latin typeface="Times New Roman" panose="02020603050405020304" pitchFamily="18" charset="0"/>
                <a:cs typeface="Times New Roman" panose="02020603050405020304" pitchFamily="18" charset="0"/>
              </a:rPr>
              <a:t>: A presentation software that allows users to create slideshows with text, images, animations, and multimedia elements.</a:t>
            </a:r>
          </a:p>
          <a:p>
            <a:pPr>
              <a:buFont typeface="+mj-lt"/>
              <a:buAutoNum type="arabicPeriod"/>
            </a:pPr>
            <a:r>
              <a:rPr lang="en-US" sz="2400" b="1" dirty="0">
                <a:latin typeface="Times New Roman" panose="02020603050405020304" pitchFamily="18" charset="0"/>
                <a:cs typeface="Times New Roman" panose="02020603050405020304" pitchFamily="18" charset="0"/>
              </a:rPr>
              <a:t>Outlook</a:t>
            </a:r>
            <a:r>
              <a:rPr lang="en-US" sz="2400" dirty="0">
                <a:latin typeface="Times New Roman" panose="02020603050405020304" pitchFamily="18" charset="0"/>
                <a:cs typeface="Times New Roman" panose="02020603050405020304" pitchFamily="18" charset="0"/>
              </a:rPr>
              <a:t>: An email client that also includes a calendar, task manager, and contact manager.</a:t>
            </a:r>
          </a:p>
          <a:p>
            <a:pPr>
              <a:buFont typeface="+mj-lt"/>
              <a:buAutoNum type="arabicPeriod"/>
            </a:pPr>
            <a:r>
              <a:rPr lang="en-US" sz="2400" b="1" dirty="0">
                <a:latin typeface="Times New Roman" panose="02020603050405020304" pitchFamily="18" charset="0"/>
                <a:cs typeface="Times New Roman" panose="02020603050405020304" pitchFamily="18" charset="0"/>
              </a:rPr>
              <a:t>Access</a:t>
            </a:r>
            <a:r>
              <a:rPr lang="en-US" sz="2400" dirty="0">
                <a:latin typeface="Times New Roman" panose="02020603050405020304" pitchFamily="18" charset="0"/>
                <a:cs typeface="Times New Roman" panose="02020603050405020304" pitchFamily="18" charset="0"/>
              </a:rPr>
              <a:t>: A database management system for organizing and manipulating large amounts of data.</a:t>
            </a:r>
          </a:p>
          <a:p>
            <a:pPr>
              <a:buFont typeface="+mj-lt"/>
              <a:buAutoNum type="arabicPeriod"/>
            </a:pPr>
            <a:r>
              <a:rPr lang="en-US" sz="2400" b="1" dirty="0">
                <a:latin typeface="Times New Roman" panose="02020603050405020304" pitchFamily="18" charset="0"/>
                <a:cs typeface="Times New Roman" panose="02020603050405020304" pitchFamily="18" charset="0"/>
              </a:rPr>
              <a:t>OneNote</a:t>
            </a:r>
            <a:r>
              <a:rPr lang="en-US" sz="2400" dirty="0">
                <a:latin typeface="Times New Roman" panose="02020603050405020304" pitchFamily="18" charset="0"/>
                <a:cs typeface="Times New Roman" panose="02020603050405020304" pitchFamily="18" charset="0"/>
              </a:rPr>
              <a:t>: A digital notebook that allows users to take notes, draw, organize information, and collaborate with others.</a:t>
            </a:r>
          </a:p>
        </p:txBody>
      </p:sp>
      <p:sp>
        <p:nvSpPr>
          <p:cNvPr id="5" name="TextBox 4">
            <a:extLst>
              <a:ext uri="{FF2B5EF4-FFF2-40B4-BE49-F238E27FC236}">
                <a16:creationId xmlns:a16="http://schemas.microsoft.com/office/drawing/2014/main" id="{5417F52A-E73B-4EA3-F70C-0C9DE7AF57A4}"/>
              </a:ext>
            </a:extLst>
          </p:cNvPr>
          <p:cNvSpPr txBox="1"/>
          <p:nvPr/>
        </p:nvSpPr>
        <p:spPr>
          <a:xfrm>
            <a:off x="934720" y="5206276"/>
            <a:ext cx="10068560"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These applications are widely used in various industries, educational institutions, and personal settings due to their user-friendly interfaces and powerful features that facilitate productivity and collaboration</a:t>
            </a:r>
            <a:r>
              <a:rPr lang="en-US" sz="2400" dirty="0"/>
              <a:t>.</a:t>
            </a:r>
            <a:endParaRPr lang="en-IN" sz="2400" dirty="0"/>
          </a:p>
        </p:txBody>
      </p:sp>
    </p:spTree>
    <p:extLst>
      <p:ext uri="{BB962C8B-B14F-4D97-AF65-F5344CB8AC3E}">
        <p14:creationId xmlns:p14="http://schemas.microsoft.com/office/powerpoint/2010/main" val="3615157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FF587A-05F6-A5E5-77B4-9608796DED4B}"/>
              </a:ext>
            </a:extLst>
          </p:cNvPr>
          <p:cNvSpPr txBox="1"/>
          <p:nvPr/>
        </p:nvSpPr>
        <p:spPr>
          <a:xfrm>
            <a:off x="651691" y="625567"/>
            <a:ext cx="10292080"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Microsoft Word is a word processing program developed by Microsoft. It's a part of the Microsoft Office suite and has been a staple in the computing world for several decades. Here's a bit about its background:</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F984A6-56C3-B009-2F09-E1054DCD5625}"/>
              </a:ext>
            </a:extLst>
          </p:cNvPr>
          <p:cNvSpPr txBox="1"/>
          <p:nvPr/>
        </p:nvSpPr>
        <p:spPr>
          <a:xfrm>
            <a:off x="711200" y="1995160"/>
            <a:ext cx="10474960" cy="341632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Early History:</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1970s and 1980s:</a:t>
            </a:r>
            <a:r>
              <a:rPr lang="en-US" sz="2400" dirty="0">
                <a:latin typeface="Times New Roman" panose="02020603050405020304" pitchFamily="18" charset="0"/>
                <a:cs typeface="Times New Roman" panose="02020603050405020304" pitchFamily="18" charset="0"/>
              </a:rPr>
              <a:t> The origins of Word date back to the early 1970s with the creation of the first word processor, "Bravo," at Xerox PARC. Over time, this evolved into programs like "Xerox Bravo," "Xerox Alto," and "Xerox Star."</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1983:</a:t>
            </a:r>
            <a:r>
              <a:rPr lang="en-US" sz="2400" dirty="0">
                <a:latin typeface="Times New Roman" panose="02020603050405020304" pitchFamily="18" charset="0"/>
                <a:cs typeface="Times New Roman" panose="02020603050405020304" pitchFamily="18" charset="0"/>
              </a:rPr>
              <a:t> Microsoft released the first version of Word for MS-DOS, initially called "Multi-Tool Word." It was later renamed "Microsoft Word."</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1989:</a:t>
            </a:r>
            <a:r>
              <a:rPr lang="en-US" sz="2400" dirty="0">
                <a:latin typeface="Times New Roman" panose="02020603050405020304" pitchFamily="18" charset="0"/>
                <a:cs typeface="Times New Roman" panose="02020603050405020304" pitchFamily="18" charset="0"/>
              </a:rPr>
              <a:t> The release of Word for Windows marked a significant milestone, as it became a part of the Microsoft Office suite. This version was notably more user-friendly and gained popularity rapidly.</a:t>
            </a:r>
          </a:p>
        </p:txBody>
      </p:sp>
    </p:spTree>
    <p:extLst>
      <p:ext uri="{BB962C8B-B14F-4D97-AF65-F5344CB8AC3E}">
        <p14:creationId xmlns:p14="http://schemas.microsoft.com/office/powerpoint/2010/main" val="2577632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D0AE2B-B785-EEC3-411C-7254C1E41EB9}"/>
              </a:ext>
            </a:extLst>
          </p:cNvPr>
          <p:cNvSpPr txBox="1"/>
          <p:nvPr/>
        </p:nvSpPr>
        <p:spPr>
          <a:xfrm>
            <a:off x="451395" y="843952"/>
            <a:ext cx="11430000" cy="4801314"/>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Features and Evolution</a:t>
            </a:r>
            <a:r>
              <a:rPr lang="en-US" sz="3600" b="1" dirty="0" smtClean="0">
                <a:latin typeface="Times New Roman" panose="02020603050405020304" pitchFamily="18" charset="0"/>
                <a:cs typeface="Times New Roman" panose="02020603050405020304" pitchFamily="18" charset="0"/>
              </a:rPr>
              <a:t>:</a:t>
            </a:r>
          </a:p>
          <a:p>
            <a:endParaRPr lang="en-US" sz="36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User Interface:</a:t>
            </a:r>
            <a:r>
              <a:rPr lang="en-US" sz="2400" dirty="0">
                <a:latin typeface="Times New Roman" panose="02020603050405020304" pitchFamily="18" charset="0"/>
                <a:cs typeface="Times New Roman" panose="02020603050405020304" pitchFamily="18" charset="0"/>
              </a:rPr>
              <a:t> Word introduced a graphical user interface, making it easier for users to format text, insert images, and create various document types.</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Integration with Office Suite:</a:t>
            </a:r>
            <a:r>
              <a:rPr lang="en-US" sz="2400" dirty="0">
                <a:latin typeface="Times New Roman" panose="02020603050405020304" pitchFamily="18" charset="0"/>
                <a:cs typeface="Times New Roman" panose="02020603050405020304" pitchFamily="18" charset="0"/>
              </a:rPr>
              <a:t> As part of the Office suite, Word integrated seamlessly with other Microsoft programs like Excel and PowerPoint.</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Regular Updates:</a:t>
            </a:r>
            <a:r>
              <a:rPr lang="en-US" sz="2400" dirty="0">
                <a:latin typeface="Times New Roman" panose="02020603050405020304" pitchFamily="18" charset="0"/>
                <a:cs typeface="Times New Roman" panose="02020603050405020304" pitchFamily="18" charset="0"/>
              </a:rPr>
              <a:t> Microsoft has consistently updated Word, introducing new features, templates, collaboration tools, and improved compatibility with different file formats.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32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ED25A3-DFBD-A7C7-F6D6-77534F53438E}"/>
              </a:ext>
            </a:extLst>
          </p:cNvPr>
          <p:cNvSpPr txBox="1"/>
          <p:nvPr/>
        </p:nvSpPr>
        <p:spPr>
          <a:xfrm>
            <a:off x="335280" y="264160"/>
            <a:ext cx="11663680" cy="563231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Key Features</a:t>
            </a:r>
            <a:r>
              <a:rPr lang="en-US" sz="3600" b="1" dirty="0" smtClean="0">
                <a:latin typeface="Times New Roman" panose="02020603050405020304" pitchFamily="18" charset="0"/>
                <a:cs typeface="Times New Roman" panose="02020603050405020304" pitchFamily="18" charset="0"/>
              </a:rPr>
              <a:t>:</a:t>
            </a:r>
          </a:p>
          <a:p>
            <a:endParaRPr lang="en-US" sz="36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Formatting Tools:</a:t>
            </a:r>
            <a:r>
              <a:rPr lang="en-US" sz="2400" dirty="0">
                <a:latin typeface="Times New Roman" panose="02020603050405020304" pitchFamily="18" charset="0"/>
                <a:cs typeface="Times New Roman" panose="02020603050405020304" pitchFamily="18" charset="0"/>
              </a:rPr>
              <a:t> Word offers extensive formatting options for text, paragraphs, and pages, allowing users to create professional-looking documents.</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Templates:</a:t>
            </a:r>
            <a:r>
              <a:rPr lang="en-US" sz="2400" dirty="0">
                <a:latin typeface="Times New Roman" panose="02020603050405020304" pitchFamily="18" charset="0"/>
                <a:cs typeface="Times New Roman" panose="02020603050405020304" pitchFamily="18" charset="0"/>
              </a:rPr>
              <a:t> It provides pre-designed templates for various document types, such as resumes, letters, reports, and newsletters.</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Collaboration Tools:</a:t>
            </a:r>
            <a:r>
              <a:rPr lang="en-US" sz="2400" dirty="0">
                <a:latin typeface="Times New Roman" panose="02020603050405020304" pitchFamily="18" charset="0"/>
                <a:cs typeface="Times New Roman" panose="02020603050405020304" pitchFamily="18" charset="0"/>
              </a:rPr>
              <a:t> Word offers features for real-time collaboration, allowing multiple users to work on the same document simultaneously.</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Integration:</a:t>
            </a:r>
            <a:r>
              <a:rPr lang="en-US" sz="2400" dirty="0">
                <a:latin typeface="Times New Roman" panose="02020603050405020304" pitchFamily="18" charset="0"/>
                <a:cs typeface="Times New Roman" panose="02020603050405020304" pitchFamily="18" charset="0"/>
              </a:rPr>
              <a:t> It integrates with other Office applications, enabling easy data sharing and cross-application functionality.</a:t>
            </a:r>
          </a:p>
        </p:txBody>
      </p:sp>
    </p:spTree>
    <p:extLst>
      <p:ext uri="{BB962C8B-B14F-4D97-AF65-F5344CB8AC3E}">
        <p14:creationId xmlns:p14="http://schemas.microsoft.com/office/powerpoint/2010/main" val="1852927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EA12D3-DEA7-7177-1B42-0F4F08407767}"/>
              </a:ext>
            </a:extLst>
          </p:cNvPr>
          <p:cNvSpPr txBox="1"/>
          <p:nvPr/>
        </p:nvSpPr>
        <p:spPr>
          <a:xfrm>
            <a:off x="409303" y="704003"/>
            <a:ext cx="11287760" cy="563231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Modern Word</a:t>
            </a:r>
            <a:r>
              <a:rPr lang="en-US" sz="3600" b="1" dirty="0" smtClean="0">
                <a:latin typeface="Times New Roman" panose="02020603050405020304" pitchFamily="18" charset="0"/>
                <a:cs typeface="Times New Roman" panose="02020603050405020304" pitchFamily="18" charset="0"/>
              </a:rPr>
              <a:t>:</a:t>
            </a:r>
          </a:p>
          <a:p>
            <a:endParaRPr lang="en-US" sz="36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Cloud Integration:</a:t>
            </a:r>
            <a:r>
              <a:rPr lang="en-US" sz="2400" dirty="0">
                <a:latin typeface="Times New Roman" panose="02020603050405020304" pitchFamily="18" charset="0"/>
                <a:cs typeface="Times New Roman" panose="02020603050405020304" pitchFamily="18" charset="0"/>
              </a:rPr>
              <a:t> Microsoft has transitioned Word to cloud-based versions like Office 365 and Microsoft 365, enabling users to access and collaborate on documents from anywhere.</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Continued Updates:</a:t>
            </a:r>
            <a:r>
              <a:rPr lang="en-US" sz="2400" dirty="0">
                <a:latin typeface="Times New Roman" panose="02020603050405020304" pitchFamily="18" charset="0"/>
                <a:cs typeface="Times New Roman" panose="02020603050405020304" pitchFamily="18" charset="0"/>
              </a:rPr>
              <a:t> Microsoft regularly updates Word, adding new features, improving security, and enhancing user experience</a:t>
            </a:r>
            <a:r>
              <a:rPr lang="en-US" sz="2400" dirty="0" smtClean="0">
                <a:latin typeface="Times New Roman" panose="02020603050405020304" pitchFamily="18" charset="0"/>
                <a:cs typeface="Times New Roman" panose="02020603050405020304" pitchFamily="18" charset="0"/>
              </a:rPr>
              <a:t>.</a:t>
            </a:r>
          </a:p>
          <a:p>
            <a:pPr>
              <a:lnSpc>
                <a:spcPct val="150000"/>
              </a:lnSpc>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Today, Microsoft Word remains one of the most widely used word processing applications globally, catering to various users, from students to professionals, due to its versatility, user-friendly interface, and integration with other productivity tools.</a:t>
            </a:r>
          </a:p>
        </p:txBody>
      </p:sp>
    </p:spTree>
    <p:extLst>
      <p:ext uri="{BB962C8B-B14F-4D97-AF65-F5344CB8AC3E}">
        <p14:creationId xmlns:p14="http://schemas.microsoft.com/office/powerpoint/2010/main" val="257691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0777" y="2193925"/>
            <a:ext cx="3836126" cy="1999252"/>
          </a:xfrm>
        </p:spPr>
        <p:txBody>
          <a:bodyPr>
            <a:normAutofit/>
          </a:bodyPr>
          <a:lstStyle/>
          <a:p>
            <a:r>
              <a:rPr lang="en-US" sz="5400" b="1" dirty="0" smtClean="0">
                <a:latin typeface="Times New Roman" panose="02020603050405020304" pitchFamily="18" charset="0"/>
                <a:cs typeface="Times New Roman" panose="02020603050405020304" pitchFamily="18" charset="0"/>
              </a:rPr>
              <a:t>Thank You</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6267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62</TotalTime>
  <Words>613</Words>
  <Application>Microsoft Office PowerPoint</Application>
  <PresentationFormat>Widescreen</PresentationFormat>
  <Paragraphs>33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      Introduction of MS-Office</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GUPTA</dc:creator>
  <cp:lastModifiedBy>glau</cp:lastModifiedBy>
  <cp:revision>5</cp:revision>
  <dcterms:created xsi:type="dcterms:W3CDTF">2024-01-08T15:50:29Z</dcterms:created>
  <dcterms:modified xsi:type="dcterms:W3CDTF">2024-01-10T04:52:34Z</dcterms:modified>
</cp:coreProperties>
</file>