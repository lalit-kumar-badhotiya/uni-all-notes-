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3.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256" r:id="rId2"/>
    <p:sldId id="257" r:id="rId3"/>
    <p:sldId id="259" r:id="rId4"/>
    <p:sldId id="262" r:id="rId5"/>
    <p:sldId id="428" r:id="rId6"/>
    <p:sldId id="427" r:id="rId7"/>
    <p:sldId id="429" r:id="rId8"/>
    <p:sldId id="263" r:id="rId9"/>
    <p:sldId id="419" r:id="rId10"/>
    <p:sldId id="420" r:id="rId11"/>
    <p:sldId id="421" r:id="rId12"/>
    <p:sldId id="422" r:id="rId13"/>
    <p:sldId id="267" r:id="rId14"/>
    <p:sldId id="268" r:id="rId15"/>
    <p:sldId id="430" r:id="rId16"/>
    <p:sldId id="431" r:id="rId17"/>
    <p:sldId id="273" r:id="rId18"/>
    <p:sldId id="334" r:id="rId19"/>
    <p:sldId id="337" r:id="rId20"/>
    <p:sldId id="338" r:id="rId21"/>
    <p:sldId id="331" r:id="rId22"/>
    <p:sldId id="339" r:id="rId23"/>
    <p:sldId id="340" r:id="rId24"/>
    <p:sldId id="423" r:id="rId25"/>
    <p:sldId id="424" r:id="rId26"/>
    <p:sldId id="293" r:id="rId27"/>
    <p:sldId id="294" r:id="rId28"/>
    <p:sldId id="296" r:id="rId29"/>
    <p:sldId id="297" r:id="rId30"/>
    <p:sldId id="349" r:id="rId31"/>
    <p:sldId id="300" r:id="rId32"/>
    <p:sldId id="345" r:id="rId33"/>
    <p:sldId id="346" r:id="rId34"/>
    <p:sldId id="347" r:id="rId35"/>
    <p:sldId id="348" r:id="rId36"/>
    <p:sldId id="350" r:id="rId37"/>
    <p:sldId id="352" r:id="rId38"/>
    <p:sldId id="353" r:id="rId39"/>
    <p:sldId id="309" r:id="rId40"/>
    <p:sldId id="312" r:id="rId41"/>
    <p:sldId id="357" r:id="rId42"/>
    <p:sldId id="359" r:id="rId43"/>
    <p:sldId id="358" r:id="rId44"/>
    <p:sldId id="360" r:id="rId45"/>
    <p:sldId id="361" r:id="rId46"/>
    <p:sldId id="367" r:id="rId47"/>
    <p:sldId id="368" r:id="rId48"/>
    <p:sldId id="363" r:id="rId49"/>
    <p:sldId id="373" r:id="rId50"/>
    <p:sldId id="319" r:id="rId51"/>
    <p:sldId id="378" r:id="rId52"/>
    <p:sldId id="379" r:id="rId53"/>
    <p:sldId id="385" r:id="rId54"/>
    <p:sldId id="418" r:id="rId55"/>
    <p:sldId id="417" r:id="rId56"/>
    <p:sldId id="386" r:id="rId57"/>
    <p:sldId id="392" r:id="rId58"/>
    <p:sldId id="394" r:id="rId59"/>
    <p:sldId id="395" r:id="rId60"/>
    <p:sldId id="393" r:id="rId61"/>
    <p:sldId id="389" r:id="rId62"/>
    <p:sldId id="390" r:id="rId63"/>
    <p:sldId id="396" r:id="rId64"/>
    <p:sldId id="397" r:id="rId65"/>
    <p:sldId id="411" r:id="rId66"/>
    <p:sldId id="412" r:id="rId67"/>
    <p:sldId id="398" r:id="rId68"/>
    <p:sldId id="405" r:id="rId69"/>
    <p:sldId id="403" r:id="rId70"/>
    <p:sldId id="404" r:id="rId71"/>
    <p:sldId id="399" r:id="rId72"/>
    <p:sldId id="406" r:id="rId73"/>
    <p:sldId id="409" r:id="rId74"/>
    <p:sldId id="410" r:id="rId7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2" autoAdjust="0"/>
    <p:restoredTop sz="94660"/>
  </p:normalViewPr>
  <p:slideViewPr>
    <p:cSldViewPr>
      <p:cViewPr varScale="1">
        <p:scale>
          <a:sx n="63" d="100"/>
          <a:sy n="63" d="100"/>
        </p:scale>
        <p:origin x="160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05EC040-3517-424B-9AE4-276631815205}" type="datetimeFigureOut">
              <a:rPr lang="en-IN" smtClean="0"/>
              <a:t>23-02-2024</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EED70ED-1D86-4A15-81E9-D2AA5B08A842}" type="slidenum">
              <a:rPr lang="en-IN" smtClean="0"/>
              <a:t>‹#›</a:t>
            </a:fld>
            <a:endParaRPr lang="en-IN"/>
          </a:p>
        </p:txBody>
      </p:sp>
    </p:spTree>
    <p:extLst>
      <p:ext uri="{BB962C8B-B14F-4D97-AF65-F5344CB8AC3E}">
        <p14:creationId xmlns:p14="http://schemas.microsoft.com/office/powerpoint/2010/main" val="6712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7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5BA66E3-800E-47AC-9D43-58E7EA736AC3}" type="datetime1">
              <a:rPr lang="en-US" smtClean="0"/>
              <a:t>2/23/2024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7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558C3E7-3FD4-4641-B20D-6CD9E0526AA1}" type="datetime1">
              <a:rPr lang="en-US" smtClean="0"/>
              <a:t>2/23/2024</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spc="-2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265BF10-D38D-4615-8B13-F43D4B5088EA}" type="datetime1">
              <a:rPr lang="en-US" smtClean="0"/>
              <a:t>2/23/2024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spc="-2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92D2B7D-F394-45E2-9150-FBECD2DC30FE}" type="datetime1">
              <a:rPr lang="en-US" smtClean="0"/>
              <a:t>2/23/2024</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spc="-2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CD880A9-D89D-45A8-8CC0-37F400729EF3}" type="datetime1">
              <a:rPr lang="en-US" smtClean="0"/>
              <a:t>2/23/2024</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C3D59B"/>
          </a:solidFill>
        </p:spPr>
        <p:txBody>
          <a:bodyPr wrap="square" lIns="0" tIns="0" rIns="0" bIns="0" rtlCol="0"/>
          <a:lstStyle/>
          <a:p>
            <a:endParaRPr/>
          </a:p>
        </p:txBody>
      </p:sp>
      <p:sp>
        <p:nvSpPr>
          <p:cNvPr id="2" name="Holder 2"/>
          <p:cNvSpPr>
            <a:spLocks noGrp="1"/>
          </p:cNvSpPr>
          <p:nvPr>
            <p:ph type="title"/>
          </p:nvPr>
        </p:nvSpPr>
        <p:spPr>
          <a:xfrm>
            <a:off x="383540" y="167385"/>
            <a:ext cx="8305165" cy="1123315"/>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528650" y="1645996"/>
            <a:ext cx="8086699" cy="3074035"/>
          </a:xfrm>
          <a:prstGeom prst="rect">
            <a:avLst/>
          </a:prstGeom>
        </p:spPr>
        <p:txBody>
          <a:bodyPr wrap="square" lIns="0" tIns="0" rIns="0" bIns="0">
            <a:spAutoFit/>
          </a:bodyPr>
          <a:lstStyle>
            <a:lvl1pPr>
              <a:defRPr sz="27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780790" y="6466738"/>
            <a:ext cx="158178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endParaRPr spc="-25"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CB75BC64-DD96-4F6F-8489-3C2FE862630E}" type="datetime1">
              <a:rPr lang="en-US" smtClean="0"/>
              <a:t>2/23/2024</a:t>
            </a:fld>
            <a:endParaRPr lang="en-US"/>
          </a:p>
        </p:txBody>
      </p:sp>
      <p:sp>
        <p:nvSpPr>
          <p:cNvPr id="6" name="Holder 6"/>
          <p:cNvSpPr>
            <a:spLocks noGrp="1"/>
          </p:cNvSpPr>
          <p:nvPr>
            <p:ph type="sldNum" sz="quarter" idx="7"/>
          </p:nvPr>
        </p:nvSpPr>
        <p:spPr>
          <a:xfrm>
            <a:off x="8407907" y="6466738"/>
            <a:ext cx="24257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143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4640" y="2286000"/>
            <a:ext cx="8534400" cy="2462213"/>
          </a:xfrm>
          <a:prstGeom prst="rect">
            <a:avLst/>
          </a:prstGeom>
          <a:noFill/>
        </p:spPr>
        <p:txBody>
          <a:bodyPr wrap="square" rtlCol="0">
            <a:spAutoFit/>
          </a:bodyPr>
          <a:lstStyle/>
          <a:p>
            <a:pPr algn="ctr"/>
            <a:r>
              <a:rPr lang="en-IN" sz="2800" b="1" dirty="0" smtClean="0"/>
              <a:t>MANAGEMENT CONCEPTS &amp; PRACTICES</a:t>
            </a:r>
          </a:p>
          <a:p>
            <a:pPr algn="ctr"/>
            <a:endParaRPr lang="en-IN" sz="2800" b="1" dirty="0"/>
          </a:p>
          <a:p>
            <a:pPr algn="ctr"/>
            <a:endParaRPr lang="en-IN" sz="2800" b="1" dirty="0" smtClean="0"/>
          </a:p>
          <a:p>
            <a:pPr algn="ctr"/>
            <a:r>
              <a:rPr lang="en-IN" sz="2800" b="1" dirty="0" smtClean="0"/>
              <a:t>MODULE- I</a:t>
            </a:r>
          </a:p>
          <a:p>
            <a:pPr algn="ctr"/>
            <a:endParaRPr lang="en-IN" sz="2800" b="1" dirty="0" smtClean="0"/>
          </a:p>
          <a:p>
            <a:pPr algn="ctr"/>
            <a:endParaRPr lang="en-IN" sz="14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1918970">
              <a:lnSpc>
                <a:spcPct val="100000"/>
              </a:lnSpc>
              <a:spcBef>
                <a:spcPts val="90"/>
              </a:spcBef>
            </a:pPr>
            <a:r>
              <a:rPr dirty="0"/>
              <a:t>Content</a:t>
            </a:r>
            <a:r>
              <a:rPr spc="-114" dirty="0"/>
              <a:t> </a:t>
            </a:r>
            <a:r>
              <a:rPr dirty="0"/>
              <a:t>of</a:t>
            </a:r>
            <a:r>
              <a:rPr spc="-160" dirty="0"/>
              <a:t> </a:t>
            </a:r>
            <a:r>
              <a:rPr lang="en-IN" dirty="0"/>
              <a:t>M</a:t>
            </a:r>
            <a:r>
              <a:rPr dirty="0" err="1" smtClean="0"/>
              <a:t>odule</a:t>
            </a:r>
            <a:r>
              <a:rPr spc="-130" dirty="0" smtClean="0"/>
              <a:t> </a:t>
            </a:r>
            <a:r>
              <a:rPr spc="-50" dirty="0"/>
              <a:t>I</a:t>
            </a:r>
          </a:p>
        </p:txBody>
      </p:sp>
      <p:sp>
        <p:nvSpPr>
          <p:cNvPr id="3" name="object 3"/>
          <p:cNvSpPr txBox="1"/>
          <p:nvPr/>
        </p:nvSpPr>
        <p:spPr>
          <a:xfrm>
            <a:off x="536244" y="1527428"/>
            <a:ext cx="8072755" cy="5195781"/>
          </a:xfrm>
          <a:prstGeom prst="rect">
            <a:avLst/>
          </a:prstGeom>
        </p:spPr>
        <p:txBody>
          <a:bodyPr vert="horz" wrap="square" lIns="0" tIns="12700" rIns="0" bIns="0" rtlCol="0">
            <a:spAutoFit/>
          </a:bodyPr>
          <a:lstStyle/>
          <a:p>
            <a:pPr marL="356870" indent="-344805">
              <a:lnSpc>
                <a:spcPct val="100000"/>
              </a:lnSpc>
              <a:spcBef>
                <a:spcPts val="100"/>
              </a:spcBef>
              <a:buFont typeface="Arial MT"/>
              <a:buChar char="•"/>
              <a:tabLst>
                <a:tab pos="356870" algn="l"/>
                <a:tab pos="357505" algn="l"/>
              </a:tabLst>
            </a:pPr>
            <a:r>
              <a:rPr lang="en-IN" sz="3000" dirty="0" smtClean="0">
                <a:latin typeface="Calibri"/>
                <a:cs typeface="Calibri"/>
              </a:rPr>
              <a:t>Introduction</a:t>
            </a:r>
            <a:r>
              <a:rPr sz="3000" spc="-10" dirty="0" smtClean="0">
                <a:latin typeface="Calibri"/>
                <a:cs typeface="Calibri"/>
              </a:rPr>
              <a:t>:</a:t>
            </a:r>
            <a:endParaRPr sz="3000" dirty="0">
              <a:latin typeface="Calibri"/>
              <a:cs typeface="Calibri"/>
            </a:endParaRPr>
          </a:p>
          <a:p>
            <a:pPr marL="756285" lvl="1" indent="-287020">
              <a:lnSpc>
                <a:spcPct val="100000"/>
              </a:lnSpc>
              <a:spcBef>
                <a:spcPts val="20"/>
              </a:spcBef>
              <a:buFont typeface="Arial MT"/>
              <a:buChar char="–"/>
              <a:tabLst>
                <a:tab pos="756920" algn="l"/>
              </a:tabLst>
            </a:pPr>
            <a:r>
              <a:rPr sz="2000" spc="-10" dirty="0" smtClean="0">
                <a:latin typeface="Calibri"/>
                <a:cs typeface="Calibri"/>
              </a:rPr>
              <a:t>Concept</a:t>
            </a:r>
            <a:r>
              <a:rPr lang="en-IN" sz="2000" spc="-10" dirty="0" smtClean="0">
                <a:latin typeface="Calibri"/>
                <a:cs typeface="Calibri"/>
              </a:rPr>
              <a:t>s</a:t>
            </a:r>
            <a:r>
              <a:rPr sz="2000" spc="-10" dirty="0" smtClean="0">
                <a:latin typeface="Calibri"/>
                <a:cs typeface="Calibri"/>
              </a:rPr>
              <a:t>,</a:t>
            </a:r>
            <a:endParaRPr sz="2000" dirty="0">
              <a:latin typeface="Calibri"/>
              <a:cs typeface="Calibri"/>
            </a:endParaRPr>
          </a:p>
          <a:p>
            <a:pPr marL="756285" lvl="1" indent="-287020">
              <a:lnSpc>
                <a:spcPct val="100000"/>
              </a:lnSpc>
              <a:buFont typeface="Arial MT"/>
              <a:buChar char="–"/>
              <a:tabLst>
                <a:tab pos="756920" algn="l"/>
              </a:tabLst>
            </a:pPr>
            <a:r>
              <a:rPr sz="2000" dirty="0" smtClean="0">
                <a:latin typeface="Calibri"/>
                <a:cs typeface="Calibri"/>
              </a:rPr>
              <a:t>Nature</a:t>
            </a:r>
            <a:r>
              <a:rPr lang="en-IN" sz="2000" dirty="0" smtClean="0">
                <a:latin typeface="Calibri"/>
                <a:cs typeface="Calibri"/>
              </a:rPr>
              <a:t>, Objectives</a:t>
            </a:r>
            <a:r>
              <a:rPr lang="en-IN" sz="2000" spc="-80" dirty="0" smtClean="0">
                <a:latin typeface="Calibri"/>
                <a:cs typeface="Calibri"/>
              </a:rPr>
              <a:t>, Scope, and</a:t>
            </a:r>
            <a:r>
              <a:rPr sz="2000" spc="-70" dirty="0" smtClean="0">
                <a:latin typeface="Calibri"/>
                <a:cs typeface="Calibri"/>
              </a:rPr>
              <a:t> </a:t>
            </a:r>
            <a:r>
              <a:rPr lang="en-IN" sz="2000" spc="-10" dirty="0" smtClean="0">
                <a:latin typeface="Calibri"/>
                <a:cs typeface="Calibri"/>
              </a:rPr>
              <a:t>Significance</a:t>
            </a:r>
            <a:r>
              <a:rPr sz="2000" spc="-10" dirty="0" smtClean="0">
                <a:latin typeface="Calibri"/>
                <a:cs typeface="Calibri"/>
              </a:rPr>
              <a:t>.</a:t>
            </a:r>
            <a:endParaRPr sz="2000" dirty="0">
              <a:latin typeface="Calibri"/>
              <a:cs typeface="Calibri"/>
            </a:endParaRPr>
          </a:p>
          <a:p>
            <a:pPr marL="756285" marR="8255" lvl="1" indent="-287020">
              <a:lnSpc>
                <a:spcPct val="80000"/>
              </a:lnSpc>
              <a:spcBef>
                <a:spcPts val="625"/>
              </a:spcBef>
              <a:buFont typeface="Arial MT"/>
              <a:buChar char="–"/>
              <a:tabLst>
                <a:tab pos="756920" algn="l"/>
                <a:tab pos="3094990" algn="l"/>
                <a:tab pos="5018405" algn="l"/>
                <a:tab pos="6354445" algn="l"/>
              </a:tabLst>
            </a:pPr>
            <a:r>
              <a:rPr sz="2000" dirty="0">
                <a:latin typeface="Calibri"/>
                <a:cs typeface="Calibri"/>
              </a:rPr>
              <a:t>	</a:t>
            </a:r>
            <a:r>
              <a:rPr sz="2000" spc="-10" dirty="0">
                <a:latin typeface="Calibri"/>
                <a:cs typeface="Calibri"/>
              </a:rPr>
              <a:t>Contribution </a:t>
            </a:r>
            <a:r>
              <a:rPr sz="2000" dirty="0">
                <a:latin typeface="Calibri"/>
                <a:cs typeface="Calibri"/>
              </a:rPr>
              <a:t>of</a:t>
            </a:r>
            <a:r>
              <a:rPr sz="2000" spc="-50" dirty="0">
                <a:latin typeface="Calibri"/>
                <a:cs typeface="Calibri"/>
              </a:rPr>
              <a:t> </a:t>
            </a:r>
            <a:r>
              <a:rPr sz="2000" spc="-30" dirty="0" smtClean="0">
                <a:latin typeface="Calibri"/>
                <a:cs typeface="Calibri"/>
              </a:rPr>
              <a:t>Taylor</a:t>
            </a:r>
            <a:r>
              <a:rPr lang="en-IN" sz="2000" spc="-30" dirty="0" smtClean="0">
                <a:latin typeface="Calibri"/>
                <a:cs typeface="Calibri"/>
              </a:rPr>
              <a:t>, Weber and </a:t>
            </a:r>
            <a:r>
              <a:rPr lang="en-IN" sz="2000" spc="-30" dirty="0" err="1" smtClean="0">
                <a:latin typeface="Calibri"/>
                <a:cs typeface="Calibri"/>
              </a:rPr>
              <a:t>Fayol</a:t>
            </a:r>
            <a:r>
              <a:rPr lang="en-IN" sz="2000" spc="-30" dirty="0" smtClean="0">
                <a:latin typeface="Calibri"/>
                <a:cs typeface="Calibri"/>
              </a:rPr>
              <a:t> in Management</a:t>
            </a:r>
            <a:r>
              <a:rPr sz="2000" spc="-10" dirty="0" smtClean="0">
                <a:latin typeface="Calibri"/>
                <a:cs typeface="Calibri"/>
              </a:rPr>
              <a:t>,</a:t>
            </a:r>
            <a:r>
              <a:rPr lang="en-IN" sz="2000" spc="-10" dirty="0" smtClean="0">
                <a:latin typeface="Calibri"/>
                <a:cs typeface="Calibri"/>
              </a:rPr>
              <a:t> Management Vs. administration</a:t>
            </a:r>
          </a:p>
          <a:p>
            <a:pPr marL="356870" indent="-344805">
              <a:lnSpc>
                <a:spcPts val="3235"/>
              </a:lnSpc>
              <a:buFont typeface="Arial MT"/>
              <a:buChar char="•"/>
              <a:tabLst>
                <a:tab pos="356870" algn="l"/>
                <a:tab pos="357505" algn="l"/>
              </a:tabLst>
            </a:pPr>
            <a:r>
              <a:rPr lang="en-GB" sz="2700" dirty="0" smtClean="0">
                <a:latin typeface="Calibri"/>
                <a:cs typeface="Calibri"/>
              </a:rPr>
              <a:t>Planning</a:t>
            </a:r>
            <a:r>
              <a:rPr lang="en-GB" sz="2700" spc="-10" dirty="0" smtClean="0">
                <a:latin typeface="Calibri"/>
                <a:cs typeface="Calibri"/>
              </a:rPr>
              <a:t>:</a:t>
            </a:r>
            <a:endParaRPr lang="en-GB" sz="2700" dirty="0" smtClean="0">
              <a:latin typeface="Calibri"/>
              <a:cs typeface="Calibri"/>
            </a:endParaRPr>
          </a:p>
          <a:p>
            <a:pPr marL="756285" lvl="1" indent="-287020">
              <a:lnSpc>
                <a:spcPct val="100000"/>
              </a:lnSpc>
              <a:spcBef>
                <a:spcPts val="15"/>
              </a:spcBef>
              <a:buFont typeface="Arial MT"/>
              <a:buChar char="–"/>
              <a:tabLst>
                <a:tab pos="756920" algn="l"/>
              </a:tabLst>
            </a:pPr>
            <a:r>
              <a:rPr lang="en-GB" sz="2000" spc="-10" dirty="0" smtClean="0">
                <a:latin typeface="Calibri"/>
                <a:cs typeface="Calibri"/>
              </a:rPr>
              <a:t>Concept, objectives, nature, Importance, and limitations of Planning, Planning Process</a:t>
            </a:r>
            <a:r>
              <a:rPr lang="en-GB" sz="2400" spc="-10" dirty="0" smtClean="0">
                <a:latin typeface="Calibri"/>
                <a:cs typeface="Calibri"/>
              </a:rPr>
              <a:t>,</a:t>
            </a:r>
            <a:endParaRPr lang="en-GB" sz="2700" dirty="0" smtClean="0">
              <a:latin typeface="Calibri"/>
              <a:cs typeface="Calibri"/>
            </a:endParaRPr>
          </a:p>
          <a:p>
            <a:pPr marL="356870" indent="-344805">
              <a:lnSpc>
                <a:spcPts val="3235"/>
              </a:lnSpc>
              <a:buFont typeface="Arial MT"/>
              <a:buChar char="•"/>
              <a:tabLst>
                <a:tab pos="356870" algn="l"/>
                <a:tab pos="357505" algn="l"/>
              </a:tabLst>
            </a:pPr>
            <a:r>
              <a:rPr lang="en-GB" sz="2700" dirty="0" smtClean="0">
                <a:latin typeface="Calibri"/>
                <a:cs typeface="Calibri"/>
              </a:rPr>
              <a:t>Decision</a:t>
            </a:r>
            <a:r>
              <a:rPr lang="en-GB" sz="2700" spc="-70" dirty="0" smtClean="0">
                <a:latin typeface="Calibri"/>
                <a:cs typeface="Calibri"/>
              </a:rPr>
              <a:t> </a:t>
            </a:r>
            <a:r>
              <a:rPr lang="en-GB" sz="2700" spc="-10" dirty="0" smtClean="0">
                <a:latin typeface="Calibri"/>
                <a:cs typeface="Calibri"/>
              </a:rPr>
              <a:t>Making:</a:t>
            </a:r>
            <a:endParaRPr lang="en-GB" sz="2700" dirty="0" smtClean="0">
              <a:latin typeface="Calibri"/>
              <a:cs typeface="Calibri"/>
            </a:endParaRPr>
          </a:p>
          <a:p>
            <a:pPr marL="756285" lvl="1" indent="-287020">
              <a:lnSpc>
                <a:spcPct val="100000"/>
              </a:lnSpc>
              <a:spcBef>
                <a:spcPts val="15"/>
              </a:spcBef>
              <a:buFont typeface="Arial MT"/>
              <a:buChar char="–"/>
              <a:tabLst>
                <a:tab pos="756920" algn="l"/>
              </a:tabLst>
            </a:pPr>
            <a:r>
              <a:rPr lang="en-GB" sz="2000" spc="-10" dirty="0" smtClean="0">
                <a:latin typeface="Calibri"/>
                <a:cs typeface="Calibri"/>
              </a:rPr>
              <a:t>Concept, importance, forms, </a:t>
            </a:r>
            <a:r>
              <a:rPr lang="en-GB" sz="2000" dirty="0" smtClean="0">
                <a:latin typeface="Calibri"/>
                <a:cs typeface="Calibri"/>
              </a:rPr>
              <a:t>Process</a:t>
            </a:r>
            <a:r>
              <a:rPr lang="en-GB" sz="2000" spc="-65" dirty="0" smtClean="0">
                <a:latin typeface="Calibri"/>
                <a:cs typeface="Calibri"/>
              </a:rPr>
              <a:t> </a:t>
            </a:r>
            <a:r>
              <a:rPr lang="en-GB" sz="2000" dirty="0" smtClean="0">
                <a:latin typeface="Calibri"/>
                <a:cs typeface="Calibri"/>
              </a:rPr>
              <a:t>and</a:t>
            </a:r>
            <a:r>
              <a:rPr lang="en-GB" sz="2000" spc="-30" dirty="0" smtClean="0">
                <a:latin typeface="Calibri"/>
                <a:cs typeface="Calibri"/>
              </a:rPr>
              <a:t> </a:t>
            </a:r>
            <a:r>
              <a:rPr lang="en-GB" sz="2000" spc="-10" dirty="0" smtClean="0">
                <a:latin typeface="Calibri"/>
                <a:cs typeface="Calibri"/>
              </a:rPr>
              <a:t>Techniques</a:t>
            </a:r>
            <a:r>
              <a:rPr lang="en-GB" sz="2000" spc="-60" dirty="0" smtClean="0">
                <a:latin typeface="Calibri"/>
                <a:cs typeface="Calibri"/>
              </a:rPr>
              <a:t> </a:t>
            </a:r>
            <a:r>
              <a:rPr lang="en-GB" sz="2000" dirty="0" smtClean="0">
                <a:latin typeface="Calibri"/>
                <a:cs typeface="Calibri"/>
              </a:rPr>
              <a:t>of</a:t>
            </a:r>
            <a:r>
              <a:rPr lang="en-GB" sz="2000" spc="-55" dirty="0" smtClean="0">
                <a:latin typeface="Calibri"/>
                <a:cs typeface="Calibri"/>
              </a:rPr>
              <a:t> </a:t>
            </a:r>
            <a:r>
              <a:rPr lang="en-GB" sz="2000" dirty="0" smtClean="0">
                <a:latin typeface="Calibri"/>
                <a:cs typeface="Calibri"/>
              </a:rPr>
              <a:t>Decision</a:t>
            </a:r>
            <a:r>
              <a:rPr lang="en-GB" sz="2000" spc="-20" dirty="0" smtClean="0">
                <a:latin typeface="Calibri"/>
                <a:cs typeface="Calibri"/>
              </a:rPr>
              <a:t> </a:t>
            </a:r>
            <a:r>
              <a:rPr lang="en-GB" sz="2000" spc="-10" dirty="0" smtClean="0">
                <a:latin typeface="Calibri"/>
                <a:cs typeface="Calibri"/>
              </a:rPr>
              <a:t>Making.</a:t>
            </a:r>
            <a:endParaRPr lang="en-GB" sz="2000" dirty="0" smtClean="0">
              <a:latin typeface="Calibri"/>
              <a:cs typeface="Calibri"/>
            </a:endParaRPr>
          </a:p>
          <a:p>
            <a:pPr marL="356870" indent="-344805">
              <a:lnSpc>
                <a:spcPts val="3235"/>
              </a:lnSpc>
              <a:buFont typeface="Arial MT"/>
              <a:buChar char="•"/>
              <a:tabLst>
                <a:tab pos="356870" algn="l"/>
                <a:tab pos="357505" algn="l"/>
              </a:tabLst>
            </a:pPr>
            <a:r>
              <a:rPr lang="en-GB" sz="2700" spc="-10" dirty="0" smtClean="0">
                <a:latin typeface="Calibri"/>
                <a:cs typeface="Calibri"/>
              </a:rPr>
              <a:t>Organising:</a:t>
            </a:r>
            <a:endParaRPr lang="en-GB" sz="2700" dirty="0" smtClean="0">
              <a:latin typeface="Calibri"/>
              <a:cs typeface="Calibri"/>
            </a:endParaRPr>
          </a:p>
          <a:p>
            <a:pPr marL="756285" lvl="1" indent="-287020">
              <a:lnSpc>
                <a:spcPct val="100000"/>
              </a:lnSpc>
              <a:spcBef>
                <a:spcPts val="15"/>
              </a:spcBef>
              <a:buFont typeface="Arial MT"/>
              <a:buChar char="–"/>
              <a:tabLst>
                <a:tab pos="756920" algn="l"/>
              </a:tabLst>
            </a:pPr>
            <a:r>
              <a:rPr lang="en-GB" sz="2000" spc="-10" dirty="0" smtClean="0">
                <a:latin typeface="Calibri"/>
                <a:cs typeface="Calibri"/>
              </a:rPr>
              <a:t>Concept, objectives, nature, </a:t>
            </a:r>
            <a:r>
              <a:rPr lang="en-GB" sz="2000" spc="-10" dirty="0" smtClean="0">
                <a:latin typeface="Calibri"/>
                <a:cs typeface="Calibri"/>
              </a:rPr>
              <a:t>types, Delegation of Authority, Authority and Responsibility, Centralization and Decentralization, Span of Control</a:t>
            </a:r>
            <a:endParaRPr lang="en-GB" sz="2000" dirty="0" smtClean="0">
              <a:latin typeface="Calibri"/>
              <a:cs typeface="Calibri"/>
            </a:endParaRPr>
          </a:p>
          <a:p>
            <a:pPr marL="469265" marR="8255" lvl="1">
              <a:lnSpc>
                <a:spcPct val="80000"/>
              </a:lnSpc>
              <a:spcBef>
                <a:spcPts val="625"/>
              </a:spcBef>
              <a:tabLst>
                <a:tab pos="756920" algn="l"/>
                <a:tab pos="3094990" algn="l"/>
                <a:tab pos="5018405" algn="l"/>
                <a:tab pos="6354445" algn="l"/>
              </a:tabLst>
            </a:pPr>
            <a:endParaRPr lang="en-IN" sz="2600" spc="-10" dirty="0" smtClean="0">
              <a:latin typeface="Calibri"/>
              <a:cs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1059180">
              <a:lnSpc>
                <a:spcPct val="100000"/>
              </a:lnSpc>
              <a:spcBef>
                <a:spcPts val="90"/>
              </a:spcBef>
            </a:pPr>
            <a:r>
              <a:rPr b="1" spc="-10" dirty="0"/>
              <a:t>Management:</a:t>
            </a:r>
            <a:r>
              <a:rPr b="1" spc="-45" dirty="0"/>
              <a:t> </a:t>
            </a:r>
            <a:r>
              <a:rPr b="1" dirty="0"/>
              <a:t>As</a:t>
            </a:r>
            <a:r>
              <a:rPr b="1" spc="-90" dirty="0"/>
              <a:t> </a:t>
            </a:r>
            <a:r>
              <a:rPr b="1" dirty="0"/>
              <a:t>a</a:t>
            </a:r>
            <a:r>
              <a:rPr b="1" spc="-95" dirty="0"/>
              <a:t> </a:t>
            </a:r>
            <a:r>
              <a:rPr b="1" spc="-10" dirty="0"/>
              <a:t>Concept</a:t>
            </a:r>
          </a:p>
        </p:txBody>
      </p:sp>
      <p:sp>
        <p:nvSpPr>
          <p:cNvPr id="3" name="object 3"/>
          <p:cNvSpPr txBox="1"/>
          <p:nvPr/>
        </p:nvSpPr>
        <p:spPr>
          <a:xfrm>
            <a:off x="536244" y="1563700"/>
            <a:ext cx="8455356" cy="5098831"/>
          </a:xfrm>
          <a:prstGeom prst="rect">
            <a:avLst/>
          </a:prstGeom>
        </p:spPr>
        <p:txBody>
          <a:bodyPr vert="horz" wrap="square" lIns="0" tIns="58419" rIns="0" bIns="0" rtlCol="0">
            <a:spAutoFit/>
          </a:bodyPr>
          <a:lstStyle/>
          <a:p>
            <a:pPr marL="12065" marR="6985" algn="just">
              <a:lnSpc>
                <a:spcPct val="90000"/>
              </a:lnSpc>
              <a:spcBef>
                <a:spcPts val="459"/>
              </a:spcBef>
              <a:tabLst>
                <a:tab pos="357505" algn="l"/>
              </a:tabLst>
            </a:pPr>
            <a:r>
              <a:rPr lang="en-US" sz="3200" dirty="0" smtClean="0">
                <a:latin typeface="Times New Roman" pitchFamily="18" charset="0"/>
                <a:cs typeface="Times New Roman" pitchFamily="18" charset="0"/>
              </a:rPr>
              <a:t>It is an art of creating an environment in which people can perform and individuals and can co-operate towards attainment of group goals. </a:t>
            </a:r>
          </a:p>
          <a:p>
            <a:pPr marL="12065" marR="6985" algn="just">
              <a:lnSpc>
                <a:spcPct val="90000"/>
              </a:lnSpc>
              <a:spcBef>
                <a:spcPts val="459"/>
              </a:spcBef>
              <a:tabLst>
                <a:tab pos="357505" algn="l"/>
              </a:tabLst>
            </a:pPr>
            <a:r>
              <a:rPr lang="en-US" sz="3200" dirty="0" smtClean="0">
                <a:latin typeface="Times New Roman" pitchFamily="18" charset="0"/>
                <a:cs typeface="Times New Roman" pitchFamily="18" charset="0"/>
              </a:rPr>
              <a:t>According to </a:t>
            </a:r>
            <a:r>
              <a:rPr lang="en-US" sz="3200" i="1" dirty="0" smtClean="0">
                <a:latin typeface="Times New Roman" pitchFamily="18" charset="0"/>
                <a:cs typeface="Times New Roman" pitchFamily="18" charset="0"/>
              </a:rPr>
              <a:t>Harold Koontz</a:t>
            </a:r>
            <a:r>
              <a:rPr lang="en-US" sz="3200" dirty="0" smtClean="0">
                <a:latin typeface="Times New Roman" pitchFamily="18" charset="0"/>
                <a:cs typeface="Times New Roman" pitchFamily="18" charset="0"/>
              </a:rPr>
              <a:t>, “</a:t>
            </a:r>
            <a:r>
              <a:rPr lang="en-US" sz="3200" b="1" dirty="0" smtClean="0">
                <a:latin typeface="Times New Roman" pitchFamily="18" charset="0"/>
                <a:cs typeface="Times New Roman" pitchFamily="18" charset="0"/>
              </a:rPr>
              <a:t>Management is an art of getting things done through and with people in formally organized groups in a effective and efficient way</a:t>
            </a:r>
            <a:r>
              <a:rPr lang="en-US" sz="3200" dirty="0" smtClean="0">
                <a:latin typeface="Times New Roman" pitchFamily="18" charset="0"/>
                <a:cs typeface="Times New Roman" pitchFamily="18" charset="0"/>
              </a:rPr>
              <a:t>.” </a:t>
            </a:r>
          </a:p>
          <a:p>
            <a:pPr marL="12065" marR="6985" algn="just">
              <a:lnSpc>
                <a:spcPct val="90000"/>
              </a:lnSpc>
              <a:spcBef>
                <a:spcPts val="459"/>
              </a:spcBef>
              <a:tabLst>
                <a:tab pos="357505" algn="l"/>
              </a:tabLst>
            </a:pPr>
            <a:r>
              <a:rPr lang="en-US" sz="3200" dirty="0" smtClean="0">
                <a:latin typeface="Times New Roman" pitchFamily="18" charset="0"/>
                <a:cs typeface="Times New Roman" pitchFamily="18" charset="0"/>
              </a:rPr>
              <a:t>According to </a:t>
            </a:r>
            <a:r>
              <a:rPr lang="en-US" sz="3200" i="1" dirty="0" smtClean="0">
                <a:latin typeface="Times New Roman" pitchFamily="18" charset="0"/>
                <a:cs typeface="Times New Roman" pitchFamily="18" charset="0"/>
              </a:rPr>
              <a:t>F.W. Taylor</a:t>
            </a:r>
            <a:r>
              <a:rPr lang="en-US" sz="3200" dirty="0" smtClean="0">
                <a:latin typeface="Times New Roman" pitchFamily="18" charset="0"/>
                <a:cs typeface="Times New Roman" pitchFamily="18" charset="0"/>
              </a:rPr>
              <a:t>, </a:t>
            </a:r>
            <a:r>
              <a:rPr lang="en-US" sz="3200" b="1" dirty="0" smtClean="0">
                <a:latin typeface="Times New Roman" pitchFamily="18" charset="0"/>
                <a:cs typeface="Times New Roman" pitchFamily="18" charset="0"/>
              </a:rPr>
              <a:t>“Management is an art of knowing what to do, when to do and see that it is done in the best and cheapest way”.</a:t>
            </a:r>
          </a:p>
          <a:p>
            <a:pPr marL="12065" marR="6985" algn="just">
              <a:lnSpc>
                <a:spcPct val="90000"/>
              </a:lnSpc>
              <a:spcBef>
                <a:spcPts val="459"/>
              </a:spcBef>
              <a:tabLst>
                <a:tab pos="357505" algn="l"/>
              </a:tabLst>
            </a:pPr>
            <a:endParaRPr sz="3000" dirty="0">
              <a:latin typeface="Calibri"/>
              <a:cs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1528445">
              <a:lnSpc>
                <a:spcPct val="100000"/>
              </a:lnSpc>
              <a:spcBef>
                <a:spcPts val="90"/>
              </a:spcBef>
            </a:pPr>
            <a:r>
              <a:rPr b="1" dirty="0"/>
              <a:t>Nature</a:t>
            </a:r>
            <a:r>
              <a:rPr b="1" spc="-100" dirty="0"/>
              <a:t> </a:t>
            </a:r>
            <a:r>
              <a:rPr b="1" dirty="0"/>
              <a:t>of</a:t>
            </a:r>
            <a:r>
              <a:rPr b="1" spc="-125" dirty="0"/>
              <a:t> </a:t>
            </a:r>
            <a:r>
              <a:rPr b="1" spc="-10" dirty="0"/>
              <a:t>Management</a:t>
            </a:r>
          </a:p>
        </p:txBody>
      </p:sp>
      <p:sp>
        <p:nvSpPr>
          <p:cNvPr id="3" name="object 3"/>
          <p:cNvSpPr txBox="1"/>
          <p:nvPr/>
        </p:nvSpPr>
        <p:spPr>
          <a:xfrm>
            <a:off x="536244" y="1527428"/>
            <a:ext cx="7358380" cy="4508500"/>
          </a:xfrm>
          <a:prstGeom prst="rect">
            <a:avLst/>
          </a:prstGeom>
        </p:spPr>
        <p:txBody>
          <a:bodyPr vert="horz" wrap="square" lIns="0" tIns="12700" rIns="0" bIns="0" rtlCol="0">
            <a:spAutoFit/>
          </a:bodyPr>
          <a:lstStyle/>
          <a:p>
            <a:pPr marL="356870" indent="-344805">
              <a:lnSpc>
                <a:spcPct val="100000"/>
              </a:lnSpc>
              <a:spcBef>
                <a:spcPts val="100"/>
              </a:spcBef>
              <a:buFont typeface="Arial MT"/>
              <a:buChar char="•"/>
              <a:tabLst>
                <a:tab pos="356870" algn="l"/>
                <a:tab pos="357505" algn="l"/>
              </a:tabLst>
            </a:pPr>
            <a:r>
              <a:rPr sz="3000" dirty="0">
                <a:latin typeface="Calibri"/>
                <a:cs typeface="Calibri"/>
              </a:rPr>
              <a:t>Management</a:t>
            </a:r>
            <a:r>
              <a:rPr sz="3000" spc="-80" dirty="0">
                <a:latin typeface="Calibri"/>
                <a:cs typeface="Calibri"/>
              </a:rPr>
              <a:t> </a:t>
            </a:r>
            <a:r>
              <a:rPr sz="3000" dirty="0">
                <a:latin typeface="Calibri"/>
                <a:cs typeface="Calibri"/>
              </a:rPr>
              <a:t>is</a:t>
            </a:r>
            <a:r>
              <a:rPr sz="3000" spc="-10" dirty="0">
                <a:latin typeface="Calibri"/>
                <a:cs typeface="Calibri"/>
              </a:rPr>
              <a:t> </a:t>
            </a:r>
            <a:r>
              <a:rPr sz="3000" dirty="0">
                <a:latin typeface="Calibri"/>
                <a:cs typeface="Calibri"/>
              </a:rPr>
              <a:t>Goal-</a:t>
            </a:r>
            <a:r>
              <a:rPr sz="3000" spc="-10" dirty="0">
                <a:latin typeface="Calibri"/>
                <a:cs typeface="Calibri"/>
              </a:rPr>
              <a:t>Oriented</a:t>
            </a:r>
            <a:endParaRPr sz="3000">
              <a:latin typeface="Calibri"/>
              <a:cs typeface="Calibri"/>
            </a:endParaRPr>
          </a:p>
          <a:p>
            <a:pPr marL="356870" marR="5080" indent="-344805">
              <a:lnSpc>
                <a:spcPts val="2880"/>
              </a:lnSpc>
              <a:spcBef>
                <a:spcPts val="695"/>
              </a:spcBef>
              <a:buFont typeface="Arial MT"/>
              <a:buChar char="•"/>
              <a:tabLst>
                <a:tab pos="356870" algn="l"/>
                <a:tab pos="357505" algn="l"/>
              </a:tabLst>
            </a:pPr>
            <a:r>
              <a:rPr sz="3000" dirty="0">
                <a:latin typeface="Calibri"/>
                <a:cs typeface="Calibri"/>
              </a:rPr>
              <a:t>Management</a:t>
            </a:r>
            <a:r>
              <a:rPr sz="3000" spc="-100" dirty="0">
                <a:latin typeface="Calibri"/>
                <a:cs typeface="Calibri"/>
              </a:rPr>
              <a:t> </a:t>
            </a:r>
            <a:r>
              <a:rPr sz="3000" spc="-10" dirty="0">
                <a:latin typeface="Calibri"/>
                <a:cs typeface="Calibri"/>
              </a:rPr>
              <a:t>Integrates</a:t>
            </a:r>
            <a:r>
              <a:rPr sz="3000" spc="-125" dirty="0">
                <a:latin typeface="Calibri"/>
                <a:cs typeface="Calibri"/>
              </a:rPr>
              <a:t> </a:t>
            </a:r>
            <a:r>
              <a:rPr sz="3000" dirty="0">
                <a:latin typeface="Calibri"/>
                <a:cs typeface="Calibri"/>
              </a:rPr>
              <a:t>Human,</a:t>
            </a:r>
            <a:r>
              <a:rPr sz="3000" spc="-55" dirty="0">
                <a:latin typeface="Calibri"/>
                <a:cs typeface="Calibri"/>
              </a:rPr>
              <a:t> </a:t>
            </a:r>
            <a:r>
              <a:rPr sz="3000" dirty="0">
                <a:latin typeface="Calibri"/>
                <a:cs typeface="Calibri"/>
              </a:rPr>
              <a:t>Physical</a:t>
            </a:r>
            <a:r>
              <a:rPr sz="3000" spc="-114" dirty="0">
                <a:latin typeface="Calibri"/>
                <a:cs typeface="Calibri"/>
              </a:rPr>
              <a:t> </a:t>
            </a:r>
            <a:r>
              <a:rPr sz="3000" spc="-25" dirty="0">
                <a:latin typeface="Calibri"/>
                <a:cs typeface="Calibri"/>
              </a:rPr>
              <a:t>and </a:t>
            </a:r>
            <a:r>
              <a:rPr sz="3000" dirty="0">
                <a:latin typeface="Calibri"/>
                <a:cs typeface="Calibri"/>
              </a:rPr>
              <a:t>Financial</a:t>
            </a:r>
            <a:r>
              <a:rPr sz="3000" spc="-55" dirty="0">
                <a:latin typeface="Calibri"/>
                <a:cs typeface="Calibri"/>
              </a:rPr>
              <a:t> </a:t>
            </a:r>
            <a:r>
              <a:rPr sz="3000" spc="-10" dirty="0">
                <a:latin typeface="Calibri"/>
                <a:cs typeface="Calibri"/>
              </a:rPr>
              <a:t>Resources</a:t>
            </a:r>
            <a:endParaRPr sz="3000">
              <a:latin typeface="Calibri"/>
              <a:cs typeface="Calibri"/>
            </a:endParaRPr>
          </a:p>
          <a:p>
            <a:pPr marL="356870" indent="-344805">
              <a:lnSpc>
                <a:spcPct val="100000"/>
              </a:lnSpc>
              <a:spcBef>
                <a:spcPts val="30"/>
              </a:spcBef>
              <a:buFont typeface="Arial MT"/>
              <a:buChar char="•"/>
              <a:tabLst>
                <a:tab pos="356870" algn="l"/>
                <a:tab pos="357505" algn="l"/>
              </a:tabLst>
            </a:pPr>
            <a:r>
              <a:rPr sz="3000" dirty="0">
                <a:latin typeface="Calibri"/>
                <a:cs typeface="Calibri"/>
              </a:rPr>
              <a:t>Management</a:t>
            </a:r>
            <a:r>
              <a:rPr sz="3000" spc="-85" dirty="0">
                <a:latin typeface="Calibri"/>
                <a:cs typeface="Calibri"/>
              </a:rPr>
              <a:t> </a:t>
            </a:r>
            <a:r>
              <a:rPr sz="3000" dirty="0">
                <a:latin typeface="Calibri"/>
                <a:cs typeface="Calibri"/>
              </a:rPr>
              <a:t>is</a:t>
            </a:r>
            <a:r>
              <a:rPr sz="3000" spc="-15" dirty="0">
                <a:latin typeface="Calibri"/>
                <a:cs typeface="Calibri"/>
              </a:rPr>
              <a:t> </a:t>
            </a:r>
            <a:r>
              <a:rPr sz="3000" spc="-10" dirty="0">
                <a:latin typeface="Calibri"/>
                <a:cs typeface="Calibri"/>
              </a:rPr>
              <a:t>Continuous</a:t>
            </a:r>
            <a:endParaRPr sz="3000">
              <a:latin typeface="Calibri"/>
              <a:cs typeface="Calibri"/>
            </a:endParaRPr>
          </a:p>
          <a:p>
            <a:pPr marL="356870" indent="-344805">
              <a:lnSpc>
                <a:spcPct val="100000"/>
              </a:lnSpc>
              <a:buFont typeface="Arial MT"/>
              <a:buChar char="•"/>
              <a:tabLst>
                <a:tab pos="356870" algn="l"/>
                <a:tab pos="357505" algn="l"/>
              </a:tabLst>
            </a:pPr>
            <a:r>
              <a:rPr sz="3000" dirty="0">
                <a:latin typeface="Calibri"/>
                <a:cs typeface="Calibri"/>
              </a:rPr>
              <a:t>Management</a:t>
            </a:r>
            <a:r>
              <a:rPr sz="3000" spc="-80" dirty="0">
                <a:latin typeface="Calibri"/>
                <a:cs typeface="Calibri"/>
              </a:rPr>
              <a:t> </a:t>
            </a:r>
            <a:r>
              <a:rPr sz="3000" dirty="0">
                <a:latin typeface="Calibri"/>
                <a:cs typeface="Calibri"/>
              </a:rPr>
              <a:t>is</a:t>
            </a:r>
            <a:r>
              <a:rPr sz="3000" spc="-10" dirty="0">
                <a:latin typeface="Calibri"/>
                <a:cs typeface="Calibri"/>
              </a:rPr>
              <a:t> </a:t>
            </a:r>
            <a:r>
              <a:rPr sz="3000" dirty="0">
                <a:latin typeface="Calibri"/>
                <a:cs typeface="Calibri"/>
              </a:rPr>
              <a:t>all</a:t>
            </a:r>
            <a:r>
              <a:rPr sz="3000" spc="-35" dirty="0">
                <a:latin typeface="Calibri"/>
                <a:cs typeface="Calibri"/>
              </a:rPr>
              <a:t> </a:t>
            </a:r>
            <a:r>
              <a:rPr sz="3000" spc="-10" dirty="0">
                <a:latin typeface="Calibri"/>
                <a:cs typeface="Calibri"/>
              </a:rPr>
              <a:t>Pervasive</a:t>
            </a:r>
            <a:endParaRPr sz="3000">
              <a:latin typeface="Calibri"/>
              <a:cs typeface="Calibri"/>
            </a:endParaRPr>
          </a:p>
          <a:p>
            <a:pPr marL="356870" indent="-344805">
              <a:lnSpc>
                <a:spcPct val="100000"/>
              </a:lnSpc>
              <a:buFont typeface="Arial MT"/>
              <a:buChar char="•"/>
              <a:tabLst>
                <a:tab pos="356870" algn="l"/>
                <a:tab pos="357505" algn="l"/>
              </a:tabLst>
            </a:pPr>
            <a:r>
              <a:rPr sz="3000" dirty="0">
                <a:latin typeface="Calibri"/>
                <a:cs typeface="Calibri"/>
              </a:rPr>
              <a:t>Management</a:t>
            </a:r>
            <a:r>
              <a:rPr sz="3000" spc="-90" dirty="0">
                <a:latin typeface="Calibri"/>
                <a:cs typeface="Calibri"/>
              </a:rPr>
              <a:t> </a:t>
            </a:r>
            <a:r>
              <a:rPr sz="3000" dirty="0">
                <a:latin typeface="Calibri"/>
                <a:cs typeface="Calibri"/>
              </a:rPr>
              <a:t>is</a:t>
            </a:r>
            <a:r>
              <a:rPr sz="3000" spc="-35" dirty="0">
                <a:latin typeface="Calibri"/>
                <a:cs typeface="Calibri"/>
              </a:rPr>
              <a:t> </a:t>
            </a:r>
            <a:r>
              <a:rPr sz="3000" dirty="0">
                <a:latin typeface="Calibri"/>
                <a:cs typeface="Calibri"/>
              </a:rPr>
              <a:t>a</a:t>
            </a:r>
            <a:r>
              <a:rPr sz="3000" spc="-25" dirty="0">
                <a:latin typeface="Calibri"/>
                <a:cs typeface="Calibri"/>
              </a:rPr>
              <a:t> </a:t>
            </a:r>
            <a:r>
              <a:rPr sz="3000" dirty="0">
                <a:latin typeface="Calibri"/>
                <a:cs typeface="Calibri"/>
              </a:rPr>
              <a:t>Group</a:t>
            </a:r>
            <a:r>
              <a:rPr sz="3000" spc="-50" dirty="0">
                <a:latin typeface="Calibri"/>
                <a:cs typeface="Calibri"/>
              </a:rPr>
              <a:t> </a:t>
            </a:r>
            <a:r>
              <a:rPr sz="3000" spc="-10" dirty="0">
                <a:latin typeface="Calibri"/>
                <a:cs typeface="Calibri"/>
              </a:rPr>
              <a:t>Activity</a:t>
            </a:r>
            <a:endParaRPr sz="3000">
              <a:latin typeface="Calibri"/>
              <a:cs typeface="Calibri"/>
            </a:endParaRPr>
          </a:p>
          <a:p>
            <a:pPr marL="356870" indent="-344805">
              <a:lnSpc>
                <a:spcPct val="100000"/>
              </a:lnSpc>
              <a:spcBef>
                <a:spcPts val="5"/>
              </a:spcBef>
              <a:buFont typeface="Arial MT"/>
              <a:buChar char="•"/>
              <a:tabLst>
                <a:tab pos="356870" algn="l"/>
                <a:tab pos="357505" algn="l"/>
              </a:tabLst>
            </a:pPr>
            <a:r>
              <a:rPr sz="3000" spc="-10" dirty="0">
                <a:latin typeface="Calibri"/>
                <a:cs typeface="Calibri"/>
              </a:rPr>
              <a:t>Organized</a:t>
            </a:r>
            <a:r>
              <a:rPr sz="3000" spc="-100" dirty="0">
                <a:latin typeface="Calibri"/>
                <a:cs typeface="Calibri"/>
              </a:rPr>
              <a:t> </a:t>
            </a:r>
            <a:r>
              <a:rPr sz="3000" spc="-10" dirty="0">
                <a:latin typeface="Calibri"/>
                <a:cs typeface="Calibri"/>
              </a:rPr>
              <a:t>Activities</a:t>
            </a:r>
            <a:endParaRPr sz="3000">
              <a:latin typeface="Calibri"/>
              <a:cs typeface="Calibri"/>
            </a:endParaRPr>
          </a:p>
          <a:p>
            <a:pPr marL="356870" indent="-344805">
              <a:lnSpc>
                <a:spcPct val="100000"/>
              </a:lnSpc>
              <a:buFont typeface="Arial MT"/>
              <a:buChar char="•"/>
              <a:tabLst>
                <a:tab pos="356870" algn="l"/>
                <a:tab pos="357505" algn="l"/>
              </a:tabLst>
            </a:pPr>
            <a:r>
              <a:rPr sz="3000" dirty="0">
                <a:latin typeface="Calibri"/>
                <a:cs typeface="Calibri"/>
              </a:rPr>
              <a:t>Management</a:t>
            </a:r>
            <a:r>
              <a:rPr sz="3000" spc="-75" dirty="0">
                <a:latin typeface="Calibri"/>
                <a:cs typeface="Calibri"/>
              </a:rPr>
              <a:t> </a:t>
            </a:r>
            <a:r>
              <a:rPr sz="3000" dirty="0">
                <a:latin typeface="Calibri"/>
                <a:cs typeface="Calibri"/>
              </a:rPr>
              <a:t>is</a:t>
            </a:r>
            <a:r>
              <a:rPr sz="3000" spc="-15" dirty="0">
                <a:latin typeface="Calibri"/>
                <a:cs typeface="Calibri"/>
              </a:rPr>
              <a:t> </a:t>
            </a:r>
            <a:r>
              <a:rPr sz="3000" spc="-10" dirty="0">
                <a:latin typeface="Calibri"/>
                <a:cs typeface="Calibri"/>
              </a:rPr>
              <a:t>Dynamic</a:t>
            </a:r>
            <a:endParaRPr sz="3000">
              <a:latin typeface="Calibri"/>
              <a:cs typeface="Calibri"/>
            </a:endParaRPr>
          </a:p>
          <a:p>
            <a:pPr marL="356870" indent="-344805">
              <a:lnSpc>
                <a:spcPct val="100000"/>
              </a:lnSpc>
              <a:buFont typeface="Arial MT"/>
              <a:buChar char="•"/>
              <a:tabLst>
                <a:tab pos="356870" algn="l"/>
                <a:tab pos="357505" algn="l"/>
              </a:tabLst>
            </a:pPr>
            <a:r>
              <a:rPr sz="3000" dirty="0">
                <a:latin typeface="Calibri"/>
                <a:cs typeface="Calibri"/>
              </a:rPr>
              <a:t>Relative,</a:t>
            </a:r>
            <a:r>
              <a:rPr sz="3000" spc="-110" dirty="0">
                <a:latin typeface="Calibri"/>
                <a:cs typeface="Calibri"/>
              </a:rPr>
              <a:t> </a:t>
            </a:r>
            <a:r>
              <a:rPr sz="3000" dirty="0">
                <a:latin typeface="Calibri"/>
                <a:cs typeface="Calibri"/>
              </a:rPr>
              <a:t>Not</a:t>
            </a:r>
            <a:r>
              <a:rPr sz="3000" spc="-80" dirty="0">
                <a:latin typeface="Calibri"/>
                <a:cs typeface="Calibri"/>
              </a:rPr>
              <a:t> </a:t>
            </a:r>
            <a:r>
              <a:rPr sz="3000" dirty="0">
                <a:latin typeface="Calibri"/>
                <a:cs typeface="Calibri"/>
              </a:rPr>
              <a:t>Absolute</a:t>
            </a:r>
            <a:r>
              <a:rPr sz="3000" spc="-90" dirty="0">
                <a:latin typeface="Calibri"/>
                <a:cs typeface="Calibri"/>
              </a:rPr>
              <a:t> </a:t>
            </a:r>
            <a:r>
              <a:rPr sz="3000" spc="-10" dirty="0">
                <a:latin typeface="Calibri"/>
                <a:cs typeface="Calibri"/>
              </a:rPr>
              <a:t>Principles</a:t>
            </a:r>
            <a:endParaRPr sz="3000">
              <a:latin typeface="Calibri"/>
              <a:cs typeface="Calibri"/>
            </a:endParaRPr>
          </a:p>
          <a:p>
            <a:pPr marL="356870" indent="-344805">
              <a:lnSpc>
                <a:spcPct val="100000"/>
              </a:lnSpc>
              <a:spcBef>
                <a:spcPts val="5"/>
              </a:spcBef>
              <a:buFont typeface="Arial MT"/>
              <a:buChar char="•"/>
              <a:tabLst>
                <a:tab pos="356870" algn="l"/>
                <a:tab pos="357505" algn="l"/>
              </a:tabLst>
            </a:pPr>
            <a:r>
              <a:rPr sz="3000" dirty="0">
                <a:latin typeface="Calibri"/>
                <a:cs typeface="Calibri"/>
              </a:rPr>
              <a:t>Management</a:t>
            </a:r>
            <a:r>
              <a:rPr sz="3000" spc="-85" dirty="0">
                <a:latin typeface="Calibri"/>
                <a:cs typeface="Calibri"/>
              </a:rPr>
              <a:t> </a:t>
            </a:r>
            <a:r>
              <a:rPr sz="3000" dirty="0">
                <a:latin typeface="Calibri"/>
                <a:cs typeface="Calibri"/>
              </a:rPr>
              <a:t>is</a:t>
            </a:r>
            <a:r>
              <a:rPr sz="3000" spc="-30" dirty="0">
                <a:latin typeface="Calibri"/>
                <a:cs typeface="Calibri"/>
              </a:rPr>
              <a:t> </a:t>
            </a:r>
            <a:r>
              <a:rPr sz="3000" spc="-10" dirty="0">
                <a:latin typeface="Calibri"/>
                <a:cs typeface="Calibri"/>
              </a:rPr>
              <a:t>Universal</a:t>
            </a:r>
            <a:endParaRPr sz="3000">
              <a:latin typeface="Calibri"/>
              <a:cs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8650" y="1645996"/>
            <a:ext cx="8086699" cy="553998"/>
          </a:xfrm>
        </p:spPr>
        <p:txBody>
          <a:bodyPr/>
          <a:lstStyle/>
          <a:p>
            <a:r>
              <a:rPr lang="en-IN" sz="3600" b="1" dirty="0"/>
              <a:t>Whether M</a:t>
            </a:r>
            <a:r>
              <a:rPr lang="en-IN" sz="3600" b="1" dirty="0" smtClean="0"/>
              <a:t>anagement </a:t>
            </a:r>
            <a:r>
              <a:rPr lang="en-IN" sz="3600" b="1" dirty="0"/>
              <a:t>is Science </a:t>
            </a:r>
            <a:r>
              <a:rPr lang="en-IN" sz="3600" b="1" dirty="0" smtClean="0"/>
              <a:t>or Art</a:t>
            </a:r>
            <a:endParaRPr lang="en-IN" sz="3600" b="1" dirty="0"/>
          </a:p>
        </p:txBody>
      </p:sp>
    </p:spTree>
    <p:extLst>
      <p:ext uri="{BB962C8B-B14F-4D97-AF65-F5344CB8AC3E}">
        <p14:creationId xmlns:p14="http://schemas.microsoft.com/office/powerpoint/2010/main" val="2862511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553998"/>
          </a:xfrm>
        </p:spPr>
        <p:txBody>
          <a:bodyPr/>
          <a:lstStyle/>
          <a:p>
            <a:pPr algn="ctr"/>
            <a:r>
              <a:rPr lang="en-IN" sz="3600" b="1" dirty="0" smtClean="0"/>
              <a:t>Management as a Science </a:t>
            </a:r>
            <a:endParaRPr lang="en-IN" sz="3600" b="1" dirty="0"/>
          </a:p>
        </p:txBody>
      </p:sp>
      <p:sp>
        <p:nvSpPr>
          <p:cNvPr id="3" name="Text Placeholder 2"/>
          <p:cNvSpPr>
            <a:spLocks noGrp="1"/>
          </p:cNvSpPr>
          <p:nvPr>
            <p:ph type="body" idx="1"/>
          </p:nvPr>
        </p:nvSpPr>
        <p:spPr>
          <a:xfrm>
            <a:off x="492772" y="769104"/>
            <a:ext cx="8086699" cy="6093976"/>
          </a:xfrm>
        </p:spPr>
        <p:txBody>
          <a:bodyPr/>
          <a:lstStyle/>
          <a:p>
            <a:pPr algn="just"/>
            <a:r>
              <a:rPr lang="en-GB" sz="1800" dirty="0"/>
              <a:t>Science is characterized by following main features</a:t>
            </a:r>
            <a:r>
              <a:rPr lang="en-GB" sz="1800" dirty="0" smtClean="0"/>
              <a:t>:</a:t>
            </a:r>
          </a:p>
          <a:p>
            <a:pPr algn="just"/>
            <a:r>
              <a:rPr lang="en-GB" sz="1800" b="1" dirty="0"/>
              <a:t>Universally acceptance principles -</a:t>
            </a:r>
            <a:r>
              <a:rPr lang="en-GB" sz="1800" dirty="0"/>
              <a:t> Scientific principles represents basic truth about a particular field of enquiry. These principles may be applied in all situations, at all time &amp; at all places. E.g. - law of gravitation which can be applied in all countries irrespective of the time.</a:t>
            </a:r>
          </a:p>
          <a:p>
            <a:pPr algn="just"/>
            <a:r>
              <a:rPr lang="en-GB" sz="1800" dirty="0"/>
              <a:t>Management also contains some fundamental principles which can be applied universally like the Principle of Unity of Command i.e. one man, one boss. This principle is applicable to all type of organization - business or non business.</a:t>
            </a:r>
          </a:p>
          <a:p>
            <a:pPr algn="just"/>
            <a:r>
              <a:rPr lang="en-GB" sz="1800" b="1" dirty="0"/>
              <a:t>Experimentation &amp; Observation -</a:t>
            </a:r>
            <a:r>
              <a:rPr lang="en-GB" sz="1800" dirty="0"/>
              <a:t> Scientific principles are derived through scientific investigation &amp; researching i.e. they are based on logic. E.g. the principle that earth goes round the sun has been scientifically proved.</a:t>
            </a:r>
          </a:p>
          <a:p>
            <a:pPr algn="just"/>
            <a:r>
              <a:rPr lang="en-GB" sz="1800" dirty="0"/>
              <a:t>Management principles are also based on scientific enquiry &amp; observation and not only on the opinion of Henry </a:t>
            </a:r>
            <a:r>
              <a:rPr lang="en-GB" sz="1800" dirty="0" err="1"/>
              <a:t>Fayol</a:t>
            </a:r>
            <a:r>
              <a:rPr lang="en-GB" sz="1800" dirty="0"/>
              <a:t>. They have been developed through experiments &amp; practical experiences of large no. of managers. E.g. it is observed that fair remuneration to personal helps in creating a satisfied work force.</a:t>
            </a:r>
          </a:p>
          <a:p>
            <a:pPr algn="just"/>
            <a:r>
              <a:rPr lang="en-GB" sz="1800" b="1" dirty="0"/>
              <a:t>Cause &amp; Effect Relationship -</a:t>
            </a:r>
            <a:r>
              <a:rPr lang="en-GB" sz="1800" dirty="0"/>
              <a:t> Principles of science lay down cause and effect relationship between various variables. E.g. when metals are heated, they are expanded. </a:t>
            </a:r>
            <a:endParaRPr lang="en-GB" sz="1800" dirty="0" smtClean="0"/>
          </a:p>
          <a:p>
            <a:pPr algn="just"/>
            <a:r>
              <a:rPr lang="en-GB" sz="1800" dirty="0" smtClean="0"/>
              <a:t>The </a:t>
            </a:r>
            <a:r>
              <a:rPr lang="en-GB" sz="1800" dirty="0"/>
              <a:t>same is true for management, therefore it also establishes cause and effect relationship. E.g. lack of parity (balance) between authority &amp; responsibility will lead to ineffectiveness. If you know the cause i.e. lack of balance, the effect can be ascertained easily -in effectiveness.</a:t>
            </a:r>
            <a:endParaRPr lang="en-IN" sz="1800" dirty="0"/>
          </a:p>
        </p:txBody>
      </p:sp>
    </p:spTree>
    <p:extLst>
      <p:ext uri="{BB962C8B-B14F-4D97-AF65-F5344CB8AC3E}">
        <p14:creationId xmlns:p14="http://schemas.microsoft.com/office/powerpoint/2010/main" val="2358895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553998"/>
          </a:xfrm>
        </p:spPr>
        <p:txBody>
          <a:bodyPr/>
          <a:lstStyle/>
          <a:p>
            <a:pPr algn="ctr"/>
            <a:r>
              <a:rPr lang="en-IN" sz="3600" b="1" dirty="0" smtClean="0"/>
              <a:t>Management as an Art</a:t>
            </a:r>
            <a:endParaRPr lang="en-IN" sz="3600" b="1" dirty="0"/>
          </a:p>
        </p:txBody>
      </p:sp>
      <p:sp>
        <p:nvSpPr>
          <p:cNvPr id="3" name="Text Placeholder 2"/>
          <p:cNvSpPr>
            <a:spLocks noGrp="1"/>
          </p:cNvSpPr>
          <p:nvPr>
            <p:ph type="body" idx="1"/>
          </p:nvPr>
        </p:nvSpPr>
        <p:spPr>
          <a:xfrm>
            <a:off x="492772" y="769104"/>
            <a:ext cx="8086699" cy="5663089"/>
          </a:xfrm>
        </p:spPr>
        <p:txBody>
          <a:bodyPr/>
          <a:lstStyle/>
          <a:p>
            <a:pPr algn="just"/>
            <a:r>
              <a:rPr lang="en-GB" sz="2000" dirty="0" smtClean="0"/>
              <a:t>Art </a:t>
            </a:r>
            <a:r>
              <a:rPr lang="en-GB" sz="2000" dirty="0"/>
              <a:t>is characterized by following main features</a:t>
            </a:r>
            <a:r>
              <a:rPr lang="en-GB" sz="2000" dirty="0" smtClean="0"/>
              <a:t>:</a:t>
            </a:r>
          </a:p>
          <a:p>
            <a:pPr algn="just" fontAlgn="base"/>
            <a:r>
              <a:rPr lang="en-GB" sz="2000" b="1" dirty="0"/>
              <a:t>Personal skills: </a:t>
            </a:r>
            <a:r>
              <a:rPr lang="en-GB" sz="2000" dirty="0"/>
              <a:t>Every artist has his way of working. The use of basic knowledge varies from individual to individual. Even how they tackle their problems for reaching the result or the goal which they are willing to achieve differs. Applying this basic knowledge with practise, creativity, imagination, initiative, and innovation is a personal skill.</a:t>
            </a:r>
          </a:p>
          <a:p>
            <a:pPr algn="just" fontAlgn="base"/>
            <a:r>
              <a:rPr lang="en-GB" sz="2000" b="1" dirty="0"/>
              <a:t>Creativity:</a:t>
            </a:r>
            <a:r>
              <a:rPr lang="en-GB" sz="2000" dirty="0"/>
              <a:t> Art consists of lots of creativity. The theoretical knowledge should be practised and applied differently to become more creative and achieve the ultimate goal. </a:t>
            </a:r>
          </a:p>
          <a:p>
            <a:pPr algn="just" fontAlgn="base"/>
            <a:r>
              <a:rPr lang="en-GB" sz="2000" b="1" dirty="0"/>
              <a:t>Perfection through Practice: </a:t>
            </a:r>
            <a:r>
              <a:rPr lang="en-GB" sz="2000" dirty="0"/>
              <a:t>As arts require nonstop practice to gain mastery. By performing the task again and again, the artists gain perfection through practise. For example, a dancer who practices for hours daily will get smooth and perfect with his steps through practise</a:t>
            </a:r>
            <a:r>
              <a:rPr lang="en-GB" sz="2000" dirty="0" smtClean="0"/>
              <a:t>.</a:t>
            </a:r>
          </a:p>
          <a:p>
            <a:pPr algn="just" fontAlgn="base"/>
            <a:endParaRPr lang="en-GB" sz="2000" dirty="0"/>
          </a:p>
          <a:p>
            <a:pPr algn="just" fontAlgn="base"/>
            <a:r>
              <a:rPr lang="en-GB" sz="2000" b="1" dirty="0" smtClean="0">
                <a:solidFill>
                  <a:srgbClr val="FF0000"/>
                </a:solidFill>
              </a:rPr>
              <a:t>The above arguments show that management have both the features of science as well as art. But it has more accurate features of art than science. So it can be said art as well as soft science. </a:t>
            </a:r>
            <a:endParaRPr lang="en-GB" sz="2000" b="1" dirty="0">
              <a:solidFill>
                <a:srgbClr val="FF0000"/>
              </a:solidFill>
            </a:endParaRPr>
          </a:p>
          <a:p>
            <a:pPr algn="just"/>
            <a:endParaRPr lang="en-GB" sz="1400" dirty="0" smtClean="0"/>
          </a:p>
          <a:p>
            <a:pPr algn="just"/>
            <a:endParaRPr lang="en-GB" sz="1400" dirty="0" smtClean="0"/>
          </a:p>
        </p:txBody>
      </p:sp>
    </p:spTree>
    <p:extLst>
      <p:ext uri="{BB962C8B-B14F-4D97-AF65-F5344CB8AC3E}">
        <p14:creationId xmlns:p14="http://schemas.microsoft.com/office/powerpoint/2010/main" val="318484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62000" y="1371600"/>
            <a:ext cx="7645907" cy="50098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400" b="1" dirty="0"/>
              <a:t>Optimize resources</a:t>
            </a:r>
          </a:p>
          <a:p>
            <a:pPr marL="285750" indent="-285750">
              <a:lnSpc>
                <a:spcPct val="150000"/>
              </a:lnSpc>
              <a:buFont typeface="Arial" panose="020B0604020202020204" pitchFamily="34" charset="0"/>
              <a:buChar char="•"/>
            </a:pPr>
            <a:r>
              <a:rPr lang="en-IN" sz="2400" b="1" dirty="0"/>
              <a:t>Increase efficiency</a:t>
            </a:r>
          </a:p>
          <a:p>
            <a:pPr marL="285750" indent="-285750">
              <a:lnSpc>
                <a:spcPct val="150000"/>
              </a:lnSpc>
              <a:buFont typeface="Arial" panose="020B0604020202020204" pitchFamily="34" charset="0"/>
              <a:buChar char="•"/>
            </a:pPr>
            <a:r>
              <a:rPr lang="en-IN" sz="2400" b="1" dirty="0"/>
              <a:t>Maximize profits</a:t>
            </a:r>
          </a:p>
          <a:p>
            <a:pPr marL="285750" indent="-285750">
              <a:lnSpc>
                <a:spcPct val="150000"/>
              </a:lnSpc>
              <a:buFont typeface="Arial" panose="020B0604020202020204" pitchFamily="34" charset="0"/>
              <a:buChar char="•"/>
            </a:pPr>
            <a:r>
              <a:rPr lang="en-IN" sz="2400" b="1" dirty="0"/>
              <a:t>Promote personal development</a:t>
            </a:r>
          </a:p>
          <a:p>
            <a:pPr marL="285750" indent="-285750">
              <a:lnSpc>
                <a:spcPct val="150000"/>
              </a:lnSpc>
              <a:buFont typeface="Arial" panose="020B0604020202020204" pitchFamily="34" charset="0"/>
              <a:buChar char="•"/>
            </a:pPr>
            <a:r>
              <a:rPr lang="en-IN" sz="2400" b="1" dirty="0"/>
              <a:t>Uphold workplace morale</a:t>
            </a:r>
          </a:p>
          <a:p>
            <a:pPr marL="285750" indent="-285750">
              <a:lnSpc>
                <a:spcPct val="150000"/>
              </a:lnSpc>
              <a:buFont typeface="Arial" panose="020B0604020202020204" pitchFamily="34" charset="0"/>
              <a:buChar char="•"/>
            </a:pPr>
            <a:r>
              <a:rPr lang="en-IN" sz="2400" b="1" dirty="0"/>
              <a:t>Reduce risk</a:t>
            </a:r>
          </a:p>
          <a:p>
            <a:pPr marL="285750" indent="-285750">
              <a:lnSpc>
                <a:spcPct val="150000"/>
              </a:lnSpc>
              <a:buFont typeface="Arial" panose="020B0604020202020204" pitchFamily="34" charset="0"/>
              <a:buChar char="•"/>
            </a:pPr>
            <a:r>
              <a:rPr lang="en-IN" sz="2400" b="1" dirty="0"/>
              <a:t>Generate business strategies</a:t>
            </a:r>
          </a:p>
          <a:p>
            <a:pPr marL="285750" indent="-285750">
              <a:lnSpc>
                <a:spcPct val="150000"/>
              </a:lnSpc>
              <a:buFont typeface="Arial" panose="020B0604020202020204" pitchFamily="34" charset="0"/>
              <a:buChar char="•"/>
            </a:pPr>
            <a:r>
              <a:rPr lang="en-IN" sz="2400" b="1" dirty="0"/>
              <a:t>Coordinate workflows</a:t>
            </a:r>
          </a:p>
          <a:p>
            <a:pPr marL="285750" indent="-285750">
              <a:lnSpc>
                <a:spcPct val="150000"/>
              </a:lnSpc>
              <a:buFont typeface="Arial" panose="020B0604020202020204" pitchFamily="34" charset="0"/>
              <a:buChar char="•"/>
            </a:pPr>
            <a:endParaRPr lang="en-IN" sz="2400" dirty="0"/>
          </a:p>
        </p:txBody>
      </p:sp>
      <p:sp>
        <p:nvSpPr>
          <p:cNvPr id="3" name="TextBox 2"/>
          <p:cNvSpPr txBox="1"/>
          <p:nvPr/>
        </p:nvSpPr>
        <p:spPr>
          <a:xfrm>
            <a:off x="457200" y="381000"/>
            <a:ext cx="7848600" cy="523220"/>
          </a:xfrm>
          <a:prstGeom prst="rect">
            <a:avLst/>
          </a:prstGeom>
          <a:noFill/>
        </p:spPr>
        <p:txBody>
          <a:bodyPr wrap="square" rtlCol="0">
            <a:spAutoFit/>
          </a:bodyPr>
          <a:lstStyle/>
          <a:p>
            <a:pPr algn="ctr"/>
            <a:r>
              <a:rPr lang="en-GB" sz="2800" b="1" dirty="0" smtClean="0"/>
              <a:t>Objectives</a:t>
            </a:r>
            <a:r>
              <a:rPr lang="en-GB" sz="2800" b="1" spc="-95" dirty="0" smtClean="0"/>
              <a:t> or Significance </a:t>
            </a:r>
            <a:r>
              <a:rPr lang="en-GB" sz="2800" b="1" dirty="0" smtClean="0"/>
              <a:t>of</a:t>
            </a:r>
            <a:r>
              <a:rPr lang="en-GB" sz="2800" b="1" spc="-150" dirty="0" smtClean="0"/>
              <a:t> </a:t>
            </a:r>
            <a:r>
              <a:rPr lang="en-GB" sz="2800" b="1" spc="-10" dirty="0" smtClean="0"/>
              <a:t>Management</a:t>
            </a:r>
            <a:endParaRPr lang="en-IN"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Scope of Management</a:t>
            </a:r>
            <a:endParaRPr lang="en-IN" b="1" dirty="0"/>
          </a:p>
        </p:txBody>
      </p:sp>
      <p:sp>
        <p:nvSpPr>
          <p:cNvPr id="3" name="Text Placeholder 2"/>
          <p:cNvSpPr>
            <a:spLocks noGrp="1"/>
          </p:cNvSpPr>
          <p:nvPr>
            <p:ph type="body" idx="1"/>
          </p:nvPr>
        </p:nvSpPr>
        <p:spPr>
          <a:xfrm>
            <a:off x="492772" y="1219200"/>
            <a:ext cx="8086699" cy="5170646"/>
          </a:xfrm>
        </p:spPr>
        <p:txBody>
          <a:bodyPr/>
          <a:lstStyle/>
          <a:p>
            <a:pPr algn="just"/>
            <a:r>
              <a:rPr lang="en-GB" sz="2400" b="1" dirty="0"/>
              <a:t>Planning: </a:t>
            </a:r>
            <a:r>
              <a:rPr lang="en-GB" sz="2400" dirty="0"/>
              <a:t>This involves setting organizational goals, defining strategies to achieve them, and creating plans and budgets. It also includes forecasting, decision-making, and establishing objectives</a:t>
            </a:r>
            <a:r>
              <a:rPr lang="en-GB" sz="2400" dirty="0" smtClean="0"/>
              <a:t>.</a:t>
            </a:r>
          </a:p>
          <a:p>
            <a:pPr algn="just"/>
            <a:endParaRPr lang="en-GB" sz="2400" dirty="0"/>
          </a:p>
          <a:p>
            <a:pPr algn="just"/>
            <a:r>
              <a:rPr lang="en-GB" sz="2400" b="1" dirty="0"/>
              <a:t>Organizing: </a:t>
            </a:r>
            <a:r>
              <a:rPr lang="en-GB" sz="2400" dirty="0"/>
              <a:t>This encompasses the design of the organizational structure, allocation of resources, delegation of authority, and establishing communication channels. Organizing ensures that tasks are efficiently and effectively carried out</a:t>
            </a:r>
            <a:r>
              <a:rPr lang="en-GB" sz="2400" dirty="0" smtClean="0"/>
              <a:t>.</a:t>
            </a:r>
          </a:p>
          <a:p>
            <a:pPr algn="just"/>
            <a:endParaRPr lang="en-GB" sz="2400" dirty="0"/>
          </a:p>
          <a:p>
            <a:pPr algn="just"/>
            <a:r>
              <a:rPr lang="en-GB" sz="2400" b="1" dirty="0"/>
              <a:t>Leading: </a:t>
            </a:r>
            <a:r>
              <a:rPr lang="en-GB" sz="2400" dirty="0"/>
              <a:t>Leadership involves motivating and guiding employees, fostering teamwork, and resolving conflicts. Managers play a crucial role in inspiring and influencing their teams to achieve the organization's goals.</a:t>
            </a:r>
            <a:endParaRPr lang="en-IN" sz="2400" dirty="0"/>
          </a:p>
        </p:txBody>
      </p:sp>
    </p:spTree>
    <p:extLst>
      <p:ext uri="{BB962C8B-B14F-4D97-AF65-F5344CB8AC3E}">
        <p14:creationId xmlns:p14="http://schemas.microsoft.com/office/powerpoint/2010/main" val="24688644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Scope of Management</a:t>
            </a:r>
            <a:endParaRPr lang="en-IN" b="1" dirty="0"/>
          </a:p>
        </p:txBody>
      </p:sp>
      <p:sp>
        <p:nvSpPr>
          <p:cNvPr id="3" name="Text Placeholder 2"/>
          <p:cNvSpPr>
            <a:spLocks noGrp="1"/>
          </p:cNvSpPr>
          <p:nvPr>
            <p:ph type="body" idx="1"/>
          </p:nvPr>
        </p:nvSpPr>
        <p:spPr>
          <a:xfrm>
            <a:off x="492772" y="1219200"/>
            <a:ext cx="8086699" cy="5170646"/>
          </a:xfrm>
        </p:spPr>
        <p:txBody>
          <a:bodyPr/>
          <a:lstStyle/>
          <a:p>
            <a:pPr algn="just"/>
            <a:r>
              <a:rPr lang="en-GB" sz="2400" b="1" dirty="0"/>
              <a:t>Controlling: </a:t>
            </a:r>
            <a:r>
              <a:rPr lang="en-GB" sz="2400" dirty="0"/>
              <a:t>This involves monitoring the performance of the organization, comparing it to established standards, and taking corrective actions when necessary. Control mechanisms ensure that the organization stays on track and deviations are addressed</a:t>
            </a:r>
            <a:r>
              <a:rPr lang="en-GB" sz="2400" dirty="0" smtClean="0"/>
              <a:t>.</a:t>
            </a:r>
          </a:p>
          <a:p>
            <a:pPr algn="just"/>
            <a:endParaRPr lang="en-GB" sz="2400" dirty="0"/>
          </a:p>
          <a:p>
            <a:pPr algn="just"/>
            <a:r>
              <a:rPr lang="en-GB" sz="2400" b="1" dirty="0"/>
              <a:t>Decision-Making: </a:t>
            </a:r>
            <a:r>
              <a:rPr lang="en-GB" sz="2400" dirty="0"/>
              <a:t>Managers are responsible for making important decisions related to the organization's operations, resources, and strategies. Decision-making is a critical aspect of management and impacts all other functions</a:t>
            </a:r>
            <a:r>
              <a:rPr lang="en-GB" sz="2400" dirty="0" smtClean="0"/>
              <a:t>.</a:t>
            </a:r>
          </a:p>
          <a:p>
            <a:pPr algn="just"/>
            <a:endParaRPr lang="en-GB" sz="2400" dirty="0"/>
          </a:p>
          <a:p>
            <a:pPr algn="just"/>
            <a:r>
              <a:rPr lang="en-GB" sz="2400" b="1" dirty="0"/>
              <a:t>Human Resource Management: </a:t>
            </a:r>
            <a:r>
              <a:rPr lang="en-GB" sz="2400" dirty="0"/>
              <a:t>Managing people, including hiring, training, performance appraisal, and employee development, is a vital part of the scope of management.</a:t>
            </a:r>
            <a:endParaRPr lang="en-IN" sz="2400" dirty="0"/>
          </a:p>
        </p:txBody>
      </p:sp>
    </p:spTree>
    <p:extLst>
      <p:ext uri="{BB962C8B-B14F-4D97-AF65-F5344CB8AC3E}">
        <p14:creationId xmlns:p14="http://schemas.microsoft.com/office/powerpoint/2010/main" val="20684060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Scope of Management</a:t>
            </a:r>
            <a:endParaRPr lang="en-IN" b="1" dirty="0"/>
          </a:p>
        </p:txBody>
      </p:sp>
      <p:sp>
        <p:nvSpPr>
          <p:cNvPr id="3" name="Text Placeholder 2"/>
          <p:cNvSpPr>
            <a:spLocks noGrp="1"/>
          </p:cNvSpPr>
          <p:nvPr>
            <p:ph type="body" idx="1"/>
          </p:nvPr>
        </p:nvSpPr>
        <p:spPr>
          <a:xfrm>
            <a:off x="492772" y="1219200"/>
            <a:ext cx="8086699" cy="4431983"/>
          </a:xfrm>
        </p:spPr>
        <p:txBody>
          <a:bodyPr/>
          <a:lstStyle/>
          <a:p>
            <a:pPr algn="just"/>
            <a:r>
              <a:rPr lang="en-GB" sz="2400" b="1" dirty="0"/>
              <a:t>Financial Management: </a:t>
            </a:r>
            <a:r>
              <a:rPr lang="en-GB" sz="2400" dirty="0"/>
              <a:t>Ensuring the organization's financial health by budgeting, financial planning, cost control, and financial analysis is crucial for management</a:t>
            </a:r>
            <a:r>
              <a:rPr lang="en-GB" sz="2400" dirty="0" smtClean="0"/>
              <a:t>.</a:t>
            </a:r>
          </a:p>
          <a:p>
            <a:pPr algn="just"/>
            <a:endParaRPr lang="en-GB" sz="2400" dirty="0"/>
          </a:p>
          <a:p>
            <a:pPr algn="just"/>
            <a:r>
              <a:rPr lang="en-GB" sz="2400" b="1" dirty="0"/>
              <a:t>Marketing Management: </a:t>
            </a:r>
            <a:r>
              <a:rPr lang="en-GB" sz="2400" dirty="0"/>
              <a:t>Developing and implementing marketing strategies to promote products and services, understand customer needs, and create value for the organization</a:t>
            </a:r>
            <a:r>
              <a:rPr lang="en-GB" sz="2400" dirty="0" smtClean="0"/>
              <a:t>.</a:t>
            </a:r>
          </a:p>
          <a:p>
            <a:pPr algn="just"/>
            <a:endParaRPr lang="en-GB" sz="2400" dirty="0"/>
          </a:p>
          <a:p>
            <a:pPr algn="just"/>
            <a:r>
              <a:rPr lang="en-GB" sz="2400" b="1" dirty="0"/>
              <a:t>Operations Management: </a:t>
            </a:r>
            <a:r>
              <a:rPr lang="en-GB" sz="2400" dirty="0"/>
              <a:t>Overseeing the day-to-day operations and processes of the organization, optimizing efficiency and quality in production or service delivery.</a:t>
            </a:r>
            <a:endParaRPr lang="en-IN" sz="2400" dirty="0"/>
          </a:p>
        </p:txBody>
      </p:sp>
    </p:spTree>
    <p:extLst>
      <p:ext uri="{BB962C8B-B14F-4D97-AF65-F5344CB8AC3E}">
        <p14:creationId xmlns:p14="http://schemas.microsoft.com/office/powerpoint/2010/main" val="19534442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Scope of Management</a:t>
            </a:r>
            <a:endParaRPr lang="en-IN" b="1" dirty="0"/>
          </a:p>
        </p:txBody>
      </p:sp>
      <p:sp>
        <p:nvSpPr>
          <p:cNvPr id="3" name="Text Placeholder 2"/>
          <p:cNvSpPr>
            <a:spLocks noGrp="1"/>
          </p:cNvSpPr>
          <p:nvPr>
            <p:ph type="body" idx="1"/>
          </p:nvPr>
        </p:nvSpPr>
        <p:spPr>
          <a:xfrm>
            <a:off x="492772" y="1219200"/>
            <a:ext cx="8086699" cy="3693319"/>
          </a:xfrm>
        </p:spPr>
        <p:txBody>
          <a:bodyPr/>
          <a:lstStyle/>
          <a:p>
            <a:pPr algn="just"/>
            <a:r>
              <a:rPr lang="en-GB" sz="2400" b="1" dirty="0"/>
              <a:t>Strategic Management: </a:t>
            </a:r>
            <a:r>
              <a:rPr lang="en-GB" sz="2400" dirty="0"/>
              <a:t>Developing long-term strategies, setting the direction of the organization, and adapting to changing business environments</a:t>
            </a:r>
            <a:r>
              <a:rPr lang="en-GB" sz="2400" dirty="0" smtClean="0"/>
              <a:t>.</a:t>
            </a:r>
          </a:p>
          <a:p>
            <a:pPr algn="just"/>
            <a:endParaRPr lang="en-GB" sz="2400" dirty="0"/>
          </a:p>
          <a:p>
            <a:pPr algn="just"/>
            <a:r>
              <a:rPr lang="en-GB" sz="2400" b="1" dirty="0"/>
              <a:t>Information Technology Management: </a:t>
            </a:r>
            <a:r>
              <a:rPr lang="en-GB" sz="2400" dirty="0"/>
              <a:t>Utilizing technology to enhance business processes, data management, and communication within the organization</a:t>
            </a:r>
            <a:r>
              <a:rPr lang="en-GB" sz="2400" dirty="0" smtClean="0"/>
              <a:t>.</a:t>
            </a:r>
          </a:p>
          <a:p>
            <a:pPr algn="just"/>
            <a:endParaRPr lang="en-GB" sz="2400" dirty="0"/>
          </a:p>
          <a:p>
            <a:pPr algn="just"/>
            <a:r>
              <a:rPr lang="en-GB" sz="2400" b="1" dirty="0" smtClean="0"/>
              <a:t>…………..</a:t>
            </a:r>
            <a:r>
              <a:rPr lang="en-GB" sz="2400" dirty="0" smtClean="0"/>
              <a:t>Addressing </a:t>
            </a:r>
            <a:r>
              <a:rPr lang="en-GB" sz="2400" dirty="0"/>
              <a:t>ethical and environmental concerns, as well as being socially responsible in the organization's operations.</a:t>
            </a:r>
            <a:endParaRPr lang="en-IN" sz="2400" dirty="0"/>
          </a:p>
        </p:txBody>
      </p:sp>
    </p:spTree>
    <p:extLst>
      <p:ext uri="{BB962C8B-B14F-4D97-AF65-F5344CB8AC3E}">
        <p14:creationId xmlns:p14="http://schemas.microsoft.com/office/powerpoint/2010/main" val="26442674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1348740">
              <a:lnSpc>
                <a:spcPct val="100000"/>
              </a:lnSpc>
              <a:spcBef>
                <a:spcPts val="90"/>
              </a:spcBef>
            </a:pPr>
            <a:r>
              <a:rPr b="1" dirty="0"/>
              <a:t>Theories</a:t>
            </a:r>
            <a:r>
              <a:rPr b="1" spc="-65" dirty="0"/>
              <a:t> </a:t>
            </a:r>
            <a:r>
              <a:rPr b="1" dirty="0"/>
              <a:t>of</a:t>
            </a:r>
            <a:r>
              <a:rPr b="1" spc="-105" dirty="0"/>
              <a:t> </a:t>
            </a:r>
            <a:r>
              <a:rPr b="1" spc="-10" dirty="0"/>
              <a:t>management</a:t>
            </a:r>
          </a:p>
        </p:txBody>
      </p:sp>
      <p:sp>
        <p:nvSpPr>
          <p:cNvPr id="3" name="object 3"/>
          <p:cNvSpPr txBox="1"/>
          <p:nvPr/>
        </p:nvSpPr>
        <p:spPr>
          <a:xfrm>
            <a:off x="536244" y="1362614"/>
            <a:ext cx="6397625" cy="1839605"/>
          </a:xfrm>
          <a:prstGeom prst="rect">
            <a:avLst/>
          </a:prstGeom>
        </p:spPr>
        <p:txBody>
          <a:bodyPr vert="horz" wrap="square" lIns="0" tIns="61594" rIns="0" bIns="0" rtlCol="0">
            <a:spAutoFit/>
          </a:bodyPr>
          <a:lstStyle/>
          <a:p>
            <a:pPr marL="356870" indent="-344805">
              <a:lnSpc>
                <a:spcPct val="100000"/>
              </a:lnSpc>
              <a:spcBef>
                <a:spcPts val="484"/>
              </a:spcBef>
              <a:buFont typeface="Arial MT"/>
              <a:buChar char="•"/>
              <a:tabLst>
                <a:tab pos="356870" algn="l"/>
                <a:tab pos="357505" algn="l"/>
              </a:tabLst>
            </a:pPr>
            <a:r>
              <a:rPr sz="3000" b="1" dirty="0">
                <a:latin typeface="Calibri"/>
                <a:cs typeface="Calibri"/>
              </a:rPr>
              <a:t>Classical</a:t>
            </a:r>
            <a:r>
              <a:rPr sz="3000" b="1" spc="-90" dirty="0">
                <a:latin typeface="Calibri"/>
                <a:cs typeface="Calibri"/>
              </a:rPr>
              <a:t> </a:t>
            </a:r>
            <a:r>
              <a:rPr sz="3000" b="1" dirty="0">
                <a:latin typeface="Calibri"/>
                <a:cs typeface="Calibri"/>
              </a:rPr>
              <a:t>Management</a:t>
            </a:r>
            <a:r>
              <a:rPr sz="3000" b="1" spc="-80" dirty="0">
                <a:latin typeface="Calibri"/>
                <a:cs typeface="Calibri"/>
              </a:rPr>
              <a:t> </a:t>
            </a:r>
            <a:r>
              <a:rPr sz="3000" b="1" spc="-10" dirty="0">
                <a:latin typeface="Calibri"/>
                <a:cs typeface="Calibri"/>
              </a:rPr>
              <a:t>includes</a:t>
            </a:r>
            <a:endParaRPr sz="3000" b="1" dirty="0">
              <a:latin typeface="Calibri"/>
              <a:cs typeface="Calibri"/>
            </a:endParaRPr>
          </a:p>
          <a:p>
            <a:pPr marL="756285" lvl="1" indent="-287020">
              <a:lnSpc>
                <a:spcPct val="100000"/>
              </a:lnSpc>
              <a:spcBef>
                <a:spcPts val="325"/>
              </a:spcBef>
              <a:buFont typeface="Arial MT"/>
              <a:buChar char="–"/>
              <a:tabLst>
                <a:tab pos="756920" algn="l"/>
              </a:tabLst>
            </a:pPr>
            <a:r>
              <a:rPr sz="2600" b="1" dirty="0">
                <a:latin typeface="Calibri"/>
                <a:cs typeface="Calibri"/>
              </a:rPr>
              <a:t>Scientific</a:t>
            </a:r>
            <a:r>
              <a:rPr sz="2600" b="1" spc="-100" dirty="0">
                <a:latin typeface="Calibri"/>
                <a:cs typeface="Calibri"/>
              </a:rPr>
              <a:t> </a:t>
            </a:r>
            <a:r>
              <a:rPr sz="2600" b="1" spc="-10" dirty="0">
                <a:latin typeface="Calibri"/>
                <a:cs typeface="Calibri"/>
              </a:rPr>
              <a:t>Management</a:t>
            </a:r>
            <a:endParaRPr sz="2600" b="1" dirty="0">
              <a:latin typeface="Calibri"/>
              <a:cs typeface="Calibri"/>
            </a:endParaRPr>
          </a:p>
          <a:p>
            <a:pPr marL="756285" lvl="1" indent="-287020">
              <a:lnSpc>
                <a:spcPct val="100000"/>
              </a:lnSpc>
              <a:spcBef>
                <a:spcPts val="315"/>
              </a:spcBef>
              <a:buFont typeface="Arial MT"/>
              <a:buChar char="–"/>
              <a:tabLst>
                <a:tab pos="756920" algn="l"/>
              </a:tabLst>
            </a:pPr>
            <a:r>
              <a:rPr sz="2600" b="1" spc="-10" dirty="0">
                <a:latin typeface="Calibri"/>
                <a:cs typeface="Calibri"/>
              </a:rPr>
              <a:t>Administration</a:t>
            </a:r>
            <a:r>
              <a:rPr sz="2600" b="1" spc="-85" dirty="0">
                <a:latin typeface="Calibri"/>
                <a:cs typeface="Calibri"/>
              </a:rPr>
              <a:t> </a:t>
            </a:r>
            <a:r>
              <a:rPr sz="2600" b="1" spc="-10" dirty="0">
                <a:latin typeface="Calibri"/>
                <a:cs typeface="Calibri"/>
              </a:rPr>
              <a:t>Management</a:t>
            </a:r>
            <a:endParaRPr sz="2600" b="1" dirty="0">
              <a:latin typeface="Calibri"/>
              <a:cs typeface="Calibri"/>
            </a:endParaRPr>
          </a:p>
          <a:p>
            <a:pPr marL="756285" lvl="1" indent="-287020">
              <a:lnSpc>
                <a:spcPct val="100000"/>
              </a:lnSpc>
              <a:spcBef>
                <a:spcPts val="315"/>
              </a:spcBef>
              <a:buFont typeface="Arial MT"/>
              <a:buChar char="–"/>
              <a:tabLst>
                <a:tab pos="756920" algn="l"/>
              </a:tabLst>
            </a:pPr>
            <a:r>
              <a:rPr sz="2600" b="1" spc="-10" dirty="0">
                <a:latin typeface="Calibri"/>
                <a:cs typeface="Calibri"/>
              </a:rPr>
              <a:t>Bureaucracy</a:t>
            </a:r>
            <a:r>
              <a:rPr sz="2600" b="1" spc="-70" dirty="0">
                <a:latin typeface="Calibri"/>
                <a:cs typeface="Calibri"/>
              </a:rPr>
              <a:t> </a:t>
            </a:r>
            <a:r>
              <a:rPr sz="2600" b="1" spc="-10" dirty="0" smtClean="0">
                <a:latin typeface="Calibri"/>
                <a:cs typeface="Calibri"/>
              </a:rPr>
              <a:t>Management</a:t>
            </a:r>
            <a:endParaRPr sz="2600" b="1" dirty="0">
              <a:latin typeface="Calibri"/>
              <a:cs typeface="Calibri"/>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9244" rIns="0" bIns="0" rtlCol="0">
            <a:spAutoFit/>
          </a:bodyPr>
          <a:lstStyle/>
          <a:p>
            <a:pPr marL="1443355">
              <a:lnSpc>
                <a:spcPct val="100000"/>
              </a:lnSpc>
              <a:spcBef>
                <a:spcPts val="90"/>
              </a:spcBef>
            </a:pPr>
            <a:r>
              <a:rPr dirty="0"/>
              <a:t>I)</a:t>
            </a:r>
            <a:r>
              <a:rPr spc="-95" dirty="0"/>
              <a:t> </a:t>
            </a:r>
            <a:r>
              <a:rPr dirty="0"/>
              <a:t>Classical</a:t>
            </a:r>
            <a:r>
              <a:rPr spc="-75" dirty="0"/>
              <a:t> </a:t>
            </a:r>
            <a:r>
              <a:rPr spc="-10" dirty="0"/>
              <a:t>Management</a:t>
            </a:r>
          </a:p>
        </p:txBody>
      </p:sp>
      <p:sp>
        <p:nvSpPr>
          <p:cNvPr id="3" name="object 3"/>
          <p:cNvSpPr txBox="1"/>
          <p:nvPr/>
        </p:nvSpPr>
        <p:spPr>
          <a:xfrm>
            <a:off x="536244" y="1304043"/>
            <a:ext cx="8004809" cy="4869153"/>
          </a:xfrm>
          <a:prstGeom prst="rect">
            <a:avLst/>
          </a:prstGeom>
        </p:spPr>
        <p:txBody>
          <a:bodyPr vert="horz" wrap="square" lIns="0" tIns="51435" rIns="0" bIns="0" rtlCol="0">
            <a:spAutoFit/>
          </a:bodyPr>
          <a:lstStyle/>
          <a:p>
            <a:pPr marL="2201545">
              <a:lnSpc>
                <a:spcPct val="100000"/>
              </a:lnSpc>
              <a:spcBef>
                <a:spcPts val="405"/>
              </a:spcBef>
            </a:pPr>
            <a:r>
              <a:rPr sz="2700" b="1" dirty="0">
                <a:latin typeface="Calibri"/>
                <a:cs typeface="Calibri"/>
              </a:rPr>
              <a:t>A)</a:t>
            </a:r>
            <a:r>
              <a:rPr sz="2700" b="1" spc="-40" dirty="0">
                <a:latin typeface="Calibri"/>
                <a:cs typeface="Calibri"/>
              </a:rPr>
              <a:t> </a:t>
            </a:r>
            <a:r>
              <a:rPr sz="2700" b="1" dirty="0">
                <a:latin typeface="Calibri"/>
                <a:cs typeface="Calibri"/>
              </a:rPr>
              <a:t>Scientific</a:t>
            </a:r>
            <a:r>
              <a:rPr sz="2700" b="1" spc="-110" dirty="0">
                <a:latin typeface="Calibri"/>
                <a:cs typeface="Calibri"/>
              </a:rPr>
              <a:t> </a:t>
            </a:r>
            <a:r>
              <a:rPr sz="2700" b="1" spc="-10" dirty="0">
                <a:latin typeface="Calibri"/>
                <a:cs typeface="Calibri"/>
              </a:rPr>
              <a:t>Management</a:t>
            </a:r>
            <a:endParaRPr sz="2700" dirty="0">
              <a:latin typeface="Calibri"/>
              <a:cs typeface="Calibri"/>
            </a:endParaRPr>
          </a:p>
          <a:p>
            <a:pPr marL="356870" marR="5080" indent="-344805">
              <a:lnSpc>
                <a:spcPct val="90200"/>
              </a:lnSpc>
              <a:spcBef>
                <a:spcPts val="630"/>
              </a:spcBef>
              <a:buFont typeface="Arial MT"/>
              <a:buChar char="•"/>
              <a:tabLst>
                <a:tab pos="356870" algn="l"/>
                <a:tab pos="357505" algn="l"/>
              </a:tabLst>
            </a:pPr>
            <a:r>
              <a:rPr sz="2700" b="1" dirty="0">
                <a:latin typeface="Calibri"/>
                <a:cs typeface="Calibri"/>
              </a:rPr>
              <a:t>Frederick</a:t>
            </a:r>
            <a:r>
              <a:rPr sz="2700" b="1" spc="-80" dirty="0">
                <a:latin typeface="Calibri"/>
                <a:cs typeface="Calibri"/>
              </a:rPr>
              <a:t> </a:t>
            </a:r>
            <a:r>
              <a:rPr sz="2700" b="1" dirty="0">
                <a:latin typeface="Calibri"/>
                <a:cs typeface="Calibri"/>
              </a:rPr>
              <a:t>Winslow</a:t>
            </a:r>
            <a:r>
              <a:rPr sz="2700" b="1" spc="-114" dirty="0">
                <a:latin typeface="Calibri"/>
                <a:cs typeface="Calibri"/>
              </a:rPr>
              <a:t> </a:t>
            </a:r>
            <a:r>
              <a:rPr sz="2700" b="1" spc="-35" dirty="0">
                <a:latin typeface="Calibri"/>
                <a:cs typeface="Calibri"/>
              </a:rPr>
              <a:t>Taylor</a:t>
            </a:r>
            <a:r>
              <a:rPr sz="2700" b="1" spc="-80" dirty="0">
                <a:latin typeface="Calibri"/>
                <a:cs typeface="Calibri"/>
              </a:rPr>
              <a:t> </a:t>
            </a:r>
            <a:r>
              <a:rPr sz="2700" spc="-10" dirty="0">
                <a:latin typeface="Calibri"/>
                <a:cs typeface="Calibri"/>
              </a:rPr>
              <a:t>well-</a:t>
            </a:r>
            <a:r>
              <a:rPr sz="2700" dirty="0">
                <a:latin typeface="Calibri"/>
                <a:cs typeface="Calibri"/>
              </a:rPr>
              <a:t>known</a:t>
            </a:r>
            <a:r>
              <a:rPr sz="2700" spc="-125" dirty="0">
                <a:latin typeface="Calibri"/>
                <a:cs typeface="Calibri"/>
              </a:rPr>
              <a:t> </a:t>
            </a:r>
            <a:r>
              <a:rPr sz="2700" dirty="0">
                <a:latin typeface="Calibri"/>
                <a:cs typeface="Calibri"/>
              </a:rPr>
              <a:t>as</a:t>
            </a:r>
            <a:r>
              <a:rPr sz="2700" spc="-60" dirty="0">
                <a:latin typeface="Calibri"/>
                <a:cs typeface="Calibri"/>
              </a:rPr>
              <a:t> </a:t>
            </a:r>
            <a:r>
              <a:rPr sz="2700" dirty="0">
                <a:latin typeface="Calibri"/>
                <a:cs typeface="Calibri"/>
              </a:rPr>
              <a:t>the</a:t>
            </a:r>
            <a:r>
              <a:rPr sz="2700" spc="-65" dirty="0">
                <a:latin typeface="Calibri"/>
                <a:cs typeface="Calibri"/>
              </a:rPr>
              <a:t> </a:t>
            </a:r>
            <a:r>
              <a:rPr sz="2700" dirty="0">
                <a:latin typeface="Calibri"/>
                <a:cs typeface="Calibri"/>
              </a:rPr>
              <a:t>founder</a:t>
            </a:r>
            <a:r>
              <a:rPr sz="2700" spc="-85" dirty="0">
                <a:latin typeface="Calibri"/>
                <a:cs typeface="Calibri"/>
              </a:rPr>
              <a:t> </a:t>
            </a:r>
            <a:r>
              <a:rPr sz="2700" spc="-25" dirty="0">
                <a:latin typeface="Calibri"/>
                <a:cs typeface="Calibri"/>
              </a:rPr>
              <a:t>of </a:t>
            </a:r>
            <a:r>
              <a:rPr sz="2700" dirty="0">
                <a:latin typeface="Calibri"/>
                <a:cs typeface="Calibri"/>
              </a:rPr>
              <a:t>scientific</a:t>
            </a:r>
            <a:r>
              <a:rPr sz="2700" spc="-85" dirty="0">
                <a:latin typeface="Calibri"/>
                <a:cs typeface="Calibri"/>
              </a:rPr>
              <a:t> </a:t>
            </a:r>
            <a:r>
              <a:rPr sz="2700" spc="-10" dirty="0">
                <a:latin typeface="Calibri"/>
                <a:cs typeface="Calibri"/>
              </a:rPr>
              <a:t>management</a:t>
            </a:r>
            <a:r>
              <a:rPr sz="2700" spc="-95" dirty="0">
                <a:latin typeface="Calibri"/>
                <a:cs typeface="Calibri"/>
              </a:rPr>
              <a:t> </a:t>
            </a:r>
            <a:r>
              <a:rPr sz="2700" dirty="0">
                <a:latin typeface="Calibri"/>
                <a:cs typeface="Calibri"/>
              </a:rPr>
              <a:t>was</a:t>
            </a:r>
            <a:r>
              <a:rPr sz="2700" spc="-85" dirty="0">
                <a:latin typeface="Calibri"/>
                <a:cs typeface="Calibri"/>
              </a:rPr>
              <a:t> </a:t>
            </a:r>
            <a:r>
              <a:rPr sz="2700" dirty="0">
                <a:latin typeface="Calibri"/>
                <a:cs typeface="Calibri"/>
              </a:rPr>
              <a:t>the</a:t>
            </a:r>
            <a:r>
              <a:rPr sz="2700" spc="-65" dirty="0">
                <a:latin typeface="Calibri"/>
                <a:cs typeface="Calibri"/>
              </a:rPr>
              <a:t> </a:t>
            </a:r>
            <a:r>
              <a:rPr sz="2700" dirty="0">
                <a:latin typeface="Calibri"/>
                <a:cs typeface="Calibri"/>
              </a:rPr>
              <a:t>first</a:t>
            </a:r>
            <a:r>
              <a:rPr sz="2700" spc="-50" dirty="0">
                <a:latin typeface="Calibri"/>
                <a:cs typeface="Calibri"/>
              </a:rPr>
              <a:t> </a:t>
            </a:r>
            <a:r>
              <a:rPr sz="2700" dirty="0">
                <a:latin typeface="Calibri"/>
                <a:cs typeface="Calibri"/>
              </a:rPr>
              <a:t>to</a:t>
            </a:r>
            <a:r>
              <a:rPr sz="2700" spc="-70" dirty="0">
                <a:latin typeface="Calibri"/>
                <a:cs typeface="Calibri"/>
              </a:rPr>
              <a:t> </a:t>
            </a:r>
            <a:r>
              <a:rPr sz="2700" spc="-10" dirty="0">
                <a:latin typeface="Calibri"/>
                <a:cs typeface="Calibri"/>
              </a:rPr>
              <a:t>recognize</a:t>
            </a:r>
            <a:r>
              <a:rPr sz="2700" spc="-100" dirty="0">
                <a:latin typeface="Calibri"/>
                <a:cs typeface="Calibri"/>
              </a:rPr>
              <a:t> </a:t>
            </a:r>
            <a:r>
              <a:rPr sz="2700" spc="-25" dirty="0">
                <a:latin typeface="Calibri"/>
                <a:cs typeface="Calibri"/>
              </a:rPr>
              <a:t>and </a:t>
            </a:r>
            <a:r>
              <a:rPr sz="2700" dirty="0">
                <a:latin typeface="Calibri"/>
                <a:cs typeface="Calibri"/>
              </a:rPr>
              <a:t>emphasis</a:t>
            </a:r>
            <a:r>
              <a:rPr sz="2700" spc="-95" dirty="0">
                <a:latin typeface="Calibri"/>
                <a:cs typeface="Calibri"/>
              </a:rPr>
              <a:t> </a:t>
            </a:r>
            <a:r>
              <a:rPr sz="2700" dirty="0">
                <a:latin typeface="Calibri"/>
                <a:cs typeface="Calibri"/>
              </a:rPr>
              <a:t>the</a:t>
            </a:r>
            <a:r>
              <a:rPr sz="2700" spc="-65" dirty="0">
                <a:latin typeface="Calibri"/>
                <a:cs typeface="Calibri"/>
              </a:rPr>
              <a:t> </a:t>
            </a:r>
            <a:r>
              <a:rPr sz="2700" dirty="0">
                <a:latin typeface="Calibri"/>
                <a:cs typeface="Calibri"/>
              </a:rPr>
              <a:t>need</a:t>
            </a:r>
            <a:r>
              <a:rPr sz="2700" spc="-60" dirty="0">
                <a:latin typeface="Calibri"/>
                <a:cs typeface="Calibri"/>
              </a:rPr>
              <a:t> </a:t>
            </a:r>
            <a:r>
              <a:rPr sz="2700" dirty="0">
                <a:latin typeface="Calibri"/>
                <a:cs typeface="Calibri"/>
              </a:rPr>
              <a:t>for</a:t>
            </a:r>
            <a:r>
              <a:rPr sz="2700" spc="-60" dirty="0">
                <a:latin typeface="Calibri"/>
                <a:cs typeface="Calibri"/>
              </a:rPr>
              <a:t> </a:t>
            </a:r>
            <a:r>
              <a:rPr sz="2700" dirty="0">
                <a:latin typeface="Calibri"/>
                <a:cs typeface="Calibri"/>
              </a:rPr>
              <a:t>adopting</a:t>
            </a:r>
            <a:r>
              <a:rPr sz="2700" spc="-90" dirty="0">
                <a:latin typeface="Calibri"/>
                <a:cs typeface="Calibri"/>
              </a:rPr>
              <a:t> </a:t>
            </a:r>
            <a:r>
              <a:rPr sz="2700" dirty="0">
                <a:latin typeface="Calibri"/>
                <a:cs typeface="Calibri"/>
              </a:rPr>
              <a:t>a</a:t>
            </a:r>
            <a:r>
              <a:rPr sz="2700" spc="-60" dirty="0">
                <a:latin typeface="Calibri"/>
                <a:cs typeface="Calibri"/>
              </a:rPr>
              <a:t> </a:t>
            </a:r>
            <a:r>
              <a:rPr sz="2700" dirty="0">
                <a:latin typeface="Calibri"/>
                <a:cs typeface="Calibri"/>
              </a:rPr>
              <a:t>scientific</a:t>
            </a:r>
            <a:r>
              <a:rPr sz="2700" spc="-70" dirty="0">
                <a:latin typeface="Calibri"/>
                <a:cs typeface="Calibri"/>
              </a:rPr>
              <a:t> </a:t>
            </a:r>
            <a:r>
              <a:rPr sz="2700" spc="-10" dirty="0">
                <a:latin typeface="Calibri"/>
                <a:cs typeface="Calibri"/>
              </a:rPr>
              <a:t>approach </a:t>
            </a:r>
            <a:r>
              <a:rPr sz="2700" dirty="0">
                <a:latin typeface="Calibri"/>
                <a:cs typeface="Calibri"/>
              </a:rPr>
              <a:t>to</a:t>
            </a:r>
            <a:r>
              <a:rPr sz="2700" spc="-60" dirty="0">
                <a:latin typeface="Calibri"/>
                <a:cs typeface="Calibri"/>
              </a:rPr>
              <a:t> </a:t>
            </a:r>
            <a:r>
              <a:rPr sz="2700" dirty="0">
                <a:latin typeface="Calibri"/>
                <a:cs typeface="Calibri"/>
              </a:rPr>
              <a:t>the</a:t>
            </a:r>
            <a:r>
              <a:rPr sz="2700" spc="-40" dirty="0">
                <a:latin typeface="Calibri"/>
                <a:cs typeface="Calibri"/>
              </a:rPr>
              <a:t> </a:t>
            </a:r>
            <a:r>
              <a:rPr sz="2700" dirty="0">
                <a:latin typeface="Calibri"/>
                <a:cs typeface="Calibri"/>
              </a:rPr>
              <a:t>task</a:t>
            </a:r>
            <a:r>
              <a:rPr sz="2700" spc="-70" dirty="0">
                <a:latin typeface="Calibri"/>
                <a:cs typeface="Calibri"/>
              </a:rPr>
              <a:t> </a:t>
            </a:r>
            <a:r>
              <a:rPr sz="2700" dirty="0">
                <a:latin typeface="Calibri"/>
                <a:cs typeface="Calibri"/>
              </a:rPr>
              <a:t>of</a:t>
            </a:r>
            <a:r>
              <a:rPr sz="2700" spc="-45" dirty="0">
                <a:latin typeface="Calibri"/>
                <a:cs typeface="Calibri"/>
              </a:rPr>
              <a:t> </a:t>
            </a:r>
            <a:r>
              <a:rPr sz="2700" dirty="0">
                <a:latin typeface="Calibri"/>
                <a:cs typeface="Calibri"/>
              </a:rPr>
              <a:t>managing</a:t>
            </a:r>
            <a:r>
              <a:rPr sz="2700" spc="-30" dirty="0">
                <a:latin typeface="Calibri"/>
                <a:cs typeface="Calibri"/>
              </a:rPr>
              <a:t> </a:t>
            </a:r>
            <a:r>
              <a:rPr sz="2700" dirty="0">
                <a:latin typeface="Calibri"/>
                <a:cs typeface="Calibri"/>
              </a:rPr>
              <a:t>an</a:t>
            </a:r>
            <a:r>
              <a:rPr sz="2700" spc="-40" dirty="0">
                <a:latin typeface="Calibri"/>
                <a:cs typeface="Calibri"/>
              </a:rPr>
              <a:t> </a:t>
            </a:r>
            <a:r>
              <a:rPr sz="2700" spc="-10" dirty="0">
                <a:latin typeface="Calibri"/>
                <a:cs typeface="Calibri"/>
              </a:rPr>
              <a:t>enterprise.</a:t>
            </a:r>
            <a:endParaRPr sz="2700" dirty="0">
              <a:latin typeface="Calibri"/>
              <a:cs typeface="Calibri"/>
            </a:endParaRPr>
          </a:p>
          <a:p>
            <a:pPr marL="356870" indent="-344805">
              <a:lnSpc>
                <a:spcPct val="100000"/>
              </a:lnSpc>
              <a:spcBef>
                <a:spcPts val="315"/>
              </a:spcBef>
              <a:buFont typeface="Arial MT"/>
              <a:buChar char="•"/>
              <a:tabLst>
                <a:tab pos="356870" algn="l"/>
                <a:tab pos="357505" algn="l"/>
              </a:tabLst>
            </a:pPr>
            <a:r>
              <a:rPr lang="en-IN" sz="2700" spc="-10" dirty="0" smtClean="0">
                <a:latin typeface="Calibri"/>
                <a:cs typeface="Calibri"/>
              </a:rPr>
              <a:t>Principles of scientific management</a:t>
            </a:r>
            <a:r>
              <a:rPr sz="2700" spc="-10" dirty="0" smtClean="0">
                <a:latin typeface="Calibri"/>
                <a:cs typeface="Calibri"/>
              </a:rPr>
              <a:t>:</a:t>
            </a:r>
            <a:endParaRPr sz="2700" dirty="0">
              <a:latin typeface="Calibri"/>
              <a:cs typeface="Calibri"/>
            </a:endParaRPr>
          </a:p>
          <a:p>
            <a:pPr marL="756285" lvl="1" indent="-287020">
              <a:lnSpc>
                <a:spcPct val="100000"/>
              </a:lnSpc>
              <a:spcBef>
                <a:spcPts val="325"/>
              </a:spcBef>
              <a:buFont typeface="Arial MT"/>
              <a:buChar char="–"/>
              <a:tabLst>
                <a:tab pos="756920" algn="l"/>
              </a:tabLst>
            </a:pPr>
            <a:r>
              <a:rPr sz="2400" dirty="0">
                <a:latin typeface="Calibri"/>
                <a:cs typeface="Calibri"/>
              </a:rPr>
              <a:t>Science,</a:t>
            </a:r>
            <a:r>
              <a:rPr sz="2400" spc="-5" dirty="0">
                <a:latin typeface="Calibri"/>
                <a:cs typeface="Calibri"/>
              </a:rPr>
              <a:t> </a:t>
            </a:r>
            <a:r>
              <a:rPr sz="2400" dirty="0">
                <a:latin typeface="Calibri"/>
                <a:cs typeface="Calibri"/>
              </a:rPr>
              <a:t>not</a:t>
            </a:r>
            <a:r>
              <a:rPr sz="2400" spc="-20" dirty="0">
                <a:latin typeface="Calibri"/>
                <a:cs typeface="Calibri"/>
              </a:rPr>
              <a:t> </a:t>
            </a:r>
            <a:r>
              <a:rPr sz="2400" dirty="0">
                <a:latin typeface="Calibri"/>
                <a:cs typeface="Calibri"/>
              </a:rPr>
              <a:t>rule of</a:t>
            </a:r>
            <a:r>
              <a:rPr sz="2400" spc="5" dirty="0">
                <a:latin typeface="Calibri"/>
                <a:cs typeface="Calibri"/>
              </a:rPr>
              <a:t> </a:t>
            </a:r>
            <a:r>
              <a:rPr sz="2400" spc="-20" dirty="0">
                <a:latin typeface="Calibri"/>
                <a:cs typeface="Calibri"/>
              </a:rPr>
              <a:t>thumb</a:t>
            </a:r>
            <a:endParaRPr sz="2400" dirty="0">
              <a:latin typeface="Calibri"/>
              <a:cs typeface="Calibri"/>
            </a:endParaRPr>
          </a:p>
          <a:p>
            <a:pPr marL="756285" lvl="1" indent="-287020">
              <a:lnSpc>
                <a:spcPct val="100000"/>
              </a:lnSpc>
              <a:spcBef>
                <a:spcPts val="290"/>
              </a:spcBef>
              <a:buFont typeface="Arial MT"/>
              <a:buChar char="–"/>
              <a:tabLst>
                <a:tab pos="756920" algn="l"/>
              </a:tabLst>
            </a:pPr>
            <a:r>
              <a:rPr sz="2400" spc="-20" dirty="0">
                <a:latin typeface="Calibri"/>
                <a:cs typeface="Calibri"/>
              </a:rPr>
              <a:t>Harmony,</a:t>
            </a:r>
            <a:r>
              <a:rPr sz="2400" spc="-35" dirty="0">
                <a:latin typeface="Calibri"/>
                <a:cs typeface="Calibri"/>
              </a:rPr>
              <a:t> </a:t>
            </a:r>
            <a:r>
              <a:rPr sz="2400" dirty="0">
                <a:latin typeface="Calibri"/>
                <a:cs typeface="Calibri"/>
              </a:rPr>
              <a:t>not</a:t>
            </a:r>
            <a:r>
              <a:rPr sz="2400" spc="-40" dirty="0">
                <a:latin typeface="Calibri"/>
                <a:cs typeface="Calibri"/>
              </a:rPr>
              <a:t> </a:t>
            </a:r>
            <a:r>
              <a:rPr sz="2400" spc="-10" dirty="0" smtClean="0">
                <a:latin typeface="Calibri"/>
                <a:cs typeface="Calibri"/>
              </a:rPr>
              <a:t>discord</a:t>
            </a:r>
            <a:endParaRPr lang="en-IN" sz="2400" spc="-10" dirty="0" smtClean="0">
              <a:latin typeface="Calibri"/>
              <a:cs typeface="Calibri"/>
            </a:endParaRPr>
          </a:p>
          <a:p>
            <a:pPr marL="756285" lvl="1" indent="-287020">
              <a:lnSpc>
                <a:spcPct val="100000"/>
              </a:lnSpc>
              <a:spcBef>
                <a:spcPts val="290"/>
              </a:spcBef>
              <a:buFont typeface="Arial MT"/>
              <a:buChar char="–"/>
              <a:tabLst>
                <a:tab pos="756920" algn="l"/>
              </a:tabLst>
            </a:pPr>
            <a:r>
              <a:rPr lang="en-IN" sz="2400" spc="-10" dirty="0" smtClean="0">
                <a:latin typeface="Calibri"/>
                <a:cs typeface="Calibri"/>
              </a:rPr>
              <a:t>Mental Revolution </a:t>
            </a:r>
            <a:endParaRPr sz="2400" dirty="0">
              <a:latin typeface="Calibri"/>
              <a:cs typeface="Calibri"/>
            </a:endParaRPr>
          </a:p>
          <a:p>
            <a:pPr marL="756285" lvl="1" indent="-287020">
              <a:lnSpc>
                <a:spcPct val="100000"/>
              </a:lnSpc>
              <a:spcBef>
                <a:spcPts val="285"/>
              </a:spcBef>
              <a:buFont typeface="Arial MT"/>
              <a:buChar char="–"/>
              <a:tabLst>
                <a:tab pos="756920" algn="l"/>
              </a:tabLst>
            </a:pPr>
            <a:r>
              <a:rPr sz="2400" dirty="0">
                <a:latin typeface="Calibri"/>
                <a:cs typeface="Calibri"/>
              </a:rPr>
              <a:t>Co-</a:t>
            </a:r>
            <a:r>
              <a:rPr sz="2400" spc="-10" dirty="0">
                <a:latin typeface="Calibri"/>
                <a:cs typeface="Calibri"/>
              </a:rPr>
              <a:t>operation,</a:t>
            </a:r>
            <a:r>
              <a:rPr sz="2400" spc="-65" dirty="0">
                <a:latin typeface="Calibri"/>
                <a:cs typeface="Calibri"/>
              </a:rPr>
              <a:t> </a:t>
            </a:r>
            <a:r>
              <a:rPr sz="2400" dirty="0">
                <a:latin typeface="Calibri"/>
                <a:cs typeface="Calibri"/>
              </a:rPr>
              <a:t>not </a:t>
            </a:r>
            <a:r>
              <a:rPr sz="2400" spc="-10" dirty="0">
                <a:latin typeface="Calibri"/>
                <a:cs typeface="Calibri"/>
              </a:rPr>
              <a:t>individualism</a:t>
            </a:r>
            <a:endParaRPr sz="2400" dirty="0">
              <a:latin typeface="Calibri"/>
              <a:cs typeface="Calibri"/>
            </a:endParaRPr>
          </a:p>
          <a:p>
            <a:pPr marL="756285" marR="386080" lvl="1" indent="-287020">
              <a:lnSpc>
                <a:spcPts val="2590"/>
              </a:lnSpc>
              <a:spcBef>
                <a:spcPts val="620"/>
              </a:spcBef>
              <a:buFont typeface="Arial MT"/>
              <a:buChar char="–"/>
              <a:tabLst>
                <a:tab pos="756920" algn="l"/>
              </a:tabLst>
            </a:pPr>
            <a:r>
              <a:rPr sz="2400" dirty="0" smtClean="0">
                <a:latin typeface="Calibri"/>
                <a:cs typeface="Calibri"/>
              </a:rPr>
              <a:t>The</a:t>
            </a:r>
            <a:r>
              <a:rPr sz="2400" spc="-5" dirty="0" smtClean="0">
                <a:latin typeface="Calibri"/>
                <a:cs typeface="Calibri"/>
              </a:rPr>
              <a:t> </a:t>
            </a:r>
            <a:r>
              <a:rPr sz="2400" dirty="0">
                <a:latin typeface="Calibri"/>
                <a:cs typeface="Calibri"/>
              </a:rPr>
              <a:t>development</a:t>
            </a:r>
            <a:r>
              <a:rPr sz="2400" spc="-55" dirty="0">
                <a:latin typeface="Calibri"/>
                <a:cs typeface="Calibri"/>
              </a:rPr>
              <a:t> </a:t>
            </a:r>
            <a:r>
              <a:rPr sz="2400" dirty="0">
                <a:latin typeface="Calibri"/>
                <a:cs typeface="Calibri"/>
              </a:rPr>
              <a:t>of</a:t>
            </a:r>
            <a:r>
              <a:rPr sz="2400" spc="-30" dirty="0">
                <a:latin typeface="Calibri"/>
                <a:cs typeface="Calibri"/>
              </a:rPr>
              <a:t> </a:t>
            </a:r>
            <a:r>
              <a:rPr sz="2400" dirty="0">
                <a:latin typeface="Calibri"/>
                <a:cs typeface="Calibri"/>
              </a:rPr>
              <a:t>each</a:t>
            </a:r>
            <a:r>
              <a:rPr sz="2400" spc="-10" dirty="0">
                <a:latin typeface="Calibri"/>
                <a:cs typeface="Calibri"/>
              </a:rPr>
              <a:t> </a:t>
            </a:r>
            <a:r>
              <a:rPr sz="2400" dirty="0">
                <a:latin typeface="Calibri"/>
                <a:cs typeface="Calibri"/>
              </a:rPr>
              <a:t>man</a:t>
            </a:r>
            <a:r>
              <a:rPr sz="2400" spc="-10" dirty="0">
                <a:latin typeface="Calibri"/>
                <a:cs typeface="Calibri"/>
              </a:rPr>
              <a:t> </a:t>
            </a:r>
            <a:r>
              <a:rPr sz="2400" dirty="0">
                <a:latin typeface="Calibri"/>
                <a:cs typeface="Calibri"/>
              </a:rPr>
              <a:t>to</a:t>
            </a:r>
            <a:r>
              <a:rPr sz="2400" spc="-35" dirty="0">
                <a:latin typeface="Calibri"/>
                <a:cs typeface="Calibri"/>
              </a:rPr>
              <a:t> </a:t>
            </a:r>
            <a:r>
              <a:rPr sz="2400" dirty="0">
                <a:latin typeface="Calibri"/>
                <a:cs typeface="Calibri"/>
              </a:rPr>
              <a:t>his</a:t>
            </a:r>
            <a:r>
              <a:rPr sz="2400" spc="-20" dirty="0">
                <a:latin typeface="Calibri"/>
                <a:cs typeface="Calibri"/>
              </a:rPr>
              <a:t> </a:t>
            </a:r>
            <a:r>
              <a:rPr sz="2400" dirty="0">
                <a:latin typeface="Calibri"/>
                <a:cs typeface="Calibri"/>
              </a:rPr>
              <a:t>greatest</a:t>
            </a:r>
            <a:r>
              <a:rPr sz="2400" spc="-25" dirty="0">
                <a:latin typeface="Calibri"/>
                <a:cs typeface="Calibri"/>
              </a:rPr>
              <a:t> </a:t>
            </a:r>
            <a:r>
              <a:rPr sz="2400" spc="-10" dirty="0">
                <a:latin typeface="Calibri"/>
                <a:cs typeface="Calibri"/>
              </a:rPr>
              <a:t>efficiency </a:t>
            </a:r>
            <a:r>
              <a:rPr sz="2400" dirty="0">
                <a:latin typeface="Calibri"/>
                <a:cs typeface="Calibri"/>
              </a:rPr>
              <a:t>and</a:t>
            </a:r>
            <a:r>
              <a:rPr sz="2400" spc="5" dirty="0">
                <a:latin typeface="Calibri"/>
                <a:cs typeface="Calibri"/>
              </a:rPr>
              <a:t> </a:t>
            </a:r>
            <a:r>
              <a:rPr sz="2400" spc="-10" dirty="0">
                <a:latin typeface="Calibri"/>
                <a:cs typeface="Calibri"/>
              </a:rPr>
              <a:t>prosperity</a:t>
            </a:r>
            <a:endParaRPr sz="2400" dirty="0">
              <a:latin typeface="Calibri"/>
              <a:cs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15553"/>
          </a:xfrm>
        </p:spPr>
        <p:txBody>
          <a:bodyPr/>
          <a:lstStyle/>
          <a:p>
            <a:r>
              <a:rPr lang="en-IN" sz="4000" b="1" dirty="0" smtClean="0"/>
              <a:t>Principles of Scientific Management</a:t>
            </a:r>
            <a:endParaRPr lang="en-IN" sz="4000" b="1" dirty="0"/>
          </a:p>
        </p:txBody>
      </p:sp>
      <p:sp>
        <p:nvSpPr>
          <p:cNvPr id="3" name="Text Placeholder 2"/>
          <p:cNvSpPr>
            <a:spLocks noGrp="1"/>
          </p:cNvSpPr>
          <p:nvPr>
            <p:ph type="body" idx="1"/>
          </p:nvPr>
        </p:nvSpPr>
        <p:spPr>
          <a:xfrm>
            <a:off x="492772" y="1066800"/>
            <a:ext cx="8086699" cy="5109091"/>
          </a:xfrm>
        </p:spPr>
        <p:txBody>
          <a:bodyPr/>
          <a:lstStyle/>
          <a:p>
            <a:r>
              <a:rPr lang="en-GB" b="1" dirty="0"/>
              <a:t>Science, not the Rule of Thumb-</a:t>
            </a:r>
          </a:p>
          <a:p>
            <a:pPr algn="just"/>
            <a:r>
              <a:rPr lang="en-GB" sz="2000" dirty="0"/>
              <a:t>This rule focuses on increasing the efficiency of an organisation through scientific analysis of work and not with the ‘Rule of Thumb’ method. Taylor believed that even a small activity like loading paper sheets into boxcars can be planned scientifically. This will save time and also human energy</a:t>
            </a:r>
            <a:r>
              <a:rPr lang="en-GB" sz="2000" dirty="0" smtClean="0"/>
              <a:t>.</a:t>
            </a:r>
          </a:p>
          <a:p>
            <a:r>
              <a:rPr lang="en-GB" b="1" dirty="0"/>
              <a:t>Harmony, Not Discord-</a:t>
            </a:r>
          </a:p>
          <a:p>
            <a:pPr algn="just"/>
            <a:r>
              <a:rPr lang="en-GB" sz="2000" dirty="0"/>
              <a:t>Taylor indicated and believed that the relationship between the workers and management should be cordial and completely harmonious. Difference between the two will never be beneficial to either side. Management and workers should acknowledge and understand each other’s importance</a:t>
            </a:r>
            <a:r>
              <a:rPr lang="en-GB" sz="2400" dirty="0" smtClean="0"/>
              <a:t>.</a:t>
            </a:r>
          </a:p>
          <a:p>
            <a:r>
              <a:rPr lang="en-GB" b="1" dirty="0"/>
              <a:t>Mental Revolution-</a:t>
            </a:r>
          </a:p>
          <a:p>
            <a:pPr algn="just"/>
            <a:r>
              <a:rPr lang="en-GB" sz="2000" dirty="0"/>
              <a:t>This technique involves a shift of attitude of management and workers towards each other. Both should understand the value of each other and work with full participation and cooperation. The aim of both should be to improve and boost the profits of the organisation.</a:t>
            </a:r>
            <a:r>
              <a:rPr lang="en-GB" dirty="0"/>
              <a:t> </a:t>
            </a:r>
          </a:p>
        </p:txBody>
      </p:sp>
    </p:spTree>
    <p:extLst>
      <p:ext uri="{BB962C8B-B14F-4D97-AF65-F5344CB8AC3E}">
        <p14:creationId xmlns:p14="http://schemas.microsoft.com/office/powerpoint/2010/main" val="882549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15553"/>
          </a:xfrm>
        </p:spPr>
        <p:txBody>
          <a:bodyPr/>
          <a:lstStyle/>
          <a:p>
            <a:r>
              <a:rPr lang="en-IN" sz="4000" b="1" dirty="0" smtClean="0"/>
              <a:t>Principles of Scientific Management</a:t>
            </a:r>
            <a:endParaRPr lang="en-IN" sz="4000" b="1" dirty="0"/>
          </a:p>
        </p:txBody>
      </p:sp>
      <p:sp>
        <p:nvSpPr>
          <p:cNvPr id="3" name="Text Placeholder 2"/>
          <p:cNvSpPr>
            <a:spLocks noGrp="1"/>
          </p:cNvSpPr>
          <p:nvPr>
            <p:ph type="body" idx="1"/>
          </p:nvPr>
        </p:nvSpPr>
        <p:spPr>
          <a:xfrm>
            <a:off x="492772" y="1066800"/>
            <a:ext cx="8086699" cy="4570482"/>
          </a:xfrm>
        </p:spPr>
        <p:txBody>
          <a:bodyPr/>
          <a:lstStyle/>
          <a:p>
            <a:r>
              <a:rPr lang="en-GB" b="1" dirty="0" smtClean="0"/>
              <a:t>Cooperation</a:t>
            </a:r>
            <a:r>
              <a:rPr lang="en-GB" b="1" dirty="0"/>
              <a:t>, not Individualism-</a:t>
            </a:r>
          </a:p>
          <a:p>
            <a:pPr algn="just"/>
            <a:r>
              <a:rPr lang="en-GB" sz="2400" dirty="0"/>
              <a:t>It is similar to ‘Harmony, not discord’ and believes in mutual collaboration between workers and the management. Managers and workers should have mutual cooperation and confidence and a sense of goodwill. The main purpose is to substitute internal competition with </a:t>
            </a:r>
            <a:r>
              <a:rPr lang="en-GB" sz="2400" dirty="0" smtClean="0"/>
              <a:t>cooperation.</a:t>
            </a:r>
          </a:p>
          <a:p>
            <a:r>
              <a:rPr lang="en-GB" b="1" dirty="0" smtClean="0"/>
              <a:t>Development </a:t>
            </a:r>
            <a:r>
              <a:rPr lang="en-GB" b="1" dirty="0"/>
              <a:t>of Every Person to his Greatest Efficiency-</a:t>
            </a:r>
          </a:p>
          <a:p>
            <a:pPr algn="just"/>
            <a:r>
              <a:rPr lang="en-GB" sz="2400" dirty="0"/>
              <a:t>The effectiveness of a company also relies on the abilities and skills of its employees. Thus, implementing training, learning best practices and technology, is the scientific approach to brush up the employee skill.</a:t>
            </a:r>
          </a:p>
          <a:p>
            <a:endParaRPr lang="en-GB" dirty="0"/>
          </a:p>
        </p:txBody>
      </p:sp>
    </p:spTree>
    <p:extLst>
      <p:ext uri="{BB962C8B-B14F-4D97-AF65-F5344CB8AC3E}">
        <p14:creationId xmlns:p14="http://schemas.microsoft.com/office/powerpoint/2010/main" val="3719886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677545">
              <a:lnSpc>
                <a:spcPct val="100000"/>
              </a:lnSpc>
              <a:spcBef>
                <a:spcPts val="90"/>
              </a:spcBef>
            </a:pPr>
            <a:r>
              <a:rPr b="1" dirty="0"/>
              <a:t>b)</a:t>
            </a:r>
            <a:r>
              <a:rPr b="1" spc="-105" dirty="0"/>
              <a:t> </a:t>
            </a:r>
            <a:r>
              <a:rPr b="1" spc="-20" dirty="0"/>
              <a:t>Administrative</a:t>
            </a:r>
            <a:r>
              <a:rPr b="1" spc="-50" dirty="0"/>
              <a:t> </a:t>
            </a:r>
            <a:r>
              <a:rPr lang="en-IN" b="1" spc="-10" dirty="0"/>
              <a:t>M</a:t>
            </a:r>
            <a:r>
              <a:rPr b="1" spc="-10" dirty="0" err="1" smtClean="0"/>
              <a:t>anagement</a:t>
            </a:r>
            <a:endParaRPr b="1" spc="-10" dirty="0"/>
          </a:p>
        </p:txBody>
      </p:sp>
      <p:sp>
        <p:nvSpPr>
          <p:cNvPr id="3" name="object 3"/>
          <p:cNvSpPr txBox="1"/>
          <p:nvPr/>
        </p:nvSpPr>
        <p:spPr>
          <a:xfrm>
            <a:off x="536244" y="1560652"/>
            <a:ext cx="5269865" cy="965008"/>
          </a:xfrm>
          <a:prstGeom prst="rect">
            <a:avLst/>
          </a:prstGeom>
        </p:spPr>
        <p:txBody>
          <a:bodyPr vert="horz" wrap="square" lIns="0" tIns="66675" rIns="0" bIns="0" rtlCol="0">
            <a:spAutoFit/>
          </a:bodyPr>
          <a:lstStyle/>
          <a:p>
            <a:pPr marL="356870" marR="5080" indent="-344805">
              <a:lnSpc>
                <a:spcPts val="3460"/>
              </a:lnSpc>
              <a:spcBef>
                <a:spcPts val="525"/>
              </a:spcBef>
              <a:buFont typeface="Arial MT"/>
              <a:buChar char="•"/>
              <a:tabLst>
                <a:tab pos="356870" algn="l"/>
                <a:tab pos="357505" algn="l"/>
                <a:tab pos="1671320" algn="l"/>
                <a:tab pos="1976120" algn="l"/>
                <a:tab pos="2835910" algn="l"/>
                <a:tab pos="3384550" algn="l"/>
                <a:tab pos="3405504" algn="l"/>
                <a:tab pos="4034154" algn="l"/>
              </a:tabLst>
            </a:pPr>
            <a:r>
              <a:rPr sz="3200" b="1" spc="-10" dirty="0">
                <a:latin typeface="Calibri"/>
                <a:cs typeface="Calibri"/>
              </a:rPr>
              <a:t>Henry</a:t>
            </a:r>
            <a:r>
              <a:rPr sz="3200" b="1" dirty="0">
                <a:latin typeface="Calibri"/>
                <a:cs typeface="Calibri"/>
              </a:rPr>
              <a:t>	</a:t>
            </a:r>
            <a:r>
              <a:rPr sz="3200" b="1" spc="-20" dirty="0">
                <a:latin typeface="Calibri"/>
                <a:cs typeface="Calibri"/>
              </a:rPr>
              <a:t>Fayol</a:t>
            </a:r>
            <a:r>
              <a:rPr sz="3200" dirty="0">
                <a:latin typeface="Calibri"/>
                <a:cs typeface="Calibri"/>
              </a:rPr>
              <a:t>	</a:t>
            </a:r>
            <a:r>
              <a:rPr sz="3200" spc="-25" dirty="0">
                <a:latin typeface="Calibri"/>
                <a:cs typeface="Calibri"/>
              </a:rPr>
              <a:t>is</a:t>
            </a:r>
            <a:r>
              <a:rPr sz="3200" dirty="0">
                <a:latin typeface="Calibri"/>
                <a:cs typeface="Calibri"/>
              </a:rPr>
              <a:t>		</a:t>
            </a:r>
            <a:r>
              <a:rPr sz="3200" spc="-10" dirty="0">
                <a:latin typeface="Calibri"/>
                <a:cs typeface="Calibri"/>
              </a:rPr>
              <a:t>considered modern</a:t>
            </a:r>
            <a:r>
              <a:rPr sz="3200" dirty="0">
                <a:latin typeface="Calibri"/>
                <a:cs typeface="Calibri"/>
              </a:rPr>
              <a:t>		</a:t>
            </a:r>
            <a:r>
              <a:rPr sz="3200" spc="-10" dirty="0">
                <a:latin typeface="Calibri"/>
                <a:cs typeface="Calibri"/>
              </a:rPr>
              <a:t>theory</a:t>
            </a:r>
            <a:r>
              <a:rPr sz="3200" dirty="0">
                <a:latin typeface="Calibri"/>
                <a:cs typeface="Calibri"/>
              </a:rPr>
              <a:t>	</a:t>
            </a:r>
            <a:r>
              <a:rPr sz="3200" spc="-25" dirty="0">
                <a:latin typeface="Calibri"/>
                <a:cs typeface="Calibri"/>
              </a:rPr>
              <a:t>of</a:t>
            </a:r>
            <a:r>
              <a:rPr sz="3200" dirty="0">
                <a:latin typeface="Calibri"/>
                <a:cs typeface="Calibri"/>
              </a:rPr>
              <a:t>	</a:t>
            </a:r>
            <a:r>
              <a:rPr sz="3200" spc="-30" dirty="0">
                <a:latin typeface="Calibri"/>
                <a:cs typeface="Calibri"/>
              </a:rPr>
              <a:t>general</a:t>
            </a:r>
            <a:endParaRPr sz="3200" dirty="0">
              <a:latin typeface="Calibri"/>
              <a:cs typeface="Calibri"/>
            </a:endParaRPr>
          </a:p>
        </p:txBody>
      </p:sp>
      <p:sp>
        <p:nvSpPr>
          <p:cNvPr id="4" name="object 4"/>
          <p:cNvSpPr txBox="1"/>
          <p:nvPr/>
        </p:nvSpPr>
        <p:spPr>
          <a:xfrm>
            <a:off x="6061075" y="1560652"/>
            <a:ext cx="2546350" cy="951865"/>
          </a:xfrm>
          <a:prstGeom prst="rect">
            <a:avLst/>
          </a:prstGeom>
        </p:spPr>
        <p:txBody>
          <a:bodyPr vert="horz" wrap="square" lIns="0" tIns="66675" rIns="0" bIns="0" rtlCol="0">
            <a:spAutoFit/>
          </a:bodyPr>
          <a:lstStyle/>
          <a:p>
            <a:pPr marL="45720" marR="5080" indent="-33655">
              <a:lnSpc>
                <a:spcPts val="3460"/>
              </a:lnSpc>
              <a:spcBef>
                <a:spcPts val="525"/>
              </a:spcBef>
              <a:tabLst>
                <a:tab pos="878205" algn="l"/>
                <a:tab pos="984885" algn="l"/>
                <a:tab pos="2195195" algn="l"/>
              </a:tabLst>
            </a:pPr>
            <a:r>
              <a:rPr sz="3200" spc="-25" dirty="0">
                <a:latin typeface="Calibri"/>
                <a:cs typeface="Calibri"/>
              </a:rPr>
              <a:t>the</a:t>
            </a:r>
            <a:r>
              <a:rPr sz="3200" dirty="0">
                <a:latin typeface="Calibri"/>
                <a:cs typeface="Calibri"/>
              </a:rPr>
              <a:t>	</a:t>
            </a:r>
            <a:r>
              <a:rPr sz="3200" spc="-10" dirty="0">
                <a:latin typeface="Calibri"/>
                <a:cs typeface="Calibri"/>
              </a:rPr>
              <a:t>father</a:t>
            </a:r>
            <a:r>
              <a:rPr sz="3200" dirty="0">
                <a:latin typeface="Calibri"/>
                <a:cs typeface="Calibri"/>
              </a:rPr>
              <a:t>	</a:t>
            </a:r>
            <a:r>
              <a:rPr sz="3200" spc="-25" dirty="0">
                <a:latin typeface="Calibri"/>
                <a:cs typeface="Calibri"/>
              </a:rPr>
              <a:t>of and</a:t>
            </a:r>
            <a:r>
              <a:rPr sz="3200" dirty="0">
                <a:latin typeface="Calibri"/>
                <a:cs typeface="Calibri"/>
              </a:rPr>
              <a:t>		</a:t>
            </a:r>
            <a:r>
              <a:rPr sz="3200" spc="-10" dirty="0">
                <a:latin typeface="Calibri"/>
                <a:cs typeface="Calibri"/>
              </a:rPr>
              <a:t>industrial</a:t>
            </a:r>
            <a:endParaRPr sz="3200">
              <a:latin typeface="Calibri"/>
              <a:cs typeface="Calibri"/>
            </a:endParaRPr>
          </a:p>
        </p:txBody>
      </p:sp>
      <p:sp>
        <p:nvSpPr>
          <p:cNvPr id="5" name="object 5"/>
          <p:cNvSpPr txBox="1"/>
          <p:nvPr/>
        </p:nvSpPr>
        <p:spPr>
          <a:xfrm>
            <a:off x="536244" y="2388982"/>
            <a:ext cx="8070850" cy="1099185"/>
          </a:xfrm>
          <a:prstGeom prst="rect">
            <a:avLst/>
          </a:prstGeom>
        </p:spPr>
        <p:txBody>
          <a:bodyPr vert="horz" wrap="square" lIns="0" tIns="61594" rIns="0" bIns="0" rtlCol="0">
            <a:spAutoFit/>
          </a:bodyPr>
          <a:lstStyle/>
          <a:p>
            <a:pPr marL="356870">
              <a:lnSpc>
                <a:spcPct val="100000"/>
              </a:lnSpc>
              <a:spcBef>
                <a:spcPts val="484"/>
              </a:spcBef>
            </a:pPr>
            <a:r>
              <a:rPr sz="3200" spc="-10" dirty="0">
                <a:latin typeface="Calibri"/>
                <a:cs typeface="Calibri"/>
              </a:rPr>
              <a:t>management</a:t>
            </a:r>
            <a:endParaRPr sz="3200">
              <a:latin typeface="Calibri"/>
              <a:cs typeface="Calibri"/>
            </a:endParaRPr>
          </a:p>
          <a:p>
            <a:pPr marL="356870" indent="-344805">
              <a:lnSpc>
                <a:spcPct val="100000"/>
              </a:lnSpc>
              <a:spcBef>
                <a:spcPts val="385"/>
              </a:spcBef>
              <a:buFont typeface="Arial MT"/>
              <a:buChar char="•"/>
              <a:tabLst>
                <a:tab pos="356870" algn="l"/>
                <a:tab pos="357505" algn="l"/>
                <a:tab pos="1170940" algn="l"/>
                <a:tab pos="2625725" algn="l"/>
                <a:tab pos="3168015" algn="l"/>
                <a:tab pos="5561330" algn="l"/>
                <a:tab pos="6119495" algn="l"/>
                <a:tab pos="6729095" algn="l"/>
              </a:tabLst>
            </a:pPr>
            <a:r>
              <a:rPr sz="3200" spc="-25" dirty="0">
                <a:latin typeface="Calibri"/>
                <a:cs typeface="Calibri"/>
              </a:rPr>
              <a:t>The</a:t>
            </a:r>
            <a:r>
              <a:rPr sz="3200" dirty="0">
                <a:latin typeface="Calibri"/>
                <a:cs typeface="Calibri"/>
              </a:rPr>
              <a:t>	</a:t>
            </a:r>
            <a:r>
              <a:rPr sz="3200" spc="-10" dirty="0">
                <a:latin typeface="Calibri"/>
                <a:cs typeface="Calibri"/>
              </a:rPr>
              <a:t>process</a:t>
            </a:r>
            <a:r>
              <a:rPr sz="3200" dirty="0">
                <a:latin typeface="Calibri"/>
                <a:cs typeface="Calibri"/>
              </a:rPr>
              <a:t>	</a:t>
            </a:r>
            <a:r>
              <a:rPr sz="3200" spc="-25" dirty="0">
                <a:latin typeface="Calibri"/>
                <a:cs typeface="Calibri"/>
              </a:rPr>
              <a:t>of</a:t>
            </a:r>
            <a:r>
              <a:rPr sz="3200" dirty="0">
                <a:latin typeface="Calibri"/>
                <a:cs typeface="Calibri"/>
              </a:rPr>
              <a:t>	</a:t>
            </a:r>
            <a:r>
              <a:rPr sz="3200" spc="-10" dirty="0">
                <a:latin typeface="Calibri"/>
                <a:cs typeface="Calibri"/>
              </a:rPr>
              <a:t>management</a:t>
            </a:r>
            <a:r>
              <a:rPr sz="3200" dirty="0">
                <a:latin typeface="Calibri"/>
                <a:cs typeface="Calibri"/>
              </a:rPr>
              <a:t>	</a:t>
            </a:r>
            <a:r>
              <a:rPr sz="3200" spc="-25" dirty="0">
                <a:latin typeface="Calibri"/>
                <a:cs typeface="Calibri"/>
              </a:rPr>
              <a:t>as</a:t>
            </a:r>
            <a:r>
              <a:rPr sz="3200" dirty="0">
                <a:latin typeface="Calibri"/>
                <a:cs typeface="Calibri"/>
              </a:rPr>
              <a:t>	</a:t>
            </a:r>
            <a:r>
              <a:rPr sz="3200" spc="-25" dirty="0">
                <a:latin typeface="Calibri"/>
                <a:cs typeface="Calibri"/>
              </a:rPr>
              <a:t>an</a:t>
            </a:r>
            <a:r>
              <a:rPr sz="3200" dirty="0">
                <a:latin typeface="Calibri"/>
                <a:cs typeface="Calibri"/>
              </a:rPr>
              <a:t>	</a:t>
            </a:r>
            <a:r>
              <a:rPr sz="3200" spc="-10" dirty="0">
                <a:latin typeface="Calibri"/>
                <a:cs typeface="Calibri"/>
              </a:rPr>
              <a:t>ongoing</a:t>
            </a:r>
            <a:endParaRPr sz="3200">
              <a:latin typeface="Calibri"/>
              <a:cs typeface="Calibri"/>
            </a:endParaRPr>
          </a:p>
        </p:txBody>
      </p:sp>
      <p:sp>
        <p:nvSpPr>
          <p:cNvPr id="6" name="object 6"/>
          <p:cNvSpPr txBox="1"/>
          <p:nvPr/>
        </p:nvSpPr>
        <p:spPr>
          <a:xfrm>
            <a:off x="880668" y="3415029"/>
            <a:ext cx="1866264" cy="951230"/>
          </a:xfrm>
          <a:prstGeom prst="rect">
            <a:avLst/>
          </a:prstGeom>
        </p:spPr>
        <p:txBody>
          <a:bodyPr vert="horz" wrap="square" lIns="0" tIns="66675" rIns="0" bIns="0" rtlCol="0">
            <a:spAutoFit/>
          </a:bodyPr>
          <a:lstStyle/>
          <a:p>
            <a:pPr marL="12700" marR="5080">
              <a:lnSpc>
                <a:spcPts val="3460"/>
              </a:lnSpc>
              <a:spcBef>
                <a:spcPts val="525"/>
              </a:spcBef>
            </a:pPr>
            <a:r>
              <a:rPr sz="3200" spc="-10" dirty="0">
                <a:latin typeface="Calibri"/>
                <a:cs typeface="Calibri"/>
              </a:rPr>
              <a:t>managerial organizing,</a:t>
            </a:r>
            <a:endParaRPr sz="3200">
              <a:latin typeface="Calibri"/>
              <a:cs typeface="Calibri"/>
            </a:endParaRPr>
          </a:p>
        </p:txBody>
      </p:sp>
      <p:sp>
        <p:nvSpPr>
          <p:cNvPr id="7" name="object 7"/>
          <p:cNvSpPr txBox="1"/>
          <p:nvPr/>
        </p:nvSpPr>
        <p:spPr>
          <a:xfrm>
            <a:off x="3146298" y="3415029"/>
            <a:ext cx="5460365" cy="965008"/>
          </a:xfrm>
          <a:prstGeom prst="rect">
            <a:avLst/>
          </a:prstGeom>
        </p:spPr>
        <p:txBody>
          <a:bodyPr vert="horz" wrap="square" lIns="0" tIns="66675" rIns="0" bIns="0" rtlCol="0">
            <a:spAutoFit/>
          </a:bodyPr>
          <a:lstStyle/>
          <a:p>
            <a:pPr marL="12700" marR="5080" indent="255904">
              <a:lnSpc>
                <a:spcPts val="3460"/>
              </a:lnSpc>
              <a:spcBef>
                <a:spcPts val="525"/>
              </a:spcBef>
              <a:tabLst>
                <a:tab pos="1762125" algn="l"/>
                <a:tab pos="2033905" algn="l"/>
                <a:tab pos="3911600" algn="l"/>
                <a:tab pos="4823460" algn="l"/>
              </a:tabLst>
            </a:pPr>
            <a:r>
              <a:rPr sz="3200" spc="-10" dirty="0">
                <a:latin typeface="Calibri"/>
                <a:cs typeface="Calibri"/>
              </a:rPr>
              <a:t>cycle</a:t>
            </a:r>
            <a:r>
              <a:rPr sz="3200" dirty="0">
                <a:latin typeface="Calibri"/>
                <a:cs typeface="Calibri"/>
              </a:rPr>
              <a:t>	</a:t>
            </a:r>
            <a:r>
              <a:rPr sz="3200" spc="-10" dirty="0">
                <a:latin typeface="Calibri"/>
                <a:cs typeface="Calibri"/>
              </a:rPr>
              <a:t>involving</a:t>
            </a:r>
            <a:r>
              <a:rPr sz="3200" dirty="0">
                <a:latin typeface="Calibri"/>
                <a:cs typeface="Calibri"/>
              </a:rPr>
              <a:t>	</a:t>
            </a:r>
            <a:r>
              <a:rPr sz="3200" spc="-10" dirty="0">
                <a:latin typeface="Calibri"/>
                <a:cs typeface="Calibri"/>
              </a:rPr>
              <a:t>planning, </a:t>
            </a:r>
            <a:r>
              <a:rPr lang="en-IN" sz="3200" spc="-10" dirty="0" smtClean="0">
                <a:latin typeface="Calibri"/>
                <a:cs typeface="Calibri"/>
              </a:rPr>
              <a:t>commanding</a:t>
            </a:r>
            <a:r>
              <a:rPr sz="3200" spc="-10" dirty="0" smtClean="0">
                <a:latin typeface="Calibri"/>
                <a:cs typeface="Calibri"/>
              </a:rPr>
              <a:t>,</a:t>
            </a:r>
            <a:r>
              <a:rPr sz="3200" spc="-35" dirty="0" smtClean="0">
                <a:latin typeface="Calibri"/>
                <a:cs typeface="Calibri"/>
              </a:rPr>
              <a:t>co-</a:t>
            </a:r>
            <a:r>
              <a:rPr sz="3200" spc="-10" dirty="0" smtClean="0">
                <a:latin typeface="Calibri"/>
                <a:cs typeface="Calibri"/>
              </a:rPr>
              <a:t>ordination</a:t>
            </a:r>
            <a:r>
              <a:rPr sz="3200" spc="-10" dirty="0">
                <a:latin typeface="Calibri"/>
                <a:cs typeface="Calibri"/>
              </a:rPr>
              <a:t>,</a:t>
            </a:r>
            <a:r>
              <a:rPr sz="3200" dirty="0">
                <a:latin typeface="Calibri"/>
                <a:cs typeface="Calibri"/>
              </a:rPr>
              <a:t>	</a:t>
            </a:r>
            <a:r>
              <a:rPr sz="3200" spc="-25" dirty="0">
                <a:latin typeface="Calibri"/>
                <a:cs typeface="Calibri"/>
              </a:rPr>
              <a:t>and</a:t>
            </a:r>
            <a:endParaRPr sz="3200" dirty="0">
              <a:latin typeface="Calibri"/>
              <a:cs typeface="Calibri"/>
            </a:endParaRPr>
          </a:p>
        </p:txBody>
      </p:sp>
      <p:sp>
        <p:nvSpPr>
          <p:cNvPr id="8" name="object 8"/>
          <p:cNvSpPr txBox="1"/>
          <p:nvPr/>
        </p:nvSpPr>
        <p:spPr>
          <a:xfrm>
            <a:off x="880668" y="4292930"/>
            <a:ext cx="7731125" cy="2192020"/>
          </a:xfrm>
          <a:prstGeom prst="rect">
            <a:avLst/>
          </a:prstGeom>
        </p:spPr>
        <p:txBody>
          <a:bodyPr vert="horz" wrap="square" lIns="0" tIns="66675" rIns="0" bIns="0" rtlCol="0">
            <a:spAutoFit/>
          </a:bodyPr>
          <a:lstStyle/>
          <a:p>
            <a:pPr marL="12700" marR="6350" algn="just">
              <a:lnSpc>
                <a:spcPts val="3460"/>
              </a:lnSpc>
              <a:spcBef>
                <a:spcPts val="525"/>
              </a:spcBef>
            </a:pPr>
            <a:r>
              <a:rPr sz="3200" dirty="0">
                <a:latin typeface="Calibri"/>
                <a:cs typeface="Calibri"/>
              </a:rPr>
              <a:t>controlling,</a:t>
            </a:r>
            <a:r>
              <a:rPr sz="3200" spc="-10" dirty="0">
                <a:latin typeface="Calibri"/>
                <a:cs typeface="Calibri"/>
              </a:rPr>
              <a:t> </a:t>
            </a:r>
            <a:r>
              <a:rPr sz="3200" dirty="0">
                <a:latin typeface="Calibri"/>
                <a:cs typeface="Calibri"/>
              </a:rPr>
              <a:t>is</a:t>
            </a:r>
            <a:r>
              <a:rPr sz="3200" spc="-15" dirty="0">
                <a:latin typeface="Calibri"/>
                <a:cs typeface="Calibri"/>
              </a:rPr>
              <a:t> </a:t>
            </a:r>
            <a:r>
              <a:rPr sz="3200" dirty="0">
                <a:latin typeface="Calibri"/>
                <a:cs typeface="Calibri"/>
              </a:rPr>
              <a:t>actually</a:t>
            </a:r>
            <a:r>
              <a:rPr sz="3200" spc="-10" dirty="0">
                <a:latin typeface="Calibri"/>
                <a:cs typeface="Calibri"/>
              </a:rPr>
              <a:t> </a:t>
            </a:r>
            <a:r>
              <a:rPr sz="3200" dirty="0">
                <a:latin typeface="Calibri"/>
                <a:cs typeface="Calibri"/>
              </a:rPr>
              <a:t>based</a:t>
            </a:r>
            <a:r>
              <a:rPr sz="3200" spc="-15" dirty="0">
                <a:latin typeface="Calibri"/>
                <a:cs typeface="Calibri"/>
              </a:rPr>
              <a:t> </a:t>
            </a:r>
            <a:r>
              <a:rPr sz="3200" dirty="0">
                <a:latin typeface="Calibri"/>
                <a:cs typeface="Calibri"/>
              </a:rPr>
              <a:t>on</a:t>
            </a:r>
            <a:r>
              <a:rPr sz="3200" spc="-15" dirty="0">
                <a:latin typeface="Calibri"/>
                <a:cs typeface="Calibri"/>
              </a:rPr>
              <a:t> </a:t>
            </a:r>
            <a:r>
              <a:rPr sz="3200" dirty="0">
                <a:latin typeface="Calibri"/>
                <a:cs typeface="Calibri"/>
              </a:rPr>
              <a:t>the</a:t>
            </a:r>
            <a:r>
              <a:rPr sz="3200" spc="10" dirty="0">
                <a:latin typeface="Calibri"/>
                <a:cs typeface="Calibri"/>
              </a:rPr>
              <a:t> </a:t>
            </a:r>
            <a:r>
              <a:rPr sz="3200" dirty="0">
                <a:latin typeface="Calibri"/>
                <a:cs typeface="Calibri"/>
              </a:rPr>
              <a:t>analysis</a:t>
            </a:r>
            <a:r>
              <a:rPr sz="3200" spc="-5" dirty="0">
                <a:latin typeface="Calibri"/>
                <a:cs typeface="Calibri"/>
              </a:rPr>
              <a:t> </a:t>
            </a:r>
            <a:r>
              <a:rPr sz="3200" spc="-25" dirty="0">
                <a:latin typeface="Calibri"/>
                <a:cs typeface="Calibri"/>
              </a:rPr>
              <a:t>of </a:t>
            </a:r>
            <a:r>
              <a:rPr sz="3200" dirty="0">
                <a:latin typeface="Calibri"/>
                <a:cs typeface="Calibri"/>
              </a:rPr>
              <a:t>general</a:t>
            </a:r>
            <a:r>
              <a:rPr sz="3200" spc="-125" dirty="0">
                <a:latin typeface="Calibri"/>
                <a:cs typeface="Calibri"/>
              </a:rPr>
              <a:t> </a:t>
            </a:r>
            <a:r>
              <a:rPr sz="3200" dirty="0">
                <a:latin typeface="Calibri"/>
                <a:cs typeface="Calibri"/>
              </a:rPr>
              <a:t>management</a:t>
            </a:r>
            <a:r>
              <a:rPr sz="3200" spc="-110" dirty="0">
                <a:latin typeface="Calibri"/>
                <a:cs typeface="Calibri"/>
              </a:rPr>
              <a:t> </a:t>
            </a:r>
            <a:r>
              <a:rPr sz="3200" dirty="0">
                <a:latin typeface="Calibri"/>
                <a:cs typeface="Calibri"/>
              </a:rPr>
              <a:t>by</a:t>
            </a:r>
            <a:r>
              <a:rPr sz="3200" spc="-125" dirty="0">
                <a:latin typeface="Calibri"/>
                <a:cs typeface="Calibri"/>
              </a:rPr>
              <a:t> </a:t>
            </a:r>
            <a:r>
              <a:rPr sz="3200" spc="-10" dirty="0">
                <a:latin typeface="Calibri"/>
                <a:cs typeface="Calibri"/>
              </a:rPr>
              <a:t>Fayol.</a:t>
            </a:r>
            <a:endParaRPr sz="3200">
              <a:latin typeface="Calibri"/>
              <a:cs typeface="Calibri"/>
            </a:endParaRPr>
          </a:p>
          <a:p>
            <a:pPr marL="411480" marR="5080" indent="-287020" algn="just">
              <a:lnSpc>
                <a:spcPct val="90000"/>
              </a:lnSpc>
              <a:spcBef>
                <a:spcPts val="635"/>
              </a:spcBef>
            </a:pPr>
            <a:r>
              <a:rPr sz="2800" dirty="0">
                <a:latin typeface="Arial MT"/>
                <a:cs typeface="Arial MT"/>
              </a:rPr>
              <a:t>–</a:t>
            </a:r>
            <a:r>
              <a:rPr sz="2800" spc="-125" dirty="0">
                <a:latin typeface="Arial MT"/>
                <a:cs typeface="Arial MT"/>
              </a:rPr>
              <a:t> </a:t>
            </a:r>
            <a:r>
              <a:rPr sz="2800" dirty="0">
                <a:latin typeface="Calibri"/>
                <a:cs typeface="Calibri"/>
              </a:rPr>
              <a:t>Hence,</a:t>
            </a:r>
            <a:r>
              <a:rPr sz="2800" spc="75" dirty="0">
                <a:latin typeface="Calibri"/>
                <a:cs typeface="Calibri"/>
              </a:rPr>
              <a:t> </a:t>
            </a:r>
            <a:r>
              <a:rPr sz="2800" dirty="0">
                <a:latin typeface="Calibri"/>
                <a:cs typeface="Calibri"/>
              </a:rPr>
              <a:t>it</a:t>
            </a:r>
            <a:r>
              <a:rPr sz="2800" spc="65" dirty="0">
                <a:latin typeface="Calibri"/>
                <a:cs typeface="Calibri"/>
              </a:rPr>
              <a:t> </a:t>
            </a:r>
            <a:r>
              <a:rPr sz="2800" dirty="0">
                <a:latin typeface="Calibri"/>
                <a:cs typeface="Calibri"/>
              </a:rPr>
              <a:t>is</a:t>
            </a:r>
            <a:r>
              <a:rPr sz="2800" spc="75" dirty="0">
                <a:latin typeface="Calibri"/>
                <a:cs typeface="Calibri"/>
              </a:rPr>
              <a:t> </a:t>
            </a:r>
            <a:r>
              <a:rPr sz="2800" dirty="0">
                <a:latin typeface="Calibri"/>
                <a:cs typeface="Calibri"/>
              </a:rPr>
              <a:t>said</a:t>
            </a:r>
            <a:r>
              <a:rPr sz="2800" spc="85" dirty="0">
                <a:latin typeface="Calibri"/>
                <a:cs typeface="Calibri"/>
              </a:rPr>
              <a:t> </a:t>
            </a:r>
            <a:r>
              <a:rPr sz="2800" dirty="0">
                <a:latin typeface="Calibri"/>
                <a:cs typeface="Calibri"/>
              </a:rPr>
              <a:t>that</a:t>
            </a:r>
            <a:r>
              <a:rPr sz="2800" spc="95" dirty="0">
                <a:latin typeface="Calibri"/>
                <a:cs typeface="Calibri"/>
              </a:rPr>
              <a:t> </a:t>
            </a:r>
            <a:r>
              <a:rPr sz="2800" dirty="0">
                <a:latin typeface="Calibri"/>
                <a:cs typeface="Calibri"/>
              </a:rPr>
              <a:t>Fayol</a:t>
            </a:r>
            <a:r>
              <a:rPr sz="2800" spc="70" dirty="0">
                <a:latin typeface="Calibri"/>
                <a:cs typeface="Calibri"/>
              </a:rPr>
              <a:t> </a:t>
            </a:r>
            <a:r>
              <a:rPr sz="2800" dirty="0">
                <a:latin typeface="Calibri"/>
                <a:cs typeface="Calibri"/>
              </a:rPr>
              <a:t>established</a:t>
            </a:r>
            <a:r>
              <a:rPr sz="2800" spc="70" dirty="0">
                <a:latin typeface="Calibri"/>
                <a:cs typeface="Calibri"/>
              </a:rPr>
              <a:t> </a:t>
            </a:r>
            <a:r>
              <a:rPr sz="2800" dirty="0">
                <a:latin typeface="Calibri"/>
                <a:cs typeface="Calibri"/>
              </a:rPr>
              <a:t>the</a:t>
            </a:r>
            <a:r>
              <a:rPr sz="2800" spc="70" dirty="0">
                <a:latin typeface="Calibri"/>
                <a:cs typeface="Calibri"/>
              </a:rPr>
              <a:t> </a:t>
            </a:r>
            <a:r>
              <a:rPr sz="2800" spc="-10" dirty="0">
                <a:latin typeface="Calibri"/>
                <a:cs typeface="Calibri"/>
              </a:rPr>
              <a:t>pattern </a:t>
            </a:r>
            <a:r>
              <a:rPr sz="2800" dirty="0">
                <a:latin typeface="Calibri"/>
                <a:cs typeface="Calibri"/>
              </a:rPr>
              <a:t>of</a:t>
            </a:r>
            <a:r>
              <a:rPr sz="2800" spc="55" dirty="0">
                <a:latin typeface="Calibri"/>
                <a:cs typeface="Calibri"/>
              </a:rPr>
              <a:t> </a:t>
            </a:r>
            <a:r>
              <a:rPr sz="2800" dirty="0">
                <a:latin typeface="Calibri"/>
                <a:cs typeface="Calibri"/>
              </a:rPr>
              <a:t>management</a:t>
            </a:r>
            <a:r>
              <a:rPr sz="2800" spc="60" dirty="0">
                <a:latin typeface="Calibri"/>
                <a:cs typeface="Calibri"/>
              </a:rPr>
              <a:t> </a:t>
            </a:r>
            <a:r>
              <a:rPr sz="2800" dirty="0">
                <a:latin typeface="Calibri"/>
                <a:cs typeface="Calibri"/>
              </a:rPr>
              <a:t>thought</a:t>
            </a:r>
            <a:r>
              <a:rPr sz="2800" spc="60" dirty="0">
                <a:latin typeface="Calibri"/>
                <a:cs typeface="Calibri"/>
              </a:rPr>
              <a:t> </a:t>
            </a:r>
            <a:r>
              <a:rPr sz="2800" dirty="0">
                <a:latin typeface="Calibri"/>
                <a:cs typeface="Calibri"/>
              </a:rPr>
              <a:t>and</a:t>
            </a:r>
            <a:r>
              <a:rPr sz="2800" spc="70" dirty="0">
                <a:latin typeface="Calibri"/>
                <a:cs typeface="Calibri"/>
              </a:rPr>
              <a:t> </a:t>
            </a:r>
            <a:r>
              <a:rPr sz="2800" dirty="0">
                <a:latin typeface="Calibri"/>
                <a:cs typeface="Calibri"/>
              </a:rPr>
              <a:t>practice.</a:t>
            </a:r>
            <a:r>
              <a:rPr sz="2800" spc="70" dirty="0">
                <a:latin typeface="Calibri"/>
                <a:cs typeface="Calibri"/>
              </a:rPr>
              <a:t> </a:t>
            </a:r>
            <a:r>
              <a:rPr sz="2800" dirty="0">
                <a:latin typeface="Calibri"/>
                <a:cs typeface="Calibri"/>
              </a:rPr>
              <a:t>Even</a:t>
            </a:r>
            <a:r>
              <a:rPr sz="2800" spc="45" dirty="0">
                <a:latin typeface="Calibri"/>
                <a:cs typeface="Calibri"/>
              </a:rPr>
              <a:t> </a:t>
            </a:r>
            <a:r>
              <a:rPr sz="2800" spc="-10" dirty="0">
                <a:latin typeface="Calibri"/>
                <a:cs typeface="Calibri"/>
              </a:rPr>
              <a:t>today, </a:t>
            </a:r>
            <a:r>
              <a:rPr sz="2800" dirty="0">
                <a:latin typeface="Calibri"/>
                <a:cs typeface="Calibri"/>
              </a:rPr>
              <a:t>management</a:t>
            </a:r>
            <a:r>
              <a:rPr sz="2800" spc="-90" dirty="0">
                <a:latin typeface="Calibri"/>
                <a:cs typeface="Calibri"/>
              </a:rPr>
              <a:t> </a:t>
            </a:r>
            <a:r>
              <a:rPr sz="2800" dirty="0">
                <a:latin typeface="Calibri"/>
                <a:cs typeface="Calibri"/>
              </a:rPr>
              <a:t>process</a:t>
            </a:r>
            <a:r>
              <a:rPr sz="2800" spc="-70" dirty="0">
                <a:latin typeface="Calibri"/>
                <a:cs typeface="Calibri"/>
              </a:rPr>
              <a:t> </a:t>
            </a:r>
            <a:r>
              <a:rPr sz="2800" dirty="0">
                <a:latin typeface="Calibri"/>
                <a:cs typeface="Calibri"/>
              </a:rPr>
              <a:t>has</a:t>
            </a:r>
            <a:r>
              <a:rPr sz="2800" spc="-60" dirty="0">
                <a:latin typeface="Calibri"/>
                <a:cs typeface="Calibri"/>
              </a:rPr>
              <a:t> </a:t>
            </a:r>
            <a:r>
              <a:rPr sz="2800" dirty="0">
                <a:latin typeface="Calibri"/>
                <a:cs typeface="Calibri"/>
              </a:rPr>
              <a:t>general</a:t>
            </a:r>
            <a:r>
              <a:rPr sz="2800" spc="-120" dirty="0">
                <a:latin typeface="Calibri"/>
                <a:cs typeface="Calibri"/>
              </a:rPr>
              <a:t> </a:t>
            </a:r>
            <a:r>
              <a:rPr sz="2800" spc="-10" dirty="0">
                <a:latin typeface="Calibri"/>
                <a:cs typeface="Calibri"/>
              </a:rPr>
              <a:t>recognition</a:t>
            </a:r>
            <a:endParaRPr sz="2800">
              <a:latin typeface="Calibri"/>
              <a:cs typeface="Calibri"/>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8817" y="1295400"/>
            <a:ext cx="8080375" cy="5245667"/>
          </a:xfrm>
          <a:prstGeom prst="rect">
            <a:avLst/>
          </a:prstGeom>
        </p:spPr>
        <p:txBody>
          <a:bodyPr vert="horz" wrap="square" lIns="0" tIns="13335" rIns="0" bIns="0" rtlCol="0">
            <a:spAutoFit/>
          </a:bodyPr>
          <a:lstStyle/>
          <a:p>
            <a:pPr marL="527685" indent="-515620" algn="just">
              <a:lnSpc>
                <a:spcPts val="2375"/>
              </a:lnSpc>
              <a:spcBef>
                <a:spcPts val="5"/>
              </a:spcBef>
              <a:buAutoNum type="arabicPeriod"/>
              <a:tabLst>
                <a:tab pos="527685" algn="l"/>
                <a:tab pos="528320" algn="l"/>
              </a:tabLst>
            </a:pPr>
            <a:r>
              <a:rPr sz="2400" b="1" dirty="0" smtClean="0">
                <a:uFill>
                  <a:solidFill>
                    <a:srgbClr val="000000"/>
                  </a:solidFill>
                </a:uFill>
                <a:latin typeface="Calibri"/>
                <a:cs typeface="Calibri"/>
              </a:rPr>
              <a:t>Division</a:t>
            </a:r>
            <a:r>
              <a:rPr sz="2400" b="1" spc="100" dirty="0" smtClean="0">
                <a:uFill>
                  <a:solidFill>
                    <a:srgbClr val="000000"/>
                  </a:solidFill>
                </a:uFill>
                <a:latin typeface="Calibri"/>
                <a:cs typeface="Calibri"/>
              </a:rPr>
              <a:t> </a:t>
            </a:r>
            <a:r>
              <a:rPr sz="2400" b="1" dirty="0">
                <a:uFill>
                  <a:solidFill>
                    <a:srgbClr val="000000"/>
                  </a:solidFill>
                </a:uFill>
                <a:latin typeface="Calibri"/>
                <a:cs typeface="Calibri"/>
              </a:rPr>
              <a:t>of</a:t>
            </a:r>
            <a:r>
              <a:rPr sz="2400" b="1" spc="85" dirty="0">
                <a:uFill>
                  <a:solidFill>
                    <a:srgbClr val="000000"/>
                  </a:solidFill>
                </a:uFill>
                <a:latin typeface="Calibri"/>
                <a:cs typeface="Calibri"/>
              </a:rPr>
              <a:t> </a:t>
            </a:r>
            <a:r>
              <a:rPr sz="2400" b="1" dirty="0">
                <a:uFill>
                  <a:solidFill>
                    <a:srgbClr val="000000"/>
                  </a:solidFill>
                </a:uFill>
                <a:latin typeface="Calibri"/>
                <a:cs typeface="Calibri"/>
              </a:rPr>
              <a:t>work:</a:t>
            </a:r>
            <a:r>
              <a:rPr sz="2400" b="1" spc="90" dirty="0">
                <a:uFill>
                  <a:solidFill>
                    <a:srgbClr val="000000"/>
                  </a:solidFill>
                </a:uFill>
                <a:latin typeface="Calibri"/>
                <a:cs typeface="Calibri"/>
              </a:rPr>
              <a:t> </a:t>
            </a:r>
            <a:r>
              <a:rPr sz="2200" dirty="0">
                <a:latin typeface="Calibri"/>
                <a:cs typeface="Calibri"/>
              </a:rPr>
              <a:t>Division</a:t>
            </a:r>
            <a:r>
              <a:rPr sz="2200" spc="95" dirty="0">
                <a:latin typeface="Calibri"/>
                <a:cs typeface="Calibri"/>
              </a:rPr>
              <a:t> </a:t>
            </a:r>
            <a:r>
              <a:rPr sz="2200" dirty="0">
                <a:latin typeface="Calibri"/>
                <a:cs typeface="Calibri"/>
              </a:rPr>
              <a:t>of</a:t>
            </a:r>
            <a:r>
              <a:rPr sz="2200" spc="110" dirty="0">
                <a:latin typeface="Calibri"/>
                <a:cs typeface="Calibri"/>
              </a:rPr>
              <a:t> </a:t>
            </a:r>
            <a:r>
              <a:rPr sz="2200" dirty="0">
                <a:latin typeface="Calibri"/>
                <a:cs typeface="Calibri"/>
              </a:rPr>
              <a:t>work</a:t>
            </a:r>
            <a:r>
              <a:rPr sz="2200" spc="90" dirty="0">
                <a:latin typeface="Calibri"/>
                <a:cs typeface="Calibri"/>
              </a:rPr>
              <a:t> </a:t>
            </a:r>
            <a:r>
              <a:rPr sz="2200" dirty="0">
                <a:latin typeface="Calibri"/>
                <a:cs typeface="Calibri"/>
              </a:rPr>
              <a:t>or</a:t>
            </a:r>
            <a:r>
              <a:rPr sz="2200" spc="110" dirty="0">
                <a:latin typeface="Calibri"/>
                <a:cs typeface="Calibri"/>
              </a:rPr>
              <a:t> </a:t>
            </a:r>
            <a:r>
              <a:rPr sz="2200" dirty="0">
                <a:latin typeface="Calibri"/>
                <a:cs typeface="Calibri"/>
              </a:rPr>
              <a:t>specialization</a:t>
            </a:r>
            <a:r>
              <a:rPr sz="2200" spc="110" dirty="0">
                <a:latin typeface="Calibri"/>
                <a:cs typeface="Calibri"/>
              </a:rPr>
              <a:t> </a:t>
            </a:r>
            <a:r>
              <a:rPr sz="2200" dirty="0">
                <a:latin typeface="Calibri"/>
                <a:cs typeface="Calibri"/>
              </a:rPr>
              <a:t>alone</a:t>
            </a:r>
            <a:r>
              <a:rPr sz="2200" spc="120" dirty="0">
                <a:latin typeface="Calibri"/>
                <a:cs typeface="Calibri"/>
              </a:rPr>
              <a:t> </a:t>
            </a:r>
            <a:r>
              <a:rPr sz="2200" dirty="0">
                <a:latin typeface="Calibri"/>
                <a:cs typeface="Calibri"/>
              </a:rPr>
              <a:t>can</a:t>
            </a:r>
            <a:r>
              <a:rPr sz="2200" spc="85" dirty="0">
                <a:latin typeface="Calibri"/>
                <a:cs typeface="Calibri"/>
              </a:rPr>
              <a:t> </a:t>
            </a:r>
            <a:r>
              <a:rPr sz="2200" spc="-20" dirty="0" smtClean="0">
                <a:latin typeface="Calibri"/>
                <a:cs typeface="Calibri"/>
              </a:rPr>
              <a:t>give</a:t>
            </a:r>
            <a:r>
              <a:rPr lang="en-IN" sz="2200" dirty="0">
                <a:latin typeface="Calibri"/>
                <a:cs typeface="Calibri"/>
              </a:rPr>
              <a:t> </a:t>
            </a:r>
            <a:r>
              <a:rPr sz="2200" dirty="0" smtClean="0">
                <a:latin typeface="Calibri"/>
                <a:cs typeface="Calibri"/>
              </a:rPr>
              <a:t>maximum</a:t>
            </a:r>
            <a:r>
              <a:rPr sz="2200" spc="-40" dirty="0" smtClean="0">
                <a:latin typeface="Calibri"/>
                <a:cs typeface="Calibri"/>
              </a:rPr>
              <a:t> </a:t>
            </a:r>
            <a:r>
              <a:rPr sz="2200" spc="-10" dirty="0">
                <a:latin typeface="Calibri"/>
                <a:cs typeface="Calibri"/>
              </a:rPr>
              <a:t>productivity</a:t>
            </a:r>
            <a:r>
              <a:rPr sz="2200" spc="-70" dirty="0">
                <a:latin typeface="Calibri"/>
                <a:cs typeface="Calibri"/>
              </a:rPr>
              <a:t> </a:t>
            </a:r>
            <a:r>
              <a:rPr sz="2200" dirty="0">
                <a:latin typeface="Calibri"/>
                <a:cs typeface="Calibri"/>
              </a:rPr>
              <a:t>and</a:t>
            </a:r>
            <a:r>
              <a:rPr sz="2200" spc="5" dirty="0">
                <a:latin typeface="Calibri"/>
                <a:cs typeface="Calibri"/>
              </a:rPr>
              <a:t> </a:t>
            </a:r>
            <a:r>
              <a:rPr sz="2200" spc="-10" dirty="0" smtClean="0">
                <a:latin typeface="Calibri"/>
                <a:cs typeface="Calibri"/>
              </a:rPr>
              <a:t>efficiency</a:t>
            </a:r>
            <a:r>
              <a:rPr lang="en-IN" sz="2200" spc="-10" dirty="0" smtClean="0">
                <a:latin typeface="Calibri"/>
                <a:cs typeface="Calibri"/>
              </a:rPr>
              <a:t>.</a:t>
            </a:r>
          </a:p>
          <a:p>
            <a:pPr marL="527685" indent="-515620" algn="just">
              <a:lnSpc>
                <a:spcPts val="2375"/>
              </a:lnSpc>
              <a:spcBef>
                <a:spcPts val="5"/>
              </a:spcBef>
              <a:buAutoNum type="arabicPeriod"/>
              <a:tabLst>
                <a:tab pos="527685" algn="l"/>
                <a:tab pos="528320" algn="l"/>
              </a:tabLst>
            </a:pPr>
            <a:endParaRPr lang="en-IN" sz="2200" dirty="0">
              <a:latin typeface="Calibri"/>
              <a:cs typeface="Calibri"/>
            </a:endParaRPr>
          </a:p>
          <a:p>
            <a:pPr marL="527685" indent="-515620" algn="just">
              <a:lnSpc>
                <a:spcPts val="2375"/>
              </a:lnSpc>
              <a:spcBef>
                <a:spcPts val="5"/>
              </a:spcBef>
              <a:buAutoNum type="arabicPeriod"/>
              <a:tabLst>
                <a:tab pos="527685" algn="l"/>
                <a:tab pos="528320" algn="l"/>
              </a:tabLst>
            </a:pPr>
            <a:r>
              <a:rPr sz="2400" b="1" spc="-10" dirty="0" smtClean="0">
                <a:uFill>
                  <a:solidFill>
                    <a:srgbClr val="000000"/>
                  </a:solidFill>
                </a:uFill>
                <a:latin typeface="Calibri"/>
                <a:cs typeface="Calibri"/>
              </a:rPr>
              <a:t>Authority</a:t>
            </a:r>
            <a:r>
              <a:rPr sz="2400" b="1" dirty="0">
                <a:uFill>
                  <a:solidFill>
                    <a:srgbClr val="000000"/>
                  </a:solidFill>
                </a:uFill>
                <a:latin typeface="Calibri"/>
                <a:cs typeface="Calibri"/>
              </a:rPr>
              <a:t>	</a:t>
            </a:r>
            <a:r>
              <a:rPr sz="2400" b="1" spc="-25" dirty="0">
                <a:uFill>
                  <a:solidFill>
                    <a:srgbClr val="000000"/>
                  </a:solidFill>
                </a:uFill>
                <a:latin typeface="Calibri"/>
                <a:cs typeface="Calibri"/>
              </a:rPr>
              <a:t>and</a:t>
            </a:r>
            <a:r>
              <a:rPr sz="2400" b="1" dirty="0">
                <a:uFill>
                  <a:solidFill>
                    <a:srgbClr val="000000"/>
                  </a:solidFill>
                </a:uFill>
                <a:latin typeface="Calibri"/>
                <a:cs typeface="Calibri"/>
              </a:rPr>
              <a:t>	</a:t>
            </a:r>
            <a:r>
              <a:rPr sz="2400" b="1" spc="-10" dirty="0">
                <a:uFill>
                  <a:solidFill>
                    <a:srgbClr val="000000"/>
                  </a:solidFill>
                </a:uFill>
                <a:latin typeface="Calibri"/>
                <a:cs typeface="Calibri"/>
              </a:rPr>
              <a:t>Responsibility:</a:t>
            </a:r>
            <a:r>
              <a:rPr sz="2200" dirty="0">
                <a:uFill>
                  <a:solidFill>
                    <a:srgbClr val="000000"/>
                  </a:solidFill>
                </a:uFill>
                <a:latin typeface="Calibri"/>
                <a:cs typeface="Calibri"/>
              </a:rPr>
              <a:t>	</a:t>
            </a:r>
            <a:r>
              <a:rPr sz="2200" spc="-25" dirty="0">
                <a:latin typeface="Calibri"/>
                <a:cs typeface="Calibri"/>
              </a:rPr>
              <a:t>The</a:t>
            </a:r>
            <a:r>
              <a:rPr sz="2200" dirty="0">
                <a:latin typeface="Calibri"/>
                <a:cs typeface="Calibri"/>
              </a:rPr>
              <a:t>	</a:t>
            </a:r>
            <a:r>
              <a:rPr sz="2200" spc="-10" dirty="0">
                <a:latin typeface="Calibri"/>
                <a:cs typeface="Calibri"/>
              </a:rPr>
              <a:t>right</a:t>
            </a:r>
            <a:r>
              <a:rPr sz="2200" dirty="0">
                <a:latin typeface="Calibri"/>
                <a:cs typeface="Calibri"/>
              </a:rPr>
              <a:t>	</a:t>
            </a:r>
            <a:r>
              <a:rPr sz="2200" spc="-25" dirty="0">
                <a:latin typeface="Calibri"/>
                <a:cs typeface="Calibri"/>
              </a:rPr>
              <a:t>to</a:t>
            </a:r>
            <a:r>
              <a:rPr sz="2200" dirty="0">
                <a:latin typeface="Calibri"/>
                <a:cs typeface="Calibri"/>
              </a:rPr>
              <a:t>	</a:t>
            </a:r>
            <a:r>
              <a:rPr sz="2200" spc="-20" dirty="0">
                <a:latin typeface="Calibri"/>
                <a:cs typeface="Calibri"/>
              </a:rPr>
              <a:t>give</a:t>
            </a:r>
            <a:r>
              <a:rPr sz="2200" dirty="0">
                <a:latin typeface="Calibri"/>
                <a:cs typeface="Calibri"/>
              </a:rPr>
              <a:t>	</a:t>
            </a:r>
            <a:r>
              <a:rPr sz="2200" spc="-10" dirty="0">
                <a:latin typeface="Calibri"/>
                <a:cs typeface="Calibri"/>
              </a:rPr>
              <a:t>order</a:t>
            </a:r>
            <a:r>
              <a:rPr sz="2200" dirty="0">
                <a:latin typeface="Calibri"/>
                <a:cs typeface="Calibri"/>
              </a:rPr>
              <a:t>	</a:t>
            </a:r>
            <a:r>
              <a:rPr sz="2200" spc="-25" dirty="0">
                <a:latin typeface="Calibri"/>
                <a:cs typeface="Calibri"/>
              </a:rPr>
              <a:t>is</a:t>
            </a:r>
            <a:r>
              <a:rPr sz="2200" dirty="0">
                <a:latin typeface="Calibri"/>
                <a:cs typeface="Calibri"/>
              </a:rPr>
              <a:t>	</a:t>
            </a:r>
            <a:r>
              <a:rPr sz="2200" spc="-10" dirty="0" smtClean="0">
                <a:latin typeface="Calibri"/>
                <a:cs typeface="Calibri"/>
              </a:rPr>
              <a:t>called</a:t>
            </a:r>
            <a:r>
              <a:rPr lang="en-IN" sz="2200" dirty="0">
                <a:latin typeface="Calibri"/>
                <a:cs typeface="Calibri"/>
              </a:rPr>
              <a:t> </a:t>
            </a:r>
            <a:r>
              <a:rPr sz="2200" spc="-20" dirty="0" smtClean="0">
                <a:latin typeface="Calibri"/>
                <a:cs typeface="Calibri"/>
              </a:rPr>
              <a:t>authority</a:t>
            </a:r>
            <a:r>
              <a:rPr sz="2200" spc="-20" dirty="0">
                <a:latin typeface="Calibri"/>
                <a:cs typeface="Calibri"/>
              </a:rPr>
              <a:t>.</a:t>
            </a:r>
            <a:r>
              <a:rPr sz="2200" spc="-90" dirty="0">
                <a:latin typeface="Calibri"/>
                <a:cs typeface="Calibri"/>
              </a:rPr>
              <a:t> </a:t>
            </a:r>
            <a:r>
              <a:rPr sz="2200" dirty="0">
                <a:latin typeface="Calibri"/>
                <a:cs typeface="Calibri"/>
              </a:rPr>
              <a:t>The</a:t>
            </a:r>
            <a:r>
              <a:rPr sz="2200" spc="-5" dirty="0">
                <a:latin typeface="Calibri"/>
                <a:cs typeface="Calibri"/>
              </a:rPr>
              <a:t> </a:t>
            </a:r>
            <a:r>
              <a:rPr sz="2200" spc="-10" dirty="0">
                <a:latin typeface="Calibri"/>
                <a:cs typeface="Calibri"/>
              </a:rPr>
              <a:t>obligation</a:t>
            </a:r>
            <a:r>
              <a:rPr sz="2200" spc="-55" dirty="0">
                <a:latin typeface="Calibri"/>
                <a:cs typeface="Calibri"/>
              </a:rPr>
              <a:t> </a:t>
            </a:r>
            <a:r>
              <a:rPr sz="2200" dirty="0">
                <a:latin typeface="Calibri"/>
                <a:cs typeface="Calibri"/>
              </a:rPr>
              <a:t>to</a:t>
            </a:r>
            <a:r>
              <a:rPr sz="2200" spc="-15" dirty="0">
                <a:latin typeface="Calibri"/>
                <a:cs typeface="Calibri"/>
              </a:rPr>
              <a:t> </a:t>
            </a:r>
            <a:r>
              <a:rPr sz="2200" dirty="0">
                <a:latin typeface="Calibri"/>
                <a:cs typeface="Calibri"/>
              </a:rPr>
              <a:t>accomplish</a:t>
            </a:r>
            <a:r>
              <a:rPr sz="2200" spc="-80" dirty="0">
                <a:latin typeface="Calibri"/>
                <a:cs typeface="Calibri"/>
              </a:rPr>
              <a:t> </a:t>
            </a:r>
            <a:r>
              <a:rPr sz="2200" dirty="0">
                <a:latin typeface="Calibri"/>
                <a:cs typeface="Calibri"/>
              </a:rPr>
              <a:t>is</a:t>
            </a:r>
            <a:r>
              <a:rPr sz="2200" spc="-5" dirty="0">
                <a:latin typeface="Calibri"/>
                <a:cs typeface="Calibri"/>
              </a:rPr>
              <a:t> </a:t>
            </a:r>
            <a:r>
              <a:rPr sz="2200" dirty="0">
                <a:latin typeface="Calibri"/>
                <a:cs typeface="Calibri"/>
              </a:rPr>
              <a:t>called</a:t>
            </a:r>
            <a:r>
              <a:rPr sz="2200" spc="-35" dirty="0">
                <a:latin typeface="Calibri"/>
                <a:cs typeface="Calibri"/>
              </a:rPr>
              <a:t> </a:t>
            </a:r>
            <a:r>
              <a:rPr sz="2200" spc="-10" dirty="0" smtClean="0">
                <a:latin typeface="Calibri"/>
                <a:cs typeface="Calibri"/>
              </a:rPr>
              <a:t>responsibility</a:t>
            </a:r>
            <a:r>
              <a:rPr lang="en-IN" sz="2200" spc="-10" dirty="0" smtClean="0">
                <a:latin typeface="Calibri"/>
                <a:cs typeface="Calibri"/>
              </a:rPr>
              <a:t>.</a:t>
            </a:r>
          </a:p>
          <a:p>
            <a:pPr marL="527685" indent="-515620" algn="just">
              <a:lnSpc>
                <a:spcPts val="2375"/>
              </a:lnSpc>
              <a:spcBef>
                <a:spcPts val="5"/>
              </a:spcBef>
              <a:buAutoNum type="arabicPeriod"/>
              <a:tabLst>
                <a:tab pos="527685" algn="l"/>
                <a:tab pos="528320" algn="l"/>
              </a:tabLst>
            </a:pPr>
            <a:endParaRPr sz="2200" dirty="0">
              <a:latin typeface="Calibri"/>
              <a:cs typeface="Calibri"/>
            </a:endParaRPr>
          </a:p>
          <a:p>
            <a:pPr marL="514984" indent="-515620" algn="just">
              <a:lnSpc>
                <a:spcPts val="2375"/>
              </a:lnSpc>
              <a:spcBef>
                <a:spcPts val="5"/>
              </a:spcBef>
              <a:buFont typeface="+mj-lt"/>
              <a:buAutoNum type="arabicPeriod"/>
              <a:tabLst>
                <a:tab pos="514984" algn="l"/>
                <a:tab pos="515620" algn="l"/>
              </a:tabLst>
            </a:pPr>
            <a:r>
              <a:rPr sz="2400" b="1" dirty="0">
                <a:uFill>
                  <a:solidFill>
                    <a:srgbClr val="000000"/>
                  </a:solidFill>
                </a:uFill>
                <a:latin typeface="Calibri"/>
                <a:cs typeface="Calibri"/>
              </a:rPr>
              <a:t>Discipline:</a:t>
            </a:r>
            <a:r>
              <a:rPr sz="2400" b="1" spc="204" dirty="0">
                <a:latin typeface="Calibri"/>
                <a:cs typeface="Calibri"/>
              </a:rPr>
              <a:t> </a:t>
            </a:r>
            <a:r>
              <a:rPr sz="2200" dirty="0">
                <a:latin typeface="Calibri"/>
                <a:cs typeface="Calibri"/>
              </a:rPr>
              <a:t>The</a:t>
            </a:r>
            <a:r>
              <a:rPr sz="2200" spc="200" dirty="0">
                <a:latin typeface="Calibri"/>
                <a:cs typeface="Calibri"/>
              </a:rPr>
              <a:t> </a:t>
            </a:r>
            <a:r>
              <a:rPr sz="2200" dirty="0">
                <a:latin typeface="Calibri"/>
                <a:cs typeface="Calibri"/>
              </a:rPr>
              <a:t>objectives,</a:t>
            </a:r>
            <a:r>
              <a:rPr sz="2200" spc="215" dirty="0">
                <a:latin typeface="Calibri"/>
                <a:cs typeface="Calibri"/>
              </a:rPr>
              <a:t> </a:t>
            </a:r>
            <a:r>
              <a:rPr sz="2200" dirty="0">
                <a:latin typeface="Calibri"/>
                <a:cs typeface="Calibri"/>
              </a:rPr>
              <a:t>rules</a:t>
            </a:r>
            <a:r>
              <a:rPr sz="2200" spc="195" dirty="0">
                <a:latin typeface="Calibri"/>
                <a:cs typeface="Calibri"/>
              </a:rPr>
              <a:t> </a:t>
            </a:r>
            <a:r>
              <a:rPr sz="2200" dirty="0">
                <a:latin typeface="Calibri"/>
                <a:cs typeface="Calibri"/>
              </a:rPr>
              <a:t>and</a:t>
            </a:r>
            <a:r>
              <a:rPr sz="2200" spc="185" dirty="0">
                <a:latin typeface="Calibri"/>
                <a:cs typeface="Calibri"/>
              </a:rPr>
              <a:t> </a:t>
            </a:r>
            <a:r>
              <a:rPr sz="2200" dirty="0">
                <a:latin typeface="Calibri"/>
                <a:cs typeface="Calibri"/>
              </a:rPr>
              <a:t>regulations,</a:t>
            </a:r>
            <a:r>
              <a:rPr sz="2200" spc="200" dirty="0">
                <a:latin typeface="Calibri"/>
                <a:cs typeface="Calibri"/>
              </a:rPr>
              <a:t> </a:t>
            </a:r>
            <a:r>
              <a:rPr sz="2200" dirty="0">
                <a:latin typeface="Calibri"/>
                <a:cs typeface="Calibri"/>
              </a:rPr>
              <a:t>the</a:t>
            </a:r>
            <a:r>
              <a:rPr sz="2200" spc="180" dirty="0">
                <a:latin typeface="Calibri"/>
                <a:cs typeface="Calibri"/>
              </a:rPr>
              <a:t> </a:t>
            </a:r>
            <a:r>
              <a:rPr sz="2200" dirty="0">
                <a:latin typeface="Calibri"/>
                <a:cs typeface="Calibri"/>
              </a:rPr>
              <a:t>policies</a:t>
            </a:r>
            <a:r>
              <a:rPr sz="2200" spc="200" dirty="0">
                <a:latin typeface="Calibri"/>
                <a:cs typeface="Calibri"/>
              </a:rPr>
              <a:t> </a:t>
            </a:r>
            <a:r>
              <a:rPr sz="2200" spc="-25" dirty="0" smtClean="0">
                <a:latin typeface="Calibri"/>
                <a:cs typeface="Calibri"/>
              </a:rPr>
              <a:t>and</a:t>
            </a:r>
            <a:r>
              <a:rPr lang="en-IN" sz="2200" dirty="0">
                <a:latin typeface="Calibri"/>
                <a:cs typeface="Calibri"/>
              </a:rPr>
              <a:t> </a:t>
            </a:r>
            <a:r>
              <a:rPr sz="2200" spc="-10" dirty="0" smtClean="0">
                <a:latin typeface="Calibri"/>
                <a:cs typeface="Calibri"/>
              </a:rPr>
              <a:t>procedures</a:t>
            </a:r>
            <a:r>
              <a:rPr sz="2200" spc="-80" dirty="0" smtClean="0">
                <a:latin typeface="Calibri"/>
                <a:cs typeface="Calibri"/>
              </a:rPr>
              <a:t> </a:t>
            </a:r>
            <a:r>
              <a:rPr sz="2200" dirty="0">
                <a:latin typeface="Calibri"/>
                <a:cs typeface="Calibri"/>
              </a:rPr>
              <a:t>must</a:t>
            </a:r>
            <a:r>
              <a:rPr sz="2200" spc="-20" dirty="0">
                <a:latin typeface="Calibri"/>
                <a:cs typeface="Calibri"/>
              </a:rPr>
              <a:t> </a:t>
            </a:r>
            <a:r>
              <a:rPr sz="2200" dirty="0">
                <a:latin typeface="Calibri"/>
                <a:cs typeface="Calibri"/>
              </a:rPr>
              <a:t>be</a:t>
            </a:r>
            <a:r>
              <a:rPr sz="2200" spc="-25" dirty="0">
                <a:latin typeface="Calibri"/>
                <a:cs typeface="Calibri"/>
              </a:rPr>
              <a:t> </a:t>
            </a:r>
            <a:r>
              <a:rPr sz="2200" dirty="0">
                <a:latin typeface="Calibri"/>
                <a:cs typeface="Calibri"/>
              </a:rPr>
              <a:t>honoured</a:t>
            </a:r>
            <a:r>
              <a:rPr sz="2200" spc="-50" dirty="0">
                <a:latin typeface="Calibri"/>
                <a:cs typeface="Calibri"/>
              </a:rPr>
              <a:t> </a:t>
            </a:r>
            <a:r>
              <a:rPr sz="2200" dirty="0">
                <a:latin typeface="Calibri"/>
                <a:cs typeface="Calibri"/>
              </a:rPr>
              <a:t>by</a:t>
            </a:r>
            <a:r>
              <a:rPr sz="2200" spc="-20" dirty="0">
                <a:latin typeface="Calibri"/>
                <a:cs typeface="Calibri"/>
              </a:rPr>
              <a:t> </a:t>
            </a:r>
            <a:r>
              <a:rPr sz="2200" dirty="0">
                <a:latin typeface="Calibri"/>
                <a:cs typeface="Calibri"/>
              </a:rPr>
              <a:t>each</a:t>
            </a:r>
            <a:r>
              <a:rPr sz="2200" spc="-35" dirty="0">
                <a:latin typeface="Calibri"/>
                <a:cs typeface="Calibri"/>
              </a:rPr>
              <a:t> </a:t>
            </a:r>
            <a:r>
              <a:rPr sz="2200" dirty="0">
                <a:latin typeface="Calibri"/>
                <a:cs typeface="Calibri"/>
              </a:rPr>
              <a:t>member</a:t>
            </a:r>
            <a:r>
              <a:rPr sz="2200" spc="-50" dirty="0">
                <a:latin typeface="Calibri"/>
                <a:cs typeface="Calibri"/>
              </a:rPr>
              <a:t> </a:t>
            </a:r>
            <a:r>
              <a:rPr sz="2200" dirty="0">
                <a:latin typeface="Calibri"/>
                <a:cs typeface="Calibri"/>
              </a:rPr>
              <a:t>of</a:t>
            </a:r>
            <a:r>
              <a:rPr sz="2200" spc="-5" dirty="0">
                <a:latin typeface="Calibri"/>
                <a:cs typeface="Calibri"/>
              </a:rPr>
              <a:t> </a:t>
            </a:r>
            <a:r>
              <a:rPr lang="en-IN" sz="2200" spc="-5" dirty="0" smtClean="0">
                <a:latin typeface="Calibri"/>
                <a:cs typeface="Calibri"/>
              </a:rPr>
              <a:t>the </a:t>
            </a:r>
            <a:r>
              <a:rPr lang="en-IN" sz="2200" spc="-35" dirty="0" smtClean="0">
                <a:latin typeface="Calibri"/>
                <a:cs typeface="Calibri"/>
              </a:rPr>
              <a:t> </a:t>
            </a:r>
            <a:r>
              <a:rPr sz="2200" spc="-10" dirty="0" smtClean="0">
                <a:latin typeface="Calibri"/>
                <a:cs typeface="Calibri"/>
              </a:rPr>
              <a:t>organization</a:t>
            </a:r>
            <a:r>
              <a:rPr lang="en-IN" sz="2200" spc="-10" dirty="0" smtClean="0">
                <a:latin typeface="Calibri"/>
                <a:cs typeface="Calibri"/>
              </a:rPr>
              <a:t>.</a:t>
            </a:r>
          </a:p>
          <a:p>
            <a:pPr marL="514984" indent="-515620" algn="just">
              <a:lnSpc>
                <a:spcPts val="2375"/>
              </a:lnSpc>
              <a:spcBef>
                <a:spcPts val="5"/>
              </a:spcBef>
              <a:buFont typeface="+mj-lt"/>
              <a:buAutoNum type="arabicPeriod"/>
              <a:tabLst>
                <a:tab pos="514984" algn="l"/>
                <a:tab pos="515620" algn="l"/>
              </a:tabLst>
            </a:pPr>
            <a:endParaRPr lang="en-IN" sz="2200" spc="-10" dirty="0" smtClean="0">
              <a:latin typeface="Calibri"/>
              <a:cs typeface="Calibri"/>
            </a:endParaRPr>
          </a:p>
          <a:p>
            <a:pPr marL="514984" indent="-515620" algn="just">
              <a:lnSpc>
                <a:spcPts val="2375"/>
              </a:lnSpc>
              <a:spcBef>
                <a:spcPts val="5"/>
              </a:spcBef>
              <a:buFont typeface="+mj-lt"/>
              <a:buAutoNum type="arabicPeriod"/>
              <a:tabLst>
                <a:tab pos="514984" algn="l"/>
                <a:tab pos="515620" algn="l"/>
              </a:tabLst>
            </a:pPr>
            <a:r>
              <a:rPr sz="2400" b="1" dirty="0" smtClean="0">
                <a:uFill>
                  <a:solidFill>
                    <a:srgbClr val="000000"/>
                  </a:solidFill>
                </a:uFill>
                <a:latin typeface="Calibri"/>
                <a:cs typeface="Calibri"/>
              </a:rPr>
              <a:t>Unity</a:t>
            </a:r>
            <a:r>
              <a:rPr sz="2400" b="1" spc="160" dirty="0" smtClean="0">
                <a:uFill>
                  <a:solidFill>
                    <a:srgbClr val="000000"/>
                  </a:solidFill>
                </a:uFill>
                <a:latin typeface="Calibri"/>
                <a:cs typeface="Calibri"/>
              </a:rPr>
              <a:t> </a:t>
            </a:r>
            <a:r>
              <a:rPr sz="2400" b="1" dirty="0">
                <a:uFill>
                  <a:solidFill>
                    <a:srgbClr val="000000"/>
                  </a:solidFill>
                </a:uFill>
                <a:latin typeface="Calibri"/>
                <a:cs typeface="Calibri"/>
              </a:rPr>
              <a:t>of</a:t>
            </a:r>
            <a:r>
              <a:rPr sz="2400" b="1" spc="175" dirty="0">
                <a:uFill>
                  <a:solidFill>
                    <a:srgbClr val="000000"/>
                  </a:solidFill>
                </a:uFill>
                <a:latin typeface="Calibri"/>
                <a:cs typeface="Calibri"/>
              </a:rPr>
              <a:t> </a:t>
            </a:r>
            <a:r>
              <a:rPr sz="2400" b="1" dirty="0">
                <a:uFill>
                  <a:solidFill>
                    <a:srgbClr val="000000"/>
                  </a:solidFill>
                </a:uFill>
                <a:latin typeface="Calibri"/>
                <a:cs typeface="Calibri"/>
              </a:rPr>
              <a:t>Command:</a:t>
            </a:r>
            <a:r>
              <a:rPr sz="2400" b="1" spc="160" dirty="0">
                <a:latin typeface="Calibri"/>
                <a:cs typeface="Calibri"/>
              </a:rPr>
              <a:t> </a:t>
            </a:r>
            <a:r>
              <a:rPr sz="2200" dirty="0">
                <a:latin typeface="Calibri"/>
                <a:cs typeface="Calibri"/>
              </a:rPr>
              <a:t>In</a:t>
            </a:r>
            <a:r>
              <a:rPr sz="2200" spc="145" dirty="0">
                <a:latin typeface="Calibri"/>
                <a:cs typeface="Calibri"/>
              </a:rPr>
              <a:t> </a:t>
            </a:r>
            <a:r>
              <a:rPr sz="2200" dirty="0">
                <a:latin typeface="Calibri"/>
                <a:cs typeface="Calibri"/>
              </a:rPr>
              <a:t>order</a:t>
            </a:r>
            <a:r>
              <a:rPr sz="2200" spc="180" dirty="0">
                <a:latin typeface="Calibri"/>
                <a:cs typeface="Calibri"/>
              </a:rPr>
              <a:t> </a:t>
            </a:r>
            <a:r>
              <a:rPr sz="2200" dirty="0">
                <a:latin typeface="Calibri"/>
                <a:cs typeface="Calibri"/>
              </a:rPr>
              <a:t>to</a:t>
            </a:r>
            <a:r>
              <a:rPr sz="2200" spc="185" dirty="0">
                <a:latin typeface="Calibri"/>
                <a:cs typeface="Calibri"/>
              </a:rPr>
              <a:t> </a:t>
            </a:r>
            <a:r>
              <a:rPr sz="2200" dirty="0">
                <a:latin typeface="Calibri"/>
                <a:cs typeface="Calibri"/>
              </a:rPr>
              <a:t>avoid</a:t>
            </a:r>
            <a:r>
              <a:rPr sz="2200" spc="140" dirty="0">
                <a:latin typeface="Calibri"/>
                <a:cs typeface="Calibri"/>
              </a:rPr>
              <a:t> </a:t>
            </a:r>
            <a:r>
              <a:rPr sz="2200" dirty="0">
                <a:latin typeface="Calibri"/>
                <a:cs typeface="Calibri"/>
              </a:rPr>
              <a:t>any</a:t>
            </a:r>
            <a:r>
              <a:rPr sz="2200" spc="160" dirty="0">
                <a:latin typeface="Calibri"/>
                <a:cs typeface="Calibri"/>
              </a:rPr>
              <a:t> </a:t>
            </a:r>
            <a:r>
              <a:rPr sz="2200" dirty="0">
                <a:latin typeface="Calibri"/>
                <a:cs typeface="Calibri"/>
              </a:rPr>
              <a:t>possible</a:t>
            </a:r>
            <a:r>
              <a:rPr sz="2200" spc="155" dirty="0">
                <a:latin typeface="Calibri"/>
                <a:cs typeface="Calibri"/>
              </a:rPr>
              <a:t> </a:t>
            </a:r>
            <a:r>
              <a:rPr sz="2200" dirty="0">
                <a:latin typeface="Calibri"/>
                <a:cs typeface="Calibri"/>
              </a:rPr>
              <a:t>confusion</a:t>
            </a:r>
            <a:r>
              <a:rPr sz="2200" spc="155" dirty="0">
                <a:latin typeface="Calibri"/>
                <a:cs typeface="Calibri"/>
              </a:rPr>
              <a:t> </a:t>
            </a:r>
            <a:r>
              <a:rPr sz="2200" spc="-25" dirty="0">
                <a:latin typeface="Calibri"/>
                <a:cs typeface="Calibri"/>
              </a:rPr>
              <a:t>and </a:t>
            </a:r>
            <a:r>
              <a:rPr sz="2200" dirty="0">
                <a:latin typeface="Calibri"/>
                <a:cs typeface="Calibri"/>
              </a:rPr>
              <a:t>conflict,</a:t>
            </a:r>
            <a:r>
              <a:rPr sz="2200" spc="360" dirty="0">
                <a:latin typeface="Calibri"/>
                <a:cs typeface="Calibri"/>
              </a:rPr>
              <a:t> </a:t>
            </a:r>
            <a:r>
              <a:rPr sz="2200" dirty="0">
                <a:latin typeface="Calibri"/>
                <a:cs typeface="Calibri"/>
              </a:rPr>
              <a:t>each</a:t>
            </a:r>
            <a:r>
              <a:rPr sz="2200" spc="355" dirty="0">
                <a:latin typeface="Calibri"/>
                <a:cs typeface="Calibri"/>
              </a:rPr>
              <a:t> </a:t>
            </a:r>
            <a:r>
              <a:rPr sz="2200" dirty="0">
                <a:latin typeface="Calibri"/>
                <a:cs typeface="Calibri"/>
              </a:rPr>
              <a:t>member</a:t>
            </a:r>
            <a:r>
              <a:rPr sz="2200" spc="375" dirty="0">
                <a:latin typeface="Calibri"/>
                <a:cs typeface="Calibri"/>
              </a:rPr>
              <a:t> </a:t>
            </a:r>
            <a:r>
              <a:rPr sz="2200" dirty="0">
                <a:latin typeface="Calibri"/>
                <a:cs typeface="Calibri"/>
              </a:rPr>
              <a:t>of</a:t>
            </a:r>
            <a:r>
              <a:rPr sz="2200" spc="380" dirty="0">
                <a:latin typeface="Calibri"/>
                <a:cs typeface="Calibri"/>
              </a:rPr>
              <a:t> </a:t>
            </a:r>
            <a:r>
              <a:rPr sz="2200" dirty="0">
                <a:latin typeface="Calibri"/>
                <a:cs typeface="Calibri"/>
              </a:rPr>
              <a:t>an</a:t>
            </a:r>
            <a:r>
              <a:rPr sz="2200" spc="375" dirty="0">
                <a:latin typeface="Calibri"/>
                <a:cs typeface="Calibri"/>
              </a:rPr>
              <a:t> </a:t>
            </a:r>
            <a:r>
              <a:rPr sz="2200" dirty="0">
                <a:latin typeface="Calibri"/>
                <a:cs typeface="Calibri"/>
              </a:rPr>
              <a:t>organization</a:t>
            </a:r>
            <a:r>
              <a:rPr sz="2200" spc="385" dirty="0">
                <a:latin typeface="Calibri"/>
                <a:cs typeface="Calibri"/>
              </a:rPr>
              <a:t> </a:t>
            </a:r>
            <a:r>
              <a:rPr sz="2200" dirty="0">
                <a:latin typeface="Calibri"/>
                <a:cs typeface="Calibri"/>
              </a:rPr>
              <a:t>must</a:t>
            </a:r>
            <a:r>
              <a:rPr sz="2200" spc="370" dirty="0">
                <a:latin typeface="Calibri"/>
                <a:cs typeface="Calibri"/>
              </a:rPr>
              <a:t> </a:t>
            </a:r>
            <a:r>
              <a:rPr sz="2200" dirty="0" smtClean="0">
                <a:latin typeface="Calibri"/>
                <a:cs typeface="Calibri"/>
              </a:rPr>
              <a:t>receive</a:t>
            </a:r>
            <a:r>
              <a:rPr sz="2200" spc="365" dirty="0" smtClean="0">
                <a:latin typeface="Calibri"/>
                <a:cs typeface="Calibri"/>
              </a:rPr>
              <a:t> </a:t>
            </a:r>
            <a:r>
              <a:rPr sz="2200" spc="-10" dirty="0" smtClean="0">
                <a:latin typeface="Calibri"/>
                <a:cs typeface="Calibri"/>
              </a:rPr>
              <a:t>orders</a:t>
            </a:r>
            <a:r>
              <a:rPr lang="en-IN" sz="2200" spc="-10" dirty="0" smtClean="0">
                <a:latin typeface="Calibri"/>
                <a:cs typeface="Calibri"/>
              </a:rPr>
              <a:t> </a:t>
            </a:r>
            <a:r>
              <a:rPr sz="2200" dirty="0" smtClean="0">
                <a:latin typeface="Calibri"/>
                <a:cs typeface="Calibri"/>
              </a:rPr>
              <a:t>and</a:t>
            </a:r>
            <a:r>
              <a:rPr sz="2200" spc="-65" dirty="0" smtClean="0">
                <a:latin typeface="Calibri"/>
                <a:cs typeface="Calibri"/>
              </a:rPr>
              <a:t> </a:t>
            </a:r>
            <a:r>
              <a:rPr sz="2200" dirty="0">
                <a:latin typeface="Calibri"/>
                <a:cs typeface="Calibri"/>
              </a:rPr>
              <a:t>instructions</a:t>
            </a:r>
            <a:r>
              <a:rPr sz="2200" spc="-60" dirty="0">
                <a:latin typeface="Calibri"/>
                <a:cs typeface="Calibri"/>
              </a:rPr>
              <a:t> </a:t>
            </a:r>
            <a:r>
              <a:rPr sz="2200" dirty="0">
                <a:latin typeface="Calibri"/>
                <a:cs typeface="Calibri"/>
              </a:rPr>
              <a:t>only</a:t>
            </a:r>
            <a:r>
              <a:rPr sz="2200" spc="-60" dirty="0">
                <a:latin typeface="Calibri"/>
                <a:cs typeface="Calibri"/>
              </a:rPr>
              <a:t> </a:t>
            </a:r>
            <a:r>
              <a:rPr sz="2200" dirty="0">
                <a:latin typeface="Calibri"/>
                <a:cs typeface="Calibri"/>
              </a:rPr>
              <a:t>from</a:t>
            </a:r>
            <a:r>
              <a:rPr sz="2200" spc="-25" dirty="0">
                <a:latin typeface="Calibri"/>
                <a:cs typeface="Calibri"/>
              </a:rPr>
              <a:t> </a:t>
            </a:r>
            <a:r>
              <a:rPr sz="2200" dirty="0">
                <a:latin typeface="Calibri"/>
                <a:cs typeface="Calibri"/>
              </a:rPr>
              <a:t>one</a:t>
            </a:r>
            <a:r>
              <a:rPr sz="2200" spc="-40" dirty="0">
                <a:latin typeface="Calibri"/>
                <a:cs typeface="Calibri"/>
              </a:rPr>
              <a:t> </a:t>
            </a:r>
            <a:r>
              <a:rPr sz="2200" dirty="0">
                <a:latin typeface="Calibri"/>
                <a:cs typeface="Calibri"/>
              </a:rPr>
              <a:t>superior</a:t>
            </a:r>
            <a:r>
              <a:rPr sz="2200" spc="-60" dirty="0">
                <a:latin typeface="Calibri"/>
                <a:cs typeface="Calibri"/>
              </a:rPr>
              <a:t> </a:t>
            </a:r>
            <a:r>
              <a:rPr sz="2200" spc="-10" dirty="0">
                <a:latin typeface="Calibri"/>
                <a:cs typeface="Calibri"/>
              </a:rPr>
              <a:t>(boss</a:t>
            </a:r>
            <a:r>
              <a:rPr sz="2200" spc="-10" dirty="0" smtClean="0">
                <a:latin typeface="Calibri"/>
                <a:cs typeface="Calibri"/>
              </a:rPr>
              <a:t>).</a:t>
            </a:r>
            <a:endParaRPr lang="en-IN" sz="2200" spc="-10" dirty="0" smtClean="0">
              <a:latin typeface="Calibri"/>
              <a:cs typeface="Calibri"/>
            </a:endParaRPr>
          </a:p>
          <a:p>
            <a:pPr marL="514984" indent="-515620" algn="just">
              <a:lnSpc>
                <a:spcPts val="2375"/>
              </a:lnSpc>
              <a:spcBef>
                <a:spcPts val="5"/>
              </a:spcBef>
              <a:buFont typeface="+mj-lt"/>
              <a:buAutoNum type="arabicPeriod"/>
              <a:tabLst>
                <a:tab pos="514984" algn="l"/>
                <a:tab pos="515620" algn="l"/>
              </a:tabLst>
            </a:pPr>
            <a:endParaRPr sz="2200" dirty="0">
              <a:latin typeface="Calibri"/>
              <a:cs typeface="Calibri"/>
            </a:endParaRPr>
          </a:p>
          <a:p>
            <a:pPr marL="527685" indent="-515620" algn="just">
              <a:lnSpc>
                <a:spcPts val="2375"/>
              </a:lnSpc>
              <a:buAutoNum type="arabicPeriod"/>
              <a:tabLst>
                <a:tab pos="528320" algn="l"/>
              </a:tabLst>
            </a:pPr>
            <a:r>
              <a:rPr sz="2400" b="1" dirty="0">
                <a:uFill>
                  <a:solidFill>
                    <a:srgbClr val="000000"/>
                  </a:solidFill>
                </a:uFill>
                <a:latin typeface="Calibri"/>
                <a:cs typeface="Calibri"/>
              </a:rPr>
              <a:t>Unity</a:t>
            </a:r>
            <a:r>
              <a:rPr sz="2400" b="1" spc="459" dirty="0">
                <a:uFill>
                  <a:solidFill>
                    <a:srgbClr val="000000"/>
                  </a:solidFill>
                </a:uFill>
                <a:latin typeface="Calibri"/>
                <a:cs typeface="Calibri"/>
              </a:rPr>
              <a:t> </a:t>
            </a:r>
            <a:r>
              <a:rPr sz="2400" b="1" dirty="0">
                <a:uFill>
                  <a:solidFill>
                    <a:srgbClr val="000000"/>
                  </a:solidFill>
                </a:uFill>
                <a:latin typeface="Calibri"/>
                <a:cs typeface="Calibri"/>
              </a:rPr>
              <a:t>of</a:t>
            </a:r>
            <a:r>
              <a:rPr sz="2400" b="1" spc="459" dirty="0">
                <a:uFill>
                  <a:solidFill>
                    <a:srgbClr val="000000"/>
                  </a:solidFill>
                </a:uFill>
                <a:latin typeface="Calibri"/>
                <a:cs typeface="Calibri"/>
              </a:rPr>
              <a:t> </a:t>
            </a:r>
            <a:r>
              <a:rPr sz="2400" b="1" dirty="0">
                <a:uFill>
                  <a:solidFill>
                    <a:srgbClr val="000000"/>
                  </a:solidFill>
                </a:uFill>
                <a:latin typeface="Calibri"/>
                <a:cs typeface="Calibri"/>
              </a:rPr>
              <a:t>Direction:</a:t>
            </a:r>
            <a:r>
              <a:rPr sz="2400" b="1" spc="459" dirty="0">
                <a:uFill>
                  <a:solidFill>
                    <a:srgbClr val="000000"/>
                  </a:solidFill>
                </a:uFill>
                <a:latin typeface="Calibri"/>
                <a:cs typeface="Calibri"/>
              </a:rPr>
              <a:t> </a:t>
            </a:r>
            <a:r>
              <a:rPr sz="2200" dirty="0">
                <a:latin typeface="Calibri"/>
                <a:cs typeface="Calibri"/>
              </a:rPr>
              <a:t>All</a:t>
            </a:r>
            <a:r>
              <a:rPr sz="2200" spc="459" dirty="0">
                <a:latin typeface="Calibri"/>
                <a:cs typeface="Calibri"/>
              </a:rPr>
              <a:t> </a:t>
            </a:r>
            <a:r>
              <a:rPr sz="2200" dirty="0">
                <a:latin typeface="Calibri"/>
                <a:cs typeface="Calibri"/>
              </a:rPr>
              <a:t>members</a:t>
            </a:r>
            <a:r>
              <a:rPr sz="2200" spc="459" dirty="0">
                <a:latin typeface="Calibri"/>
                <a:cs typeface="Calibri"/>
              </a:rPr>
              <a:t> </a:t>
            </a:r>
            <a:r>
              <a:rPr sz="2200" dirty="0">
                <a:latin typeface="Calibri"/>
                <a:cs typeface="Calibri"/>
              </a:rPr>
              <a:t>of</a:t>
            </a:r>
            <a:r>
              <a:rPr sz="2200" spc="459" dirty="0">
                <a:latin typeface="Calibri"/>
                <a:cs typeface="Calibri"/>
              </a:rPr>
              <a:t> </a:t>
            </a:r>
            <a:r>
              <a:rPr sz="2200" dirty="0">
                <a:latin typeface="Calibri"/>
                <a:cs typeface="Calibri"/>
              </a:rPr>
              <a:t>an</a:t>
            </a:r>
            <a:r>
              <a:rPr sz="2200" spc="459" dirty="0">
                <a:latin typeface="Calibri"/>
                <a:cs typeface="Calibri"/>
              </a:rPr>
              <a:t> </a:t>
            </a:r>
            <a:r>
              <a:rPr sz="2200" dirty="0">
                <a:latin typeface="Calibri"/>
                <a:cs typeface="Calibri"/>
              </a:rPr>
              <a:t>organization</a:t>
            </a:r>
            <a:r>
              <a:rPr sz="2200" spc="480" dirty="0">
                <a:latin typeface="Calibri"/>
                <a:cs typeface="Calibri"/>
              </a:rPr>
              <a:t> </a:t>
            </a:r>
            <a:r>
              <a:rPr sz="2200" dirty="0">
                <a:latin typeface="Calibri"/>
                <a:cs typeface="Calibri"/>
              </a:rPr>
              <a:t>must</a:t>
            </a:r>
            <a:r>
              <a:rPr sz="2200" spc="490" dirty="0">
                <a:latin typeface="Calibri"/>
                <a:cs typeface="Calibri"/>
              </a:rPr>
              <a:t> </a:t>
            </a:r>
            <a:r>
              <a:rPr sz="2200" spc="-20" dirty="0" smtClean="0">
                <a:latin typeface="Calibri"/>
                <a:cs typeface="Calibri"/>
              </a:rPr>
              <a:t>work</a:t>
            </a:r>
            <a:r>
              <a:rPr lang="en-IN" sz="2200" dirty="0">
                <a:latin typeface="Calibri"/>
                <a:cs typeface="Calibri"/>
              </a:rPr>
              <a:t> </a:t>
            </a:r>
            <a:r>
              <a:rPr sz="2200" dirty="0" smtClean="0">
                <a:latin typeface="Calibri"/>
                <a:cs typeface="Calibri"/>
              </a:rPr>
              <a:t>together</a:t>
            </a:r>
            <a:r>
              <a:rPr sz="2200" spc="-65" dirty="0" smtClean="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accomplish</a:t>
            </a:r>
            <a:r>
              <a:rPr sz="2200" spc="-95" dirty="0">
                <a:latin typeface="Calibri"/>
                <a:cs typeface="Calibri"/>
              </a:rPr>
              <a:t> </a:t>
            </a:r>
            <a:r>
              <a:rPr sz="2200" dirty="0">
                <a:latin typeface="Calibri"/>
                <a:cs typeface="Calibri"/>
              </a:rPr>
              <a:t>common</a:t>
            </a:r>
            <a:r>
              <a:rPr sz="2200" spc="-80" dirty="0">
                <a:latin typeface="Calibri"/>
                <a:cs typeface="Calibri"/>
              </a:rPr>
              <a:t> </a:t>
            </a:r>
            <a:r>
              <a:rPr sz="2200" spc="-10" dirty="0">
                <a:latin typeface="Calibri"/>
                <a:cs typeface="Calibri"/>
              </a:rPr>
              <a:t>objectives</a:t>
            </a:r>
            <a:r>
              <a:rPr sz="2200" spc="-10" dirty="0" smtClean="0">
                <a:latin typeface="Calibri"/>
                <a:cs typeface="Calibri"/>
              </a:rPr>
              <a:t>.</a:t>
            </a:r>
            <a:endParaRPr sz="2200" dirty="0">
              <a:latin typeface="Calibri"/>
              <a:cs typeface="Calibri"/>
            </a:endParaRPr>
          </a:p>
        </p:txBody>
      </p:sp>
      <p:sp>
        <p:nvSpPr>
          <p:cNvPr id="3" name="TextBox 2"/>
          <p:cNvSpPr txBox="1"/>
          <p:nvPr/>
        </p:nvSpPr>
        <p:spPr>
          <a:xfrm>
            <a:off x="1143000" y="218182"/>
            <a:ext cx="6705600" cy="646331"/>
          </a:xfrm>
          <a:prstGeom prst="rect">
            <a:avLst/>
          </a:prstGeom>
          <a:noFill/>
        </p:spPr>
        <p:txBody>
          <a:bodyPr wrap="square" rtlCol="0">
            <a:spAutoFit/>
          </a:bodyPr>
          <a:lstStyle/>
          <a:p>
            <a:r>
              <a:rPr lang="en-IN" sz="3600" b="1" spc="-10" dirty="0" err="1" smtClean="0">
                <a:latin typeface="Calibri"/>
                <a:cs typeface="Calibri"/>
              </a:rPr>
              <a:t>Fayol's</a:t>
            </a:r>
            <a:r>
              <a:rPr lang="en-IN" sz="3600" b="1" spc="-35" dirty="0" smtClean="0">
                <a:latin typeface="Calibri"/>
                <a:cs typeface="Calibri"/>
              </a:rPr>
              <a:t> </a:t>
            </a:r>
            <a:r>
              <a:rPr lang="en-IN" sz="3600" b="1" dirty="0" smtClean="0">
                <a:latin typeface="Calibri"/>
                <a:cs typeface="Calibri"/>
              </a:rPr>
              <a:t>Principles</a:t>
            </a:r>
            <a:r>
              <a:rPr lang="en-IN" sz="3600" b="1" spc="-95" dirty="0" smtClean="0">
                <a:latin typeface="Calibri"/>
                <a:cs typeface="Calibri"/>
              </a:rPr>
              <a:t> </a:t>
            </a:r>
            <a:r>
              <a:rPr lang="en-IN" sz="3600" b="1" dirty="0" smtClean="0">
                <a:latin typeface="Calibri"/>
                <a:cs typeface="Calibri"/>
              </a:rPr>
              <a:t>of</a:t>
            </a:r>
            <a:r>
              <a:rPr lang="en-IN" sz="3600" b="1" spc="-25" dirty="0" smtClean="0">
                <a:latin typeface="Calibri"/>
                <a:cs typeface="Calibri"/>
              </a:rPr>
              <a:t> </a:t>
            </a:r>
            <a:r>
              <a:rPr lang="en-IN" sz="3600" b="1" spc="-10" dirty="0" smtClean="0">
                <a:latin typeface="Calibri"/>
                <a:cs typeface="Calibri"/>
              </a:rPr>
              <a:t>Management</a:t>
            </a:r>
            <a:endParaRPr lang="en-IN" sz="3600" dirty="0"/>
          </a:p>
        </p:txBody>
      </p:sp>
    </p:spTree>
    <p:extLst>
      <p:ext uri="{BB962C8B-B14F-4D97-AF65-F5344CB8AC3E}">
        <p14:creationId xmlns:p14="http://schemas.microsoft.com/office/powerpoint/2010/main" val="7707272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862" y="1295400"/>
            <a:ext cx="8080375" cy="5211298"/>
          </a:xfrm>
          <a:prstGeom prst="rect">
            <a:avLst/>
          </a:prstGeom>
        </p:spPr>
        <p:txBody>
          <a:bodyPr vert="horz" wrap="square" lIns="0" tIns="13335" rIns="0" bIns="0" rtlCol="0">
            <a:spAutoFit/>
          </a:bodyPr>
          <a:lstStyle/>
          <a:p>
            <a:pPr marL="469265" marR="5080" indent="-457200" algn="just">
              <a:lnSpc>
                <a:spcPct val="80000"/>
              </a:lnSpc>
              <a:spcBef>
                <a:spcPts val="535"/>
              </a:spcBef>
              <a:buAutoNum type="arabicPeriod" startAt="6"/>
              <a:tabLst>
                <a:tab pos="528320" algn="l"/>
              </a:tabLst>
            </a:pPr>
            <a:r>
              <a:rPr lang="en-GB" sz="2400" b="1" dirty="0" smtClean="0">
                <a:uFill>
                  <a:solidFill>
                    <a:srgbClr val="000000"/>
                  </a:solidFill>
                </a:uFill>
                <a:latin typeface="Calibri"/>
                <a:cs typeface="Calibri"/>
              </a:rPr>
              <a:t>Emphasis</a:t>
            </a:r>
            <a:r>
              <a:rPr lang="en-GB" sz="2400" b="1" spc="500" dirty="0" smtClean="0">
                <a:uFill>
                  <a:solidFill>
                    <a:srgbClr val="000000"/>
                  </a:solidFill>
                </a:uFill>
                <a:latin typeface="Calibri"/>
                <a:cs typeface="Calibri"/>
              </a:rPr>
              <a:t> </a:t>
            </a:r>
            <a:r>
              <a:rPr lang="en-GB" sz="2400" b="1" dirty="0" smtClean="0">
                <a:uFill>
                  <a:solidFill>
                    <a:srgbClr val="000000"/>
                  </a:solidFill>
                </a:uFill>
                <a:latin typeface="Calibri"/>
                <a:cs typeface="Calibri"/>
              </a:rPr>
              <a:t>on</a:t>
            </a:r>
            <a:r>
              <a:rPr lang="en-GB" sz="2400" b="1" spc="530" dirty="0" smtClean="0">
                <a:uFill>
                  <a:solidFill>
                    <a:srgbClr val="000000"/>
                  </a:solidFill>
                </a:uFill>
                <a:latin typeface="Calibri"/>
                <a:cs typeface="Calibri"/>
              </a:rPr>
              <a:t> </a:t>
            </a:r>
            <a:r>
              <a:rPr lang="en-GB" sz="2400" b="1" dirty="0" smtClean="0">
                <a:uFill>
                  <a:solidFill>
                    <a:srgbClr val="000000"/>
                  </a:solidFill>
                </a:uFill>
                <a:latin typeface="Calibri"/>
                <a:cs typeface="Calibri"/>
              </a:rPr>
              <a:t>Subordination</a:t>
            </a:r>
            <a:r>
              <a:rPr lang="en-GB" sz="2400" b="1" spc="535" dirty="0" smtClean="0">
                <a:uFill>
                  <a:solidFill>
                    <a:srgbClr val="000000"/>
                  </a:solidFill>
                </a:uFill>
                <a:latin typeface="Calibri"/>
                <a:cs typeface="Calibri"/>
              </a:rPr>
              <a:t> </a:t>
            </a:r>
            <a:r>
              <a:rPr lang="en-GB" sz="2400" b="1" dirty="0" smtClean="0">
                <a:uFill>
                  <a:solidFill>
                    <a:srgbClr val="000000"/>
                  </a:solidFill>
                </a:uFill>
                <a:latin typeface="Calibri"/>
                <a:cs typeface="Calibri"/>
              </a:rPr>
              <a:t>of</a:t>
            </a:r>
            <a:r>
              <a:rPr lang="en-GB" sz="2400" b="1" spc="535" dirty="0" smtClean="0">
                <a:uFill>
                  <a:solidFill>
                    <a:srgbClr val="000000"/>
                  </a:solidFill>
                </a:uFill>
                <a:latin typeface="Calibri"/>
                <a:cs typeface="Calibri"/>
              </a:rPr>
              <a:t> </a:t>
            </a:r>
            <a:r>
              <a:rPr lang="en-GB" sz="2400" b="1" dirty="0" smtClean="0">
                <a:uFill>
                  <a:solidFill>
                    <a:srgbClr val="000000"/>
                  </a:solidFill>
                </a:uFill>
                <a:latin typeface="Calibri"/>
                <a:cs typeface="Calibri"/>
              </a:rPr>
              <a:t>Personal</a:t>
            </a:r>
            <a:r>
              <a:rPr lang="en-GB" sz="2400" b="1" spc="500" dirty="0" smtClean="0">
                <a:uFill>
                  <a:solidFill>
                    <a:srgbClr val="000000"/>
                  </a:solidFill>
                </a:uFill>
                <a:latin typeface="Calibri"/>
                <a:cs typeface="Calibri"/>
              </a:rPr>
              <a:t> </a:t>
            </a:r>
            <a:r>
              <a:rPr lang="en-GB" sz="2400" b="1" dirty="0" smtClean="0">
                <a:uFill>
                  <a:solidFill>
                    <a:srgbClr val="000000"/>
                  </a:solidFill>
                </a:uFill>
                <a:latin typeface="Calibri"/>
                <a:cs typeface="Calibri"/>
              </a:rPr>
              <a:t>Interest</a:t>
            </a:r>
            <a:r>
              <a:rPr lang="en-GB" sz="2400" b="1" spc="540" dirty="0" smtClean="0">
                <a:uFill>
                  <a:solidFill>
                    <a:srgbClr val="000000"/>
                  </a:solidFill>
                </a:uFill>
                <a:latin typeface="Calibri"/>
                <a:cs typeface="Calibri"/>
              </a:rPr>
              <a:t> </a:t>
            </a:r>
            <a:r>
              <a:rPr lang="en-GB" sz="2400" b="1" dirty="0" smtClean="0">
                <a:uFill>
                  <a:solidFill>
                    <a:srgbClr val="000000"/>
                  </a:solidFill>
                </a:uFill>
                <a:latin typeface="Calibri"/>
                <a:cs typeface="Calibri"/>
              </a:rPr>
              <a:t>to</a:t>
            </a:r>
            <a:r>
              <a:rPr lang="en-GB" sz="2400" b="1" spc="520" dirty="0" smtClean="0">
                <a:uFill>
                  <a:solidFill>
                    <a:srgbClr val="000000"/>
                  </a:solidFill>
                </a:uFill>
                <a:latin typeface="Calibri"/>
                <a:cs typeface="Calibri"/>
              </a:rPr>
              <a:t> </a:t>
            </a:r>
            <a:r>
              <a:rPr lang="en-GB" sz="2400" b="1" dirty="0" smtClean="0">
                <a:uFill>
                  <a:solidFill>
                    <a:srgbClr val="000000"/>
                  </a:solidFill>
                </a:uFill>
                <a:latin typeface="Calibri"/>
                <a:cs typeface="Calibri"/>
              </a:rPr>
              <a:t>General</a:t>
            </a:r>
            <a:r>
              <a:rPr lang="en-GB" sz="2400" b="1" spc="509" dirty="0" smtClean="0">
                <a:uFill>
                  <a:solidFill>
                    <a:srgbClr val="000000"/>
                  </a:solidFill>
                </a:uFill>
                <a:latin typeface="Calibri"/>
                <a:cs typeface="Calibri"/>
              </a:rPr>
              <a:t> </a:t>
            </a:r>
            <a:r>
              <a:rPr lang="en-GB" sz="2400" b="1" spc="-25" dirty="0" smtClean="0">
                <a:uFill>
                  <a:solidFill>
                    <a:srgbClr val="000000"/>
                  </a:solidFill>
                </a:uFill>
                <a:latin typeface="Calibri"/>
                <a:cs typeface="Calibri"/>
              </a:rPr>
              <a:t>or</a:t>
            </a:r>
            <a:r>
              <a:rPr lang="en-GB" sz="2400" b="1" spc="-25" dirty="0" smtClean="0">
                <a:latin typeface="Calibri"/>
                <a:cs typeface="Calibri"/>
              </a:rPr>
              <a:t> 	</a:t>
            </a:r>
            <a:r>
              <a:rPr lang="en-GB" sz="2400" b="1" dirty="0" smtClean="0">
                <a:uFill>
                  <a:solidFill>
                    <a:srgbClr val="000000"/>
                  </a:solidFill>
                </a:uFill>
                <a:latin typeface="Calibri"/>
                <a:cs typeface="Calibri"/>
              </a:rPr>
              <a:t>Common</a:t>
            </a:r>
            <a:r>
              <a:rPr lang="en-GB" sz="2400" b="1" spc="475" dirty="0" smtClean="0">
                <a:uFill>
                  <a:solidFill>
                    <a:srgbClr val="000000"/>
                  </a:solidFill>
                </a:uFill>
                <a:latin typeface="Calibri"/>
                <a:cs typeface="Calibri"/>
              </a:rPr>
              <a:t> </a:t>
            </a:r>
            <a:r>
              <a:rPr lang="en-GB" sz="2400" b="1" dirty="0" smtClean="0">
                <a:uFill>
                  <a:solidFill>
                    <a:srgbClr val="000000"/>
                  </a:solidFill>
                </a:uFill>
                <a:latin typeface="Calibri"/>
                <a:cs typeface="Calibri"/>
              </a:rPr>
              <a:t>Interest:</a:t>
            </a:r>
            <a:r>
              <a:rPr lang="en-GB" sz="2400" b="1" spc="490" dirty="0" smtClean="0">
                <a:uFill>
                  <a:solidFill>
                    <a:srgbClr val="000000"/>
                  </a:solidFill>
                </a:uFill>
                <a:latin typeface="Calibri"/>
                <a:cs typeface="Calibri"/>
              </a:rPr>
              <a:t> </a:t>
            </a:r>
            <a:r>
              <a:rPr lang="en-GB" sz="2200" dirty="0" smtClean="0">
                <a:latin typeface="Calibri"/>
                <a:cs typeface="Calibri"/>
              </a:rPr>
              <a:t>This</a:t>
            </a:r>
            <a:r>
              <a:rPr lang="en-GB" sz="2200" spc="490" dirty="0" smtClean="0">
                <a:latin typeface="Calibri"/>
                <a:cs typeface="Calibri"/>
              </a:rPr>
              <a:t> </a:t>
            </a:r>
            <a:r>
              <a:rPr lang="en-GB" sz="2200" dirty="0" smtClean="0">
                <a:latin typeface="Calibri"/>
                <a:cs typeface="Calibri"/>
              </a:rPr>
              <a:t>is</a:t>
            </a:r>
            <a:r>
              <a:rPr lang="en-GB" sz="2200" spc="484" dirty="0" smtClean="0">
                <a:latin typeface="Calibri"/>
                <a:cs typeface="Calibri"/>
              </a:rPr>
              <a:t> </a:t>
            </a:r>
            <a:r>
              <a:rPr lang="en-GB" sz="2200" dirty="0" smtClean="0">
                <a:latin typeface="Calibri"/>
                <a:cs typeface="Calibri"/>
              </a:rPr>
              <a:t>also</a:t>
            </a:r>
            <a:r>
              <a:rPr lang="en-GB" sz="2200" spc="500" dirty="0" smtClean="0">
                <a:latin typeface="Calibri"/>
                <a:cs typeface="Calibri"/>
              </a:rPr>
              <a:t> </a:t>
            </a:r>
            <a:r>
              <a:rPr lang="en-GB" sz="2200" dirty="0" smtClean="0">
                <a:latin typeface="Calibri"/>
                <a:cs typeface="Calibri"/>
              </a:rPr>
              <a:t>called</a:t>
            </a:r>
            <a:r>
              <a:rPr lang="en-GB" sz="2200" spc="470" dirty="0" smtClean="0">
                <a:latin typeface="Calibri"/>
                <a:cs typeface="Calibri"/>
              </a:rPr>
              <a:t> </a:t>
            </a:r>
            <a:r>
              <a:rPr lang="en-GB" sz="2200" dirty="0" smtClean="0">
                <a:latin typeface="Calibri"/>
                <a:cs typeface="Calibri"/>
              </a:rPr>
              <a:t>principle</a:t>
            </a:r>
            <a:r>
              <a:rPr lang="en-GB" sz="2200" spc="495" dirty="0" smtClean="0">
                <a:latin typeface="Calibri"/>
                <a:cs typeface="Calibri"/>
              </a:rPr>
              <a:t> </a:t>
            </a:r>
            <a:r>
              <a:rPr lang="en-GB" sz="2200" dirty="0" smtClean="0">
                <a:latin typeface="Calibri"/>
                <a:cs typeface="Calibri"/>
              </a:rPr>
              <a:t>of</a:t>
            </a:r>
            <a:r>
              <a:rPr lang="en-GB" sz="2200" spc="484" dirty="0" smtClean="0">
                <a:latin typeface="Calibri"/>
                <a:cs typeface="Calibri"/>
              </a:rPr>
              <a:t> </a:t>
            </a:r>
            <a:r>
              <a:rPr lang="en-GB" sz="2200" spc="-15" dirty="0" smtClean="0">
                <a:latin typeface="Calibri"/>
                <a:cs typeface="Calibri"/>
              </a:rPr>
              <a:t>co-</a:t>
            </a:r>
            <a:r>
              <a:rPr lang="en-GB" sz="2200" spc="-10" dirty="0" smtClean="0">
                <a:latin typeface="Calibri"/>
                <a:cs typeface="Calibri"/>
              </a:rPr>
              <a:t>operation. </a:t>
            </a:r>
            <a:r>
              <a:rPr lang="en-GB" sz="2200" dirty="0" smtClean="0">
                <a:latin typeface="Calibri"/>
                <a:cs typeface="Calibri"/>
              </a:rPr>
              <a:t>Each</a:t>
            </a:r>
            <a:r>
              <a:rPr lang="en-GB" sz="2200" spc="-60" dirty="0" smtClean="0">
                <a:latin typeface="Calibri"/>
                <a:cs typeface="Calibri"/>
              </a:rPr>
              <a:t> </a:t>
            </a:r>
            <a:r>
              <a:rPr lang="en-GB" sz="2200" dirty="0" smtClean="0">
                <a:latin typeface="Calibri"/>
                <a:cs typeface="Calibri"/>
              </a:rPr>
              <a:t>shall</a:t>
            </a:r>
            <a:r>
              <a:rPr lang="en-GB" sz="2200" spc="-45" dirty="0" smtClean="0">
                <a:latin typeface="Calibri"/>
                <a:cs typeface="Calibri"/>
              </a:rPr>
              <a:t> </a:t>
            </a:r>
            <a:r>
              <a:rPr lang="en-GB" sz="2200" dirty="0" smtClean="0">
                <a:latin typeface="Calibri"/>
                <a:cs typeface="Calibri"/>
              </a:rPr>
              <a:t>work</a:t>
            </a:r>
            <a:r>
              <a:rPr lang="en-GB" sz="2200" spc="-40" dirty="0" smtClean="0">
                <a:latin typeface="Calibri"/>
                <a:cs typeface="Calibri"/>
              </a:rPr>
              <a:t> </a:t>
            </a:r>
            <a:r>
              <a:rPr lang="en-GB" sz="2200" dirty="0" smtClean="0">
                <a:latin typeface="Calibri"/>
                <a:cs typeface="Calibri"/>
              </a:rPr>
              <a:t>for</a:t>
            </a:r>
            <a:r>
              <a:rPr lang="en-GB" sz="2200" spc="-40" dirty="0" smtClean="0">
                <a:latin typeface="Calibri"/>
                <a:cs typeface="Calibri"/>
              </a:rPr>
              <a:t> </a:t>
            </a:r>
            <a:r>
              <a:rPr lang="en-GB" sz="2200" dirty="0" smtClean="0">
                <a:latin typeface="Calibri"/>
                <a:cs typeface="Calibri"/>
              </a:rPr>
              <a:t>all</a:t>
            </a:r>
            <a:r>
              <a:rPr lang="en-GB" sz="2200" spc="-55" dirty="0" smtClean="0">
                <a:latin typeface="Calibri"/>
                <a:cs typeface="Calibri"/>
              </a:rPr>
              <a:t> </a:t>
            </a:r>
            <a:r>
              <a:rPr lang="en-GB" sz="2200" dirty="0" smtClean="0">
                <a:latin typeface="Calibri"/>
                <a:cs typeface="Calibri"/>
              </a:rPr>
              <a:t>and</a:t>
            </a:r>
            <a:r>
              <a:rPr lang="en-GB" sz="2200" spc="-25" dirty="0" smtClean="0">
                <a:latin typeface="Calibri"/>
                <a:cs typeface="Calibri"/>
              </a:rPr>
              <a:t> </a:t>
            </a:r>
            <a:r>
              <a:rPr lang="en-GB" sz="2200" dirty="0" smtClean="0">
                <a:latin typeface="Calibri"/>
                <a:cs typeface="Calibri"/>
              </a:rPr>
              <a:t>all</a:t>
            </a:r>
            <a:r>
              <a:rPr lang="en-GB" sz="2200" spc="-50" dirty="0" smtClean="0">
                <a:latin typeface="Calibri"/>
                <a:cs typeface="Calibri"/>
              </a:rPr>
              <a:t> </a:t>
            </a:r>
            <a:r>
              <a:rPr lang="en-GB" sz="2200" dirty="0" smtClean="0">
                <a:latin typeface="Calibri"/>
                <a:cs typeface="Calibri"/>
              </a:rPr>
              <a:t>for</a:t>
            </a:r>
            <a:r>
              <a:rPr lang="en-GB" sz="2200" spc="-40" dirty="0" smtClean="0">
                <a:latin typeface="Calibri"/>
                <a:cs typeface="Calibri"/>
              </a:rPr>
              <a:t> </a:t>
            </a:r>
            <a:r>
              <a:rPr lang="en-GB" sz="2200" spc="-10" dirty="0" smtClean="0">
                <a:latin typeface="Calibri"/>
                <a:cs typeface="Calibri"/>
              </a:rPr>
              <a:t>each.</a:t>
            </a:r>
          </a:p>
          <a:p>
            <a:pPr marL="469265" marR="5080" indent="-457200" algn="just">
              <a:lnSpc>
                <a:spcPct val="80000"/>
              </a:lnSpc>
              <a:spcBef>
                <a:spcPts val="535"/>
              </a:spcBef>
              <a:buAutoNum type="arabicPeriod" startAt="6"/>
              <a:tabLst>
                <a:tab pos="528320" algn="l"/>
              </a:tabLst>
            </a:pPr>
            <a:endParaRPr lang="en-GB" sz="2200" dirty="0" smtClean="0">
              <a:latin typeface="Calibri"/>
              <a:cs typeface="Calibri"/>
            </a:endParaRPr>
          </a:p>
          <a:p>
            <a:pPr marL="469265" indent="-457200" algn="just">
              <a:lnSpc>
                <a:spcPts val="2375"/>
              </a:lnSpc>
              <a:buAutoNum type="arabicPeriod" startAt="7"/>
              <a:tabLst>
                <a:tab pos="528320" algn="l"/>
              </a:tabLst>
            </a:pPr>
            <a:r>
              <a:rPr lang="en-GB" sz="2400" b="1" dirty="0" smtClean="0">
                <a:uFill>
                  <a:solidFill>
                    <a:srgbClr val="000000"/>
                  </a:solidFill>
                </a:uFill>
                <a:latin typeface="Calibri"/>
                <a:cs typeface="Calibri"/>
              </a:rPr>
              <a:t>Remuneration:</a:t>
            </a:r>
            <a:r>
              <a:rPr lang="en-GB" sz="2400" b="1" spc="90" dirty="0" smtClean="0">
                <a:uFill>
                  <a:solidFill>
                    <a:srgbClr val="000000"/>
                  </a:solidFill>
                </a:uFill>
                <a:latin typeface="Calibri"/>
                <a:cs typeface="Calibri"/>
              </a:rPr>
              <a:t> </a:t>
            </a:r>
            <a:r>
              <a:rPr lang="en-GB" sz="2200" dirty="0" smtClean="0">
                <a:latin typeface="Calibri"/>
                <a:cs typeface="Calibri"/>
              </a:rPr>
              <a:t>Fair</a:t>
            </a:r>
            <a:r>
              <a:rPr lang="en-GB" sz="2200" spc="114" dirty="0" smtClean="0">
                <a:latin typeface="Calibri"/>
                <a:cs typeface="Calibri"/>
              </a:rPr>
              <a:t> </a:t>
            </a:r>
            <a:r>
              <a:rPr lang="en-GB" sz="2200" dirty="0" smtClean="0">
                <a:latin typeface="Calibri"/>
                <a:cs typeface="Calibri"/>
              </a:rPr>
              <a:t>pay</a:t>
            </a:r>
            <a:r>
              <a:rPr lang="en-GB" sz="2200" spc="95" dirty="0" smtClean="0">
                <a:latin typeface="Calibri"/>
                <a:cs typeface="Calibri"/>
              </a:rPr>
              <a:t> </a:t>
            </a:r>
            <a:r>
              <a:rPr lang="en-GB" sz="2200" dirty="0" smtClean="0">
                <a:latin typeface="Calibri"/>
                <a:cs typeface="Calibri"/>
              </a:rPr>
              <a:t>with</a:t>
            </a:r>
            <a:r>
              <a:rPr lang="en-GB" sz="2200" spc="105" dirty="0" smtClean="0">
                <a:latin typeface="Calibri"/>
                <a:cs typeface="Calibri"/>
              </a:rPr>
              <a:t> </a:t>
            </a:r>
            <a:r>
              <a:rPr lang="en-GB" sz="2200" spc="-10" dirty="0" smtClean="0">
                <a:latin typeface="Calibri"/>
                <a:cs typeface="Calibri"/>
              </a:rPr>
              <a:t>non-</a:t>
            </a:r>
            <a:r>
              <a:rPr lang="en-GB" sz="2200" dirty="0" smtClean="0">
                <a:latin typeface="Calibri"/>
                <a:cs typeface="Calibri"/>
              </a:rPr>
              <a:t>financial</a:t>
            </a:r>
            <a:r>
              <a:rPr lang="en-GB" sz="2200" spc="80" dirty="0" smtClean="0">
                <a:latin typeface="Calibri"/>
                <a:cs typeface="Calibri"/>
              </a:rPr>
              <a:t> </a:t>
            </a:r>
            <a:r>
              <a:rPr lang="en-GB" sz="2200" dirty="0" smtClean="0">
                <a:latin typeface="Calibri"/>
                <a:cs typeface="Calibri"/>
              </a:rPr>
              <a:t>rewards</a:t>
            </a:r>
            <a:r>
              <a:rPr lang="en-GB" sz="2200" spc="95" dirty="0" smtClean="0">
                <a:latin typeface="Calibri"/>
                <a:cs typeface="Calibri"/>
              </a:rPr>
              <a:t> </a:t>
            </a:r>
            <a:r>
              <a:rPr lang="en-GB" sz="2200" dirty="0" smtClean="0">
                <a:latin typeface="Calibri"/>
                <a:cs typeface="Calibri"/>
              </a:rPr>
              <a:t>can</a:t>
            </a:r>
            <a:r>
              <a:rPr lang="en-GB" sz="2200" spc="100" dirty="0" smtClean="0">
                <a:latin typeface="Calibri"/>
                <a:cs typeface="Calibri"/>
              </a:rPr>
              <a:t> </a:t>
            </a:r>
            <a:r>
              <a:rPr lang="en-GB" sz="2200" dirty="0" smtClean="0">
                <a:latin typeface="Calibri"/>
                <a:cs typeface="Calibri"/>
              </a:rPr>
              <a:t>act</a:t>
            </a:r>
            <a:r>
              <a:rPr lang="en-GB" sz="2200" spc="114" dirty="0" smtClean="0">
                <a:latin typeface="Calibri"/>
                <a:cs typeface="Calibri"/>
              </a:rPr>
              <a:t> </a:t>
            </a:r>
            <a:r>
              <a:rPr lang="en-GB" sz="2200" dirty="0" smtClean="0">
                <a:latin typeface="Calibri"/>
                <a:cs typeface="Calibri"/>
              </a:rPr>
              <a:t>as</a:t>
            </a:r>
            <a:r>
              <a:rPr lang="en-GB" sz="2200" spc="110" dirty="0" smtClean="0">
                <a:latin typeface="Calibri"/>
                <a:cs typeface="Calibri"/>
              </a:rPr>
              <a:t> </a:t>
            </a:r>
            <a:r>
              <a:rPr lang="en-GB" sz="2200" spc="-25" dirty="0" smtClean="0">
                <a:latin typeface="Calibri"/>
                <a:cs typeface="Calibri"/>
              </a:rPr>
              <a:t>the</a:t>
            </a:r>
            <a:r>
              <a:rPr lang="en-GB" sz="2200" dirty="0" smtClean="0">
                <a:latin typeface="Calibri"/>
                <a:cs typeface="Calibri"/>
              </a:rPr>
              <a:t> 	best</a:t>
            </a:r>
            <a:r>
              <a:rPr lang="en-GB" sz="2200" spc="-45" dirty="0" smtClean="0">
                <a:latin typeface="Calibri"/>
                <a:cs typeface="Calibri"/>
              </a:rPr>
              <a:t> </a:t>
            </a:r>
            <a:r>
              <a:rPr lang="en-GB" sz="2200" dirty="0" smtClean="0">
                <a:latin typeface="Calibri"/>
                <a:cs typeface="Calibri"/>
              </a:rPr>
              <a:t>incentive</a:t>
            </a:r>
            <a:r>
              <a:rPr lang="en-GB" sz="2200" spc="-50" dirty="0" smtClean="0">
                <a:latin typeface="Calibri"/>
                <a:cs typeface="Calibri"/>
              </a:rPr>
              <a:t> </a:t>
            </a:r>
            <a:r>
              <a:rPr lang="en-GB" sz="2200" dirty="0" smtClean="0">
                <a:latin typeface="Calibri"/>
                <a:cs typeface="Calibri"/>
              </a:rPr>
              <a:t>or</a:t>
            </a:r>
            <a:r>
              <a:rPr lang="en-GB" sz="2200" spc="-35" dirty="0" smtClean="0">
                <a:latin typeface="Calibri"/>
                <a:cs typeface="Calibri"/>
              </a:rPr>
              <a:t> </a:t>
            </a:r>
            <a:r>
              <a:rPr lang="en-GB" sz="2200" spc="-10" dirty="0" smtClean="0">
                <a:latin typeface="Calibri"/>
                <a:cs typeface="Calibri"/>
              </a:rPr>
              <a:t>motivator</a:t>
            </a:r>
            <a:r>
              <a:rPr lang="en-GB" sz="2200" spc="-85" dirty="0" smtClean="0">
                <a:latin typeface="Calibri"/>
                <a:cs typeface="Calibri"/>
              </a:rPr>
              <a:t> </a:t>
            </a:r>
            <a:r>
              <a:rPr lang="en-GB" sz="2200" dirty="0" smtClean="0">
                <a:latin typeface="Calibri"/>
                <a:cs typeface="Calibri"/>
              </a:rPr>
              <a:t>for</a:t>
            </a:r>
            <a:r>
              <a:rPr lang="en-GB" sz="2200" spc="-35" dirty="0" smtClean="0">
                <a:latin typeface="Calibri"/>
                <a:cs typeface="Calibri"/>
              </a:rPr>
              <a:t> </a:t>
            </a:r>
            <a:r>
              <a:rPr lang="en-GB" sz="2200" dirty="0" smtClean="0">
                <a:latin typeface="Calibri"/>
                <a:cs typeface="Calibri"/>
              </a:rPr>
              <a:t>good</a:t>
            </a:r>
            <a:r>
              <a:rPr lang="en-GB" sz="2200" spc="-40" dirty="0" smtClean="0">
                <a:latin typeface="Calibri"/>
                <a:cs typeface="Calibri"/>
              </a:rPr>
              <a:t> </a:t>
            </a:r>
            <a:r>
              <a:rPr lang="en-GB" sz="2200" spc="-10" dirty="0" smtClean="0">
                <a:latin typeface="Calibri"/>
                <a:cs typeface="Calibri"/>
              </a:rPr>
              <a:t>performance.</a:t>
            </a:r>
          </a:p>
          <a:p>
            <a:pPr marL="469265" indent="-457200" algn="just">
              <a:lnSpc>
                <a:spcPts val="2375"/>
              </a:lnSpc>
              <a:buAutoNum type="arabicPeriod" startAt="7"/>
              <a:tabLst>
                <a:tab pos="528320" algn="l"/>
              </a:tabLst>
            </a:pPr>
            <a:endParaRPr lang="en-GB" sz="2200" dirty="0" smtClean="0">
              <a:latin typeface="Calibri"/>
              <a:cs typeface="Calibri"/>
            </a:endParaRPr>
          </a:p>
          <a:p>
            <a:pPr marL="469265" indent="-457200" algn="just">
              <a:lnSpc>
                <a:spcPts val="2375"/>
              </a:lnSpc>
              <a:buAutoNum type="arabicPeriod" startAt="8"/>
              <a:tabLst>
                <a:tab pos="528320" algn="l"/>
              </a:tabLst>
            </a:pPr>
            <a:r>
              <a:rPr lang="en-GB" sz="2200" b="1" dirty="0" smtClean="0">
                <a:uFill>
                  <a:solidFill>
                    <a:srgbClr val="000000"/>
                  </a:solidFill>
                </a:uFill>
                <a:latin typeface="Calibri"/>
                <a:cs typeface="Calibri"/>
              </a:rPr>
              <a:t>Centralization:</a:t>
            </a:r>
            <a:r>
              <a:rPr lang="en-GB" sz="2200" b="1" spc="484" dirty="0" smtClean="0">
                <a:latin typeface="Calibri"/>
                <a:cs typeface="Calibri"/>
              </a:rPr>
              <a:t>  </a:t>
            </a:r>
            <a:r>
              <a:rPr lang="en-GB" sz="2200" dirty="0" smtClean="0">
                <a:latin typeface="Calibri"/>
                <a:cs typeface="Calibri"/>
              </a:rPr>
              <a:t>There</a:t>
            </a:r>
            <a:r>
              <a:rPr lang="en-GB" sz="2200" spc="480" dirty="0" smtClean="0">
                <a:latin typeface="Calibri"/>
                <a:cs typeface="Calibri"/>
              </a:rPr>
              <a:t>  </a:t>
            </a:r>
            <a:r>
              <a:rPr lang="en-GB" sz="2200" dirty="0" smtClean="0">
                <a:latin typeface="Calibri"/>
                <a:cs typeface="Calibri"/>
              </a:rPr>
              <a:t>must</a:t>
            </a:r>
            <a:r>
              <a:rPr lang="en-GB" sz="2200" spc="480" dirty="0" smtClean="0">
                <a:latin typeface="Calibri"/>
                <a:cs typeface="Calibri"/>
              </a:rPr>
              <a:t>  </a:t>
            </a:r>
            <a:r>
              <a:rPr lang="en-GB" sz="2200" dirty="0" smtClean="0">
                <a:latin typeface="Calibri"/>
                <a:cs typeface="Calibri"/>
              </a:rPr>
              <a:t>be</a:t>
            </a:r>
            <a:r>
              <a:rPr lang="en-GB" sz="2200" spc="484" dirty="0" smtClean="0">
                <a:latin typeface="Calibri"/>
                <a:cs typeface="Calibri"/>
              </a:rPr>
              <a:t>  </a:t>
            </a:r>
            <a:r>
              <a:rPr lang="en-GB" sz="2200" dirty="0" smtClean="0">
                <a:latin typeface="Calibri"/>
                <a:cs typeface="Calibri"/>
              </a:rPr>
              <a:t>a</a:t>
            </a:r>
            <a:r>
              <a:rPr lang="en-GB" sz="2200" spc="475" dirty="0" smtClean="0">
                <a:latin typeface="Calibri"/>
                <a:cs typeface="Calibri"/>
              </a:rPr>
              <a:t>  </a:t>
            </a:r>
            <a:r>
              <a:rPr lang="en-GB" sz="2200" dirty="0" smtClean="0">
                <a:latin typeface="Calibri"/>
                <a:cs typeface="Calibri"/>
              </a:rPr>
              <a:t>good</a:t>
            </a:r>
            <a:r>
              <a:rPr lang="en-GB" sz="2200" spc="475" dirty="0" smtClean="0">
                <a:latin typeface="Calibri"/>
                <a:cs typeface="Calibri"/>
              </a:rPr>
              <a:t>  </a:t>
            </a:r>
            <a:r>
              <a:rPr lang="en-GB" sz="2200" dirty="0" smtClean="0">
                <a:latin typeface="Calibri"/>
                <a:cs typeface="Calibri"/>
              </a:rPr>
              <a:t>balance</a:t>
            </a:r>
            <a:r>
              <a:rPr lang="en-GB" sz="2200" spc="484" dirty="0" smtClean="0">
                <a:latin typeface="Calibri"/>
                <a:cs typeface="Calibri"/>
              </a:rPr>
              <a:t>  </a:t>
            </a:r>
            <a:r>
              <a:rPr lang="en-GB" sz="2200" spc="-10" dirty="0" smtClean="0">
                <a:latin typeface="Calibri"/>
                <a:cs typeface="Calibri"/>
              </a:rPr>
              <a:t>between</a:t>
            </a:r>
            <a:r>
              <a:rPr lang="en-GB" sz="2200" dirty="0" smtClean="0">
                <a:latin typeface="Calibri"/>
                <a:cs typeface="Calibri"/>
              </a:rPr>
              <a:t> 	</a:t>
            </a:r>
            <a:r>
              <a:rPr lang="en-GB" sz="2200" spc="-10" dirty="0" smtClean="0">
                <a:latin typeface="Calibri"/>
                <a:cs typeface="Calibri"/>
              </a:rPr>
              <a:t>centralization</a:t>
            </a:r>
            <a:r>
              <a:rPr lang="en-GB" sz="2200" spc="-75" dirty="0" smtClean="0">
                <a:latin typeface="Calibri"/>
                <a:cs typeface="Calibri"/>
              </a:rPr>
              <a:t> </a:t>
            </a:r>
            <a:r>
              <a:rPr lang="en-GB" sz="2200" dirty="0" smtClean="0">
                <a:latin typeface="Calibri"/>
                <a:cs typeface="Calibri"/>
              </a:rPr>
              <a:t>and</a:t>
            </a:r>
            <a:r>
              <a:rPr lang="en-GB" sz="2200" spc="-40" dirty="0" smtClean="0">
                <a:latin typeface="Calibri"/>
                <a:cs typeface="Calibri"/>
              </a:rPr>
              <a:t> </a:t>
            </a:r>
            <a:r>
              <a:rPr lang="en-GB" sz="2200" spc="-10" dirty="0" smtClean="0">
                <a:latin typeface="Calibri"/>
                <a:cs typeface="Calibri"/>
              </a:rPr>
              <a:t>decentralization</a:t>
            </a:r>
            <a:r>
              <a:rPr lang="en-GB" sz="2200" spc="-60" dirty="0" smtClean="0">
                <a:latin typeface="Calibri"/>
                <a:cs typeface="Calibri"/>
              </a:rPr>
              <a:t> </a:t>
            </a:r>
            <a:r>
              <a:rPr lang="en-GB" sz="2200" dirty="0" smtClean="0">
                <a:latin typeface="Calibri"/>
                <a:cs typeface="Calibri"/>
              </a:rPr>
              <a:t>of</a:t>
            </a:r>
            <a:r>
              <a:rPr lang="en-GB" sz="2200" spc="-20" dirty="0" smtClean="0">
                <a:latin typeface="Calibri"/>
                <a:cs typeface="Calibri"/>
              </a:rPr>
              <a:t> </a:t>
            </a:r>
            <a:r>
              <a:rPr lang="en-GB" sz="2200" dirty="0" smtClean="0">
                <a:latin typeface="Calibri"/>
                <a:cs typeface="Calibri"/>
              </a:rPr>
              <a:t>authority</a:t>
            </a:r>
            <a:r>
              <a:rPr lang="en-GB" sz="2200" spc="-75" dirty="0" smtClean="0">
                <a:latin typeface="Calibri"/>
                <a:cs typeface="Calibri"/>
              </a:rPr>
              <a:t> </a:t>
            </a:r>
            <a:r>
              <a:rPr lang="en-GB" sz="2200" dirty="0" smtClean="0">
                <a:latin typeface="Calibri"/>
                <a:cs typeface="Calibri"/>
              </a:rPr>
              <a:t>and</a:t>
            </a:r>
            <a:r>
              <a:rPr lang="en-GB" sz="2200" spc="-20" dirty="0" smtClean="0">
                <a:latin typeface="Calibri"/>
                <a:cs typeface="Calibri"/>
              </a:rPr>
              <a:t> </a:t>
            </a:r>
            <a:r>
              <a:rPr lang="en-GB" sz="2200" spc="-10" dirty="0" smtClean="0">
                <a:latin typeface="Calibri"/>
                <a:cs typeface="Calibri"/>
              </a:rPr>
              <a:t>power.</a:t>
            </a:r>
          </a:p>
          <a:p>
            <a:pPr marL="12065" algn="just">
              <a:lnSpc>
                <a:spcPts val="2375"/>
              </a:lnSpc>
              <a:tabLst>
                <a:tab pos="528320" algn="l"/>
              </a:tabLst>
            </a:pPr>
            <a:endParaRPr lang="en-GB" sz="2200" spc="-10" dirty="0" smtClean="0">
              <a:latin typeface="Calibri"/>
              <a:cs typeface="Calibri"/>
            </a:endParaRPr>
          </a:p>
          <a:p>
            <a:pPr marL="469265" indent="-457200" algn="just">
              <a:lnSpc>
                <a:spcPts val="2375"/>
              </a:lnSpc>
              <a:buAutoNum type="arabicPeriod" startAt="9"/>
              <a:tabLst>
                <a:tab pos="528320" algn="l"/>
              </a:tabLst>
            </a:pPr>
            <a:r>
              <a:rPr lang="en-GB" sz="2200" b="1" dirty="0" smtClean="0">
                <a:latin typeface="Calibri"/>
                <a:cs typeface="Calibri"/>
              </a:rPr>
              <a:t>Scalar Chain: </a:t>
            </a:r>
            <a:r>
              <a:rPr lang="en-GB" sz="2200" dirty="0" smtClean="0">
                <a:latin typeface="Calibri"/>
                <a:cs typeface="Calibri"/>
              </a:rPr>
              <a:t>The unity of command brings about a chain or 	hierarchy of command linking all members of the organization 	from the top to the bottom.</a:t>
            </a:r>
          </a:p>
          <a:p>
            <a:pPr marL="469265" indent="-457200" algn="just">
              <a:lnSpc>
                <a:spcPts val="2375"/>
              </a:lnSpc>
              <a:buAutoNum type="arabicPeriod" startAt="9"/>
              <a:tabLst>
                <a:tab pos="528320" algn="l"/>
              </a:tabLst>
            </a:pPr>
            <a:endParaRPr lang="en-GB" sz="2200" dirty="0" smtClean="0">
              <a:latin typeface="Calibri"/>
              <a:cs typeface="Calibri"/>
            </a:endParaRPr>
          </a:p>
          <a:p>
            <a:pPr marL="12065" algn="just">
              <a:lnSpc>
                <a:spcPts val="2375"/>
              </a:lnSpc>
              <a:tabLst>
                <a:tab pos="528320" algn="l"/>
              </a:tabLst>
            </a:pPr>
            <a:r>
              <a:rPr lang="en-GB" sz="2200" dirty="0" smtClean="0">
                <a:latin typeface="Calibri"/>
                <a:cs typeface="Calibri"/>
              </a:rPr>
              <a:t>10.	</a:t>
            </a:r>
            <a:r>
              <a:rPr lang="en-GB" sz="2200" b="1" dirty="0" smtClean="0">
                <a:latin typeface="Calibri"/>
                <a:cs typeface="Calibri"/>
              </a:rPr>
              <a:t>Order: </a:t>
            </a:r>
            <a:r>
              <a:rPr lang="en-GB" sz="2200" dirty="0" err="1" smtClean="0">
                <a:latin typeface="Calibri"/>
                <a:cs typeface="Calibri"/>
              </a:rPr>
              <a:t>Fayol</a:t>
            </a:r>
            <a:r>
              <a:rPr lang="en-GB" sz="2200" dirty="0" smtClean="0">
                <a:latin typeface="Calibri"/>
                <a:cs typeface="Calibri"/>
              </a:rPr>
              <a:t> suggested that there is a place for everything. Order 	or system alone can create a sound organization and efficient 	management.</a:t>
            </a:r>
          </a:p>
        </p:txBody>
      </p:sp>
      <p:sp>
        <p:nvSpPr>
          <p:cNvPr id="4" name="TextBox 3"/>
          <p:cNvSpPr txBox="1"/>
          <p:nvPr/>
        </p:nvSpPr>
        <p:spPr>
          <a:xfrm>
            <a:off x="1143000" y="218182"/>
            <a:ext cx="6705600" cy="646331"/>
          </a:xfrm>
          <a:prstGeom prst="rect">
            <a:avLst/>
          </a:prstGeom>
          <a:noFill/>
        </p:spPr>
        <p:txBody>
          <a:bodyPr wrap="square" rtlCol="0">
            <a:spAutoFit/>
          </a:bodyPr>
          <a:lstStyle/>
          <a:p>
            <a:r>
              <a:rPr lang="en-IN" sz="3600" b="1" spc="-10" dirty="0" err="1" smtClean="0">
                <a:latin typeface="Calibri"/>
                <a:cs typeface="Calibri"/>
              </a:rPr>
              <a:t>Fayol's</a:t>
            </a:r>
            <a:r>
              <a:rPr lang="en-IN" sz="3600" b="1" spc="-35" dirty="0" smtClean="0">
                <a:latin typeface="Calibri"/>
                <a:cs typeface="Calibri"/>
              </a:rPr>
              <a:t> </a:t>
            </a:r>
            <a:r>
              <a:rPr lang="en-IN" sz="3600" b="1" dirty="0" smtClean="0">
                <a:latin typeface="Calibri"/>
                <a:cs typeface="Calibri"/>
              </a:rPr>
              <a:t>Principles</a:t>
            </a:r>
            <a:r>
              <a:rPr lang="en-IN" sz="3600" b="1" spc="-95" dirty="0" smtClean="0">
                <a:latin typeface="Calibri"/>
                <a:cs typeface="Calibri"/>
              </a:rPr>
              <a:t> </a:t>
            </a:r>
            <a:r>
              <a:rPr lang="en-IN" sz="3600" b="1" dirty="0" smtClean="0">
                <a:latin typeface="Calibri"/>
                <a:cs typeface="Calibri"/>
              </a:rPr>
              <a:t>of</a:t>
            </a:r>
            <a:r>
              <a:rPr lang="en-IN" sz="3600" b="1" spc="-25" dirty="0" smtClean="0">
                <a:latin typeface="Calibri"/>
                <a:cs typeface="Calibri"/>
              </a:rPr>
              <a:t> </a:t>
            </a:r>
            <a:r>
              <a:rPr lang="en-IN" sz="3600" b="1" spc="-10" dirty="0" smtClean="0">
                <a:latin typeface="Calibri"/>
                <a:cs typeface="Calibri"/>
              </a:rPr>
              <a:t>Management</a:t>
            </a:r>
            <a:endParaRPr lang="en-IN" sz="3600" dirty="0"/>
          </a:p>
        </p:txBody>
      </p:sp>
    </p:spTree>
    <p:extLst>
      <p:ext uri="{BB962C8B-B14F-4D97-AF65-F5344CB8AC3E}">
        <p14:creationId xmlns:p14="http://schemas.microsoft.com/office/powerpoint/2010/main" val="41685191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4862" y="1295400"/>
            <a:ext cx="8080375" cy="4322337"/>
          </a:xfrm>
          <a:prstGeom prst="rect">
            <a:avLst/>
          </a:prstGeom>
        </p:spPr>
        <p:txBody>
          <a:bodyPr vert="horz" wrap="square" lIns="0" tIns="13335" rIns="0" bIns="0" rtlCol="0">
            <a:spAutoFit/>
          </a:bodyPr>
          <a:lstStyle/>
          <a:p>
            <a:pPr marL="469265" indent="-457200" algn="just">
              <a:lnSpc>
                <a:spcPts val="2375"/>
              </a:lnSpc>
              <a:buAutoNum type="arabicPeriod" startAt="11"/>
              <a:tabLst>
                <a:tab pos="528320" algn="l"/>
              </a:tabLst>
            </a:pPr>
            <a:r>
              <a:rPr lang="en-GB" sz="2200" b="1" dirty="0" smtClean="0">
                <a:latin typeface="Calibri"/>
                <a:cs typeface="Calibri"/>
              </a:rPr>
              <a:t>Equity: </a:t>
            </a:r>
            <a:r>
              <a:rPr lang="en-GB" sz="2200" dirty="0" smtClean="0">
                <a:latin typeface="Calibri"/>
                <a:cs typeface="Calibri"/>
              </a:rPr>
              <a:t>An organization consists of a group of people involved in 	joint effort. Hence, equity (i.e., justice) must be there.</a:t>
            </a:r>
          </a:p>
          <a:p>
            <a:pPr marL="469265" indent="-457200" algn="just">
              <a:lnSpc>
                <a:spcPts val="2375"/>
              </a:lnSpc>
              <a:buAutoNum type="arabicPeriod" startAt="11"/>
              <a:tabLst>
                <a:tab pos="528320" algn="l"/>
              </a:tabLst>
            </a:pPr>
            <a:endParaRPr lang="en-GB" sz="2200" dirty="0" smtClean="0">
              <a:latin typeface="Calibri"/>
              <a:cs typeface="Calibri"/>
            </a:endParaRPr>
          </a:p>
          <a:p>
            <a:pPr marL="469265" indent="-457200" algn="just">
              <a:lnSpc>
                <a:spcPts val="2375"/>
              </a:lnSpc>
              <a:buAutoNum type="arabicPeriod" startAt="12"/>
              <a:tabLst>
                <a:tab pos="528320" algn="l"/>
              </a:tabLst>
            </a:pPr>
            <a:r>
              <a:rPr lang="en-GB" sz="2200" b="1" dirty="0" smtClean="0">
                <a:latin typeface="Calibri"/>
                <a:cs typeface="Calibri"/>
              </a:rPr>
              <a:t>Stability of Tenure: </a:t>
            </a:r>
            <a:r>
              <a:rPr lang="en-GB" sz="2200" dirty="0" smtClean="0">
                <a:latin typeface="Calibri"/>
                <a:cs typeface="Calibri"/>
              </a:rPr>
              <a:t>A person needs time to adjust himself with the 	new work and demonstrate efficiency in due course.</a:t>
            </a:r>
          </a:p>
          <a:p>
            <a:pPr marL="469265" indent="-457200" algn="just">
              <a:lnSpc>
                <a:spcPts val="2375"/>
              </a:lnSpc>
              <a:buAutoNum type="arabicPeriod" startAt="12"/>
              <a:tabLst>
                <a:tab pos="528320" algn="l"/>
              </a:tabLst>
            </a:pPr>
            <a:endParaRPr lang="en-GB" sz="2200" dirty="0" smtClean="0">
              <a:latin typeface="Calibri"/>
              <a:cs typeface="Calibri"/>
            </a:endParaRPr>
          </a:p>
          <a:p>
            <a:pPr marL="469265" indent="-457200" algn="just">
              <a:lnSpc>
                <a:spcPts val="2375"/>
              </a:lnSpc>
              <a:buAutoNum type="arabicPeriod" startAt="13"/>
              <a:tabLst>
                <a:tab pos="528320" algn="l"/>
              </a:tabLst>
            </a:pPr>
            <a:r>
              <a:rPr lang="en-GB" sz="2200" b="1" dirty="0" smtClean="0">
                <a:latin typeface="Calibri"/>
                <a:cs typeface="Calibri"/>
              </a:rPr>
              <a:t>Initiative: </a:t>
            </a:r>
            <a:r>
              <a:rPr lang="en-GB" sz="2200" dirty="0" smtClean="0">
                <a:latin typeface="Calibri"/>
                <a:cs typeface="Calibri"/>
              </a:rPr>
              <a:t>Creative thinking and capacity to take initiative can give  	us  sound  managerial  planning  and  execution  of predetermined 	plans.</a:t>
            </a:r>
          </a:p>
          <a:p>
            <a:pPr marL="469265" indent="-457200" algn="just">
              <a:lnSpc>
                <a:spcPts val="2375"/>
              </a:lnSpc>
              <a:buAutoNum type="arabicPeriod" startAt="13"/>
              <a:tabLst>
                <a:tab pos="528320" algn="l"/>
              </a:tabLst>
            </a:pPr>
            <a:endParaRPr lang="en-GB" sz="2200" dirty="0" smtClean="0">
              <a:latin typeface="Calibri"/>
              <a:cs typeface="Calibri"/>
            </a:endParaRPr>
          </a:p>
          <a:p>
            <a:pPr marL="469265" indent="-457200" algn="just">
              <a:lnSpc>
                <a:spcPts val="2375"/>
              </a:lnSpc>
              <a:buAutoNum type="arabicPeriod" startAt="13"/>
              <a:tabLst>
                <a:tab pos="528320" algn="l"/>
              </a:tabLst>
            </a:pPr>
            <a:r>
              <a:rPr lang="en-GB" sz="2200" b="1" dirty="0" smtClean="0">
                <a:uFill>
                  <a:solidFill>
                    <a:srgbClr val="000000"/>
                  </a:solidFill>
                </a:uFill>
                <a:latin typeface="Calibri"/>
                <a:cs typeface="Calibri"/>
              </a:rPr>
              <a:t>Esprit</a:t>
            </a:r>
            <a:r>
              <a:rPr lang="en-GB" sz="2200" b="1" spc="300" dirty="0" smtClean="0">
                <a:uFill>
                  <a:solidFill>
                    <a:srgbClr val="000000"/>
                  </a:solidFill>
                </a:uFill>
                <a:latin typeface="Calibri"/>
                <a:cs typeface="Calibri"/>
              </a:rPr>
              <a:t> </a:t>
            </a:r>
            <a:r>
              <a:rPr lang="en-GB" sz="2200" b="1" dirty="0" smtClean="0">
                <a:uFill>
                  <a:solidFill>
                    <a:srgbClr val="000000"/>
                  </a:solidFill>
                </a:uFill>
                <a:latin typeface="Calibri"/>
                <a:cs typeface="Calibri"/>
              </a:rPr>
              <a:t>de</a:t>
            </a:r>
            <a:r>
              <a:rPr lang="en-GB" sz="2200" b="1" spc="295" dirty="0" smtClean="0">
                <a:uFill>
                  <a:solidFill>
                    <a:srgbClr val="000000"/>
                  </a:solidFill>
                </a:uFill>
                <a:latin typeface="Calibri"/>
                <a:cs typeface="Calibri"/>
              </a:rPr>
              <a:t> </a:t>
            </a:r>
            <a:r>
              <a:rPr lang="en-GB" sz="2200" b="1" dirty="0" smtClean="0">
                <a:uFill>
                  <a:solidFill>
                    <a:srgbClr val="000000"/>
                  </a:solidFill>
                </a:uFill>
                <a:latin typeface="Calibri"/>
                <a:cs typeface="Calibri"/>
              </a:rPr>
              <a:t>corps:</a:t>
            </a:r>
            <a:r>
              <a:rPr lang="en-GB" sz="2200" b="1" spc="300" dirty="0" smtClean="0">
                <a:latin typeface="Calibri"/>
                <a:cs typeface="Calibri"/>
              </a:rPr>
              <a:t> </a:t>
            </a:r>
            <a:r>
              <a:rPr lang="en-GB" sz="2200" spc="-10" dirty="0" smtClean="0">
                <a:latin typeface="Calibri"/>
                <a:cs typeface="Calibri"/>
              </a:rPr>
              <a:t>Union  is  strength. </a:t>
            </a:r>
            <a:r>
              <a:rPr lang="en-GB" sz="2200" dirty="0" smtClean="0">
                <a:latin typeface="Calibri"/>
                <a:cs typeface="Calibri"/>
              </a:rPr>
              <a:t>It</a:t>
            </a:r>
            <a:r>
              <a:rPr lang="en-GB" sz="2200" spc="305" dirty="0" smtClean="0">
                <a:latin typeface="Calibri"/>
                <a:cs typeface="Calibri"/>
              </a:rPr>
              <a:t> </a:t>
            </a:r>
            <a:r>
              <a:rPr lang="en-GB" sz="2200" dirty="0" smtClean="0">
                <a:latin typeface="Calibri"/>
                <a:cs typeface="Calibri"/>
              </a:rPr>
              <a:t>is</a:t>
            </a:r>
            <a:r>
              <a:rPr lang="en-GB" sz="2200" spc="270" dirty="0" smtClean="0">
                <a:latin typeface="Calibri"/>
                <a:cs typeface="Calibri"/>
              </a:rPr>
              <a:t> </a:t>
            </a:r>
            <a:r>
              <a:rPr lang="en-GB" sz="2200" dirty="0" smtClean="0">
                <a:latin typeface="Calibri"/>
                <a:cs typeface="Calibri"/>
              </a:rPr>
              <a:t>the</a:t>
            </a:r>
            <a:r>
              <a:rPr lang="en-GB" sz="2200" spc="300" dirty="0" smtClean="0">
                <a:latin typeface="Calibri"/>
                <a:cs typeface="Calibri"/>
              </a:rPr>
              <a:t> </a:t>
            </a:r>
            <a:r>
              <a:rPr lang="en-GB" sz="2200" dirty="0" smtClean="0">
                <a:latin typeface="Calibri"/>
                <a:cs typeface="Calibri"/>
              </a:rPr>
              <a:t>foundation</a:t>
            </a:r>
            <a:r>
              <a:rPr lang="en-GB" sz="2200" spc="290" dirty="0" smtClean="0">
                <a:latin typeface="Calibri"/>
                <a:cs typeface="Calibri"/>
              </a:rPr>
              <a:t> </a:t>
            </a:r>
            <a:r>
              <a:rPr lang="en-GB" sz="2200" dirty="0" smtClean="0">
                <a:latin typeface="Calibri"/>
                <a:cs typeface="Calibri"/>
              </a:rPr>
              <a:t>of</a:t>
            </a:r>
            <a:r>
              <a:rPr lang="en-GB" sz="2200" spc="310" dirty="0" smtClean="0">
                <a:latin typeface="Calibri"/>
                <a:cs typeface="Calibri"/>
              </a:rPr>
              <a:t> </a:t>
            </a:r>
            <a:r>
              <a:rPr lang="en-GB" sz="2200" dirty="0" smtClean="0">
                <a:latin typeface="Calibri"/>
                <a:cs typeface="Calibri"/>
              </a:rPr>
              <a:t>a</a:t>
            </a:r>
            <a:r>
              <a:rPr lang="en-GB" sz="2200" spc="295" dirty="0" smtClean="0">
                <a:latin typeface="Calibri"/>
                <a:cs typeface="Calibri"/>
              </a:rPr>
              <a:t> </a:t>
            </a:r>
            <a:r>
              <a:rPr lang="en-GB" sz="2200" dirty="0" smtClean="0">
                <a:latin typeface="Calibri"/>
                <a:cs typeface="Calibri"/>
              </a:rPr>
              <a:t>sound</a:t>
            </a:r>
            <a:r>
              <a:rPr lang="en-GB" sz="2200" spc="315" dirty="0" smtClean="0">
                <a:latin typeface="Calibri"/>
                <a:cs typeface="Calibri"/>
              </a:rPr>
              <a:t> </a:t>
            </a:r>
            <a:r>
              <a:rPr lang="en-GB" sz="2200" spc="-10" dirty="0" smtClean="0">
                <a:latin typeface="Calibri"/>
                <a:cs typeface="Calibri"/>
              </a:rPr>
              <a:t>organization. Pride, loyalty  and  sense of	belonging	are	responsible	for good performance. </a:t>
            </a:r>
          </a:p>
          <a:p>
            <a:pPr marL="469265" indent="-457200" algn="just">
              <a:lnSpc>
                <a:spcPts val="2375"/>
              </a:lnSpc>
              <a:buAutoNum type="arabicPeriod" startAt="13"/>
              <a:tabLst>
                <a:tab pos="528320" algn="l"/>
              </a:tabLst>
            </a:pPr>
            <a:endParaRPr lang="en-GB" sz="2200" spc="-10" dirty="0" smtClean="0">
              <a:latin typeface="Calibri"/>
              <a:cs typeface="Calibri"/>
            </a:endParaRPr>
          </a:p>
        </p:txBody>
      </p:sp>
      <p:sp>
        <p:nvSpPr>
          <p:cNvPr id="4" name="TextBox 3"/>
          <p:cNvSpPr txBox="1"/>
          <p:nvPr/>
        </p:nvSpPr>
        <p:spPr>
          <a:xfrm>
            <a:off x="1143000" y="218182"/>
            <a:ext cx="6705600" cy="646331"/>
          </a:xfrm>
          <a:prstGeom prst="rect">
            <a:avLst/>
          </a:prstGeom>
          <a:noFill/>
        </p:spPr>
        <p:txBody>
          <a:bodyPr wrap="square" rtlCol="0">
            <a:spAutoFit/>
          </a:bodyPr>
          <a:lstStyle/>
          <a:p>
            <a:r>
              <a:rPr lang="en-IN" sz="3600" b="1" spc="-10" dirty="0" err="1" smtClean="0">
                <a:latin typeface="Calibri"/>
                <a:cs typeface="Calibri"/>
              </a:rPr>
              <a:t>Fayol's</a:t>
            </a:r>
            <a:r>
              <a:rPr lang="en-IN" sz="3600" b="1" spc="-35" dirty="0" smtClean="0">
                <a:latin typeface="Calibri"/>
                <a:cs typeface="Calibri"/>
              </a:rPr>
              <a:t> </a:t>
            </a:r>
            <a:r>
              <a:rPr lang="en-IN" sz="3600" b="1" dirty="0" smtClean="0">
                <a:latin typeface="Calibri"/>
                <a:cs typeface="Calibri"/>
              </a:rPr>
              <a:t>Principles</a:t>
            </a:r>
            <a:r>
              <a:rPr lang="en-IN" sz="3600" b="1" spc="-95" dirty="0" smtClean="0">
                <a:latin typeface="Calibri"/>
                <a:cs typeface="Calibri"/>
              </a:rPr>
              <a:t> </a:t>
            </a:r>
            <a:r>
              <a:rPr lang="en-IN" sz="3600" b="1" dirty="0" smtClean="0">
                <a:latin typeface="Calibri"/>
                <a:cs typeface="Calibri"/>
              </a:rPr>
              <a:t>of</a:t>
            </a:r>
            <a:r>
              <a:rPr lang="en-IN" sz="3600" b="1" spc="-25" dirty="0" smtClean="0">
                <a:latin typeface="Calibri"/>
                <a:cs typeface="Calibri"/>
              </a:rPr>
              <a:t> </a:t>
            </a:r>
            <a:r>
              <a:rPr lang="en-IN" sz="3600" b="1" spc="-10" dirty="0" smtClean="0">
                <a:latin typeface="Calibri"/>
                <a:cs typeface="Calibri"/>
              </a:rPr>
              <a:t>Management</a:t>
            </a:r>
            <a:endParaRPr lang="en-IN" sz="3600" dirty="0"/>
          </a:p>
        </p:txBody>
      </p:sp>
    </p:spTree>
    <p:extLst>
      <p:ext uri="{BB962C8B-B14F-4D97-AF65-F5344CB8AC3E}">
        <p14:creationId xmlns:p14="http://schemas.microsoft.com/office/powerpoint/2010/main" val="13200863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GB" b="1" dirty="0" smtClean="0"/>
              <a:t>C. Bureaucratic Management</a:t>
            </a:r>
            <a:endParaRPr lang="en-IN" b="1" dirty="0"/>
          </a:p>
        </p:txBody>
      </p:sp>
      <p:sp>
        <p:nvSpPr>
          <p:cNvPr id="3" name="Text Placeholder 2"/>
          <p:cNvSpPr>
            <a:spLocks noGrp="1"/>
          </p:cNvSpPr>
          <p:nvPr>
            <p:ph type="body" idx="1"/>
          </p:nvPr>
        </p:nvSpPr>
        <p:spPr>
          <a:xfrm>
            <a:off x="467893" y="1219200"/>
            <a:ext cx="8086699" cy="2215991"/>
          </a:xfrm>
        </p:spPr>
        <p:txBody>
          <a:bodyPr/>
          <a:lstStyle/>
          <a:p>
            <a:r>
              <a:rPr lang="en-GB" sz="2400" b="1" dirty="0"/>
              <a:t>Max Weber, </a:t>
            </a:r>
            <a:r>
              <a:rPr lang="en-GB" sz="2400" dirty="0"/>
              <a:t>a German scientist, defines bureaucracy as a highly structured, formalized, and also an impersonal organization.</a:t>
            </a:r>
          </a:p>
          <a:p>
            <a:endParaRPr lang="en-GB" sz="2400" dirty="0"/>
          </a:p>
          <a:p>
            <a:r>
              <a:rPr lang="en-GB" sz="2400" dirty="0"/>
              <a:t>He also instituted the belief that an organization must have a defined hierarchical structure and clear rules, regulations, and lines of authority which govern </a:t>
            </a:r>
            <a:r>
              <a:rPr lang="en-GB" sz="2400" dirty="0" smtClean="0"/>
              <a:t>it.</a:t>
            </a:r>
            <a:endParaRPr lang="en-IN" sz="2400" dirty="0"/>
          </a:p>
        </p:txBody>
      </p:sp>
    </p:spTree>
    <p:extLst>
      <p:ext uri="{BB962C8B-B14F-4D97-AF65-F5344CB8AC3E}">
        <p14:creationId xmlns:p14="http://schemas.microsoft.com/office/powerpoint/2010/main" val="10297919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1107996"/>
          </a:xfrm>
        </p:spPr>
        <p:txBody>
          <a:bodyPr/>
          <a:lstStyle/>
          <a:p>
            <a:pPr algn="ctr"/>
            <a:r>
              <a:rPr lang="en-GB" sz="3600" b="1" dirty="0"/>
              <a:t>Max Weber’s Bureaucratic Form – 6 Major Principles</a:t>
            </a:r>
            <a:endParaRPr lang="en-IN" sz="3600" b="1" dirty="0"/>
          </a:p>
        </p:txBody>
      </p:sp>
      <p:sp>
        <p:nvSpPr>
          <p:cNvPr id="3" name="Text Placeholder 2"/>
          <p:cNvSpPr>
            <a:spLocks noGrp="1"/>
          </p:cNvSpPr>
          <p:nvPr>
            <p:ph type="body" idx="1"/>
          </p:nvPr>
        </p:nvSpPr>
        <p:spPr>
          <a:xfrm>
            <a:off x="492772" y="1676400"/>
            <a:ext cx="8086699" cy="4431983"/>
          </a:xfrm>
        </p:spPr>
        <p:txBody>
          <a:bodyPr/>
          <a:lstStyle/>
          <a:p>
            <a:r>
              <a:rPr lang="en-GB" sz="2400" b="1" dirty="0"/>
              <a:t>A formal hierarchical structure – </a:t>
            </a:r>
            <a:r>
              <a:rPr lang="en-GB" sz="2400" dirty="0"/>
              <a:t>In a bureaucratic organization, each level controls the level below it. Also, the level above it controls it. A formal hierarchy is the basis of central planning and centralized decision-making</a:t>
            </a:r>
            <a:r>
              <a:rPr lang="en-GB" sz="2400" dirty="0" smtClean="0"/>
              <a:t>.</a:t>
            </a:r>
          </a:p>
          <a:p>
            <a:endParaRPr lang="en-GB" sz="2400" dirty="0"/>
          </a:p>
          <a:p>
            <a:r>
              <a:rPr lang="en-GB" sz="2400" b="1" dirty="0"/>
              <a:t>Rules-based Management – </a:t>
            </a:r>
            <a:r>
              <a:rPr lang="en-GB" sz="2400" dirty="0"/>
              <a:t>The organization uses rules to exert control. Therefore, the lower levels seamlessly execute the decisions made at higher levels</a:t>
            </a:r>
            <a:r>
              <a:rPr lang="en-GB" sz="2400" dirty="0" smtClean="0"/>
              <a:t>.</a:t>
            </a:r>
          </a:p>
          <a:p>
            <a:endParaRPr lang="en-GB" sz="2400" dirty="0"/>
          </a:p>
          <a:p>
            <a:r>
              <a:rPr lang="en-GB" sz="2400" b="1" dirty="0"/>
              <a:t>Functional Specialty organization – </a:t>
            </a:r>
            <a:r>
              <a:rPr lang="en-GB" sz="2400" dirty="0"/>
              <a:t>Specialists do the work. Also, the organization divides employees into units based on the type of work they do or the skills they possess.</a:t>
            </a:r>
            <a:endParaRPr lang="en-IN" sz="2400" dirty="0"/>
          </a:p>
        </p:txBody>
      </p:sp>
    </p:spTree>
    <p:extLst>
      <p:ext uri="{BB962C8B-B14F-4D97-AF65-F5344CB8AC3E}">
        <p14:creationId xmlns:p14="http://schemas.microsoft.com/office/powerpoint/2010/main" val="8582603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1107996"/>
          </a:xfrm>
        </p:spPr>
        <p:txBody>
          <a:bodyPr/>
          <a:lstStyle/>
          <a:p>
            <a:pPr algn="ctr"/>
            <a:r>
              <a:rPr lang="en-GB" sz="3600" b="1" dirty="0"/>
              <a:t>Max Weber’s Bureaucratic Form – 6 Major Principles</a:t>
            </a:r>
            <a:endParaRPr lang="en-IN" sz="3600" b="1" dirty="0"/>
          </a:p>
        </p:txBody>
      </p:sp>
      <p:sp>
        <p:nvSpPr>
          <p:cNvPr id="3" name="Text Placeholder 2"/>
          <p:cNvSpPr>
            <a:spLocks noGrp="1"/>
          </p:cNvSpPr>
          <p:nvPr>
            <p:ph type="body" idx="1"/>
          </p:nvPr>
        </p:nvSpPr>
        <p:spPr>
          <a:xfrm>
            <a:off x="492772" y="1676400"/>
            <a:ext cx="8086699" cy="4801314"/>
          </a:xfrm>
        </p:spPr>
        <p:txBody>
          <a:bodyPr/>
          <a:lstStyle/>
          <a:p>
            <a:r>
              <a:rPr lang="en-GB" sz="2400" b="1" dirty="0"/>
              <a:t>Up-focused or In-focused Mission – </a:t>
            </a:r>
            <a:r>
              <a:rPr lang="en-GB" sz="2400" dirty="0"/>
              <a:t>If the mission of the organization is to serve the stockholders, board, or any other agency that empowered it, then it is up-focused. On the other hand, if the mission is to serve the organization itself and those within it (like generating profits, etc.), then it is in-focused</a:t>
            </a:r>
            <a:r>
              <a:rPr lang="en-GB" sz="2400" dirty="0" smtClean="0"/>
              <a:t>.</a:t>
            </a:r>
          </a:p>
          <a:p>
            <a:endParaRPr lang="en-GB" sz="2400" dirty="0"/>
          </a:p>
          <a:p>
            <a:r>
              <a:rPr lang="en-GB" sz="2400" b="1" dirty="0"/>
              <a:t>Impersonal – </a:t>
            </a:r>
            <a:r>
              <a:rPr lang="en-GB" sz="2400" dirty="0"/>
              <a:t>Bureaucratic organizations treat all employees equally. They also treat all customers equally and do not allow individual differences to influence them</a:t>
            </a:r>
            <a:r>
              <a:rPr lang="en-GB" sz="2400" dirty="0" smtClean="0"/>
              <a:t>.</a:t>
            </a:r>
          </a:p>
          <a:p>
            <a:endParaRPr lang="en-GB" sz="2400" dirty="0"/>
          </a:p>
          <a:p>
            <a:r>
              <a:rPr lang="en-GB" sz="2400" b="1" dirty="0"/>
              <a:t>Employment-based on Technical Qualifications – </a:t>
            </a:r>
            <a:r>
              <a:rPr lang="en-GB" sz="2400" dirty="0"/>
              <a:t>Selection as well as the promotion of employees is based on technical qualifications and skills.</a:t>
            </a:r>
            <a:endParaRPr lang="en-IN" sz="2400" dirty="0"/>
          </a:p>
        </p:txBody>
      </p:sp>
    </p:spTree>
    <p:extLst>
      <p:ext uri="{BB962C8B-B14F-4D97-AF65-F5344CB8AC3E}">
        <p14:creationId xmlns:p14="http://schemas.microsoft.com/office/powerpoint/2010/main" val="1518267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r>
              <a:rPr lang="en-IN" b="1" dirty="0" smtClean="0"/>
              <a:t>Administration and Management </a:t>
            </a:r>
            <a:endParaRPr lang="en-IN" b="1" dirty="0"/>
          </a:p>
        </p:txBody>
      </p:sp>
      <p:sp>
        <p:nvSpPr>
          <p:cNvPr id="3" name="Text Placeholder 2"/>
          <p:cNvSpPr>
            <a:spLocks noGrp="1"/>
          </p:cNvSpPr>
          <p:nvPr>
            <p:ph type="body" idx="1"/>
          </p:nvPr>
        </p:nvSpPr>
        <p:spPr>
          <a:xfrm>
            <a:off x="492772" y="1143000"/>
            <a:ext cx="8086699" cy="5262979"/>
          </a:xfrm>
        </p:spPr>
        <p:txBody>
          <a:bodyPr/>
          <a:lstStyle/>
          <a:p>
            <a:pPr algn="just"/>
            <a:r>
              <a:rPr lang="en-IN" b="1" dirty="0" smtClean="0"/>
              <a:t>Administration: </a:t>
            </a:r>
          </a:p>
          <a:p>
            <a:pPr algn="just"/>
            <a:r>
              <a:rPr lang="en-GB" sz="2000" dirty="0" smtClean="0"/>
              <a:t>The </a:t>
            </a:r>
            <a:r>
              <a:rPr lang="en-GB" sz="2000" dirty="0"/>
              <a:t>administration is a systematic process of administering the management of a business organization, an educational institution like school or college, government office or any </a:t>
            </a:r>
            <a:r>
              <a:rPr lang="en-GB" sz="2000" dirty="0" err="1"/>
              <a:t>nonprofit</a:t>
            </a:r>
            <a:r>
              <a:rPr lang="en-GB" sz="2000" dirty="0"/>
              <a:t> organization. The main function of administration is the formation of plans, policies, and procedures, setting up of goals and objectives, enforcing rules and regulations, etc.</a:t>
            </a:r>
          </a:p>
          <a:p>
            <a:pPr algn="just"/>
            <a:r>
              <a:rPr lang="en-GB" sz="2000" dirty="0"/>
              <a:t>Administration lays down the fundamental framework of an organization, within which the management of the organization functions</a:t>
            </a:r>
            <a:r>
              <a:rPr lang="en-GB" sz="2000" dirty="0" smtClean="0"/>
              <a:t>.</a:t>
            </a:r>
          </a:p>
          <a:p>
            <a:pPr algn="just"/>
            <a:endParaRPr lang="en-GB" sz="2000" dirty="0"/>
          </a:p>
          <a:p>
            <a:pPr algn="just"/>
            <a:r>
              <a:rPr lang="en-GB" sz="2800" b="1" dirty="0" smtClean="0"/>
              <a:t>Management:</a:t>
            </a:r>
            <a:endParaRPr lang="en-GB" sz="2800" b="1" dirty="0"/>
          </a:p>
          <a:p>
            <a:pPr algn="just"/>
            <a:r>
              <a:rPr lang="en-GB" sz="2000" dirty="0"/>
              <a:t>Management is defined as an act of managing people and their work, for achieving a common goal by using the organization’s resources. It creates an environment under which the manager and his subordinates can work together for the attainment of group objective. It is a group of people who use their skills and talent in running the complete system of the organization.</a:t>
            </a:r>
          </a:p>
          <a:p>
            <a:pPr algn="just"/>
            <a:endParaRPr lang="en-IN" dirty="0"/>
          </a:p>
        </p:txBody>
      </p:sp>
    </p:spTree>
    <p:extLst>
      <p:ext uri="{BB962C8B-B14F-4D97-AF65-F5344CB8AC3E}">
        <p14:creationId xmlns:p14="http://schemas.microsoft.com/office/powerpoint/2010/main" val="22190627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20067146"/>
              </p:ext>
            </p:extLst>
          </p:nvPr>
        </p:nvGraphicFramePr>
        <p:xfrm>
          <a:off x="152400" y="365760"/>
          <a:ext cx="8686800" cy="649224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3378960791"/>
                    </a:ext>
                  </a:extLst>
                </a:gridCol>
                <a:gridCol w="3200400">
                  <a:extLst>
                    <a:ext uri="{9D8B030D-6E8A-4147-A177-3AD203B41FA5}">
                      <a16:colId xmlns:a16="http://schemas.microsoft.com/office/drawing/2014/main" val="3039884494"/>
                    </a:ext>
                  </a:extLst>
                </a:gridCol>
                <a:gridCol w="3581400">
                  <a:extLst>
                    <a:ext uri="{9D8B030D-6E8A-4147-A177-3AD203B41FA5}">
                      <a16:colId xmlns:a16="http://schemas.microsoft.com/office/drawing/2014/main" val="2488875005"/>
                    </a:ext>
                  </a:extLst>
                </a:gridCol>
              </a:tblGrid>
              <a:tr h="445394">
                <a:tc>
                  <a:txBody>
                    <a:bodyPr/>
                    <a:lstStyle/>
                    <a:p>
                      <a:pPr algn="ctr"/>
                      <a:r>
                        <a:rPr lang="en-IN" sz="2400" smtClean="0"/>
                        <a:t>Basis</a:t>
                      </a:r>
                      <a:endParaRPr lang="en-IN" sz="2400" dirty="0"/>
                    </a:p>
                  </a:txBody>
                  <a:tcPr anchor="ct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IN" sz="2400" smtClean="0"/>
                        <a:t>Administration </a:t>
                      </a:r>
                      <a:endParaRPr lang="en-IN" sz="2400" dirty="0" smtClean="0"/>
                    </a:p>
                  </a:txBody>
                  <a:tcPr anchor="ctr"/>
                </a:tc>
                <a:tc>
                  <a:txBody>
                    <a:bodyPr/>
                    <a:lstStyle/>
                    <a:p>
                      <a:pPr algn="ctr"/>
                      <a:r>
                        <a:rPr lang="en-IN" sz="2400" smtClean="0"/>
                        <a:t>Management</a:t>
                      </a:r>
                      <a:endParaRPr lang="en-IN" sz="2400" dirty="0"/>
                    </a:p>
                  </a:txBody>
                  <a:tcPr anchor="ctr"/>
                </a:tc>
                <a:extLst>
                  <a:ext uri="{0D108BD9-81ED-4DB2-BD59-A6C34878D82A}">
                    <a16:rowId xmlns:a16="http://schemas.microsoft.com/office/drawing/2014/main" val="192985981"/>
                  </a:ext>
                </a:extLst>
              </a:tr>
              <a:tr h="356315">
                <a:tc>
                  <a:txBody>
                    <a:bodyPr/>
                    <a:lstStyle/>
                    <a:p>
                      <a:pPr algn="ctr"/>
                      <a:r>
                        <a:rPr lang="en-IN" smtClean="0"/>
                        <a:t>Meaning</a:t>
                      </a:r>
                      <a:endParaRPr lang="en-IN" dirty="0"/>
                    </a:p>
                  </a:txBody>
                  <a:tcPr anchor="ctr"/>
                </a:tc>
                <a:tc>
                  <a:txBody>
                    <a:bodyPr/>
                    <a:lstStyle/>
                    <a:p>
                      <a:endParaRPr lang="en-IN" dirty="0"/>
                    </a:p>
                  </a:txBody>
                  <a:tcPr/>
                </a:tc>
                <a:tc>
                  <a:txBody>
                    <a:bodyPr/>
                    <a:lstStyle/>
                    <a:p>
                      <a:endParaRPr lang="en-IN"/>
                    </a:p>
                  </a:txBody>
                  <a:tcPr/>
                </a:tc>
                <a:extLst>
                  <a:ext uri="{0D108BD9-81ED-4DB2-BD59-A6C34878D82A}">
                    <a16:rowId xmlns:a16="http://schemas.microsoft.com/office/drawing/2014/main" val="2904049589"/>
                  </a:ext>
                </a:extLst>
              </a:tr>
              <a:tr h="1425262">
                <a:tc>
                  <a:txBody>
                    <a:bodyPr/>
                    <a:lstStyle/>
                    <a:p>
                      <a:pPr algn="ctr"/>
                      <a:r>
                        <a:rPr lang="en-IN" smtClean="0"/>
                        <a:t>Focus</a:t>
                      </a:r>
                      <a:endParaRPr lang="en-IN" dirty="0"/>
                    </a:p>
                  </a:txBody>
                  <a:tcPr anchor="ctr"/>
                </a:tc>
                <a:tc>
                  <a:txBody>
                    <a:bodyPr/>
                    <a:lstStyle/>
                    <a:p>
                      <a:pPr algn="just"/>
                      <a:r>
                        <a:rPr lang="en-GB" smtClean="0"/>
                        <a:t>Management is primarily concerned with planning, organizing, directing, and controlling resources to achieve organizational goals.</a:t>
                      </a:r>
                      <a:endParaRPr lang="en-IN" dirty="0"/>
                    </a:p>
                  </a:txBody>
                  <a:tcPr/>
                </a:tc>
                <a:tc>
                  <a:txBody>
                    <a:bodyPr/>
                    <a:lstStyle/>
                    <a:p>
                      <a:pPr algn="just"/>
                      <a:r>
                        <a:rPr lang="en-GB" b="0" i="0" smtClean="0">
                          <a:solidFill>
                            <a:schemeClr val="dk1"/>
                          </a:solidFill>
                          <a:effectLst/>
                          <a:latin typeface="+mn-lt"/>
                          <a:ea typeface="+mn-ea"/>
                          <a:cs typeface="+mn-cs"/>
                        </a:rPr>
                        <a:t>Administration focuses on establishing policies, guidelines, and procedures to ensure the smooth operation of the organization.</a:t>
                      </a:r>
                      <a:endParaRPr lang="en-IN" dirty="0"/>
                    </a:p>
                  </a:txBody>
                  <a:tcPr/>
                </a:tc>
                <a:extLst>
                  <a:ext uri="{0D108BD9-81ED-4DB2-BD59-A6C34878D82A}">
                    <a16:rowId xmlns:a16="http://schemas.microsoft.com/office/drawing/2014/main" val="4072629833"/>
                  </a:ext>
                </a:extLst>
              </a:tr>
              <a:tr h="356315">
                <a:tc>
                  <a:txBody>
                    <a:bodyPr/>
                    <a:lstStyle/>
                    <a:p>
                      <a:pPr algn="ctr"/>
                      <a:r>
                        <a:rPr lang="en-IN" smtClean="0"/>
                        <a:t>Authority</a:t>
                      </a:r>
                      <a:endParaRPr lang="en-IN" dirty="0"/>
                    </a:p>
                  </a:txBody>
                  <a:tcPr/>
                </a:tc>
                <a:tc>
                  <a:txBody>
                    <a:bodyPr/>
                    <a:lstStyle/>
                    <a:p>
                      <a:r>
                        <a:rPr lang="en-IN" b="0" i="0" smtClean="0">
                          <a:solidFill>
                            <a:schemeClr val="dk1"/>
                          </a:solidFill>
                          <a:effectLst/>
                          <a:latin typeface="+mn-lt"/>
                          <a:ea typeface="+mn-ea"/>
                          <a:cs typeface="+mn-cs"/>
                        </a:rPr>
                        <a:t>Top level</a:t>
                      </a:r>
                      <a:endParaRPr lang="en-IN" dirty="0"/>
                    </a:p>
                  </a:txBody>
                  <a:tcPr/>
                </a:tc>
                <a:tc>
                  <a:txBody>
                    <a:bodyPr/>
                    <a:lstStyle/>
                    <a:p>
                      <a:r>
                        <a:rPr lang="en-IN" b="0" i="0" smtClean="0">
                          <a:solidFill>
                            <a:schemeClr val="dk1"/>
                          </a:solidFill>
                          <a:effectLst/>
                          <a:latin typeface="+mn-lt"/>
                          <a:ea typeface="+mn-ea"/>
                          <a:cs typeface="+mn-cs"/>
                        </a:rPr>
                        <a:t>Middle and Lower Level</a:t>
                      </a:r>
                      <a:endParaRPr lang="en-IN" dirty="0"/>
                    </a:p>
                  </a:txBody>
                  <a:tcPr/>
                </a:tc>
                <a:extLst>
                  <a:ext uri="{0D108BD9-81ED-4DB2-BD59-A6C34878D82A}">
                    <a16:rowId xmlns:a16="http://schemas.microsoft.com/office/drawing/2014/main" val="97574064"/>
                  </a:ext>
                </a:extLst>
              </a:tr>
              <a:tr h="356315">
                <a:tc>
                  <a:txBody>
                    <a:bodyPr/>
                    <a:lstStyle/>
                    <a:p>
                      <a:pPr algn="ctr"/>
                      <a:r>
                        <a:rPr lang="en-IN" b="0" i="0" smtClean="0">
                          <a:solidFill>
                            <a:schemeClr val="dk1"/>
                          </a:solidFill>
                          <a:effectLst/>
                          <a:latin typeface="+mn-lt"/>
                          <a:ea typeface="+mn-ea"/>
                          <a:cs typeface="+mn-cs"/>
                        </a:rPr>
                        <a:t>Role</a:t>
                      </a:r>
                      <a:endParaRPr lang="en-IN" dirty="0"/>
                    </a:p>
                  </a:txBody>
                  <a:tcPr/>
                </a:tc>
                <a:tc>
                  <a:txBody>
                    <a:bodyPr/>
                    <a:lstStyle/>
                    <a:p>
                      <a:r>
                        <a:rPr lang="en-IN" b="0" i="0" smtClean="0">
                          <a:solidFill>
                            <a:schemeClr val="dk1"/>
                          </a:solidFill>
                          <a:effectLst/>
                          <a:latin typeface="+mn-lt"/>
                          <a:ea typeface="+mn-ea"/>
                          <a:cs typeface="+mn-cs"/>
                        </a:rPr>
                        <a:t>Decisive</a:t>
                      </a:r>
                      <a:endParaRPr lang="en-IN" dirty="0"/>
                    </a:p>
                  </a:txBody>
                  <a:tcPr/>
                </a:tc>
                <a:tc>
                  <a:txBody>
                    <a:bodyPr/>
                    <a:lstStyle/>
                    <a:p>
                      <a:r>
                        <a:rPr lang="en-IN" b="0" i="0" smtClean="0">
                          <a:solidFill>
                            <a:schemeClr val="dk1"/>
                          </a:solidFill>
                          <a:effectLst/>
                          <a:latin typeface="+mn-lt"/>
                          <a:ea typeface="+mn-ea"/>
                          <a:cs typeface="+mn-cs"/>
                        </a:rPr>
                        <a:t>Executive</a:t>
                      </a:r>
                      <a:endParaRPr lang="en-IN" dirty="0"/>
                    </a:p>
                  </a:txBody>
                  <a:tcPr/>
                </a:tc>
                <a:extLst>
                  <a:ext uri="{0D108BD9-81ED-4DB2-BD59-A6C34878D82A}">
                    <a16:rowId xmlns:a16="http://schemas.microsoft.com/office/drawing/2014/main" val="3375853802"/>
                  </a:ext>
                </a:extLst>
              </a:tr>
              <a:tr h="356315">
                <a:tc>
                  <a:txBody>
                    <a:bodyPr/>
                    <a:lstStyle/>
                    <a:p>
                      <a:pPr algn="ctr"/>
                      <a:r>
                        <a:rPr lang="en-IN" b="0" i="0" smtClean="0">
                          <a:solidFill>
                            <a:schemeClr val="dk1"/>
                          </a:solidFill>
                          <a:effectLst/>
                          <a:latin typeface="+mn-lt"/>
                          <a:ea typeface="+mn-ea"/>
                          <a:cs typeface="+mn-cs"/>
                        </a:rPr>
                        <a:t>Concerned with</a:t>
                      </a:r>
                      <a:endParaRPr lang="en-IN" dirty="0"/>
                    </a:p>
                  </a:txBody>
                  <a:tcPr/>
                </a:tc>
                <a:tc>
                  <a:txBody>
                    <a:bodyPr/>
                    <a:lstStyle/>
                    <a:p>
                      <a:r>
                        <a:rPr lang="en-IN" b="0" i="0" smtClean="0">
                          <a:solidFill>
                            <a:schemeClr val="dk1"/>
                          </a:solidFill>
                          <a:effectLst/>
                          <a:latin typeface="+mn-lt"/>
                          <a:ea typeface="+mn-ea"/>
                          <a:cs typeface="+mn-cs"/>
                        </a:rPr>
                        <a:t>Policy Formulation</a:t>
                      </a:r>
                      <a:endParaRPr lang="en-IN" dirty="0"/>
                    </a:p>
                  </a:txBody>
                  <a:tcPr/>
                </a:tc>
                <a:tc>
                  <a:txBody>
                    <a:bodyPr/>
                    <a:lstStyle/>
                    <a:p>
                      <a:r>
                        <a:rPr lang="en-IN" b="0" i="0" smtClean="0">
                          <a:solidFill>
                            <a:schemeClr val="dk1"/>
                          </a:solidFill>
                          <a:effectLst/>
                          <a:latin typeface="+mn-lt"/>
                          <a:ea typeface="+mn-ea"/>
                          <a:cs typeface="+mn-cs"/>
                        </a:rPr>
                        <a:t>Policy Implementation</a:t>
                      </a:r>
                      <a:endParaRPr lang="en-IN" dirty="0"/>
                    </a:p>
                  </a:txBody>
                  <a:tcPr/>
                </a:tc>
                <a:extLst>
                  <a:ext uri="{0D108BD9-81ED-4DB2-BD59-A6C34878D82A}">
                    <a16:rowId xmlns:a16="http://schemas.microsoft.com/office/drawing/2014/main" val="673094575"/>
                  </a:ext>
                </a:extLst>
              </a:tr>
              <a:tr h="623552">
                <a:tc>
                  <a:txBody>
                    <a:bodyPr/>
                    <a:lstStyle/>
                    <a:p>
                      <a:pPr algn="ctr"/>
                      <a:r>
                        <a:rPr lang="en-IN" b="0" i="0" smtClean="0">
                          <a:solidFill>
                            <a:schemeClr val="dk1"/>
                          </a:solidFill>
                          <a:effectLst/>
                          <a:latin typeface="+mn-lt"/>
                          <a:ea typeface="+mn-ea"/>
                          <a:cs typeface="+mn-cs"/>
                        </a:rPr>
                        <a:t>Area of operation</a:t>
                      </a:r>
                      <a:endParaRPr lang="en-IN"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GB" b="0" i="0" dirty="0" smtClean="0">
                          <a:solidFill>
                            <a:schemeClr val="dk1"/>
                          </a:solidFill>
                          <a:effectLst/>
                          <a:latin typeface="+mn-lt"/>
                          <a:ea typeface="+mn-ea"/>
                          <a:cs typeface="+mn-cs"/>
                        </a:rPr>
                        <a:t>It has full control over the activities of the organization.</a:t>
                      </a:r>
                      <a:endParaRPr lang="en-IN" dirty="0" smtClean="0"/>
                    </a:p>
                  </a:txBody>
                  <a:tcPr/>
                </a:tc>
                <a:tc>
                  <a:txBody>
                    <a:bodyPr/>
                    <a:lstStyle/>
                    <a:p>
                      <a:r>
                        <a:rPr lang="en-IN" b="0" i="0" dirty="0" smtClean="0">
                          <a:solidFill>
                            <a:schemeClr val="dk1"/>
                          </a:solidFill>
                          <a:effectLst/>
                          <a:latin typeface="+mn-lt"/>
                          <a:ea typeface="+mn-ea"/>
                          <a:cs typeface="+mn-cs"/>
                        </a:rPr>
                        <a:t>It works under administration.</a:t>
                      </a:r>
                      <a:endParaRPr lang="en-IN" b="1" dirty="0"/>
                    </a:p>
                  </a:txBody>
                  <a:tcPr/>
                </a:tc>
                <a:extLst>
                  <a:ext uri="{0D108BD9-81ED-4DB2-BD59-A6C34878D82A}">
                    <a16:rowId xmlns:a16="http://schemas.microsoft.com/office/drawing/2014/main" val="26739519"/>
                  </a:ext>
                </a:extLst>
              </a:tr>
              <a:tr h="1158025">
                <a:tc>
                  <a:txBody>
                    <a:bodyPr/>
                    <a:lstStyle/>
                    <a:p>
                      <a:pPr algn="ctr"/>
                      <a:r>
                        <a:rPr lang="en-IN" b="0" i="0" smtClean="0">
                          <a:solidFill>
                            <a:schemeClr val="dk1"/>
                          </a:solidFill>
                          <a:effectLst/>
                          <a:latin typeface="+mn-lt"/>
                          <a:ea typeface="+mn-ea"/>
                          <a:cs typeface="+mn-cs"/>
                        </a:rPr>
                        <a:t>Applicable to</a:t>
                      </a:r>
                      <a:endParaRPr lang="en-IN" dirty="0"/>
                    </a:p>
                  </a:txBody>
                  <a:tcPr/>
                </a:tc>
                <a:tc>
                  <a:txBody>
                    <a:bodyPr/>
                    <a:lstStyle/>
                    <a:p>
                      <a:r>
                        <a:rPr lang="en-GB" b="0" i="0" smtClean="0">
                          <a:solidFill>
                            <a:schemeClr val="dk1"/>
                          </a:solidFill>
                          <a:effectLst/>
                          <a:latin typeface="+mn-lt"/>
                          <a:ea typeface="+mn-ea"/>
                          <a:cs typeface="+mn-cs"/>
                        </a:rPr>
                        <a:t>Government offices, military, clubs, business enterprises, hospitals, religious and educational organizations</a:t>
                      </a:r>
                      <a:endParaRPr lang="en-IN" dirty="0"/>
                    </a:p>
                  </a:txBody>
                  <a:tcPr/>
                </a:tc>
                <a:tc>
                  <a:txBody>
                    <a:bodyPr/>
                    <a:lstStyle/>
                    <a:p>
                      <a:r>
                        <a:rPr lang="en-GB" b="0" i="0" dirty="0" smtClean="0">
                          <a:solidFill>
                            <a:schemeClr val="dk1"/>
                          </a:solidFill>
                          <a:effectLst/>
                          <a:latin typeface="+mn-lt"/>
                          <a:ea typeface="+mn-ea"/>
                          <a:cs typeface="+mn-cs"/>
                        </a:rPr>
                        <a:t>Profit making organizations, i.e. business organizations.</a:t>
                      </a:r>
                      <a:endParaRPr lang="en-IN" dirty="0"/>
                    </a:p>
                  </a:txBody>
                  <a:tcPr/>
                </a:tc>
                <a:extLst>
                  <a:ext uri="{0D108BD9-81ED-4DB2-BD59-A6C34878D82A}">
                    <a16:rowId xmlns:a16="http://schemas.microsoft.com/office/drawing/2014/main" val="899078244"/>
                  </a:ext>
                </a:extLst>
              </a:tr>
              <a:tr h="623552">
                <a:tc>
                  <a:txBody>
                    <a:bodyPr/>
                    <a:lstStyle/>
                    <a:p>
                      <a:pPr algn="ctr"/>
                      <a:r>
                        <a:rPr lang="en-IN" dirty="0" smtClean="0"/>
                        <a:t>Work</a:t>
                      </a:r>
                      <a:endParaRPr lang="en-IN" dirty="0"/>
                    </a:p>
                  </a:txBody>
                  <a:tcPr/>
                </a:tc>
                <a:tc>
                  <a:txBody>
                    <a:bodyPr/>
                    <a:lstStyle/>
                    <a:p>
                      <a:r>
                        <a:rPr lang="en-GB" b="0" i="0" dirty="0" smtClean="0">
                          <a:solidFill>
                            <a:schemeClr val="dk1"/>
                          </a:solidFill>
                          <a:effectLst/>
                          <a:latin typeface="+mn-lt"/>
                          <a:ea typeface="+mn-ea"/>
                          <a:cs typeface="+mn-cs"/>
                        </a:rPr>
                        <a:t>Formulation of plans, framing policies and setting objectives</a:t>
                      </a:r>
                      <a:endParaRPr lang="en-IN" dirty="0"/>
                    </a:p>
                  </a:txBody>
                  <a:tcPr/>
                </a:tc>
                <a:tc>
                  <a:txBody>
                    <a:bodyPr/>
                    <a:lstStyle/>
                    <a:p>
                      <a:r>
                        <a:rPr lang="en-GB" b="0" i="0" dirty="0" smtClean="0">
                          <a:solidFill>
                            <a:schemeClr val="dk1"/>
                          </a:solidFill>
                          <a:effectLst/>
                          <a:latin typeface="+mn-lt"/>
                          <a:ea typeface="+mn-ea"/>
                          <a:cs typeface="+mn-cs"/>
                        </a:rPr>
                        <a:t>Putting plans and policies into actions.</a:t>
                      </a:r>
                      <a:endParaRPr lang="en-IN" dirty="0"/>
                    </a:p>
                  </a:txBody>
                  <a:tcPr/>
                </a:tc>
                <a:extLst>
                  <a:ext uri="{0D108BD9-81ED-4DB2-BD59-A6C34878D82A}">
                    <a16:rowId xmlns:a16="http://schemas.microsoft.com/office/drawing/2014/main" val="3007343002"/>
                  </a:ext>
                </a:extLst>
              </a:tr>
              <a:tr h="623552">
                <a:tc>
                  <a:txBody>
                    <a:bodyPr/>
                    <a:lstStyle/>
                    <a:p>
                      <a:pPr algn="ctr"/>
                      <a:r>
                        <a:rPr lang="en-IN" b="0" i="0" dirty="0" smtClean="0">
                          <a:solidFill>
                            <a:schemeClr val="dk1"/>
                          </a:solidFill>
                          <a:effectLst/>
                          <a:latin typeface="+mn-lt"/>
                          <a:ea typeface="+mn-ea"/>
                          <a:cs typeface="+mn-cs"/>
                        </a:rPr>
                        <a:t>Represents</a:t>
                      </a:r>
                      <a:endParaRPr lang="en-IN" dirty="0"/>
                    </a:p>
                  </a:txBody>
                  <a:tcPr/>
                </a:tc>
                <a:tc>
                  <a:txBody>
                    <a:bodyPr/>
                    <a:lstStyle/>
                    <a:p>
                      <a:r>
                        <a:rPr lang="en-GB" b="0" i="0" dirty="0" smtClean="0">
                          <a:solidFill>
                            <a:schemeClr val="dk1"/>
                          </a:solidFill>
                          <a:effectLst/>
                          <a:latin typeface="+mn-lt"/>
                          <a:ea typeface="+mn-ea"/>
                          <a:cs typeface="+mn-cs"/>
                        </a:rPr>
                        <a:t>Owners, who get a return on the capital invested by them.</a:t>
                      </a:r>
                      <a:endParaRPr lang="en-IN" dirty="0"/>
                    </a:p>
                  </a:txBody>
                  <a:tcPr/>
                </a:tc>
                <a:tc>
                  <a:txBody>
                    <a:bodyPr/>
                    <a:lstStyle/>
                    <a:p>
                      <a:r>
                        <a:rPr lang="en-GB" b="0" i="0" dirty="0" smtClean="0">
                          <a:solidFill>
                            <a:schemeClr val="dk1"/>
                          </a:solidFill>
                          <a:effectLst/>
                          <a:latin typeface="+mn-lt"/>
                          <a:ea typeface="+mn-ea"/>
                          <a:cs typeface="+mn-cs"/>
                        </a:rPr>
                        <a:t>Employees, who work for remuneration</a:t>
                      </a:r>
                      <a:endParaRPr lang="en-IN" dirty="0"/>
                    </a:p>
                  </a:txBody>
                  <a:tcPr/>
                </a:tc>
                <a:extLst>
                  <a:ext uri="{0D108BD9-81ED-4DB2-BD59-A6C34878D82A}">
                    <a16:rowId xmlns:a16="http://schemas.microsoft.com/office/drawing/2014/main" val="258818603"/>
                  </a:ext>
                </a:extLst>
              </a:tr>
            </a:tbl>
          </a:graphicData>
        </a:graphic>
      </p:graphicFrame>
      <p:sp>
        <p:nvSpPr>
          <p:cNvPr id="3" name="TextBox 2"/>
          <p:cNvSpPr txBox="1"/>
          <p:nvPr/>
        </p:nvSpPr>
        <p:spPr>
          <a:xfrm>
            <a:off x="838200" y="30480"/>
            <a:ext cx="8001000" cy="461665"/>
          </a:xfrm>
          <a:prstGeom prst="rect">
            <a:avLst/>
          </a:prstGeom>
          <a:noFill/>
        </p:spPr>
        <p:txBody>
          <a:bodyPr wrap="square" rtlCol="0">
            <a:spAutoFit/>
          </a:bodyPr>
          <a:lstStyle/>
          <a:p>
            <a:r>
              <a:rPr lang="en-IN" sz="2400" b="1" dirty="0" smtClean="0"/>
              <a:t>Difference between Administration and Management</a:t>
            </a:r>
            <a:endParaRPr lang="en-IN" sz="2400" b="1" dirty="0"/>
          </a:p>
        </p:txBody>
      </p:sp>
    </p:spTree>
    <p:extLst>
      <p:ext uri="{BB962C8B-B14F-4D97-AF65-F5344CB8AC3E}">
        <p14:creationId xmlns:p14="http://schemas.microsoft.com/office/powerpoint/2010/main" val="41976660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761746"/>
          </a:xfrm>
          <a:prstGeom prst="rect">
            <a:avLst/>
          </a:prstGeom>
        </p:spPr>
        <p:txBody>
          <a:bodyPr vert="horz" wrap="square" lIns="0" tIns="266699" rIns="0" bIns="0" rtlCol="0">
            <a:spAutoFit/>
          </a:bodyPr>
          <a:lstStyle/>
          <a:p>
            <a:pPr marL="2708275">
              <a:lnSpc>
                <a:spcPct val="100000"/>
              </a:lnSpc>
              <a:spcBef>
                <a:spcPts val="105"/>
              </a:spcBef>
            </a:pPr>
            <a:r>
              <a:rPr sz="3200" b="1" dirty="0"/>
              <a:t>Management</a:t>
            </a:r>
            <a:r>
              <a:rPr sz="3200" b="1" spc="-105" dirty="0"/>
              <a:t> </a:t>
            </a:r>
            <a:r>
              <a:rPr sz="3200" b="1" spc="-10" dirty="0"/>
              <a:t>Functions</a:t>
            </a:r>
            <a:endParaRPr sz="3200" b="1" dirty="0"/>
          </a:p>
        </p:txBody>
      </p:sp>
      <p:pic>
        <p:nvPicPr>
          <p:cNvPr id="3" name="object 3"/>
          <p:cNvPicPr/>
          <p:nvPr/>
        </p:nvPicPr>
        <p:blipFill>
          <a:blip r:embed="rId2" cstate="print"/>
          <a:stretch>
            <a:fillRect/>
          </a:stretch>
        </p:blipFill>
        <p:spPr>
          <a:xfrm>
            <a:off x="685800" y="1219200"/>
            <a:ext cx="7620000" cy="52578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3109" y="129286"/>
            <a:ext cx="2559050" cy="750205"/>
          </a:xfrm>
          <a:prstGeom prst="rect">
            <a:avLst/>
          </a:prstGeom>
        </p:spPr>
        <p:txBody>
          <a:bodyPr vert="horz" wrap="square" lIns="0" tIns="11430" rIns="0" bIns="0" rtlCol="0">
            <a:spAutoFit/>
          </a:bodyPr>
          <a:lstStyle/>
          <a:p>
            <a:pPr marL="12700">
              <a:lnSpc>
                <a:spcPct val="100000"/>
              </a:lnSpc>
              <a:spcBef>
                <a:spcPts val="90"/>
              </a:spcBef>
            </a:pPr>
            <a:r>
              <a:rPr sz="4800" b="1" spc="-10" dirty="0" smtClean="0"/>
              <a:t>Planning</a:t>
            </a:r>
            <a:endParaRPr sz="4800" b="1" spc="-10" dirty="0"/>
          </a:p>
        </p:txBody>
      </p:sp>
      <p:sp>
        <p:nvSpPr>
          <p:cNvPr id="3" name="object 3"/>
          <p:cNvSpPr txBox="1"/>
          <p:nvPr/>
        </p:nvSpPr>
        <p:spPr>
          <a:xfrm>
            <a:off x="536244" y="926718"/>
            <a:ext cx="8079740" cy="5412764"/>
          </a:xfrm>
          <a:prstGeom prst="rect">
            <a:avLst/>
          </a:prstGeom>
        </p:spPr>
        <p:txBody>
          <a:bodyPr vert="horz" wrap="square" lIns="0" tIns="93980" rIns="0" bIns="0" rtlCol="0">
            <a:spAutoFit/>
          </a:bodyPr>
          <a:lstStyle/>
          <a:p>
            <a:pPr marL="12065" marR="12700" algn="just">
              <a:lnSpc>
                <a:spcPts val="2590"/>
              </a:lnSpc>
              <a:spcBef>
                <a:spcPts val="740"/>
              </a:spcBef>
              <a:tabLst>
                <a:tab pos="357505" algn="l"/>
              </a:tabLst>
            </a:pPr>
            <a:r>
              <a:rPr sz="2700" b="1" dirty="0">
                <a:latin typeface="Calibri"/>
                <a:cs typeface="Calibri"/>
              </a:rPr>
              <a:t>Planning</a:t>
            </a:r>
            <a:r>
              <a:rPr sz="2700" b="1" spc="15" dirty="0">
                <a:latin typeface="Calibri"/>
                <a:cs typeface="Calibri"/>
              </a:rPr>
              <a:t> </a:t>
            </a:r>
            <a:r>
              <a:rPr sz="2700" dirty="0">
                <a:latin typeface="Calibri"/>
                <a:cs typeface="Calibri"/>
              </a:rPr>
              <a:t>is</a:t>
            </a:r>
            <a:r>
              <a:rPr sz="2700" spc="-15" dirty="0">
                <a:latin typeface="Calibri"/>
                <a:cs typeface="Calibri"/>
              </a:rPr>
              <a:t> </a:t>
            </a:r>
            <a:r>
              <a:rPr sz="2700" dirty="0">
                <a:latin typeface="Calibri"/>
                <a:cs typeface="Calibri"/>
              </a:rPr>
              <a:t>ascertaining</a:t>
            </a:r>
            <a:r>
              <a:rPr sz="2700" spc="5" dirty="0">
                <a:latin typeface="Calibri"/>
                <a:cs typeface="Calibri"/>
              </a:rPr>
              <a:t> </a:t>
            </a:r>
            <a:r>
              <a:rPr sz="2700" dirty="0">
                <a:latin typeface="Calibri"/>
                <a:cs typeface="Calibri"/>
              </a:rPr>
              <a:t>prior</a:t>
            </a:r>
            <a:r>
              <a:rPr sz="2700" spc="-35" dirty="0">
                <a:latin typeface="Calibri"/>
                <a:cs typeface="Calibri"/>
              </a:rPr>
              <a:t> </a:t>
            </a:r>
            <a:r>
              <a:rPr sz="2700" dirty="0">
                <a:latin typeface="Calibri"/>
                <a:cs typeface="Calibri"/>
              </a:rPr>
              <a:t>to</a:t>
            </a:r>
            <a:r>
              <a:rPr sz="2700" spc="-25" dirty="0">
                <a:latin typeface="Calibri"/>
                <a:cs typeface="Calibri"/>
              </a:rPr>
              <a:t> </a:t>
            </a:r>
            <a:r>
              <a:rPr sz="2700" dirty="0">
                <a:latin typeface="Calibri"/>
                <a:cs typeface="Calibri"/>
              </a:rPr>
              <a:t>what</a:t>
            </a:r>
            <a:r>
              <a:rPr sz="2700" spc="-5" dirty="0">
                <a:latin typeface="Calibri"/>
                <a:cs typeface="Calibri"/>
              </a:rPr>
              <a:t> </a:t>
            </a:r>
            <a:r>
              <a:rPr sz="2700" dirty="0">
                <a:latin typeface="Calibri"/>
                <a:cs typeface="Calibri"/>
              </a:rPr>
              <a:t>to</a:t>
            </a:r>
            <a:r>
              <a:rPr sz="2700" spc="20" dirty="0">
                <a:latin typeface="Calibri"/>
                <a:cs typeface="Calibri"/>
              </a:rPr>
              <a:t> </a:t>
            </a:r>
            <a:r>
              <a:rPr sz="2700" dirty="0">
                <a:latin typeface="Calibri"/>
                <a:cs typeface="Calibri"/>
              </a:rPr>
              <a:t>do and</a:t>
            </a:r>
            <a:r>
              <a:rPr sz="2700" spc="-15" dirty="0">
                <a:latin typeface="Calibri"/>
                <a:cs typeface="Calibri"/>
              </a:rPr>
              <a:t> </a:t>
            </a:r>
            <a:r>
              <a:rPr sz="2700" dirty="0">
                <a:latin typeface="Calibri"/>
                <a:cs typeface="Calibri"/>
              </a:rPr>
              <a:t>how</a:t>
            </a:r>
            <a:r>
              <a:rPr sz="2700" spc="-5" dirty="0">
                <a:latin typeface="Calibri"/>
                <a:cs typeface="Calibri"/>
              </a:rPr>
              <a:t> </a:t>
            </a:r>
            <a:r>
              <a:rPr sz="2700" spc="-25" dirty="0">
                <a:latin typeface="Calibri"/>
                <a:cs typeface="Calibri"/>
              </a:rPr>
              <a:t>to </a:t>
            </a:r>
            <a:r>
              <a:rPr sz="2700" dirty="0">
                <a:latin typeface="Calibri"/>
                <a:cs typeface="Calibri"/>
              </a:rPr>
              <a:t>do.</a:t>
            </a:r>
            <a:r>
              <a:rPr sz="2700" spc="-45" dirty="0">
                <a:latin typeface="Calibri"/>
                <a:cs typeface="Calibri"/>
              </a:rPr>
              <a:t> </a:t>
            </a:r>
            <a:r>
              <a:rPr sz="2700" dirty="0">
                <a:latin typeface="Calibri"/>
                <a:cs typeface="Calibri"/>
              </a:rPr>
              <a:t>It is</a:t>
            </a:r>
            <a:r>
              <a:rPr sz="2700" spc="-35" dirty="0">
                <a:latin typeface="Calibri"/>
                <a:cs typeface="Calibri"/>
              </a:rPr>
              <a:t> </a:t>
            </a:r>
            <a:r>
              <a:rPr sz="2700" dirty="0">
                <a:latin typeface="Calibri"/>
                <a:cs typeface="Calibri"/>
              </a:rPr>
              <a:t>one</a:t>
            </a:r>
            <a:r>
              <a:rPr sz="2700" spc="-55" dirty="0">
                <a:latin typeface="Calibri"/>
                <a:cs typeface="Calibri"/>
              </a:rPr>
              <a:t> </a:t>
            </a:r>
            <a:r>
              <a:rPr sz="2700" dirty="0">
                <a:latin typeface="Calibri"/>
                <a:cs typeface="Calibri"/>
              </a:rPr>
              <a:t>of</a:t>
            </a:r>
            <a:r>
              <a:rPr sz="2700" spc="-15" dirty="0">
                <a:latin typeface="Calibri"/>
                <a:cs typeface="Calibri"/>
              </a:rPr>
              <a:t> </a:t>
            </a:r>
            <a:r>
              <a:rPr sz="2700" dirty="0">
                <a:latin typeface="Calibri"/>
                <a:cs typeface="Calibri"/>
              </a:rPr>
              <a:t>the</a:t>
            </a:r>
            <a:r>
              <a:rPr sz="2700" spc="-60" dirty="0">
                <a:latin typeface="Calibri"/>
                <a:cs typeface="Calibri"/>
              </a:rPr>
              <a:t> </a:t>
            </a:r>
            <a:r>
              <a:rPr sz="2700" dirty="0">
                <a:latin typeface="Calibri"/>
                <a:cs typeface="Calibri"/>
              </a:rPr>
              <a:t>primary</a:t>
            </a:r>
            <a:r>
              <a:rPr sz="2700" spc="-30" dirty="0">
                <a:latin typeface="Calibri"/>
                <a:cs typeface="Calibri"/>
              </a:rPr>
              <a:t> </a:t>
            </a:r>
            <a:r>
              <a:rPr sz="2700" dirty="0">
                <a:latin typeface="Calibri"/>
                <a:cs typeface="Calibri"/>
              </a:rPr>
              <a:t>managerial</a:t>
            </a:r>
            <a:r>
              <a:rPr sz="2700" spc="-45" dirty="0">
                <a:latin typeface="Calibri"/>
                <a:cs typeface="Calibri"/>
              </a:rPr>
              <a:t> </a:t>
            </a:r>
            <a:r>
              <a:rPr sz="2700" spc="-10" dirty="0">
                <a:latin typeface="Calibri"/>
                <a:cs typeface="Calibri"/>
              </a:rPr>
              <a:t>duties</a:t>
            </a:r>
            <a:endParaRPr sz="2700" dirty="0">
              <a:latin typeface="Calibri"/>
              <a:cs typeface="Calibri"/>
            </a:endParaRPr>
          </a:p>
          <a:p>
            <a:pPr marL="356870" marR="5080" indent="-344805" algn="just">
              <a:lnSpc>
                <a:spcPct val="80100"/>
              </a:lnSpc>
              <a:spcBef>
                <a:spcPts val="670"/>
              </a:spcBef>
              <a:buFont typeface="Arial MT"/>
              <a:buChar char="•"/>
              <a:tabLst>
                <a:tab pos="357505" algn="l"/>
              </a:tabLst>
            </a:pPr>
            <a:r>
              <a:rPr sz="2700" dirty="0">
                <a:latin typeface="Calibri"/>
                <a:cs typeface="Calibri"/>
              </a:rPr>
              <a:t>According</a:t>
            </a:r>
            <a:r>
              <a:rPr sz="2700" spc="440" dirty="0">
                <a:latin typeface="Calibri"/>
                <a:cs typeface="Calibri"/>
              </a:rPr>
              <a:t> </a:t>
            </a:r>
            <a:r>
              <a:rPr sz="2700" dirty="0">
                <a:latin typeface="Calibri"/>
                <a:cs typeface="Calibri"/>
              </a:rPr>
              <a:t>to</a:t>
            </a:r>
            <a:r>
              <a:rPr sz="2700" spc="450" dirty="0">
                <a:latin typeface="Calibri"/>
                <a:cs typeface="Calibri"/>
              </a:rPr>
              <a:t> </a:t>
            </a:r>
            <a:r>
              <a:rPr sz="2700" dirty="0">
                <a:latin typeface="Calibri"/>
                <a:cs typeface="Calibri"/>
              </a:rPr>
              <a:t>Henry</a:t>
            </a:r>
            <a:r>
              <a:rPr sz="2700" spc="440" dirty="0">
                <a:latin typeface="Calibri"/>
                <a:cs typeface="Calibri"/>
              </a:rPr>
              <a:t> </a:t>
            </a:r>
            <a:r>
              <a:rPr sz="2700" dirty="0">
                <a:latin typeface="Calibri"/>
                <a:cs typeface="Calibri"/>
              </a:rPr>
              <a:t>Fayol</a:t>
            </a:r>
            <a:r>
              <a:rPr sz="2700" spc="415" dirty="0">
                <a:latin typeface="Calibri"/>
                <a:cs typeface="Calibri"/>
              </a:rPr>
              <a:t> </a:t>
            </a:r>
            <a:r>
              <a:rPr sz="2700" dirty="0">
                <a:latin typeface="Calibri"/>
                <a:cs typeface="Calibri"/>
              </a:rPr>
              <a:t>-</a:t>
            </a:r>
            <a:r>
              <a:rPr sz="2700" spc="475" dirty="0">
                <a:latin typeface="Calibri"/>
                <a:cs typeface="Calibri"/>
              </a:rPr>
              <a:t> </a:t>
            </a:r>
            <a:r>
              <a:rPr sz="2700" dirty="0">
                <a:latin typeface="Calibri"/>
                <a:cs typeface="Calibri"/>
              </a:rPr>
              <a:t>"purveyance,</a:t>
            </a:r>
            <a:r>
              <a:rPr sz="2700" spc="420" dirty="0">
                <a:latin typeface="Calibri"/>
                <a:cs typeface="Calibri"/>
              </a:rPr>
              <a:t> </a:t>
            </a:r>
            <a:r>
              <a:rPr sz="2700" dirty="0">
                <a:latin typeface="Calibri"/>
                <a:cs typeface="Calibri"/>
              </a:rPr>
              <a:t>which</a:t>
            </a:r>
            <a:r>
              <a:rPr sz="2700" spc="459" dirty="0">
                <a:latin typeface="Calibri"/>
                <a:cs typeface="Calibri"/>
              </a:rPr>
              <a:t> </a:t>
            </a:r>
            <a:r>
              <a:rPr sz="2700" dirty="0">
                <a:latin typeface="Calibri"/>
                <a:cs typeface="Calibri"/>
              </a:rPr>
              <a:t>is</a:t>
            </a:r>
            <a:r>
              <a:rPr sz="2700" spc="440" dirty="0">
                <a:latin typeface="Calibri"/>
                <a:cs typeface="Calibri"/>
              </a:rPr>
              <a:t> </a:t>
            </a:r>
            <a:r>
              <a:rPr sz="2700" spc="-25" dirty="0">
                <a:latin typeface="Calibri"/>
                <a:cs typeface="Calibri"/>
              </a:rPr>
              <a:t>an </a:t>
            </a:r>
            <a:r>
              <a:rPr sz="2700" dirty="0">
                <a:latin typeface="Calibri"/>
                <a:cs typeface="Calibri"/>
              </a:rPr>
              <a:t>essential</a:t>
            </a:r>
            <a:r>
              <a:rPr sz="2700" spc="295" dirty="0">
                <a:latin typeface="Calibri"/>
                <a:cs typeface="Calibri"/>
              </a:rPr>
              <a:t>  </a:t>
            </a:r>
            <a:r>
              <a:rPr sz="2700" dirty="0">
                <a:latin typeface="Calibri"/>
                <a:cs typeface="Calibri"/>
              </a:rPr>
              <a:t>element</a:t>
            </a:r>
            <a:r>
              <a:rPr sz="2700" spc="280" dirty="0">
                <a:latin typeface="Calibri"/>
                <a:cs typeface="Calibri"/>
              </a:rPr>
              <a:t>  </a:t>
            </a:r>
            <a:r>
              <a:rPr sz="2700" dirty="0">
                <a:latin typeface="Calibri"/>
                <a:cs typeface="Calibri"/>
              </a:rPr>
              <a:t>of</a:t>
            </a:r>
            <a:r>
              <a:rPr sz="2700" spc="290" dirty="0">
                <a:latin typeface="Calibri"/>
                <a:cs typeface="Calibri"/>
              </a:rPr>
              <a:t>  </a:t>
            </a:r>
            <a:r>
              <a:rPr sz="2700" dirty="0">
                <a:latin typeface="Calibri"/>
                <a:cs typeface="Calibri"/>
              </a:rPr>
              <a:t>planning,</a:t>
            </a:r>
            <a:r>
              <a:rPr sz="2700" spc="295" dirty="0">
                <a:latin typeface="Calibri"/>
                <a:cs typeface="Calibri"/>
              </a:rPr>
              <a:t>  </a:t>
            </a:r>
            <a:r>
              <a:rPr sz="2700" dirty="0">
                <a:latin typeface="Calibri"/>
                <a:cs typeface="Calibri"/>
              </a:rPr>
              <a:t>covers</a:t>
            </a:r>
            <a:r>
              <a:rPr sz="2700" spc="285" dirty="0">
                <a:latin typeface="Calibri"/>
                <a:cs typeface="Calibri"/>
              </a:rPr>
              <a:t>  </a:t>
            </a:r>
            <a:r>
              <a:rPr sz="2700" dirty="0">
                <a:latin typeface="Calibri"/>
                <a:cs typeface="Calibri"/>
              </a:rPr>
              <a:t>not</a:t>
            </a:r>
            <a:r>
              <a:rPr sz="2700" spc="295" dirty="0">
                <a:latin typeface="Calibri"/>
                <a:cs typeface="Calibri"/>
              </a:rPr>
              <a:t>  </a:t>
            </a:r>
            <a:r>
              <a:rPr sz="2700" spc="-10" dirty="0">
                <a:latin typeface="Calibri"/>
                <a:cs typeface="Calibri"/>
              </a:rPr>
              <a:t>merely </a:t>
            </a:r>
            <a:r>
              <a:rPr sz="2700" dirty="0">
                <a:latin typeface="Calibri"/>
                <a:cs typeface="Calibri"/>
              </a:rPr>
              <a:t>looking</a:t>
            </a:r>
            <a:r>
              <a:rPr sz="2700" spc="229" dirty="0">
                <a:latin typeface="Calibri"/>
                <a:cs typeface="Calibri"/>
              </a:rPr>
              <a:t> </a:t>
            </a:r>
            <a:r>
              <a:rPr sz="2700" dirty="0">
                <a:latin typeface="Calibri"/>
                <a:cs typeface="Calibri"/>
              </a:rPr>
              <a:t>into</a:t>
            </a:r>
            <a:r>
              <a:rPr sz="2700" spc="225" dirty="0">
                <a:latin typeface="Calibri"/>
                <a:cs typeface="Calibri"/>
              </a:rPr>
              <a:t> </a:t>
            </a:r>
            <a:r>
              <a:rPr sz="2700" dirty="0">
                <a:latin typeface="Calibri"/>
                <a:cs typeface="Calibri"/>
              </a:rPr>
              <a:t>the</a:t>
            </a:r>
            <a:r>
              <a:rPr sz="2700" spc="229" dirty="0">
                <a:latin typeface="Calibri"/>
                <a:cs typeface="Calibri"/>
              </a:rPr>
              <a:t> </a:t>
            </a:r>
            <a:r>
              <a:rPr sz="2700" dirty="0">
                <a:latin typeface="Calibri"/>
                <a:cs typeface="Calibri"/>
              </a:rPr>
              <a:t>future</a:t>
            </a:r>
            <a:r>
              <a:rPr sz="2700" spc="235" dirty="0">
                <a:latin typeface="Calibri"/>
                <a:cs typeface="Calibri"/>
              </a:rPr>
              <a:t> </a:t>
            </a:r>
            <a:r>
              <a:rPr sz="2700" dirty="0">
                <a:latin typeface="Calibri"/>
                <a:cs typeface="Calibri"/>
              </a:rPr>
              <a:t>but</a:t>
            </a:r>
            <a:r>
              <a:rPr sz="2700" spc="220" dirty="0">
                <a:latin typeface="Calibri"/>
                <a:cs typeface="Calibri"/>
              </a:rPr>
              <a:t> </a:t>
            </a:r>
            <a:r>
              <a:rPr sz="2700" dirty="0">
                <a:latin typeface="Calibri"/>
                <a:cs typeface="Calibri"/>
              </a:rPr>
              <a:t>making</a:t>
            </a:r>
            <a:r>
              <a:rPr sz="2700" spc="235" dirty="0">
                <a:latin typeface="Calibri"/>
                <a:cs typeface="Calibri"/>
              </a:rPr>
              <a:t> </a:t>
            </a:r>
            <a:r>
              <a:rPr sz="2700" dirty="0">
                <a:latin typeface="Calibri"/>
                <a:cs typeface="Calibri"/>
              </a:rPr>
              <a:t>provisions</a:t>
            </a:r>
            <a:r>
              <a:rPr sz="2700" spc="240" dirty="0">
                <a:latin typeface="Calibri"/>
                <a:cs typeface="Calibri"/>
              </a:rPr>
              <a:t> </a:t>
            </a:r>
            <a:r>
              <a:rPr sz="2700" dirty="0">
                <a:latin typeface="Calibri"/>
                <a:cs typeface="Calibri"/>
              </a:rPr>
              <a:t>for</a:t>
            </a:r>
            <a:r>
              <a:rPr sz="2700" spc="204" dirty="0">
                <a:latin typeface="Calibri"/>
                <a:cs typeface="Calibri"/>
              </a:rPr>
              <a:t> </a:t>
            </a:r>
            <a:r>
              <a:rPr sz="2700" dirty="0">
                <a:latin typeface="Calibri"/>
                <a:cs typeface="Calibri"/>
              </a:rPr>
              <a:t>it.</a:t>
            </a:r>
            <a:r>
              <a:rPr sz="2700" spc="235" dirty="0">
                <a:latin typeface="Calibri"/>
                <a:cs typeface="Calibri"/>
              </a:rPr>
              <a:t> </a:t>
            </a:r>
            <a:r>
              <a:rPr sz="2700" spc="-50" dirty="0">
                <a:latin typeface="Calibri"/>
                <a:cs typeface="Calibri"/>
              </a:rPr>
              <a:t>A </a:t>
            </a:r>
            <a:r>
              <a:rPr sz="2700" dirty="0">
                <a:latin typeface="Calibri"/>
                <a:cs typeface="Calibri"/>
              </a:rPr>
              <a:t>plan</a:t>
            </a:r>
            <a:r>
              <a:rPr sz="2700" spc="-50" dirty="0">
                <a:latin typeface="Calibri"/>
                <a:cs typeface="Calibri"/>
              </a:rPr>
              <a:t> </a:t>
            </a:r>
            <a:r>
              <a:rPr sz="2700" dirty="0">
                <a:latin typeface="Calibri"/>
                <a:cs typeface="Calibri"/>
              </a:rPr>
              <a:t>is</a:t>
            </a:r>
            <a:r>
              <a:rPr sz="2700" spc="-40" dirty="0">
                <a:latin typeface="Calibri"/>
                <a:cs typeface="Calibri"/>
              </a:rPr>
              <a:t> </a:t>
            </a:r>
            <a:r>
              <a:rPr sz="2700" dirty="0">
                <a:latin typeface="Calibri"/>
                <a:cs typeface="Calibri"/>
              </a:rPr>
              <a:t>then</a:t>
            </a:r>
            <a:r>
              <a:rPr sz="2700" spc="-35" dirty="0">
                <a:latin typeface="Calibri"/>
                <a:cs typeface="Calibri"/>
              </a:rPr>
              <a:t> </a:t>
            </a:r>
            <a:r>
              <a:rPr sz="2700" dirty="0">
                <a:latin typeface="Calibri"/>
                <a:cs typeface="Calibri"/>
              </a:rPr>
              <a:t>a</a:t>
            </a:r>
            <a:r>
              <a:rPr sz="2700" spc="-35" dirty="0">
                <a:latin typeface="Calibri"/>
                <a:cs typeface="Calibri"/>
              </a:rPr>
              <a:t> </a:t>
            </a:r>
            <a:r>
              <a:rPr sz="2700" spc="-10" dirty="0">
                <a:latin typeface="Calibri"/>
                <a:cs typeface="Calibri"/>
              </a:rPr>
              <a:t>projected</a:t>
            </a:r>
            <a:r>
              <a:rPr sz="2700" spc="-85" dirty="0">
                <a:latin typeface="Calibri"/>
                <a:cs typeface="Calibri"/>
              </a:rPr>
              <a:t> </a:t>
            </a:r>
            <a:r>
              <a:rPr sz="2700" dirty="0">
                <a:latin typeface="Calibri"/>
                <a:cs typeface="Calibri"/>
              </a:rPr>
              <a:t>course</a:t>
            </a:r>
            <a:r>
              <a:rPr sz="2700" spc="-65" dirty="0">
                <a:latin typeface="Calibri"/>
                <a:cs typeface="Calibri"/>
              </a:rPr>
              <a:t> </a:t>
            </a:r>
            <a:r>
              <a:rPr sz="2700" dirty="0">
                <a:latin typeface="Calibri"/>
                <a:cs typeface="Calibri"/>
              </a:rPr>
              <a:t>of</a:t>
            </a:r>
            <a:r>
              <a:rPr sz="2700" spc="-40" dirty="0">
                <a:latin typeface="Calibri"/>
                <a:cs typeface="Calibri"/>
              </a:rPr>
              <a:t> </a:t>
            </a:r>
            <a:r>
              <a:rPr sz="2700" spc="-10" dirty="0">
                <a:latin typeface="Calibri"/>
                <a:cs typeface="Calibri"/>
              </a:rPr>
              <a:t>action“</a:t>
            </a:r>
            <a:endParaRPr sz="2700" dirty="0">
              <a:latin typeface="Calibri"/>
              <a:cs typeface="Calibri"/>
            </a:endParaRPr>
          </a:p>
          <a:p>
            <a:pPr marL="356870" marR="5080" indent="-344805" algn="just">
              <a:lnSpc>
                <a:spcPts val="2590"/>
              </a:lnSpc>
              <a:spcBef>
                <a:spcPts val="625"/>
              </a:spcBef>
              <a:buFont typeface="Arial MT"/>
              <a:buChar char="•"/>
              <a:tabLst>
                <a:tab pos="357505" algn="l"/>
              </a:tabLst>
            </a:pPr>
            <a:r>
              <a:rPr sz="2700" dirty="0">
                <a:latin typeface="Calibri"/>
                <a:cs typeface="Calibri"/>
              </a:rPr>
              <a:t>Before</a:t>
            </a:r>
            <a:r>
              <a:rPr sz="2700" spc="155" dirty="0">
                <a:latin typeface="Calibri"/>
                <a:cs typeface="Calibri"/>
              </a:rPr>
              <a:t> </a:t>
            </a:r>
            <a:r>
              <a:rPr sz="2700" dirty="0">
                <a:latin typeface="Calibri"/>
                <a:cs typeface="Calibri"/>
              </a:rPr>
              <a:t>any</a:t>
            </a:r>
            <a:r>
              <a:rPr sz="2700" spc="150" dirty="0">
                <a:latin typeface="Calibri"/>
                <a:cs typeface="Calibri"/>
              </a:rPr>
              <a:t> </a:t>
            </a:r>
            <a:r>
              <a:rPr sz="2700" dirty="0">
                <a:latin typeface="Calibri"/>
                <a:cs typeface="Calibri"/>
              </a:rPr>
              <a:t>operative</a:t>
            </a:r>
            <a:r>
              <a:rPr sz="2700" spc="145" dirty="0">
                <a:latin typeface="Calibri"/>
                <a:cs typeface="Calibri"/>
              </a:rPr>
              <a:t> </a:t>
            </a:r>
            <a:r>
              <a:rPr sz="2700" dirty="0">
                <a:latin typeface="Calibri"/>
                <a:cs typeface="Calibri"/>
              </a:rPr>
              <a:t>action</a:t>
            </a:r>
            <a:r>
              <a:rPr sz="2700" spc="145" dirty="0">
                <a:latin typeface="Calibri"/>
                <a:cs typeface="Calibri"/>
              </a:rPr>
              <a:t> </a:t>
            </a:r>
            <a:r>
              <a:rPr sz="2700" dirty="0">
                <a:latin typeface="Calibri"/>
                <a:cs typeface="Calibri"/>
              </a:rPr>
              <a:t>takes</a:t>
            </a:r>
            <a:r>
              <a:rPr sz="2700" spc="160" dirty="0">
                <a:latin typeface="Calibri"/>
                <a:cs typeface="Calibri"/>
              </a:rPr>
              <a:t> </a:t>
            </a:r>
            <a:r>
              <a:rPr sz="2700" dirty="0">
                <a:latin typeface="Calibri"/>
                <a:cs typeface="Calibri"/>
              </a:rPr>
              <a:t>place</a:t>
            </a:r>
            <a:r>
              <a:rPr sz="2700" spc="165" dirty="0">
                <a:latin typeface="Calibri"/>
                <a:cs typeface="Calibri"/>
              </a:rPr>
              <a:t> </a:t>
            </a:r>
            <a:r>
              <a:rPr sz="2700" dirty="0">
                <a:latin typeface="Calibri"/>
                <a:cs typeface="Calibri"/>
              </a:rPr>
              <a:t>it</a:t>
            </a:r>
            <a:r>
              <a:rPr sz="2700" spc="175" dirty="0">
                <a:latin typeface="Calibri"/>
                <a:cs typeface="Calibri"/>
              </a:rPr>
              <a:t> </a:t>
            </a:r>
            <a:r>
              <a:rPr sz="2700" dirty="0">
                <a:latin typeface="Calibri"/>
                <a:cs typeface="Calibri"/>
              </a:rPr>
              <a:t>is</a:t>
            </a:r>
            <a:r>
              <a:rPr sz="2700" spc="190" dirty="0">
                <a:latin typeface="Calibri"/>
                <a:cs typeface="Calibri"/>
              </a:rPr>
              <a:t> </a:t>
            </a:r>
            <a:r>
              <a:rPr sz="2700" spc="-10" dirty="0">
                <a:latin typeface="Calibri"/>
                <a:cs typeface="Calibri"/>
              </a:rPr>
              <a:t>necessary </a:t>
            </a:r>
            <a:r>
              <a:rPr sz="2700" dirty="0">
                <a:latin typeface="Calibri"/>
                <a:cs typeface="Calibri"/>
              </a:rPr>
              <a:t>to</a:t>
            </a:r>
            <a:r>
              <a:rPr sz="2700" spc="555" dirty="0">
                <a:latin typeface="Calibri"/>
                <a:cs typeface="Calibri"/>
              </a:rPr>
              <a:t> </a:t>
            </a:r>
            <a:r>
              <a:rPr sz="2700" dirty="0">
                <a:latin typeface="Calibri"/>
                <a:cs typeface="Calibri"/>
              </a:rPr>
              <a:t>decide</a:t>
            </a:r>
            <a:r>
              <a:rPr sz="2700" spc="509" dirty="0">
                <a:latin typeface="Calibri"/>
                <a:cs typeface="Calibri"/>
              </a:rPr>
              <a:t> </a:t>
            </a:r>
            <a:r>
              <a:rPr sz="2700" dirty="0">
                <a:latin typeface="Calibri"/>
                <a:cs typeface="Calibri"/>
              </a:rPr>
              <a:t>what,</a:t>
            </a:r>
            <a:r>
              <a:rPr sz="2700" spc="545" dirty="0">
                <a:latin typeface="Calibri"/>
                <a:cs typeface="Calibri"/>
              </a:rPr>
              <a:t> </a:t>
            </a:r>
            <a:r>
              <a:rPr sz="2700" dirty="0">
                <a:latin typeface="Calibri"/>
                <a:cs typeface="Calibri"/>
              </a:rPr>
              <a:t>where,</a:t>
            </a:r>
            <a:r>
              <a:rPr sz="2700" spc="535" dirty="0">
                <a:latin typeface="Calibri"/>
                <a:cs typeface="Calibri"/>
              </a:rPr>
              <a:t> </a:t>
            </a:r>
            <a:r>
              <a:rPr sz="2700" dirty="0">
                <a:latin typeface="Calibri"/>
                <a:cs typeface="Calibri"/>
              </a:rPr>
              <a:t>when</a:t>
            </a:r>
            <a:r>
              <a:rPr sz="2700" spc="535" dirty="0">
                <a:latin typeface="Calibri"/>
                <a:cs typeface="Calibri"/>
              </a:rPr>
              <a:t> </a:t>
            </a:r>
            <a:r>
              <a:rPr sz="2700" dirty="0">
                <a:latin typeface="Calibri"/>
                <a:cs typeface="Calibri"/>
              </a:rPr>
              <a:t>and</a:t>
            </a:r>
            <a:r>
              <a:rPr sz="2700" spc="540" dirty="0">
                <a:latin typeface="Calibri"/>
                <a:cs typeface="Calibri"/>
              </a:rPr>
              <a:t> </a:t>
            </a:r>
            <a:r>
              <a:rPr sz="2700" dirty="0">
                <a:latin typeface="Calibri"/>
                <a:cs typeface="Calibri"/>
              </a:rPr>
              <a:t>who</a:t>
            </a:r>
            <a:r>
              <a:rPr sz="2700" spc="555" dirty="0">
                <a:latin typeface="Calibri"/>
                <a:cs typeface="Calibri"/>
              </a:rPr>
              <a:t> </a:t>
            </a:r>
            <a:r>
              <a:rPr sz="2700" dirty="0">
                <a:latin typeface="Calibri"/>
                <a:cs typeface="Calibri"/>
              </a:rPr>
              <a:t>shall</a:t>
            </a:r>
            <a:r>
              <a:rPr sz="2700" spc="565" dirty="0">
                <a:latin typeface="Calibri"/>
                <a:cs typeface="Calibri"/>
              </a:rPr>
              <a:t> </a:t>
            </a:r>
            <a:r>
              <a:rPr sz="2700" dirty="0">
                <a:latin typeface="Calibri"/>
                <a:cs typeface="Calibri"/>
              </a:rPr>
              <a:t>do</a:t>
            </a:r>
            <a:r>
              <a:rPr sz="2700" spc="555" dirty="0">
                <a:latin typeface="Calibri"/>
                <a:cs typeface="Calibri"/>
              </a:rPr>
              <a:t> </a:t>
            </a:r>
            <a:r>
              <a:rPr sz="2700" spc="-25" dirty="0">
                <a:latin typeface="Calibri"/>
                <a:cs typeface="Calibri"/>
              </a:rPr>
              <a:t>the </a:t>
            </a:r>
            <a:r>
              <a:rPr sz="2700" spc="-10" dirty="0">
                <a:latin typeface="Calibri"/>
                <a:cs typeface="Calibri"/>
              </a:rPr>
              <a:t>things</a:t>
            </a:r>
            <a:r>
              <a:rPr sz="2700" spc="-10" dirty="0" smtClean="0">
                <a:latin typeface="Calibri"/>
                <a:cs typeface="Calibri"/>
              </a:rPr>
              <a:t>.</a:t>
            </a:r>
            <a:endParaRPr lang="en-IN" sz="2700" spc="-10" dirty="0" smtClean="0">
              <a:latin typeface="Calibri"/>
              <a:cs typeface="Calibri"/>
            </a:endParaRPr>
          </a:p>
          <a:p>
            <a:pPr marL="12065" marR="5080" algn="just">
              <a:lnSpc>
                <a:spcPts val="2590"/>
              </a:lnSpc>
              <a:spcBef>
                <a:spcPts val="625"/>
              </a:spcBef>
              <a:tabLst>
                <a:tab pos="357505" algn="l"/>
              </a:tabLst>
            </a:pPr>
            <a:r>
              <a:rPr lang="en-GB" sz="2800" dirty="0" smtClean="0">
                <a:solidFill>
                  <a:srgbClr val="FF0000"/>
                </a:solidFill>
                <a:latin typeface="Calibri"/>
                <a:cs typeface="Calibri"/>
              </a:rPr>
              <a:t>According</a:t>
            </a:r>
            <a:r>
              <a:rPr lang="en-GB" sz="2800" spc="30" dirty="0" smtClean="0">
                <a:solidFill>
                  <a:srgbClr val="FF0000"/>
                </a:solidFill>
                <a:latin typeface="Calibri"/>
                <a:cs typeface="Calibri"/>
              </a:rPr>
              <a:t> </a:t>
            </a:r>
            <a:r>
              <a:rPr lang="en-GB" sz="2800" dirty="0" smtClean="0">
                <a:solidFill>
                  <a:srgbClr val="FF0000"/>
                </a:solidFill>
                <a:latin typeface="Calibri"/>
                <a:cs typeface="Calibri"/>
              </a:rPr>
              <a:t>to</a:t>
            </a:r>
            <a:r>
              <a:rPr lang="en-GB" sz="2800" spc="35" dirty="0" smtClean="0">
                <a:solidFill>
                  <a:srgbClr val="FF0000"/>
                </a:solidFill>
                <a:latin typeface="Calibri"/>
                <a:cs typeface="Calibri"/>
              </a:rPr>
              <a:t> </a:t>
            </a:r>
            <a:r>
              <a:rPr lang="en-GB" sz="2800" dirty="0" smtClean="0">
                <a:solidFill>
                  <a:srgbClr val="FF0000"/>
                </a:solidFill>
                <a:latin typeface="Calibri"/>
                <a:cs typeface="Calibri"/>
              </a:rPr>
              <a:t>Theo</a:t>
            </a:r>
            <a:r>
              <a:rPr lang="en-GB" sz="2800" spc="35" dirty="0" smtClean="0">
                <a:solidFill>
                  <a:srgbClr val="FF0000"/>
                </a:solidFill>
                <a:latin typeface="Calibri"/>
                <a:cs typeface="Calibri"/>
              </a:rPr>
              <a:t> </a:t>
            </a:r>
            <a:r>
              <a:rPr lang="en-GB" sz="2800" dirty="0" err="1" smtClean="0">
                <a:solidFill>
                  <a:srgbClr val="FF0000"/>
                </a:solidFill>
                <a:latin typeface="Calibri"/>
                <a:cs typeface="Calibri"/>
              </a:rPr>
              <a:t>Haimann</a:t>
            </a:r>
            <a:r>
              <a:rPr lang="en-GB" sz="2800" spc="35" dirty="0" smtClean="0">
                <a:solidFill>
                  <a:srgbClr val="FF0000"/>
                </a:solidFill>
                <a:latin typeface="Calibri"/>
                <a:cs typeface="Calibri"/>
              </a:rPr>
              <a:t> </a:t>
            </a:r>
            <a:r>
              <a:rPr lang="en-GB" sz="2800" dirty="0" smtClean="0">
                <a:solidFill>
                  <a:srgbClr val="FF0000"/>
                </a:solidFill>
                <a:latin typeface="Calibri"/>
                <a:cs typeface="Calibri"/>
              </a:rPr>
              <a:t>-</a:t>
            </a:r>
            <a:r>
              <a:rPr lang="en-GB" sz="2800" spc="45" dirty="0" smtClean="0">
                <a:solidFill>
                  <a:srgbClr val="FF0000"/>
                </a:solidFill>
                <a:latin typeface="Calibri"/>
                <a:cs typeface="Calibri"/>
              </a:rPr>
              <a:t> </a:t>
            </a:r>
            <a:r>
              <a:rPr lang="en-GB" sz="2800" dirty="0" smtClean="0">
                <a:solidFill>
                  <a:srgbClr val="FF0000"/>
                </a:solidFill>
                <a:latin typeface="Calibri"/>
                <a:cs typeface="Calibri"/>
              </a:rPr>
              <a:t>"Planning</a:t>
            </a:r>
            <a:r>
              <a:rPr lang="en-GB" sz="2800" spc="30" dirty="0" smtClean="0">
                <a:solidFill>
                  <a:srgbClr val="FF0000"/>
                </a:solidFill>
                <a:latin typeface="Calibri"/>
                <a:cs typeface="Calibri"/>
              </a:rPr>
              <a:t> </a:t>
            </a:r>
            <a:r>
              <a:rPr lang="en-GB" sz="2800" dirty="0" smtClean="0">
                <a:solidFill>
                  <a:srgbClr val="FF0000"/>
                </a:solidFill>
                <a:latin typeface="Calibri"/>
                <a:cs typeface="Calibri"/>
              </a:rPr>
              <a:t>is</a:t>
            </a:r>
            <a:r>
              <a:rPr lang="en-GB" sz="2800" spc="15" dirty="0" smtClean="0">
                <a:solidFill>
                  <a:srgbClr val="FF0000"/>
                </a:solidFill>
                <a:latin typeface="Calibri"/>
                <a:cs typeface="Calibri"/>
              </a:rPr>
              <a:t> </a:t>
            </a:r>
            <a:r>
              <a:rPr lang="en-GB" sz="2800" dirty="0" smtClean="0">
                <a:solidFill>
                  <a:srgbClr val="FF0000"/>
                </a:solidFill>
                <a:latin typeface="Calibri"/>
                <a:cs typeface="Calibri"/>
              </a:rPr>
              <a:t>deciding</a:t>
            </a:r>
            <a:r>
              <a:rPr lang="en-GB" sz="2800" spc="30" dirty="0" smtClean="0">
                <a:solidFill>
                  <a:srgbClr val="FF0000"/>
                </a:solidFill>
                <a:latin typeface="Calibri"/>
                <a:cs typeface="Calibri"/>
              </a:rPr>
              <a:t> </a:t>
            </a:r>
            <a:r>
              <a:rPr lang="en-GB" sz="2800" dirty="0" smtClean="0">
                <a:solidFill>
                  <a:srgbClr val="FF0000"/>
                </a:solidFill>
                <a:latin typeface="Calibri"/>
                <a:cs typeface="Calibri"/>
              </a:rPr>
              <a:t>in</a:t>
            </a:r>
            <a:r>
              <a:rPr lang="en-GB" sz="2800" spc="40" dirty="0" smtClean="0">
                <a:solidFill>
                  <a:srgbClr val="FF0000"/>
                </a:solidFill>
                <a:latin typeface="Calibri"/>
                <a:cs typeface="Calibri"/>
              </a:rPr>
              <a:t> </a:t>
            </a:r>
            <a:r>
              <a:rPr lang="en-GB" sz="2800" dirty="0" smtClean="0">
                <a:solidFill>
                  <a:srgbClr val="FF0000"/>
                </a:solidFill>
                <a:latin typeface="Calibri"/>
                <a:cs typeface="Calibri"/>
              </a:rPr>
              <a:t>advance</a:t>
            </a:r>
            <a:r>
              <a:rPr lang="en-GB" sz="2800" spc="25" dirty="0" smtClean="0">
                <a:solidFill>
                  <a:srgbClr val="FF0000"/>
                </a:solidFill>
                <a:latin typeface="Calibri"/>
                <a:cs typeface="Calibri"/>
              </a:rPr>
              <a:t> </a:t>
            </a:r>
            <a:r>
              <a:rPr lang="en-GB" sz="2800" dirty="0" smtClean="0">
                <a:solidFill>
                  <a:srgbClr val="FF0000"/>
                </a:solidFill>
                <a:latin typeface="Calibri"/>
                <a:cs typeface="Calibri"/>
              </a:rPr>
              <a:t>what</a:t>
            </a:r>
            <a:r>
              <a:rPr lang="en-GB" sz="2800" spc="30" dirty="0" smtClean="0">
                <a:solidFill>
                  <a:srgbClr val="FF0000"/>
                </a:solidFill>
                <a:latin typeface="Calibri"/>
                <a:cs typeface="Calibri"/>
              </a:rPr>
              <a:t> </a:t>
            </a:r>
            <a:r>
              <a:rPr lang="en-GB" sz="2800" dirty="0" smtClean="0">
                <a:solidFill>
                  <a:srgbClr val="FF0000"/>
                </a:solidFill>
                <a:latin typeface="Calibri"/>
                <a:cs typeface="Calibri"/>
              </a:rPr>
              <a:t>is</a:t>
            </a:r>
            <a:r>
              <a:rPr lang="en-GB" sz="2800" spc="15" dirty="0" smtClean="0">
                <a:solidFill>
                  <a:srgbClr val="FF0000"/>
                </a:solidFill>
                <a:latin typeface="Calibri"/>
                <a:cs typeface="Calibri"/>
              </a:rPr>
              <a:t> </a:t>
            </a:r>
            <a:r>
              <a:rPr lang="en-GB" sz="2800" dirty="0" smtClean="0">
                <a:solidFill>
                  <a:srgbClr val="FF0000"/>
                </a:solidFill>
                <a:latin typeface="Calibri"/>
                <a:cs typeface="Calibri"/>
              </a:rPr>
              <a:t>to</a:t>
            </a:r>
            <a:r>
              <a:rPr lang="en-GB" sz="2800" spc="30" dirty="0" smtClean="0">
                <a:solidFill>
                  <a:srgbClr val="FF0000"/>
                </a:solidFill>
                <a:latin typeface="Calibri"/>
                <a:cs typeface="Calibri"/>
              </a:rPr>
              <a:t> </a:t>
            </a:r>
            <a:r>
              <a:rPr lang="en-GB" sz="2800" spc="-25" dirty="0" smtClean="0">
                <a:solidFill>
                  <a:srgbClr val="FF0000"/>
                </a:solidFill>
                <a:latin typeface="Calibri"/>
                <a:cs typeface="Calibri"/>
              </a:rPr>
              <a:t>be </a:t>
            </a:r>
            <a:r>
              <a:rPr lang="en-GB" sz="2800" dirty="0" smtClean="0">
                <a:solidFill>
                  <a:srgbClr val="FF0000"/>
                </a:solidFill>
                <a:latin typeface="Calibri"/>
                <a:cs typeface="Calibri"/>
              </a:rPr>
              <a:t>done.</a:t>
            </a:r>
            <a:r>
              <a:rPr lang="en-GB" sz="2800" spc="5" dirty="0" smtClean="0">
                <a:solidFill>
                  <a:srgbClr val="FF0000"/>
                </a:solidFill>
                <a:latin typeface="Calibri"/>
                <a:cs typeface="Calibri"/>
              </a:rPr>
              <a:t> </a:t>
            </a:r>
            <a:r>
              <a:rPr lang="en-GB" sz="2800" dirty="0" smtClean="0">
                <a:solidFill>
                  <a:srgbClr val="FF0000"/>
                </a:solidFill>
                <a:latin typeface="Calibri"/>
                <a:cs typeface="Calibri"/>
              </a:rPr>
              <a:t>When</a:t>
            </a:r>
            <a:r>
              <a:rPr lang="en-GB" sz="2800" spc="15" dirty="0" smtClean="0">
                <a:solidFill>
                  <a:srgbClr val="FF0000"/>
                </a:solidFill>
                <a:latin typeface="Calibri"/>
                <a:cs typeface="Calibri"/>
              </a:rPr>
              <a:t> </a:t>
            </a:r>
            <a:r>
              <a:rPr lang="en-GB" sz="2800" dirty="0" smtClean="0">
                <a:solidFill>
                  <a:srgbClr val="FF0000"/>
                </a:solidFill>
                <a:latin typeface="Calibri"/>
                <a:cs typeface="Calibri"/>
              </a:rPr>
              <a:t>a</a:t>
            </a:r>
            <a:r>
              <a:rPr lang="en-GB" sz="2800" spc="15" dirty="0" smtClean="0">
                <a:solidFill>
                  <a:srgbClr val="FF0000"/>
                </a:solidFill>
                <a:latin typeface="Calibri"/>
                <a:cs typeface="Calibri"/>
              </a:rPr>
              <a:t> </a:t>
            </a:r>
            <a:r>
              <a:rPr lang="en-GB" sz="2800" dirty="0" smtClean="0">
                <a:solidFill>
                  <a:srgbClr val="FF0000"/>
                </a:solidFill>
                <a:latin typeface="Calibri"/>
                <a:cs typeface="Calibri"/>
              </a:rPr>
              <a:t>manager</a:t>
            </a:r>
            <a:r>
              <a:rPr lang="en-GB" sz="2800" spc="10" dirty="0" smtClean="0">
                <a:solidFill>
                  <a:srgbClr val="FF0000"/>
                </a:solidFill>
                <a:latin typeface="Calibri"/>
                <a:cs typeface="Calibri"/>
              </a:rPr>
              <a:t> </a:t>
            </a:r>
            <a:r>
              <a:rPr lang="en-GB" sz="2800" dirty="0" smtClean="0">
                <a:solidFill>
                  <a:srgbClr val="FF0000"/>
                </a:solidFill>
                <a:latin typeface="Calibri"/>
                <a:cs typeface="Calibri"/>
              </a:rPr>
              <a:t>plans,</a:t>
            </a:r>
            <a:r>
              <a:rPr lang="en-GB" sz="2800" spc="40" dirty="0" smtClean="0">
                <a:solidFill>
                  <a:srgbClr val="FF0000"/>
                </a:solidFill>
                <a:latin typeface="Calibri"/>
                <a:cs typeface="Calibri"/>
              </a:rPr>
              <a:t> </a:t>
            </a:r>
            <a:r>
              <a:rPr lang="en-GB" sz="2800" dirty="0" smtClean="0">
                <a:solidFill>
                  <a:srgbClr val="FF0000"/>
                </a:solidFill>
                <a:latin typeface="Calibri"/>
                <a:cs typeface="Calibri"/>
              </a:rPr>
              <a:t>he projects</a:t>
            </a:r>
            <a:r>
              <a:rPr lang="en-GB" sz="2800" spc="10" dirty="0" smtClean="0">
                <a:solidFill>
                  <a:srgbClr val="FF0000"/>
                </a:solidFill>
                <a:latin typeface="Calibri"/>
                <a:cs typeface="Calibri"/>
              </a:rPr>
              <a:t> </a:t>
            </a:r>
            <a:r>
              <a:rPr lang="en-GB" sz="2800" dirty="0" smtClean="0">
                <a:solidFill>
                  <a:srgbClr val="FF0000"/>
                </a:solidFill>
                <a:latin typeface="Calibri"/>
                <a:cs typeface="Calibri"/>
              </a:rPr>
              <a:t>a</a:t>
            </a:r>
            <a:r>
              <a:rPr lang="en-GB" sz="2800" spc="35" dirty="0" smtClean="0">
                <a:solidFill>
                  <a:srgbClr val="FF0000"/>
                </a:solidFill>
                <a:latin typeface="Calibri"/>
                <a:cs typeface="Calibri"/>
              </a:rPr>
              <a:t> </a:t>
            </a:r>
            <a:r>
              <a:rPr lang="en-GB" sz="2800" dirty="0" smtClean="0">
                <a:solidFill>
                  <a:srgbClr val="FF0000"/>
                </a:solidFill>
                <a:latin typeface="Calibri"/>
                <a:cs typeface="Calibri"/>
              </a:rPr>
              <a:t>course</a:t>
            </a:r>
            <a:r>
              <a:rPr lang="en-GB" sz="2800" spc="25" dirty="0" smtClean="0">
                <a:solidFill>
                  <a:srgbClr val="FF0000"/>
                </a:solidFill>
                <a:latin typeface="Calibri"/>
                <a:cs typeface="Calibri"/>
              </a:rPr>
              <a:t> </a:t>
            </a:r>
            <a:r>
              <a:rPr lang="en-GB" sz="2800" dirty="0" smtClean="0">
                <a:solidFill>
                  <a:srgbClr val="FF0000"/>
                </a:solidFill>
                <a:latin typeface="Calibri"/>
                <a:cs typeface="Calibri"/>
              </a:rPr>
              <a:t>of action,</a:t>
            </a:r>
            <a:r>
              <a:rPr lang="en-GB" sz="2800" spc="10" dirty="0" smtClean="0">
                <a:solidFill>
                  <a:srgbClr val="FF0000"/>
                </a:solidFill>
                <a:latin typeface="Calibri"/>
                <a:cs typeface="Calibri"/>
              </a:rPr>
              <a:t> </a:t>
            </a:r>
            <a:r>
              <a:rPr lang="en-GB" sz="2800" dirty="0" smtClean="0">
                <a:solidFill>
                  <a:srgbClr val="FF0000"/>
                </a:solidFill>
                <a:latin typeface="Calibri"/>
                <a:cs typeface="Calibri"/>
              </a:rPr>
              <a:t>for</a:t>
            </a:r>
            <a:r>
              <a:rPr lang="en-GB" sz="2800" spc="20" dirty="0" smtClean="0">
                <a:solidFill>
                  <a:srgbClr val="FF0000"/>
                </a:solidFill>
                <a:latin typeface="Calibri"/>
                <a:cs typeface="Calibri"/>
              </a:rPr>
              <a:t> </a:t>
            </a:r>
            <a:r>
              <a:rPr lang="en-GB" sz="2800" dirty="0" smtClean="0">
                <a:solidFill>
                  <a:srgbClr val="FF0000"/>
                </a:solidFill>
                <a:latin typeface="Calibri"/>
                <a:cs typeface="Calibri"/>
              </a:rPr>
              <a:t>the</a:t>
            </a:r>
            <a:r>
              <a:rPr lang="en-GB" sz="2800" spc="20" dirty="0" smtClean="0">
                <a:solidFill>
                  <a:srgbClr val="FF0000"/>
                </a:solidFill>
                <a:latin typeface="Calibri"/>
                <a:cs typeface="Calibri"/>
              </a:rPr>
              <a:t> </a:t>
            </a:r>
            <a:r>
              <a:rPr lang="en-GB" sz="2800" spc="-10" dirty="0" smtClean="0">
                <a:solidFill>
                  <a:srgbClr val="FF0000"/>
                </a:solidFill>
                <a:latin typeface="Calibri"/>
                <a:cs typeface="Calibri"/>
              </a:rPr>
              <a:t>future, </a:t>
            </a:r>
            <a:r>
              <a:rPr lang="en-GB" sz="2800" dirty="0" smtClean="0">
                <a:solidFill>
                  <a:srgbClr val="FF0000"/>
                </a:solidFill>
                <a:latin typeface="Calibri"/>
                <a:cs typeface="Calibri"/>
              </a:rPr>
              <a:t>attempting</a:t>
            </a:r>
            <a:r>
              <a:rPr lang="en-GB" sz="2800" spc="345" dirty="0" smtClean="0">
                <a:solidFill>
                  <a:srgbClr val="FF0000"/>
                </a:solidFill>
                <a:latin typeface="Calibri"/>
                <a:cs typeface="Calibri"/>
              </a:rPr>
              <a:t> </a:t>
            </a:r>
            <a:r>
              <a:rPr lang="en-GB" sz="2800" dirty="0" smtClean="0">
                <a:solidFill>
                  <a:srgbClr val="FF0000"/>
                </a:solidFill>
                <a:latin typeface="Calibri"/>
                <a:cs typeface="Calibri"/>
              </a:rPr>
              <a:t>to</a:t>
            </a:r>
            <a:r>
              <a:rPr lang="en-GB" sz="2800" spc="340" dirty="0" smtClean="0">
                <a:solidFill>
                  <a:srgbClr val="FF0000"/>
                </a:solidFill>
                <a:latin typeface="Calibri"/>
                <a:cs typeface="Calibri"/>
              </a:rPr>
              <a:t> </a:t>
            </a:r>
            <a:r>
              <a:rPr lang="en-GB" sz="2800" dirty="0" smtClean="0">
                <a:solidFill>
                  <a:srgbClr val="FF0000"/>
                </a:solidFill>
                <a:latin typeface="Calibri"/>
                <a:cs typeface="Calibri"/>
              </a:rPr>
              <a:t>achieve</a:t>
            </a:r>
            <a:r>
              <a:rPr lang="en-GB" sz="2800" spc="340" dirty="0" smtClean="0">
                <a:solidFill>
                  <a:srgbClr val="FF0000"/>
                </a:solidFill>
                <a:latin typeface="Calibri"/>
                <a:cs typeface="Calibri"/>
              </a:rPr>
              <a:t> </a:t>
            </a:r>
            <a:r>
              <a:rPr lang="en-GB" sz="2800" dirty="0" smtClean="0">
                <a:solidFill>
                  <a:srgbClr val="FF0000"/>
                </a:solidFill>
                <a:latin typeface="Calibri"/>
                <a:cs typeface="Calibri"/>
              </a:rPr>
              <a:t>a</a:t>
            </a:r>
            <a:r>
              <a:rPr lang="en-GB" sz="2800" spc="345" dirty="0" smtClean="0">
                <a:solidFill>
                  <a:srgbClr val="FF0000"/>
                </a:solidFill>
                <a:latin typeface="Calibri"/>
                <a:cs typeface="Calibri"/>
              </a:rPr>
              <a:t> </a:t>
            </a:r>
            <a:r>
              <a:rPr lang="en-GB" sz="2800" dirty="0" smtClean="0">
                <a:solidFill>
                  <a:srgbClr val="FF0000"/>
                </a:solidFill>
                <a:latin typeface="Calibri"/>
                <a:cs typeface="Calibri"/>
              </a:rPr>
              <a:t>consistent,</a:t>
            </a:r>
            <a:r>
              <a:rPr lang="en-GB" sz="2800" spc="385" dirty="0" smtClean="0">
                <a:solidFill>
                  <a:srgbClr val="FF0000"/>
                </a:solidFill>
                <a:latin typeface="Calibri"/>
                <a:cs typeface="Calibri"/>
              </a:rPr>
              <a:t> </a:t>
            </a:r>
            <a:r>
              <a:rPr lang="en-GB" sz="2800" spc="-30" dirty="0" smtClean="0">
                <a:solidFill>
                  <a:srgbClr val="FF0000"/>
                </a:solidFill>
                <a:latin typeface="Calibri"/>
                <a:cs typeface="Calibri"/>
              </a:rPr>
              <a:t>co-</a:t>
            </a:r>
            <a:r>
              <a:rPr lang="en-GB" sz="2800" dirty="0" smtClean="0">
                <a:solidFill>
                  <a:srgbClr val="FF0000"/>
                </a:solidFill>
                <a:latin typeface="Calibri"/>
                <a:cs typeface="Calibri"/>
              </a:rPr>
              <a:t>ordinated</a:t>
            </a:r>
            <a:r>
              <a:rPr lang="en-GB" sz="2800" spc="355" dirty="0" smtClean="0">
                <a:solidFill>
                  <a:srgbClr val="FF0000"/>
                </a:solidFill>
                <a:latin typeface="Calibri"/>
                <a:cs typeface="Calibri"/>
              </a:rPr>
              <a:t> </a:t>
            </a:r>
            <a:r>
              <a:rPr lang="en-GB" sz="2800" dirty="0" smtClean="0">
                <a:solidFill>
                  <a:srgbClr val="FF0000"/>
                </a:solidFill>
                <a:latin typeface="Calibri"/>
                <a:cs typeface="Calibri"/>
              </a:rPr>
              <a:t>structure</a:t>
            </a:r>
            <a:r>
              <a:rPr lang="en-GB" sz="2800" spc="335" dirty="0" smtClean="0">
                <a:solidFill>
                  <a:srgbClr val="FF0000"/>
                </a:solidFill>
                <a:latin typeface="Calibri"/>
                <a:cs typeface="Calibri"/>
              </a:rPr>
              <a:t> </a:t>
            </a:r>
            <a:r>
              <a:rPr lang="en-GB" sz="2800" dirty="0" smtClean="0">
                <a:solidFill>
                  <a:srgbClr val="FF0000"/>
                </a:solidFill>
                <a:latin typeface="Calibri"/>
                <a:cs typeface="Calibri"/>
              </a:rPr>
              <a:t>of</a:t>
            </a:r>
            <a:r>
              <a:rPr lang="en-GB" sz="2800" spc="335" dirty="0" smtClean="0">
                <a:solidFill>
                  <a:srgbClr val="FF0000"/>
                </a:solidFill>
                <a:latin typeface="Calibri"/>
                <a:cs typeface="Calibri"/>
              </a:rPr>
              <a:t> </a:t>
            </a:r>
            <a:r>
              <a:rPr lang="en-GB" sz="2800" spc="-10" dirty="0" smtClean="0">
                <a:solidFill>
                  <a:srgbClr val="FF0000"/>
                </a:solidFill>
                <a:latin typeface="Calibri"/>
                <a:cs typeface="Calibri"/>
              </a:rPr>
              <a:t>operations </a:t>
            </a:r>
            <a:r>
              <a:rPr lang="en-GB" sz="2800" dirty="0" smtClean="0">
                <a:solidFill>
                  <a:srgbClr val="FF0000"/>
                </a:solidFill>
                <a:latin typeface="Calibri"/>
                <a:cs typeface="Calibri"/>
              </a:rPr>
              <a:t>aimed</a:t>
            </a:r>
            <a:r>
              <a:rPr lang="en-GB" sz="2800" spc="-25" dirty="0" smtClean="0">
                <a:solidFill>
                  <a:srgbClr val="FF0000"/>
                </a:solidFill>
                <a:latin typeface="Calibri"/>
                <a:cs typeface="Calibri"/>
              </a:rPr>
              <a:t> </a:t>
            </a:r>
            <a:r>
              <a:rPr lang="en-GB" sz="2800" dirty="0" smtClean="0">
                <a:solidFill>
                  <a:srgbClr val="FF0000"/>
                </a:solidFill>
                <a:latin typeface="Calibri"/>
                <a:cs typeface="Calibri"/>
              </a:rPr>
              <a:t>at</a:t>
            </a:r>
            <a:r>
              <a:rPr lang="en-GB" sz="2800" spc="-55" dirty="0" smtClean="0">
                <a:solidFill>
                  <a:srgbClr val="FF0000"/>
                </a:solidFill>
                <a:latin typeface="Calibri"/>
                <a:cs typeface="Calibri"/>
              </a:rPr>
              <a:t> </a:t>
            </a:r>
            <a:r>
              <a:rPr lang="en-GB" sz="2800" dirty="0" smtClean="0">
                <a:solidFill>
                  <a:srgbClr val="FF0000"/>
                </a:solidFill>
                <a:latin typeface="Calibri"/>
                <a:cs typeface="Calibri"/>
              </a:rPr>
              <a:t>the</a:t>
            </a:r>
            <a:r>
              <a:rPr lang="en-GB" sz="2800" spc="-40" dirty="0" smtClean="0">
                <a:solidFill>
                  <a:srgbClr val="FF0000"/>
                </a:solidFill>
                <a:latin typeface="Calibri"/>
                <a:cs typeface="Calibri"/>
              </a:rPr>
              <a:t> </a:t>
            </a:r>
            <a:r>
              <a:rPr lang="en-GB" sz="2800" dirty="0" smtClean="0">
                <a:solidFill>
                  <a:srgbClr val="FF0000"/>
                </a:solidFill>
                <a:latin typeface="Calibri"/>
                <a:cs typeface="Calibri"/>
              </a:rPr>
              <a:t>desired</a:t>
            </a:r>
            <a:r>
              <a:rPr lang="en-GB" sz="2800" spc="-20" dirty="0" smtClean="0">
                <a:solidFill>
                  <a:srgbClr val="FF0000"/>
                </a:solidFill>
                <a:latin typeface="Calibri"/>
                <a:cs typeface="Calibri"/>
              </a:rPr>
              <a:t> </a:t>
            </a:r>
            <a:r>
              <a:rPr lang="en-GB" sz="2800" spc="-10" dirty="0" smtClean="0">
                <a:solidFill>
                  <a:srgbClr val="FF0000"/>
                </a:solidFill>
                <a:latin typeface="Calibri"/>
                <a:cs typeface="Calibri"/>
              </a:rPr>
              <a:t>results".</a:t>
            </a:r>
            <a:endParaRPr lang="en-GB" sz="2800" dirty="0" smtClean="0">
              <a:solidFill>
                <a:srgbClr val="FF0000"/>
              </a:solidFill>
              <a:latin typeface="Calibri"/>
              <a:cs typeface="Calibri"/>
            </a:endParaRPr>
          </a:p>
          <a:p>
            <a:pPr marL="356870" marR="5080" indent="-344805" algn="just">
              <a:lnSpc>
                <a:spcPts val="2590"/>
              </a:lnSpc>
              <a:spcBef>
                <a:spcPts val="625"/>
              </a:spcBef>
              <a:buFont typeface="Arial MT"/>
              <a:buChar char="•"/>
              <a:tabLst>
                <a:tab pos="357505" algn="l"/>
              </a:tabLst>
            </a:pPr>
            <a:endParaRPr sz="2700" dirty="0">
              <a:latin typeface="Calibri"/>
              <a:cs typeface="Calibri"/>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9244" rIns="0" bIns="0" rtlCol="0">
            <a:spAutoFit/>
          </a:bodyPr>
          <a:lstStyle/>
          <a:p>
            <a:pPr marL="2068195">
              <a:lnSpc>
                <a:spcPct val="100000"/>
              </a:lnSpc>
              <a:spcBef>
                <a:spcPts val="90"/>
              </a:spcBef>
            </a:pPr>
            <a:r>
              <a:rPr dirty="0"/>
              <a:t>Nature</a:t>
            </a:r>
            <a:r>
              <a:rPr spc="-105" dirty="0"/>
              <a:t> </a:t>
            </a:r>
            <a:r>
              <a:rPr dirty="0"/>
              <a:t>of</a:t>
            </a:r>
            <a:r>
              <a:rPr spc="-135" dirty="0"/>
              <a:t> </a:t>
            </a:r>
            <a:r>
              <a:rPr spc="-10" dirty="0"/>
              <a:t>Planning</a:t>
            </a:r>
          </a:p>
        </p:txBody>
      </p:sp>
      <p:sp>
        <p:nvSpPr>
          <p:cNvPr id="3" name="object 3"/>
          <p:cNvSpPr txBox="1"/>
          <p:nvPr/>
        </p:nvSpPr>
        <p:spPr>
          <a:xfrm>
            <a:off x="536244" y="1340941"/>
            <a:ext cx="8227695" cy="5153590"/>
          </a:xfrm>
          <a:prstGeom prst="rect">
            <a:avLst/>
          </a:prstGeom>
        </p:spPr>
        <p:txBody>
          <a:bodyPr vert="horz" wrap="square" lIns="0" tIns="67945" rIns="0" bIns="0" rtlCol="0">
            <a:spAutoFit/>
          </a:bodyPr>
          <a:lstStyle/>
          <a:p>
            <a:pPr marL="256540" marR="5080" indent="-244475" algn="just">
              <a:lnSpc>
                <a:spcPct val="80000"/>
              </a:lnSpc>
              <a:spcBef>
                <a:spcPts val="535"/>
              </a:spcBef>
              <a:buFont typeface="Calibri"/>
              <a:buAutoNum type="arabicPeriod"/>
              <a:tabLst>
                <a:tab pos="356870" algn="l"/>
              </a:tabLst>
            </a:pPr>
            <a:r>
              <a:rPr sz="1800" b="1" dirty="0">
                <a:latin typeface="Calibri"/>
                <a:cs typeface="Calibri"/>
              </a:rPr>
              <a:t>Planning</a:t>
            </a:r>
            <a:r>
              <a:rPr sz="1800" b="1" spc="110" dirty="0">
                <a:latin typeface="Calibri"/>
                <a:cs typeface="Calibri"/>
              </a:rPr>
              <a:t> </a:t>
            </a:r>
            <a:r>
              <a:rPr sz="1800" b="1" dirty="0">
                <a:latin typeface="Calibri"/>
                <a:cs typeface="Calibri"/>
              </a:rPr>
              <a:t>is</a:t>
            </a:r>
            <a:r>
              <a:rPr sz="1800" b="1" spc="110" dirty="0">
                <a:latin typeface="Calibri"/>
                <a:cs typeface="Calibri"/>
              </a:rPr>
              <a:t> </a:t>
            </a:r>
            <a:r>
              <a:rPr sz="1800" b="1" spc="-10" dirty="0">
                <a:latin typeface="Calibri"/>
                <a:cs typeface="Calibri"/>
              </a:rPr>
              <a:t>goal-</a:t>
            </a:r>
            <a:r>
              <a:rPr sz="1800" b="1" dirty="0">
                <a:latin typeface="Calibri"/>
                <a:cs typeface="Calibri"/>
              </a:rPr>
              <a:t>oriented:</a:t>
            </a:r>
            <a:r>
              <a:rPr sz="1800" b="1" spc="114" dirty="0">
                <a:latin typeface="Calibri"/>
                <a:cs typeface="Calibri"/>
              </a:rPr>
              <a:t> </a:t>
            </a:r>
            <a:r>
              <a:rPr sz="1800" dirty="0">
                <a:latin typeface="Calibri"/>
                <a:cs typeface="Calibri"/>
              </a:rPr>
              <a:t>Every</a:t>
            </a:r>
            <a:r>
              <a:rPr sz="1800" spc="105" dirty="0">
                <a:latin typeface="Calibri"/>
                <a:cs typeface="Calibri"/>
              </a:rPr>
              <a:t> </a:t>
            </a:r>
            <a:r>
              <a:rPr sz="1800" dirty="0">
                <a:latin typeface="Calibri"/>
                <a:cs typeface="Calibri"/>
              </a:rPr>
              <a:t>plan</a:t>
            </a:r>
            <a:r>
              <a:rPr sz="1800" spc="95" dirty="0">
                <a:latin typeface="Calibri"/>
                <a:cs typeface="Calibri"/>
              </a:rPr>
              <a:t> </a:t>
            </a:r>
            <a:r>
              <a:rPr sz="1800" dirty="0">
                <a:latin typeface="Calibri"/>
                <a:cs typeface="Calibri"/>
              </a:rPr>
              <a:t>must</a:t>
            </a:r>
            <a:r>
              <a:rPr sz="1800" spc="110" dirty="0">
                <a:latin typeface="Calibri"/>
                <a:cs typeface="Calibri"/>
              </a:rPr>
              <a:t> </a:t>
            </a:r>
            <a:r>
              <a:rPr sz="1800" dirty="0">
                <a:latin typeface="Calibri"/>
                <a:cs typeface="Calibri"/>
              </a:rPr>
              <a:t>contribute</a:t>
            </a:r>
            <a:r>
              <a:rPr sz="1800" spc="105" dirty="0">
                <a:latin typeface="Calibri"/>
                <a:cs typeface="Calibri"/>
              </a:rPr>
              <a:t> </a:t>
            </a:r>
            <a:r>
              <a:rPr sz="1800" dirty="0">
                <a:latin typeface="Calibri"/>
                <a:cs typeface="Calibri"/>
              </a:rPr>
              <a:t>in</a:t>
            </a:r>
            <a:r>
              <a:rPr sz="1800" spc="95" dirty="0">
                <a:latin typeface="Calibri"/>
                <a:cs typeface="Calibri"/>
              </a:rPr>
              <a:t> </a:t>
            </a:r>
            <a:r>
              <a:rPr sz="1800" dirty="0">
                <a:latin typeface="Calibri"/>
                <a:cs typeface="Calibri"/>
              </a:rPr>
              <a:t>some</a:t>
            </a:r>
            <a:r>
              <a:rPr sz="1800" spc="125" dirty="0">
                <a:latin typeface="Calibri"/>
                <a:cs typeface="Calibri"/>
              </a:rPr>
              <a:t> </a:t>
            </a:r>
            <a:r>
              <a:rPr sz="1800" dirty="0">
                <a:latin typeface="Calibri"/>
                <a:cs typeface="Calibri"/>
              </a:rPr>
              <a:t>positive</a:t>
            </a:r>
            <a:r>
              <a:rPr sz="1800" spc="105" dirty="0">
                <a:latin typeface="Calibri"/>
                <a:cs typeface="Calibri"/>
              </a:rPr>
              <a:t> </a:t>
            </a:r>
            <a:r>
              <a:rPr sz="1800" dirty="0">
                <a:latin typeface="Calibri"/>
                <a:cs typeface="Calibri"/>
              </a:rPr>
              <a:t>way</a:t>
            </a:r>
            <a:r>
              <a:rPr sz="1800" spc="110" dirty="0">
                <a:latin typeface="Calibri"/>
                <a:cs typeface="Calibri"/>
              </a:rPr>
              <a:t> </a:t>
            </a:r>
            <a:r>
              <a:rPr sz="1800" spc="-10" dirty="0">
                <a:latin typeface="Calibri"/>
                <a:cs typeface="Calibri"/>
              </a:rPr>
              <a:t>towards 	</a:t>
            </a:r>
            <a:r>
              <a:rPr sz="1800" dirty="0">
                <a:latin typeface="Calibri"/>
                <a:cs typeface="Calibri"/>
              </a:rPr>
              <a:t>the</a:t>
            </a:r>
            <a:r>
              <a:rPr sz="1800" spc="240" dirty="0">
                <a:latin typeface="Calibri"/>
                <a:cs typeface="Calibri"/>
              </a:rPr>
              <a:t> </a:t>
            </a:r>
            <a:r>
              <a:rPr sz="1800" dirty="0">
                <a:latin typeface="Calibri"/>
                <a:cs typeface="Calibri"/>
              </a:rPr>
              <a:t>accomplishment</a:t>
            </a:r>
            <a:r>
              <a:rPr sz="1800" spc="235" dirty="0">
                <a:latin typeface="Calibri"/>
                <a:cs typeface="Calibri"/>
              </a:rPr>
              <a:t> </a:t>
            </a:r>
            <a:r>
              <a:rPr sz="1800" dirty="0">
                <a:latin typeface="Calibri"/>
                <a:cs typeface="Calibri"/>
              </a:rPr>
              <a:t>of</a:t>
            </a:r>
            <a:r>
              <a:rPr sz="1800" spc="260" dirty="0">
                <a:latin typeface="Calibri"/>
                <a:cs typeface="Calibri"/>
              </a:rPr>
              <a:t> </a:t>
            </a:r>
            <a:r>
              <a:rPr sz="1800" dirty="0">
                <a:latin typeface="Calibri"/>
                <a:cs typeface="Calibri"/>
              </a:rPr>
              <a:t>group</a:t>
            </a:r>
            <a:r>
              <a:rPr sz="1800" spc="250" dirty="0">
                <a:latin typeface="Calibri"/>
                <a:cs typeface="Calibri"/>
              </a:rPr>
              <a:t> </a:t>
            </a:r>
            <a:r>
              <a:rPr sz="1800" dirty="0">
                <a:latin typeface="Calibri"/>
                <a:cs typeface="Calibri"/>
              </a:rPr>
              <a:t>objectives.</a:t>
            </a:r>
            <a:r>
              <a:rPr sz="1800" spc="265" dirty="0">
                <a:latin typeface="Calibri"/>
                <a:cs typeface="Calibri"/>
              </a:rPr>
              <a:t> </a:t>
            </a:r>
            <a:r>
              <a:rPr sz="1800" dirty="0">
                <a:latin typeface="Calibri"/>
                <a:cs typeface="Calibri"/>
              </a:rPr>
              <a:t>Planning</a:t>
            </a:r>
            <a:r>
              <a:rPr sz="1800" spc="275" dirty="0">
                <a:latin typeface="Calibri"/>
                <a:cs typeface="Calibri"/>
              </a:rPr>
              <a:t> </a:t>
            </a:r>
            <a:r>
              <a:rPr sz="1800" dirty="0">
                <a:latin typeface="Calibri"/>
                <a:cs typeface="Calibri"/>
              </a:rPr>
              <a:t>has</a:t>
            </a:r>
            <a:r>
              <a:rPr sz="1800" spc="275" dirty="0">
                <a:latin typeface="Calibri"/>
                <a:cs typeface="Calibri"/>
              </a:rPr>
              <a:t> </a:t>
            </a:r>
            <a:r>
              <a:rPr sz="1800" dirty="0">
                <a:latin typeface="Calibri"/>
                <a:cs typeface="Calibri"/>
              </a:rPr>
              <a:t>no</a:t>
            </a:r>
            <a:r>
              <a:rPr sz="1800" spc="265" dirty="0">
                <a:latin typeface="Calibri"/>
                <a:cs typeface="Calibri"/>
              </a:rPr>
              <a:t> </a:t>
            </a:r>
            <a:r>
              <a:rPr sz="1800" dirty="0">
                <a:latin typeface="Calibri"/>
                <a:cs typeface="Calibri"/>
              </a:rPr>
              <a:t>meaning</a:t>
            </a:r>
            <a:r>
              <a:rPr sz="1800" spc="265" dirty="0">
                <a:latin typeface="Calibri"/>
                <a:cs typeface="Calibri"/>
              </a:rPr>
              <a:t> </a:t>
            </a:r>
            <a:r>
              <a:rPr sz="1800" dirty="0">
                <a:latin typeface="Calibri"/>
                <a:cs typeface="Calibri"/>
              </a:rPr>
              <a:t>without</a:t>
            </a:r>
            <a:r>
              <a:rPr sz="1800" spc="275" dirty="0">
                <a:latin typeface="Calibri"/>
                <a:cs typeface="Calibri"/>
              </a:rPr>
              <a:t> </a:t>
            </a:r>
            <a:r>
              <a:rPr sz="1800" spc="-10" dirty="0">
                <a:latin typeface="Calibri"/>
                <a:cs typeface="Calibri"/>
              </a:rPr>
              <a:t>being 	</a:t>
            </a:r>
            <a:r>
              <a:rPr sz="1800" dirty="0">
                <a:latin typeface="Calibri"/>
                <a:cs typeface="Calibri"/>
              </a:rPr>
              <a:t>related</a:t>
            </a:r>
            <a:r>
              <a:rPr sz="1800" spc="-35" dirty="0">
                <a:latin typeface="Calibri"/>
                <a:cs typeface="Calibri"/>
              </a:rPr>
              <a:t> </a:t>
            </a:r>
            <a:r>
              <a:rPr sz="1800" dirty="0">
                <a:latin typeface="Calibri"/>
                <a:cs typeface="Calibri"/>
              </a:rPr>
              <a:t>to</a:t>
            </a:r>
            <a:r>
              <a:rPr sz="1800" spc="-30" dirty="0">
                <a:latin typeface="Calibri"/>
                <a:cs typeface="Calibri"/>
              </a:rPr>
              <a:t> </a:t>
            </a:r>
            <a:r>
              <a:rPr sz="1800" spc="-10" dirty="0">
                <a:latin typeface="Calibri"/>
                <a:cs typeface="Calibri"/>
              </a:rPr>
              <a:t>goals</a:t>
            </a:r>
            <a:r>
              <a:rPr sz="1800" spc="-10" dirty="0" smtClean="0">
                <a:latin typeface="Calibri"/>
                <a:cs typeface="Calibri"/>
              </a:rPr>
              <a:t>.</a:t>
            </a:r>
            <a:endParaRPr lang="en-IN" sz="1800" spc="-10" dirty="0" smtClean="0">
              <a:latin typeface="Calibri"/>
              <a:cs typeface="Calibri"/>
            </a:endParaRPr>
          </a:p>
          <a:p>
            <a:pPr marL="256540" marR="5080" indent="-244475" algn="just">
              <a:lnSpc>
                <a:spcPct val="80000"/>
              </a:lnSpc>
              <a:spcBef>
                <a:spcPts val="535"/>
              </a:spcBef>
              <a:buFont typeface="Calibri"/>
              <a:buAutoNum type="arabicPeriod"/>
              <a:tabLst>
                <a:tab pos="356870" algn="l"/>
              </a:tabLst>
            </a:pPr>
            <a:endParaRPr sz="1800" dirty="0">
              <a:latin typeface="Calibri"/>
              <a:cs typeface="Calibri"/>
            </a:endParaRPr>
          </a:p>
          <a:p>
            <a:pPr marL="253365" indent="-241300" algn="just">
              <a:lnSpc>
                <a:spcPts val="1945"/>
              </a:lnSpc>
              <a:buFont typeface="Calibri"/>
              <a:buAutoNum type="arabicPeriod"/>
              <a:tabLst>
                <a:tab pos="254000" algn="l"/>
              </a:tabLst>
            </a:pPr>
            <a:r>
              <a:rPr sz="1800" b="1" dirty="0">
                <a:latin typeface="Calibri"/>
                <a:cs typeface="Calibri"/>
              </a:rPr>
              <a:t>Primacy</a:t>
            </a:r>
            <a:r>
              <a:rPr sz="1800" b="1" spc="85" dirty="0">
                <a:latin typeface="Calibri"/>
                <a:cs typeface="Calibri"/>
              </a:rPr>
              <a:t> </a:t>
            </a:r>
            <a:r>
              <a:rPr sz="1800" b="1" dirty="0">
                <a:latin typeface="Calibri"/>
                <a:cs typeface="Calibri"/>
              </a:rPr>
              <a:t>of</a:t>
            </a:r>
            <a:r>
              <a:rPr sz="1800" b="1" spc="80" dirty="0">
                <a:latin typeface="Calibri"/>
                <a:cs typeface="Calibri"/>
              </a:rPr>
              <a:t> </a:t>
            </a:r>
            <a:r>
              <a:rPr sz="1800" b="1" dirty="0">
                <a:latin typeface="Calibri"/>
                <a:cs typeface="Calibri"/>
              </a:rPr>
              <a:t>Planning</a:t>
            </a:r>
            <a:r>
              <a:rPr sz="1800" dirty="0">
                <a:latin typeface="Calibri"/>
                <a:cs typeface="Calibri"/>
              </a:rPr>
              <a:t>:</a:t>
            </a:r>
            <a:r>
              <a:rPr sz="1800" spc="95" dirty="0">
                <a:latin typeface="Calibri"/>
                <a:cs typeface="Calibri"/>
              </a:rPr>
              <a:t> </a:t>
            </a:r>
            <a:r>
              <a:rPr sz="1800" dirty="0">
                <a:latin typeface="Calibri"/>
                <a:cs typeface="Calibri"/>
              </a:rPr>
              <a:t>Planning</a:t>
            </a:r>
            <a:r>
              <a:rPr sz="1800" spc="90" dirty="0">
                <a:latin typeface="Calibri"/>
                <a:cs typeface="Calibri"/>
              </a:rPr>
              <a:t> </a:t>
            </a:r>
            <a:r>
              <a:rPr sz="1800" dirty="0">
                <a:latin typeface="Calibri"/>
                <a:cs typeface="Calibri"/>
              </a:rPr>
              <a:t>is</a:t>
            </a:r>
            <a:r>
              <a:rPr sz="1800" spc="65" dirty="0">
                <a:latin typeface="Calibri"/>
                <a:cs typeface="Calibri"/>
              </a:rPr>
              <a:t> </a:t>
            </a:r>
            <a:r>
              <a:rPr sz="1800" dirty="0">
                <a:latin typeface="Calibri"/>
                <a:cs typeface="Calibri"/>
              </a:rPr>
              <a:t>the</a:t>
            </a:r>
            <a:r>
              <a:rPr sz="1800" spc="85" dirty="0">
                <a:latin typeface="Calibri"/>
                <a:cs typeface="Calibri"/>
              </a:rPr>
              <a:t> </a:t>
            </a:r>
            <a:r>
              <a:rPr sz="1800" dirty="0">
                <a:latin typeface="Calibri"/>
                <a:cs typeface="Calibri"/>
              </a:rPr>
              <a:t>first</a:t>
            </a:r>
            <a:r>
              <a:rPr sz="1800" spc="70" dirty="0">
                <a:latin typeface="Calibri"/>
                <a:cs typeface="Calibri"/>
              </a:rPr>
              <a:t> </a:t>
            </a:r>
            <a:r>
              <a:rPr sz="1800" dirty="0">
                <a:latin typeface="Calibri"/>
                <a:cs typeface="Calibri"/>
              </a:rPr>
              <a:t>of</a:t>
            </a:r>
            <a:r>
              <a:rPr sz="1800" spc="80" dirty="0">
                <a:latin typeface="Calibri"/>
                <a:cs typeface="Calibri"/>
              </a:rPr>
              <a:t> </a:t>
            </a:r>
            <a:r>
              <a:rPr sz="1800" dirty="0">
                <a:latin typeface="Calibri"/>
                <a:cs typeface="Calibri"/>
              </a:rPr>
              <a:t>the</a:t>
            </a:r>
            <a:r>
              <a:rPr sz="1800" spc="90" dirty="0">
                <a:latin typeface="Calibri"/>
                <a:cs typeface="Calibri"/>
              </a:rPr>
              <a:t> </a:t>
            </a:r>
            <a:r>
              <a:rPr sz="1800" dirty="0">
                <a:latin typeface="Calibri"/>
                <a:cs typeface="Calibri"/>
              </a:rPr>
              <a:t>managerial</a:t>
            </a:r>
            <a:r>
              <a:rPr sz="1800" spc="70" dirty="0">
                <a:latin typeface="Calibri"/>
                <a:cs typeface="Calibri"/>
              </a:rPr>
              <a:t> </a:t>
            </a:r>
            <a:r>
              <a:rPr sz="1800" dirty="0">
                <a:latin typeface="Calibri"/>
                <a:cs typeface="Calibri"/>
              </a:rPr>
              <a:t>functions.</a:t>
            </a:r>
            <a:r>
              <a:rPr sz="1800" spc="75" dirty="0">
                <a:latin typeface="Calibri"/>
                <a:cs typeface="Calibri"/>
              </a:rPr>
              <a:t> </a:t>
            </a:r>
            <a:r>
              <a:rPr sz="1800" dirty="0">
                <a:latin typeface="Calibri"/>
                <a:cs typeface="Calibri"/>
              </a:rPr>
              <a:t>It</a:t>
            </a:r>
            <a:r>
              <a:rPr sz="1800" spc="75" dirty="0">
                <a:latin typeface="Calibri"/>
                <a:cs typeface="Calibri"/>
              </a:rPr>
              <a:t> </a:t>
            </a:r>
            <a:r>
              <a:rPr sz="1800" dirty="0">
                <a:latin typeface="Calibri"/>
                <a:cs typeface="Calibri"/>
              </a:rPr>
              <a:t>precedes</a:t>
            </a:r>
            <a:r>
              <a:rPr sz="1800" spc="95" dirty="0">
                <a:latin typeface="Calibri"/>
                <a:cs typeface="Calibri"/>
              </a:rPr>
              <a:t> </a:t>
            </a:r>
            <a:r>
              <a:rPr sz="1800" spc="-25" dirty="0">
                <a:latin typeface="Calibri"/>
                <a:cs typeface="Calibri"/>
              </a:rPr>
              <a:t>all</a:t>
            </a:r>
            <a:endParaRPr sz="1800" dirty="0">
              <a:latin typeface="Calibri"/>
              <a:cs typeface="Calibri"/>
            </a:endParaRPr>
          </a:p>
          <a:p>
            <a:pPr marL="356870" algn="just">
              <a:lnSpc>
                <a:spcPts val="1945"/>
              </a:lnSpc>
            </a:pPr>
            <a:r>
              <a:rPr sz="1800" dirty="0">
                <a:latin typeface="Calibri"/>
                <a:cs typeface="Calibri"/>
              </a:rPr>
              <a:t>other</a:t>
            </a:r>
            <a:r>
              <a:rPr sz="1800" spc="-35" dirty="0">
                <a:latin typeface="Calibri"/>
                <a:cs typeface="Calibri"/>
              </a:rPr>
              <a:t> </a:t>
            </a:r>
            <a:r>
              <a:rPr sz="1800" dirty="0">
                <a:latin typeface="Calibri"/>
                <a:cs typeface="Calibri"/>
              </a:rPr>
              <a:t>management</a:t>
            </a:r>
            <a:r>
              <a:rPr sz="1800" spc="10" dirty="0">
                <a:latin typeface="Calibri"/>
                <a:cs typeface="Calibri"/>
              </a:rPr>
              <a:t> </a:t>
            </a:r>
            <a:r>
              <a:rPr sz="1800" spc="-10" dirty="0">
                <a:latin typeface="Calibri"/>
                <a:cs typeface="Calibri"/>
              </a:rPr>
              <a:t>functions</a:t>
            </a:r>
            <a:r>
              <a:rPr sz="1800" spc="-10" dirty="0" smtClean="0">
                <a:latin typeface="Calibri"/>
                <a:cs typeface="Calibri"/>
              </a:rPr>
              <a:t>.</a:t>
            </a:r>
            <a:endParaRPr lang="en-IN" sz="1800" spc="-10" dirty="0" smtClean="0">
              <a:latin typeface="Calibri"/>
              <a:cs typeface="Calibri"/>
            </a:endParaRPr>
          </a:p>
          <a:p>
            <a:pPr marL="356870" algn="just">
              <a:lnSpc>
                <a:spcPts val="1945"/>
              </a:lnSpc>
            </a:pPr>
            <a:endParaRPr sz="1800" dirty="0">
              <a:latin typeface="Calibri"/>
              <a:cs typeface="Calibri"/>
            </a:endParaRPr>
          </a:p>
          <a:p>
            <a:pPr marL="302260" marR="6985" indent="-290195" algn="just">
              <a:lnSpc>
                <a:spcPct val="80000"/>
              </a:lnSpc>
              <a:spcBef>
                <a:spcPts val="430"/>
              </a:spcBef>
              <a:buFont typeface="Calibri"/>
              <a:buAutoNum type="arabicPeriod" startAt="3"/>
              <a:tabLst>
                <a:tab pos="356870" algn="l"/>
              </a:tabLst>
            </a:pPr>
            <a:r>
              <a:rPr sz="1800" b="1" dirty="0">
                <a:latin typeface="Calibri"/>
                <a:cs typeface="Calibri"/>
              </a:rPr>
              <a:t>Pervasiveness</a:t>
            </a:r>
            <a:r>
              <a:rPr sz="1800" b="1" spc="459" dirty="0">
                <a:latin typeface="Calibri"/>
                <a:cs typeface="Calibri"/>
              </a:rPr>
              <a:t> </a:t>
            </a:r>
            <a:r>
              <a:rPr sz="1800" b="1" dirty="0">
                <a:latin typeface="Calibri"/>
                <a:cs typeface="Calibri"/>
              </a:rPr>
              <a:t>of</a:t>
            </a:r>
            <a:r>
              <a:rPr sz="1800" b="1" spc="470" dirty="0">
                <a:latin typeface="Calibri"/>
                <a:cs typeface="Calibri"/>
              </a:rPr>
              <a:t> </a:t>
            </a:r>
            <a:r>
              <a:rPr sz="1800" b="1" dirty="0">
                <a:latin typeface="Calibri"/>
                <a:cs typeface="Calibri"/>
              </a:rPr>
              <a:t>Planning</a:t>
            </a:r>
            <a:r>
              <a:rPr sz="1800" dirty="0">
                <a:latin typeface="Calibri"/>
                <a:cs typeface="Calibri"/>
              </a:rPr>
              <a:t>:</a:t>
            </a:r>
            <a:r>
              <a:rPr sz="1800" spc="480" dirty="0">
                <a:latin typeface="Calibri"/>
                <a:cs typeface="Calibri"/>
              </a:rPr>
              <a:t> </a:t>
            </a:r>
            <a:r>
              <a:rPr sz="1800" dirty="0">
                <a:latin typeface="Calibri"/>
                <a:cs typeface="Calibri"/>
              </a:rPr>
              <a:t>Planning</a:t>
            </a:r>
            <a:r>
              <a:rPr sz="1800" spc="484" dirty="0">
                <a:latin typeface="Calibri"/>
                <a:cs typeface="Calibri"/>
              </a:rPr>
              <a:t> </a:t>
            </a:r>
            <a:r>
              <a:rPr sz="1800" dirty="0">
                <a:latin typeface="Calibri"/>
                <a:cs typeface="Calibri"/>
              </a:rPr>
              <a:t>is</a:t>
            </a:r>
            <a:r>
              <a:rPr sz="1800" spc="480" dirty="0">
                <a:latin typeface="Calibri"/>
                <a:cs typeface="Calibri"/>
              </a:rPr>
              <a:t> </a:t>
            </a:r>
            <a:r>
              <a:rPr sz="1800" dirty="0">
                <a:latin typeface="Calibri"/>
                <a:cs typeface="Calibri"/>
              </a:rPr>
              <a:t>found</a:t>
            </a:r>
            <a:r>
              <a:rPr sz="1800" spc="470" dirty="0">
                <a:latin typeface="Calibri"/>
                <a:cs typeface="Calibri"/>
              </a:rPr>
              <a:t> </a:t>
            </a:r>
            <a:r>
              <a:rPr sz="1800" dirty="0">
                <a:latin typeface="Calibri"/>
                <a:cs typeface="Calibri"/>
              </a:rPr>
              <a:t>at</a:t>
            </a:r>
            <a:r>
              <a:rPr sz="1800" spc="465" dirty="0">
                <a:latin typeface="Calibri"/>
                <a:cs typeface="Calibri"/>
              </a:rPr>
              <a:t> </a:t>
            </a:r>
            <a:r>
              <a:rPr sz="1800" dirty="0">
                <a:latin typeface="Calibri"/>
                <a:cs typeface="Calibri"/>
              </a:rPr>
              <a:t>all</a:t>
            </a:r>
            <a:r>
              <a:rPr sz="1800" spc="484" dirty="0">
                <a:latin typeface="Calibri"/>
                <a:cs typeface="Calibri"/>
              </a:rPr>
              <a:t> </a:t>
            </a:r>
            <a:r>
              <a:rPr sz="1800" dirty="0">
                <a:latin typeface="Calibri"/>
                <a:cs typeface="Calibri"/>
              </a:rPr>
              <a:t>levels</a:t>
            </a:r>
            <a:r>
              <a:rPr sz="1800" spc="480" dirty="0">
                <a:latin typeface="Calibri"/>
                <a:cs typeface="Calibri"/>
              </a:rPr>
              <a:t> </a:t>
            </a:r>
            <a:r>
              <a:rPr sz="1800" dirty="0">
                <a:latin typeface="Calibri"/>
                <a:cs typeface="Calibri"/>
              </a:rPr>
              <a:t>of</a:t>
            </a:r>
            <a:r>
              <a:rPr sz="1800" spc="470" dirty="0">
                <a:latin typeface="Calibri"/>
                <a:cs typeface="Calibri"/>
              </a:rPr>
              <a:t> </a:t>
            </a:r>
            <a:r>
              <a:rPr sz="1800" dirty="0">
                <a:latin typeface="Calibri"/>
                <a:cs typeface="Calibri"/>
              </a:rPr>
              <a:t>management.</a:t>
            </a:r>
            <a:r>
              <a:rPr sz="1800" spc="470" dirty="0">
                <a:latin typeface="Calibri"/>
                <a:cs typeface="Calibri"/>
              </a:rPr>
              <a:t> </a:t>
            </a:r>
            <a:r>
              <a:rPr sz="1800" spc="-25" dirty="0">
                <a:latin typeface="Calibri"/>
                <a:cs typeface="Calibri"/>
              </a:rPr>
              <a:t>Top 	</a:t>
            </a:r>
            <a:r>
              <a:rPr sz="1800" dirty="0">
                <a:latin typeface="Calibri"/>
                <a:cs typeface="Calibri"/>
              </a:rPr>
              <a:t>management</a:t>
            </a:r>
            <a:r>
              <a:rPr sz="1800" spc="375" dirty="0">
                <a:latin typeface="Calibri"/>
                <a:cs typeface="Calibri"/>
              </a:rPr>
              <a:t> </a:t>
            </a:r>
            <a:r>
              <a:rPr sz="1800" dirty="0">
                <a:latin typeface="Calibri"/>
                <a:cs typeface="Calibri"/>
              </a:rPr>
              <a:t>looks</a:t>
            </a:r>
            <a:r>
              <a:rPr sz="1800" spc="345" dirty="0">
                <a:latin typeface="Calibri"/>
                <a:cs typeface="Calibri"/>
              </a:rPr>
              <a:t> </a:t>
            </a:r>
            <a:r>
              <a:rPr sz="1800" dirty="0">
                <a:latin typeface="Calibri"/>
                <a:cs typeface="Calibri"/>
              </a:rPr>
              <a:t>after</a:t>
            </a:r>
            <a:r>
              <a:rPr sz="1800" spc="380" dirty="0">
                <a:latin typeface="Calibri"/>
                <a:cs typeface="Calibri"/>
              </a:rPr>
              <a:t> </a:t>
            </a:r>
            <a:r>
              <a:rPr sz="1800" dirty="0">
                <a:latin typeface="Calibri"/>
                <a:cs typeface="Calibri"/>
              </a:rPr>
              <a:t>strategic</a:t>
            </a:r>
            <a:r>
              <a:rPr sz="1800" spc="365" dirty="0">
                <a:latin typeface="Calibri"/>
                <a:cs typeface="Calibri"/>
              </a:rPr>
              <a:t> </a:t>
            </a:r>
            <a:r>
              <a:rPr sz="1800" dirty="0">
                <a:latin typeface="Calibri"/>
                <a:cs typeface="Calibri"/>
              </a:rPr>
              <a:t>planning.</a:t>
            </a:r>
            <a:r>
              <a:rPr sz="1800" spc="350" dirty="0">
                <a:latin typeface="Calibri"/>
                <a:cs typeface="Calibri"/>
              </a:rPr>
              <a:t> </a:t>
            </a:r>
            <a:r>
              <a:rPr sz="1800" dirty="0">
                <a:latin typeface="Calibri"/>
                <a:cs typeface="Calibri"/>
              </a:rPr>
              <a:t>Middle</a:t>
            </a:r>
            <a:r>
              <a:rPr sz="1800" spc="355" dirty="0">
                <a:latin typeface="Calibri"/>
                <a:cs typeface="Calibri"/>
              </a:rPr>
              <a:t> </a:t>
            </a:r>
            <a:r>
              <a:rPr sz="1800" dirty="0">
                <a:latin typeface="Calibri"/>
                <a:cs typeface="Calibri"/>
              </a:rPr>
              <a:t>management</a:t>
            </a:r>
            <a:r>
              <a:rPr sz="1800" spc="380" dirty="0">
                <a:latin typeface="Calibri"/>
                <a:cs typeface="Calibri"/>
              </a:rPr>
              <a:t> </a:t>
            </a:r>
            <a:r>
              <a:rPr sz="1800" dirty="0">
                <a:latin typeface="Calibri"/>
                <a:cs typeface="Calibri"/>
              </a:rPr>
              <a:t>is</a:t>
            </a:r>
            <a:r>
              <a:rPr sz="1800" spc="345" dirty="0">
                <a:latin typeface="Calibri"/>
                <a:cs typeface="Calibri"/>
              </a:rPr>
              <a:t> </a:t>
            </a:r>
            <a:r>
              <a:rPr sz="1800" dirty="0">
                <a:latin typeface="Calibri"/>
                <a:cs typeface="Calibri"/>
              </a:rPr>
              <a:t>in</a:t>
            </a:r>
            <a:r>
              <a:rPr sz="1800" spc="365" dirty="0">
                <a:latin typeface="Calibri"/>
                <a:cs typeface="Calibri"/>
              </a:rPr>
              <a:t> </a:t>
            </a:r>
            <a:r>
              <a:rPr sz="1800" dirty="0">
                <a:latin typeface="Calibri"/>
                <a:cs typeface="Calibri"/>
              </a:rPr>
              <a:t>charge</a:t>
            </a:r>
            <a:r>
              <a:rPr sz="1800" spc="370" dirty="0">
                <a:latin typeface="Calibri"/>
                <a:cs typeface="Calibri"/>
              </a:rPr>
              <a:t> </a:t>
            </a:r>
            <a:r>
              <a:rPr sz="1800" spc="-25" dirty="0">
                <a:latin typeface="Calibri"/>
                <a:cs typeface="Calibri"/>
              </a:rPr>
              <a:t>of 	</a:t>
            </a:r>
            <a:r>
              <a:rPr sz="1800" dirty="0">
                <a:latin typeface="Calibri"/>
                <a:cs typeface="Calibri"/>
              </a:rPr>
              <a:t>administrative</a:t>
            </a:r>
            <a:r>
              <a:rPr sz="1800" spc="470" dirty="0">
                <a:latin typeface="Calibri"/>
                <a:cs typeface="Calibri"/>
              </a:rPr>
              <a:t> </a:t>
            </a:r>
            <a:r>
              <a:rPr sz="1800" dirty="0">
                <a:latin typeface="Calibri"/>
                <a:cs typeface="Calibri"/>
              </a:rPr>
              <a:t>planning.</a:t>
            </a:r>
            <a:r>
              <a:rPr sz="1800" spc="459" dirty="0">
                <a:latin typeface="Calibri"/>
                <a:cs typeface="Calibri"/>
              </a:rPr>
              <a:t> </a:t>
            </a:r>
            <a:r>
              <a:rPr sz="1800" dirty="0">
                <a:latin typeface="Calibri"/>
                <a:cs typeface="Calibri"/>
              </a:rPr>
              <a:t>Lower</a:t>
            </a:r>
            <a:r>
              <a:rPr sz="1800" spc="465" dirty="0">
                <a:latin typeface="Calibri"/>
                <a:cs typeface="Calibri"/>
              </a:rPr>
              <a:t> </a:t>
            </a:r>
            <a:r>
              <a:rPr sz="1800" dirty="0">
                <a:latin typeface="Calibri"/>
                <a:cs typeface="Calibri"/>
              </a:rPr>
              <a:t>management</a:t>
            </a:r>
            <a:r>
              <a:rPr sz="1800" spc="455" dirty="0">
                <a:latin typeface="Calibri"/>
                <a:cs typeface="Calibri"/>
              </a:rPr>
              <a:t> </a:t>
            </a:r>
            <a:r>
              <a:rPr sz="1800" dirty="0">
                <a:latin typeface="Calibri"/>
                <a:cs typeface="Calibri"/>
              </a:rPr>
              <a:t>has</a:t>
            </a:r>
            <a:r>
              <a:rPr sz="1800" spc="459" dirty="0">
                <a:latin typeface="Calibri"/>
                <a:cs typeface="Calibri"/>
              </a:rPr>
              <a:t> </a:t>
            </a:r>
            <a:r>
              <a:rPr sz="1800" dirty="0">
                <a:latin typeface="Calibri"/>
                <a:cs typeface="Calibri"/>
              </a:rPr>
              <a:t>to</a:t>
            </a:r>
            <a:r>
              <a:rPr sz="1800" spc="470" dirty="0">
                <a:latin typeface="Calibri"/>
                <a:cs typeface="Calibri"/>
              </a:rPr>
              <a:t> </a:t>
            </a:r>
            <a:r>
              <a:rPr sz="1800" dirty="0">
                <a:latin typeface="Calibri"/>
                <a:cs typeface="Calibri"/>
              </a:rPr>
              <a:t>concentrate</a:t>
            </a:r>
            <a:r>
              <a:rPr sz="1800" spc="459" dirty="0">
                <a:latin typeface="Calibri"/>
                <a:cs typeface="Calibri"/>
              </a:rPr>
              <a:t> </a:t>
            </a:r>
            <a:r>
              <a:rPr sz="1800" dirty="0">
                <a:latin typeface="Calibri"/>
                <a:cs typeface="Calibri"/>
              </a:rPr>
              <a:t>on</a:t>
            </a:r>
            <a:r>
              <a:rPr sz="1800" spc="455" dirty="0">
                <a:latin typeface="Calibri"/>
                <a:cs typeface="Calibri"/>
              </a:rPr>
              <a:t> </a:t>
            </a:r>
            <a:r>
              <a:rPr sz="1800" spc="-10" dirty="0">
                <a:latin typeface="Calibri"/>
                <a:cs typeface="Calibri"/>
              </a:rPr>
              <a:t>operational 	planning</a:t>
            </a:r>
            <a:r>
              <a:rPr sz="1800" spc="-10" dirty="0" smtClean="0">
                <a:latin typeface="Calibri"/>
                <a:cs typeface="Calibri"/>
              </a:rPr>
              <a:t>.</a:t>
            </a:r>
            <a:endParaRPr lang="en-IN" sz="1800" spc="-10" dirty="0" smtClean="0">
              <a:latin typeface="Calibri"/>
              <a:cs typeface="Calibri"/>
            </a:endParaRPr>
          </a:p>
          <a:p>
            <a:pPr marL="302260" marR="6985" indent="-290195" algn="just">
              <a:lnSpc>
                <a:spcPct val="80000"/>
              </a:lnSpc>
              <a:spcBef>
                <a:spcPts val="430"/>
              </a:spcBef>
              <a:buFont typeface="Calibri"/>
              <a:buAutoNum type="arabicPeriod" startAt="3"/>
              <a:tabLst>
                <a:tab pos="356870" algn="l"/>
              </a:tabLst>
            </a:pPr>
            <a:endParaRPr sz="1800" dirty="0">
              <a:latin typeface="Calibri"/>
              <a:cs typeface="Calibri"/>
            </a:endParaRPr>
          </a:p>
          <a:p>
            <a:pPr marL="268605" indent="-256540" algn="just">
              <a:lnSpc>
                <a:spcPts val="1945"/>
              </a:lnSpc>
              <a:buFont typeface="Calibri"/>
              <a:buAutoNum type="arabicPeriod" startAt="3"/>
              <a:tabLst>
                <a:tab pos="269240" algn="l"/>
              </a:tabLst>
            </a:pPr>
            <a:r>
              <a:rPr sz="1800" b="1" dirty="0" smtClean="0">
                <a:latin typeface="Calibri"/>
                <a:cs typeface="Calibri"/>
              </a:rPr>
              <a:t>Limiting</a:t>
            </a:r>
            <a:r>
              <a:rPr sz="1800" b="1" spc="185" dirty="0" smtClean="0">
                <a:latin typeface="Calibri"/>
                <a:cs typeface="Calibri"/>
              </a:rPr>
              <a:t> </a:t>
            </a:r>
            <a:r>
              <a:rPr sz="1800" b="1" dirty="0">
                <a:latin typeface="Calibri"/>
                <a:cs typeface="Calibri"/>
              </a:rPr>
              <a:t>Factors</a:t>
            </a:r>
            <a:r>
              <a:rPr sz="1800" dirty="0">
                <a:latin typeface="Calibri"/>
                <a:cs typeface="Calibri"/>
              </a:rPr>
              <a:t>:</a:t>
            </a:r>
            <a:r>
              <a:rPr sz="1800" spc="190" dirty="0">
                <a:latin typeface="Calibri"/>
                <a:cs typeface="Calibri"/>
              </a:rPr>
              <a:t> </a:t>
            </a:r>
            <a:r>
              <a:rPr sz="1800" dirty="0">
                <a:latin typeface="Calibri"/>
                <a:cs typeface="Calibri"/>
              </a:rPr>
              <a:t>A</a:t>
            </a:r>
            <a:r>
              <a:rPr sz="1800" spc="220" dirty="0">
                <a:latin typeface="Calibri"/>
                <a:cs typeface="Calibri"/>
              </a:rPr>
              <a:t> </a:t>
            </a:r>
            <a:r>
              <a:rPr sz="1800" dirty="0">
                <a:latin typeface="Calibri"/>
                <a:cs typeface="Calibri"/>
              </a:rPr>
              <a:t>planner</a:t>
            </a:r>
            <a:r>
              <a:rPr sz="1800" spc="215" dirty="0">
                <a:latin typeface="Calibri"/>
                <a:cs typeface="Calibri"/>
              </a:rPr>
              <a:t> </a:t>
            </a:r>
            <a:r>
              <a:rPr sz="1800" dirty="0">
                <a:latin typeface="Calibri"/>
                <a:cs typeface="Calibri"/>
              </a:rPr>
              <a:t>must</a:t>
            </a:r>
            <a:r>
              <a:rPr sz="1800" spc="204" dirty="0">
                <a:latin typeface="Calibri"/>
                <a:cs typeface="Calibri"/>
              </a:rPr>
              <a:t> </a:t>
            </a:r>
            <a:r>
              <a:rPr sz="1800" dirty="0">
                <a:latin typeface="Calibri"/>
                <a:cs typeface="Calibri"/>
              </a:rPr>
              <a:t>recognise</a:t>
            </a:r>
            <a:r>
              <a:rPr sz="1800" spc="190" dirty="0">
                <a:latin typeface="Calibri"/>
                <a:cs typeface="Calibri"/>
              </a:rPr>
              <a:t> </a:t>
            </a:r>
            <a:r>
              <a:rPr sz="1800" dirty="0">
                <a:latin typeface="Calibri"/>
                <a:cs typeface="Calibri"/>
              </a:rPr>
              <a:t>the</a:t>
            </a:r>
            <a:r>
              <a:rPr sz="1800" spc="200" dirty="0">
                <a:latin typeface="Calibri"/>
                <a:cs typeface="Calibri"/>
              </a:rPr>
              <a:t> </a:t>
            </a:r>
            <a:r>
              <a:rPr sz="1800" dirty="0">
                <a:latin typeface="Calibri"/>
                <a:cs typeface="Calibri"/>
              </a:rPr>
              <a:t>limiting</a:t>
            </a:r>
            <a:r>
              <a:rPr sz="1800" spc="190" dirty="0">
                <a:latin typeface="Calibri"/>
                <a:cs typeface="Calibri"/>
              </a:rPr>
              <a:t> </a:t>
            </a:r>
            <a:r>
              <a:rPr sz="1800" dirty="0">
                <a:latin typeface="Calibri"/>
                <a:cs typeface="Calibri"/>
              </a:rPr>
              <a:t>factors</a:t>
            </a:r>
            <a:r>
              <a:rPr sz="1800" spc="190" dirty="0">
                <a:latin typeface="Calibri"/>
                <a:cs typeface="Calibri"/>
              </a:rPr>
              <a:t> </a:t>
            </a:r>
            <a:r>
              <a:rPr sz="1800" dirty="0">
                <a:latin typeface="Calibri"/>
                <a:cs typeface="Calibri"/>
              </a:rPr>
              <a:t>(money,</a:t>
            </a:r>
            <a:r>
              <a:rPr sz="1800" spc="200" dirty="0">
                <a:latin typeface="Calibri"/>
                <a:cs typeface="Calibri"/>
              </a:rPr>
              <a:t> </a:t>
            </a:r>
            <a:r>
              <a:rPr sz="1800" spc="-10" dirty="0">
                <a:latin typeface="Calibri"/>
                <a:cs typeface="Calibri"/>
              </a:rPr>
              <a:t>manpower</a:t>
            </a:r>
            <a:endParaRPr sz="1800" dirty="0">
              <a:latin typeface="Calibri"/>
              <a:cs typeface="Calibri"/>
            </a:endParaRPr>
          </a:p>
          <a:p>
            <a:pPr marL="356870" algn="just">
              <a:lnSpc>
                <a:spcPts val="1945"/>
              </a:lnSpc>
            </a:pPr>
            <a:r>
              <a:rPr sz="1800" dirty="0">
                <a:latin typeface="Calibri"/>
                <a:cs typeface="Calibri"/>
              </a:rPr>
              <a:t>etc)</a:t>
            </a:r>
            <a:r>
              <a:rPr sz="1800" spc="-35" dirty="0">
                <a:latin typeface="Calibri"/>
                <a:cs typeface="Calibri"/>
              </a:rPr>
              <a:t> </a:t>
            </a:r>
            <a:r>
              <a:rPr sz="1800" dirty="0">
                <a:latin typeface="Calibri"/>
                <a:cs typeface="Calibri"/>
              </a:rPr>
              <a:t>and</a:t>
            </a:r>
            <a:r>
              <a:rPr sz="1800" spc="-25" dirty="0">
                <a:latin typeface="Calibri"/>
                <a:cs typeface="Calibri"/>
              </a:rPr>
              <a:t> </a:t>
            </a:r>
            <a:r>
              <a:rPr sz="1800" dirty="0">
                <a:latin typeface="Calibri"/>
                <a:cs typeface="Calibri"/>
              </a:rPr>
              <a:t>formulate</a:t>
            </a:r>
            <a:r>
              <a:rPr sz="1800" spc="5" dirty="0">
                <a:latin typeface="Calibri"/>
                <a:cs typeface="Calibri"/>
              </a:rPr>
              <a:t> </a:t>
            </a:r>
            <a:r>
              <a:rPr sz="1800" dirty="0">
                <a:latin typeface="Calibri"/>
                <a:cs typeface="Calibri"/>
              </a:rPr>
              <a:t>plans</a:t>
            </a:r>
            <a:r>
              <a:rPr sz="1800" spc="5"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light</a:t>
            </a:r>
            <a:r>
              <a:rPr sz="1800" spc="1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these</a:t>
            </a:r>
            <a:r>
              <a:rPr sz="1800" spc="-20" dirty="0">
                <a:latin typeface="Calibri"/>
                <a:cs typeface="Calibri"/>
              </a:rPr>
              <a:t> </a:t>
            </a:r>
            <a:r>
              <a:rPr sz="1800" dirty="0">
                <a:latin typeface="Calibri"/>
                <a:cs typeface="Calibri"/>
              </a:rPr>
              <a:t>critical</a:t>
            </a:r>
            <a:r>
              <a:rPr sz="1800" spc="-5" dirty="0">
                <a:latin typeface="Calibri"/>
                <a:cs typeface="Calibri"/>
              </a:rPr>
              <a:t> </a:t>
            </a:r>
            <a:r>
              <a:rPr sz="1800" spc="-10" dirty="0">
                <a:latin typeface="Calibri"/>
                <a:cs typeface="Calibri"/>
              </a:rPr>
              <a:t>factors</a:t>
            </a:r>
            <a:r>
              <a:rPr sz="1800" spc="-10" dirty="0" smtClean="0">
                <a:latin typeface="Calibri"/>
                <a:cs typeface="Calibri"/>
              </a:rPr>
              <a:t>.</a:t>
            </a:r>
            <a:endParaRPr lang="en-IN" sz="1800" spc="-10" dirty="0" smtClean="0">
              <a:latin typeface="Calibri"/>
              <a:cs typeface="Calibri"/>
            </a:endParaRPr>
          </a:p>
          <a:p>
            <a:pPr marL="356870" algn="just">
              <a:lnSpc>
                <a:spcPts val="1945"/>
              </a:lnSpc>
            </a:pPr>
            <a:endParaRPr sz="1800" dirty="0">
              <a:latin typeface="Calibri"/>
              <a:cs typeface="Calibri"/>
            </a:endParaRPr>
          </a:p>
          <a:p>
            <a:pPr marL="12065" algn="just">
              <a:lnSpc>
                <a:spcPts val="1945"/>
              </a:lnSpc>
              <a:tabLst>
                <a:tab pos="266065" algn="l"/>
              </a:tabLst>
            </a:pPr>
            <a:r>
              <a:rPr lang="en-IN" sz="1800" b="1" dirty="0" smtClean="0">
                <a:latin typeface="Calibri"/>
                <a:cs typeface="Calibri"/>
              </a:rPr>
              <a:t>5.	</a:t>
            </a:r>
            <a:r>
              <a:rPr sz="1800" b="1" dirty="0" smtClean="0">
                <a:latin typeface="Calibri"/>
                <a:cs typeface="Calibri"/>
              </a:rPr>
              <a:t>Flexibility</a:t>
            </a:r>
            <a:r>
              <a:rPr sz="1800" b="1" dirty="0">
                <a:latin typeface="Calibri"/>
                <a:cs typeface="Calibri"/>
              </a:rPr>
              <a:t>:</a:t>
            </a:r>
            <a:r>
              <a:rPr sz="1800" b="1" spc="150" dirty="0">
                <a:latin typeface="Calibri"/>
                <a:cs typeface="Calibri"/>
              </a:rPr>
              <a:t> </a:t>
            </a:r>
            <a:r>
              <a:rPr sz="1800" dirty="0">
                <a:latin typeface="Calibri"/>
                <a:cs typeface="Calibri"/>
              </a:rPr>
              <a:t>The</a:t>
            </a:r>
            <a:r>
              <a:rPr sz="1800" spc="150" dirty="0">
                <a:latin typeface="Calibri"/>
                <a:cs typeface="Calibri"/>
              </a:rPr>
              <a:t> </a:t>
            </a:r>
            <a:r>
              <a:rPr sz="1800" dirty="0">
                <a:latin typeface="Calibri"/>
                <a:cs typeface="Calibri"/>
              </a:rPr>
              <a:t>process</a:t>
            </a:r>
            <a:r>
              <a:rPr sz="1800" spc="155" dirty="0">
                <a:latin typeface="Calibri"/>
                <a:cs typeface="Calibri"/>
              </a:rPr>
              <a:t> </a:t>
            </a:r>
            <a:r>
              <a:rPr sz="1800" dirty="0">
                <a:latin typeface="Calibri"/>
                <a:cs typeface="Calibri"/>
              </a:rPr>
              <a:t>of</a:t>
            </a:r>
            <a:r>
              <a:rPr sz="1800" spc="160" dirty="0">
                <a:latin typeface="Calibri"/>
                <a:cs typeface="Calibri"/>
              </a:rPr>
              <a:t> </a:t>
            </a:r>
            <a:r>
              <a:rPr sz="1800" dirty="0">
                <a:latin typeface="Calibri"/>
                <a:cs typeface="Calibri"/>
              </a:rPr>
              <a:t>planning</a:t>
            </a:r>
            <a:r>
              <a:rPr sz="1800" spc="155" dirty="0">
                <a:latin typeface="Calibri"/>
                <a:cs typeface="Calibri"/>
              </a:rPr>
              <a:t> </a:t>
            </a:r>
            <a:r>
              <a:rPr sz="1800" dirty="0">
                <a:latin typeface="Calibri"/>
                <a:cs typeface="Calibri"/>
              </a:rPr>
              <a:t>should</a:t>
            </a:r>
            <a:r>
              <a:rPr sz="1800" spc="155" dirty="0">
                <a:latin typeface="Calibri"/>
                <a:cs typeface="Calibri"/>
              </a:rPr>
              <a:t> </a:t>
            </a:r>
            <a:r>
              <a:rPr sz="1800" dirty="0">
                <a:latin typeface="Calibri"/>
                <a:cs typeface="Calibri"/>
              </a:rPr>
              <a:t>be</a:t>
            </a:r>
            <a:r>
              <a:rPr sz="1800" spc="150" dirty="0">
                <a:latin typeface="Calibri"/>
                <a:cs typeface="Calibri"/>
              </a:rPr>
              <a:t> </a:t>
            </a:r>
            <a:r>
              <a:rPr sz="1800" dirty="0">
                <a:latin typeface="Calibri"/>
                <a:cs typeface="Calibri"/>
              </a:rPr>
              <a:t>adaptable</a:t>
            </a:r>
            <a:r>
              <a:rPr sz="1800" spc="155" dirty="0">
                <a:latin typeface="Calibri"/>
                <a:cs typeface="Calibri"/>
              </a:rPr>
              <a:t> </a:t>
            </a:r>
            <a:r>
              <a:rPr sz="1800" dirty="0">
                <a:latin typeface="Calibri"/>
                <a:cs typeface="Calibri"/>
              </a:rPr>
              <a:t>to</a:t>
            </a:r>
            <a:r>
              <a:rPr sz="1800" spc="165" dirty="0">
                <a:latin typeface="Calibri"/>
                <a:cs typeface="Calibri"/>
              </a:rPr>
              <a:t> </a:t>
            </a:r>
            <a:r>
              <a:rPr sz="1800" dirty="0">
                <a:latin typeface="Calibri"/>
                <a:cs typeface="Calibri"/>
              </a:rPr>
              <a:t>changing</a:t>
            </a:r>
            <a:r>
              <a:rPr sz="1800" spc="160" dirty="0">
                <a:latin typeface="Calibri"/>
                <a:cs typeface="Calibri"/>
              </a:rPr>
              <a:t> </a:t>
            </a:r>
            <a:r>
              <a:rPr sz="1800" spc="-10" dirty="0">
                <a:latin typeface="Calibri"/>
                <a:cs typeface="Calibri"/>
              </a:rPr>
              <a:t>environmental</a:t>
            </a:r>
            <a:endParaRPr sz="1800" dirty="0">
              <a:latin typeface="Calibri"/>
              <a:cs typeface="Calibri"/>
            </a:endParaRPr>
          </a:p>
          <a:p>
            <a:pPr marL="356870">
              <a:lnSpc>
                <a:spcPts val="1945"/>
              </a:lnSpc>
            </a:pPr>
            <a:r>
              <a:rPr sz="1800" spc="-10" dirty="0">
                <a:latin typeface="Calibri"/>
                <a:cs typeface="Calibri"/>
              </a:rPr>
              <a:t>conditions</a:t>
            </a:r>
            <a:r>
              <a:rPr sz="1800" spc="-10" dirty="0" smtClean="0">
                <a:latin typeface="Calibri"/>
                <a:cs typeface="Calibri"/>
              </a:rPr>
              <a:t>.</a:t>
            </a:r>
            <a:endParaRPr lang="en-IN" sz="1800" spc="-10" dirty="0" smtClean="0">
              <a:latin typeface="Calibri"/>
              <a:cs typeface="Calibri"/>
            </a:endParaRPr>
          </a:p>
          <a:p>
            <a:pPr marL="356870">
              <a:lnSpc>
                <a:spcPts val="1945"/>
              </a:lnSpc>
            </a:pPr>
            <a:endParaRPr sz="1800" dirty="0">
              <a:latin typeface="Calibri"/>
              <a:cs typeface="Calibri"/>
            </a:endParaRPr>
          </a:p>
          <a:p>
            <a:pPr marL="12065">
              <a:lnSpc>
                <a:spcPts val="1945"/>
              </a:lnSpc>
              <a:tabLst>
                <a:tab pos="250825" algn="l"/>
              </a:tabLst>
            </a:pPr>
            <a:r>
              <a:rPr lang="en-IN" sz="1800" b="1" dirty="0" smtClean="0">
                <a:latin typeface="Calibri"/>
                <a:cs typeface="Calibri"/>
              </a:rPr>
              <a:t>6.	</a:t>
            </a:r>
            <a:r>
              <a:rPr sz="1800" b="1" dirty="0" smtClean="0">
                <a:latin typeface="Calibri"/>
                <a:cs typeface="Calibri"/>
              </a:rPr>
              <a:t>Planning</a:t>
            </a:r>
            <a:r>
              <a:rPr sz="1800" b="1" spc="80" dirty="0" smtClean="0">
                <a:latin typeface="Calibri"/>
                <a:cs typeface="Calibri"/>
              </a:rPr>
              <a:t> </a:t>
            </a:r>
            <a:r>
              <a:rPr sz="1800" b="1" dirty="0">
                <a:latin typeface="Calibri"/>
                <a:cs typeface="Calibri"/>
              </a:rPr>
              <a:t>is</a:t>
            </a:r>
            <a:r>
              <a:rPr sz="1800" b="1" spc="65" dirty="0">
                <a:latin typeface="Calibri"/>
                <a:cs typeface="Calibri"/>
              </a:rPr>
              <a:t> </a:t>
            </a:r>
            <a:r>
              <a:rPr sz="1800" b="1" dirty="0">
                <a:latin typeface="Calibri"/>
                <a:cs typeface="Calibri"/>
              </a:rPr>
              <a:t>an</a:t>
            </a:r>
            <a:r>
              <a:rPr sz="1800" b="1" spc="65" dirty="0">
                <a:latin typeface="Calibri"/>
                <a:cs typeface="Calibri"/>
              </a:rPr>
              <a:t> </a:t>
            </a:r>
            <a:r>
              <a:rPr sz="1800" b="1" dirty="0">
                <a:latin typeface="Calibri"/>
                <a:cs typeface="Calibri"/>
              </a:rPr>
              <a:t>intellectual</a:t>
            </a:r>
            <a:r>
              <a:rPr sz="1800" b="1" spc="40" dirty="0">
                <a:latin typeface="Calibri"/>
                <a:cs typeface="Calibri"/>
              </a:rPr>
              <a:t> </a:t>
            </a:r>
            <a:r>
              <a:rPr sz="1800" b="1" dirty="0">
                <a:latin typeface="Calibri"/>
                <a:cs typeface="Calibri"/>
              </a:rPr>
              <a:t>process:</a:t>
            </a:r>
            <a:r>
              <a:rPr sz="1800" b="1" spc="55" dirty="0">
                <a:latin typeface="Calibri"/>
                <a:cs typeface="Calibri"/>
              </a:rPr>
              <a:t> </a:t>
            </a:r>
            <a:r>
              <a:rPr sz="1800" dirty="0">
                <a:latin typeface="Calibri"/>
                <a:cs typeface="Calibri"/>
              </a:rPr>
              <a:t>The</a:t>
            </a:r>
            <a:r>
              <a:rPr sz="1800" spc="60" dirty="0">
                <a:latin typeface="Calibri"/>
                <a:cs typeface="Calibri"/>
              </a:rPr>
              <a:t> </a:t>
            </a:r>
            <a:r>
              <a:rPr sz="1800" dirty="0">
                <a:latin typeface="Calibri"/>
                <a:cs typeface="Calibri"/>
              </a:rPr>
              <a:t>quality</a:t>
            </a:r>
            <a:r>
              <a:rPr sz="1800" spc="75" dirty="0">
                <a:latin typeface="Calibri"/>
                <a:cs typeface="Calibri"/>
              </a:rPr>
              <a:t> </a:t>
            </a:r>
            <a:r>
              <a:rPr sz="1800" dirty="0">
                <a:latin typeface="Calibri"/>
                <a:cs typeface="Calibri"/>
              </a:rPr>
              <a:t>of</a:t>
            </a:r>
            <a:r>
              <a:rPr sz="1800" spc="65" dirty="0">
                <a:latin typeface="Calibri"/>
                <a:cs typeface="Calibri"/>
              </a:rPr>
              <a:t> </a:t>
            </a:r>
            <a:r>
              <a:rPr sz="1800" dirty="0">
                <a:latin typeface="Calibri"/>
                <a:cs typeface="Calibri"/>
              </a:rPr>
              <a:t>planning</a:t>
            </a:r>
            <a:r>
              <a:rPr sz="1800" spc="70" dirty="0">
                <a:latin typeface="Calibri"/>
                <a:cs typeface="Calibri"/>
              </a:rPr>
              <a:t> </a:t>
            </a:r>
            <a:r>
              <a:rPr sz="1800" dirty="0">
                <a:latin typeface="Calibri"/>
                <a:cs typeface="Calibri"/>
              </a:rPr>
              <a:t>will</a:t>
            </a:r>
            <a:r>
              <a:rPr sz="1800" spc="85" dirty="0">
                <a:latin typeface="Calibri"/>
                <a:cs typeface="Calibri"/>
              </a:rPr>
              <a:t> </a:t>
            </a:r>
            <a:r>
              <a:rPr sz="1800" dirty="0">
                <a:latin typeface="Calibri"/>
                <a:cs typeface="Calibri"/>
              </a:rPr>
              <a:t>vary</a:t>
            </a:r>
            <a:r>
              <a:rPr sz="1800" spc="70" dirty="0">
                <a:latin typeface="Calibri"/>
                <a:cs typeface="Calibri"/>
              </a:rPr>
              <a:t> </a:t>
            </a:r>
            <a:r>
              <a:rPr sz="1800" dirty="0">
                <a:latin typeface="Calibri"/>
                <a:cs typeface="Calibri"/>
              </a:rPr>
              <a:t>according</a:t>
            </a:r>
            <a:r>
              <a:rPr sz="1800" spc="65" dirty="0">
                <a:latin typeface="Calibri"/>
                <a:cs typeface="Calibri"/>
              </a:rPr>
              <a:t> </a:t>
            </a:r>
            <a:r>
              <a:rPr sz="1800" dirty="0">
                <a:latin typeface="Calibri"/>
                <a:cs typeface="Calibri"/>
              </a:rPr>
              <a:t>to</a:t>
            </a:r>
            <a:r>
              <a:rPr sz="1800" spc="80" dirty="0">
                <a:latin typeface="Calibri"/>
                <a:cs typeface="Calibri"/>
              </a:rPr>
              <a:t> </a:t>
            </a:r>
            <a:r>
              <a:rPr sz="1800" spc="-25" dirty="0">
                <a:latin typeface="Calibri"/>
                <a:cs typeface="Calibri"/>
              </a:rPr>
              <a:t>the</a:t>
            </a:r>
            <a:endParaRPr sz="1800" dirty="0">
              <a:latin typeface="Calibri"/>
              <a:cs typeface="Calibri"/>
            </a:endParaRPr>
          </a:p>
          <a:p>
            <a:pPr marL="356870">
              <a:lnSpc>
                <a:spcPts val="1945"/>
              </a:lnSpc>
            </a:pPr>
            <a:r>
              <a:rPr sz="1800" dirty="0">
                <a:latin typeface="Calibri"/>
                <a:cs typeface="Calibri"/>
              </a:rPr>
              <a:t>quality</a:t>
            </a:r>
            <a:r>
              <a:rPr sz="1800" spc="30"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the mind</a:t>
            </a:r>
            <a:r>
              <a:rPr sz="1800" spc="20" dirty="0">
                <a:latin typeface="Calibri"/>
                <a:cs typeface="Calibri"/>
              </a:rPr>
              <a:t> </a:t>
            </a:r>
            <a:r>
              <a:rPr sz="1800" dirty="0">
                <a:latin typeface="Calibri"/>
                <a:cs typeface="Calibri"/>
              </a:rPr>
              <a:t>of</a:t>
            </a:r>
            <a:r>
              <a:rPr sz="1800" spc="-15" dirty="0">
                <a:latin typeface="Calibri"/>
                <a:cs typeface="Calibri"/>
              </a:rPr>
              <a:t> </a:t>
            </a:r>
            <a:r>
              <a:rPr sz="1800" dirty="0">
                <a:latin typeface="Calibri"/>
                <a:cs typeface="Calibri"/>
              </a:rPr>
              <a:t>the </a:t>
            </a:r>
            <a:r>
              <a:rPr sz="1800" spc="-10" dirty="0">
                <a:latin typeface="Calibri"/>
                <a:cs typeface="Calibri"/>
              </a:rPr>
              <a:t>manager</a:t>
            </a:r>
            <a:r>
              <a:rPr sz="1800" spc="-10" dirty="0" smtClean="0">
                <a:latin typeface="Calibri"/>
                <a:cs typeface="Calibri"/>
              </a:rPr>
              <a:t>.</a:t>
            </a:r>
            <a:endParaRPr lang="en-IN" sz="1800" spc="-10" dirty="0" smtClean="0">
              <a:latin typeface="Calibri"/>
              <a:cs typeface="Calibri"/>
            </a:endParaRPr>
          </a:p>
          <a:p>
            <a:pPr marL="356870">
              <a:lnSpc>
                <a:spcPts val="1945"/>
              </a:lnSpc>
            </a:pPr>
            <a:endParaRPr sz="1800" dirty="0">
              <a:latin typeface="Calibri"/>
              <a:cs typeface="Calibri"/>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4870"/>
            <a:ext cx="7978775" cy="1033144"/>
          </a:xfrm>
          <a:prstGeom prst="rect">
            <a:avLst/>
          </a:prstGeom>
        </p:spPr>
        <p:txBody>
          <a:bodyPr vert="horz" wrap="square" lIns="0" tIns="75565" rIns="0" bIns="0" rtlCol="0">
            <a:spAutoFit/>
          </a:bodyPr>
          <a:lstStyle/>
          <a:p>
            <a:pPr marL="398780" algn="ctr">
              <a:lnSpc>
                <a:spcPct val="100000"/>
              </a:lnSpc>
              <a:spcBef>
                <a:spcPts val="595"/>
              </a:spcBef>
            </a:pPr>
            <a:r>
              <a:rPr sz="4000" dirty="0"/>
              <a:t>Importance</a:t>
            </a:r>
            <a:r>
              <a:rPr sz="4000" spc="-100" dirty="0"/>
              <a:t> </a:t>
            </a:r>
            <a:r>
              <a:rPr sz="4000" dirty="0"/>
              <a:t>of</a:t>
            </a:r>
            <a:r>
              <a:rPr sz="4000" spc="-60" dirty="0"/>
              <a:t> </a:t>
            </a:r>
            <a:r>
              <a:rPr sz="4000" spc="-10" dirty="0"/>
              <a:t>Planning</a:t>
            </a:r>
            <a:endParaRPr sz="4000"/>
          </a:p>
          <a:p>
            <a:pPr marL="12700">
              <a:lnSpc>
                <a:spcPct val="100000"/>
              </a:lnSpc>
              <a:spcBef>
                <a:spcPts val="240"/>
              </a:spcBef>
            </a:pPr>
            <a:r>
              <a:rPr sz="2000" dirty="0"/>
              <a:t>As</a:t>
            </a:r>
            <a:r>
              <a:rPr sz="2000" spc="-40" dirty="0"/>
              <a:t> </a:t>
            </a:r>
            <a:r>
              <a:rPr sz="2000" dirty="0"/>
              <a:t>a</a:t>
            </a:r>
            <a:r>
              <a:rPr sz="2000" spc="-45" dirty="0"/>
              <a:t> </a:t>
            </a:r>
            <a:r>
              <a:rPr sz="2000" dirty="0"/>
              <a:t>managerial function</a:t>
            </a:r>
            <a:r>
              <a:rPr sz="2000" spc="-45" dirty="0"/>
              <a:t> </a:t>
            </a:r>
            <a:r>
              <a:rPr sz="2000" dirty="0"/>
              <a:t>planning</a:t>
            </a:r>
            <a:r>
              <a:rPr sz="2000" spc="-55" dirty="0"/>
              <a:t> </a:t>
            </a:r>
            <a:r>
              <a:rPr sz="2000" dirty="0"/>
              <a:t>is</a:t>
            </a:r>
            <a:r>
              <a:rPr sz="2000" spc="-55" dirty="0"/>
              <a:t> </a:t>
            </a:r>
            <a:r>
              <a:rPr sz="2000" dirty="0"/>
              <a:t>important</a:t>
            </a:r>
            <a:r>
              <a:rPr sz="2000" spc="-20" dirty="0"/>
              <a:t> </a:t>
            </a:r>
            <a:r>
              <a:rPr sz="2000" dirty="0"/>
              <a:t>due</a:t>
            </a:r>
            <a:r>
              <a:rPr sz="2000" spc="-55" dirty="0"/>
              <a:t> </a:t>
            </a:r>
            <a:r>
              <a:rPr sz="2000" dirty="0"/>
              <a:t>to</a:t>
            </a:r>
            <a:r>
              <a:rPr sz="2000" spc="-45" dirty="0"/>
              <a:t> </a:t>
            </a:r>
            <a:r>
              <a:rPr sz="2000" dirty="0"/>
              <a:t>the</a:t>
            </a:r>
            <a:r>
              <a:rPr sz="2000" spc="-55" dirty="0"/>
              <a:t> </a:t>
            </a:r>
            <a:r>
              <a:rPr sz="2000" spc="-10" dirty="0"/>
              <a:t>following</a:t>
            </a:r>
            <a:r>
              <a:rPr sz="2000" spc="-20" dirty="0"/>
              <a:t> </a:t>
            </a:r>
            <a:r>
              <a:rPr sz="2000" spc="-10" dirty="0"/>
              <a:t>reasons:-</a:t>
            </a:r>
            <a:endParaRPr sz="2000"/>
          </a:p>
        </p:txBody>
      </p:sp>
      <p:sp>
        <p:nvSpPr>
          <p:cNvPr id="3" name="object 3"/>
          <p:cNvSpPr txBox="1"/>
          <p:nvPr/>
        </p:nvSpPr>
        <p:spPr>
          <a:xfrm>
            <a:off x="383540" y="1258646"/>
            <a:ext cx="8381365" cy="5269865"/>
          </a:xfrm>
          <a:prstGeom prst="rect">
            <a:avLst/>
          </a:prstGeom>
        </p:spPr>
        <p:txBody>
          <a:bodyPr vert="horz" wrap="square" lIns="0" tIns="70485" rIns="0" bIns="0" rtlCol="0">
            <a:spAutoFit/>
          </a:bodyPr>
          <a:lstStyle/>
          <a:p>
            <a:pPr marL="278765" marR="8890" indent="-266700" algn="just">
              <a:lnSpc>
                <a:spcPts val="1920"/>
              </a:lnSpc>
              <a:spcBef>
                <a:spcPts val="555"/>
              </a:spcBef>
              <a:buFont typeface="Calibri"/>
              <a:buAutoNum type="arabicPeriod"/>
              <a:tabLst>
                <a:tab pos="356870" algn="l"/>
              </a:tabLst>
            </a:pPr>
            <a:r>
              <a:rPr sz="2000" b="1" dirty="0">
                <a:latin typeface="Calibri"/>
                <a:cs typeface="Calibri"/>
              </a:rPr>
              <a:t>To</a:t>
            </a:r>
            <a:r>
              <a:rPr sz="2000" b="1" spc="30" dirty="0">
                <a:latin typeface="Calibri"/>
                <a:cs typeface="Calibri"/>
              </a:rPr>
              <a:t> </a:t>
            </a:r>
            <a:r>
              <a:rPr sz="2000" b="1" dirty="0">
                <a:latin typeface="Calibri"/>
                <a:cs typeface="Calibri"/>
              </a:rPr>
              <a:t>manage</a:t>
            </a:r>
            <a:r>
              <a:rPr sz="2000" b="1" spc="55" dirty="0">
                <a:latin typeface="Calibri"/>
                <a:cs typeface="Calibri"/>
              </a:rPr>
              <a:t> </a:t>
            </a:r>
            <a:r>
              <a:rPr sz="2000" b="1" dirty="0">
                <a:latin typeface="Calibri"/>
                <a:cs typeface="Calibri"/>
              </a:rPr>
              <a:t>by</a:t>
            </a:r>
            <a:r>
              <a:rPr sz="2000" b="1" spc="20" dirty="0">
                <a:latin typeface="Calibri"/>
                <a:cs typeface="Calibri"/>
              </a:rPr>
              <a:t> </a:t>
            </a:r>
            <a:r>
              <a:rPr sz="2000" b="1" dirty="0">
                <a:latin typeface="Calibri"/>
                <a:cs typeface="Calibri"/>
              </a:rPr>
              <a:t>objectives</a:t>
            </a:r>
            <a:r>
              <a:rPr sz="2000" dirty="0">
                <a:latin typeface="Calibri"/>
                <a:cs typeface="Calibri"/>
              </a:rPr>
              <a:t>:</a:t>
            </a:r>
            <a:r>
              <a:rPr sz="2000" spc="60" dirty="0">
                <a:latin typeface="Calibri"/>
                <a:cs typeface="Calibri"/>
              </a:rPr>
              <a:t> </a:t>
            </a:r>
            <a:r>
              <a:rPr sz="2000" dirty="0">
                <a:latin typeface="Calibri"/>
                <a:cs typeface="Calibri"/>
              </a:rPr>
              <a:t>All</a:t>
            </a:r>
            <a:r>
              <a:rPr sz="2000" spc="4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activities</a:t>
            </a:r>
            <a:r>
              <a:rPr sz="2000" spc="45"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an</a:t>
            </a:r>
            <a:r>
              <a:rPr sz="2000" spc="55" dirty="0">
                <a:latin typeface="Calibri"/>
                <a:cs typeface="Calibri"/>
              </a:rPr>
              <a:t> </a:t>
            </a:r>
            <a:r>
              <a:rPr sz="2000" dirty="0">
                <a:latin typeface="Calibri"/>
                <a:cs typeface="Calibri"/>
              </a:rPr>
              <a:t>organisation</a:t>
            </a:r>
            <a:r>
              <a:rPr sz="2000" spc="65" dirty="0">
                <a:latin typeface="Calibri"/>
                <a:cs typeface="Calibri"/>
              </a:rPr>
              <a:t> </a:t>
            </a:r>
            <a:r>
              <a:rPr sz="2000" dirty="0">
                <a:latin typeface="Calibri"/>
                <a:cs typeface="Calibri"/>
              </a:rPr>
              <a:t>are</a:t>
            </a:r>
            <a:r>
              <a:rPr sz="2000" spc="40" dirty="0">
                <a:latin typeface="Calibri"/>
                <a:cs typeface="Calibri"/>
              </a:rPr>
              <a:t> </a:t>
            </a:r>
            <a:r>
              <a:rPr sz="2000" dirty="0">
                <a:latin typeface="Calibri"/>
                <a:cs typeface="Calibri"/>
              </a:rPr>
              <a:t>designed</a:t>
            </a:r>
            <a:r>
              <a:rPr sz="2000" spc="65" dirty="0">
                <a:latin typeface="Calibri"/>
                <a:cs typeface="Calibri"/>
              </a:rPr>
              <a:t> </a:t>
            </a:r>
            <a:r>
              <a:rPr sz="2000" spc="-25" dirty="0">
                <a:latin typeface="Calibri"/>
                <a:cs typeface="Calibri"/>
              </a:rPr>
              <a:t>to 	</a:t>
            </a:r>
            <a:r>
              <a:rPr sz="2000" dirty="0">
                <a:latin typeface="Calibri"/>
                <a:cs typeface="Calibri"/>
              </a:rPr>
              <a:t>achieve</a:t>
            </a:r>
            <a:r>
              <a:rPr sz="2000" spc="25" dirty="0">
                <a:latin typeface="Calibri"/>
                <a:cs typeface="Calibri"/>
              </a:rPr>
              <a:t> </a:t>
            </a:r>
            <a:r>
              <a:rPr sz="2000" dirty="0">
                <a:latin typeface="Calibri"/>
                <a:cs typeface="Calibri"/>
              </a:rPr>
              <a:t>certain</a:t>
            </a:r>
            <a:r>
              <a:rPr sz="2000" spc="35" dirty="0">
                <a:latin typeface="Calibri"/>
                <a:cs typeface="Calibri"/>
              </a:rPr>
              <a:t> </a:t>
            </a:r>
            <a:r>
              <a:rPr sz="2000" dirty="0">
                <a:latin typeface="Calibri"/>
                <a:cs typeface="Calibri"/>
              </a:rPr>
              <a:t>specified</a:t>
            </a:r>
            <a:r>
              <a:rPr sz="2000" spc="45" dirty="0">
                <a:latin typeface="Calibri"/>
                <a:cs typeface="Calibri"/>
              </a:rPr>
              <a:t> </a:t>
            </a:r>
            <a:r>
              <a:rPr sz="2000" dirty="0">
                <a:latin typeface="Calibri"/>
                <a:cs typeface="Calibri"/>
              </a:rPr>
              <a:t>objectives.</a:t>
            </a:r>
            <a:r>
              <a:rPr sz="2000" spc="30" dirty="0">
                <a:latin typeface="Calibri"/>
                <a:cs typeface="Calibri"/>
              </a:rPr>
              <a:t> </a:t>
            </a:r>
            <a:r>
              <a:rPr sz="2000" spc="-20" dirty="0">
                <a:latin typeface="Calibri"/>
                <a:cs typeface="Calibri"/>
              </a:rPr>
              <a:t>However,</a:t>
            </a:r>
            <a:r>
              <a:rPr sz="2000" spc="40" dirty="0">
                <a:latin typeface="Calibri"/>
                <a:cs typeface="Calibri"/>
              </a:rPr>
              <a:t> </a:t>
            </a:r>
            <a:r>
              <a:rPr sz="2000" dirty="0">
                <a:latin typeface="Calibri"/>
                <a:cs typeface="Calibri"/>
              </a:rPr>
              <a:t>planning</a:t>
            </a:r>
            <a:r>
              <a:rPr sz="2000" spc="35" dirty="0">
                <a:latin typeface="Calibri"/>
                <a:cs typeface="Calibri"/>
              </a:rPr>
              <a:t> </a:t>
            </a:r>
            <a:r>
              <a:rPr sz="2000" dirty="0">
                <a:latin typeface="Calibri"/>
                <a:cs typeface="Calibri"/>
              </a:rPr>
              <a:t>makes</a:t>
            </a:r>
            <a:r>
              <a:rPr sz="2000" spc="15"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objectives 	</a:t>
            </a:r>
            <a:r>
              <a:rPr sz="2000" dirty="0">
                <a:latin typeface="Calibri"/>
                <a:cs typeface="Calibri"/>
              </a:rPr>
              <a:t>more</a:t>
            </a:r>
            <a:r>
              <a:rPr sz="2000" spc="-45" dirty="0">
                <a:latin typeface="Calibri"/>
                <a:cs typeface="Calibri"/>
              </a:rPr>
              <a:t> </a:t>
            </a:r>
            <a:r>
              <a:rPr sz="2000" spc="-10" dirty="0">
                <a:latin typeface="Calibri"/>
                <a:cs typeface="Calibri"/>
              </a:rPr>
              <a:t>concrete</a:t>
            </a:r>
            <a:r>
              <a:rPr sz="2000" spc="-40" dirty="0">
                <a:latin typeface="Calibri"/>
                <a:cs typeface="Calibri"/>
              </a:rPr>
              <a:t> </a:t>
            </a:r>
            <a:r>
              <a:rPr sz="2000" dirty="0">
                <a:latin typeface="Calibri"/>
                <a:cs typeface="Calibri"/>
              </a:rPr>
              <a:t>by</a:t>
            </a:r>
            <a:r>
              <a:rPr sz="2000" spc="-70" dirty="0">
                <a:latin typeface="Calibri"/>
                <a:cs typeface="Calibri"/>
              </a:rPr>
              <a:t> </a:t>
            </a:r>
            <a:r>
              <a:rPr sz="2000" dirty="0">
                <a:latin typeface="Calibri"/>
                <a:cs typeface="Calibri"/>
              </a:rPr>
              <a:t>focusing</a:t>
            </a:r>
            <a:r>
              <a:rPr sz="2000" spc="-35" dirty="0">
                <a:latin typeface="Calibri"/>
                <a:cs typeface="Calibri"/>
              </a:rPr>
              <a:t> </a:t>
            </a:r>
            <a:r>
              <a:rPr sz="2000" spc="-10" dirty="0">
                <a:latin typeface="Calibri"/>
                <a:cs typeface="Calibri"/>
              </a:rPr>
              <a:t>attention</a:t>
            </a:r>
            <a:r>
              <a:rPr sz="2000" spc="-25" dirty="0">
                <a:latin typeface="Calibri"/>
                <a:cs typeface="Calibri"/>
              </a:rPr>
              <a:t> </a:t>
            </a:r>
            <a:r>
              <a:rPr sz="2000" dirty="0">
                <a:latin typeface="Calibri"/>
                <a:cs typeface="Calibri"/>
              </a:rPr>
              <a:t>on</a:t>
            </a:r>
            <a:r>
              <a:rPr sz="2000" spc="-70" dirty="0">
                <a:latin typeface="Calibri"/>
                <a:cs typeface="Calibri"/>
              </a:rPr>
              <a:t> </a:t>
            </a:r>
            <a:r>
              <a:rPr sz="2000" spc="-10" dirty="0">
                <a:latin typeface="Calibri"/>
                <a:cs typeface="Calibri"/>
              </a:rPr>
              <a:t>them.</a:t>
            </a:r>
            <a:endParaRPr sz="2000">
              <a:latin typeface="Calibri"/>
              <a:cs typeface="Calibri"/>
            </a:endParaRPr>
          </a:p>
          <a:p>
            <a:pPr marL="294005" marR="8890" indent="-281940" algn="just">
              <a:lnSpc>
                <a:spcPct val="80000"/>
              </a:lnSpc>
              <a:spcBef>
                <a:spcPts val="505"/>
              </a:spcBef>
              <a:buFont typeface="Calibri"/>
              <a:buAutoNum type="arabicPeriod"/>
              <a:tabLst>
                <a:tab pos="356870" algn="l"/>
              </a:tabLst>
            </a:pPr>
            <a:r>
              <a:rPr sz="2000" b="1" dirty="0">
                <a:latin typeface="Calibri"/>
                <a:cs typeface="Calibri"/>
              </a:rPr>
              <a:t>To</a:t>
            </a:r>
            <a:r>
              <a:rPr sz="2000" b="1" spc="170" dirty="0">
                <a:latin typeface="Calibri"/>
                <a:cs typeface="Calibri"/>
              </a:rPr>
              <a:t> </a:t>
            </a:r>
            <a:r>
              <a:rPr sz="2000" b="1" dirty="0">
                <a:latin typeface="Calibri"/>
                <a:cs typeface="Calibri"/>
              </a:rPr>
              <a:t>offset</a:t>
            </a:r>
            <a:r>
              <a:rPr sz="2000" b="1" spc="175" dirty="0">
                <a:latin typeface="Calibri"/>
                <a:cs typeface="Calibri"/>
              </a:rPr>
              <a:t> </a:t>
            </a:r>
            <a:r>
              <a:rPr sz="2000" b="1" dirty="0">
                <a:latin typeface="Calibri"/>
                <a:cs typeface="Calibri"/>
              </a:rPr>
              <a:t>uncertainty</a:t>
            </a:r>
            <a:r>
              <a:rPr sz="2000" b="1" spc="175" dirty="0">
                <a:latin typeface="Calibri"/>
                <a:cs typeface="Calibri"/>
              </a:rPr>
              <a:t> </a:t>
            </a:r>
            <a:r>
              <a:rPr sz="2000" b="1" dirty="0">
                <a:latin typeface="Calibri"/>
                <a:cs typeface="Calibri"/>
              </a:rPr>
              <a:t>and</a:t>
            </a:r>
            <a:r>
              <a:rPr sz="2000" b="1" spc="175" dirty="0">
                <a:latin typeface="Calibri"/>
                <a:cs typeface="Calibri"/>
              </a:rPr>
              <a:t> </a:t>
            </a:r>
            <a:r>
              <a:rPr sz="2000" b="1" dirty="0">
                <a:latin typeface="Calibri"/>
                <a:cs typeface="Calibri"/>
              </a:rPr>
              <a:t>change:</a:t>
            </a:r>
            <a:r>
              <a:rPr sz="2000" b="1" spc="165" dirty="0">
                <a:latin typeface="Calibri"/>
                <a:cs typeface="Calibri"/>
              </a:rPr>
              <a:t> </a:t>
            </a:r>
            <a:r>
              <a:rPr sz="2000" dirty="0">
                <a:latin typeface="Calibri"/>
                <a:cs typeface="Calibri"/>
              </a:rPr>
              <a:t>Future</a:t>
            </a:r>
            <a:r>
              <a:rPr sz="2000" spc="185" dirty="0">
                <a:latin typeface="Calibri"/>
                <a:cs typeface="Calibri"/>
              </a:rPr>
              <a:t> </a:t>
            </a:r>
            <a:r>
              <a:rPr sz="2000" dirty="0">
                <a:latin typeface="Calibri"/>
                <a:cs typeface="Calibri"/>
              </a:rPr>
              <a:t>is</a:t>
            </a:r>
            <a:r>
              <a:rPr sz="2000" spc="160" dirty="0">
                <a:latin typeface="Calibri"/>
                <a:cs typeface="Calibri"/>
              </a:rPr>
              <a:t> </a:t>
            </a:r>
            <a:r>
              <a:rPr sz="2000" dirty="0">
                <a:latin typeface="Calibri"/>
                <a:cs typeface="Calibri"/>
              </a:rPr>
              <a:t>always</a:t>
            </a:r>
            <a:r>
              <a:rPr sz="2000" spc="175" dirty="0">
                <a:latin typeface="Calibri"/>
                <a:cs typeface="Calibri"/>
              </a:rPr>
              <a:t> </a:t>
            </a:r>
            <a:r>
              <a:rPr sz="2000" dirty="0">
                <a:latin typeface="Calibri"/>
                <a:cs typeface="Calibri"/>
              </a:rPr>
              <a:t>full</a:t>
            </a:r>
            <a:r>
              <a:rPr sz="2000" spc="190" dirty="0">
                <a:latin typeface="Calibri"/>
                <a:cs typeface="Calibri"/>
              </a:rPr>
              <a:t> </a:t>
            </a:r>
            <a:r>
              <a:rPr sz="2000" dirty="0">
                <a:latin typeface="Calibri"/>
                <a:cs typeface="Calibri"/>
              </a:rPr>
              <a:t>of</a:t>
            </a:r>
            <a:r>
              <a:rPr sz="2000" spc="155" dirty="0">
                <a:latin typeface="Calibri"/>
                <a:cs typeface="Calibri"/>
              </a:rPr>
              <a:t> </a:t>
            </a:r>
            <a:r>
              <a:rPr sz="2000" dirty="0">
                <a:latin typeface="Calibri"/>
                <a:cs typeface="Calibri"/>
              </a:rPr>
              <a:t>uncertainties</a:t>
            </a:r>
            <a:r>
              <a:rPr sz="2000" spc="165" dirty="0">
                <a:latin typeface="Calibri"/>
                <a:cs typeface="Calibri"/>
              </a:rPr>
              <a:t> </a:t>
            </a:r>
            <a:r>
              <a:rPr sz="2000" spc="-25" dirty="0">
                <a:latin typeface="Calibri"/>
                <a:cs typeface="Calibri"/>
              </a:rPr>
              <a:t>and 	</a:t>
            </a:r>
            <a:r>
              <a:rPr sz="2000" dirty="0">
                <a:latin typeface="Calibri"/>
                <a:cs typeface="Calibri"/>
              </a:rPr>
              <a:t>changes.</a:t>
            </a:r>
            <a:r>
              <a:rPr sz="2000" spc="-40" dirty="0">
                <a:latin typeface="Calibri"/>
                <a:cs typeface="Calibri"/>
              </a:rPr>
              <a:t> </a:t>
            </a:r>
            <a:r>
              <a:rPr sz="2000" dirty="0">
                <a:latin typeface="Calibri"/>
                <a:cs typeface="Calibri"/>
              </a:rPr>
              <a:t>Planning</a:t>
            </a:r>
            <a:r>
              <a:rPr sz="2000" spc="-30" dirty="0">
                <a:latin typeface="Calibri"/>
                <a:cs typeface="Calibri"/>
              </a:rPr>
              <a:t> </a:t>
            </a:r>
            <a:r>
              <a:rPr sz="2000" spc="-10" dirty="0">
                <a:latin typeface="Calibri"/>
                <a:cs typeface="Calibri"/>
              </a:rPr>
              <a:t>foresees</a:t>
            </a:r>
            <a:r>
              <a:rPr sz="2000" spc="-3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future</a:t>
            </a:r>
            <a:r>
              <a:rPr sz="2000" spc="-35" dirty="0">
                <a:latin typeface="Calibri"/>
                <a:cs typeface="Calibri"/>
              </a:rPr>
              <a:t> </a:t>
            </a:r>
            <a:r>
              <a:rPr sz="2000" dirty="0">
                <a:latin typeface="Calibri"/>
                <a:cs typeface="Calibri"/>
              </a:rPr>
              <a:t>and</a:t>
            </a:r>
            <a:r>
              <a:rPr sz="2000" spc="-25" dirty="0">
                <a:latin typeface="Calibri"/>
                <a:cs typeface="Calibri"/>
              </a:rPr>
              <a:t> </a:t>
            </a:r>
            <a:r>
              <a:rPr sz="2000" dirty="0">
                <a:latin typeface="Calibri"/>
                <a:cs typeface="Calibri"/>
              </a:rPr>
              <a:t>makes</a:t>
            </a:r>
            <a:r>
              <a:rPr sz="2000" spc="-4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necessary</a:t>
            </a:r>
            <a:r>
              <a:rPr sz="2000" spc="-20" dirty="0">
                <a:latin typeface="Calibri"/>
                <a:cs typeface="Calibri"/>
              </a:rPr>
              <a:t> </a:t>
            </a:r>
            <a:r>
              <a:rPr sz="2000" dirty="0">
                <a:latin typeface="Calibri"/>
                <a:cs typeface="Calibri"/>
              </a:rPr>
              <a:t>provisions</a:t>
            </a:r>
            <a:r>
              <a:rPr sz="2000" spc="-35" dirty="0">
                <a:latin typeface="Calibri"/>
                <a:cs typeface="Calibri"/>
              </a:rPr>
              <a:t> </a:t>
            </a:r>
            <a:r>
              <a:rPr sz="2000" spc="-25" dirty="0">
                <a:latin typeface="Calibri"/>
                <a:cs typeface="Calibri"/>
              </a:rPr>
              <a:t>for 	it.</a:t>
            </a:r>
            <a:endParaRPr sz="2000">
              <a:latin typeface="Calibri"/>
              <a:cs typeface="Calibri"/>
            </a:endParaRPr>
          </a:p>
          <a:p>
            <a:pPr marL="311785" marR="8890" indent="-299720" algn="just">
              <a:lnSpc>
                <a:spcPct val="80000"/>
              </a:lnSpc>
              <a:spcBef>
                <a:spcPts val="480"/>
              </a:spcBef>
              <a:buFont typeface="Calibri"/>
              <a:buAutoNum type="arabicPeriod"/>
              <a:tabLst>
                <a:tab pos="356870" algn="l"/>
              </a:tabLst>
            </a:pPr>
            <a:r>
              <a:rPr sz="2000" b="1" dirty="0">
                <a:latin typeface="Calibri"/>
                <a:cs typeface="Calibri"/>
              </a:rPr>
              <a:t>To</a:t>
            </a:r>
            <a:r>
              <a:rPr sz="2000" b="1" spc="310" dirty="0">
                <a:latin typeface="Calibri"/>
                <a:cs typeface="Calibri"/>
              </a:rPr>
              <a:t> </a:t>
            </a:r>
            <a:r>
              <a:rPr sz="2000" b="1" dirty="0">
                <a:latin typeface="Calibri"/>
                <a:cs typeface="Calibri"/>
              </a:rPr>
              <a:t>secure</a:t>
            </a:r>
            <a:r>
              <a:rPr sz="2000" b="1" spc="315" dirty="0">
                <a:latin typeface="Calibri"/>
                <a:cs typeface="Calibri"/>
              </a:rPr>
              <a:t> </a:t>
            </a:r>
            <a:r>
              <a:rPr sz="2000" b="1" dirty="0">
                <a:latin typeface="Calibri"/>
                <a:cs typeface="Calibri"/>
              </a:rPr>
              <a:t>economy</a:t>
            </a:r>
            <a:r>
              <a:rPr sz="2000" b="1" spc="310" dirty="0">
                <a:latin typeface="Calibri"/>
                <a:cs typeface="Calibri"/>
              </a:rPr>
              <a:t> </a:t>
            </a:r>
            <a:r>
              <a:rPr sz="2000" b="1" dirty="0">
                <a:latin typeface="Calibri"/>
                <a:cs typeface="Calibri"/>
              </a:rPr>
              <a:t>in</a:t>
            </a:r>
            <a:r>
              <a:rPr sz="2000" b="1" spc="320" dirty="0">
                <a:latin typeface="Calibri"/>
                <a:cs typeface="Calibri"/>
              </a:rPr>
              <a:t> </a:t>
            </a:r>
            <a:r>
              <a:rPr sz="2000" b="1" dirty="0">
                <a:latin typeface="Calibri"/>
                <a:cs typeface="Calibri"/>
              </a:rPr>
              <a:t>operation</a:t>
            </a:r>
            <a:r>
              <a:rPr sz="2000" dirty="0">
                <a:latin typeface="Calibri"/>
                <a:cs typeface="Calibri"/>
              </a:rPr>
              <a:t>:</a:t>
            </a:r>
            <a:r>
              <a:rPr sz="2000" spc="300" dirty="0">
                <a:latin typeface="Calibri"/>
                <a:cs typeface="Calibri"/>
              </a:rPr>
              <a:t> </a:t>
            </a:r>
            <a:r>
              <a:rPr sz="2000" dirty="0">
                <a:latin typeface="Calibri"/>
                <a:cs typeface="Calibri"/>
              </a:rPr>
              <a:t>Planning</a:t>
            </a:r>
            <a:r>
              <a:rPr sz="2000" spc="315" dirty="0">
                <a:latin typeface="Calibri"/>
                <a:cs typeface="Calibri"/>
              </a:rPr>
              <a:t> </a:t>
            </a:r>
            <a:r>
              <a:rPr sz="2000" dirty="0">
                <a:latin typeface="Calibri"/>
                <a:cs typeface="Calibri"/>
              </a:rPr>
              <a:t>involves,</a:t>
            </a:r>
            <a:r>
              <a:rPr sz="2000" spc="315" dirty="0">
                <a:latin typeface="Calibri"/>
                <a:cs typeface="Calibri"/>
              </a:rPr>
              <a:t> </a:t>
            </a:r>
            <a:r>
              <a:rPr sz="2000" dirty="0">
                <a:latin typeface="Calibri"/>
                <a:cs typeface="Calibri"/>
              </a:rPr>
              <a:t>the</a:t>
            </a:r>
            <a:r>
              <a:rPr sz="2000" spc="305" dirty="0">
                <a:latin typeface="Calibri"/>
                <a:cs typeface="Calibri"/>
              </a:rPr>
              <a:t> </a:t>
            </a:r>
            <a:r>
              <a:rPr sz="2000" dirty="0">
                <a:latin typeface="Calibri"/>
                <a:cs typeface="Calibri"/>
              </a:rPr>
              <a:t>selection</a:t>
            </a:r>
            <a:r>
              <a:rPr sz="2000" spc="325" dirty="0">
                <a:latin typeface="Calibri"/>
                <a:cs typeface="Calibri"/>
              </a:rPr>
              <a:t> </a:t>
            </a:r>
            <a:r>
              <a:rPr sz="2000" dirty="0">
                <a:latin typeface="Calibri"/>
                <a:cs typeface="Calibri"/>
              </a:rPr>
              <a:t>of</a:t>
            </a:r>
            <a:r>
              <a:rPr sz="2000" spc="300" dirty="0">
                <a:latin typeface="Calibri"/>
                <a:cs typeface="Calibri"/>
              </a:rPr>
              <a:t> </a:t>
            </a:r>
            <a:r>
              <a:rPr sz="2000" spc="-20" dirty="0">
                <a:latin typeface="Calibri"/>
                <a:cs typeface="Calibri"/>
              </a:rPr>
              <a:t>most 	</a:t>
            </a:r>
            <a:r>
              <a:rPr sz="2000" dirty="0">
                <a:latin typeface="Calibri"/>
                <a:cs typeface="Calibri"/>
              </a:rPr>
              <a:t>profitable</a:t>
            </a:r>
            <a:r>
              <a:rPr sz="2000" spc="-5" dirty="0">
                <a:latin typeface="Calibri"/>
                <a:cs typeface="Calibri"/>
              </a:rPr>
              <a:t> </a:t>
            </a:r>
            <a:r>
              <a:rPr sz="2000" dirty="0">
                <a:latin typeface="Calibri"/>
                <a:cs typeface="Calibri"/>
              </a:rPr>
              <a:t>course of</a:t>
            </a:r>
            <a:r>
              <a:rPr sz="2000" spc="-10" dirty="0">
                <a:latin typeface="Calibri"/>
                <a:cs typeface="Calibri"/>
              </a:rPr>
              <a:t> </a:t>
            </a:r>
            <a:r>
              <a:rPr sz="2000" dirty="0">
                <a:latin typeface="Calibri"/>
                <a:cs typeface="Calibri"/>
              </a:rPr>
              <a:t>action</a:t>
            </a:r>
            <a:r>
              <a:rPr sz="2000" spc="15" dirty="0">
                <a:latin typeface="Calibri"/>
                <a:cs typeface="Calibri"/>
              </a:rPr>
              <a:t> </a:t>
            </a:r>
            <a:r>
              <a:rPr sz="2000" dirty="0">
                <a:latin typeface="Calibri"/>
                <a:cs typeface="Calibri"/>
              </a:rPr>
              <a:t>that</a:t>
            </a:r>
            <a:r>
              <a:rPr sz="2000" spc="5" dirty="0">
                <a:latin typeface="Calibri"/>
                <a:cs typeface="Calibri"/>
              </a:rPr>
              <a:t> </a:t>
            </a:r>
            <a:r>
              <a:rPr sz="2000" dirty="0">
                <a:latin typeface="Calibri"/>
                <a:cs typeface="Calibri"/>
              </a:rPr>
              <a:t>would</a:t>
            </a:r>
            <a:r>
              <a:rPr sz="2000" spc="10" dirty="0">
                <a:latin typeface="Calibri"/>
                <a:cs typeface="Calibri"/>
              </a:rPr>
              <a:t> </a:t>
            </a:r>
            <a:r>
              <a:rPr sz="2000" dirty="0">
                <a:latin typeface="Calibri"/>
                <a:cs typeface="Calibri"/>
              </a:rPr>
              <a:t>lead</a:t>
            </a:r>
            <a:r>
              <a:rPr sz="2000" spc="5" dirty="0">
                <a:latin typeface="Calibri"/>
                <a:cs typeface="Calibri"/>
              </a:rPr>
              <a:t> </a:t>
            </a:r>
            <a:r>
              <a:rPr sz="2000" dirty="0">
                <a:latin typeface="Calibri"/>
                <a:cs typeface="Calibri"/>
              </a:rPr>
              <a:t>to</a:t>
            </a:r>
            <a:r>
              <a:rPr sz="2000" spc="5" dirty="0">
                <a:latin typeface="Calibri"/>
                <a:cs typeface="Calibri"/>
              </a:rPr>
              <a:t> </a:t>
            </a:r>
            <a:r>
              <a:rPr sz="2000" dirty="0">
                <a:latin typeface="Calibri"/>
                <a:cs typeface="Calibri"/>
              </a:rPr>
              <a:t>the</a:t>
            </a:r>
            <a:r>
              <a:rPr sz="2000" spc="-10" dirty="0">
                <a:latin typeface="Calibri"/>
                <a:cs typeface="Calibri"/>
              </a:rPr>
              <a:t> </a:t>
            </a:r>
            <a:r>
              <a:rPr sz="2000" dirty="0">
                <a:latin typeface="Calibri"/>
                <a:cs typeface="Calibri"/>
              </a:rPr>
              <a:t>best</a:t>
            </a:r>
            <a:r>
              <a:rPr sz="2000" spc="5" dirty="0">
                <a:latin typeface="Calibri"/>
                <a:cs typeface="Calibri"/>
              </a:rPr>
              <a:t> </a:t>
            </a:r>
            <a:r>
              <a:rPr sz="2000" dirty="0">
                <a:latin typeface="Calibri"/>
                <a:cs typeface="Calibri"/>
              </a:rPr>
              <a:t>result</a:t>
            </a:r>
            <a:r>
              <a:rPr sz="2000" spc="5" dirty="0">
                <a:latin typeface="Calibri"/>
                <a:cs typeface="Calibri"/>
              </a:rPr>
              <a:t> </a:t>
            </a:r>
            <a:r>
              <a:rPr sz="2000" dirty="0">
                <a:latin typeface="Calibri"/>
                <a:cs typeface="Calibri"/>
              </a:rPr>
              <a:t>at</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minimum 	costs.</a:t>
            </a:r>
            <a:endParaRPr sz="2000">
              <a:latin typeface="Calibri"/>
              <a:cs typeface="Calibri"/>
            </a:endParaRPr>
          </a:p>
          <a:p>
            <a:pPr marL="356870" marR="6985" indent="-344805" algn="just">
              <a:lnSpc>
                <a:spcPct val="80100"/>
              </a:lnSpc>
              <a:spcBef>
                <a:spcPts val="480"/>
              </a:spcBef>
              <a:buFont typeface="Calibri"/>
              <a:buAutoNum type="arabicPeriod"/>
              <a:tabLst>
                <a:tab pos="403225" algn="l"/>
              </a:tabLst>
            </a:pPr>
            <a:r>
              <a:rPr dirty="0"/>
              <a:t>	</a:t>
            </a:r>
            <a:r>
              <a:rPr sz="2000" b="1" dirty="0">
                <a:latin typeface="Calibri"/>
                <a:cs typeface="Calibri"/>
              </a:rPr>
              <a:t>To</a:t>
            </a:r>
            <a:r>
              <a:rPr sz="2000" b="1" spc="290" dirty="0">
                <a:latin typeface="Calibri"/>
                <a:cs typeface="Calibri"/>
              </a:rPr>
              <a:t>  </a:t>
            </a:r>
            <a:r>
              <a:rPr sz="2000" b="1" dirty="0">
                <a:latin typeface="Calibri"/>
                <a:cs typeface="Calibri"/>
              </a:rPr>
              <a:t>help</a:t>
            </a:r>
            <a:r>
              <a:rPr sz="2000" b="1" spc="285" dirty="0">
                <a:latin typeface="Calibri"/>
                <a:cs typeface="Calibri"/>
              </a:rPr>
              <a:t>  </a:t>
            </a:r>
            <a:r>
              <a:rPr sz="2000" b="1" dirty="0">
                <a:latin typeface="Calibri"/>
                <a:cs typeface="Calibri"/>
              </a:rPr>
              <a:t>in</a:t>
            </a:r>
            <a:r>
              <a:rPr sz="2000" b="1" spc="285" dirty="0">
                <a:latin typeface="Calibri"/>
                <a:cs typeface="Calibri"/>
              </a:rPr>
              <a:t>  </a:t>
            </a:r>
            <a:r>
              <a:rPr sz="2000" b="1" spc="-10" dirty="0">
                <a:latin typeface="Calibri"/>
                <a:cs typeface="Calibri"/>
              </a:rPr>
              <a:t>co-</a:t>
            </a:r>
            <a:r>
              <a:rPr sz="2000" b="1" dirty="0">
                <a:latin typeface="Calibri"/>
                <a:cs typeface="Calibri"/>
              </a:rPr>
              <a:t>ordination</a:t>
            </a:r>
            <a:r>
              <a:rPr sz="2000" dirty="0">
                <a:latin typeface="Calibri"/>
                <a:cs typeface="Calibri"/>
              </a:rPr>
              <a:t>:</a:t>
            </a:r>
            <a:r>
              <a:rPr sz="2000" spc="290" dirty="0">
                <a:latin typeface="Calibri"/>
                <a:cs typeface="Calibri"/>
              </a:rPr>
              <a:t>  </a:t>
            </a:r>
            <a:r>
              <a:rPr sz="2000" spc="-20" dirty="0">
                <a:latin typeface="Calibri"/>
                <a:cs typeface="Calibri"/>
              </a:rPr>
              <a:t>Co-</a:t>
            </a:r>
            <a:r>
              <a:rPr sz="2000" dirty="0">
                <a:latin typeface="Calibri"/>
                <a:cs typeface="Calibri"/>
              </a:rPr>
              <a:t>ordination</a:t>
            </a:r>
            <a:r>
              <a:rPr sz="2000" spc="295" dirty="0">
                <a:latin typeface="Calibri"/>
                <a:cs typeface="Calibri"/>
              </a:rPr>
              <a:t>  </a:t>
            </a:r>
            <a:r>
              <a:rPr sz="2000" dirty="0">
                <a:latin typeface="Calibri"/>
                <a:cs typeface="Calibri"/>
              </a:rPr>
              <a:t>is,</a:t>
            </a:r>
            <a:r>
              <a:rPr sz="2000" spc="295" dirty="0">
                <a:latin typeface="Calibri"/>
                <a:cs typeface="Calibri"/>
              </a:rPr>
              <a:t>  </a:t>
            </a:r>
            <a:r>
              <a:rPr sz="2000" dirty="0">
                <a:latin typeface="Calibri"/>
                <a:cs typeface="Calibri"/>
              </a:rPr>
              <a:t>indeed,</a:t>
            </a:r>
            <a:r>
              <a:rPr sz="2000" spc="295" dirty="0">
                <a:latin typeface="Calibri"/>
                <a:cs typeface="Calibri"/>
              </a:rPr>
              <a:t>  </a:t>
            </a:r>
            <a:r>
              <a:rPr sz="2000" dirty="0">
                <a:latin typeface="Calibri"/>
                <a:cs typeface="Calibri"/>
              </a:rPr>
              <a:t>the</a:t>
            </a:r>
            <a:r>
              <a:rPr sz="2000" spc="290" dirty="0">
                <a:latin typeface="Calibri"/>
                <a:cs typeface="Calibri"/>
              </a:rPr>
              <a:t>  </a:t>
            </a:r>
            <a:r>
              <a:rPr sz="2000" dirty="0">
                <a:latin typeface="Calibri"/>
                <a:cs typeface="Calibri"/>
              </a:rPr>
              <a:t>essence</a:t>
            </a:r>
            <a:r>
              <a:rPr sz="2000" spc="290" dirty="0">
                <a:latin typeface="Calibri"/>
                <a:cs typeface="Calibri"/>
              </a:rPr>
              <a:t>  </a:t>
            </a:r>
            <a:r>
              <a:rPr sz="2000" spc="-25" dirty="0">
                <a:latin typeface="Calibri"/>
                <a:cs typeface="Calibri"/>
              </a:rPr>
              <a:t>of </a:t>
            </a:r>
            <a:r>
              <a:rPr sz="2000" dirty="0">
                <a:latin typeface="Calibri"/>
                <a:cs typeface="Calibri"/>
              </a:rPr>
              <a:t>management,</a:t>
            </a:r>
            <a:r>
              <a:rPr sz="2000" spc="40"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planning</a:t>
            </a:r>
            <a:r>
              <a:rPr sz="2000" spc="35" dirty="0">
                <a:latin typeface="Calibri"/>
                <a:cs typeface="Calibri"/>
              </a:rPr>
              <a:t>  </a:t>
            </a:r>
            <a:r>
              <a:rPr sz="2000" dirty="0">
                <a:latin typeface="Calibri"/>
                <a:cs typeface="Calibri"/>
              </a:rPr>
              <a:t>is</a:t>
            </a:r>
            <a:r>
              <a:rPr sz="2000" spc="30"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base</a:t>
            </a:r>
            <a:r>
              <a:rPr sz="2000" spc="30"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it.</a:t>
            </a:r>
            <a:r>
              <a:rPr sz="2000" spc="30" dirty="0">
                <a:latin typeface="Calibri"/>
                <a:cs typeface="Calibri"/>
              </a:rPr>
              <a:t>  </a:t>
            </a:r>
            <a:r>
              <a:rPr sz="2000" dirty="0">
                <a:latin typeface="Calibri"/>
                <a:cs typeface="Calibri"/>
              </a:rPr>
              <a:t>Without</a:t>
            </a:r>
            <a:r>
              <a:rPr sz="2000" spc="35" dirty="0">
                <a:latin typeface="Calibri"/>
                <a:cs typeface="Calibri"/>
              </a:rPr>
              <a:t>  </a:t>
            </a:r>
            <a:r>
              <a:rPr sz="2000" dirty="0">
                <a:latin typeface="Calibri"/>
                <a:cs typeface="Calibri"/>
              </a:rPr>
              <a:t>planning</a:t>
            </a:r>
            <a:r>
              <a:rPr sz="2000" spc="35" dirty="0">
                <a:latin typeface="Calibri"/>
                <a:cs typeface="Calibri"/>
              </a:rPr>
              <a:t>  </a:t>
            </a:r>
            <a:r>
              <a:rPr sz="2000" dirty="0">
                <a:latin typeface="Calibri"/>
                <a:cs typeface="Calibri"/>
              </a:rPr>
              <a:t>it</a:t>
            </a:r>
            <a:r>
              <a:rPr sz="2000" spc="35" dirty="0">
                <a:latin typeface="Calibri"/>
                <a:cs typeface="Calibri"/>
              </a:rPr>
              <a:t>  </a:t>
            </a:r>
            <a:r>
              <a:rPr sz="2000" dirty="0">
                <a:latin typeface="Calibri"/>
                <a:cs typeface="Calibri"/>
              </a:rPr>
              <a:t>is</a:t>
            </a:r>
            <a:r>
              <a:rPr sz="2000" spc="25" dirty="0">
                <a:latin typeface="Calibri"/>
                <a:cs typeface="Calibri"/>
              </a:rPr>
              <a:t>  </a:t>
            </a:r>
            <a:r>
              <a:rPr sz="2000" spc="-25" dirty="0">
                <a:latin typeface="Calibri"/>
                <a:cs typeface="Calibri"/>
              </a:rPr>
              <a:t>not </a:t>
            </a:r>
            <a:r>
              <a:rPr sz="2000" dirty="0">
                <a:latin typeface="Calibri"/>
                <a:cs typeface="Calibri"/>
              </a:rPr>
              <a:t>possible</a:t>
            </a:r>
            <a:r>
              <a:rPr sz="2000" spc="-15" dirty="0">
                <a:latin typeface="Calibri"/>
                <a:cs typeface="Calibri"/>
              </a:rPr>
              <a:t> </a:t>
            </a:r>
            <a:r>
              <a:rPr sz="2000" dirty="0">
                <a:latin typeface="Calibri"/>
                <a:cs typeface="Calibri"/>
              </a:rPr>
              <a:t>to</a:t>
            </a:r>
            <a:r>
              <a:rPr sz="2000" spc="-55" dirty="0">
                <a:latin typeface="Calibri"/>
                <a:cs typeface="Calibri"/>
              </a:rPr>
              <a:t> </a:t>
            </a:r>
            <a:r>
              <a:rPr sz="2000" spc="-30" dirty="0">
                <a:latin typeface="Calibri"/>
                <a:cs typeface="Calibri"/>
              </a:rPr>
              <a:t>co-</a:t>
            </a:r>
            <a:r>
              <a:rPr sz="2000" dirty="0">
                <a:latin typeface="Calibri"/>
                <a:cs typeface="Calibri"/>
              </a:rPr>
              <a:t>ordinate</a:t>
            </a:r>
            <a:r>
              <a:rPr sz="2000" spc="-30" dirty="0">
                <a:latin typeface="Calibri"/>
                <a:cs typeface="Calibri"/>
              </a:rPr>
              <a:t> </a:t>
            </a:r>
            <a:r>
              <a:rPr sz="2000" dirty="0">
                <a:latin typeface="Calibri"/>
                <a:cs typeface="Calibri"/>
              </a:rPr>
              <a:t>the</a:t>
            </a:r>
            <a:r>
              <a:rPr sz="2000" spc="-60" dirty="0">
                <a:latin typeface="Calibri"/>
                <a:cs typeface="Calibri"/>
              </a:rPr>
              <a:t> </a:t>
            </a:r>
            <a:r>
              <a:rPr sz="2000" spc="-10" dirty="0">
                <a:latin typeface="Calibri"/>
                <a:cs typeface="Calibri"/>
              </a:rPr>
              <a:t>different</a:t>
            </a:r>
            <a:r>
              <a:rPr sz="2000" spc="15" dirty="0">
                <a:latin typeface="Calibri"/>
                <a:cs typeface="Calibri"/>
              </a:rPr>
              <a:t> </a:t>
            </a:r>
            <a:r>
              <a:rPr sz="2000" dirty="0">
                <a:latin typeface="Calibri"/>
                <a:cs typeface="Calibri"/>
              </a:rPr>
              <a:t>activities of</a:t>
            </a:r>
            <a:r>
              <a:rPr sz="2000" spc="-60" dirty="0">
                <a:latin typeface="Calibri"/>
                <a:cs typeface="Calibri"/>
              </a:rPr>
              <a:t> </a:t>
            </a:r>
            <a:r>
              <a:rPr sz="2000" dirty="0">
                <a:latin typeface="Calibri"/>
                <a:cs typeface="Calibri"/>
              </a:rPr>
              <a:t>an</a:t>
            </a:r>
            <a:r>
              <a:rPr sz="2000" spc="-50" dirty="0">
                <a:latin typeface="Calibri"/>
                <a:cs typeface="Calibri"/>
              </a:rPr>
              <a:t> </a:t>
            </a:r>
            <a:r>
              <a:rPr sz="2000" spc="-10" dirty="0">
                <a:latin typeface="Calibri"/>
                <a:cs typeface="Calibri"/>
              </a:rPr>
              <a:t>organisation.</a:t>
            </a:r>
            <a:endParaRPr sz="2000">
              <a:latin typeface="Calibri"/>
              <a:cs typeface="Calibri"/>
            </a:endParaRPr>
          </a:p>
          <a:p>
            <a:pPr marL="275590" marR="6350" indent="-263525" algn="just">
              <a:lnSpc>
                <a:spcPct val="80000"/>
              </a:lnSpc>
              <a:spcBef>
                <a:spcPts val="480"/>
              </a:spcBef>
              <a:buFont typeface="Calibri"/>
              <a:buAutoNum type="arabicPeriod"/>
              <a:tabLst>
                <a:tab pos="356870" algn="l"/>
              </a:tabLst>
            </a:pPr>
            <a:r>
              <a:rPr sz="2000" b="1" dirty="0">
                <a:latin typeface="Calibri"/>
                <a:cs typeface="Calibri"/>
              </a:rPr>
              <a:t>To</a:t>
            </a:r>
            <a:r>
              <a:rPr sz="2000" b="1" spc="5" dirty="0">
                <a:latin typeface="Calibri"/>
                <a:cs typeface="Calibri"/>
              </a:rPr>
              <a:t> </a:t>
            </a:r>
            <a:r>
              <a:rPr sz="2000" b="1" dirty="0">
                <a:latin typeface="Calibri"/>
                <a:cs typeface="Calibri"/>
              </a:rPr>
              <a:t>make</a:t>
            </a:r>
            <a:r>
              <a:rPr sz="2000" b="1" spc="-10" dirty="0">
                <a:latin typeface="Calibri"/>
                <a:cs typeface="Calibri"/>
              </a:rPr>
              <a:t> </a:t>
            </a:r>
            <a:r>
              <a:rPr sz="2000" b="1" dirty="0">
                <a:latin typeface="Calibri"/>
                <a:cs typeface="Calibri"/>
              </a:rPr>
              <a:t>control effective</a:t>
            </a:r>
            <a:r>
              <a:rPr sz="2000" dirty="0">
                <a:latin typeface="Calibri"/>
                <a:cs typeface="Calibri"/>
              </a:rPr>
              <a:t>:</a:t>
            </a:r>
            <a:r>
              <a:rPr sz="2000" spc="-5" dirty="0">
                <a:latin typeface="Calibri"/>
                <a:cs typeface="Calibri"/>
              </a:rPr>
              <a:t> </a:t>
            </a:r>
            <a:r>
              <a:rPr sz="2000" dirty="0">
                <a:latin typeface="Calibri"/>
                <a:cs typeface="Calibri"/>
              </a:rPr>
              <a:t>The controlling</a:t>
            </a:r>
            <a:r>
              <a:rPr sz="2000" spc="-10" dirty="0">
                <a:latin typeface="Calibri"/>
                <a:cs typeface="Calibri"/>
              </a:rPr>
              <a:t> </a:t>
            </a:r>
            <a:r>
              <a:rPr sz="2000" dirty="0">
                <a:latin typeface="Calibri"/>
                <a:cs typeface="Calibri"/>
              </a:rPr>
              <a:t>function</a:t>
            </a:r>
            <a:r>
              <a:rPr sz="2000" spc="15" dirty="0">
                <a:latin typeface="Calibri"/>
                <a:cs typeface="Calibri"/>
              </a:rPr>
              <a:t> </a:t>
            </a:r>
            <a:r>
              <a:rPr sz="2000" dirty="0">
                <a:latin typeface="Calibri"/>
                <a:cs typeface="Calibri"/>
              </a:rPr>
              <a:t>of</a:t>
            </a:r>
            <a:r>
              <a:rPr sz="2000" spc="-5" dirty="0">
                <a:latin typeface="Calibri"/>
                <a:cs typeface="Calibri"/>
              </a:rPr>
              <a:t> </a:t>
            </a:r>
            <a:r>
              <a:rPr sz="2000" dirty="0">
                <a:latin typeface="Calibri"/>
                <a:cs typeface="Calibri"/>
              </a:rPr>
              <a:t>management</a:t>
            </a:r>
            <a:r>
              <a:rPr sz="2000" spc="15" dirty="0">
                <a:latin typeface="Calibri"/>
                <a:cs typeface="Calibri"/>
              </a:rPr>
              <a:t> </a:t>
            </a:r>
            <a:r>
              <a:rPr sz="2000" dirty="0">
                <a:latin typeface="Calibri"/>
                <a:cs typeface="Calibri"/>
              </a:rPr>
              <a:t>relates </a:t>
            </a:r>
            <a:r>
              <a:rPr sz="2000" spc="-25" dirty="0">
                <a:latin typeface="Calibri"/>
                <a:cs typeface="Calibri"/>
              </a:rPr>
              <a:t>to 	</a:t>
            </a:r>
            <a:r>
              <a:rPr sz="2000" dirty="0">
                <a:latin typeface="Calibri"/>
                <a:cs typeface="Calibri"/>
              </a:rPr>
              <a:t>the</a:t>
            </a:r>
            <a:r>
              <a:rPr sz="2000" spc="20" dirty="0">
                <a:latin typeface="Calibri"/>
                <a:cs typeface="Calibri"/>
              </a:rPr>
              <a:t> </a:t>
            </a:r>
            <a:r>
              <a:rPr sz="2000" dirty="0">
                <a:latin typeface="Calibri"/>
                <a:cs typeface="Calibri"/>
              </a:rPr>
              <a:t>comparison</a:t>
            </a:r>
            <a:r>
              <a:rPr sz="2000" spc="50" dirty="0">
                <a:latin typeface="Calibri"/>
                <a:cs typeface="Calibri"/>
              </a:rPr>
              <a:t> </a:t>
            </a:r>
            <a:r>
              <a:rPr sz="2000" dirty="0">
                <a:latin typeface="Calibri"/>
                <a:cs typeface="Calibri"/>
              </a:rPr>
              <a:t>of</a:t>
            </a:r>
            <a:r>
              <a:rPr sz="2000" spc="2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planned</a:t>
            </a:r>
            <a:r>
              <a:rPr sz="2000" spc="45" dirty="0">
                <a:latin typeface="Calibri"/>
                <a:cs typeface="Calibri"/>
              </a:rPr>
              <a:t> </a:t>
            </a:r>
            <a:r>
              <a:rPr sz="2000" dirty="0">
                <a:latin typeface="Calibri"/>
                <a:cs typeface="Calibri"/>
              </a:rPr>
              <a:t>performance</a:t>
            </a:r>
            <a:r>
              <a:rPr sz="2000" spc="30" dirty="0">
                <a:latin typeface="Calibri"/>
                <a:cs typeface="Calibri"/>
              </a:rPr>
              <a:t> </a:t>
            </a:r>
            <a:r>
              <a:rPr sz="2000" dirty="0">
                <a:latin typeface="Calibri"/>
                <a:cs typeface="Calibri"/>
              </a:rPr>
              <a:t>with</a:t>
            </a:r>
            <a:r>
              <a:rPr sz="2000" spc="45"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actual</a:t>
            </a:r>
            <a:r>
              <a:rPr sz="2000" spc="40" dirty="0">
                <a:latin typeface="Calibri"/>
                <a:cs typeface="Calibri"/>
              </a:rPr>
              <a:t> </a:t>
            </a:r>
            <a:r>
              <a:rPr sz="2000" dirty="0">
                <a:latin typeface="Calibri"/>
                <a:cs typeface="Calibri"/>
              </a:rPr>
              <a:t>performance.</a:t>
            </a:r>
            <a:r>
              <a:rPr sz="2000" spc="30" dirty="0">
                <a:latin typeface="Calibri"/>
                <a:cs typeface="Calibri"/>
              </a:rPr>
              <a:t> </a:t>
            </a:r>
            <a:r>
              <a:rPr sz="2000" spc="-25" dirty="0">
                <a:latin typeface="Calibri"/>
                <a:cs typeface="Calibri"/>
              </a:rPr>
              <a:t>In 	</a:t>
            </a:r>
            <a:r>
              <a:rPr sz="2000" dirty="0">
                <a:latin typeface="Calibri"/>
                <a:cs typeface="Calibri"/>
              </a:rPr>
              <a:t>the</a:t>
            </a:r>
            <a:r>
              <a:rPr sz="2000" spc="185" dirty="0">
                <a:latin typeface="Calibri"/>
                <a:cs typeface="Calibri"/>
              </a:rPr>
              <a:t> </a:t>
            </a:r>
            <a:r>
              <a:rPr sz="2000" dirty="0">
                <a:latin typeface="Calibri"/>
                <a:cs typeface="Calibri"/>
              </a:rPr>
              <a:t>absence</a:t>
            </a:r>
            <a:r>
              <a:rPr sz="2000" spc="190" dirty="0">
                <a:latin typeface="Calibri"/>
                <a:cs typeface="Calibri"/>
              </a:rPr>
              <a:t> </a:t>
            </a:r>
            <a:r>
              <a:rPr sz="2000" dirty="0">
                <a:latin typeface="Calibri"/>
                <a:cs typeface="Calibri"/>
              </a:rPr>
              <a:t>of</a:t>
            </a:r>
            <a:r>
              <a:rPr sz="2000" spc="180" dirty="0">
                <a:latin typeface="Calibri"/>
                <a:cs typeface="Calibri"/>
              </a:rPr>
              <a:t> </a:t>
            </a:r>
            <a:r>
              <a:rPr sz="2000" dirty="0">
                <a:latin typeface="Calibri"/>
                <a:cs typeface="Calibri"/>
              </a:rPr>
              <a:t>plans,</a:t>
            </a:r>
            <a:r>
              <a:rPr sz="2000" spc="204" dirty="0">
                <a:latin typeface="Calibri"/>
                <a:cs typeface="Calibri"/>
              </a:rPr>
              <a:t> </a:t>
            </a:r>
            <a:r>
              <a:rPr sz="2000" dirty="0">
                <a:latin typeface="Calibri"/>
                <a:cs typeface="Calibri"/>
              </a:rPr>
              <a:t>a</a:t>
            </a:r>
            <a:r>
              <a:rPr sz="2000" spc="220" dirty="0">
                <a:latin typeface="Calibri"/>
                <a:cs typeface="Calibri"/>
              </a:rPr>
              <a:t> </a:t>
            </a:r>
            <a:r>
              <a:rPr sz="2000" dirty="0">
                <a:latin typeface="Calibri"/>
                <a:cs typeface="Calibri"/>
              </a:rPr>
              <a:t>management</a:t>
            </a:r>
            <a:r>
              <a:rPr sz="2000" spc="200" dirty="0">
                <a:latin typeface="Calibri"/>
                <a:cs typeface="Calibri"/>
              </a:rPr>
              <a:t> </a:t>
            </a:r>
            <a:r>
              <a:rPr sz="2000" dirty="0">
                <a:latin typeface="Calibri"/>
                <a:cs typeface="Calibri"/>
              </a:rPr>
              <a:t>will</a:t>
            </a:r>
            <a:r>
              <a:rPr sz="2000" spc="190" dirty="0">
                <a:latin typeface="Calibri"/>
                <a:cs typeface="Calibri"/>
              </a:rPr>
              <a:t> </a:t>
            </a:r>
            <a:r>
              <a:rPr sz="2000" dirty="0">
                <a:latin typeface="Calibri"/>
                <a:cs typeface="Calibri"/>
              </a:rPr>
              <a:t>have</a:t>
            </a:r>
            <a:r>
              <a:rPr sz="2000" spc="190" dirty="0">
                <a:latin typeface="Calibri"/>
                <a:cs typeface="Calibri"/>
              </a:rPr>
              <a:t> </a:t>
            </a:r>
            <a:r>
              <a:rPr sz="2000" dirty="0">
                <a:latin typeface="Calibri"/>
                <a:cs typeface="Calibri"/>
              </a:rPr>
              <a:t>no</a:t>
            </a:r>
            <a:r>
              <a:rPr sz="2000" spc="195" dirty="0">
                <a:latin typeface="Calibri"/>
                <a:cs typeface="Calibri"/>
              </a:rPr>
              <a:t> </a:t>
            </a:r>
            <a:r>
              <a:rPr sz="2000" dirty="0">
                <a:latin typeface="Calibri"/>
                <a:cs typeface="Calibri"/>
              </a:rPr>
              <a:t>standards</a:t>
            </a:r>
            <a:r>
              <a:rPr sz="2000" spc="195" dirty="0">
                <a:latin typeface="Calibri"/>
                <a:cs typeface="Calibri"/>
              </a:rPr>
              <a:t> </a:t>
            </a:r>
            <a:r>
              <a:rPr sz="2000" dirty="0">
                <a:latin typeface="Calibri"/>
                <a:cs typeface="Calibri"/>
              </a:rPr>
              <a:t>for</a:t>
            </a:r>
            <a:r>
              <a:rPr sz="2000" spc="220" dirty="0">
                <a:latin typeface="Calibri"/>
                <a:cs typeface="Calibri"/>
              </a:rPr>
              <a:t> </a:t>
            </a:r>
            <a:r>
              <a:rPr sz="2000" spc="-10" dirty="0">
                <a:latin typeface="Calibri"/>
                <a:cs typeface="Calibri"/>
              </a:rPr>
              <a:t>controlling 	</a:t>
            </a:r>
            <a:r>
              <a:rPr sz="2000" dirty="0">
                <a:latin typeface="Calibri"/>
                <a:cs typeface="Calibri"/>
              </a:rPr>
              <a:t>other's</a:t>
            </a:r>
            <a:r>
              <a:rPr sz="2000" spc="-55" dirty="0">
                <a:latin typeface="Calibri"/>
                <a:cs typeface="Calibri"/>
              </a:rPr>
              <a:t> </a:t>
            </a:r>
            <a:r>
              <a:rPr sz="2000" spc="-10" dirty="0">
                <a:latin typeface="Calibri"/>
                <a:cs typeface="Calibri"/>
              </a:rPr>
              <a:t>performance.</a:t>
            </a:r>
            <a:endParaRPr sz="2000">
              <a:latin typeface="Calibri"/>
              <a:cs typeface="Calibri"/>
            </a:endParaRPr>
          </a:p>
          <a:p>
            <a:pPr marL="263525" marR="5080" indent="-251460" algn="just">
              <a:lnSpc>
                <a:spcPct val="80000"/>
              </a:lnSpc>
              <a:spcBef>
                <a:spcPts val="480"/>
              </a:spcBef>
              <a:buFont typeface="Calibri"/>
              <a:buAutoNum type="arabicPeriod"/>
              <a:tabLst>
                <a:tab pos="356870" algn="l"/>
              </a:tabLst>
            </a:pPr>
            <a:r>
              <a:rPr sz="2000" b="1" spc="-80" dirty="0">
                <a:latin typeface="Calibri"/>
                <a:cs typeface="Calibri"/>
              </a:rPr>
              <a:t>To</a:t>
            </a:r>
            <a:r>
              <a:rPr sz="2000" b="1" spc="-35" dirty="0">
                <a:latin typeface="Calibri"/>
                <a:cs typeface="Calibri"/>
              </a:rPr>
              <a:t> </a:t>
            </a:r>
            <a:r>
              <a:rPr sz="2000" b="1" dirty="0">
                <a:latin typeface="Calibri"/>
                <a:cs typeface="Calibri"/>
              </a:rPr>
              <a:t>increase</a:t>
            </a:r>
            <a:r>
              <a:rPr sz="2000" b="1" spc="-40" dirty="0">
                <a:latin typeface="Calibri"/>
                <a:cs typeface="Calibri"/>
              </a:rPr>
              <a:t> </a:t>
            </a:r>
            <a:r>
              <a:rPr sz="2000" b="1" spc="-10" dirty="0">
                <a:latin typeface="Calibri"/>
                <a:cs typeface="Calibri"/>
              </a:rPr>
              <a:t>organisational</a:t>
            </a:r>
            <a:r>
              <a:rPr sz="2000" b="1" spc="-40" dirty="0">
                <a:latin typeface="Calibri"/>
                <a:cs typeface="Calibri"/>
              </a:rPr>
              <a:t> </a:t>
            </a:r>
            <a:r>
              <a:rPr sz="2000" b="1" spc="-10" dirty="0">
                <a:latin typeface="Calibri"/>
                <a:cs typeface="Calibri"/>
              </a:rPr>
              <a:t>effectiveness</a:t>
            </a:r>
            <a:r>
              <a:rPr sz="2000" spc="-10" dirty="0">
                <a:latin typeface="Calibri"/>
                <a:cs typeface="Calibri"/>
              </a:rPr>
              <a:t>:</a:t>
            </a:r>
            <a:r>
              <a:rPr sz="2000" spc="-45" dirty="0">
                <a:latin typeface="Calibri"/>
                <a:cs typeface="Calibri"/>
              </a:rPr>
              <a:t> </a:t>
            </a:r>
            <a:r>
              <a:rPr sz="2000" dirty="0">
                <a:latin typeface="Calibri"/>
                <a:cs typeface="Calibri"/>
              </a:rPr>
              <a:t>Mere</a:t>
            </a:r>
            <a:r>
              <a:rPr sz="2000" spc="-25" dirty="0">
                <a:latin typeface="Calibri"/>
                <a:cs typeface="Calibri"/>
              </a:rPr>
              <a:t> </a:t>
            </a:r>
            <a:r>
              <a:rPr sz="2000" dirty="0">
                <a:latin typeface="Calibri"/>
                <a:cs typeface="Calibri"/>
              </a:rPr>
              <a:t>efficiency</a:t>
            </a:r>
            <a:r>
              <a:rPr sz="2000" spc="-30" dirty="0">
                <a:latin typeface="Calibri"/>
                <a:cs typeface="Calibri"/>
              </a:rPr>
              <a:t> </a:t>
            </a:r>
            <a:r>
              <a:rPr sz="2000" dirty="0">
                <a:latin typeface="Calibri"/>
                <a:cs typeface="Calibri"/>
              </a:rPr>
              <a:t>in</a:t>
            </a:r>
            <a:r>
              <a:rPr sz="2000" spc="-35"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organisation</a:t>
            </a:r>
            <a:r>
              <a:rPr sz="2000" spc="-20" dirty="0">
                <a:latin typeface="Calibri"/>
                <a:cs typeface="Calibri"/>
              </a:rPr>
              <a:t> </a:t>
            </a:r>
            <a:r>
              <a:rPr sz="2000" spc="-25" dirty="0">
                <a:latin typeface="Calibri"/>
                <a:cs typeface="Calibri"/>
              </a:rPr>
              <a:t>is 	</a:t>
            </a:r>
            <a:r>
              <a:rPr sz="2000" dirty="0">
                <a:latin typeface="Calibri"/>
                <a:cs typeface="Calibri"/>
              </a:rPr>
              <a:t>not</a:t>
            </a:r>
            <a:r>
              <a:rPr sz="2000" spc="40" dirty="0">
                <a:latin typeface="Calibri"/>
                <a:cs typeface="Calibri"/>
              </a:rPr>
              <a:t> </a:t>
            </a:r>
            <a:r>
              <a:rPr sz="2000" dirty="0">
                <a:latin typeface="Calibri"/>
                <a:cs typeface="Calibri"/>
              </a:rPr>
              <a:t>important;</a:t>
            </a:r>
            <a:r>
              <a:rPr sz="2000" spc="30" dirty="0">
                <a:latin typeface="Calibri"/>
                <a:cs typeface="Calibri"/>
              </a:rPr>
              <a:t> </a:t>
            </a:r>
            <a:r>
              <a:rPr sz="2000" dirty="0">
                <a:latin typeface="Calibri"/>
                <a:cs typeface="Calibri"/>
              </a:rPr>
              <a:t>it</a:t>
            </a:r>
            <a:r>
              <a:rPr sz="2000" spc="55" dirty="0">
                <a:latin typeface="Calibri"/>
                <a:cs typeface="Calibri"/>
              </a:rPr>
              <a:t> </a:t>
            </a:r>
            <a:r>
              <a:rPr sz="2000" dirty="0">
                <a:latin typeface="Calibri"/>
                <a:cs typeface="Calibri"/>
              </a:rPr>
              <a:t>should</a:t>
            </a:r>
            <a:r>
              <a:rPr sz="2000" spc="50" dirty="0">
                <a:latin typeface="Calibri"/>
                <a:cs typeface="Calibri"/>
              </a:rPr>
              <a:t> </a:t>
            </a:r>
            <a:r>
              <a:rPr sz="2000" dirty="0">
                <a:latin typeface="Calibri"/>
                <a:cs typeface="Calibri"/>
              </a:rPr>
              <a:t>also</a:t>
            </a:r>
            <a:r>
              <a:rPr sz="2000" spc="45" dirty="0">
                <a:latin typeface="Calibri"/>
                <a:cs typeface="Calibri"/>
              </a:rPr>
              <a:t> </a:t>
            </a:r>
            <a:r>
              <a:rPr sz="2000" dirty="0">
                <a:latin typeface="Calibri"/>
                <a:cs typeface="Calibri"/>
              </a:rPr>
              <a:t>lead</a:t>
            </a:r>
            <a:r>
              <a:rPr sz="2000" spc="5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productivity</a:t>
            </a:r>
            <a:r>
              <a:rPr sz="2000" spc="60" dirty="0">
                <a:latin typeface="Calibri"/>
                <a:cs typeface="Calibri"/>
              </a:rPr>
              <a:t> </a:t>
            </a:r>
            <a:r>
              <a:rPr sz="2000" dirty="0">
                <a:latin typeface="Calibri"/>
                <a:cs typeface="Calibri"/>
              </a:rPr>
              <a:t>and</a:t>
            </a:r>
            <a:r>
              <a:rPr sz="2000" spc="65" dirty="0">
                <a:latin typeface="Calibri"/>
                <a:cs typeface="Calibri"/>
              </a:rPr>
              <a:t> </a:t>
            </a:r>
            <a:r>
              <a:rPr sz="2000" dirty="0">
                <a:latin typeface="Calibri"/>
                <a:cs typeface="Calibri"/>
              </a:rPr>
              <a:t>effectiveness.</a:t>
            </a:r>
            <a:r>
              <a:rPr sz="2000" spc="35" dirty="0">
                <a:latin typeface="Calibri"/>
                <a:cs typeface="Calibri"/>
              </a:rPr>
              <a:t> </a:t>
            </a:r>
            <a:r>
              <a:rPr sz="2000" spc="-10" dirty="0">
                <a:latin typeface="Calibri"/>
                <a:cs typeface="Calibri"/>
              </a:rPr>
              <a:t>Planning 	</a:t>
            </a:r>
            <a:r>
              <a:rPr sz="2000" dirty="0">
                <a:latin typeface="Calibri"/>
                <a:cs typeface="Calibri"/>
              </a:rPr>
              <a:t>enables</a:t>
            </a:r>
            <a:r>
              <a:rPr sz="2000" spc="475" dirty="0">
                <a:latin typeface="Calibri"/>
                <a:cs typeface="Calibri"/>
              </a:rPr>
              <a:t> </a:t>
            </a:r>
            <a:r>
              <a:rPr sz="2000" dirty="0">
                <a:latin typeface="Calibri"/>
                <a:cs typeface="Calibri"/>
              </a:rPr>
              <a:t>the</a:t>
            </a:r>
            <a:r>
              <a:rPr sz="2000" spc="470" dirty="0">
                <a:latin typeface="Calibri"/>
                <a:cs typeface="Calibri"/>
              </a:rPr>
              <a:t> </a:t>
            </a:r>
            <a:r>
              <a:rPr sz="2000" dirty="0">
                <a:latin typeface="Calibri"/>
                <a:cs typeface="Calibri"/>
              </a:rPr>
              <a:t>manager</a:t>
            </a:r>
            <a:r>
              <a:rPr sz="2000" spc="475" dirty="0">
                <a:latin typeface="Calibri"/>
                <a:cs typeface="Calibri"/>
              </a:rPr>
              <a:t> </a:t>
            </a:r>
            <a:r>
              <a:rPr sz="2000" dirty="0">
                <a:latin typeface="Calibri"/>
                <a:cs typeface="Calibri"/>
              </a:rPr>
              <a:t>to</a:t>
            </a:r>
            <a:r>
              <a:rPr sz="2000" spc="480" dirty="0">
                <a:latin typeface="Calibri"/>
                <a:cs typeface="Calibri"/>
              </a:rPr>
              <a:t> </a:t>
            </a:r>
            <a:r>
              <a:rPr sz="2000" dirty="0">
                <a:latin typeface="Calibri"/>
                <a:cs typeface="Calibri"/>
              </a:rPr>
              <a:t>measure</a:t>
            </a:r>
            <a:r>
              <a:rPr sz="2000" spc="480" dirty="0">
                <a:latin typeface="Calibri"/>
                <a:cs typeface="Calibri"/>
              </a:rPr>
              <a:t> </a:t>
            </a:r>
            <a:r>
              <a:rPr sz="2000" dirty="0">
                <a:latin typeface="Calibri"/>
                <a:cs typeface="Calibri"/>
              </a:rPr>
              <a:t>the</a:t>
            </a:r>
            <a:r>
              <a:rPr sz="2000" spc="475" dirty="0">
                <a:latin typeface="Calibri"/>
                <a:cs typeface="Calibri"/>
              </a:rPr>
              <a:t> </a:t>
            </a:r>
            <a:r>
              <a:rPr sz="2000" dirty="0">
                <a:latin typeface="Calibri"/>
                <a:cs typeface="Calibri"/>
              </a:rPr>
              <a:t>organisational</a:t>
            </a:r>
            <a:r>
              <a:rPr sz="2000" spc="495" dirty="0">
                <a:latin typeface="Calibri"/>
                <a:cs typeface="Calibri"/>
              </a:rPr>
              <a:t> </a:t>
            </a:r>
            <a:r>
              <a:rPr sz="2000" dirty="0">
                <a:latin typeface="Calibri"/>
                <a:cs typeface="Calibri"/>
              </a:rPr>
              <a:t>effectiveness</a:t>
            </a:r>
            <a:r>
              <a:rPr sz="2000" spc="475" dirty="0">
                <a:latin typeface="Calibri"/>
                <a:cs typeface="Calibri"/>
              </a:rPr>
              <a:t> </a:t>
            </a:r>
            <a:r>
              <a:rPr sz="2000" dirty="0">
                <a:latin typeface="Calibri"/>
                <a:cs typeface="Calibri"/>
              </a:rPr>
              <a:t>in</a:t>
            </a:r>
            <a:r>
              <a:rPr sz="2000" spc="490" dirty="0">
                <a:latin typeface="Calibri"/>
                <a:cs typeface="Calibri"/>
              </a:rPr>
              <a:t> </a:t>
            </a:r>
            <a:r>
              <a:rPr sz="2000" spc="-25" dirty="0">
                <a:latin typeface="Calibri"/>
                <a:cs typeface="Calibri"/>
              </a:rPr>
              <a:t>the 	</a:t>
            </a:r>
            <a:r>
              <a:rPr sz="2000" spc="-10" dirty="0">
                <a:latin typeface="Calibri"/>
                <a:cs typeface="Calibri"/>
              </a:rPr>
              <a:t>context</a:t>
            </a:r>
            <a:r>
              <a:rPr sz="2000" spc="-35" dirty="0">
                <a:latin typeface="Calibri"/>
                <a:cs typeface="Calibri"/>
              </a:rPr>
              <a:t> </a:t>
            </a:r>
            <a:r>
              <a:rPr sz="2000" dirty="0">
                <a:latin typeface="Calibri"/>
                <a:cs typeface="Calibri"/>
              </a:rPr>
              <a:t>of</a:t>
            </a:r>
            <a:r>
              <a:rPr sz="2000" spc="-6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stated</a:t>
            </a:r>
            <a:r>
              <a:rPr sz="2000" spc="-10" dirty="0">
                <a:latin typeface="Calibri"/>
                <a:cs typeface="Calibri"/>
              </a:rPr>
              <a:t> </a:t>
            </a:r>
            <a:r>
              <a:rPr sz="2000" dirty="0">
                <a:latin typeface="Calibri"/>
                <a:cs typeface="Calibri"/>
              </a:rPr>
              <a:t>objectives</a:t>
            </a:r>
            <a:r>
              <a:rPr sz="2000" spc="5" dirty="0">
                <a:latin typeface="Calibri"/>
                <a:cs typeface="Calibri"/>
              </a:rPr>
              <a:t> </a:t>
            </a:r>
            <a:r>
              <a:rPr sz="2000" dirty="0">
                <a:latin typeface="Calibri"/>
                <a:cs typeface="Calibri"/>
              </a:rPr>
              <a:t>and</a:t>
            </a:r>
            <a:r>
              <a:rPr sz="2000" spc="-75" dirty="0">
                <a:latin typeface="Calibri"/>
                <a:cs typeface="Calibri"/>
              </a:rPr>
              <a:t> </a:t>
            </a:r>
            <a:r>
              <a:rPr sz="2000" dirty="0">
                <a:latin typeface="Calibri"/>
                <a:cs typeface="Calibri"/>
              </a:rPr>
              <a:t>take</a:t>
            </a:r>
            <a:r>
              <a:rPr sz="2000" spc="-40" dirty="0">
                <a:latin typeface="Calibri"/>
                <a:cs typeface="Calibri"/>
              </a:rPr>
              <a:t> </a:t>
            </a:r>
            <a:r>
              <a:rPr sz="2000" dirty="0">
                <a:latin typeface="Calibri"/>
                <a:cs typeface="Calibri"/>
              </a:rPr>
              <a:t>further</a:t>
            </a:r>
            <a:r>
              <a:rPr sz="2000" spc="-35" dirty="0">
                <a:latin typeface="Calibri"/>
                <a:cs typeface="Calibri"/>
              </a:rPr>
              <a:t> </a:t>
            </a:r>
            <a:r>
              <a:rPr sz="2000" dirty="0">
                <a:latin typeface="Calibri"/>
                <a:cs typeface="Calibri"/>
              </a:rPr>
              <a:t>actions</a:t>
            </a:r>
            <a:r>
              <a:rPr sz="2000" spc="-45" dirty="0">
                <a:latin typeface="Calibri"/>
                <a:cs typeface="Calibri"/>
              </a:rPr>
              <a:t> </a:t>
            </a:r>
            <a:r>
              <a:rPr sz="2000" dirty="0">
                <a:latin typeface="Calibri"/>
                <a:cs typeface="Calibri"/>
              </a:rPr>
              <a:t>in</a:t>
            </a:r>
            <a:r>
              <a:rPr sz="2000" spc="-55" dirty="0">
                <a:latin typeface="Calibri"/>
                <a:cs typeface="Calibri"/>
              </a:rPr>
              <a:t> </a:t>
            </a:r>
            <a:r>
              <a:rPr sz="2000" dirty="0">
                <a:latin typeface="Calibri"/>
                <a:cs typeface="Calibri"/>
              </a:rPr>
              <a:t>this</a:t>
            </a:r>
            <a:r>
              <a:rPr sz="2000" spc="-50" dirty="0">
                <a:latin typeface="Calibri"/>
                <a:cs typeface="Calibri"/>
              </a:rPr>
              <a:t> </a:t>
            </a:r>
            <a:r>
              <a:rPr sz="2000" spc="-10" dirty="0">
                <a:latin typeface="Calibri"/>
                <a:cs typeface="Calibri"/>
              </a:rPr>
              <a:t>direction.</a:t>
            </a:r>
            <a:endParaRPr sz="2000">
              <a:latin typeface="Calibri"/>
              <a:cs typeface="Calibri"/>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4870"/>
            <a:ext cx="7978775" cy="1033144"/>
          </a:xfrm>
          <a:prstGeom prst="rect">
            <a:avLst/>
          </a:prstGeom>
        </p:spPr>
        <p:txBody>
          <a:bodyPr vert="horz" wrap="square" lIns="0" tIns="75565" rIns="0" bIns="0" rtlCol="0">
            <a:spAutoFit/>
          </a:bodyPr>
          <a:lstStyle/>
          <a:p>
            <a:pPr marL="398780" algn="ctr">
              <a:lnSpc>
                <a:spcPct val="100000"/>
              </a:lnSpc>
              <a:spcBef>
                <a:spcPts val="595"/>
              </a:spcBef>
            </a:pPr>
            <a:r>
              <a:rPr sz="4000" dirty="0"/>
              <a:t>Importance</a:t>
            </a:r>
            <a:r>
              <a:rPr sz="4000" spc="-100" dirty="0"/>
              <a:t> </a:t>
            </a:r>
            <a:r>
              <a:rPr sz="4000" dirty="0"/>
              <a:t>of</a:t>
            </a:r>
            <a:r>
              <a:rPr sz="4000" spc="-60" dirty="0"/>
              <a:t> </a:t>
            </a:r>
            <a:r>
              <a:rPr sz="4000" spc="-10" dirty="0"/>
              <a:t>Planning</a:t>
            </a:r>
            <a:endParaRPr sz="4000"/>
          </a:p>
          <a:p>
            <a:pPr marL="12700">
              <a:lnSpc>
                <a:spcPct val="100000"/>
              </a:lnSpc>
              <a:spcBef>
                <a:spcPts val="240"/>
              </a:spcBef>
            </a:pPr>
            <a:r>
              <a:rPr sz="2000" dirty="0"/>
              <a:t>As</a:t>
            </a:r>
            <a:r>
              <a:rPr sz="2000" spc="-40" dirty="0"/>
              <a:t> </a:t>
            </a:r>
            <a:r>
              <a:rPr sz="2000" dirty="0"/>
              <a:t>a</a:t>
            </a:r>
            <a:r>
              <a:rPr sz="2000" spc="-45" dirty="0"/>
              <a:t> </a:t>
            </a:r>
            <a:r>
              <a:rPr sz="2000" dirty="0"/>
              <a:t>managerial function</a:t>
            </a:r>
            <a:r>
              <a:rPr sz="2000" spc="-45" dirty="0"/>
              <a:t> </a:t>
            </a:r>
            <a:r>
              <a:rPr sz="2000" dirty="0"/>
              <a:t>planning</a:t>
            </a:r>
            <a:r>
              <a:rPr sz="2000" spc="-55" dirty="0"/>
              <a:t> </a:t>
            </a:r>
            <a:r>
              <a:rPr sz="2000" dirty="0"/>
              <a:t>is</a:t>
            </a:r>
            <a:r>
              <a:rPr sz="2000" spc="-55" dirty="0"/>
              <a:t> </a:t>
            </a:r>
            <a:r>
              <a:rPr sz="2000" dirty="0"/>
              <a:t>important</a:t>
            </a:r>
            <a:r>
              <a:rPr sz="2000" spc="-20" dirty="0"/>
              <a:t> </a:t>
            </a:r>
            <a:r>
              <a:rPr sz="2000" dirty="0"/>
              <a:t>due</a:t>
            </a:r>
            <a:r>
              <a:rPr sz="2000" spc="-55" dirty="0"/>
              <a:t> </a:t>
            </a:r>
            <a:r>
              <a:rPr sz="2000" dirty="0"/>
              <a:t>to</a:t>
            </a:r>
            <a:r>
              <a:rPr sz="2000" spc="-45" dirty="0"/>
              <a:t> </a:t>
            </a:r>
            <a:r>
              <a:rPr sz="2000" dirty="0"/>
              <a:t>the</a:t>
            </a:r>
            <a:r>
              <a:rPr sz="2000" spc="-55" dirty="0"/>
              <a:t> </a:t>
            </a:r>
            <a:r>
              <a:rPr sz="2000" spc="-10" dirty="0"/>
              <a:t>following</a:t>
            </a:r>
            <a:r>
              <a:rPr sz="2000" spc="-20" dirty="0"/>
              <a:t> </a:t>
            </a:r>
            <a:r>
              <a:rPr sz="2000" spc="-10" dirty="0"/>
              <a:t>reasons:-</a:t>
            </a:r>
            <a:endParaRPr sz="2000"/>
          </a:p>
        </p:txBody>
      </p:sp>
      <p:sp>
        <p:nvSpPr>
          <p:cNvPr id="3" name="object 3"/>
          <p:cNvSpPr txBox="1"/>
          <p:nvPr/>
        </p:nvSpPr>
        <p:spPr>
          <a:xfrm>
            <a:off x="383540" y="1258646"/>
            <a:ext cx="8381365" cy="1035540"/>
          </a:xfrm>
          <a:prstGeom prst="rect">
            <a:avLst/>
          </a:prstGeom>
        </p:spPr>
        <p:txBody>
          <a:bodyPr vert="horz" wrap="square" lIns="0" tIns="70485" rIns="0" bIns="0" rtlCol="0">
            <a:spAutoFit/>
          </a:bodyPr>
          <a:lstStyle/>
          <a:p>
            <a:pPr marL="12065" marR="7620" algn="just">
              <a:lnSpc>
                <a:spcPts val="1730"/>
              </a:lnSpc>
              <a:spcBef>
                <a:spcPts val="420"/>
              </a:spcBef>
              <a:tabLst>
                <a:tab pos="356870" algn="l"/>
              </a:tabLst>
            </a:pPr>
            <a:r>
              <a:rPr lang="en-GB" sz="2000" b="1" dirty="0" smtClean="0">
                <a:latin typeface="Calibri"/>
                <a:cs typeface="Calibri"/>
              </a:rPr>
              <a:t>7. Efficiency,</a:t>
            </a:r>
            <a:r>
              <a:rPr lang="en-GB" sz="2000" b="1" spc="65" dirty="0" smtClean="0">
                <a:latin typeface="Calibri"/>
                <a:cs typeface="Calibri"/>
              </a:rPr>
              <a:t> </a:t>
            </a:r>
            <a:r>
              <a:rPr lang="en-GB" sz="2000" b="1" dirty="0" smtClean="0">
                <a:latin typeface="Calibri"/>
                <a:cs typeface="Calibri"/>
              </a:rPr>
              <a:t>Economy</a:t>
            </a:r>
            <a:r>
              <a:rPr lang="en-GB" sz="2000" b="1" spc="95" dirty="0" smtClean="0">
                <a:latin typeface="Calibri"/>
                <a:cs typeface="Calibri"/>
              </a:rPr>
              <a:t> </a:t>
            </a:r>
            <a:r>
              <a:rPr lang="en-GB" sz="2000" b="1" dirty="0" smtClean="0">
                <a:latin typeface="Calibri"/>
                <a:cs typeface="Calibri"/>
              </a:rPr>
              <a:t>and</a:t>
            </a:r>
            <a:r>
              <a:rPr lang="en-GB" sz="2000" b="1" spc="70" dirty="0" smtClean="0">
                <a:latin typeface="Calibri"/>
                <a:cs typeface="Calibri"/>
              </a:rPr>
              <a:t> </a:t>
            </a:r>
            <a:r>
              <a:rPr lang="en-GB" sz="2000" b="1" dirty="0" smtClean="0">
                <a:latin typeface="Calibri"/>
                <a:cs typeface="Calibri"/>
              </a:rPr>
              <a:t>Accuracy:</a:t>
            </a:r>
            <a:r>
              <a:rPr lang="en-GB" sz="2000" b="1" spc="85" dirty="0" smtClean="0">
                <a:latin typeface="Calibri"/>
                <a:cs typeface="Calibri"/>
              </a:rPr>
              <a:t> </a:t>
            </a:r>
            <a:r>
              <a:rPr lang="en-GB" sz="2000" dirty="0" smtClean="0">
                <a:latin typeface="Calibri"/>
                <a:cs typeface="Calibri"/>
              </a:rPr>
              <a:t>Efficiency</a:t>
            </a:r>
            <a:r>
              <a:rPr lang="en-GB" sz="2000" spc="80" dirty="0" smtClean="0">
                <a:latin typeface="Calibri"/>
                <a:cs typeface="Calibri"/>
              </a:rPr>
              <a:t> </a:t>
            </a:r>
            <a:r>
              <a:rPr lang="en-GB" sz="2000" dirty="0" smtClean="0">
                <a:latin typeface="Calibri"/>
                <a:cs typeface="Calibri"/>
              </a:rPr>
              <a:t>of</a:t>
            </a:r>
            <a:r>
              <a:rPr lang="en-GB" sz="2000" spc="80" dirty="0" smtClean="0">
                <a:latin typeface="Calibri"/>
                <a:cs typeface="Calibri"/>
              </a:rPr>
              <a:t> </a:t>
            </a:r>
            <a:r>
              <a:rPr lang="en-GB" sz="2000" dirty="0" smtClean="0">
                <a:latin typeface="Calibri"/>
                <a:cs typeface="Calibri"/>
              </a:rPr>
              <a:t>plan</a:t>
            </a:r>
            <a:r>
              <a:rPr lang="en-GB" sz="2000" spc="95" dirty="0" smtClean="0">
                <a:latin typeface="Calibri"/>
                <a:cs typeface="Calibri"/>
              </a:rPr>
              <a:t> </a:t>
            </a:r>
            <a:r>
              <a:rPr lang="en-GB" sz="2000" dirty="0" smtClean="0">
                <a:latin typeface="Calibri"/>
                <a:cs typeface="Calibri"/>
              </a:rPr>
              <a:t>is</a:t>
            </a:r>
            <a:r>
              <a:rPr lang="en-GB" sz="2000" spc="95" dirty="0" smtClean="0">
                <a:latin typeface="Calibri"/>
                <a:cs typeface="Calibri"/>
              </a:rPr>
              <a:t> </a:t>
            </a:r>
            <a:r>
              <a:rPr lang="en-GB" sz="2000" dirty="0" smtClean="0">
                <a:latin typeface="Calibri"/>
                <a:cs typeface="Calibri"/>
              </a:rPr>
              <a:t>measured</a:t>
            </a:r>
            <a:r>
              <a:rPr lang="en-GB" sz="2000" spc="95" dirty="0" smtClean="0">
                <a:latin typeface="Calibri"/>
                <a:cs typeface="Calibri"/>
              </a:rPr>
              <a:t> </a:t>
            </a:r>
            <a:r>
              <a:rPr lang="en-GB" sz="2000" dirty="0" smtClean="0">
                <a:latin typeface="Calibri"/>
                <a:cs typeface="Calibri"/>
              </a:rPr>
              <a:t>by</a:t>
            </a:r>
            <a:r>
              <a:rPr lang="en-GB" sz="2000" spc="100" dirty="0" smtClean="0">
                <a:latin typeface="Calibri"/>
                <a:cs typeface="Calibri"/>
              </a:rPr>
              <a:t> </a:t>
            </a:r>
            <a:r>
              <a:rPr lang="en-GB" sz="2000" dirty="0" smtClean="0">
                <a:latin typeface="Calibri"/>
                <a:cs typeface="Calibri"/>
              </a:rPr>
              <a:t>its</a:t>
            </a:r>
            <a:r>
              <a:rPr lang="en-GB" sz="2000" spc="95" dirty="0" smtClean="0">
                <a:latin typeface="Calibri"/>
                <a:cs typeface="Calibri"/>
              </a:rPr>
              <a:t> </a:t>
            </a:r>
            <a:r>
              <a:rPr lang="en-GB" sz="2000" spc="-10" dirty="0" smtClean="0">
                <a:latin typeface="Calibri"/>
                <a:cs typeface="Calibri"/>
              </a:rPr>
              <a:t>contribution 	</a:t>
            </a:r>
            <a:r>
              <a:rPr lang="en-GB" sz="2000" dirty="0" smtClean="0">
                <a:latin typeface="Calibri"/>
                <a:cs typeface="Calibri"/>
              </a:rPr>
              <a:t>to</a:t>
            </a:r>
            <a:r>
              <a:rPr lang="en-GB" sz="2000" spc="335" dirty="0" smtClean="0">
                <a:latin typeface="Calibri"/>
                <a:cs typeface="Calibri"/>
              </a:rPr>
              <a:t> </a:t>
            </a:r>
            <a:r>
              <a:rPr lang="en-GB" sz="2000" dirty="0" smtClean="0">
                <a:latin typeface="Calibri"/>
                <a:cs typeface="Calibri"/>
              </a:rPr>
              <a:t>the</a:t>
            </a:r>
            <a:r>
              <a:rPr lang="en-GB" sz="2000" spc="335" dirty="0" smtClean="0">
                <a:latin typeface="Calibri"/>
                <a:cs typeface="Calibri"/>
              </a:rPr>
              <a:t> </a:t>
            </a:r>
            <a:r>
              <a:rPr lang="en-GB" sz="2000" dirty="0" smtClean="0">
                <a:latin typeface="Calibri"/>
                <a:cs typeface="Calibri"/>
              </a:rPr>
              <a:t>objectives</a:t>
            </a:r>
            <a:r>
              <a:rPr lang="en-GB" sz="2000" spc="340" dirty="0" smtClean="0">
                <a:latin typeface="Calibri"/>
                <a:cs typeface="Calibri"/>
              </a:rPr>
              <a:t> </a:t>
            </a:r>
            <a:r>
              <a:rPr lang="en-GB" sz="2000" dirty="0" smtClean="0">
                <a:latin typeface="Calibri"/>
                <a:cs typeface="Calibri"/>
              </a:rPr>
              <a:t>as</a:t>
            </a:r>
            <a:r>
              <a:rPr lang="en-GB" sz="2000" spc="360" dirty="0" smtClean="0">
                <a:latin typeface="Calibri"/>
                <a:cs typeface="Calibri"/>
              </a:rPr>
              <a:t> </a:t>
            </a:r>
            <a:r>
              <a:rPr lang="en-GB" sz="2000" dirty="0" smtClean="0">
                <a:latin typeface="Calibri"/>
                <a:cs typeface="Calibri"/>
              </a:rPr>
              <a:t>economically</a:t>
            </a:r>
            <a:r>
              <a:rPr lang="en-GB" sz="2000" spc="355" dirty="0" smtClean="0">
                <a:latin typeface="Calibri"/>
                <a:cs typeface="Calibri"/>
              </a:rPr>
              <a:t> </a:t>
            </a:r>
            <a:r>
              <a:rPr lang="en-GB" sz="2000" dirty="0" smtClean="0">
                <a:latin typeface="Calibri"/>
                <a:cs typeface="Calibri"/>
              </a:rPr>
              <a:t>as</a:t>
            </a:r>
            <a:r>
              <a:rPr lang="en-GB" sz="2000" spc="335" dirty="0" smtClean="0">
                <a:latin typeface="Calibri"/>
                <a:cs typeface="Calibri"/>
              </a:rPr>
              <a:t> </a:t>
            </a:r>
            <a:r>
              <a:rPr lang="en-GB" sz="2000" dirty="0" smtClean="0">
                <a:latin typeface="Calibri"/>
                <a:cs typeface="Calibri"/>
              </a:rPr>
              <a:t>possible.</a:t>
            </a:r>
            <a:r>
              <a:rPr lang="en-GB" sz="2000" spc="345" dirty="0" smtClean="0">
                <a:latin typeface="Calibri"/>
                <a:cs typeface="Calibri"/>
              </a:rPr>
              <a:t> </a:t>
            </a:r>
            <a:r>
              <a:rPr lang="en-GB" sz="2000" dirty="0" smtClean="0">
                <a:latin typeface="Calibri"/>
                <a:cs typeface="Calibri"/>
              </a:rPr>
              <a:t>Planning</a:t>
            </a:r>
            <a:r>
              <a:rPr lang="en-GB" sz="2000" spc="340" dirty="0" smtClean="0">
                <a:latin typeface="Calibri"/>
                <a:cs typeface="Calibri"/>
              </a:rPr>
              <a:t> </a:t>
            </a:r>
            <a:r>
              <a:rPr lang="en-GB" sz="2000" dirty="0" smtClean="0">
                <a:latin typeface="Calibri"/>
                <a:cs typeface="Calibri"/>
              </a:rPr>
              <a:t>also</a:t>
            </a:r>
            <a:r>
              <a:rPr lang="en-GB" sz="2000" spc="355" dirty="0" smtClean="0">
                <a:latin typeface="Calibri"/>
                <a:cs typeface="Calibri"/>
              </a:rPr>
              <a:t> </a:t>
            </a:r>
            <a:r>
              <a:rPr lang="en-GB" sz="2000" dirty="0" smtClean="0">
                <a:latin typeface="Calibri"/>
                <a:cs typeface="Calibri"/>
              </a:rPr>
              <a:t>focuses</a:t>
            </a:r>
            <a:r>
              <a:rPr lang="en-GB" sz="2000" spc="340" dirty="0" smtClean="0">
                <a:latin typeface="Calibri"/>
                <a:cs typeface="Calibri"/>
              </a:rPr>
              <a:t> </a:t>
            </a:r>
            <a:r>
              <a:rPr lang="en-GB" sz="2000" dirty="0" smtClean="0">
                <a:latin typeface="Calibri"/>
                <a:cs typeface="Calibri"/>
              </a:rPr>
              <a:t>on</a:t>
            </a:r>
            <a:r>
              <a:rPr lang="en-GB" sz="2000" spc="330" dirty="0" smtClean="0">
                <a:latin typeface="Calibri"/>
                <a:cs typeface="Calibri"/>
              </a:rPr>
              <a:t> </a:t>
            </a:r>
            <a:r>
              <a:rPr lang="en-GB" sz="2000" spc="-10" dirty="0" smtClean="0">
                <a:latin typeface="Calibri"/>
                <a:cs typeface="Calibri"/>
              </a:rPr>
              <a:t>accurate 	forecasts.</a:t>
            </a:r>
            <a:endParaRPr lang="en-GB" sz="2000" dirty="0" smtClean="0">
              <a:latin typeface="Calibri"/>
              <a:cs typeface="Calibri"/>
            </a:endParaRPr>
          </a:p>
          <a:p>
            <a:pPr marL="12065" marR="5080" algn="just">
              <a:lnSpc>
                <a:spcPct val="80000"/>
              </a:lnSpc>
              <a:spcBef>
                <a:spcPts val="480"/>
              </a:spcBef>
              <a:tabLst>
                <a:tab pos="356870" algn="l"/>
              </a:tabLst>
            </a:pPr>
            <a:endParaRPr sz="2000" dirty="0">
              <a:latin typeface="Calibri"/>
              <a:cs typeface="Calibri"/>
            </a:endParaRPr>
          </a:p>
        </p:txBody>
      </p:sp>
    </p:spTree>
    <p:extLst>
      <p:ext uri="{BB962C8B-B14F-4D97-AF65-F5344CB8AC3E}">
        <p14:creationId xmlns:p14="http://schemas.microsoft.com/office/powerpoint/2010/main" val="37930129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2607" y="83007"/>
            <a:ext cx="3482975" cy="636905"/>
          </a:xfrm>
          <a:prstGeom prst="rect">
            <a:avLst/>
          </a:prstGeom>
        </p:spPr>
        <p:txBody>
          <a:bodyPr vert="horz" wrap="square" lIns="0" tIns="13970" rIns="0" bIns="0" rtlCol="0">
            <a:spAutoFit/>
          </a:bodyPr>
          <a:lstStyle/>
          <a:p>
            <a:pPr marL="12700">
              <a:lnSpc>
                <a:spcPct val="100000"/>
              </a:lnSpc>
              <a:spcBef>
                <a:spcPts val="110"/>
              </a:spcBef>
            </a:pPr>
            <a:r>
              <a:rPr sz="4000" dirty="0"/>
              <a:t>Planning</a:t>
            </a:r>
            <a:r>
              <a:rPr sz="4000" spc="-75" dirty="0"/>
              <a:t> </a:t>
            </a:r>
            <a:r>
              <a:rPr sz="4000" spc="-10" dirty="0"/>
              <a:t>Process</a:t>
            </a:r>
            <a:endParaRPr sz="4000"/>
          </a:p>
        </p:txBody>
      </p:sp>
      <p:pic>
        <p:nvPicPr>
          <p:cNvPr id="3" name="object 3"/>
          <p:cNvPicPr/>
          <p:nvPr/>
        </p:nvPicPr>
        <p:blipFill>
          <a:blip r:embed="rId2" cstate="print"/>
          <a:stretch>
            <a:fillRect/>
          </a:stretch>
        </p:blipFill>
        <p:spPr>
          <a:xfrm>
            <a:off x="457200" y="1143000"/>
            <a:ext cx="8153400" cy="5334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Planning Process</a:t>
            </a:r>
            <a:endParaRPr lang="en-IN" b="1" dirty="0"/>
          </a:p>
        </p:txBody>
      </p:sp>
      <p:sp>
        <p:nvSpPr>
          <p:cNvPr id="3" name="Text Placeholder 2"/>
          <p:cNvSpPr>
            <a:spLocks noGrp="1"/>
          </p:cNvSpPr>
          <p:nvPr>
            <p:ph type="body" idx="1"/>
          </p:nvPr>
        </p:nvSpPr>
        <p:spPr>
          <a:xfrm>
            <a:off x="528218" y="1371600"/>
            <a:ext cx="8086699" cy="5262979"/>
          </a:xfrm>
        </p:spPr>
        <p:txBody>
          <a:bodyPr/>
          <a:lstStyle/>
          <a:p>
            <a:pPr marL="514350" indent="-514350" algn="just">
              <a:buAutoNum type="arabicPeriod"/>
            </a:pPr>
            <a:r>
              <a:rPr lang="en-GB" b="1" dirty="0" smtClean="0"/>
              <a:t>Setting </a:t>
            </a:r>
            <a:r>
              <a:rPr lang="en-GB" b="1" dirty="0"/>
              <a:t>Objectives: </a:t>
            </a:r>
            <a:r>
              <a:rPr lang="en-GB" sz="2400" dirty="0"/>
              <a:t>The idea behind planning is to achieve desired objectives. Therefore, the first step is to clearly define and describe the objectives of the organization. Firstly, the major objectives should be specified, and then they should be broken down into individual, sectional and departmental objectives</a:t>
            </a:r>
            <a:r>
              <a:rPr lang="en-GB" sz="2400" dirty="0" smtClean="0"/>
              <a:t>.</a:t>
            </a:r>
          </a:p>
          <a:p>
            <a:pPr marL="514350" indent="-514350" algn="just">
              <a:buAutoNum type="arabicPeriod"/>
            </a:pPr>
            <a:endParaRPr lang="en-GB" sz="2400" dirty="0" smtClean="0"/>
          </a:p>
          <a:p>
            <a:pPr marL="514350" indent="-514350" algn="just">
              <a:buAutoNum type="arabicPeriod"/>
            </a:pPr>
            <a:r>
              <a:rPr lang="en-GB" b="1" dirty="0"/>
              <a:t>Developing Planning Premises: </a:t>
            </a:r>
            <a:r>
              <a:rPr lang="en-GB" sz="2400" dirty="0"/>
              <a:t>The next step in planning is to establish premises. Planning premises are the anticipated environment in which the plans are expected to operate. These include assumptions and forecasts in the future and knowing conditions that will affect the course of the plan. In short, these provide the environment and the boundaries within which the plans will be executed.</a:t>
            </a:r>
            <a:endParaRPr lang="en-IN" sz="2400" dirty="0"/>
          </a:p>
        </p:txBody>
      </p:sp>
    </p:spTree>
    <p:extLst>
      <p:ext uri="{BB962C8B-B14F-4D97-AF65-F5344CB8AC3E}">
        <p14:creationId xmlns:p14="http://schemas.microsoft.com/office/powerpoint/2010/main" val="11704117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Planning Process</a:t>
            </a:r>
            <a:endParaRPr lang="en-IN" b="1" dirty="0"/>
          </a:p>
        </p:txBody>
      </p:sp>
      <p:sp>
        <p:nvSpPr>
          <p:cNvPr id="3" name="Text Placeholder 2"/>
          <p:cNvSpPr>
            <a:spLocks noGrp="1"/>
          </p:cNvSpPr>
          <p:nvPr>
            <p:ph type="body" idx="1"/>
          </p:nvPr>
        </p:nvSpPr>
        <p:spPr>
          <a:xfrm>
            <a:off x="528218" y="844494"/>
            <a:ext cx="8086699" cy="5632311"/>
          </a:xfrm>
        </p:spPr>
        <p:txBody>
          <a:bodyPr/>
          <a:lstStyle/>
          <a:p>
            <a:pPr marL="514350" indent="-514350" algn="just">
              <a:buAutoNum type="arabicPeriod" startAt="3"/>
            </a:pPr>
            <a:r>
              <a:rPr lang="en-GB" b="1" dirty="0" smtClean="0"/>
              <a:t>Identifying alternative courses of action:</a:t>
            </a:r>
            <a:r>
              <a:rPr lang="en-GB" dirty="0" smtClean="0"/>
              <a:t> </a:t>
            </a:r>
            <a:r>
              <a:rPr lang="en-GB" sz="2400" dirty="0" smtClean="0"/>
              <a:t>After setting the objectives and making assumptions 	about 	the future. The next step is to determine 	alternative 	courses of action through which the 	organization can achieve its objectives</a:t>
            </a:r>
            <a:r>
              <a:rPr lang="en-GB" sz="2400" dirty="0"/>
              <a:t>. </a:t>
            </a:r>
            <a:r>
              <a:rPr lang="en-GB" sz="2400" dirty="0" smtClean="0"/>
              <a:t>To increase sales, the 	company may  </a:t>
            </a:r>
            <a:r>
              <a:rPr lang="en-GB" sz="2400" dirty="0"/>
              <a:t>has many </a:t>
            </a:r>
            <a:r>
              <a:rPr lang="en-GB" sz="2400" dirty="0" smtClean="0"/>
              <a:t>alternatives </a:t>
            </a:r>
            <a:r>
              <a:rPr lang="en-GB" sz="2400" dirty="0"/>
              <a:t>like decreasing </a:t>
            </a:r>
            <a:r>
              <a:rPr lang="en-GB" sz="2400" dirty="0" smtClean="0"/>
              <a:t>	prices</a:t>
            </a:r>
            <a:r>
              <a:rPr lang="en-GB" sz="2400" dirty="0"/>
              <a:t>, increasing </a:t>
            </a:r>
            <a:r>
              <a:rPr lang="en-GB" sz="2400" dirty="0" smtClean="0"/>
              <a:t>advertisement</a:t>
            </a:r>
            <a:r>
              <a:rPr lang="en-GB" sz="2400" dirty="0"/>
              <a:t>, promotion, and </a:t>
            </a:r>
            <a:r>
              <a:rPr lang="en-GB" sz="2400" dirty="0" smtClean="0"/>
              <a:t>	after-sale service.</a:t>
            </a:r>
          </a:p>
          <a:p>
            <a:pPr marL="457200" indent="-457200" algn="just">
              <a:buAutoNum type="arabicPeriod" startAt="3"/>
            </a:pPr>
            <a:r>
              <a:rPr lang="en-GB" b="1" dirty="0"/>
              <a:t>Evaluating alternative courses:</a:t>
            </a:r>
            <a:r>
              <a:rPr lang="en-GB" dirty="0"/>
              <a:t> </a:t>
            </a:r>
            <a:r>
              <a:rPr lang="en-GB" sz="2400" dirty="0"/>
              <a:t>After identifying different alternatives the next step is to evaluate each alternative. Evaluation means the study of the performance of various actions. All the possible alternatives should be evaluated keeping in mind their expected cost and benefit to the organization. Comparison among the alternatives should be made in terms of factors, such as the risk involved, planning premises, goals to be achieved, etc.</a:t>
            </a:r>
            <a:endParaRPr lang="en-IN" sz="2400" dirty="0"/>
          </a:p>
        </p:txBody>
      </p:sp>
    </p:spTree>
    <p:extLst>
      <p:ext uri="{BB962C8B-B14F-4D97-AF65-F5344CB8AC3E}">
        <p14:creationId xmlns:p14="http://schemas.microsoft.com/office/powerpoint/2010/main" val="20874869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Planning Process</a:t>
            </a:r>
            <a:endParaRPr lang="en-IN" b="1" dirty="0"/>
          </a:p>
        </p:txBody>
      </p:sp>
      <p:sp>
        <p:nvSpPr>
          <p:cNvPr id="3" name="Text Placeholder 2"/>
          <p:cNvSpPr>
            <a:spLocks noGrp="1"/>
          </p:cNvSpPr>
          <p:nvPr>
            <p:ph type="body" idx="1"/>
          </p:nvPr>
        </p:nvSpPr>
        <p:spPr>
          <a:xfrm>
            <a:off x="563778" y="1324208"/>
            <a:ext cx="8086699" cy="4662815"/>
          </a:xfrm>
        </p:spPr>
        <p:txBody>
          <a:bodyPr/>
          <a:lstStyle/>
          <a:p>
            <a:pPr marL="514350" indent="-514350" algn="just">
              <a:buAutoNum type="arabicPeriod" startAt="5"/>
            </a:pPr>
            <a:r>
              <a:rPr lang="en-GB" b="1" dirty="0" smtClean="0"/>
              <a:t>Selecting </a:t>
            </a:r>
            <a:r>
              <a:rPr lang="en-GB" b="1" dirty="0"/>
              <a:t>an alternative: </a:t>
            </a:r>
            <a:r>
              <a:rPr lang="en-GB" sz="2400" dirty="0"/>
              <a:t>After evaluating </a:t>
            </a:r>
            <a:r>
              <a:rPr lang="en-GB" sz="2400" dirty="0" smtClean="0"/>
              <a:t>various 	alternatives</a:t>
            </a:r>
            <a:r>
              <a:rPr lang="en-GB" sz="2400" dirty="0"/>
              <a:t>, the next step is to select the most </a:t>
            </a:r>
            <a:r>
              <a:rPr lang="en-GB" sz="2400" dirty="0" smtClean="0"/>
              <a:t>	suitable </a:t>
            </a:r>
            <a:r>
              <a:rPr lang="en-GB" sz="2400" dirty="0"/>
              <a:t>force of action. The basic, detailed, and </a:t>
            </a:r>
            <a:r>
              <a:rPr lang="en-GB" sz="2400" dirty="0" smtClean="0"/>
              <a:t>	derivative </a:t>
            </a:r>
            <a:r>
              <a:rPr lang="en-GB" sz="2400" dirty="0"/>
              <a:t>plans, such as policies, rules, programs, </a:t>
            </a:r>
            <a:r>
              <a:rPr lang="en-GB" sz="2400" dirty="0" smtClean="0"/>
              <a:t>	and  	budgets </a:t>
            </a:r>
            <a:r>
              <a:rPr lang="en-GB" sz="2400" dirty="0"/>
              <a:t>should be </a:t>
            </a:r>
            <a:r>
              <a:rPr lang="en-GB" sz="2400" dirty="0" smtClean="0"/>
              <a:t>formulated</a:t>
            </a:r>
            <a:r>
              <a:rPr lang="en-GB" b="1" dirty="0" smtClean="0"/>
              <a:t>.</a:t>
            </a:r>
          </a:p>
          <a:p>
            <a:pPr marL="514350" indent="-514350" algn="just">
              <a:buAutoNum type="arabicPeriod" startAt="5"/>
            </a:pPr>
            <a:endParaRPr lang="en-GB" b="1" dirty="0" smtClean="0"/>
          </a:p>
          <a:p>
            <a:pPr marL="514350" indent="-514350" algn="just">
              <a:buAutoNum type="arabicPeriod" startAt="5"/>
            </a:pPr>
            <a:r>
              <a:rPr lang="en-GB" b="1" dirty="0"/>
              <a:t>Implementing the plan: </a:t>
            </a:r>
            <a:r>
              <a:rPr lang="en-GB" sz="2400" dirty="0"/>
              <a:t>This step is concerned with transforming the plan into action. The plan must be communicated to the employees in detail. This, in turn, will help to secure cooperation from them. Useful suggestions from employees must be considered, and they should be motivated to execute the plan to the fullest of their abilities</a:t>
            </a:r>
            <a:r>
              <a:rPr lang="en-GB" b="1" dirty="0"/>
              <a:t>.</a:t>
            </a:r>
            <a:endParaRPr lang="en-IN" sz="2400" dirty="0"/>
          </a:p>
        </p:txBody>
      </p:sp>
    </p:spTree>
    <p:extLst>
      <p:ext uri="{BB962C8B-B14F-4D97-AF65-F5344CB8AC3E}">
        <p14:creationId xmlns:p14="http://schemas.microsoft.com/office/powerpoint/2010/main" val="33626352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dirty="0" smtClean="0"/>
              <a:t>Planning Process</a:t>
            </a:r>
            <a:endParaRPr lang="en-IN" b="1" dirty="0"/>
          </a:p>
        </p:txBody>
      </p:sp>
      <p:sp>
        <p:nvSpPr>
          <p:cNvPr id="3" name="Text Placeholder 2"/>
          <p:cNvSpPr>
            <a:spLocks noGrp="1"/>
          </p:cNvSpPr>
          <p:nvPr>
            <p:ph type="body" idx="1"/>
          </p:nvPr>
        </p:nvSpPr>
        <p:spPr>
          <a:xfrm>
            <a:off x="528218" y="844494"/>
            <a:ext cx="8086699" cy="5678478"/>
          </a:xfrm>
        </p:spPr>
        <p:txBody>
          <a:bodyPr/>
          <a:lstStyle/>
          <a:p>
            <a:pPr marL="514350" indent="-514350" algn="just">
              <a:buAutoNum type="arabicPeriod" startAt="5"/>
            </a:pPr>
            <a:r>
              <a:rPr lang="en-GB" b="1" dirty="0" smtClean="0"/>
              <a:t>Selecting </a:t>
            </a:r>
            <a:r>
              <a:rPr lang="en-GB" b="1" dirty="0"/>
              <a:t>an alternative: </a:t>
            </a:r>
            <a:r>
              <a:rPr lang="en-GB" sz="2400" dirty="0"/>
              <a:t>After evaluating </a:t>
            </a:r>
            <a:r>
              <a:rPr lang="en-GB" sz="2400" dirty="0" smtClean="0"/>
              <a:t>various alternatives</a:t>
            </a:r>
            <a:r>
              <a:rPr lang="en-GB" sz="2400" dirty="0"/>
              <a:t>, the next step is to select the most </a:t>
            </a:r>
            <a:r>
              <a:rPr lang="en-GB" sz="2400" dirty="0" smtClean="0"/>
              <a:t>	suitable </a:t>
            </a:r>
            <a:r>
              <a:rPr lang="en-GB" sz="2400" dirty="0"/>
              <a:t>force of action. The basic, detailed, and </a:t>
            </a:r>
            <a:r>
              <a:rPr lang="en-GB" sz="2400" dirty="0" smtClean="0"/>
              <a:t>	derivative </a:t>
            </a:r>
            <a:r>
              <a:rPr lang="en-GB" sz="2400" dirty="0"/>
              <a:t>plans, such as policies, rules, programs, </a:t>
            </a:r>
            <a:r>
              <a:rPr lang="en-GB" sz="2400" dirty="0" smtClean="0"/>
              <a:t>	and  	budgets </a:t>
            </a:r>
            <a:r>
              <a:rPr lang="en-GB" sz="2400" dirty="0"/>
              <a:t>should be </a:t>
            </a:r>
            <a:r>
              <a:rPr lang="en-GB" sz="2400" dirty="0" smtClean="0"/>
              <a:t>formulated</a:t>
            </a:r>
            <a:r>
              <a:rPr lang="en-GB" b="1" dirty="0" smtClean="0"/>
              <a:t>.</a:t>
            </a:r>
          </a:p>
          <a:p>
            <a:pPr marL="514350" indent="-514350" algn="just">
              <a:buAutoNum type="arabicPeriod" startAt="5"/>
            </a:pPr>
            <a:r>
              <a:rPr lang="en-GB" b="1" dirty="0"/>
              <a:t>Implementing the plan: </a:t>
            </a:r>
            <a:r>
              <a:rPr lang="en-GB" sz="2400" dirty="0"/>
              <a:t>This step is concerned with transforming the plan into action. The plan must be communicated to the employees in detail. This, in turn, will help to secure cooperation from them. </a:t>
            </a:r>
            <a:endParaRPr lang="en-GB" sz="2400" dirty="0" smtClean="0"/>
          </a:p>
          <a:p>
            <a:pPr marL="514350" indent="-514350" algn="just">
              <a:buAutoNum type="arabicPeriod" startAt="5"/>
            </a:pPr>
            <a:endParaRPr lang="en-GB" sz="2400" b="1" dirty="0"/>
          </a:p>
          <a:p>
            <a:pPr marL="514350" indent="-514350" algn="just">
              <a:buAutoNum type="arabicPeriod" startAt="5"/>
            </a:pPr>
            <a:r>
              <a:rPr lang="en-GB" sz="2400" b="1" dirty="0" smtClean="0"/>
              <a:t>Follow-up- </a:t>
            </a:r>
            <a:r>
              <a:rPr lang="en-GB" sz="2400" b="1" dirty="0"/>
              <a:t>action: </a:t>
            </a:r>
            <a:r>
              <a:rPr lang="en-GB" sz="2400" dirty="0"/>
              <a:t>After implementing the plan, the last step </a:t>
            </a:r>
            <a:r>
              <a:rPr lang="en-GB" sz="2400" dirty="0" smtClean="0"/>
              <a:t>is </a:t>
            </a:r>
            <a:r>
              <a:rPr lang="en-GB" sz="2400" dirty="0"/>
              <a:t>to periodically review the existing plan to ensure that the plan is effective. The plan must be consistently monitored, and in case of any deficiency, it should be modified and adjusted.</a:t>
            </a:r>
            <a:endParaRPr lang="en-IN" sz="2400" dirty="0"/>
          </a:p>
        </p:txBody>
      </p:sp>
    </p:spTree>
    <p:extLst>
      <p:ext uri="{BB962C8B-B14F-4D97-AF65-F5344CB8AC3E}">
        <p14:creationId xmlns:p14="http://schemas.microsoft.com/office/powerpoint/2010/main" val="16470969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15553"/>
          </a:xfrm>
        </p:spPr>
        <p:txBody>
          <a:bodyPr/>
          <a:lstStyle/>
          <a:p>
            <a:pPr algn="ctr"/>
            <a:r>
              <a:rPr lang="en-IN" sz="4000" b="1" dirty="0" smtClean="0"/>
              <a:t>Limitations/Disadvantages </a:t>
            </a:r>
            <a:r>
              <a:rPr lang="en-IN" sz="4000" b="1" dirty="0" smtClean="0"/>
              <a:t>of Planning</a:t>
            </a:r>
            <a:endParaRPr lang="en-IN" sz="4000" b="1" dirty="0"/>
          </a:p>
        </p:txBody>
      </p:sp>
      <p:sp>
        <p:nvSpPr>
          <p:cNvPr id="3" name="Text Placeholder 2"/>
          <p:cNvSpPr>
            <a:spLocks noGrp="1"/>
          </p:cNvSpPr>
          <p:nvPr>
            <p:ph type="body" idx="1"/>
          </p:nvPr>
        </p:nvSpPr>
        <p:spPr>
          <a:xfrm>
            <a:off x="528218" y="844494"/>
            <a:ext cx="8086699" cy="5970865"/>
          </a:xfrm>
        </p:spPr>
        <p:txBody>
          <a:bodyPr/>
          <a:lstStyle/>
          <a:p>
            <a:pPr marL="457200" indent="-457200" algn="just">
              <a:buFont typeface="+mj-lt"/>
              <a:buAutoNum type="arabicPeriod"/>
            </a:pPr>
            <a:r>
              <a:rPr lang="en-GB" sz="2400" b="1" dirty="0"/>
              <a:t>Planning Leads to Rigidity</a:t>
            </a:r>
          </a:p>
          <a:p>
            <a:pPr algn="just"/>
            <a:r>
              <a:rPr lang="en-GB" sz="1800" dirty="0" smtClean="0"/>
              <a:t>The plans are rigid in nature and have to be complied 	with throughout the organisation. Such rigidity of plans may be internal as well as external. Internal rigidity relates to plans, policies, programs, rules, and methods, etc. External rigidity relates to political, industrial, technological, legal and economic changes, etc.</a:t>
            </a:r>
            <a:endParaRPr lang="en-GB" sz="1800" dirty="0"/>
          </a:p>
          <a:p>
            <a:pPr algn="just"/>
            <a:endParaRPr lang="en-GB" sz="1800" b="1" dirty="0" smtClean="0"/>
          </a:p>
          <a:p>
            <a:pPr algn="just"/>
            <a:r>
              <a:rPr lang="en-GB" sz="1800" b="1" dirty="0" smtClean="0"/>
              <a:t>Example</a:t>
            </a:r>
            <a:r>
              <a:rPr lang="en-GB" sz="1800" b="1" dirty="0"/>
              <a:t>: </a:t>
            </a:r>
            <a:r>
              <a:rPr lang="en-GB" sz="1800" dirty="0"/>
              <a:t>A super speciality hospital has fine branches in a city. Whatever the top management of the hospital decides the head of the branch of the hospital and their subordinates have to follow. Though on occasions they know they could have done better on their own but the plan laid out provides rigidity to their approach</a:t>
            </a:r>
            <a:r>
              <a:rPr lang="en-GB" sz="1800" dirty="0" smtClean="0"/>
              <a:t>.</a:t>
            </a:r>
          </a:p>
          <a:p>
            <a:pPr algn="just"/>
            <a:endParaRPr lang="en-GB" sz="2000" dirty="0"/>
          </a:p>
          <a:p>
            <a:pPr algn="just"/>
            <a:r>
              <a:rPr lang="en-GB" sz="2000" b="1" dirty="0" smtClean="0"/>
              <a:t>2. Planning </a:t>
            </a:r>
            <a:r>
              <a:rPr lang="en-GB" sz="2000" b="1" dirty="0"/>
              <a:t>May Not Work in Dynamic Environment</a:t>
            </a:r>
          </a:p>
          <a:p>
            <a:pPr algn="just"/>
            <a:r>
              <a:rPr lang="en-GB" sz="1800" dirty="0" smtClean="0"/>
              <a:t>The </a:t>
            </a:r>
            <a:r>
              <a:rPr lang="en-GB" sz="1800" dirty="0"/>
              <a:t>environment in which a business survives is dynamic as it keeps on </a:t>
            </a:r>
            <a:r>
              <a:rPr lang="en-GB" sz="1800" dirty="0" smtClean="0"/>
              <a:t>changing. It </a:t>
            </a:r>
            <a:r>
              <a:rPr lang="en-GB" sz="1800" dirty="0"/>
              <a:t>is difficult for an organisation to access future trends, the taste of customers, natural calamity, competitors’ policies and effects of changes in the different components of the </a:t>
            </a:r>
            <a:r>
              <a:rPr lang="en-GB" sz="1800" dirty="0" smtClean="0"/>
              <a:t>environment. The </a:t>
            </a:r>
            <a:r>
              <a:rPr lang="en-GB" sz="1800" dirty="0"/>
              <a:t>dynamic environment may sometimes lead to failure of plans.</a:t>
            </a:r>
          </a:p>
          <a:p>
            <a:pPr algn="just"/>
            <a:endParaRPr lang="en-GB" sz="1800" dirty="0" smtClean="0"/>
          </a:p>
          <a:p>
            <a:pPr algn="just"/>
            <a:r>
              <a:rPr lang="en-GB" sz="1800" b="1" dirty="0" smtClean="0"/>
              <a:t>Example</a:t>
            </a:r>
            <a:r>
              <a:rPr lang="en-GB" sz="1800" b="1" dirty="0"/>
              <a:t>: </a:t>
            </a:r>
            <a:r>
              <a:rPr lang="en-GB" sz="1800" dirty="0"/>
              <a:t>Nestle, a very successful producer was very proactive in deciding strategies for Maggi noodles. Maggi noodles were in a lot of demand but they were off the shelf due to political and legal dimensions. This was due to the high content of lead in Maggi noodles.</a:t>
            </a:r>
            <a:endParaRPr lang="en-IN" sz="1800" dirty="0"/>
          </a:p>
        </p:txBody>
      </p:sp>
    </p:spTree>
    <p:extLst>
      <p:ext uri="{BB962C8B-B14F-4D97-AF65-F5344CB8AC3E}">
        <p14:creationId xmlns:p14="http://schemas.microsoft.com/office/powerpoint/2010/main" val="39457959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8218" y="844494"/>
            <a:ext cx="8086699" cy="5724644"/>
          </a:xfrm>
        </p:spPr>
        <p:txBody>
          <a:bodyPr/>
          <a:lstStyle/>
          <a:p>
            <a:pPr algn="just"/>
            <a:r>
              <a:rPr lang="en-GB" sz="2400" b="1" dirty="0" smtClean="0"/>
              <a:t>3. Planning </a:t>
            </a:r>
            <a:r>
              <a:rPr lang="en-GB" sz="2400" b="1" dirty="0"/>
              <a:t>Reduces Creativity</a:t>
            </a:r>
          </a:p>
          <a:p>
            <a:pPr algn="just"/>
            <a:r>
              <a:rPr lang="en-GB" sz="1800" dirty="0" smtClean="0"/>
              <a:t>Planning </a:t>
            </a:r>
            <a:r>
              <a:rPr lang="en-GB" sz="1800" dirty="0"/>
              <a:t>is mostly done by the top management and other </a:t>
            </a:r>
            <a:r>
              <a:rPr lang="en-GB" sz="1800" dirty="0" smtClean="0"/>
              <a:t>members like </a:t>
            </a:r>
            <a:r>
              <a:rPr lang="en-GB" sz="1800" dirty="0"/>
              <a:t>middle and lower levels of management have to follow these </a:t>
            </a:r>
            <a:r>
              <a:rPr lang="en-GB" sz="1800" dirty="0" smtClean="0"/>
              <a:t>plans. They </a:t>
            </a:r>
            <a:r>
              <a:rPr lang="en-GB" sz="1800" dirty="0"/>
              <a:t>can’t deviate or change the plans made by their seniors.</a:t>
            </a:r>
          </a:p>
          <a:p>
            <a:pPr algn="just"/>
            <a:r>
              <a:rPr lang="en-GB" sz="1800" dirty="0"/>
              <a:t>Under such circumstances, employees become orders following machines and don’t involve creative thinking from their side</a:t>
            </a:r>
            <a:r>
              <a:rPr lang="en-GB" sz="1800" dirty="0" smtClean="0"/>
              <a:t>.</a:t>
            </a:r>
          </a:p>
          <a:p>
            <a:pPr algn="just"/>
            <a:endParaRPr lang="en-GB" sz="1800" dirty="0"/>
          </a:p>
          <a:p>
            <a:pPr algn="just"/>
            <a:r>
              <a:rPr lang="en-GB" sz="1800" b="1" dirty="0"/>
              <a:t>Example: </a:t>
            </a:r>
            <a:r>
              <a:rPr lang="en-GB" sz="1800" dirty="0"/>
              <a:t>The need for a branch of a renowned shoe manufacturing company sees a lot of scope in customized shoes. The top management is not interested in this idea as the company manufactures standardised shoes</a:t>
            </a:r>
            <a:r>
              <a:rPr lang="en-GB" sz="1800" dirty="0" smtClean="0"/>
              <a:t>.</a:t>
            </a:r>
          </a:p>
          <a:p>
            <a:pPr algn="just"/>
            <a:endParaRPr lang="en-GB" sz="1800" dirty="0"/>
          </a:p>
          <a:p>
            <a:pPr algn="just"/>
            <a:r>
              <a:rPr lang="en-GB" sz="1800" dirty="0"/>
              <a:t> </a:t>
            </a:r>
            <a:r>
              <a:rPr lang="en-GB" sz="2400" b="1" dirty="0" smtClean="0"/>
              <a:t>4. Planning </a:t>
            </a:r>
            <a:r>
              <a:rPr lang="en-GB" sz="2400" b="1" dirty="0"/>
              <a:t>Involves Huge Cost</a:t>
            </a:r>
          </a:p>
          <a:p>
            <a:pPr algn="just"/>
            <a:r>
              <a:rPr lang="en-GB" sz="1800" dirty="0" smtClean="0"/>
              <a:t>Formulation </a:t>
            </a:r>
            <a:r>
              <a:rPr lang="en-GB" sz="1800" dirty="0"/>
              <a:t>of plans can be too much costly because there is a lot of time and money is </a:t>
            </a:r>
            <a:r>
              <a:rPr lang="en-GB" sz="1800" dirty="0" smtClean="0"/>
              <a:t>involved. Some </a:t>
            </a:r>
            <a:r>
              <a:rPr lang="en-GB" sz="1800" dirty="0"/>
              <a:t>costs are incidental in nature like- expenses on boardroom meetings, discussions with professional experts and preliminary investigations to find out the feasibility of the plan.</a:t>
            </a:r>
          </a:p>
          <a:p>
            <a:pPr algn="just"/>
            <a:r>
              <a:rPr lang="en-GB" sz="1800" b="1" dirty="0" smtClean="0"/>
              <a:t>Example</a:t>
            </a:r>
            <a:r>
              <a:rPr lang="en-GB" sz="1800" b="1" dirty="0"/>
              <a:t>: </a:t>
            </a:r>
            <a:r>
              <a:rPr lang="en-GB" sz="1800" dirty="0"/>
              <a:t>Companies like IBM spend a lot of </a:t>
            </a:r>
            <a:r>
              <a:rPr lang="en-GB" sz="1800" dirty="0" smtClean="0"/>
              <a:t>money on research</a:t>
            </a:r>
            <a:r>
              <a:rPr lang="en-GB" sz="1800" dirty="0"/>
              <a:t>. Many world-class levels give their advice to this company and change their fee. However, without so much of painstaking such a huge company won’t be able to sustain itself. So planning in case of IBM becomes necessary.</a:t>
            </a:r>
          </a:p>
        </p:txBody>
      </p:sp>
      <p:sp>
        <p:nvSpPr>
          <p:cNvPr id="5" name="Title 1"/>
          <p:cNvSpPr>
            <a:spLocks noGrp="1"/>
          </p:cNvSpPr>
          <p:nvPr>
            <p:ph type="title"/>
          </p:nvPr>
        </p:nvSpPr>
        <p:spPr>
          <a:xfrm>
            <a:off x="383540" y="167385"/>
            <a:ext cx="8305165" cy="615553"/>
          </a:xfrm>
        </p:spPr>
        <p:txBody>
          <a:bodyPr/>
          <a:lstStyle/>
          <a:p>
            <a:pPr algn="ctr"/>
            <a:r>
              <a:rPr lang="en-IN" sz="4000" b="1" dirty="0" smtClean="0"/>
              <a:t>Limitations/Disadvantages </a:t>
            </a:r>
            <a:r>
              <a:rPr lang="en-IN" sz="4000" b="1" dirty="0" smtClean="0"/>
              <a:t>of Planning</a:t>
            </a:r>
            <a:endParaRPr lang="en-IN" sz="4000" b="1" dirty="0"/>
          </a:p>
        </p:txBody>
      </p:sp>
    </p:spTree>
    <p:extLst>
      <p:ext uri="{BB962C8B-B14F-4D97-AF65-F5344CB8AC3E}">
        <p14:creationId xmlns:p14="http://schemas.microsoft.com/office/powerpoint/2010/main" val="10592910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8218" y="844494"/>
            <a:ext cx="8086699" cy="6001643"/>
          </a:xfrm>
        </p:spPr>
        <p:txBody>
          <a:bodyPr/>
          <a:lstStyle/>
          <a:p>
            <a:pPr algn="just"/>
            <a:r>
              <a:rPr lang="en-GB" sz="2400" b="1" dirty="0" smtClean="0"/>
              <a:t>5. Planning </a:t>
            </a:r>
            <a:r>
              <a:rPr lang="en-GB" sz="2400" b="1" dirty="0"/>
              <a:t>is a Time-consuming  Process</a:t>
            </a:r>
          </a:p>
          <a:p>
            <a:pPr algn="just"/>
            <a:r>
              <a:rPr lang="en-GB" sz="1800" dirty="0" smtClean="0"/>
              <a:t>Planning </a:t>
            </a:r>
            <a:r>
              <a:rPr lang="en-GB" sz="1800" dirty="0"/>
              <a:t>is a very lengthy process as it consumes a lot of time for collection, analysis, and interpretation of data.</a:t>
            </a:r>
          </a:p>
          <a:p>
            <a:pPr algn="just"/>
            <a:r>
              <a:rPr lang="en-GB" sz="1800" dirty="0"/>
              <a:t>Due to such a lengthy process, sometimes decisions get delayed, opportunities are lost and there is not much time left for the implementation of plans.</a:t>
            </a:r>
          </a:p>
          <a:p>
            <a:pPr algn="just"/>
            <a:endParaRPr lang="en-GB" sz="1800" dirty="0" smtClean="0"/>
          </a:p>
          <a:p>
            <a:pPr algn="just"/>
            <a:r>
              <a:rPr lang="en-GB" sz="1800" b="1" dirty="0" smtClean="0"/>
              <a:t>Example</a:t>
            </a:r>
            <a:r>
              <a:rPr lang="en-GB" sz="1800" b="1" dirty="0"/>
              <a:t>: Health I</a:t>
            </a:r>
            <a:r>
              <a:rPr lang="en-GB" sz="1800" b="1" dirty="0" smtClean="0"/>
              <a:t>s Wealth </a:t>
            </a:r>
            <a:r>
              <a:rPr lang="en-GB" sz="1800" b="1" dirty="0"/>
              <a:t>Ltd. </a:t>
            </a:r>
            <a:r>
              <a:rPr lang="en-GB" sz="1800" dirty="0"/>
              <a:t>plans to organise 25 health </a:t>
            </a:r>
            <a:r>
              <a:rPr lang="en-GB" sz="1800" dirty="0" err="1"/>
              <a:t>checkup</a:t>
            </a:r>
            <a:r>
              <a:rPr lang="en-GB" sz="1800" dirty="0"/>
              <a:t> camps on the World Health Day and send a requisition to the top management but management could send its approval just a day before and the sales manager could organise only 5 camps and thus huge opportunity is lost. Here the implementation was delayed</a:t>
            </a:r>
            <a:r>
              <a:rPr lang="en-GB" sz="1800" dirty="0" smtClean="0"/>
              <a:t>.</a:t>
            </a:r>
          </a:p>
          <a:p>
            <a:pPr algn="just"/>
            <a:endParaRPr lang="en-GB" sz="1800" dirty="0"/>
          </a:p>
          <a:p>
            <a:pPr algn="just"/>
            <a:r>
              <a:rPr lang="en-GB" sz="2400" b="1" dirty="0" smtClean="0"/>
              <a:t>6. Planning </a:t>
            </a:r>
            <a:r>
              <a:rPr lang="en-GB" sz="2400" b="1" dirty="0"/>
              <a:t>Does Not Guarantee Success</a:t>
            </a:r>
          </a:p>
          <a:p>
            <a:pPr algn="just"/>
            <a:r>
              <a:rPr lang="en-GB" sz="1800" dirty="0" smtClean="0"/>
              <a:t>The </a:t>
            </a:r>
            <a:r>
              <a:rPr lang="en-GB" sz="1800" dirty="0"/>
              <a:t>success of an enterprise is possible only when plans are properly drawn up and </a:t>
            </a:r>
            <a:r>
              <a:rPr lang="en-GB" sz="1800" dirty="0" smtClean="0"/>
              <a:t>implemented. Plans </a:t>
            </a:r>
            <a:r>
              <a:rPr lang="en-GB" sz="1800" dirty="0"/>
              <a:t>become meaningless if it is not translated into action.</a:t>
            </a:r>
          </a:p>
          <a:p>
            <a:pPr algn="just"/>
            <a:r>
              <a:rPr lang="en-GB" sz="1800" dirty="0"/>
              <a:t>Managers have a tendency to rely on previously tried and tested successful plans.</a:t>
            </a:r>
          </a:p>
          <a:p>
            <a:pPr algn="just"/>
            <a:endParaRPr lang="en-GB" sz="1800" b="1" dirty="0" smtClean="0"/>
          </a:p>
          <a:p>
            <a:pPr algn="just"/>
            <a:r>
              <a:rPr lang="en-GB" sz="1800" b="1" dirty="0" smtClean="0"/>
              <a:t>Example: </a:t>
            </a:r>
            <a:r>
              <a:rPr lang="en-GB" sz="1800" dirty="0" smtClean="0"/>
              <a:t>In </a:t>
            </a:r>
            <a:r>
              <a:rPr lang="en-GB" sz="1800" dirty="0"/>
              <a:t>a paint manufacturing company, the top management very meticulously chalked out a great plan. The whole company worked out on the plan in a much focused manner. However, with the entrance of a competitor with better paint quality the whole plan failed. The reason for the failure was the dynamic conditions which were not in control of the organisation.</a:t>
            </a:r>
          </a:p>
        </p:txBody>
      </p:sp>
      <p:sp>
        <p:nvSpPr>
          <p:cNvPr id="5" name="Title 1"/>
          <p:cNvSpPr>
            <a:spLocks noGrp="1"/>
          </p:cNvSpPr>
          <p:nvPr>
            <p:ph type="title"/>
          </p:nvPr>
        </p:nvSpPr>
        <p:spPr>
          <a:xfrm>
            <a:off x="383540" y="167385"/>
            <a:ext cx="8305165" cy="615553"/>
          </a:xfrm>
        </p:spPr>
        <p:txBody>
          <a:bodyPr/>
          <a:lstStyle/>
          <a:p>
            <a:pPr algn="ctr"/>
            <a:r>
              <a:rPr lang="en-IN" sz="4000" b="1" dirty="0" smtClean="0"/>
              <a:t>Limitations/Disadvantages </a:t>
            </a:r>
            <a:r>
              <a:rPr lang="en-IN" sz="4000" b="1" dirty="0" smtClean="0"/>
              <a:t>of Planning</a:t>
            </a:r>
            <a:endParaRPr lang="en-IN" sz="4000" b="1" dirty="0"/>
          </a:p>
        </p:txBody>
      </p:sp>
    </p:spTree>
    <p:extLst>
      <p:ext uri="{BB962C8B-B14F-4D97-AF65-F5344CB8AC3E}">
        <p14:creationId xmlns:p14="http://schemas.microsoft.com/office/powerpoint/2010/main" val="29078188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2303145">
              <a:lnSpc>
                <a:spcPct val="100000"/>
              </a:lnSpc>
              <a:spcBef>
                <a:spcPts val="90"/>
              </a:spcBef>
            </a:pPr>
            <a:r>
              <a:rPr b="1" spc="-25" dirty="0"/>
              <a:t>Decision-</a:t>
            </a:r>
            <a:r>
              <a:rPr b="1" spc="-10" dirty="0"/>
              <a:t>Making</a:t>
            </a:r>
          </a:p>
        </p:txBody>
      </p:sp>
      <p:sp>
        <p:nvSpPr>
          <p:cNvPr id="3" name="object 3"/>
          <p:cNvSpPr txBox="1"/>
          <p:nvPr/>
        </p:nvSpPr>
        <p:spPr>
          <a:xfrm>
            <a:off x="536244" y="1332356"/>
            <a:ext cx="8074659" cy="4659630"/>
          </a:xfrm>
          <a:prstGeom prst="rect">
            <a:avLst/>
          </a:prstGeom>
        </p:spPr>
        <p:txBody>
          <a:bodyPr vert="horz" wrap="square" lIns="0" tIns="60325" rIns="0" bIns="0" rtlCol="0">
            <a:spAutoFit/>
          </a:bodyPr>
          <a:lstStyle/>
          <a:p>
            <a:pPr marL="356870" marR="5080" indent="-344805" algn="just">
              <a:lnSpc>
                <a:spcPct val="90000"/>
              </a:lnSpc>
              <a:spcBef>
                <a:spcPts val="475"/>
              </a:spcBef>
              <a:buFont typeface="Arial MT"/>
              <a:buChar char="•"/>
              <a:tabLst>
                <a:tab pos="357505" algn="l"/>
              </a:tabLst>
            </a:pPr>
            <a:r>
              <a:rPr sz="3200" dirty="0">
                <a:latin typeface="Calibri"/>
                <a:cs typeface="Calibri"/>
              </a:rPr>
              <a:t>The</a:t>
            </a:r>
            <a:r>
              <a:rPr sz="3200" spc="170" dirty="0">
                <a:latin typeface="Calibri"/>
                <a:cs typeface="Calibri"/>
              </a:rPr>
              <a:t> </a:t>
            </a:r>
            <a:r>
              <a:rPr sz="3200" dirty="0">
                <a:latin typeface="Calibri"/>
                <a:cs typeface="Calibri"/>
              </a:rPr>
              <a:t>word</a:t>
            </a:r>
            <a:r>
              <a:rPr sz="3200" spc="180" dirty="0">
                <a:latin typeface="Calibri"/>
                <a:cs typeface="Calibri"/>
              </a:rPr>
              <a:t> </a:t>
            </a:r>
            <a:r>
              <a:rPr sz="3200" dirty="0">
                <a:latin typeface="Calibri"/>
                <a:cs typeface="Calibri"/>
              </a:rPr>
              <a:t>decision</a:t>
            </a:r>
            <a:r>
              <a:rPr sz="3200" spc="204" dirty="0">
                <a:latin typeface="Calibri"/>
                <a:cs typeface="Calibri"/>
              </a:rPr>
              <a:t> </a:t>
            </a:r>
            <a:r>
              <a:rPr sz="3200" dirty="0">
                <a:latin typeface="Calibri"/>
                <a:cs typeface="Calibri"/>
              </a:rPr>
              <a:t>has</a:t>
            </a:r>
            <a:r>
              <a:rPr sz="3200" spc="175" dirty="0">
                <a:latin typeface="Calibri"/>
                <a:cs typeface="Calibri"/>
              </a:rPr>
              <a:t> </a:t>
            </a:r>
            <a:r>
              <a:rPr sz="3200" dirty="0">
                <a:latin typeface="Calibri"/>
                <a:cs typeface="Calibri"/>
              </a:rPr>
              <a:t>been</a:t>
            </a:r>
            <a:r>
              <a:rPr sz="3200" spc="170" dirty="0">
                <a:latin typeface="Calibri"/>
                <a:cs typeface="Calibri"/>
              </a:rPr>
              <a:t> </a:t>
            </a:r>
            <a:r>
              <a:rPr sz="3200" dirty="0">
                <a:latin typeface="Calibri"/>
                <a:cs typeface="Calibri"/>
              </a:rPr>
              <a:t>derived</a:t>
            </a:r>
            <a:r>
              <a:rPr sz="3200" spc="200" dirty="0">
                <a:latin typeface="Calibri"/>
                <a:cs typeface="Calibri"/>
              </a:rPr>
              <a:t> </a:t>
            </a:r>
            <a:r>
              <a:rPr sz="3200" dirty="0">
                <a:latin typeface="Calibri"/>
                <a:cs typeface="Calibri"/>
              </a:rPr>
              <a:t>from</a:t>
            </a:r>
            <a:r>
              <a:rPr sz="3200" spc="165" dirty="0">
                <a:latin typeface="Calibri"/>
                <a:cs typeface="Calibri"/>
              </a:rPr>
              <a:t> </a:t>
            </a:r>
            <a:r>
              <a:rPr sz="3200" spc="-25" dirty="0">
                <a:latin typeface="Calibri"/>
                <a:cs typeface="Calibri"/>
              </a:rPr>
              <a:t>the </a:t>
            </a:r>
            <a:r>
              <a:rPr sz="3200" dirty="0">
                <a:latin typeface="Calibri"/>
                <a:cs typeface="Calibri"/>
              </a:rPr>
              <a:t>Latin</a:t>
            </a:r>
            <a:r>
              <a:rPr sz="3200" spc="570" dirty="0">
                <a:latin typeface="Calibri"/>
                <a:cs typeface="Calibri"/>
              </a:rPr>
              <a:t> </a:t>
            </a:r>
            <a:r>
              <a:rPr sz="3200" dirty="0">
                <a:latin typeface="Calibri"/>
                <a:cs typeface="Calibri"/>
              </a:rPr>
              <a:t>word</a:t>
            </a:r>
            <a:r>
              <a:rPr sz="3200" spc="585" dirty="0">
                <a:latin typeface="Calibri"/>
                <a:cs typeface="Calibri"/>
              </a:rPr>
              <a:t> </a:t>
            </a:r>
            <a:r>
              <a:rPr sz="3200" dirty="0">
                <a:latin typeface="Calibri"/>
                <a:cs typeface="Calibri"/>
              </a:rPr>
              <a:t>"decidere"</a:t>
            </a:r>
            <a:r>
              <a:rPr sz="3200" spc="545" dirty="0">
                <a:latin typeface="Calibri"/>
                <a:cs typeface="Calibri"/>
              </a:rPr>
              <a:t> </a:t>
            </a:r>
            <a:r>
              <a:rPr sz="3200" dirty="0">
                <a:latin typeface="Calibri"/>
                <a:cs typeface="Calibri"/>
              </a:rPr>
              <a:t>which</a:t>
            </a:r>
            <a:r>
              <a:rPr sz="3200" spc="585" dirty="0">
                <a:latin typeface="Calibri"/>
                <a:cs typeface="Calibri"/>
              </a:rPr>
              <a:t> </a:t>
            </a:r>
            <a:r>
              <a:rPr sz="3200" dirty="0">
                <a:latin typeface="Calibri"/>
                <a:cs typeface="Calibri"/>
              </a:rPr>
              <a:t>means</a:t>
            </a:r>
            <a:r>
              <a:rPr sz="3200" spc="560" dirty="0">
                <a:latin typeface="Calibri"/>
                <a:cs typeface="Calibri"/>
              </a:rPr>
              <a:t> </a:t>
            </a:r>
            <a:r>
              <a:rPr sz="3200" spc="-10" dirty="0">
                <a:latin typeface="Calibri"/>
                <a:cs typeface="Calibri"/>
              </a:rPr>
              <a:t>"cutting </a:t>
            </a:r>
            <a:r>
              <a:rPr sz="3200" dirty="0">
                <a:latin typeface="Calibri"/>
                <a:cs typeface="Calibri"/>
              </a:rPr>
              <a:t>off".</a:t>
            </a:r>
            <a:r>
              <a:rPr sz="3200" spc="170" dirty="0">
                <a:latin typeface="Calibri"/>
                <a:cs typeface="Calibri"/>
              </a:rPr>
              <a:t>  </a:t>
            </a:r>
            <a:r>
              <a:rPr sz="3200" dirty="0">
                <a:latin typeface="Calibri"/>
                <a:cs typeface="Calibri"/>
              </a:rPr>
              <a:t>Thus,</a:t>
            </a:r>
            <a:r>
              <a:rPr sz="3200" spc="180" dirty="0">
                <a:latin typeface="Calibri"/>
                <a:cs typeface="Calibri"/>
              </a:rPr>
              <a:t>  </a:t>
            </a:r>
            <a:r>
              <a:rPr sz="3200" dirty="0">
                <a:latin typeface="Calibri"/>
                <a:cs typeface="Calibri"/>
              </a:rPr>
              <a:t>decision</a:t>
            </a:r>
            <a:r>
              <a:rPr sz="3200" spc="165" dirty="0">
                <a:latin typeface="Calibri"/>
                <a:cs typeface="Calibri"/>
              </a:rPr>
              <a:t>  </a:t>
            </a:r>
            <a:r>
              <a:rPr sz="3200" dirty="0">
                <a:latin typeface="Calibri"/>
                <a:cs typeface="Calibri"/>
              </a:rPr>
              <a:t>involves</a:t>
            </a:r>
            <a:r>
              <a:rPr sz="3200" spc="180" dirty="0">
                <a:latin typeface="Calibri"/>
                <a:cs typeface="Calibri"/>
              </a:rPr>
              <a:t>  </a:t>
            </a:r>
            <a:r>
              <a:rPr sz="3200" dirty="0">
                <a:latin typeface="Calibri"/>
                <a:cs typeface="Calibri"/>
              </a:rPr>
              <a:t>cutting</a:t>
            </a:r>
            <a:r>
              <a:rPr sz="3200" spc="180" dirty="0">
                <a:latin typeface="Calibri"/>
                <a:cs typeface="Calibri"/>
              </a:rPr>
              <a:t>  </a:t>
            </a:r>
            <a:r>
              <a:rPr sz="3200" dirty="0">
                <a:latin typeface="Calibri"/>
                <a:cs typeface="Calibri"/>
              </a:rPr>
              <a:t>off</a:t>
            </a:r>
            <a:r>
              <a:rPr sz="3200" spc="175" dirty="0">
                <a:latin typeface="Calibri"/>
                <a:cs typeface="Calibri"/>
              </a:rPr>
              <a:t>  </a:t>
            </a:r>
            <a:r>
              <a:rPr sz="3200" spc="-25" dirty="0">
                <a:latin typeface="Calibri"/>
                <a:cs typeface="Calibri"/>
              </a:rPr>
              <a:t>of </a:t>
            </a:r>
            <a:r>
              <a:rPr sz="3200" dirty="0">
                <a:latin typeface="Calibri"/>
                <a:cs typeface="Calibri"/>
              </a:rPr>
              <a:t>alternatives</a:t>
            </a:r>
            <a:r>
              <a:rPr sz="3200" spc="204" dirty="0">
                <a:latin typeface="Calibri"/>
                <a:cs typeface="Calibri"/>
              </a:rPr>
              <a:t> </a:t>
            </a:r>
            <a:r>
              <a:rPr sz="3200" dirty="0">
                <a:latin typeface="Calibri"/>
                <a:cs typeface="Calibri"/>
              </a:rPr>
              <a:t>between</a:t>
            </a:r>
            <a:r>
              <a:rPr sz="3200" spc="190" dirty="0">
                <a:latin typeface="Calibri"/>
                <a:cs typeface="Calibri"/>
              </a:rPr>
              <a:t> </a:t>
            </a:r>
            <a:r>
              <a:rPr sz="3200" dirty="0">
                <a:latin typeface="Calibri"/>
                <a:cs typeface="Calibri"/>
              </a:rPr>
              <a:t>those</a:t>
            </a:r>
            <a:r>
              <a:rPr sz="3200" spc="200" dirty="0">
                <a:latin typeface="Calibri"/>
                <a:cs typeface="Calibri"/>
              </a:rPr>
              <a:t> </a:t>
            </a:r>
            <a:r>
              <a:rPr sz="3200" dirty="0">
                <a:latin typeface="Calibri"/>
                <a:cs typeface="Calibri"/>
              </a:rPr>
              <a:t>that</a:t>
            </a:r>
            <a:r>
              <a:rPr sz="3200" spc="220" dirty="0">
                <a:latin typeface="Calibri"/>
                <a:cs typeface="Calibri"/>
              </a:rPr>
              <a:t> </a:t>
            </a:r>
            <a:r>
              <a:rPr sz="3200" dirty="0">
                <a:latin typeface="Calibri"/>
                <a:cs typeface="Calibri"/>
              </a:rPr>
              <a:t>are</a:t>
            </a:r>
            <a:r>
              <a:rPr sz="3200" spc="235" dirty="0">
                <a:latin typeface="Calibri"/>
                <a:cs typeface="Calibri"/>
              </a:rPr>
              <a:t> </a:t>
            </a:r>
            <a:r>
              <a:rPr sz="3200" spc="-10" dirty="0">
                <a:latin typeface="Calibri"/>
                <a:cs typeface="Calibri"/>
              </a:rPr>
              <a:t>desirable </a:t>
            </a:r>
            <a:r>
              <a:rPr sz="3200" dirty="0">
                <a:latin typeface="Calibri"/>
                <a:cs typeface="Calibri"/>
              </a:rPr>
              <a:t>and</a:t>
            </a:r>
            <a:r>
              <a:rPr sz="3200" spc="114" dirty="0">
                <a:latin typeface="Calibri"/>
                <a:cs typeface="Calibri"/>
              </a:rPr>
              <a:t> </a:t>
            </a:r>
            <a:r>
              <a:rPr sz="3200" dirty="0">
                <a:latin typeface="Calibri"/>
                <a:cs typeface="Calibri"/>
              </a:rPr>
              <a:t>those</a:t>
            </a:r>
            <a:r>
              <a:rPr sz="3200" spc="100" dirty="0">
                <a:latin typeface="Calibri"/>
                <a:cs typeface="Calibri"/>
              </a:rPr>
              <a:t> </a:t>
            </a:r>
            <a:r>
              <a:rPr sz="3200" dirty="0">
                <a:latin typeface="Calibri"/>
                <a:cs typeface="Calibri"/>
              </a:rPr>
              <a:t>that</a:t>
            </a:r>
            <a:r>
              <a:rPr sz="3200" spc="125" dirty="0">
                <a:latin typeface="Calibri"/>
                <a:cs typeface="Calibri"/>
              </a:rPr>
              <a:t> </a:t>
            </a:r>
            <a:r>
              <a:rPr sz="3200" dirty="0">
                <a:latin typeface="Calibri"/>
                <a:cs typeface="Calibri"/>
              </a:rPr>
              <a:t>are</a:t>
            </a:r>
            <a:r>
              <a:rPr sz="3200" spc="125" dirty="0">
                <a:latin typeface="Calibri"/>
                <a:cs typeface="Calibri"/>
              </a:rPr>
              <a:t> </a:t>
            </a:r>
            <a:r>
              <a:rPr sz="3200" dirty="0">
                <a:latin typeface="Calibri"/>
                <a:cs typeface="Calibri"/>
              </a:rPr>
              <a:t>not</a:t>
            </a:r>
            <a:r>
              <a:rPr sz="3200" spc="110" dirty="0">
                <a:latin typeface="Calibri"/>
                <a:cs typeface="Calibri"/>
              </a:rPr>
              <a:t> </a:t>
            </a:r>
            <a:r>
              <a:rPr sz="3200" dirty="0">
                <a:latin typeface="Calibri"/>
                <a:cs typeface="Calibri"/>
              </a:rPr>
              <a:t>desirable.</a:t>
            </a:r>
            <a:r>
              <a:rPr sz="3200" spc="110" dirty="0">
                <a:latin typeface="Calibri"/>
                <a:cs typeface="Calibri"/>
              </a:rPr>
              <a:t> </a:t>
            </a:r>
            <a:r>
              <a:rPr sz="3200" dirty="0">
                <a:latin typeface="Calibri"/>
                <a:cs typeface="Calibri"/>
              </a:rPr>
              <a:t>Decision</a:t>
            </a:r>
            <a:r>
              <a:rPr sz="3200" spc="100" dirty="0">
                <a:latin typeface="Calibri"/>
                <a:cs typeface="Calibri"/>
              </a:rPr>
              <a:t> </a:t>
            </a:r>
            <a:r>
              <a:rPr sz="3200" dirty="0">
                <a:latin typeface="Calibri"/>
                <a:cs typeface="Calibri"/>
              </a:rPr>
              <a:t>is</a:t>
            </a:r>
            <a:r>
              <a:rPr sz="3200" spc="105" dirty="0">
                <a:latin typeface="Calibri"/>
                <a:cs typeface="Calibri"/>
              </a:rPr>
              <a:t> </a:t>
            </a:r>
            <a:r>
              <a:rPr sz="3200" spc="-50" dirty="0">
                <a:latin typeface="Calibri"/>
                <a:cs typeface="Calibri"/>
              </a:rPr>
              <a:t>a </a:t>
            </a:r>
            <a:r>
              <a:rPr sz="3200" dirty="0">
                <a:latin typeface="Calibri"/>
                <a:cs typeface="Calibri"/>
              </a:rPr>
              <a:t>kind</a:t>
            </a:r>
            <a:r>
              <a:rPr sz="3200" spc="-50" dirty="0">
                <a:latin typeface="Calibri"/>
                <a:cs typeface="Calibri"/>
              </a:rPr>
              <a:t> </a:t>
            </a:r>
            <a:r>
              <a:rPr sz="3200" dirty="0">
                <a:latin typeface="Calibri"/>
                <a:cs typeface="Calibri"/>
              </a:rPr>
              <a:t>of</a:t>
            </a:r>
            <a:r>
              <a:rPr sz="3200" spc="-65" dirty="0">
                <a:latin typeface="Calibri"/>
                <a:cs typeface="Calibri"/>
              </a:rPr>
              <a:t> </a:t>
            </a:r>
            <a:r>
              <a:rPr sz="3200" dirty="0">
                <a:latin typeface="Calibri"/>
                <a:cs typeface="Calibri"/>
              </a:rPr>
              <a:t>choice</a:t>
            </a:r>
            <a:r>
              <a:rPr sz="3200" spc="-70" dirty="0">
                <a:latin typeface="Calibri"/>
                <a:cs typeface="Calibri"/>
              </a:rPr>
              <a:t> </a:t>
            </a:r>
            <a:r>
              <a:rPr sz="3200" dirty="0">
                <a:latin typeface="Calibri"/>
                <a:cs typeface="Calibri"/>
              </a:rPr>
              <a:t>of</a:t>
            </a:r>
            <a:r>
              <a:rPr sz="3200" spc="-65" dirty="0">
                <a:latin typeface="Calibri"/>
                <a:cs typeface="Calibri"/>
              </a:rPr>
              <a:t> </a:t>
            </a:r>
            <a:r>
              <a:rPr sz="3200" dirty="0">
                <a:latin typeface="Calibri"/>
                <a:cs typeface="Calibri"/>
              </a:rPr>
              <a:t>a</a:t>
            </a:r>
            <a:r>
              <a:rPr sz="3200" spc="-45" dirty="0">
                <a:latin typeface="Calibri"/>
                <a:cs typeface="Calibri"/>
              </a:rPr>
              <a:t> </a:t>
            </a:r>
            <a:r>
              <a:rPr sz="3200" dirty="0">
                <a:latin typeface="Calibri"/>
                <a:cs typeface="Calibri"/>
              </a:rPr>
              <a:t>desirable</a:t>
            </a:r>
            <a:r>
              <a:rPr sz="3200" spc="-55" dirty="0">
                <a:latin typeface="Calibri"/>
                <a:cs typeface="Calibri"/>
              </a:rPr>
              <a:t> </a:t>
            </a:r>
            <a:r>
              <a:rPr sz="3200" spc="-10" dirty="0">
                <a:latin typeface="Calibri"/>
                <a:cs typeface="Calibri"/>
              </a:rPr>
              <a:t>alternative.</a:t>
            </a:r>
            <a:endParaRPr sz="3200">
              <a:latin typeface="Calibri"/>
              <a:cs typeface="Calibri"/>
            </a:endParaRPr>
          </a:p>
          <a:p>
            <a:pPr>
              <a:lnSpc>
                <a:spcPct val="100000"/>
              </a:lnSpc>
              <a:spcBef>
                <a:spcPts val="50"/>
              </a:spcBef>
              <a:buFont typeface="Arial MT"/>
              <a:buChar char="•"/>
            </a:pPr>
            <a:endParaRPr sz="4050">
              <a:latin typeface="Calibri"/>
              <a:cs typeface="Calibri"/>
            </a:endParaRPr>
          </a:p>
          <a:p>
            <a:pPr marL="356870" marR="5080" indent="-344805" algn="just">
              <a:lnSpc>
                <a:spcPct val="90000"/>
              </a:lnSpc>
              <a:spcBef>
                <a:spcPts val="5"/>
              </a:spcBef>
              <a:buFont typeface="Arial MT"/>
              <a:buChar char="•"/>
              <a:tabLst>
                <a:tab pos="357505" algn="l"/>
              </a:tabLst>
            </a:pPr>
            <a:r>
              <a:rPr sz="3200" dirty="0">
                <a:latin typeface="Calibri"/>
                <a:cs typeface="Calibri"/>
              </a:rPr>
              <a:t>In</a:t>
            </a:r>
            <a:r>
              <a:rPr sz="3200" spc="665" dirty="0">
                <a:latin typeface="Calibri"/>
                <a:cs typeface="Calibri"/>
              </a:rPr>
              <a:t> </a:t>
            </a:r>
            <a:r>
              <a:rPr sz="3200" dirty="0">
                <a:latin typeface="Calibri"/>
                <a:cs typeface="Calibri"/>
              </a:rPr>
              <a:t>the</a:t>
            </a:r>
            <a:r>
              <a:rPr sz="3200" spc="670" dirty="0">
                <a:latin typeface="Calibri"/>
                <a:cs typeface="Calibri"/>
              </a:rPr>
              <a:t> </a:t>
            </a:r>
            <a:r>
              <a:rPr sz="3200" dirty="0">
                <a:latin typeface="Calibri"/>
                <a:cs typeface="Calibri"/>
              </a:rPr>
              <a:t>words</a:t>
            </a:r>
            <a:r>
              <a:rPr sz="3200" spc="670" dirty="0">
                <a:latin typeface="Calibri"/>
                <a:cs typeface="Calibri"/>
              </a:rPr>
              <a:t> </a:t>
            </a:r>
            <a:r>
              <a:rPr sz="3200" dirty="0">
                <a:latin typeface="Calibri"/>
                <a:cs typeface="Calibri"/>
              </a:rPr>
              <a:t>of</a:t>
            </a:r>
            <a:r>
              <a:rPr sz="3200" spc="695" dirty="0">
                <a:latin typeface="Calibri"/>
                <a:cs typeface="Calibri"/>
              </a:rPr>
              <a:t> </a:t>
            </a:r>
            <a:r>
              <a:rPr sz="3200" dirty="0">
                <a:latin typeface="Calibri"/>
                <a:cs typeface="Calibri"/>
              </a:rPr>
              <a:t>George</a:t>
            </a:r>
            <a:r>
              <a:rPr sz="3200" spc="680" dirty="0">
                <a:latin typeface="Calibri"/>
                <a:cs typeface="Calibri"/>
              </a:rPr>
              <a:t> </a:t>
            </a:r>
            <a:r>
              <a:rPr sz="3200" dirty="0">
                <a:latin typeface="Calibri"/>
                <a:cs typeface="Calibri"/>
              </a:rPr>
              <a:t>R.</a:t>
            </a:r>
            <a:r>
              <a:rPr sz="3200" spc="680" dirty="0">
                <a:latin typeface="Calibri"/>
                <a:cs typeface="Calibri"/>
              </a:rPr>
              <a:t> </a:t>
            </a:r>
            <a:r>
              <a:rPr sz="3200" dirty="0">
                <a:latin typeface="Calibri"/>
                <a:cs typeface="Calibri"/>
              </a:rPr>
              <a:t>Terry,</a:t>
            </a:r>
            <a:r>
              <a:rPr sz="3200" spc="690" dirty="0">
                <a:latin typeface="Calibri"/>
                <a:cs typeface="Calibri"/>
              </a:rPr>
              <a:t> </a:t>
            </a:r>
            <a:r>
              <a:rPr sz="3200" spc="-10" dirty="0">
                <a:latin typeface="Calibri"/>
                <a:cs typeface="Calibri"/>
              </a:rPr>
              <a:t>"Decision- </a:t>
            </a:r>
            <a:r>
              <a:rPr sz="3200" dirty="0">
                <a:latin typeface="Calibri"/>
                <a:cs typeface="Calibri"/>
              </a:rPr>
              <a:t>making</a:t>
            </a:r>
            <a:r>
              <a:rPr sz="3200" spc="40" dirty="0">
                <a:latin typeface="Calibri"/>
                <a:cs typeface="Calibri"/>
              </a:rPr>
              <a:t> </a:t>
            </a:r>
            <a:r>
              <a:rPr sz="3200" dirty="0">
                <a:latin typeface="Calibri"/>
                <a:cs typeface="Calibri"/>
              </a:rPr>
              <a:t>is</a:t>
            </a:r>
            <a:r>
              <a:rPr sz="3200" spc="30" dirty="0">
                <a:latin typeface="Calibri"/>
                <a:cs typeface="Calibri"/>
              </a:rPr>
              <a:t> </a:t>
            </a:r>
            <a:r>
              <a:rPr sz="3200" dirty="0">
                <a:latin typeface="Calibri"/>
                <a:cs typeface="Calibri"/>
              </a:rPr>
              <a:t>the</a:t>
            </a:r>
            <a:r>
              <a:rPr sz="3200" spc="35" dirty="0">
                <a:latin typeface="Calibri"/>
                <a:cs typeface="Calibri"/>
              </a:rPr>
              <a:t> </a:t>
            </a:r>
            <a:r>
              <a:rPr sz="3200" dirty="0">
                <a:latin typeface="Calibri"/>
                <a:cs typeface="Calibri"/>
              </a:rPr>
              <a:t>selection</a:t>
            </a:r>
            <a:r>
              <a:rPr sz="3200" spc="35" dirty="0">
                <a:latin typeface="Calibri"/>
                <a:cs typeface="Calibri"/>
              </a:rPr>
              <a:t> </a:t>
            </a:r>
            <a:r>
              <a:rPr sz="3200" dirty="0">
                <a:latin typeface="Calibri"/>
                <a:cs typeface="Calibri"/>
              </a:rPr>
              <a:t>based</a:t>
            </a:r>
            <a:r>
              <a:rPr sz="3200" spc="30" dirty="0">
                <a:latin typeface="Calibri"/>
                <a:cs typeface="Calibri"/>
              </a:rPr>
              <a:t> </a:t>
            </a:r>
            <a:r>
              <a:rPr sz="3200" dirty="0">
                <a:latin typeface="Calibri"/>
                <a:cs typeface="Calibri"/>
              </a:rPr>
              <a:t>on</a:t>
            </a:r>
            <a:r>
              <a:rPr sz="3200" spc="30" dirty="0">
                <a:latin typeface="Calibri"/>
                <a:cs typeface="Calibri"/>
              </a:rPr>
              <a:t> </a:t>
            </a:r>
            <a:r>
              <a:rPr sz="3200" dirty="0">
                <a:latin typeface="Calibri"/>
                <a:cs typeface="Calibri"/>
              </a:rPr>
              <a:t>some</a:t>
            </a:r>
            <a:r>
              <a:rPr sz="3200" spc="20" dirty="0">
                <a:latin typeface="Calibri"/>
                <a:cs typeface="Calibri"/>
              </a:rPr>
              <a:t> </a:t>
            </a:r>
            <a:r>
              <a:rPr sz="3200" spc="-10" dirty="0">
                <a:latin typeface="Calibri"/>
                <a:cs typeface="Calibri"/>
              </a:rPr>
              <a:t>criteria </a:t>
            </a:r>
            <a:r>
              <a:rPr sz="3200" dirty="0">
                <a:latin typeface="Calibri"/>
                <a:cs typeface="Calibri"/>
              </a:rPr>
              <a:t>from</a:t>
            </a:r>
            <a:r>
              <a:rPr sz="3200" spc="-90" dirty="0">
                <a:latin typeface="Calibri"/>
                <a:cs typeface="Calibri"/>
              </a:rPr>
              <a:t> </a:t>
            </a:r>
            <a:r>
              <a:rPr sz="3200" dirty="0">
                <a:latin typeface="Calibri"/>
                <a:cs typeface="Calibri"/>
              </a:rPr>
              <a:t>two</a:t>
            </a:r>
            <a:r>
              <a:rPr sz="3200" spc="-75" dirty="0">
                <a:latin typeface="Calibri"/>
                <a:cs typeface="Calibri"/>
              </a:rPr>
              <a:t> </a:t>
            </a:r>
            <a:r>
              <a:rPr sz="3200" dirty="0">
                <a:latin typeface="Calibri"/>
                <a:cs typeface="Calibri"/>
              </a:rPr>
              <a:t>or</a:t>
            </a:r>
            <a:r>
              <a:rPr sz="3200" spc="-105" dirty="0">
                <a:latin typeface="Calibri"/>
                <a:cs typeface="Calibri"/>
              </a:rPr>
              <a:t> </a:t>
            </a:r>
            <a:r>
              <a:rPr sz="3200" dirty="0">
                <a:latin typeface="Calibri"/>
                <a:cs typeface="Calibri"/>
              </a:rPr>
              <a:t>more</a:t>
            </a:r>
            <a:r>
              <a:rPr sz="3200" spc="-65" dirty="0">
                <a:latin typeface="Calibri"/>
                <a:cs typeface="Calibri"/>
              </a:rPr>
              <a:t> </a:t>
            </a:r>
            <a:r>
              <a:rPr sz="3200" dirty="0">
                <a:latin typeface="Calibri"/>
                <a:cs typeface="Calibri"/>
              </a:rPr>
              <a:t>possible</a:t>
            </a:r>
            <a:r>
              <a:rPr sz="3200" spc="-85" dirty="0">
                <a:latin typeface="Calibri"/>
                <a:cs typeface="Calibri"/>
              </a:rPr>
              <a:t> </a:t>
            </a:r>
            <a:r>
              <a:rPr sz="3200" spc="-10" dirty="0">
                <a:latin typeface="Calibri"/>
                <a:cs typeface="Calibri"/>
              </a:rPr>
              <a:t>alternatives".</a:t>
            </a:r>
            <a:endParaRPr sz="3200">
              <a:latin typeface="Calibri"/>
              <a:cs typeface="Calibri"/>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67385"/>
            <a:ext cx="8305165" cy="989372"/>
          </a:xfrm>
          <a:prstGeom prst="rect">
            <a:avLst/>
          </a:prstGeom>
        </p:spPr>
        <p:txBody>
          <a:bodyPr vert="horz" wrap="square" lIns="0" tIns="309244" rIns="0" bIns="0" rtlCol="0">
            <a:spAutoFit/>
          </a:bodyPr>
          <a:lstStyle/>
          <a:p>
            <a:pPr marL="1388110">
              <a:lnSpc>
                <a:spcPct val="100000"/>
              </a:lnSpc>
              <a:spcBef>
                <a:spcPts val="90"/>
              </a:spcBef>
            </a:pPr>
            <a:r>
              <a:rPr b="1" spc="-25" dirty="0"/>
              <a:t>Decision-</a:t>
            </a:r>
            <a:r>
              <a:rPr b="1" dirty="0"/>
              <a:t>making</a:t>
            </a:r>
            <a:r>
              <a:rPr b="1" spc="-10" dirty="0"/>
              <a:t> Process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40" y="1752600"/>
            <a:ext cx="8266937" cy="388620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677108"/>
          </a:xfrm>
        </p:spPr>
        <p:txBody>
          <a:bodyPr/>
          <a:lstStyle/>
          <a:p>
            <a:pPr algn="ctr"/>
            <a:r>
              <a:rPr lang="en-IN" b="1" spc="-25" dirty="0"/>
              <a:t>Decision-</a:t>
            </a:r>
            <a:r>
              <a:rPr lang="en-IN" b="1" dirty="0"/>
              <a:t>making</a:t>
            </a:r>
            <a:r>
              <a:rPr lang="en-IN" b="1" spc="-10" dirty="0"/>
              <a:t> Process</a:t>
            </a:r>
            <a:endParaRPr lang="en-IN" dirty="0"/>
          </a:p>
        </p:txBody>
      </p:sp>
      <p:sp>
        <p:nvSpPr>
          <p:cNvPr id="3" name="Text Placeholder 2"/>
          <p:cNvSpPr>
            <a:spLocks noGrp="1"/>
          </p:cNvSpPr>
          <p:nvPr>
            <p:ph type="body" idx="1"/>
          </p:nvPr>
        </p:nvSpPr>
        <p:spPr>
          <a:xfrm>
            <a:off x="538378" y="1143000"/>
            <a:ext cx="8086699" cy="5647700"/>
          </a:xfrm>
        </p:spPr>
        <p:txBody>
          <a:bodyPr/>
          <a:lstStyle/>
          <a:p>
            <a:pPr marL="514350" indent="-514350" algn="just">
              <a:buFont typeface="Wingdings" panose="05000000000000000000" pitchFamily="2" charset="2"/>
              <a:buChar char="v"/>
            </a:pPr>
            <a:r>
              <a:rPr lang="en-IN" sz="2800" b="1" dirty="0" smtClean="0"/>
              <a:t>Recognising Problems:</a:t>
            </a:r>
          </a:p>
          <a:p>
            <a:pPr algn="just"/>
            <a:r>
              <a:rPr lang="en-IN" sz="2400" dirty="0" smtClean="0"/>
              <a:t>First of all it is necessary to search the environment for the existence of the problem. A problem exists:</a:t>
            </a:r>
          </a:p>
          <a:p>
            <a:pPr marL="514350" indent="-514350" algn="just">
              <a:buFont typeface="+mj-lt"/>
              <a:buAutoNum type="alphaLcParenR"/>
            </a:pPr>
            <a:r>
              <a:rPr lang="en-IN" sz="2400" dirty="0" smtClean="0"/>
              <a:t>When there is a deviation from past experience</a:t>
            </a:r>
          </a:p>
          <a:p>
            <a:pPr marL="514350" indent="-514350" algn="just">
              <a:buFont typeface="+mj-lt"/>
              <a:buAutoNum type="alphaLcParenR"/>
            </a:pPr>
            <a:r>
              <a:rPr lang="en-IN" sz="2400" dirty="0"/>
              <a:t>When there is a deviation from </a:t>
            </a:r>
            <a:r>
              <a:rPr lang="en-IN" sz="2400" dirty="0" smtClean="0"/>
              <a:t>the plan</a:t>
            </a:r>
            <a:endParaRPr lang="en-IN" sz="2400" dirty="0"/>
          </a:p>
          <a:p>
            <a:pPr marL="514350" indent="-514350" algn="just">
              <a:buFont typeface="+mj-lt"/>
              <a:buAutoNum type="alphaLcParenR"/>
            </a:pPr>
            <a:r>
              <a:rPr lang="en-IN" sz="2400" dirty="0" smtClean="0"/>
              <a:t>When other people bring problems to the managers</a:t>
            </a:r>
          </a:p>
          <a:p>
            <a:pPr marL="514350" indent="-514350" algn="just">
              <a:buFont typeface="+mj-lt"/>
              <a:buAutoNum type="alphaLcParenR"/>
            </a:pPr>
            <a:r>
              <a:rPr lang="en-IN" sz="2400" dirty="0" smtClean="0"/>
              <a:t>When competitors outperforms the organization</a:t>
            </a:r>
          </a:p>
          <a:p>
            <a:pPr marL="514350" indent="-514350" algn="just">
              <a:buFont typeface="+mj-lt"/>
              <a:buAutoNum type="alphaLcParenR"/>
            </a:pPr>
            <a:endParaRPr lang="en-IN" sz="2400" dirty="0"/>
          </a:p>
          <a:p>
            <a:pPr marL="457200" indent="-457200" algn="just">
              <a:buFont typeface="Wingdings" panose="05000000000000000000" pitchFamily="2" charset="2"/>
              <a:buChar char="v"/>
            </a:pPr>
            <a:r>
              <a:rPr lang="en-IN" sz="2800" b="1" dirty="0" smtClean="0"/>
              <a:t>Deciding Priorities among Problems</a:t>
            </a:r>
          </a:p>
          <a:p>
            <a:pPr algn="just"/>
            <a:r>
              <a:rPr lang="en-IN" sz="2400" dirty="0" smtClean="0"/>
              <a:t>A manager should not allow himself/herself allow to be bogged down by all sorts of problems. Some problems which can be solved by subordinates can be transferred to them, some may need to be referred upward because they affect other departments or need higher information. Some problems may be deferred because it may not be the best time to act.	</a:t>
            </a:r>
            <a:endParaRPr lang="en-IN" sz="2400" dirty="0"/>
          </a:p>
        </p:txBody>
      </p:sp>
    </p:spTree>
    <p:extLst>
      <p:ext uri="{BB962C8B-B14F-4D97-AF65-F5344CB8AC3E}">
        <p14:creationId xmlns:p14="http://schemas.microsoft.com/office/powerpoint/2010/main" val="23766982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677108"/>
          </a:xfrm>
        </p:spPr>
        <p:txBody>
          <a:bodyPr/>
          <a:lstStyle/>
          <a:p>
            <a:pPr algn="ctr"/>
            <a:r>
              <a:rPr lang="en-IN" b="1" spc="-25" dirty="0"/>
              <a:t>Decision-</a:t>
            </a:r>
            <a:r>
              <a:rPr lang="en-IN" b="1" dirty="0"/>
              <a:t>making</a:t>
            </a:r>
            <a:r>
              <a:rPr lang="en-IN" b="1" spc="-10" dirty="0"/>
              <a:t> Process</a:t>
            </a:r>
            <a:endParaRPr lang="en-IN" dirty="0"/>
          </a:p>
        </p:txBody>
      </p:sp>
      <p:sp>
        <p:nvSpPr>
          <p:cNvPr id="3" name="Text Placeholder 2"/>
          <p:cNvSpPr>
            <a:spLocks noGrp="1"/>
          </p:cNvSpPr>
          <p:nvPr>
            <p:ph type="body" idx="1"/>
          </p:nvPr>
        </p:nvSpPr>
        <p:spPr>
          <a:xfrm>
            <a:off x="538378" y="1143000"/>
            <a:ext cx="8086699" cy="5293757"/>
          </a:xfrm>
        </p:spPr>
        <p:txBody>
          <a:bodyPr/>
          <a:lstStyle/>
          <a:p>
            <a:pPr marL="514350" indent="-514350" algn="just">
              <a:buFont typeface="Wingdings" panose="05000000000000000000" pitchFamily="2" charset="2"/>
              <a:buChar char="v"/>
            </a:pPr>
            <a:r>
              <a:rPr lang="en-IN" sz="2800" b="1" dirty="0" smtClean="0"/>
              <a:t>Diagnosing the Problem:</a:t>
            </a:r>
          </a:p>
          <a:p>
            <a:pPr algn="just"/>
            <a:r>
              <a:rPr lang="en-GB" sz="2400" dirty="0"/>
              <a:t>Identifying problems </a:t>
            </a:r>
            <a:r>
              <a:rPr lang="en-GB" sz="2400" dirty="0" smtClean="0"/>
              <a:t>is important . .and challenging</a:t>
            </a:r>
            <a:r>
              <a:rPr lang="en-GB" sz="2400" dirty="0"/>
              <a:t>. </a:t>
            </a:r>
            <a:r>
              <a:rPr lang="en-GB" sz="2400" dirty="0" smtClean="0"/>
              <a:t>In the </a:t>
            </a:r>
            <a:r>
              <a:rPr lang="en-GB" sz="2400" dirty="0"/>
              <a:t>real world, most </a:t>
            </a:r>
            <a:r>
              <a:rPr lang="en-GB" sz="2400" dirty="0" smtClean="0"/>
              <a:t>problems don’t </a:t>
            </a:r>
            <a:r>
              <a:rPr lang="en-GB" sz="2400" dirty="0"/>
              <a:t>come with neon signs identifying them as </a:t>
            </a:r>
            <a:r>
              <a:rPr lang="en-GB" sz="2400" dirty="0" smtClean="0"/>
              <a:t>such. And </a:t>
            </a:r>
            <a:r>
              <a:rPr lang="en-GB" sz="2400" dirty="0"/>
              <a:t>problem identification is subjective. A </a:t>
            </a:r>
            <a:r>
              <a:rPr lang="en-GB" sz="2400" dirty="0" smtClean="0"/>
              <a:t>manager who </a:t>
            </a:r>
            <a:r>
              <a:rPr lang="en-GB" sz="2400" dirty="0"/>
              <a:t>mistakenly solves the wrong problem perfectly </a:t>
            </a:r>
            <a:r>
              <a:rPr lang="en-GB" sz="2400" dirty="0" smtClean="0"/>
              <a:t>is just </a:t>
            </a:r>
            <a:r>
              <a:rPr lang="en-GB" sz="2400" dirty="0"/>
              <a:t>as likely to perform poorly as the manager who fails to identify the right problem and </a:t>
            </a:r>
            <a:r>
              <a:rPr lang="en-GB" sz="2400" dirty="0" smtClean="0"/>
              <a:t>does nothing</a:t>
            </a:r>
            <a:r>
              <a:rPr lang="en-GB" sz="2400" dirty="0"/>
              <a:t>. </a:t>
            </a:r>
            <a:endParaRPr lang="en-GB" sz="2400" dirty="0" smtClean="0"/>
          </a:p>
          <a:p>
            <a:pPr algn="just"/>
            <a:endParaRPr lang="en-GB" sz="2400" dirty="0"/>
          </a:p>
          <a:p>
            <a:pPr marL="342900" indent="-342900" algn="just">
              <a:buFont typeface="Wingdings" panose="05000000000000000000" pitchFamily="2" charset="2"/>
              <a:buChar char="v"/>
            </a:pPr>
            <a:r>
              <a:rPr lang="en-GB" sz="2800" b="1" dirty="0" smtClean="0"/>
              <a:t>Developing Alternative Solution or Course of Action</a:t>
            </a:r>
          </a:p>
          <a:p>
            <a:pPr algn="just"/>
            <a:r>
              <a:rPr lang="en-GB" sz="2400" dirty="0" smtClean="0"/>
              <a:t>Generally, for every problem there are alternative solutions. For instance, if a factory manager is considering to raise the production to meet increased demand, he can (</a:t>
            </a:r>
            <a:r>
              <a:rPr lang="en-GB" sz="2400" dirty="0" err="1" smtClean="0"/>
              <a:t>i</a:t>
            </a:r>
            <a:r>
              <a:rPr lang="en-GB" sz="2400" dirty="0" smtClean="0"/>
              <a:t>) build a new plant, or (ii) buy better equipment, or (iii) add extra shift, or (iv) authorise overtime.  </a:t>
            </a:r>
            <a:r>
              <a:rPr lang="en-IN" sz="2400" dirty="0" smtClean="0"/>
              <a:t>	</a:t>
            </a:r>
            <a:endParaRPr lang="en-IN" sz="2400" dirty="0"/>
          </a:p>
        </p:txBody>
      </p:sp>
    </p:spTree>
    <p:extLst>
      <p:ext uri="{BB962C8B-B14F-4D97-AF65-F5344CB8AC3E}">
        <p14:creationId xmlns:p14="http://schemas.microsoft.com/office/powerpoint/2010/main" val="12460285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677108"/>
          </a:xfrm>
        </p:spPr>
        <p:txBody>
          <a:bodyPr/>
          <a:lstStyle/>
          <a:p>
            <a:pPr algn="ctr"/>
            <a:r>
              <a:rPr lang="en-IN" b="1" spc="-25" dirty="0"/>
              <a:t>Decision-</a:t>
            </a:r>
            <a:r>
              <a:rPr lang="en-IN" b="1" dirty="0"/>
              <a:t>making</a:t>
            </a:r>
            <a:r>
              <a:rPr lang="en-IN" b="1" spc="-10" dirty="0"/>
              <a:t> Process</a:t>
            </a:r>
            <a:endParaRPr lang="en-IN" dirty="0"/>
          </a:p>
        </p:txBody>
      </p:sp>
      <p:sp>
        <p:nvSpPr>
          <p:cNvPr id="3" name="Text Placeholder 2"/>
          <p:cNvSpPr>
            <a:spLocks noGrp="1"/>
          </p:cNvSpPr>
          <p:nvPr>
            <p:ph type="body" idx="1"/>
          </p:nvPr>
        </p:nvSpPr>
        <p:spPr>
          <a:xfrm>
            <a:off x="538378" y="1143000"/>
            <a:ext cx="8086699" cy="5355312"/>
          </a:xfrm>
        </p:spPr>
        <p:txBody>
          <a:bodyPr/>
          <a:lstStyle/>
          <a:p>
            <a:pPr marL="514350" indent="-514350" algn="just">
              <a:buFont typeface="Wingdings" panose="05000000000000000000" pitchFamily="2" charset="2"/>
              <a:buChar char="v"/>
            </a:pPr>
            <a:r>
              <a:rPr lang="en-GB" sz="2800" b="1" dirty="0" smtClean="0"/>
              <a:t>Measuring and Comparing the Consequences of Alternative Solution</a:t>
            </a:r>
          </a:p>
          <a:p>
            <a:pPr algn="just"/>
            <a:r>
              <a:rPr lang="en-GB" sz="2400" dirty="0"/>
              <a:t>The next step in decision-making is to measure and compare the </a:t>
            </a:r>
            <a:r>
              <a:rPr lang="en-GB" sz="2400" dirty="0" smtClean="0"/>
              <a:t>consequences of alternative solution. This involves a comparison of the quality and acceptability of various solutions. The quality of a solution must be determined after taken into account its tangible and intangible outcomes. </a:t>
            </a:r>
          </a:p>
          <a:p>
            <a:pPr algn="just"/>
            <a:endParaRPr lang="en-GB" sz="2400" dirty="0"/>
          </a:p>
          <a:p>
            <a:pPr marL="342900" indent="-342900" algn="just">
              <a:buFont typeface="Wingdings" panose="05000000000000000000" pitchFamily="2" charset="2"/>
              <a:buChar char="v"/>
            </a:pPr>
            <a:r>
              <a:rPr lang="en-GB" sz="2800" b="1" dirty="0" smtClean="0"/>
              <a:t>Decision Implementation</a:t>
            </a:r>
          </a:p>
          <a:p>
            <a:pPr algn="just"/>
            <a:r>
              <a:rPr lang="en-GB" sz="2400" dirty="0" smtClean="0"/>
              <a:t>A decision is not complete until it is not translated into action. This requires the communication of the decision to the employees in clear and unambiguous terms. Failure to inform who needs to know of the decision can lead to unfortunate results. </a:t>
            </a:r>
          </a:p>
        </p:txBody>
      </p:sp>
    </p:spTree>
    <p:extLst>
      <p:ext uri="{BB962C8B-B14F-4D97-AF65-F5344CB8AC3E}">
        <p14:creationId xmlns:p14="http://schemas.microsoft.com/office/powerpoint/2010/main" val="36536648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677108"/>
          </a:xfrm>
        </p:spPr>
        <p:txBody>
          <a:bodyPr/>
          <a:lstStyle/>
          <a:p>
            <a:pPr algn="ctr"/>
            <a:r>
              <a:rPr lang="en-IN" b="1" spc="-25" dirty="0"/>
              <a:t>Decision-</a:t>
            </a:r>
            <a:r>
              <a:rPr lang="en-IN" b="1" dirty="0"/>
              <a:t>making</a:t>
            </a:r>
            <a:r>
              <a:rPr lang="en-IN" b="1" spc="-10" dirty="0"/>
              <a:t> Process</a:t>
            </a:r>
            <a:endParaRPr lang="en-IN" dirty="0"/>
          </a:p>
        </p:txBody>
      </p:sp>
      <p:sp>
        <p:nvSpPr>
          <p:cNvPr id="3" name="Text Placeholder 2"/>
          <p:cNvSpPr>
            <a:spLocks noGrp="1"/>
          </p:cNvSpPr>
          <p:nvPr>
            <p:ph type="body" idx="1"/>
          </p:nvPr>
        </p:nvSpPr>
        <p:spPr>
          <a:xfrm>
            <a:off x="538378" y="1143000"/>
            <a:ext cx="8086699" cy="2646878"/>
          </a:xfrm>
        </p:spPr>
        <p:txBody>
          <a:bodyPr/>
          <a:lstStyle/>
          <a:p>
            <a:pPr marL="514350" indent="-514350" algn="just">
              <a:buFont typeface="Wingdings" panose="05000000000000000000" pitchFamily="2" charset="2"/>
              <a:buChar char="v"/>
            </a:pPr>
            <a:r>
              <a:rPr lang="en-GB" sz="2800" b="1" dirty="0" smtClean="0"/>
              <a:t>Follow-up of Action</a:t>
            </a:r>
          </a:p>
          <a:p>
            <a:pPr algn="just"/>
            <a:r>
              <a:rPr lang="en-GB" sz="2400" dirty="0" smtClean="0"/>
              <a:t>In the final step, the action should be continuously followed up, to ensure whether the decision is achieving is desired purpose and whether the forecasts and assumptions upon which the decision was based are still valid.</a:t>
            </a:r>
          </a:p>
          <a:p>
            <a:pPr algn="just"/>
            <a:r>
              <a:rPr lang="en-GB" sz="2400" dirty="0"/>
              <a:t> </a:t>
            </a:r>
            <a:r>
              <a:rPr lang="en-GB" sz="2400" dirty="0" smtClean="0"/>
              <a:t>Changing conditions necessitate new decisions and the new process begins again. </a:t>
            </a:r>
          </a:p>
        </p:txBody>
      </p:sp>
    </p:spTree>
    <p:extLst>
      <p:ext uri="{BB962C8B-B14F-4D97-AF65-F5344CB8AC3E}">
        <p14:creationId xmlns:p14="http://schemas.microsoft.com/office/powerpoint/2010/main" val="39719429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677108"/>
          </a:xfrm>
        </p:spPr>
        <p:txBody>
          <a:bodyPr/>
          <a:lstStyle/>
          <a:p>
            <a:pPr algn="ctr"/>
            <a:r>
              <a:rPr lang="en-IN" b="1" spc="-25" dirty="0" smtClean="0"/>
              <a:t>Decision-</a:t>
            </a:r>
            <a:r>
              <a:rPr lang="en-IN" b="1" dirty="0" smtClean="0"/>
              <a:t>making</a:t>
            </a:r>
            <a:r>
              <a:rPr lang="en-IN" b="1" spc="-10" dirty="0" smtClean="0"/>
              <a:t> Techniques</a:t>
            </a:r>
            <a:endParaRPr lang="en-IN" dirty="0"/>
          </a:p>
        </p:txBody>
      </p:sp>
      <p:sp>
        <p:nvSpPr>
          <p:cNvPr id="3" name="Text Placeholder 2"/>
          <p:cNvSpPr>
            <a:spLocks noGrp="1"/>
          </p:cNvSpPr>
          <p:nvPr>
            <p:ph type="body" idx="1"/>
          </p:nvPr>
        </p:nvSpPr>
        <p:spPr>
          <a:xfrm>
            <a:off x="538378" y="1143000"/>
            <a:ext cx="8086699" cy="1246495"/>
          </a:xfrm>
        </p:spPr>
        <p:txBody>
          <a:bodyPr/>
          <a:lstStyle/>
          <a:p>
            <a:pPr marL="514350" indent="-514350" algn="just">
              <a:buFont typeface="Wingdings" panose="05000000000000000000" pitchFamily="2" charset="2"/>
              <a:buChar char="v"/>
            </a:pPr>
            <a:r>
              <a:rPr lang="en-IN" b="1" dirty="0"/>
              <a:t>SWOT Analysis</a:t>
            </a:r>
          </a:p>
          <a:p>
            <a:pPr marL="514350" indent="-514350" algn="just">
              <a:buFont typeface="Wingdings" panose="05000000000000000000" pitchFamily="2" charset="2"/>
              <a:buChar char="v"/>
            </a:pPr>
            <a:r>
              <a:rPr lang="en-IN" b="1" dirty="0" smtClean="0"/>
              <a:t>Decision Matrix</a:t>
            </a:r>
          </a:p>
          <a:p>
            <a:pPr marL="514350" indent="-514350" algn="just">
              <a:buFont typeface="Wingdings" panose="05000000000000000000" pitchFamily="2" charset="2"/>
              <a:buChar char="v"/>
            </a:pPr>
            <a:r>
              <a:rPr lang="en-IN" b="1" spc="-10" dirty="0" smtClean="0"/>
              <a:t>Brainstorming</a:t>
            </a:r>
            <a:endParaRPr lang="en-GB" sz="2400" dirty="0" smtClean="0"/>
          </a:p>
        </p:txBody>
      </p:sp>
    </p:spTree>
    <p:extLst>
      <p:ext uri="{BB962C8B-B14F-4D97-AF65-F5344CB8AC3E}">
        <p14:creationId xmlns:p14="http://schemas.microsoft.com/office/powerpoint/2010/main" val="26759667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058" y="58120"/>
            <a:ext cx="8150327" cy="677108"/>
          </a:xfrm>
        </p:spPr>
        <p:txBody>
          <a:bodyPr/>
          <a:lstStyle/>
          <a:p>
            <a:pPr algn="ctr"/>
            <a:r>
              <a:rPr lang="en-IN" b="1" spc="-25" dirty="0" smtClean="0"/>
              <a:t>SWOT Analysis</a:t>
            </a:r>
            <a:endParaRPr lang="en-IN" dirty="0"/>
          </a:p>
        </p:txBody>
      </p:sp>
      <p:sp>
        <p:nvSpPr>
          <p:cNvPr id="3" name="Text Placeholder 2"/>
          <p:cNvSpPr>
            <a:spLocks noGrp="1"/>
          </p:cNvSpPr>
          <p:nvPr>
            <p:ph type="body" idx="1"/>
          </p:nvPr>
        </p:nvSpPr>
        <p:spPr>
          <a:xfrm>
            <a:off x="518058" y="762000"/>
            <a:ext cx="8086699" cy="5909310"/>
          </a:xfrm>
        </p:spPr>
        <p:txBody>
          <a:bodyPr/>
          <a:lstStyle/>
          <a:p>
            <a:pPr algn="just"/>
            <a:r>
              <a:rPr lang="en-GB" sz="2200" dirty="0"/>
              <a:t>A SWOT analysis is a strategic planning tool used by businesses to identify and evaluate their Strengths, Weaknesses, Opportunities, and Threats. It helps organizations understand their internal capabilities and external environment, allowing them to develop strategies to capitalize on strengths, mitigate weaknesses, exploit opportunities, and defend against threats. Here's a breakdown of each component:</a:t>
            </a:r>
          </a:p>
          <a:p>
            <a:pPr algn="just"/>
            <a:r>
              <a:rPr lang="en-GB" sz="2800" b="1" dirty="0"/>
              <a:t>Strengths:</a:t>
            </a:r>
          </a:p>
          <a:p>
            <a:pPr lvl="1" algn="just"/>
            <a:r>
              <a:rPr lang="en-GB" sz="2000" dirty="0"/>
              <a:t>Internal attributes and resources that give the organization an advantage over competitors.</a:t>
            </a:r>
          </a:p>
          <a:p>
            <a:pPr lvl="1" algn="just"/>
            <a:r>
              <a:rPr lang="en-GB" sz="2000" b="1" dirty="0"/>
              <a:t>Examples</a:t>
            </a:r>
            <a:r>
              <a:rPr lang="en-GB" sz="2000" dirty="0"/>
              <a:t> may include strong brand reputation, innovative </a:t>
            </a:r>
            <a:r>
              <a:rPr lang="en-GB" sz="2000" dirty="0" smtClean="0"/>
              <a:t>products, </a:t>
            </a:r>
            <a:r>
              <a:rPr lang="en-GB" sz="2000" dirty="0"/>
              <a:t>loyal customer base, efficient processes, </a:t>
            </a:r>
            <a:r>
              <a:rPr lang="en-GB" sz="2000" dirty="0" smtClean="0"/>
              <a:t>or talented workforce</a:t>
            </a:r>
            <a:r>
              <a:rPr lang="en-GB" sz="2000" dirty="0"/>
              <a:t>.</a:t>
            </a:r>
          </a:p>
          <a:p>
            <a:pPr algn="just"/>
            <a:r>
              <a:rPr lang="en-GB" sz="2400" b="1" dirty="0"/>
              <a:t>Weaknesses:</a:t>
            </a:r>
          </a:p>
          <a:p>
            <a:pPr lvl="1" algn="just"/>
            <a:r>
              <a:rPr lang="en-GB" sz="2000" dirty="0"/>
              <a:t>Internal factors that hinder the organization's performance and competitiveness.</a:t>
            </a:r>
          </a:p>
          <a:p>
            <a:pPr lvl="1" algn="just"/>
            <a:r>
              <a:rPr lang="en-GB" sz="2000" dirty="0"/>
              <a:t>These could be areas where the organization lacks resources, skills, or capabilities compared to competitors.</a:t>
            </a:r>
          </a:p>
          <a:p>
            <a:pPr lvl="1" algn="just"/>
            <a:r>
              <a:rPr lang="en-GB" sz="2000" dirty="0"/>
              <a:t>Examples might include outdated technology, poor management practices, limited financial resources, or low employee morale</a:t>
            </a:r>
            <a:r>
              <a:rPr lang="en-GB" sz="2000" dirty="0" smtClean="0"/>
              <a:t>.</a:t>
            </a:r>
            <a:endParaRPr lang="en-GB" sz="2200" dirty="0"/>
          </a:p>
        </p:txBody>
      </p:sp>
    </p:spTree>
    <p:extLst>
      <p:ext uri="{BB962C8B-B14F-4D97-AF65-F5344CB8AC3E}">
        <p14:creationId xmlns:p14="http://schemas.microsoft.com/office/powerpoint/2010/main" val="31542435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058" y="58120"/>
            <a:ext cx="8150327" cy="677108"/>
          </a:xfrm>
        </p:spPr>
        <p:txBody>
          <a:bodyPr/>
          <a:lstStyle/>
          <a:p>
            <a:pPr algn="ctr"/>
            <a:r>
              <a:rPr lang="en-IN" b="1" spc="-25" dirty="0" smtClean="0"/>
              <a:t>SWOT Analysis</a:t>
            </a:r>
            <a:endParaRPr lang="en-IN" dirty="0"/>
          </a:p>
        </p:txBody>
      </p:sp>
      <p:sp>
        <p:nvSpPr>
          <p:cNvPr id="3" name="Text Placeholder 2"/>
          <p:cNvSpPr>
            <a:spLocks noGrp="1"/>
          </p:cNvSpPr>
          <p:nvPr>
            <p:ph type="body" idx="1"/>
          </p:nvPr>
        </p:nvSpPr>
        <p:spPr>
          <a:xfrm>
            <a:off x="518058" y="762000"/>
            <a:ext cx="8086699" cy="6494085"/>
          </a:xfrm>
        </p:spPr>
        <p:txBody>
          <a:bodyPr/>
          <a:lstStyle/>
          <a:p>
            <a:r>
              <a:rPr lang="en-GB" sz="3200" b="1" dirty="0" smtClean="0"/>
              <a:t>Opportunities</a:t>
            </a:r>
            <a:r>
              <a:rPr lang="en-GB" sz="3200" b="1" dirty="0"/>
              <a:t>:</a:t>
            </a:r>
          </a:p>
          <a:p>
            <a:pPr lvl="1"/>
            <a:r>
              <a:rPr lang="en-GB" sz="2400" dirty="0"/>
              <a:t>External factors in the environment that the organization could exploit to its advantage.</a:t>
            </a:r>
          </a:p>
          <a:p>
            <a:pPr lvl="1"/>
            <a:r>
              <a:rPr lang="en-GB" sz="2400" dirty="0"/>
              <a:t>These could include emerging markets, changes in consumer preferences, technological advancements, or gaps in the competitive landscape.</a:t>
            </a:r>
          </a:p>
          <a:p>
            <a:pPr lvl="1"/>
            <a:r>
              <a:rPr lang="en-GB" sz="2400" dirty="0"/>
              <a:t>Identifying opportunities allows the organization to pursue growth and expansion strategies.</a:t>
            </a:r>
          </a:p>
          <a:p>
            <a:r>
              <a:rPr lang="en-GB" sz="3200" b="1" dirty="0"/>
              <a:t>Threats:</a:t>
            </a:r>
          </a:p>
          <a:p>
            <a:pPr lvl="1"/>
            <a:r>
              <a:rPr lang="en-GB" sz="2400" dirty="0"/>
              <a:t>External factors that could negatively impact the organization's performance and viability.</a:t>
            </a:r>
          </a:p>
          <a:p>
            <a:pPr lvl="1"/>
            <a:r>
              <a:rPr lang="en-GB" sz="2400" dirty="0"/>
              <a:t>These might include intense competition, economic downturns, regulatory changes, technological disruptions, or shifts in consumer </a:t>
            </a:r>
            <a:r>
              <a:rPr lang="en-GB" sz="2400" dirty="0" err="1"/>
              <a:t>behavior</a:t>
            </a:r>
            <a:r>
              <a:rPr lang="en-GB" sz="2400" dirty="0"/>
              <a:t>.</a:t>
            </a:r>
          </a:p>
          <a:p>
            <a:pPr lvl="1"/>
            <a:r>
              <a:rPr lang="en-GB" sz="2400" dirty="0"/>
              <a:t>Recognizing threats helps the organization anticipate challenges and develop contingency plans.</a:t>
            </a:r>
          </a:p>
          <a:p>
            <a:pPr marL="457200" indent="-457200" algn="just">
              <a:buFont typeface="Wingdings" panose="05000000000000000000" pitchFamily="2" charset="2"/>
              <a:buChar char="v"/>
            </a:pPr>
            <a:endParaRPr lang="en-GB" sz="2200" dirty="0"/>
          </a:p>
        </p:txBody>
      </p:sp>
    </p:spTree>
    <p:extLst>
      <p:ext uri="{BB962C8B-B14F-4D97-AF65-F5344CB8AC3E}">
        <p14:creationId xmlns:p14="http://schemas.microsoft.com/office/powerpoint/2010/main" val="32649867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78" y="167385"/>
            <a:ext cx="8150327" cy="553998"/>
          </a:xfrm>
        </p:spPr>
        <p:txBody>
          <a:bodyPr/>
          <a:lstStyle/>
          <a:p>
            <a:pPr algn="ctr"/>
            <a:r>
              <a:rPr lang="en-IN" sz="3600" b="1" spc="-25" dirty="0" smtClean="0"/>
              <a:t>Decision Matrix</a:t>
            </a:r>
            <a:endParaRPr lang="en-IN" sz="3600" dirty="0"/>
          </a:p>
        </p:txBody>
      </p:sp>
      <p:sp>
        <p:nvSpPr>
          <p:cNvPr id="3" name="Text Placeholder 2"/>
          <p:cNvSpPr>
            <a:spLocks noGrp="1"/>
          </p:cNvSpPr>
          <p:nvPr>
            <p:ph type="body" idx="1"/>
          </p:nvPr>
        </p:nvSpPr>
        <p:spPr>
          <a:xfrm>
            <a:off x="538378" y="791421"/>
            <a:ext cx="8086699" cy="3046988"/>
          </a:xfrm>
        </p:spPr>
        <p:txBody>
          <a:bodyPr/>
          <a:lstStyle/>
          <a:p>
            <a:pPr algn="just"/>
            <a:r>
              <a:rPr lang="en-GB" sz="2000" dirty="0"/>
              <a:t>A decision matrix is a helpful tool for comparing multiple options based on different criteria. To create a decision matrix for three products, you first need to identify the criteria you want to evaluate them on. Let's say we have three products: Product A, Product B, and Product C. Here's an example of how you could set up a decision matrix</a:t>
            </a:r>
            <a:r>
              <a:rPr lang="en-GB" sz="2000" dirty="0" smtClean="0"/>
              <a:t>:</a:t>
            </a:r>
          </a:p>
          <a:p>
            <a:pPr algn="just"/>
            <a:r>
              <a:rPr lang="en-GB" sz="2000" b="1" dirty="0" smtClean="0"/>
              <a:t>Criteria: Price, Quality, Features</a:t>
            </a:r>
          </a:p>
          <a:p>
            <a:pPr algn="just"/>
            <a:r>
              <a:rPr lang="en-GB" sz="2000" dirty="0" smtClean="0"/>
              <a:t>Now</a:t>
            </a:r>
            <a:r>
              <a:rPr lang="en-GB" sz="2000" dirty="0"/>
              <a:t>, </a:t>
            </a:r>
            <a:r>
              <a:rPr lang="en-GB" sz="2000" dirty="0" smtClean="0"/>
              <a:t>let's </a:t>
            </a:r>
            <a:r>
              <a:rPr lang="en-GB" sz="2000" dirty="0"/>
              <a:t>create a matrix where we'll compare each product against these criteria on a scale of 1 to 5, with 5 being the </a:t>
            </a:r>
            <a:r>
              <a:rPr lang="en-GB" sz="2000" dirty="0" smtClean="0"/>
              <a:t>highest:</a:t>
            </a:r>
          </a:p>
          <a:p>
            <a:pPr algn="just"/>
            <a:endParaRPr lang="en-GB" sz="2000" dirty="0" smtClean="0"/>
          </a:p>
          <a:p>
            <a:pPr algn="just"/>
            <a:endParaRPr lang="en-GB" sz="1800" dirty="0" smtClean="0"/>
          </a:p>
        </p:txBody>
      </p:sp>
      <p:graphicFrame>
        <p:nvGraphicFramePr>
          <p:cNvPr id="9" name="Table 8"/>
          <p:cNvGraphicFramePr>
            <a:graphicFrameLocks noGrp="1"/>
          </p:cNvGraphicFramePr>
          <p:nvPr>
            <p:extLst>
              <p:ext uri="{D42A27DB-BD31-4B8C-83A1-F6EECF244321}">
                <p14:modId xmlns:p14="http://schemas.microsoft.com/office/powerpoint/2010/main" val="3768275655"/>
              </p:ext>
            </p:extLst>
          </p:nvPr>
        </p:nvGraphicFramePr>
        <p:xfrm>
          <a:off x="442467" y="3427172"/>
          <a:ext cx="8086724" cy="1463040"/>
        </p:xfrm>
        <a:graphic>
          <a:graphicData uri="http://schemas.openxmlformats.org/drawingml/2006/table">
            <a:tbl>
              <a:tblPr/>
              <a:tblGrid>
                <a:gridCol w="2021681">
                  <a:extLst>
                    <a:ext uri="{9D8B030D-6E8A-4147-A177-3AD203B41FA5}">
                      <a16:colId xmlns:a16="http://schemas.microsoft.com/office/drawing/2014/main" val="1467481518"/>
                    </a:ext>
                  </a:extLst>
                </a:gridCol>
                <a:gridCol w="2021681">
                  <a:extLst>
                    <a:ext uri="{9D8B030D-6E8A-4147-A177-3AD203B41FA5}">
                      <a16:colId xmlns:a16="http://schemas.microsoft.com/office/drawing/2014/main" val="2173512656"/>
                    </a:ext>
                  </a:extLst>
                </a:gridCol>
                <a:gridCol w="2021681">
                  <a:extLst>
                    <a:ext uri="{9D8B030D-6E8A-4147-A177-3AD203B41FA5}">
                      <a16:colId xmlns:a16="http://schemas.microsoft.com/office/drawing/2014/main" val="1979337772"/>
                    </a:ext>
                  </a:extLst>
                </a:gridCol>
                <a:gridCol w="2021681">
                  <a:extLst>
                    <a:ext uri="{9D8B030D-6E8A-4147-A177-3AD203B41FA5}">
                      <a16:colId xmlns:a16="http://schemas.microsoft.com/office/drawing/2014/main" val="1790803714"/>
                    </a:ext>
                  </a:extLst>
                </a:gridCol>
              </a:tblGrid>
              <a:tr h="0">
                <a:tc>
                  <a:txBody>
                    <a:bodyPr/>
                    <a:lstStyle/>
                    <a:p>
                      <a:pPr fontAlgn="b"/>
                      <a:r>
                        <a:rPr lang="en-IN" b="1">
                          <a:effectLst/>
                        </a:rPr>
                        <a:t>Criteria</a:t>
                      </a:r>
                    </a:p>
                  </a:txBody>
                  <a:tcPr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
                      <a:r>
                        <a:rPr lang="en-IN" b="1">
                          <a:effectLst/>
                        </a:rPr>
                        <a:t>Product A</a:t>
                      </a:r>
                    </a:p>
                  </a:txBody>
                  <a:tcPr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
                      <a:r>
                        <a:rPr lang="en-IN" b="1">
                          <a:effectLst/>
                        </a:rPr>
                        <a:t>Product B</a:t>
                      </a:r>
                    </a:p>
                  </a:txBody>
                  <a:tcPr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
                      <a:r>
                        <a:rPr lang="en-IN" b="1">
                          <a:effectLst/>
                        </a:rPr>
                        <a:t>Product C</a:t>
                      </a:r>
                    </a:p>
                  </a:txBody>
                  <a:tcPr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733285522"/>
                  </a:ext>
                </a:extLst>
              </a:tr>
              <a:tr h="0">
                <a:tc>
                  <a:txBody>
                    <a:bodyPr/>
                    <a:lstStyle/>
                    <a:p>
                      <a:pPr fontAlgn="base"/>
                      <a:r>
                        <a:rPr lang="en-IN">
                          <a:effectLst/>
                        </a:rPr>
                        <a:t>Price</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dirty="0">
                          <a:effectLst/>
                        </a:rPr>
                        <a:t>3</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4</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2</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292935828"/>
                  </a:ext>
                </a:extLst>
              </a:tr>
              <a:tr h="0">
                <a:tc>
                  <a:txBody>
                    <a:bodyPr/>
                    <a:lstStyle/>
                    <a:p>
                      <a:pPr fontAlgn="base"/>
                      <a:r>
                        <a:rPr lang="en-IN">
                          <a:effectLst/>
                        </a:rPr>
                        <a:t>Quality</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4</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5</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3</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008484310"/>
                  </a:ext>
                </a:extLst>
              </a:tr>
              <a:tr h="0">
                <a:tc>
                  <a:txBody>
                    <a:bodyPr/>
                    <a:lstStyle/>
                    <a:p>
                      <a:pPr fontAlgn="base"/>
                      <a:r>
                        <a:rPr lang="en-IN">
                          <a:effectLst/>
                        </a:rPr>
                        <a:t>Features</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dirty="0">
                          <a:effectLst/>
                        </a:rPr>
                        <a:t>3</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a:effectLst/>
                        </a:rPr>
                        <a:t>4</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IN" dirty="0">
                          <a:effectLst/>
                        </a:rPr>
                        <a:t>5</a:t>
                      </a:r>
                    </a:p>
                  </a:txBody>
                  <a:tcPr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432497707"/>
                  </a:ext>
                </a:extLst>
              </a:tr>
            </a:tbl>
          </a:graphicData>
        </a:graphic>
      </p:graphicFrame>
      <p:sp>
        <p:nvSpPr>
          <p:cNvPr id="11" name="Rectangle 10"/>
          <p:cNvSpPr/>
          <p:nvPr/>
        </p:nvSpPr>
        <p:spPr>
          <a:xfrm>
            <a:off x="414400" y="5103674"/>
            <a:ext cx="8246237" cy="1754326"/>
          </a:xfrm>
          <a:prstGeom prst="rect">
            <a:avLst/>
          </a:prstGeom>
        </p:spPr>
        <p:txBody>
          <a:bodyPr wrap="square">
            <a:spAutoFit/>
          </a:bodyPr>
          <a:lstStyle/>
          <a:p>
            <a:pPr algn="just"/>
            <a:r>
              <a:rPr lang="en-GB" dirty="0" smtClean="0"/>
              <a:t>In this example, we're using a scale from 1 to 5, where: 1 means very poor, 2 means poor, 3 means average, 4 means good, 5 means excellent.</a:t>
            </a:r>
          </a:p>
          <a:p>
            <a:pPr algn="just"/>
            <a:r>
              <a:rPr lang="en-GB" dirty="0" smtClean="0"/>
              <a:t>After filling out the matrix with ratings for each product, you can then calculate totals for each product by adding up the scores across each row. This will give you a numerical representation of how each product performs across all criteria, helping you make a more informed decision.</a:t>
            </a:r>
            <a:endParaRPr lang="en-IN" dirty="0"/>
          </a:p>
        </p:txBody>
      </p:sp>
    </p:spTree>
    <p:extLst>
      <p:ext uri="{BB962C8B-B14F-4D97-AF65-F5344CB8AC3E}">
        <p14:creationId xmlns:p14="http://schemas.microsoft.com/office/powerpoint/2010/main" val="17332597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058" y="58120"/>
            <a:ext cx="8150327" cy="677108"/>
          </a:xfrm>
        </p:spPr>
        <p:txBody>
          <a:bodyPr/>
          <a:lstStyle/>
          <a:p>
            <a:pPr algn="ctr"/>
            <a:r>
              <a:rPr lang="en-GB" b="1" spc="-25" dirty="0" smtClean="0"/>
              <a:t>Brainstorming</a:t>
            </a:r>
            <a:endParaRPr lang="en-IN" dirty="0"/>
          </a:p>
        </p:txBody>
      </p:sp>
      <p:sp>
        <p:nvSpPr>
          <p:cNvPr id="3" name="Text Placeholder 2"/>
          <p:cNvSpPr>
            <a:spLocks noGrp="1"/>
          </p:cNvSpPr>
          <p:nvPr>
            <p:ph type="body" idx="1"/>
          </p:nvPr>
        </p:nvSpPr>
        <p:spPr>
          <a:xfrm>
            <a:off x="518058" y="762000"/>
            <a:ext cx="8086699" cy="6001643"/>
          </a:xfrm>
        </p:spPr>
        <p:txBody>
          <a:bodyPr/>
          <a:lstStyle/>
          <a:p>
            <a:r>
              <a:rPr lang="en-GB" sz="2400" dirty="0"/>
              <a:t>Brainstorming is a group creativity technique that is often used to find a solution to a specific problem. This is accomplished by gathering and recording new ideas from team members in a free-flowing manner.</a:t>
            </a:r>
          </a:p>
          <a:p>
            <a:r>
              <a:rPr lang="en-GB" sz="2400" dirty="0"/>
              <a:t>Brainstorming sessions are usually made up of a handful of core team members, and typically are led by a director or facilitator.</a:t>
            </a:r>
          </a:p>
          <a:p>
            <a:pPr algn="just"/>
            <a:r>
              <a:rPr lang="en-GB" sz="2400" dirty="0"/>
              <a:t>Quantity of ideas is usually emphasized over quality, with the goal of generating as many new suggestions as possible. Once all ideas have been collected, the team then evaluates each of them and focuses on the ones that are most likely to solve the problem</a:t>
            </a:r>
            <a:r>
              <a:rPr lang="en-GB" dirty="0" smtClean="0"/>
              <a:t>.</a:t>
            </a:r>
          </a:p>
          <a:p>
            <a:pPr algn="just"/>
            <a:r>
              <a:rPr lang="en-GB" b="1" dirty="0"/>
              <a:t>The four principles of </a:t>
            </a:r>
            <a:r>
              <a:rPr lang="en-GB" b="1" dirty="0" smtClean="0"/>
              <a:t>brainstorming</a:t>
            </a:r>
          </a:p>
          <a:p>
            <a:pPr marL="342900" indent="-342900" algn="just">
              <a:buFont typeface="Arial" panose="020B0604020202020204" pitchFamily="34" charset="0"/>
              <a:buChar char="•"/>
            </a:pPr>
            <a:r>
              <a:rPr lang="en-GB" sz="2400" dirty="0"/>
              <a:t>Quantity over </a:t>
            </a:r>
            <a:r>
              <a:rPr lang="en-GB" sz="2400" dirty="0" smtClean="0"/>
              <a:t>quality</a:t>
            </a:r>
          </a:p>
          <a:p>
            <a:pPr marL="342900" indent="-342900" algn="just">
              <a:buFont typeface="Arial" panose="020B0604020202020204" pitchFamily="34" charset="0"/>
              <a:buChar char="•"/>
            </a:pPr>
            <a:r>
              <a:rPr lang="en-GB" sz="2400" dirty="0"/>
              <a:t>Withhold </a:t>
            </a:r>
            <a:r>
              <a:rPr lang="en-GB" sz="2400" dirty="0" smtClean="0"/>
              <a:t>criticism</a:t>
            </a:r>
          </a:p>
          <a:p>
            <a:pPr marL="342900" indent="-342900" algn="just">
              <a:buFont typeface="Arial" panose="020B0604020202020204" pitchFamily="34" charset="0"/>
              <a:buChar char="•"/>
            </a:pPr>
            <a:r>
              <a:rPr lang="en-GB" sz="2400" dirty="0"/>
              <a:t>Welcome the crazy </a:t>
            </a:r>
            <a:r>
              <a:rPr lang="en-GB" sz="2400" dirty="0" smtClean="0"/>
              <a:t>ideas</a:t>
            </a:r>
          </a:p>
          <a:p>
            <a:pPr marL="342900" indent="-342900" algn="just">
              <a:buFont typeface="Arial" panose="020B0604020202020204" pitchFamily="34" charset="0"/>
              <a:buChar char="•"/>
            </a:pPr>
            <a:r>
              <a:rPr lang="en-GB" sz="2400" dirty="0"/>
              <a:t>Combine, refine, and improve </a:t>
            </a:r>
            <a:r>
              <a:rPr lang="en-GB" sz="2400" dirty="0" smtClean="0"/>
              <a:t>ideas</a:t>
            </a:r>
            <a:endParaRPr lang="en-GB" sz="2400" dirty="0"/>
          </a:p>
        </p:txBody>
      </p:sp>
    </p:spTree>
    <p:extLst>
      <p:ext uri="{BB962C8B-B14F-4D97-AF65-F5344CB8AC3E}">
        <p14:creationId xmlns:p14="http://schemas.microsoft.com/office/powerpoint/2010/main" val="25575601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465200"/>
            <a:ext cx="4014724" cy="688650"/>
          </a:xfrm>
          <a:prstGeom prst="rect">
            <a:avLst/>
          </a:prstGeom>
        </p:spPr>
        <p:txBody>
          <a:bodyPr vert="horz" wrap="square" lIns="0" tIns="11430" rIns="0" bIns="0" rtlCol="0">
            <a:spAutoFit/>
          </a:bodyPr>
          <a:lstStyle/>
          <a:p>
            <a:pPr marL="12700">
              <a:lnSpc>
                <a:spcPct val="100000"/>
              </a:lnSpc>
              <a:spcBef>
                <a:spcPts val="90"/>
              </a:spcBef>
            </a:pPr>
            <a:r>
              <a:rPr b="1" spc="-10" dirty="0" smtClean="0"/>
              <a:t>Organizing</a:t>
            </a:r>
            <a:endParaRPr b="1" spc="-10" dirty="0"/>
          </a:p>
        </p:txBody>
      </p:sp>
      <p:sp>
        <p:nvSpPr>
          <p:cNvPr id="3" name="object 3"/>
          <p:cNvSpPr txBox="1"/>
          <p:nvPr/>
        </p:nvSpPr>
        <p:spPr>
          <a:xfrm>
            <a:off x="536244" y="1536572"/>
            <a:ext cx="8081009" cy="3753848"/>
          </a:xfrm>
          <a:prstGeom prst="rect">
            <a:avLst/>
          </a:prstGeom>
        </p:spPr>
        <p:txBody>
          <a:bodyPr vert="horz" wrap="square" lIns="0" tIns="96520" rIns="0" bIns="0" rtlCol="0">
            <a:spAutoFit/>
          </a:bodyPr>
          <a:lstStyle/>
          <a:p>
            <a:pPr marL="356870" marR="5080" indent="-344805" algn="just">
              <a:lnSpc>
                <a:spcPct val="80000"/>
              </a:lnSpc>
              <a:buFont typeface="Arial MT"/>
              <a:buChar char="•"/>
              <a:tabLst>
                <a:tab pos="357505" algn="l"/>
              </a:tabLst>
            </a:pPr>
            <a:r>
              <a:rPr lang="en-GB" sz="2700" dirty="0" smtClean="0">
                <a:latin typeface="Calibri"/>
                <a:cs typeface="Calibri"/>
              </a:rPr>
              <a:t>Once a plan has been created, a manager can begin to organize. Organizing involves assigning tasks, grouping tasks into departments, delegating authority, and allocating resources across the organization. </a:t>
            </a:r>
          </a:p>
          <a:p>
            <a:pPr marL="356870" marR="5080" indent="-344805" algn="just">
              <a:lnSpc>
                <a:spcPct val="80000"/>
              </a:lnSpc>
              <a:buFont typeface="Arial MT"/>
              <a:buChar char="•"/>
              <a:tabLst>
                <a:tab pos="357505" algn="l"/>
              </a:tabLst>
            </a:pPr>
            <a:endParaRPr lang="en-IN" sz="2700" dirty="0" smtClean="0">
              <a:latin typeface="Calibri"/>
              <a:cs typeface="Calibri"/>
            </a:endParaRPr>
          </a:p>
          <a:p>
            <a:pPr marL="356870" marR="5080" indent="-344805" algn="just">
              <a:lnSpc>
                <a:spcPct val="80000"/>
              </a:lnSpc>
              <a:buFont typeface="Arial MT"/>
              <a:buChar char="•"/>
              <a:tabLst>
                <a:tab pos="357505" algn="l"/>
              </a:tabLst>
            </a:pPr>
            <a:r>
              <a:rPr sz="2700" dirty="0" smtClean="0">
                <a:latin typeface="Calibri"/>
                <a:cs typeface="Calibri"/>
              </a:rPr>
              <a:t>According</a:t>
            </a:r>
            <a:r>
              <a:rPr sz="2700" spc="15" dirty="0" smtClean="0">
                <a:latin typeface="Calibri"/>
                <a:cs typeface="Calibri"/>
              </a:rPr>
              <a:t> </a:t>
            </a:r>
            <a:r>
              <a:rPr sz="2700" dirty="0">
                <a:latin typeface="Calibri"/>
                <a:cs typeface="Calibri"/>
              </a:rPr>
              <a:t>to</a:t>
            </a:r>
            <a:r>
              <a:rPr sz="2700" spc="10" dirty="0">
                <a:latin typeface="Calibri"/>
                <a:cs typeface="Calibri"/>
              </a:rPr>
              <a:t> </a:t>
            </a:r>
            <a:r>
              <a:rPr sz="2700" dirty="0">
                <a:latin typeface="Calibri"/>
                <a:cs typeface="Calibri"/>
              </a:rPr>
              <a:t>Louis</a:t>
            </a:r>
            <a:r>
              <a:rPr sz="2700" spc="15" dirty="0">
                <a:latin typeface="Calibri"/>
                <a:cs typeface="Calibri"/>
              </a:rPr>
              <a:t> </a:t>
            </a:r>
            <a:r>
              <a:rPr sz="2700" dirty="0" smtClean="0">
                <a:latin typeface="Calibri"/>
                <a:cs typeface="Calibri"/>
              </a:rPr>
              <a:t>A</a:t>
            </a:r>
            <a:r>
              <a:rPr lang="en-IN" sz="2700" dirty="0" smtClean="0">
                <a:latin typeface="Calibri"/>
                <a:cs typeface="Calibri"/>
              </a:rPr>
              <a:t>.</a:t>
            </a:r>
            <a:r>
              <a:rPr sz="2700" spc="15" dirty="0" smtClean="0">
                <a:latin typeface="Calibri"/>
                <a:cs typeface="Calibri"/>
              </a:rPr>
              <a:t> </a:t>
            </a:r>
            <a:r>
              <a:rPr sz="2700" dirty="0">
                <a:latin typeface="Calibri"/>
                <a:cs typeface="Calibri"/>
              </a:rPr>
              <a:t>Allen,</a:t>
            </a:r>
            <a:r>
              <a:rPr sz="2700" spc="30" dirty="0">
                <a:latin typeface="Calibri"/>
                <a:cs typeface="Calibri"/>
              </a:rPr>
              <a:t> </a:t>
            </a:r>
            <a:r>
              <a:rPr sz="2700" spc="-10" dirty="0">
                <a:latin typeface="Calibri"/>
                <a:cs typeface="Calibri"/>
              </a:rPr>
              <a:t>"Organisation</a:t>
            </a:r>
            <a:r>
              <a:rPr sz="2700" spc="10" dirty="0">
                <a:latin typeface="Calibri"/>
                <a:cs typeface="Calibri"/>
              </a:rPr>
              <a:t> </a:t>
            </a:r>
            <a:r>
              <a:rPr sz="2700" dirty="0">
                <a:latin typeface="Calibri"/>
                <a:cs typeface="Calibri"/>
              </a:rPr>
              <a:t>is</a:t>
            </a:r>
            <a:r>
              <a:rPr sz="2700" spc="20" dirty="0">
                <a:latin typeface="Calibri"/>
                <a:cs typeface="Calibri"/>
              </a:rPr>
              <a:t> </a:t>
            </a:r>
            <a:r>
              <a:rPr sz="2700" dirty="0">
                <a:latin typeface="Calibri"/>
                <a:cs typeface="Calibri"/>
              </a:rPr>
              <a:t>the</a:t>
            </a:r>
            <a:r>
              <a:rPr sz="2700" spc="20" dirty="0">
                <a:latin typeface="Calibri"/>
                <a:cs typeface="Calibri"/>
              </a:rPr>
              <a:t> </a:t>
            </a:r>
            <a:r>
              <a:rPr sz="2700" spc="-10" dirty="0">
                <a:latin typeface="Calibri"/>
                <a:cs typeface="Calibri"/>
              </a:rPr>
              <a:t>process </a:t>
            </a:r>
            <a:r>
              <a:rPr sz="2700" dirty="0">
                <a:latin typeface="Calibri"/>
                <a:cs typeface="Calibri"/>
              </a:rPr>
              <a:t>of</a:t>
            </a:r>
            <a:r>
              <a:rPr sz="2700" spc="114" dirty="0">
                <a:latin typeface="Calibri"/>
                <a:cs typeface="Calibri"/>
              </a:rPr>
              <a:t> </a:t>
            </a:r>
            <a:r>
              <a:rPr sz="2700" dirty="0">
                <a:latin typeface="Calibri"/>
                <a:cs typeface="Calibri"/>
              </a:rPr>
              <a:t>identifying</a:t>
            </a:r>
            <a:r>
              <a:rPr sz="2700" spc="114" dirty="0">
                <a:latin typeface="Calibri"/>
                <a:cs typeface="Calibri"/>
              </a:rPr>
              <a:t> </a:t>
            </a:r>
            <a:r>
              <a:rPr sz="2700" dirty="0">
                <a:latin typeface="Calibri"/>
                <a:cs typeface="Calibri"/>
              </a:rPr>
              <a:t>and</a:t>
            </a:r>
            <a:r>
              <a:rPr sz="2700" spc="130" dirty="0">
                <a:latin typeface="Calibri"/>
                <a:cs typeface="Calibri"/>
              </a:rPr>
              <a:t> </a:t>
            </a:r>
            <a:r>
              <a:rPr sz="2700" dirty="0">
                <a:latin typeface="Calibri"/>
                <a:cs typeface="Calibri"/>
              </a:rPr>
              <a:t>grouping</a:t>
            </a:r>
            <a:r>
              <a:rPr sz="2700" spc="130" dirty="0">
                <a:latin typeface="Calibri"/>
                <a:cs typeface="Calibri"/>
              </a:rPr>
              <a:t> </a:t>
            </a:r>
            <a:r>
              <a:rPr sz="2700" dirty="0">
                <a:latin typeface="Calibri"/>
                <a:cs typeface="Calibri"/>
              </a:rPr>
              <a:t>the</a:t>
            </a:r>
            <a:r>
              <a:rPr sz="2700" spc="110" dirty="0">
                <a:latin typeface="Calibri"/>
                <a:cs typeface="Calibri"/>
              </a:rPr>
              <a:t> </a:t>
            </a:r>
            <a:r>
              <a:rPr sz="2700" dirty="0">
                <a:latin typeface="Calibri"/>
                <a:cs typeface="Calibri"/>
              </a:rPr>
              <a:t>work</a:t>
            </a:r>
            <a:r>
              <a:rPr sz="2700" spc="110" dirty="0">
                <a:latin typeface="Calibri"/>
                <a:cs typeface="Calibri"/>
              </a:rPr>
              <a:t> </a:t>
            </a:r>
            <a:r>
              <a:rPr sz="2700" dirty="0">
                <a:latin typeface="Calibri"/>
                <a:cs typeface="Calibri"/>
              </a:rPr>
              <a:t>to</a:t>
            </a:r>
            <a:r>
              <a:rPr sz="2700" spc="130" dirty="0">
                <a:latin typeface="Calibri"/>
                <a:cs typeface="Calibri"/>
              </a:rPr>
              <a:t> </a:t>
            </a:r>
            <a:r>
              <a:rPr sz="2700" dirty="0">
                <a:latin typeface="Calibri"/>
                <a:cs typeface="Calibri"/>
              </a:rPr>
              <a:t>be</a:t>
            </a:r>
            <a:r>
              <a:rPr sz="2700" spc="114" dirty="0">
                <a:latin typeface="Calibri"/>
                <a:cs typeface="Calibri"/>
              </a:rPr>
              <a:t> </a:t>
            </a:r>
            <a:r>
              <a:rPr sz="2700" spc="-10" dirty="0">
                <a:latin typeface="Calibri"/>
                <a:cs typeface="Calibri"/>
              </a:rPr>
              <a:t>performed, </a:t>
            </a:r>
            <a:r>
              <a:rPr sz="2700" dirty="0">
                <a:latin typeface="Calibri"/>
                <a:cs typeface="Calibri"/>
              </a:rPr>
              <a:t>defining</a:t>
            </a:r>
            <a:r>
              <a:rPr sz="2700" spc="40" dirty="0">
                <a:latin typeface="Calibri"/>
                <a:cs typeface="Calibri"/>
              </a:rPr>
              <a:t>  </a:t>
            </a:r>
            <a:r>
              <a:rPr sz="2700" dirty="0">
                <a:latin typeface="Calibri"/>
                <a:cs typeface="Calibri"/>
              </a:rPr>
              <a:t>and</a:t>
            </a:r>
            <a:r>
              <a:rPr sz="2700" spc="660" dirty="0">
                <a:latin typeface="Calibri"/>
                <a:cs typeface="Calibri"/>
              </a:rPr>
              <a:t> </a:t>
            </a:r>
            <a:r>
              <a:rPr sz="2700" dirty="0">
                <a:latin typeface="Calibri"/>
                <a:cs typeface="Calibri"/>
              </a:rPr>
              <a:t>delegating</a:t>
            </a:r>
            <a:r>
              <a:rPr sz="2700" spc="30" dirty="0">
                <a:latin typeface="Calibri"/>
                <a:cs typeface="Calibri"/>
              </a:rPr>
              <a:t>  </a:t>
            </a:r>
            <a:r>
              <a:rPr sz="2700" dirty="0">
                <a:latin typeface="Calibri"/>
                <a:cs typeface="Calibri"/>
              </a:rPr>
              <a:t>responsibility</a:t>
            </a:r>
            <a:r>
              <a:rPr sz="2700" spc="665" dirty="0">
                <a:latin typeface="Calibri"/>
                <a:cs typeface="Calibri"/>
              </a:rPr>
              <a:t> </a:t>
            </a:r>
            <a:r>
              <a:rPr sz="2700" dirty="0">
                <a:latin typeface="Calibri"/>
                <a:cs typeface="Calibri"/>
              </a:rPr>
              <a:t>and</a:t>
            </a:r>
            <a:r>
              <a:rPr sz="2700" spc="660" dirty="0">
                <a:latin typeface="Calibri"/>
                <a:cs typeface="Calibri"/>
              </a:rPr>
              <a:t> </a:t>
            </a:r>
            <a:r>
              <a:rPr sz="2700" spc="-10" dirty="0">
                <a:latin typeface="Calibri"/>
                <a:cs typeface="Calibri"/>
              </a:rPr>
              <a:t>authority, </a:t>
            </a:r>
            <a:r>
              <a:rPr sz="2700" dirty="0">
                <a:latin typeface="Calibri"/>
                <a:cs typeface="Calibri"/>
              </a:rPr>
              <a:t>and</a:t>
            </a:r>
            <a:r>
              <a:rPr sz="2700" spc="300" dirty="0">
                <a:latin typeface="Calibri"/>
                <a:cs typeface="Calibri"/>
              </a:rPr>
              <a:t>  </a:t>
            </a:r>
            <a:r>
              <a:rPr sz="2700" dirty="0">
                <a:latin typeface="Calibri"/>
                <a:cs typeface="Calibri"/>
              </a:rPr>
              <a:t>establishing</a:t>
            </a:r>
            <a:r>
              <a:rPr sz="2700" spc="305" dirty="0">
                <a:latin typeface="Calibri"/>
                <a:cs typeface="Calibri"/>
              </a:rPr>
              <a:t>  </a:t>
            </a:r>
            <a:r>
              <a:rPr sz="2700" dirty="0">
                <a:latin typeface="Calibri"/>
                <a:cs typeface="Calibri"/>
              </a:rPr>
              <a:t>relationships</a:t>
            </a:r>
            <a:r>
              <a:rPr sz="2700" spc="305" dirty="0">
                <a:latin typeface="Calibri"/>
                <a:cs typeface="Calibri"/>
              </a:rPr>
              <a:t>  </a:t>
            </a:r>
            <a:r>
              <a:rPr sz="2700" dirty="0">
                <a:latin typeface="Calibri"/>
                <a:cs typeface="Calibri"/>
              </a:rPr>
              <a:t>for</a:t>
            </a:r>
            <a:r>
              <a:rPr sz="2700" spc="290" dirty="0">
                <a:latin typeface="Calibri"/>
                <a:cs typeface="Calibri"/>
              </a:rPr>
              <a:t>  </a:t>
            </a:r>
            <a:r>
              <a:rPr sz="2700" dirty="0">
                <a:latin typeface="Calibri"/>
                <a:cs typeface="Calibri"/>
              </a:rPr>
              <a:t>the</a:t>
            </a:r>
            <a:r>
              <a:rPr sz="2700" spc="290" dirty="0">
                <a:latin typeface="Calibri"/>
                <a:cs typeface="Calibri"/>
              </a:rPr>
              <a:t>  </a:t>
            </a:r>
            <a:r>
              <a:rPr sz="2700" dirty="0">
                <a:latin typeface="Calibri"/>
                <a:cs typeface="Calibri"/>
              </a:rPr>
              <a:t>purpose</a:t>
            </a:r>
            <a:r>
              <a:rPr sz="2700" spc="305" dirty="0">
                <a:latin typeface="Calibri"/>
                <a:cs typeface="Calibri"/>
              </a:rPr>
              <a:t>  </a:t>
            </a:r>
            <a:r>
              <a:rPr sz="2700" spc="-25" dirty="0">
                <a:latin typeface="Calibri"/>
                <a:cs typeface="Calibri"/>
              </a:rPr>
              <a:t>of </a:t>
            </a:r>
            <a:r>
              <a:rPr sz="2700" dirty="0">
                <a:latin typeface="Calibri"/>
                <a:cs typeface="Calibri"/>
              </a:rPr>
              <a:t>enabling</a:t>
            </a:r>
            <a:r>
              <a:rPr sz="2700" spc="400" dirty="0">
                <a:latin typeface="Calibri"/>
                <a:cs typeface="Calibri"/>
              </a:rPr>
              <a:t> </a:t>
            </a:r>
            <a:r>
              <a:rPr sz="2700" dirty="0">
                <a:latin typeface="Calibri"/>
                <a:cs typeface="Calibri"/>
              </a:rPr>
              <a:t>people</a:t>
            </a:r>
            <a:r>
              <a:rPr sz="2700" spc="390" dirty="0">
                <a:latin typeface="Calibri"/>
                <a:cs typeface="Calibri"/>
              </a:rPr>
              <a:t> </a:t>
            </a:r>
            <a:r>
              <a:rPr sz="2700" dirty="0">
                <a:latin typeface="Calibri"/>
                <a:cs typeface="Calibri"/>
              </a:rPr>
              <a:t>to</a:t>
            </a:r>
            <a:r>
              <a:rPr sz="2700" spc="395" dirty="0">
                <a:latin typeface="Calibri"/>
                <a:cs typeface="Calibri"/>
              </a:rPr>
              <a:t> </a:t>
            </a:r>
            <a:r>
              <a:rPr sz="2700" dirty="0">
                <a:latin typeface="Calibri"/>
                <a:cs typeface="Calibri"/>
              </a:rPr>
              <a:t>work</a:t>
            </a:r>
            <a:r>
              <a:rPr sz="2700" spc="405" dirty="0">
                <a:latin typeface="Calibri"/>
                <a:cs typeface="Calibri"/>
              </a:rPr>
              <a:t> </a:t>
            </a:r>
            <a:r>
              <a:rPr sz="2700" dirty="0">
                <a:latin typeface="Calibri"/>
                <a:cs typeface="Calibri"/>
              </a:rPr>
              <a:t>most</a:t>
            </a:r>
            <a:r>
              <a:rPr sz="2700" spc="390" dirty="0">
                <a:latin typeface="Calibri"/>
                <a:cs typeface="Calibri"/>
              </a:rPr>
              <a:t> </a:t>
            </a:r>
            <a:r>
              <a:rPr sz="2700" dirty="0">
                <a:latin typeface="Calibri"/>
                <a:cs typeface="Calibri"/>
              </a:rPr>
              <a:t>effectively</a:t>
            </a:r>
            <a:r>
              <a:rPr sz="2700" spc="380" dirty="0">
                <a:latin typeface="Calibri"/>
                <a:cs typeface="Calibri"/>
              </a:rPr>
              <a:t> </a:t>
            </a:r>
            <a:r>
              <a:rPr sz="2700" dirty="0">
                <a:latin typeface="Calibri"/>
                <a:cs typeface="Calibri"/>
              </a:rPr>
              <a:t>together</a:t>
            </a:r>
            <a:r>
              <a:rPr sz="2700" spc="385" dirty="0">
                <a:latin typeface="Calibri"/>
                <a:cs typeface="Calibri"/>
              </a:rPr>
              <a:t> </a:t>
            </a:r>
            <a:r>
              <a:rPr sz="2700" spc="-25" dirty="0">
                <a:latin typeface="Calibri"/>
                <a:cs typeface="Calibri"/>
              </a:rPr>
              <a:t>in </a:t>
            </a:r>
            <a:r>
              <a:rPr sz="2700" dirty="0">
                <a:latin typeface="Calibri"/>
                <a:cs typeface="Calibri"/>
              </a:rPr>
              <a:t>accomplishing</a:t>
            </a:r>
            <a:r>
              <a:rPr sz="2700" spc="-145" dirty="0">
                <a:latin typeface="Calibri"/>
                <a:cs typeface="Calibri"/>
              </a:rPr>
              <a:t> </a:t>
            </a:r>
            <a:r>
              <a:rPr sz="2700" spc="-10" dirty="0">
                <a:latin typeface="Calibri"/>
                <a:cs typeface="Calibri"/>
              </a:rPr>
              <a:t>objectives</a:t>
            </a:r>
            <a:r>
              <a:rPr sz="2700" spc="-10" dirty="0" smtClean="0">
                <a:latin typeface="Calibri"/>
                <a:cs typeface="Calibri"/>
              </a:rPr>
              <a:t>.</a:t>
            </a:r>
            <a:r>
              <a:rPr lang="en-GB" sz="2700" spc="-10" smtClean="0">
                <a:latin typeface="Calibri"/>
                <a:cs typeface="Calibri"/>
              </a:rPr>
              <a:t>"</a:t>
            </a:r>
            <a:endParaRPr sz="2700" dirty="0">
              <a:latin typeface="Calibri"/>
              <a:cs typeface="Calibri"/>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spc="-10" dirty="0" smtClean="0"/>
              <a:t>Objectives of Organizing</a:t>
            </a:r>
            <a:endParaRPr lang="en-IN" dirty="0"/>
          </a:p>
        </p:txBody>
      </p:sp>
      <p:sp>
        <p:nvSpPr>
          <p:cNvPr id="3" name="Text Placeholder 2"/>
          <p:cNvSpPr>
            <a:spLocks noGrp="1"/>
          </p:cNvSpPr>
          <p:nvPr>
            <p:ph type="body" idx="1"/>
          </p:nvPr>
        </p:nvSpPr>
        <p:spPr>
          <a:xfrm>
            <a:off x="563778" y="1143000"/>
            <a:ext cx="8086699" cy="5678478"/>
          </a:xfrm>
        </p:spPr>
        <p:txBody>
          <a:bodyPr/>
          <a:lstStyle/>
          <a:p>
            <a:pPr algn="just"/>
            <a:r>
              <a:rPr lang="en-GB" sz="2400" dirty="0"/>
              <a:t>The objectives of organizing within an organization include:</a:t>
            </a:r>
          </a:p>
          <a:p>
            <a:pPr algn="just"/>
            <a:r>
              <a:rPr lang="en-GB" b="1" dirty="0"/>
              <a:t>Clarifying Responsibilities:</a:t>
            </a:r>
            <a:r>
              <a:rPr lang="en-GB" dirty="0"/>
              <a:t> </a:t>
            </a:r>
            <a:endParaRPr lang="en-GB" dirty="0" smtClean="0"/>
          </a:p>
          <a:p>
            <a:pPr algn="just"/>
            <a:r>
              <a:rPr lang="en-GB" sz="2400" dirty="0" smtClean="0"/>
              <a:t>Organizing </a:t>
            </a:r>
            <a:r>
              <a:rPr lang="en-GB" sz="2400" dirty="0"/>
              <a:t>helps to define roles and responsibilities within the organization, ensuring that each individual understands what they are accountable for and how their work contributes to overall objectives.</a:t>
            </a:r>
          </a:p>
          <a:p>
            <a:pPr algn="just"/>
            <a:r>
              <a:rPr lang="en-GB" b="1" dirty="0"/>
              <a:t>Optimizing Resource Utilization:</a:t>
            </a:r>
            <a:r>
              <a:rPr lang="en-GB" dirty="0"/>
              <a:t> </a:t>
            </a:r>
            <a:endParaRPr lang="en-GB" dirty="0" smtClean="0"/>
          </a:p>
          <a:p>
            <a:pPr algn="just"/>
            <a:r>
              <a:rPr lang="en-GB" sz="2400" dirty="0" smtClean="0"/>
              <a:t>Organizing </a:t>
            </a:r>
            <a:r>
              <a:rPr lang="en-GB" sz="2400" dirty="0"/>
              <a:t>aims to allocate resources, including human, financial, and physical resources, in the most efficient and effective manner possible to maximize productivity and minimize waste.</a:t>
            </a:r>
          </a:p>
          <a:p>
            <a:pPr algn="just"/>
            <a:r>
              <a:rPr lang="en-GB" b="1" dirty="0"/>
              <a:t>Facilitating Communication:</a:t>
            </a:r>
            <a:r>
              <a:rPr lang="en-GB" dirty="0"/>
              <a:t> </a:t>
            </a:r>
            <a:endParaRPr lang="en-GB" dirty="0" smtClean="0"/>
          </a:p>
          <a:p>
            <a:pPr algn="just"/>
            <a:r>
              <a:rPr lang="en-GB" sz="2400" dirty="0" smtClean="0"/>
              <a:t>By </a:t>
            </a:r>
            <a:r>
              <a:rPr lang="en-GB" sz="2400" dirty="0"/>
              <a:t>establishing clear lines of communication and reporting structures, organizing helps to facilitate the flow of information within the organization, ensuring that relevant information reaches the right people at the right time.</a:t>
            </a:r>
            <a:endParaRPr lang="en-IN" dirty="0"/>
          </a:p>
        </p:txBody>
      </p:sp>
    </p:spTree>
    <p:extLst>
      <p:ext uri="{BB962C8B-B14F-4D97-AF65-F5344CB8AC3E}">
        <p14:creationId xmlns:p14="http://schemas.microsoft.com/office/powerpoint/2010/main" val="66374928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spc="-10" dirty="0" smtClean="0"/>
              <a:t>Objectives of Organizing</a:t>
            </a:r>
            <a:endParaRPr lang="en-IN" dirty="0"/>
          </a:p>
        </p:txBody>
      </p:sp>
      <p:sp>
        <p:nvSpPr>
          <p:cNvPr id="3" name="Text Placeholder 2"/>
          <p:cNvSpPr>
            <a:spLocks noGrp="1"/>
          </p:cNvSpPr>
          <p:nvPr>
            <p:ph type="body" idx="1"/>
          </p:nvPr>
        </p:nvSpPr>
        <p:spPr>
          <a:xfrm>
            <a:off x="563778" y="1143000"/>
            <a:ext cx="8086699" cy="5309146"/>
          </a:xfrm>
        </p:spPr>
        <p:txBody>
          <a:bodyPr/>
          <a:lstStyle/>
          <a:p>
            <a:pPr algn="just"/>
            <a:r>
              <a:rPr lang="en-GB" b="1" dirty="0" smtClean="0"/>
              <a:t>Promoting </a:t>
            </a:r>
            <a:r>
              <a:rPr lang="en-GB" b="1" dirty="0"/>
              <a:t>Specialization:</a:t>
            </a:r>
            <a:r>
              <a:rPr lang="en-GB" dirty="0"/>
              <a:t> </a:t>
            </a:r>
            <a:endParaRPr lang="en-GB" dirty="0" smtClean="0"/>
          </a:p>
          <a:p>
            <a:pPr algn="just"/>
            <a:r>
              <a:rPr lang="en-GB" sz="2400" dirty="0" smtClean="0"/>
              <a:t>Organizing </a:t>
            </a:r>
            <a:r>
              <a:rPr lang="en-GB" sz="2400" dirty="0"/>
              <a:t>allows for the specialization of tasks and the division of </a:t>
            </a:r>
            <a:r>
              <a:rPr lang="en-GB" sz="2400" dirty="0" err="1"/>
              <a:t>labor</a:t>
            </a:r>
            <a:r>
              <a:rPr lang="en-GB" sz="2400" dirty="0"/>
              <a:t>, enabling individuals to focus on areas where they have expertise or experience, which can lead to increased efficiency and productivity.</a:t>
            </a:r>
          </a:p>
          <a:p>
            <a:pPr algn="just"/>
            <a:r>
              <a:rPr lang="en-GB" b="1" dirty="0"/>
              <a:t>Encouraging Coordination:</a:t>
            </a:r>
            <a:r>
              <a:rPr lang="en-GB" dirty="0"/>
              <a:t> </a:t>
            </a:r>
            <a:endParaRPr lang="en-GB" dirty="0" smtClean="0"/>
          </a:p>
          <a:p>
            <a:pPr algn="just"/>
            <a:r>
              <a:rPr lang="en-GB" sz="2400" dirty="0" smtClean="0"/>
              <a:t>Organizing </a:t>
            </a:r>
            <a:r>
              <a:rPr lang="en-GB" sz="2400" dirty="0"/>
              <a:t>aims to coordinate the activities of different individuals, departments, or units within the organization to ensure that they work together towards common goals and objectives.</a:t>
            </a:r>
          </a:p>
          <a:p>
            <a:pPr algn="just"/>
            <a:r>
              <a:rPr lang="en-GB" b="1" dirty="0"/>
              <a:t>Fostering Adaptability:</a:t>
            </a:r>
            <a:r>
              <a:rPr lang="en-GB" dirty="0"/>
              <a:t> </a:t>
            </a:r>
            <a:endParaRPr lang="en-GB" dirty="0" smtClean="0"/>
          </a:p>
          <a:p>
            <a:pPr algn="just"/>
            <a:r>
              <a:rPr lang="en-GB" sz="2400" dirty="0" smtClean="0"/>
              <a:t>Effective </a:t>
            </a:r>
            <a:r>
              <a:rPr lang="en-GB" sz="2400" dirty="0"/>
              <a:t>organizing structures are flexible and adaptable, allowing the organization to respond quickly to changes in the external environment or internal dynamics</a:t>
            </a:r>
            <a:r>
              <a:rPr lang="en-GB" sz="2400" dirty="0" smtClean="0"/>
              <a:t>.</a:t>
            </a:r>
            <a:endParaRPr lang="en-GB" sz="2000" dirty="0"/>
          </a:p>
        </p:txBody>
      </p:sp>
    </p:spTree>
    <p:extLst>
      <p:ext uri="{BB962C8B-B14F-4D97-AF65-F5344CB8AC3E}">
        <p14:creationId xmlns:p14="http://schemas.microsoft.com/office/powerpoint/2010/main" val="174130400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738664"/>
          </a:xfrm>
        </p:spPr>
        <p:txBody>
          <a:bodyPr/>
          <a:lstStyle/>
          <a:p>
            <a:pPr algn="ctr"/>
            <a:r>
              <a:rPr lang="en-IN" sz="4800" b="1" dirty="0" smtClean="0"/>
              <a:t>Process of Organizing</a:t>
            </a:r>
            <a:endParaRPr lang="en-IN" sz="4800" b="1" dirty="0"/>
          </a:p>
        </p:txBody>
      </p:sp>
      <p:sp>
        <p:nvSpPr>
          <p:cNvPr id="3" name="Text Placeholder 2"/>
          <p:cNvSpPr>
            <a:spLocks noGrp="1"/>
          </p:cNvSpPr>
          <p:nvPr>
            <p:ph type="body" idx="1"/>
          </p:nvPr>
        </p:nvSpPr>
        <p:spPr>
          <a:xfrm>
            <a:off x="528650" y="1645996"/>
            <a:ext cx="8086699" cy="3854901"/>
          </a:xfrm>
        </p:spPr>
        <p:txBody>
          <a:bodyPr/>
          <a:lstStyle/>
          <a:p>
            <a:pPr marL="514350" indent="-514350">
              <a:lnSpc>
                <a:spcPct val="150000"/>
              </a:lnSpc>
              <a:buFont typeface="+mj-lt"/>
              <a:buAutoNum type="arabicPeriod"/>
            </a:pPr>
            <a:r>
              <a:rPr lang="en-IN" sz="2800" b="1" dirty="0" smtClean="0"/>
              <a:t>Determination of objectives</a:t>
            </a:r>
          </a:p>
          <a:p>
            <a:pPr marL="514350" indent="-514350">
              <a:lnSpc>
                <a:spcPct val="150000"/>
              </a:lnSpc>
              <a:buFont typeface="+mj-lt"/>
              <a:buAutoNum type="arabicPeriod"/>
            </a:pPr>
            <a:r>
              <a:rPr lang="en-IN" sz="2800" b="1" dirty="0" smtClean="0"/>
              <a:t>Enumeration of activities</a:t>
            </a:r>
          </a:p>
          <a:p>
            <a:pPr marL="514350" indent="-514350">
              <a:lnSpc>
                <a:spcPct val="150000"/>
              </a:lnSpc>
              <a:buFont typeface="+mj-lt"/>
              <a:buAutoNum type="arabicPeriod"/>
            </a:pPr>
            <a:r>
              <a:rPr lang="en-IN" sz="2800" b="1" dirty="0" smtClean="0"/>
              <a:t>Grouping activities</a:t>
            </a:r>
          </a:p>
          <a:p>
            <a:pPr marL="514350" indent="-514350">
              <a:lnSpc>
                <a:spcPct val="150000"/>
              </a:lnSpc>
              <a:buFont typeface="+mj-lt"/>
              <a:buAutoNum type="arabicPeriod"/>
            </a:pPr>
            <a:r>
              <a:rPr lang="en-IN" sz="2800" b="1" dirty="0" smtClean="0"/>
              <a:t>Allocation of fixed responsibilities </a:t>
            </a:r>
          </a:p>
          <a:p>
            <a:pPr marL="514350" indent="-514350">
              <a:lnSpc>
                <a:spcPct val="150000"/>
              </a:lnSpc>
              <a:buFont typeface="+mj-lt"/>
              <a:buAutoNum type="arabicPeriod"/>
            </a:pPr>
            <a:r>
              <a:rPr lang="en-IN" sz="2800" b="1" dirty="0" smtClean="0"/>
              <a:t>Delegation of authority</a:t>
            </a:r>
          </a:p>
          <a:p>
            <a:pPr marL="514350" indent="-514350">
              <a:lnSpc>
                <a:spcPct val="150000"/>
              </a:lnSpc>
              <a:buFont typeface="+mj-lt"/>
              <a:buAutoNum type="arabicPeriod"/>
            </a:pPr>
            <a:r>
              <a:rPr lang="en-IN" sz="2800" b="1" dirty="0" smtClean="0"/>
              <a:t>Coordination</a:t>
            </a:r>
            <a:endParaRPr lang="en-IN" sz="2800" b="1" dirty="0"/>
          </a:p>
        </p:txBody>
      </p:sp>
    </p:spTree>
    <p:extLst>
      <p:ext uri="{BB962C8B-B14F-4D97-AF65-F5344CB8AC3E}">
        <p14:creationId xmlns:p14="http://schemas.microsoft.com/office/powerpoint/2010/main" val="23513571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dirty="0" smtClean="0"/>
              <a:t>Authority, Responsibility, Accountability</a:t>
            </a:r>
            <a:endParaRPr lang="en-IN" sz="3600" b="1" dirty="0"/>
          </a:p>
        </p:txBody>
      </p:sp>
      <p:sp>
        <p:nvSpPr>
          <p:cNvPr id="3" name="Content Placeholder 2"/>
          <p:cNvSpPr>
            <a:spLocks noGrp="1"/>
          </p:cNvSpPr>
          <p:nvPr>
            <p:ph idx="1"/>
          </p:nvPr>
        </p:nvSpPr>
        <p:spPr>
          <a:xfrm>
            <a:off x="383540" y="1066800"/>
            <a:ext cx="8086699" cy="3074035"/>
          </a:xfrm>
        </p:spPr>
        <p:txBody>
          <a:bodyPr>
            <a:noAutofit/>
          </a:bodyPr>
          <a:lstStyle/>
          <a:p>
            <a:pPr marL="0" indent="0" algn="just">
              <a:buNone/>
            </a:pPr>
            <a:r>
              <a:rPr lang="en-GB" sz="2000" b="1" dirty="0"/>
              <a:t>Authority</a:t>
            </a:r>
          </a:p>
          <a:p>
            <a:pPr marL="0" indent="0" algn="just">
              <a:buNone/>
            </a:pPr>
            <a:r>
              <a:rPr lang="en-GB" sz="2000" dirty="0" smtClean="0"/>
              <a:t>Authority </a:t>
            </a:r>
            <a:r>
              <a:rPr lang="en-GB" sz="2000" dirty="0"/>
              <a:t>is all about rights or powers with the managers which the organization empowers them for achieving a common organizational goal. Thus, it involves the power of assigning duties to workers and asking them to accept and pursue the assigned </a:t>
            </a:r>
            <a:r>
              <a:rPr lang="en-GB" sz="2000" dirty="0" smtClean="0"/>
              <a:t>work</a:t>
            </a:r>
          </a:p>
          <a:p>
            <a:pPr marL="0" indent="0" algn="just">
              <a:buNone/>
            </a:pPr>
            <a:endParaRPr lang="en-GB" sz="2000" dirty="0" smtClean="0"/>
          </a:p>
          <a:p>
            <a:pPr marL="0" indent="0" algn="just">
              <a:buNone/>
            </a:pPr>
            <a:r>
              <a:rPr lang="en-GB" sz="2000" b="1" dirty="0" smtClean="0"/>
              <a:t>Responsibility</a:t>
            </a:r>
            <a:endParaRPr lang="en-GB" sz="2000" b="1" dirty="0"/>
          </a:p>
          <a:p>
            <a:pPr marL="0" indent="0" algn="just">
              <a:buNone/>
            </a:pPr>
            <a:r>
              <a:rPr lang="en-GB" sz="2000" dirty="0" smtClean="0"/>
              <a:t>According </a:t>
            </a:r>
            <a:r>
              <a:rPr lang="en-GB" sz="2000" dirty="0"/>
              <a:t>to McFarland, Responsibility is the duties or responsibilities allocated to a position or executive. Responsibility is the obligation that comes with a job. It simply means the person needs to commit to the job and complete it</a:t>
            </a:r>
            <a:r>
              <a:rPr lang="en-GB" sz="2000" dirty="0" smtClean="0"/>
              <a:t>.</a:t>
            </a:r>
          </a:p>
          <a:p>
            <a:pPr marL="0" indent="0" algn="just">
              <a:buNone/>
            </a:pPr>
            <a:endParaRPr lang="en-GB" sz="2000" dirty="0" smtClean="0"/>
          </a:p>
          <a:p>
            <a:pPr algn="just"/>
            <a:r>
              <a:rPr lang="en-GB" sz="2000" b="1" dirty="0"/>
              <a:t>Accountability </a:t>
            </a:r>
          </a:p>
          <a:p>
            <a:pPr algn="just"/>
            <a:r>
              <a:rPr lang="en-GB" sz="2000" dirty="0"/>
              <a:t>McFarland defines Accountability as, "the obligation of a person to register formally to their senior executives about the task to discharge the Responsibility." Accountability definition in management goes, "It is all about the liability created to handover the Authority". Accountability makes an individual answerable about the task or job he/she has done.</a:t>
            </a:r>
          </a:p>
          <a:p>
            <a:pPr marL="0" indent="0" algn="just">
              <a:buNone/>
            </a:pPr>
            <a:endParaRPr lang="en-GB" sz="2000" dirty="0" smtClean="0"/>
          </a:p>
          <a:p>
            <a:pPr algn="just"/>
            <a:endParaRPr lang="en-IN" sz="2000" dirty="0"/>
          </a:p>
        </p:txBody>
      </p:sp>
    </p:spTree>
    <p:extLst>
      <p:ext uri="{BB962C8B-B14F-4D97-AF65-F5344CB8AC3E}">
        <p14:creationId xmlns:p14="http://schemas.microsoft.com/office/powerpoint/2010/main" val="37137871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909110817"/>
              </p:ext>
            </p:extLst>
          </p:nvPr>
        </p:nvGraphicFramePr>
        <p:xfrm>
          <a:off x="228600" y="914402"/>
          <a:ext cx="8534400" cy="5835375"/>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905031833"/>
                    </a:ext>
                  </a:extLst>
                </a:gridCol>
                <a:gridCol w="2133600">
                  <a:extLst>
                    <a:ext uri="{9D8B030D-6E8A-4147-A177-3AD203B41FA5}">
                      <a16:colId xmlns:a16="http://schemas.microsoft.com/office/drawing/2014/main" val="501060424"/>
                    </a:ext>
                  </a:extLst>
                </a:gridCol>
                <a:gridCol w="2133600">
                  <a:extLst>
                    <a:ext uri="{9D8B030D-6E8A-4147-A177-3AD203B41FA5}">
                      <a16:colId xmlns:a16="http://schemas.microsoft.com/office/drawing/2014/main" val="1674442691"/>
                    </a:ext>
                  </a:extLst>
                </a:gridCol>
                <a:gridCol w="2133600">
                  <a:extLst>
                    <a:ext uri="{9D8B030D-6E8A-4147-A177-3AD203B41FA5}">
                      <a16:colId xmlns:a16="http://schemas.microsoft.com/office/drawing/2014/main" val="162343289"/>
                    </a:ext>
                  </a:extLst>
                </a:gridCol>
              </a:tblGrid>
              <a:tr h="929331">
                <a:tc>
                  <a:txBody>
                    <a:bodyPr/>
                    <a:lstStyle/>
                    <a:p>
                      <a:r>
                        <a:rPr lang="en-IN" dirty="0" smtClean="0"/>
                        <a:t>Basis</a:t>
                      </a:r>
                      <a:endParaRPr lang="en-IN" dirty="0"/>
                    </a:p>
                  </a:txBody>
                  <a:tcPr/>
                </a:tc>
                <a:tc>
                  <a:txBody>
                    <a:bodyPr/>
                    <a:lstStyle/>
                    <a:p>
                      <a:r>
                        <a:rPr lang="en-IN" dirty="0" smtClean="0"/>
                        <a:t>Authority</a:t>
                      </a:r>
                      <a:endParaRPr lang="en-IN" dirty="0"/>
                    </a:p>
                  </a:txBody>
                  <a:tcPr/>
                </a:tc>
                <a:tc>
                  <a:txBody>
                    <a:bodyPr/>
                    <a:lstStyle/>
                    <a:p>
                      <a:r>
                        <a:rPr lang="en-IN" dirty="0" smtClean="0"/>
                        <a:t>Responsibility</a:t>
                      </a:r>
                      <a:endParaRPr lang="en-IN" dirty="0"/>
                    </a:p>
                  </a:txBody>
                  <a:tcPr/>
                </a:tc>
                <a:tc>
                  <a:txBody>
                    <a:bodyPr/>
                    <a:lstStyle/>
                    <a:p>
                      <a:r>
                        <a:rPr lang="en-IN" dirty="0" smtClean="0"/>
                        <a:t>Accountability</a:t>
                      </a:r>
                      <a:endParaRPr lang="en-IN" dirty="0"/>
                    </a:p>
                  </a:txBody>
                  <a:tcPr/>
                </a:tc>
                <a:extLst>
                  <a:ext uri="{0D108BD9-81ED-4DB2-BD59-A6C34878D82A}">
                    <a16:rowId xmlns:a16="http://schemas.microsoft.com/office/drawing/2014/main" val="850553427"/>
                  </a:ext>
                </a:extLst>
              </a:tr>
              <a:tr h="1144544">
                <a:tc>
                  <a:txBody>
                    <a:bodyPr/>
                    <a:lstStyle/>
                    <a:p>
                      <a:r>
                        <a:rPr lang="en-IN" dirty="0" smtClean="0"/>
                        <a:t>Meaning </a:t>
                      </a:r>
                      <a:endParaRPr lang="en-IN" dirty="0"/>
                    </a:p>
                  </a:txBody>
                  <a:tcPr/>
                </a:tc>
                <a:tc>
                  <a:txBody>
                    <a:bodyPr/>
                    <a:lstStyle/>
                    <a:p>
                      <a:r>
                        <a:rPr lang="en-IN" dirty="0" smtClean="0"/>
                        <a:t>It means</a:t>
                      </a:r>
                      <a:r>
                        <a:rPr lang="en-IN" baseline="0" dirty="0" smtClean="0"/>
                        <a:t> the right to take decision and command subordinates.</a:t>
                      </a:r>
                      <a:endParaRPr lang="en-IN" dirty="0"/>
                    </a:p>
                  </a:txBody>
                  <a:tcPr/>
                </a:tc>
                <a:tc>
                  <a:txBody>
                    <a:bodyPr/>
                    <a:lstStyle/>
                    <a:p>
                      <a:r>
                        <a:rPr lang="en-IN" dirty="0" smtClean="0"/>
                        <a:t>It means the obligation to perform the</a:t>
                      </a:r>
                      <a:r>
                        <a:rPr lang="en-IN" baseline="0" dirty="0" smtClean="0"/>
                        <a:t> assigned task.</a:t>
                      </a:r>
                      <a:endParaRPr lang="en-IN" dirty="0"/>
                    </a:p>
                  </a:txBody>
                  <a:tcPr/>
                </a:tc>
                <a:tc>
                  <a:txBody>
                    <a:bodyPr/>
                    <a:lstStyle/>
                    <a:p>
                      <a:r>
                        <a:rPr lang="en-IN" dirty="0" smtClean="0"/>
                        <a:t>It means</a:t>
                      </a:r>
                      <a:r>
                        <a:rPr lang="en-IN" baseline="0" dirty="0" smtClean="0"/>
                        <a:t> being answerable for the final outcome. </a:t>
                      </a:r>
                      <a:endParaRPr lang="en-IN" dirty="0"/>
                    </a:p>
                  </a:txBody>
                  <a:tcPr/>
                </a:tc>
                <a:extLst>
                  <a:ext uri="{0D108BD9-81ED-4DB2-BD59-A6C34878D82A}">
                    <a16:rowId xmlns:a16="http://schemas.microsoft.com/office/drawing/2014/main" val="2935734398"/>
                  </a:ext>
                </a:extLst>
              </a:tr>
              <a:tr h="929331">
                <a:tc>
                  <a:txBody>
                    <a:bodyPr/>
                    <a:lstStyle/>
                    <a:p>
                      <a:r>
                        <a:rPr lang="en-IN" dirty="0" smtClean="0"/>
                        <a:t>Origin </a:t>
                      </a:r>
                      <a:endParaRPr lang="en-IN" dirty="0"/>
                    </a:p>
                  </a:txBody>
                  <a:tcPr/>
                </a:tc>
                <a:tc>
                  <a:txBody>
                    <a:bodyPr/>
                    <a:lstStyle/>
                    <a:p>
                      <a:r>
                        <a:rPr lang="en-IN" dirty="0" smtClean="0"/>
                        <a:t>It originates from</a:t>
                      </a:r>
                      <a:r>
                        <a:rPr lang="en-IN" baseline="0" dirty="0" smtClean="0"/>
                        <a:t> job position in the scalar chain.</a:t>
                      </a:r>
                      <a:endParaRPr lang="en-IN" dirty="0"/>
                    </a:p>
                  </a:txBody>
                  <a:tcPr/>
                </a:tc>
                <a:tc>
                  <a:txBody>
                    <a:bodyPr/>
                    <a:lstStyle/>
                    <a:p>
                      <a:r>
                        <a:rPr lang="en-IN" dirty="0" smtClean="0"/>
                        <a:t>It arises from delegated</a:t>
                      </a:r>
                      <a:r>
                        <a:rPr lang="en-IN" baseline="0" dirty="0" smtClean="0"/>
                        <a:t> authority.</a:t>
                      </a:r>
                      <a:endParaRPr lang="en-IN" dirty="0"/>
                    </a:p>
                  </a:txBody>
                  <a:tcPr/>
                </a:tc>
                <a:tc>
                  <a:txBody>
                    <a:bodyPr/>
                    <a:lstStyle/>
                    <a:p>
                      <a:r>
                        <a:rPr lang="en-IN" dirty="0" smtClean="0"/>
                        <a:t>It arises from responsibility.</a:t>
                      </a:r>
                      <a:endParaRPr lang="en-IN" dirty="0"/>
                    </a:p>
                  </a:txBody>
                  <a:tcPr/>
                </a:tc>
                <a:extLst>
                  <a:ext uri="{0D108BD9-81ED-4DB2-BD59-A6C34878D82A}">
                    <a16:rowId xmlns:a16="http://schemas.microsoft.com/office/drawing/2014/main" val="2321460100"/>
                  </a:ext>
                </a:extLst>
              </a:tr>
              <a:tr h="929331">
                <a:tc>
                  <a:txBody>
                    <a:bodyPr/>
                    <a:lstStyle/>
                    <a:p>
                      <a:r>
                        <a:rPr lang="en-IN" dirty="0" smtClean="0"/>
                        <a:t>Flow</a:t>
                      </a:r>
                      <a:endParaRPr lang="en-IN" dirty="0"/>
                    </a:p>
                  </a:txBody>
                  <a:tcPr/>
                </a:tc>
                <a:tc>
                  <a:txBody>
                    <a:bodyPr/>
                    <a:lstStyle/>
                    <a:p>
                      <a:r>
                        <a:rPr lang="en-IN" dirty="0" smtClean="0"/>
                        <a:t>It flows</a:t>
                      </a:r>
                      <a:r>
                        <a:rPr lang="en-IN" baseline="0" dirty="0" smtClean="0"/>
                        <a:t> downward from superior to subordinate.</a:t>
                      </a:r>
                      <a:endParaRPr lang="en-IN" dirty="0"/>
                    </a:p>
                  </a:txBody>
                  <a:tcPr/>
                </a:tc>
                <a:tc>
                  <a:txBody>
                    <a:bodyPr/>
                    <a:lstStyle/>
                    <a:p>
                      <a:r>
                        <a:rPr lang="en-IN" dirty="0" smtClean="0"/>
                        <a:t>It flows</a:t>
                      </a:r>
                      <a:r>
                        <a:rPr lang="en-IN" baseline="0" dirty="0" smtClean="0"/>
                        <a:t> upward i.e. from subordinate to superior.</a:t>
                      </a:r>
                      <a:endParaRPr lang="en-IN" dirty="0"/>
                    </a:p>
                  </a:txBody>
                  <a:tcPr/>
                </a:tc>
                <a:tc>
                  <a:txBody>
                    <a:bodyPr/>
                    <a:lstStyle/>
                    <a:p>
                      <a:r>
                        <a:rPr lang="en-IN" dirty="0" smtClean="0"/>
                        <a:t>It flows</a:t>
                      </a:r>
                      <a:r>
                        <a:rPr lang="en-IN" baseline="0" dirty="0" smtClean="0"/>
                        <a:t> upward i.e. from subordinate to superior. </a:t>
                      </a:r>
                      <a:endParaRPr lang="en-IN" dirty="0"/>
                    </a:p>
                  </a:txBody>
                  <a:tcPr/>
                </a:tc>
                <a:extLst>
                  <a:ext uri="{0D108BD9-81ED-4DB2-BD59-A6C34878D82A}">
                    <a16:rowId xmlns:a16="http://schemas.microsoft.com/office/drawing/2014/main" val="3699244917"/>
                  </a:ext>
                </a:extLst>
              </a:tr>
              <a:tr h="929331">
                <a:tc>
                  <a:txBody>
                    <a:bodyPr/>
                    <a:lstStyle/>
                    <a:p>
                      <a:r>
                        <a:rPr lang="en-IN" dirty="0" smtClean="0"/>
                        <a:t>Delegation</a:t>
                      </a:r>
                      <a:endParaRPr lang="en-IN" dirty="0"/>
                    </a:p>
                  </a:txBody>
                  <a:tcPr/>
                </a:tc>
                <a:tc>
                  <a:txBody>
                    <a:bodyPr/>
                    <a:lstStyle/>
                    <a:p>
                      <a:r>
                        <a:rPr lang="en-IN" dirty="0" smtClean="0"/>
                        <a:t>It can be</a:t>
                      </a:r>
                      <a:r>
                        <a:rPr lang="en-IN" baseline="0" dirty="0" smtClean="0"/>
                        <a:t> delegated.</a:t>
                      </a:r>
                      <a:endParaRPr lang="en-IN" dirty="0"/>
                    </a:p>
                  </a:txBody>
                  <a:tcPr/>
                </a:tc>
                <a:tc>
                  <a:txBody>
                    <a:bodyPr/>
                    <a:lstStyle/>
                    <a:p>
                      <a:r>
                        <a:rPr lang="en-IN" dirty="0" smtClean="0"/>
                        <a:t>It can’t be delegated</a:t>
                      </a:r>
                      <a:r>
                        <a:rPr lang="en-IN" baseline="0" dirty="0" smtClean="0"/>
                        <a:t> entirely. </a:t>
                      </a:r>
                      <a:endParaRPr lang="en-IN" dirty="0"/>
                    </a:p>
                  </a:txBody>
                  <a:tcPr/>
                </a:tc>
                <a:tc>
                  <a:txBody>
                    <a:bodyPr/>
                    <a:lstStyle/>
                    <a:p>
                      <a:r>
                        <a:rPr lang="en-IN" dirty="0" smtClean="0"/>
                        <a:t>It can’t be delegated</a:t>
                      </a:r>
                      <a:r>
                        <a:rPr lang="en-IN" baseline="0" dirty="0" smtClean="0"/>
                        <a:t> at all. </a:t>
                      </a:r>
                      <a:endParaRPr lang="en-IN" dirty="0"/>
                    </a:p>
                  </a:txBody>
                  <a:tcPr/>
                </a:tc>
                <a:extLst>
                  <a:ext uri="{0D108BD9-81ED-4DB2-BD59-A6C34878D82A}">
                    <a16:rowId xmlns:a16="http://schemas.microsoft.com/office/drawing/2014/main" val="1093039917"/>
                  </a:ext>
                </a:extLst>
              </a:tr>
              <a:tr h="929331">
                <a:tc>
                  <a:txBody>
                    <a:bodyPr/>
                    <a:lstStyle/>
                    <a:p>
                      <a:r>
                        <a:rPr lang="en-IN" dirty="0" smtClean="0"/>
                        <a:t>Nature</a:t>
                      </a:r>
                      <a:r>
                        <a:rPr lang="en-IN" baseline="0" dirty="0" smtClean="0"/>
                        <a:t> </a:t>
                      </a:r>
                      <a:endParaRPr lang="en-IN" dirty="0"/>
                    </a:p>
                  </a:txBody>
                  <a:tcPr/>
                </a:tc>
                <a:tc>
                  <a:txBody>
                    <a:bodyPr/>
                    <a:lstStyle/>
                    <a:p>
                      <a:r>
                        <a:rPr lang="en-IN" dirty="0" smtClean="0"/>
                        <a:t>Authority is a power.</a:t>
                      </a:r>
                      <a:endParaRPr lang="en-IN" dirty="0"/>
                    </a:p>
                  </a:txBody>
                  <a:tcPr/>
                </a:tc>
                <a:tc>
                  <a:txBody>
                    <a:bodyPr/>
                    <a:lstStyle/>
                    <a:p>
                      <a:r>
                        <a:rPr lang="en-IN" dirty="0" smtClean="0"/>
                        <a:t>Responsibility is an obligation. </a:t>
                      </a:r>
                      <a:endParaRPr lang="en-IN" dirty="0"/>
                    </a:p>
                  </a:txBody>
                  <a:tcPr/>
                </a:tc>
                <a:tc>
                  <a:txBody>
                    <a:bodyPr/>
                    <a:lstStyle/>
                    <a:p>
                      <a:r>
                        <a:rPr lang="en-IN" dirty="0" smtClean="0"/>
                        <a:t>Accountability</a:t>
                      </a:r>
                      <a:r>
                        <a:rPr lang="en-IN" baseline="0" dirty="0" smtClean="0"/>
                        <a:t> is answerability.</a:t>
                      </a:r>
                      <a:endParaRPr lang="en-IN" dirty="0"/>
                    </a:p>
                  </a:txBody>
                  <a:tcPr/>
                </a:tc>
                <a:extLst>
                  <a:ext uri="{0D108BD9-81ED-4DB2-BD59-A6C34878D82A}">
                    <a16:rowId xmlns:a16="http://schemas.microsoft.com/office/drawing/2014/main" val="2184799010"/>
                  </a:ext>
                </a:extLst>
              </a:tr>
            </a:tbl>
          </a:graphicData>
        </a:graphic>
      </p:graphicFrame>
      <p:sp>
        <p:nvSpPr>
          <p:cNvPr id="4" name="TextBox 3"/>
          <p:cNvSpPr txBox="1"/>
          <p:nvPr/>
        </p:nvSpPr>
        <p:spPr>
          <a:xfrm>
            <a:off x="533400" y="304800"/>
            <a:ext cx="8001000" cy="400110"/>
          </a:xfrm>
          <a:prstGeom prst="rect">
            <a:avLst/>
          </a:prstGeom>
          <a:noFill/>
        </p:spPr>
        <p:txBody>
          <a:bodyPr wrap="square" rtlCol="0">
            <a:spAutoFit/>
          </a:bodyPr>
          <a:lstStyle/>
          <a:p>
            <a:r>
              <a:rPr lang="en-GB" sz="2000" b="1" dirty="0"/>
              <a:t>Difference between Authority, Responsibility and </a:t>
            </a:r>
            <a:r>
              <a:rPr lang="en-GB" sz="2000" b="1" dirty="0" smtClean="0"/>
              <a:t>Accountability</a:t>
            </a:r>
            <a:endParaRPr lang="en-GB" sz="2000" b="1" dirty="0"/>
          </a:p>
        </p:txBody>
      </p:sp>
    </p:spTree>
    <p:extLst>
      <p:ext uri="{BB962C8B-B14F-4D97-AF65-F5344CB8AC3E}">
        <p14:creationId xmlns:p14="http://schemas.microsoft.com/office/powerpoint/2010/main" val="31430407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57998"/>
          </a:xfrm>
          <a:prstGeom prst="rect">
            <a:avLst/>
          </a:prstGeom>
        </p:spPr>
      </p:pic>
      <p:sp>
        <p:nvSpPr>
          <p:cNvPr id="3" name="object 3"/>
          <p:cNvSpPr txBox="1">
            <a:spLocks noGrp="1"/>
          </p:cNvSpPr>
          <p:nvPr>
            <p:ph type="title"/>
          </p:nvPr>
        </p:nvSpPr>
        <p:spPr>
          <a:xfrm>
            <a:off x="1066800" y="420739"/>
            <a:ext cx="6208013" cy="1368323"/>
          </a:xfrm>
          <a:prstGeom prst="rect">
            <a:avLst/>
          </a:prstGeom>
        </p:spPr>
        <p:txBody>
          <a:bodyPr vert="horz" wrap="square" lIns="0" tIns="13970" rIns="0" bIns="0" rtlCol="0">
            <a:spAutoFit/>
          </a:bodyPr>
          <a:lstStyle/>
          <a:p>
            <a:pPr marL="387985" marR="5080" indent="-375285">
              <a:lnSpc>
                <a:spcPct val="100000"/>
              </a:lnSpc>
              <a:spcBef>
                <a:spcPts val="110"/>
              </a:spcBef>
            </a:pPr>
            <a:r>
              <a:rPr spc="-55" dirty="0">
                <a:latin typeface="Calibri"/>
                <a:cs typeface="Calibri"/>
              </a:rPr>
              <a:t>CENTRALIZATION</a:t>
            </a:r>
            <a:r>
              <a:rPr spc="-175" dirty="0">
                <a:latin typeface="Calibri"/>
                <a:cs typeface="Calibri"/>
              </a:rPr>
              <a:t> </a:t>
            </a:r>
            <a:r>
              <a:rPr spc="5" dirty="0">
                <a:latin typeface="Calibri"/>
                <a:cs typeface="Calibri"/>
              </a:rPr>
              <a:t>AND </a:t>
            </a:r>
            <a:r>
              <a:rPr spc="-885" dirty="0">
                <a:latin typeface="Calibri"/>
                <a:cs typeface="Calibri"/>
              </a:rPr>
              <a:t> </a:t>
            </a:r>
            <a:r>
              <a:rPr spc="-55" dirty="0">
                <a:latin typeface="Calibri"/>
                <a:cs typeface="Calibri"/>
              </a:rPr>
              <a:t>DECENTRALIZATION</a:t>
            </a:r>
          </a:p>
        </p:txBody>
      </p:sp>
      <p:sp>
        <p:nvSpPr>
          <p:cNvPr id="4" name="object 4"/>
          <p:cNvSpPr txBox="1"/>
          <p:nvPr/>
        </p:nvSpPr>
        <p:spPr>
          <a:xfrm>
            <a:off x="7762620" y="6032308"/>
            <a:ext cx="121920" cy="144145"/>
          </a:xfrm>
          <a:prstGeom prst="rect">
            <a:avLst/>
          </a:prstGeom>
        </p:spPr>
        <p:txBody>
          <a:bodyPr vert="horz" wrap="square" lIns="0" tIns="0" rIns="0" bIns="0" rtlCol="0">
            <a:spAutoFit/>
          </a:bodyPr>
          <a:lstStyle/>
          <a:p>
            <a:pPr>
              <a:lnSpc>
                <a:spcPts val="1070"/>
              </a:lnSpc>
            </a:pPr>
            <a:r>
              <a:rPr sz="1000" spc="-25" dirty="0">
                <a:latin typeface="Times New Roman"/>
                <a:cs typeface="Times New Roman"/>
              </a:rPr>
              <a:t>16</a:t>
            </a:r>
            <a:endParaRPr sz="1000">
              <a:latin typeface="Times New Roman"/>
              <a:cs typeface="Times New Roman"/>
            </a:endParaRPr>
          </a:p>
        </p:txBody>
      </p:sp>
      <p:pic>
        <p:nvPicPr>
          <p:cNvPr id="5" name="object 5"/>
          <p:cNvPicPr/>
          <p:nvPr/>
        </p:nvPicPr>
        <p:blipFill>
          <a:blip r:embed="rId3" cstate="print"/>
          <a:stretch>
            <a:fillRect/>
          </a:stretch>
        </p:blipFill>
        <p:spPr>
          <a:xfrm>
            <a:off x="923544" y="2209800"/>
            <a:ext cx="7528559" cy="4285488"/>
          </a:xfrm>
          <a:prstGeom prst="rect">
            <a:avLst/>
          </a:prstGeom>
        </p:spPr>
      </p:pic>
    </p:spTree>
    <p:extLst>
      <p:ext uri="{BB962C8B-B14F-4D97-AF65-F5344CB8AC3E}">
        <p14:creationId xmlns:p14="http://schemas.microsoft.com/office/powerpoint/2010/main" val="73636650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738664"/>
          </a:xfrm>
        </p:spPr>
        <p:txBody>
          <a:bodyPr/>
          <a:lstStyle/>
          <a:p>
            <a:pPr algn="ctr"/>
            <a:r>
              <a:rPr lang="en-IN" sz="4800" b="1" spc="-55" dirty="0"/>
              <a:t>CENTRALIZATION</a:t>
            </a:r>
            <a:endParaRPr lang="en-IN" sz="4800" b="1" dirty="0"/>
          </a:p>
        </p:txBody>
      </p:sp>
      <p:sp>
        <p:nvSpPr>
          <p:cNvPr id="3" name="Text Placeholder 2"/>
          <p:cNvSpPr>
            <a:spLocks noGrp="1"/>
          </p:cNvSpPr>
          <p:nvPr>
            <p:ph type="body" idx="1"/>
          </p:nvPr>
        </p:nvSpPr>
        <p:spPr>
          <a:xfrm>
            <a:off x="528650" y="1645996"/>
            <a:ext cx="8086699" cy="4237057"/>
          </a:xfrm>
        </p:spPr>
        <p:txBody>
          <a:bodyPr/>
          <a:lstStyle/>
          <a:p>
            <a:pPr marL="356870" marR="5080" indent="-259079">
              <a:lnSpc>
                <a:spcPct val="100000"/>
              </a:lnSpc>
              <a:spcBef>
                <a:spcPts val="100"/>
              </a:spcBef>
            </a:pPr>
            <a:r>
              <a:rPr lang="en-GB" sz="2800" spc="-15" dirty="0" smtClean="0"/>
              <a:t>According </a:t>
            </a:r>
            <a:r>
              <a:rPr lang="en-GB" sz="2800" spc="-25" dirty="0"/>
              <a:t>to </a:t>
            </a:r>
            <a:r>
              <a:rPr lang="en-GB" sz="2800" dirty="0"/>
              <a:t>Allen, </a:t>
            </a:r>
            <a:r>
              <a:rPr lang="en-GB" sz="2800" spc="-35" dirty="0"/>
              <a:t>“</a:t>
            </a:r>
            <a:r>
              <a:rPr lang="en-GB" sz="2800" b="1" spc="-35" dirty="0"/>
              <a:t>Centralization” </a:t>
            </a:r>
            <a:r>
              <a:rPr lang="en-GB" sz="2800" b="1" dirty="0"/>
              <a:t>is </a:t>
            </a:r>
            <a:r>
              <a:rPr lang="en-GB" sz="2800" b="1" spc="-5" dirty="0"/>
              <a:t>the </a:t>
            </a:r>
            <a:r>
              <a:rPr lang="en-GB" sz="2800" b="1" dirty="0"/>
              <a:t> </a:t>
            </a:r>
            <a:r>
              <a:rPr lang="en-GB" sz="2800" b="1" spc="-40" dirty="0"/>
              <a:t>systematic</a:t>
            </a:r>
            <a:r>
              <a:rPr lang="en-GB" sz="2800" b="1" spc="-35" dirty="0"/>
              <a:t> </a:t>
            </a:r>
            <a:r>
              <a:rPr lang="en-GB" sz="2800" b="1" dirty="0"/>
              <a:t>and</a:t>
            </a:r>
            <a:r>
              <a:rPr lang="en-GB" sz="2800" b="1" spc="-10" dirty="0"/>
              <a:t> </a:t>
            </a:r>
            <a:r>
              <a:rPr lang="en-GB" sz="2800" b="1" spc="-40" dirty="0"/>
              <a:t>consistent</a:t>
            </a:r>
            <a:r>
              <a:rPr lang="en-GB" sz="2800" b="1" spc="50" dirty="0"/>
              <a:t> </a:t>
            </a:r>
            <a:r>
              <a:rPr lang="en-GB" sz="2800" b="1" spc="-15" dirty="0"/>
              <a:t>reservation</a:t>
            </a:r>
            <a:r>
              <a:rPr lang="en-GB" sz="2800" b="1" spc="-80" dirty="0"/>
              <a:t> </a:t>
            </a:r>
            <a:r>
              <a:rPr lang="en-GB" sz="2800" b="1" dirty="0"/>
              <a:t>of </a:t>
            </a:r>
            <a:r>
              <a:rPr lang="en-GB" sz="2800" b="1" spc="5" dirty="0"/>
              <a:t> </a:t>
            </a:r>
            <a:r>
              <a:rPr lang="en-GB" sz="2800" b="1" spc="-5" dirty="0"/>
              <a:t>authority </a:t>
            </a:r>
            <a:r>
              <a:rPr lang="en-GB" sz="2800" b="1" spc="-25" dirty="0"/>
              <a:t>at</a:t>
            </a:r>
            <a:r>
              <a:rPr lang="en-GB" sz="2800" b="1" spc="-35" dirty="0"/>
              <a:t> </a:t>
            </a:r>
            <a:r>
              <a:rPr lang="en-GB" sz="2800" b="1" spc="-20" dirty="0"/>
              <a:t>central</a:t>
            </a:r>
            <a:r>
              <a:rPr lang="en-GB" sz="2800" b="1" spc="-70" dirty="0"/>
              <a:t> </a:t>
            </a:r>
            <a:r>
              <a:rPr lang="en-GB" sz="2800" b="1" spc="-10" dirty="0"/>
              <a:t>points</a:t>
            </a:r>
            <a:r>
              <a:rPr lang="en-GB" sz="2800" b="1" spc="-65" dirty="0"/>
              <a:t> </a:t>
            </a:r>
            <a:r>
              <a:rPr lang="en-GB" sz="2800" b="1" dirty="0"/>
              <a:t>in</a:t>
            </a:r>
            <a:r>
              <a:rPr lang="en-GB" sz="2800" b="1" spc="10" dirty="0"/>
              <a:t> </a:t>
            </a:r>
            <a:r>
              <a:rPr lang="en-GB" sz="2800" b="1" spc="-5" dirty="0"/>
              <a:t>the</a:t>
            </a:r>
            <a:r>
              <a:rPr lang="en-GB" sz="2800" b="1" spc="15" dirty="0"/>
              <a:t> </a:t>
            </a:r>
            <a:r>
              <a:rPr lang="en-GB" sz="2800" b="1" spc="-40" dirty="0"/>
              <a:t>organization</a:t>
            </a:r>
            <a:r>
              <a:rPr lang="en-GB" sz="2800" spc="-40" dirty="0"/>
              <a:t>”</a:t>
            </a:r>
            <a:endParaRPr lang="en-GB" sz="2800" dirty="0"/>
          </a:p>
          <a:p>
            <a:pPr marL="12700">
              <a:lnSpc>
                <a:spcPct val="100000"/>
              </a:lnSpc>
              <a:spcBef>
                <a:spcPts val="700"/>
              </a:spcBef>
            </a:pPr>
            <a:r>
              <a:rPr lang="en-GB" sz="2800" dirty="0"/>
              <a:t>The</a:t>
            </a:r>
            <a:r>
              <a:rPr lang="en-GB" sz="2800" spc="-40" dirty="0"/>
              <a:t> </a:t>
            </a:r>
            <a:r>
              <a:rPr lang="en-GB" sz="2800" spc="-15" dirty="0"/>
              <a:t>implication</a:t>
            </a:r>
            <a:r>
              <a:rPr lang="en-GB" sz="2800" spc="-90" dirty="0"/>
              <a:t> </a:t>
            </a:r>
            <a:r>
              <a:rPr lang="en-GB" sz="2800" spc="-5" dirty="0"/>
              <a:t>of</a:t>
            </a:r>
            <a:r>
              <a:rPr lang="en-GB" sz="2800" spc="-15" dirty="0"/>
              <a:t> </a:t>
            </a:r>
            <a:r>
              <a:rPr lang="en-GB" sz="2800" spc="-35" dirty="0"/>
              <a:t>centralization</a:t>
            </a:r>
            <a:r>
              <a:rPr lang="en-GB" sz="2800" spc="25" dirty="0"/>
              <a:t> </a:t>
            </a:r>
            <a:r>
              <a:rPr lang="en-GB" sz="2800" spc="-10" dirty="0"/>
              <a:t>can</a:t>
            </a:r>
            <a:r>
              <a:rPr lang="en-GB" sz="2800" spc="-75" dirty="0"/>
              <a:t> </a:t>
            </a:r>
            <a:r>
              <a:rPr lang="en-GB" sz="2800" spc="5" dirty="0"/>
              <a:t>be</a:t>
            </a:r>
            <a:r>
              <a:rPr lang="en-GB" sz="2800" spc="-65" dirty="0"/>
              <a:t> </a:t>
            </a:r>
            <a:r>
              <a:rPr lang="en-GB" sz="2800" spc="-10" dirty="0"/>
              <a:t>:-</a:t>
            </a:r>
            <a:endParaRPr lang="en-GB" sz="2800" dirty="0"/>
          </a:p>
          <a:p>
            <a:pPr marL="356870" marR="431800" indent="-344805">
              <a:lnSpc>
                <a:spcPct val="100000"/>
              </a:lnSpc>
              <a:spcBef>
                <a:spcPts val="700"/>
              </a:spcBef>
              <a:buFont typeface="Arial MT"/>
              <a:buChar char="•"/>
              <a:tabLst>
                <a:tab pos="356870" algn="l"/>
                <a:tab pos="357505" algn="l"/>
              </a:tabLst>
            </a:pPr>
            <a:r>
              <a:rPr lang="en-GB" sz="2800" spc="-15" dirty="0"/>
              <a:t>Reservation</a:t>
            </a:r>
            <a:r>
              <a:rPr lang="en-GB" sz="2800" spc="-114" dirty="0"/>
              <a:t> </a:t>
            </a:r>
            <a:r>
              <a:rPr lang="en-GB" sz="2800" spc="-5" dirty="0"/>
              <a:t>of</a:t>
            </a:r>
            <a:r>
              <a:rPr lang="en-GB" sz="2800" spc="-40" dirty="0"/>
              <a:t> </a:t>
            </a:r>
            <a:r>
              <a:rPr lang="en-GB" sz="2800" dirty="0"/>
              <a:t>decision</a:t>
            </a:r>
            <a:r>
              <a:rPr lang="en-GB" sz="2800" spc="-65" dirty="0"/>
              <a:t> </a:t>
            </a:r>
            <a:r>
              <a:rPr lang="en-GB" sz="2800" dirty="0"/>
              <a:t>making</a:t>
            </a:r>
            <a:r>
              <a:rPr lang="en-GB" sz="2800" spc="-25" dirty="0"/>
              <a:t> </a:t>
            </a:r>
            <a:r>
              <a:rPr lang="en-GB" sz="2800" spc="-10" dirty="0"/>
              <a:t>power</a:t>
            </a:r>
            <a:r>
              <a:rPr lang="en-GB" sz="2800" spc="-80" dirty="0"/>
              <a:t> </a:t>
            </a:r>
            <a:r>
              <a:rPr lang="en-GB" sz="2800" spc="-15" dirty="0"/>
              <a:t>at</a:t>
            </a:r>
            <a:r>
              <a:rPr lang="en-GB" sz="2800" spc="-55" dirty="0"/>
              <a:t> </a:t>
            </a:r>
            <a:r>
              <a:rPr lang="en-GB" sz="2800" spc="-15" dirty="0"/>
              <a:t>top </a:t>
            </a:r>
            <a:r>
              <a:rPr lang="en-GB" sz="2800" spc="-665" dirty="0"/>
              <a:t> </a:t>
            </a:r>
            <a:r>
              <a:rPr lang="en-GB" sz="2800" spc="-10" dirty="0"/>
              <a:t>level.</a:t>
            </a:r>
            <a:endParaRPr lang="en-GB" sz="2800" dirty="0"/>
          </a:p>
          <a:p>
            <a:pPr marL="356870" marR="622300" indent="-344805">
              <a:lnSpc>
                <a:spcPct val="100000"/>
              </a:lnSpc>
              <a:spcBef>
                <a:spcPts val="720"/>
              </a:spcBef>
              <a:buFont typeface="Arial MT"/>
              <a:buChar char="•"/>
              <a:tabLst>
                <a:tab pos="356870" algn="l"/>
                <a:tab pos="357505" algn="l"/>
              </a:tabLst>
            </a:pPr>
            <a:r>
              <a:rPr lang="en-GB" sz="2800" spc="-15" dirty="0"/>
              <a:t>Reservation</a:t>
            </a:r>
            <a:r>
              <a:rPr lang="en-GB" sz="2800" spc="-120" dirty="0"/>
              <a:t> </a:t>
            </a:r>
            <a:r>
              <a:rPr lang="en-GB" sz="2800" spc="-5" dirty="0"/>
              <a:t>of</a:t>
            </a:r>
            <a:r>
              <a:rPr lang="en-GB" sz="2800" spc="-40" dirty="0"/>
              <a:t> </a:t>
            </a:r>
            <a:r>
              <a:rPr lang="en-GB" sz="2800" spc="-30" dirty="0"/>
              <a:t>operating</a:t>
            </a:r>
            <a:r>
              <a:rPr lang="en-GB" sz="2800" spc="5" dirty="0"/>
              <a:t> </a:t>
            </a:r>
            <a:r>
              <a:rPr lang="en-GB" sz="2800" dirty="0"/>
              <a:t>authority</a:t>
            </a:r>
            <a:r>
              <a:rPr lang="en-GB" sz="2800" spc="-65" dirty="0"/>
              <a:t> </a:t>
            </a:r>
            <a:r>
              <a:rPr lang="en-GB" sz="2800" dirty="0"/>
              <a:t>with</a:t>
            </a:r>
            <a:r>
              <a:rPr lang="en-GB" sz="2800" spc="-20" dirty="0"/>
              <a:t> </a:t>
            </a:r>
            <a:r>
              <a:rPr lang="en-GB" sz="2800" dirty="0"/>
              <a:t>the </a:t>
            </a:r>
            <a:r>
              <a:rPr lang="en-GB" sz="2800" spc="-665" dirty="0"/>
              <a:t> </a:t>
            </a:r>
            <a:r>
              <a:rPr lang="en-GB" sz="2800" dirty="0"/>
              <a:t>middle</a:t>
            </a:r>
            <a:r>
              <a:rPr lang="en-GB" sz="2800" spc="-35" dirty="0"/>
              <a:t> </a:t>
            </a:r>
            <a:r>
              <a:rPr lang="en-GB" sz="2800" spc="-15" dirty="0"/>
              <a:t>level</a:t>
            </a:r>
            <a:r>
              <a:rPr lang="en-GB" sz="2800" spc="-75" dirty="0"/>
              <a:t> </a:t>
            </a:r>
            <a:r>
              <a:rPr lang="en-GB" sz="2800" spc="-15" dirty="0"/>
              <a:t>managers</a:t>
            </a:r>
            <a:r>
              <a:rPr lang="en-GB" sz="2800" spc="-15" dirty="0" smtClean="0"/>
              <a:t>.</a:t>
            </a:r>
          </a:p>
          <a:p>
            <a:pPr marL="356870" marR="622300" indent="-344805">
              <a:spcBef>
                <a:spcPts val="720"/>
              </a:spcBef>
              <a:buFont typeface="Arial MT"/>
              <a:buChar char="•"/>
              <a:tabLst>
                <a:tab pos="356870" algn="l"/>
                <a:tab pos="357505" algn="l"/>
              </a:tabLst>
            </a:pPr>
            <a:r>
              <a:rPr lang="en-GB" sz="2800" spc="-15" dirty="0"/>
              <a:t>Reservation</a:t>
            </a:r>
            <a:r>
              <a:rPr lang="en-GB" sz="2800" spc="-110" dirty="0"/>
              <a:t> </a:t>
            </a:r>
            <a:r>
              <a:rPr lang="en-GB" sz="2800" spc="-5" dirty="0"/>
              <a:t>of</a:t>
            </a:r>
            <a:r>
              <a:rPr lang="en-GB" sz="2800" spc="-30" dirty="0"/>
              <a:t> </a:t>
            </a:r>
            <a:r>
              <a:rPr lang="en-GB" sz="2800" spc="-35" dirty="0"/>
              <a:t>operation</a:t>
            </a:r>
            <a:r>
              <a:rPr lang="en-GB" sz="2800" spc="30" dirty="0"/>
              <a:t> </a:t>
            </a:r>
            <a:r>
              <a:rPr lang="en-GB" sz="2800" spc="-15" dirty="0"/>
              <a:t>at</a:t>
            </a:r>
            <a:r>
              <a:rPr lang="en-GB" sz="2800" spc="-55" dirty="0"/>
              <a:t> </a:t>
            </a:r>
            <a:r>
              <a:rPr lang="en-GB" sz="2800" spc="-5" dirty="0"/>
              <a:t>lower</a:t>
            </a:r>
            <a:r>
              <a:rPr lang="en-GB" sz="2800" spc="-75" dirty="0"/>
              <a:t> </a:t>
            </a:r>
            <a:r>
              <a:rPr lang="en-GB" sz="2800" spc="-15" dirty="0"/>
              <a:t>level</a:t>
            </a:r>
            <a:r>
              <a:rPr lang="en-GB" sz="2800" spc="-55" dirty="0"/>
              <a:t> </a:t>
            </a:r>
            <a:r>
              <a:rPr lang="en-GB" sz="2800" spc="-15" dirty="0"/>
              <a:t>at</a:t>
            </a:r>
            <a:r>
              <a:rPr lang="en-GB" sz="2800" spc="-55" dirty="0"/>
              <a:t> </a:t>
            </a:r>
            <a:r>
              <a:rPr lang="en-GB" sz="2800" dirty="0" smtClean="0"/>
              <a:t>the directions of </a:t>
            </a:r>
            <a:r>
              <a:rPr lang="en-GB" sz="2800" dirty="0"/>
              <a:t>the top </a:t>
            </a:r>
            <a:r>
              <a:rPr lang="en-GB" sz="2800" dirty="0" smtClean="0"/>
              <a:t>level.</a:t>
            </a:r>
            <a:endParaRPr lang="en-GB" sz="2800" dirty="0"/>
          </a:p>
        </p:txBody>
      </p:sp>
    </p:spTree>
    <p:extLst>
      <p:ext uri="{BB962C8B-B14F-4D97-AF65-F5344CB8AC3E}">
        <p14:creationId xmlns:p14="http://schemas.microsoft.com/office/powerpoint/2010/main" val="24912409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78636" y="2357627"/>
            <a:ext cx="6595745" cy="0"/>
          </a:xfrm>
          <a:custGeom>
            <a:avLst/>
            <a:gdLst/>
            <a:ahLst/>
            <a:cxnLst/>
            <a:rect l="l" t="t" r="r" b="b"/>
            <a:pathLst>
              <a:path w="6595745">
                <a:moveTo>
                  <a:pt x="0" y="0"/>
                </a:moveTo>
                <a:lnTo>
                  <a:pt x="6595490" y="0"/>
                </a:lnTo>
              </a:path>
            </a:pathLst>
          </a:custGeom>
          <a:ln w="15240">
            <a:solidFill>
              <a:srgbClr val="83992A"/>
            </a:solidFill>
          </a:ln>
        </p:spPr>
        <p:txBody>
          <a:bodyPr wrap="square" lIns="0" tIns="0" rIns="0" bIns="0" rtlCol="0"/>
          <a:lstStyle/>
          <a:p>
            <a:endParaRPr/>
          </a:p>
        </p:txBody>
      </p:sp>
      <p:sp>
        <p:nvSpPr>
          <p:cNvPr id="3" name="object 3"/>
          <p:cNvSpPr txBox="1">
            <a:spLocks noGrp="1"/>
          </p:cNvSpPr>
          <p:nvPr>
            <p:ph type="title"/>
          </p:nvPr>
        </p:nvSpPr>
        <p:spPr>
          <a:xfrm>
            <a:off x="1482089" y="1244600"/>
            <a:ext cx="6188710" cy="574040"/>
          </a:xfrm>
          <a:prstGeom prst="rect">
            <a:avLst/>
          </a:prstGeom>
        </p:spPr>
        <p:txBody>
          <a:bodyPr vert="horz" wrap="square" lIns="0" tIns="12700" rIns="0" bIns="0" rtlCol="0">
            <a:spAutoFit/>
          </a:bodyPr>
          <a:lstStyle/>
          <a:p>
            <a:pPr marL="12700">
              <a:lnSpc>
                <a:spcPct val="100000"/>
              </a:lnSpc>
              <a:spcBef>
                <a:spcPts val="100"/>
              </a:spcBef>
              <a:tabLst>
                <a:tab pos="2960370" algn="l"/>
              </a:tabLst>
            </a:pPr>
            <a:r>
              <a:rPr sz="3600" b="1" spc="-10" dirty="0">
                <a:latin typeface="Times New Roman"/>
                <a:cs typeface="Times New Roman"/>
              </a:rPr>
              <a:t>Importance</a:t>
            </a:r>
            <a:r>
              <a:rPr sz="3600" b="1" spc="-15" dirty="0">
                <a:latin typeface="Times New Roman"/>
                <a:cs typeface="Times New Roman"/>
              </a:rPr>
              <a:t> </a:t>
            </a:r>
            <a:r>
              <a:rPr sz="3600" b="1" spc="-20" dirty="0">
                <a:latin typeface="Times New Roman"/>
                <a:cs typeface="Times New Roman"/>
              </a:rPr>
              <a:t>of	</a:t>
            </a:r>
            <a:r>
              <a:rPr lang="en-IN" sz="3600" b="1" spc="-10" dirty="0">
                <a:latin typeface="Times New Roman"/>
                <a:cs typeface="Times New Roman"/>
              </a:rPr>
              <a:t>C</a:t>
            </a:r>
            <a:r>
              <a:rPr sz="3600" b="1" spc="-10" dirty="0" err="1" smtClean="0">
                <a:latin typeface="Times New Roman"/>
                <a:cs typeface="Times New Roman"/>
              </a:rPr>
              <a:t>entralization</a:t>
            </a:r>
            <a:endParaRPr sz="3600" dirty="0">
              <a:latin typeface="Times New Roman"/>
              <a:cs typeface="Times New Roman"/>
            </a:endParaRPr>
          </a:p>
        </p:txBody>
      </p:sp>
      <p:sp>
        <p:nvSpPr>
          <p:cNvPr id="4" name="object 4"/>
          <p:cNvSpPr txBox="1"/>
          <p:nvPr/>
        </p:nvSpPr>
        <p:spPr>
          <a:xfrm>
            <a:off x="1256182" y="2409786"/>
            <a:ext cx="5594350" cy="2360903"/>
          </a:xfrm>
          <a:prstGeom prst="rect">
            <a:avLst/>
          </a:prstGeom>
        </p:spPr>
        <p:txBody>
          <a:bodyPr vert="horz" wrap="square" lIns="0" tIns="102870" rIns="0" bIns="0" rtlCol="0">
            <a:spAutoFit/>
          </a:bodyPr>
          <a:lstStyle/>
          <a:p>
            <a:pPr marL="299085" indent="-287020">
              <a:spcBef>
                <a:spcPts val="810"/>
              </a:spcBef>
              <a:buClr>
                <a:srgbClr val="83992A"/>
              </a:buClr>
              <a:buSzPct val="114583"/>
              <a:buFont typeface="Arial MT"/>
              <a:buChar char="•"/>
              <a:tabLst>
                <a:tab pos="299085" algn="l"/>
                <a:tab pos="299720" algn="l"/>
              </a:tabLst>
            </a:pPr>
            <a:r>
              <a:rPr lang="en-IN" sz="2400" b="1" dirty="0"/>
              <a:t>Clear Chain of Command</a:t>
            </a:r>
          </a:p>
          <a:p>
            <a:pPr marL="299085" indent="-287020">
              <a:spcBef>
                <a:spcPts val="810"/>
              </a:spcBef>
              <a:buClr>
                <a:srgbClr val="83992A"/>
              </a:buClr>
              <a:buSzPct val="114583"/>
              <a:buFont typeface="Arial MT"/>
              <a:buChar char="•"/>
              <a:tabLst>
                <a:tab pos="299085" algn="l"/>
                <a:tab pos="299720" algn="l"/>
              </a:tabLst>
            </a:pPr>
            <a:r>
              <a:rPr lang="en-IN" sz="2400" b="1" dirty="0"/>
              <a:t>Focused Vision</a:t>
            </a:r>
          </a:p>
          <a:p>
            <a:pPr marL="299085" indent="-287020">
              <a:spcBef>
                <a:spcPts val="810"/>
              </a:spcBef>
              <a:buClr>
                <a:srgbClr val="83992A"/>
              </a:buClr>
              <a:buSzPct val="114583"/>
              <a:buFont typeface="Arial MT"/>
              <a:buChar char="•"/>
              <a:tabLst>
                <a:tab pos="299085" algn="l"/>
                <a:tab pos="299720" algn="l"/>
              </a:tabLst>
            </a:pPr>
            <a:r>
              <a:rPr lang="en-IN" sz="2400" b="1" dirty="0"/>
              <a:t>Reduced Costs</a:t>
            </a:r>
          </a:p>
          <a:p>
            <a:pPr marL="299085" indent="-287020">
              <a:spcBef>
                <a:spcPts val="810"/>
              </a:spcBef>
              <a:buClr>
                <a:srgbClr val="83992A"/>
              </a:buClr>
              <a:buSzPct val="114583"/>
              <a:buFont typeface="Arial MT"/>
              <a:buChar char="•"/>
              <a:tabLst>
                <a:tab pos="299085" algn="l"/>
                <a:tab pos="299720" algn="l"/>
              </a:tabLst>
            </a:pPr>
            <a:r>
              <a:rPr lang="en-IN" sz="2400" b="1" dirty="0"/>
              <a:t>Quick Implementation</a:t>
            </a:r>
          </a:p>
          <a:p>
            <a:pPr marL="299085" indent="-287020">
              <a:spcBef>
                <a:spcPts val="810"/>
              </a:spcBef>
              <a:buClr>
                <a:srgbClr val="83992A"/>
              </a:buClr>
              <a:buSzPct val="114583"/>
              <a:buFont typeface="Arial MT"/>
              <a:buChar char="•"/>
              <a:tabLst>
                <a:tab pos="299085" algn="l"/>
                <a:tab pos="299720" algn="l"/>
              </a:tabLst>
            </a:pPr>
            <a:r>
              <a:rPr lang="en-IN" sz="2400" b="1" dirty="0"/>
              <a:t>Improved Quality of </a:t>
            </a:r>
            <a:r>
              <a:rPr lang="en-IN" sz="2400" b="1" dirty="0" smtClean="0"/>
              <a:t>Work</a:t>
            </a:r>
            <a:endParaRPr lang="en-IN" sz="2400" b="1" dirty="0"/>
          </a:p>
        </p:txBody>
      </p:sp>
    </p:spTree>
    <p:extLst>
      <p:ext uri="{BB962C8B-B14F-4D97-AF65-F5344CB8AC3E}">
        <p14:creationId xmlns:p14="http://schemas.microsoft.com/office/powerpoint/2010/main" val="161008254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78636" y="2357627"/>
            <a:ext cx="6595745" cy="0"/>
          </a:xfrm>
          <a:custGeom>
            <a:avLst/>
            <a:gdLst/>
            <a:ahLst/>
            <a:cxnLst/>
            <a:rect l="l" t="t" r="r" b="b"/>
            <a:pathLst>
              <a:path w="6595745">
                <a:moveTo>
                  <a:pt x="0" y="0"/>
                </a:moveTo>
                <a:lnTo>
                  <a:pt x="6595490" y="0"/>
                </a:lnTo>
              </a:path>
            </a:pathLst>
          </a:custGeom>
          <a:ln w="15240">
            <a:solidFill>
              <a:srgbClr val="83992A"/>
            </a:solidFill>
          </a:ln>
        </p:spPr>
        <p:txBody>
          <a:bodyPr wrap="square" lIns="0" tIns="0" rIns="0" bIns="0" rtlCol="0"/>
          <a:lstStyle/>
          <a:p>
            <a:endParaRPr/>
          </a:p>
        </p:txBody>
      </p:sp>
      <p:sp>
        <p:nvSpPr>
          <p:cNvPr id="3" name="object 3"/>
          <p:cNvSpPr txBox="1">
            <a:spLocks noGrp="1"/>
          </p:cNvSpPr>
          <p:nvPr>
            <p:ph type="title"/>
          </p:nvPr>
        </p:nvSpPr>
        <p:spPr>
          <a:xfrm>
            <a:off x="1494282" y="1244600"/>
            <a:ext cx="6157595" cy="574040"/>
          </a:xfrm>
          <a:prstGeom prst="rect">
            <a:avLst/>
          </a:prstGeom>
        </p:spPr>
        <p:txBody>
          <a:bodyPr vert="horz" wrap="square" lIns="0" tIns="12700" rIns="0" bIns="0" rtlCol="0">
            <a:spAutoFit/>
          </a:bodyPr>
          <a:lstStyle/>
          <a:p>
            <a:pPr marL="12700">
              <a:lnSpc>
                <a:spcPct val="100000"/>
              </a:lnSpc>
              <a:spcBef>
                <a:spcPts val="100"/>
              </a:spcBef>
              <a:tabLst>
                <a:tab pos="2931795" algn="l"/>
              </a:tabLst>
            </a:pPr>
            <a:r>
              <a:rPr sz="3600" b="1" spc="-15" dirty="0">
                <a:latin typeface="Times New Roman"/>
                <a:cs typeface="Times New Roman"/>
              </a:rPr>
              <a:t>Limitations</a:t>
            </a:r>
            <a:r>
              <a:rPr sz="3600" b="1" spc="-5" dirty="0">
                <a:latin typeface="Times New Roman"/>
                <a:cs typeface="Times New Roman"/>
              </a:rPr>
              <a:t> </a:t>
            </a:r>
            <a:r>
              <a:rPr sz="3600" b="1" spc="-20" dirty="0">
                <a:latin typeface="Times New Roman"/>
                <a:cs typeface="Times New Roman"/>
              </a:rPr>
              <a:t>of	</a:t>
            </a:r>
            <a:r>
              <a:rPr lang="en-IN" sz="3600" b="1" spc="-10" dirty="0">
                <a:latin typeface="Times New Roman"/>
                <a:cs typeface="Times New Roman"/>
              </a:rPr>
              <a:t>C</a:t>
            </a:r>
            <a:r>
              <a:rPr sz="3600" b="1" spc="-10" dirty="0" err="1" smtClean="0">
                <a:latin typeface="Times New Roman"/>
                <a:cs typeface="Times New Roman"/>
              </a:rPr>
              <a:t>entralization</a:t>
            </a:r>
            <a:endParaRPr sz="3600" dirty="0">
              <a:latin typeface="Times New Roman"/>
              <a:cs typeface="Times New Roman"/>
            </a:endParaRPr>
          </a:p>
        </p:txBody>
      </p:sp>
      <p:sp>
        <p:nvSpPr>
          <p:cNvPr id="4" name="object 4"/>
          <p:cNvSpPr txBox="1"/>
          <p:nvPr/>
        </p:nvSpPr>
        <p:spPr>
          <a:xfrm>
            <a:off x="1256182" y="2409786"/>
            <a:ext cx="3719195" cy="2360903"/>
          </a:xfrm>
          <a:prstGeom prst="rect">
            <a:avLst/>
          </a:prstGeom>
        </p:spPr>
        <p:txBody>
          <a:bodyPr vert="horz" wrap="square" lIns="0" tIns="102870" rIns="0" bIns="0" rtlCol="0">
            <a:spAutoFit/>
          </a:bodyPr>
          <a:lstStyle/>
          <a:p>
            <a:pPr marL="299085" indent="-287020">
              <a:lnSpc>
                <a:spcPct val="100000"/>
              </a:lnSpc>
              <a:spcBef>
                <a:spcPts val="810"/>
              </a:spcBef>
              <a:buClr>
                <a:srgbClr val="83992A"/>
              </a:buClr>
              <a:buSzPct val="114583"/>
              <a:buFont typeface="Arial MT"/>
              <a:buChar char="•"/>
              <a:tabLst>
                <a:tab pos="299085" algn="l"/>
                <a:tab pos="299720" algn="l"/>
              </a:tabLst>
            </a:pPr>
            <a:r>
              <a:rPr lang="en-IN" sz="2400" b="1" spc="-35" dirty="0" smtClean="0">
                <a:solidFill>
                  <a:srgbClr val="252525"/>
                </a:solidFill>
                <a:latin typeface="Times New Roman"/>
                <a:cs typeface="Times New Roman"/>
              </a:rPr>
              <a:t>Autocratic leadership</a:t>
            </a:r>
          </a:p>
          <a:p>
            <a:pPr marL="299085" indent="-287020">
              <a:lnSpc>
                <a:spcPct val="100000"/>
              </a:lnSpc>
              <a:spcBef>
                <a:spcPts val="810"/>
              </a:spcBef>
              <a:buClr>
                <a:srgbClr val="83992A"/>
              </a:buClr>
              <a:buSzPct val="114583"/>
              <a:buFont typeface="Arial MT"/>
              <a:buChar char="•"/>
              <a:tabLst>
                <a:tab pos="299085" algn="l"/>
                <a:tab pos="299720" algn="l"/>
              </a:tabLst>
            </a:pPr>
            <a:r>
              <a:rPr lang="en-IN" sz="2400" b="1" spc="-35" dirty="0" smtClean="0">
                <a:solidFill>
                  <a:srgbClr val="252525"/>
                </a:solidFill>
                <a:latin typeface="Times New Roman"/>
                <a:cs typeface="Times New Roman"/>
              </a:rPr>
              <a:t>Remote control</a:t>
            </a:r>
          </a:p>
          <a:p>
            <a:pPr marL="299085" indent="-287020">
              <a:lnSpc>
                <a:spcPct val="100000"/>
              </a:lnSpc>
              <a:spcBef>
                <a:spcPts val="810"/>
              </a:spcBef>
              <a:buClr>
                <a:srgbClr val="83992A"/>
              </a:buClr>
              <a:buSzPct val="114583"/>
              <a:buFont typeface="Arial MT"/>
              <a:buChar char="•"/>
              <a:tabLst>
                <a:tab pos="299085" algn="l"/>
                <a:tab pos="299720" algn="l"/>
              </a:tabLst>
            </a:pPr>
            <a:r>
              <a:rPr lang="en-IN" sz="2400" b="1" spc="-35" dirty="0" smtClean="0">
                <a:solidFill>
                  <a:srgbClr val="252525"/>
                </a:solidFill>
                <a:latin typeface="Times New Roman"/>
                <a:cs typeface="Times New Roman"/>
              </a:rPr>
              <a:t>Delays in work</a:t>
            </a:r>
          </a:p>
          <a:p>
            <a:pPr marL="299085" indent="-287020">
              <a:lnSpc>
                <a:spcPct val="100000"/>
              </a:lnSpc>
              <a:spcBef>
                <a:spcPts val="810"/>
              </a:spcBef>
              <a:buClr>
                <a:srgbClr val="83992A"/>
              </a:buClr>
              <a:buSzPct val="114583"/>
              <a:buFont typeface="Arial MT"/>
              <a:buChar char="•"/>
              <a:tabLst>
                <a:tab pos="299085" algn="l"/>
                <a:tab pos="299720" algn="l"/>
              </a:tabLst>
            </a:pPr>
            <a:r>
              <a:rPr lang="en-IN" sz="2400" b="1" spc="-35" dirty="0" smtClean="0">
                <a:solidFill>
                  <a:srgbClr val="252525"/>
                </a:solidFill>
                <a:latin typeface="Times New Roman"/>
                <a:cs typeface="Times New Roman"/>
              </a:rPr>
              <a:t>Lack of employee loyalty</a:t>
            </a:r>
          </a:p>
          <a:p>
            <a:pPr marL="299085" indent="-287020">
              <a:lnSpc>
                <a:spcPct val="100000"/>
              </a:lnSpc>
              <a:spcBef>
                <a:spcPts val="810"/>
              </a:spcBef>
              <a:buClr>
                <a:srgbClr val="83992A"/>
              </a:buClr>
              <a:buSzPct val="114583"/>
              <a:buFont typeface="Arial MT"/>
              <a:buChar char="•"/>
              <a:tabLst>
                <a:tab pos="299085" algn="l"/>
                <a:tab pos="299720" algn="l"/>
              </a:tabLst>
            </a:pPr>
            <a:r>
              <a:rPr lang="en-IN" sz="2400" b="1" spc="-35" dirty="0" smtClean="0">
                <a:solidFill>
                  <a:srgbClr val="252525"/>
                </a:solidFill>
                <a:latin typeface="Times New Roman"/>
                <a:cs typeface="Times New Roman"/>
              </a:rPr>
              <a:t>Loss of employee creativity</a:t>
            </a:r>
            <a:endParaRPr sz="2400" dirty="0">
              <a:latin typeface="Times New Roman"/>
              <a:cs typeface="Times New Roman"/>
            </a:endParaRPr>
          </a:p>
        </p:txBody>
      </p:sp>
    </p:spTree>
    <p:extLst>
      <p:ext uri="{BB962C8B-B14F-4D97-AF65-F5344CB8AC3E}">
        <p14:creationId xmlns:p14="http://schemas.microsoft.com/office/powerpoint/2010/main" val="53375970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738664"/>
          </a:xfrm>
        </p:spPr>
        <p:txBody>
          <a:bodyPr/>
          <a:lstStyle/>
          <a:p>
            <a:pPr algn="ctr"/>
            <a:r>
              <a:rPr lang="en-IN" sz="4800" b="1" spc="-55" dirty="0" smtClean="0"/>
              <a:t>DECENTRALIZATION</a:t>
            </a:r>
            <a:endParaRPr lang="en-IN" sz="4800" b="1" dirty="0"/>
          </a:p>
        </p:txBody>
      </p:sp>
      <p:sp>
        <p:nvSpPr>
          <p:cNvPr id="3" name="Text Placeholder 2"/>
          <p:cNvSpPr>
            <a:spLocks noGrp="1"/>
          </p:cNvSpPr>
          <p:nvPr>
            <p:ph type="body" idx="1"/>
          </p:nvPr>
        </p:nvSpPr>
        <p:spPr>
          <a:xfrm>
            <a:off x="528650" y="1645996"/>
            <a:ext cx="8086699" cy="3916457"/>
          </a:xfrm>
        </p:spPr>
        <p:txBody>
          <a:bodyPr/>
          <a:lstStyle/>
          <a:p>
            <a:pPr marL="356870" marR="5080" indent="-344805">
              <a:lnSpc>
                <a:spcPct val="100000"/>
              </a:lnSpc>
              <a:spcBef>
                <a:spcPts val="95"/>
              </a:spcBef>
              <a:buFont typeface="Arial MT"/>
              <a:buChar char="•"/>
              <a:tabLst>
                <a:tab pos="356870" algn="l"/>
                <a:tab pos="357505" algn="l"/>
              </a:tabLst>
            </a:pPr>
            <a:r>
              <a:rPr lang="en-GB" sz="2800" spc="-15" dirty="0"/>
              <a:t>According</a:t>
            </a:r>
            <a:r>
              <a:rPr lang="en-GB" sz="2800" spc="-60" dirty="0"/>
              <a:t> </a:t>
            </a:r>
            <a:r>
              <a:rPr lang="en-GB" sz="2800" spc="-25" dirty="0"/>
              <a:t>to</a:t>
            </a:r>
            <a:r>
              <a:rPr lang="en-GB" sz="2800" spc="-35" dirty="0"/>
              <a:t> </a:t>
            </a:r>
            <a:r>
              <a:rPr lang="en-GB" sz="2800" spc="-5" dirty="0"/>
              <a:t>Allen</a:t>
            </a:r>
            <a:r>
              <a:rPr lang="en-GB" sz="2800" spc="-40" dirty="0"/>
              <a:t> </a:t>
            </a:r>
            <a:r>
              <a:rPr lang="en-GB" sz="2800" spc="-20" dirty="0"/>
              <a:t>“</a:t>
            </a:r>
            <a:r>
              <a:rPr lang="en-GB" sz="2800" b="1" spc="-20" dirty="0"/>
              <a:t>Decentralization</a:t>
            </a:r>
            <a:r>
              <a:rPr lang="en-GB" sz="2800" b="1" spc="-70" dirty="0"/>
              <a:t> </a:t>
            </a:r>
            <a:r>
              <a:rPr lang="en-GB" sz="2800" b="1" spc="-55" dirty="0"/>
              <a:t>refers</a:t>
            </a:r>
            <a:r>
              <a:rPr lang="en-GB" sz="2800" b="1" spc="-70" dirty="0"/>
              <a:t> </a:t>
            </a:r>
            <a:r>
              <a:rPr lang="en-GB" sz="2800" b="1" spc="-30" dirty="0"/>
              <a:t>to </a:t>
            </a:r>
            <a:r>
              <a:rPr lang="en-GB" sz="2800" b="1" spc="-710" dirty="0"/>
              <a:t> </a:t>
            </a:r>
            <a:r>
              <a:rPr lang="en-GB" sz="2800" b="1" spc="-5" dirty="0"/>
              <a:t>the</a:t>
            </a:r>
            <a:r>
              <a:rPr lang="en-GB" sz="2800" b="1" spc="5" dirty="0"/>
              <a:t> </a:t>
            </a:r>
            <a:r>
              <a:rPr lang="en-GB" sz="2800" b="1" spc="-50" dirty="0"/>
              <a:t>systematic</a:t>
            </a:r>
            <a:r>
              <a:rPr lang="en-GB" sz="2800" b="1" spc="95" dirty="0"/>
              <a:t> </a:t>
            </a:r>
            <a:r>
              <a:rPr lang="en-GB" sz="2800" b="1" spc="-40" dirty="0"/>
              <a:t>effort</a:t>
            </a:r>
            <a:r>
              <a:rPr lang="en-GB" sz="2800" b="1" spc="35" dirty="0"/>
              <a:t> </a:t>
            </a:r>
            <a:r>
              <a:rPr lang="en-GB" sz="2800" b="1" spc="-30" dirty="0"/>
              <a:t>to</a:t>
            </a:r>
            <a:r>
              <a:rPr lang="en-GB" sz="2800" b="1" spc="-15" dirty="0"/>
              <a:t> </a:t>
            </a:r>
            <a:r>
              <a:rPr lang="en-GB" sz="2800" b="1" spc="-45" dirty="0"/>
              <a:t>delegate</a:t>
            </a:r>
            <a:r>
              <a:rPr lang="en-GB" sz="2800" b="1" spc="40" dirty="0"/>
              <a:t> </a:t>
            </a:r>
            <a:r>
              <a:rPr lang="en-GB" sz="2800" b="1" spc="-30" dirty="0"/>
              <a:t>to</a:t>
            </a:r>
            <a:r>
              <a:rPr lang="en-GB" sz="2800" b="1" spc="30" dirty="0"/>
              <a:t> </a:t>
            </a:r>
            <a:r>
              <a:rPr lang="en-GB" sz="2800" b="1" spc="-10" dirty="0"/>
              <a:t>the </a:t>
            </a:r>
            <a:r>
              <a:rPr lang="en-GB" sz="2800" b="1" spc="-5" dirty="0"/>
              <a:t> </a:t>
            </a:r>
            <a:r>
              <a:rPr lang="en-GB" sz="2800" b="1" spc="-15" dirty="0"/>
              <a:t>lowest</a:t>
            </a:r>
            <a:r>
              <a:rPr lang="en-GB" sz="2800" b="1" spc="-55" dirty="0"/>
              <a:t> </a:t>
            </a:r>
            <a:r>
              <a:rPr lang="en-GB" sz="2800" b="1" spc="-15" dirty="0"/>
              <a:t>level</a:t>
            </a:r>
            <a:r>
              <a:rPr lang="en-GB" sz="2800" b="1" spc="-60" dirty="0"/>
              <a:t> </a:t>
            </a:r>
            <a:r>
              <a:rPr lang="en-GB" sz="2800" b="1" spc="-5" dirty="0"/>
              <a:t>of</a:t>
            </a:r>
            <a:r>
              <a:rPr lang="en-GB" sz="2800" b="1" spc="5" dirty="0"/>
              <a:t> </a:t>
            </a:r>
            <a:r>
              <a:rPr lang="en-GB" sz="2800" b="1" spc="-10" dirty="0"/>
              <a:t>authority</a:t>
            </a:r>
            <a:r>
              <a:rPr lang="en-GB" sz="2800" b="1" spc="90" dirty="0"/>
              <a:t> </a:t>
            </a:r>
            <a:r>
              <a:rPr lang="en-GB" sz="2800" b="1" spc="-55" dirty="0"/>
              <a:t>except</a:t>
            </a:r>
            <a:r>
              <a:rPr lang="en-GB" sz="2800" b="1" spc="-30" dirty="0"/>
              <a:t> </a:t>
            </a:r>
            <a:r>
              <a:rPr lang="en-GB" sz="2800" b="1" spc="-10" dirty="0"/>
              <a:t>that </a:t>
            </a:r>
            <a:r>
              <a:rPr lang="en-GB" sz="2800" b="1" spc="-5" dirty="0"/>
              <a:t>which </a:t>
            </a:r>
            <a:r>
              <a:rPr lang="en-GB" sz="2800" b="1" dirty="0"/>
              <a:t> </a:t>
            </a:r>
            <a:r>
              <a:rPr lang="en-GB" sz="2800" b="1" spc="-10" dirty="0"/>
              <a:t>can </a:t>
            </a:r>
            <a:r>
              <a:rPr lang="en-GB" sz="2800" b="1" spc="-15" dirty="0"/>
              <a:t>be controlled </a:t>
            </a:r>
            <a:r>
              <a:rPr lang="en-GB" sz="2800" b="1" spc="-5" dirty="0"/>
              <a:t>and </a:t>
            </a:r>
            <a:r>
              <a:rPr lang="en-GB" sz="2800" b="1" spc="-45" dirty="0"/>
              <a:t>exercised </a:t>
            </a:r>
            <a:r>
              <a:rPr lang="en-GB" sz="2800" b="1" spc="-10" dirty="0"/>
              <a:t>at </a:t>
            </a:r>
            <a:r>
              <a:rPr lang="en-GB" sz="2800" b="1" spc="-40" dirty="0"/>
              <a:t>central </a:t>
            </a:r>
            <a:r>
              <a:rPr lang="en-GB" sz="2800" b="1" spc="-35" dirty="0"/>
              <a:t> </a:t>
            </a:r>
            <a:r>
              <a:rPr lang="en-GB" sz="2800" b="1" spc="-10" dirty="0"/>
              <a:t>points</a:t>
            </a:r>
            <a:r>
              <a:rPr lang="en-GB" sz="2800" spc="-10" dirty="0" smtClean="0"/>
              <a:t>”</a:t>
            </a:r>
          </a:p>
          <a:p>
            <a:pPr marL="356870" marR="5080" indent="-344805">
              <a:lnSpc>
                <a:spcPct val="100000"/>
              </a:lnSpc>
              <a:spcBef>
                <a:spcPts val="95"/>
              </a:spcBef>
              <a:buFont typeface="Arial MT"/>
              <a:buChar char="•"/>
              <a:tabLst>
                <a:tab pos="356870" algn="l"/>
                <a:tab pos="357505" algn="l"/>
              </a:tabLst>
            </a:pPr>
            <a:endParaRPr lang="en-GB" sz="2800" spc="-10" dirty="0"/>
          </a:p>
          <a:p>
            <a:pPr marL="356870" marR="5080" indent="-344805">
              <a:lnSpc>
                <a:spcPct val="100000"/>
              </a:lnSpc>
              <a:spcBef>
                <a:spcPts val="95"/>
              </a:spcBef>
              <a:buFont typeface="Arial MT"/>
              <a:buChar char="•"/>
              <a:tabLst>
                <a:tab pos="356870" algn="l"/>
                <a:tab pos="357505" algn="l"/>
              </a:tabLst>
            </a:pPr>
            <a:r>
              <a:rPr lang="en-GB" sz="2800" spc="-15" dirty="0">
                <a:solidFill>
                  <a:srgbClr val="FF0000"/>
                </a:solidFill>
              </a:rPr>
              <a:t>“</a:t>
            </a:r>
            <a:r>
              <a:rPr lang="en-GB" sz="2800" b="1" spc="-15" dirty="0">
                <a:solidFill>
                  <a:srgbClr val="FF0000"/>
                </a:solidFill>
              </a:rPr>
              <a:t>Everything that </a:t>
            </a:r>
            <a:r>
              <a:rPr lang="en-GB" sz="2800" b="1" spc="-10" dirty="0">
                <a:solidFill>
                  <a:srgbClr val="FF0000"/>
                </a:solidFill>
              </a:rPr>
              <a:t>increasing the </a:t>
            </a:r>
            <a:r>
              <a:rPr lang="en-GB" sz="2800" b="1" spc="-20" dirty="0">
                <a:solidFill>
                  <a:srgbClr val="FF0000"/>
                </a:solidFill>
              </a:rPr>
              <a:t>role </a:t>
            </a:r>
            <a:r>
              <a:rPr lang="en-GB" sz="2800" b="1" spc="-5" dirty="0">
                <a:solidFill>
                  <a:srgbClr val="FF0000"/>
                </a:solidFill>
              </a:rPr>
              <a:t>of </a:t>
            </a:r>
            <a:r>
              <a:rPr lang="en-GB" sz="2800" b="1" dirty="0">
                <a:solidFill>
                  <a:srgbClr val="FF0000"/>
                </a:solidFill>
              </a:rPr>
              <a:t> </a:t>
            </a:r>
            <a:r>
              <a:rPr lang="en-GB" sz="2800" b="1" spc="-15" dirty="0">
                <a:solidFill>
                  <a:srgbClr val="FF0000"/>
                </a:solidFill>
              </a:rPr>
              <a:t>subordinates</a:t>
            </a:r>
            <a:r>
              <a:rPr lang="en-GB" sz="2800" b="1" spc="-105" dirty="0">
                <a:solidFill>
                  <a:srgbClr val="FF0000"/>
                </a:solidFill>
              </a:rPr>
              <a:t> </a:t>
            </a:r>
            <a:r>
              <a:rPr lang="en-GB" sz="2800" b="1" spc="-5" dirty="0">
                <a:solidFill>
                  <a:srgbClr val="FF0000"/>
                </a:solidFill>
              </a:rPr>
              <a:t>is</a:t>
            </a:r>
            <a:r>
              <a:rPr lang="en-GB" sz="2800" b="1" spc="-20" dirty="0">
                <a:solidFill>
                  <a:srgbClr val="FF0000"/>
                </a:solidFill>
              </a:rPr>
              <a:t> </a:t>
            </a:r>
            <a:r>
              <a:rPr lang="en-GB" sz="2800" b="1" spc="-15" dirty="0">
                <a:solidFill>
                  <a:srgbClr val="FF0000"/>
                </a:solidFill>
              </a:rPr>
              <a:t>decentralization</a:t>
            </a:r>
            <a:r>
              <a:rPr lang="en-GB" sz="2800" b="1" spc="-160" dirty="0">
                <a:solidFill>
                  <a:srgbClr val="FF0000"/>
                </a:solidFill>
              </a:rPr>
              <a:t> </a:t>
            </a:r>
            <a:r>
              <a:rPr lang="en-GB" sz="2800" b="1" spc="-5" dirty="0" smtClean="0">
                <a:solidFill>
                  <a:srgbClr val="FF0000"/>
                </a:solidFill>
              </a:rPr>
              <a:t>and that decreases their role is centralization.”</a:t>
            </a:r>
            <a:endParaRPr lang="en-GB" sz="2800" spc="-10" dirty="0" smtClean="0"/>
          </a:p>
          <a:p>
            <a:pPr marL="356870" marR="5080" indent="-344805">
              <a:lnSpc>
                <a:spcPct val="100000"/>
              </a:lnSpc>
              <a:spcBef>
                <a:spcPts val="95"/>
              </a:spcBef>
              <a:buFont typeface="Arial MT"/>
              <a:buChar char="•"/>
              <a:tabLst>
                <a:tab pos="356870" algn="l"/>
                <a:tab pos="357505" algn="l"/>
              </a:tabLst>
            </a:pPr>
            <a:endParaRPr lang="en-GB" sz="2800" dirty="0"/>
          </a:p>
        </p:txBody>
      </p:sp>
    </p:spTree>
    <p:extLst>
      <p:ext uri="{BB962C8B-B14F-4D97-AF65-F5344CB8AC3E}">
        <p14:creationId xmlns:p14="http://schemas.microsoft.com/office/powerpoint/2010/main" val="27567288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78636" y="2357627"/>
            <a:ext cx="6595745" cy="0"/>
          </a:xfrm>
          <a:custGeom>
            <a:avLst/>
            <a:gdLst/>
            <a:ahLst/>
            <a:cxnLst/>
            <a:rect l="l" t="t" r="r" b="b"/>
            <a:pathLst>
              <a:path w="6595745">
                <a:moveTo>
                  <a:pt x="0" y="0"/>
                </a:moveTo>
                <a:lnTo>
                  <a:pt x="6595490" y="0"/>
                </a:lnTo>
              </a:path>
            </a:pathLst>
          </a:custGeom>
          <a:ln w="15240">
            <a:solidFill>
              <a:srgbClr val="83992A"/>
            </a:solidFill>
          </a:ln>
        </p:spPr>
        <p:txBody>
          <a:bodyPr wrap="square" lIns="0" tIns="0" rIns="0" bIns="0" rtlCol="0"/>
          <a:lstStyle/>
          <a:p>
            <a:endParaRPr/>
          </a:p>
        </p:txBody>
      </p:sp>
      <p:sp>
        <p:nvSpPr>
          <p:cNvPr id="3" name="object 3"/>
          <p:cNvSpPr txBox="1">
            <a:spLocks noGrp="1"/>
          </p:cNvSpPr>
          <p:nvPr>
            <p:ph type="title"/>
          </p:nvPr>
        </p:nvSpPr>
        <p:spPr>
          <a:xfrm>
            <a:off x="1482089" y="1244600"/>
            <a:ext cx="6188710" cy="574040"/>
          </a:xfrm>
          <a:prstGeom prst="rect">
            <a:avLst/>
          </a:prstGeom>
        </p:spPr>
        <p:txBody>
          <a:bodyPr vert="horz" wrap="square" lIns="0" tIns="12700" rIns="0" bIns="0" rtlCol="0">
            <a:spAutoFit/>
          </a:bodyPr>
          <a:lstStyle/>
          <a:p>
            <a:pPr marL="12700">
              <a:lnSpc>
                <a:spcPct val="100000"/>
              </a:lnSpc>
              <a:spcBef>
                <a:spcPts val="100"/>
              </a:spcBef>
              <a:tabLst>
                <a:tab pos="2960370" algn="l"/>
              </a:tabLst>
            </a:pPr>
            <a:r>
              <a:rPr sz="3600" b="1" spc="-10" dirty="0">
                <a:latin typeface="Times New Roman"/>
                <a:cs typeface="Times New Roman"/>
              </a:rPr>
              <a:t>Importance</a:t>
            </a:r>
            <a:r>
              <a:rPr sz="3600" b="1" spc="-15" dirty="0">
                <a:latin typeface="Times New Roman"/>
                <a:cs typeface="Times New Roman"/>
              </a:rPr>
              <a:t> </a:t>
            </a:r>
            <a:r>
              <a:rPr sz="3600" b="1" spc="-20" dirty="0">
                <a:latin typeface="Times New Roman"/>
                <a:cs typeface="Times New Roman"/>
              </a:rPr>
              <a:t>of	</a:t>
            </a:r>
            <a:r>
              <a:rPr sz="3600" b="1" spc="-10" dirty="0">
                <a:latin typeface="Times New Roman"/>
                <a:cs typeface="Times New Roman"/>
              </a:rPr>
              <a:t>Decentralization</a:t>
            </a:r>
            <a:endParaRPr sz="3600" dirty="0">
              <a:latin typeface="Times New Roman"/>
              <a:cs typeface="Times New Roman"/>
            </a:endParaRPr>
          </a:p>
        </p:txBody>
      </p:sp>
      <p:sp>
        <p:nvSpPr>
          <p:cNvPr id="4" name="object 4"/>
          <p:cNvSpPr txBox="1"/>
          <p:nvPr/>
        </p:nvSpPr>
        <p:spPr>
          <a:xfrm>
            <a:off x="1256182" y="2409786"/>
            <a:ext cx="5594350" cy="3067685"/>
          </a:xfrm>
          <a:prstGeom prst="rect">
            <a:avLst/>
          </a:prstGeom>
        </p:spPr>
        <p:txBody>
          <a:bodyPr vert="horz" wrap="square" lIns="0" tIns="102870" rIns="0" bIns="0" rtlCol="0">
            <a:spAutoFit/>
          </a:bodyPr>
          <a:lstStyle/>
          <a:p>
            <a:pPr marL="299085" indent="-287020">
              <a:lnSpc>
                <a:spcPct val="100000"/>
              </a:lnSpc>
              <a:spcBef>
                <a:spcPts val="810"/>
              </a:spcBef>
              <a:buClr>
                <a:srgbClr val="83992A"/>
              </a:buClr>
              <a:buSzPct val="114583"/>
              <a:buFont typeface="Arial MT"/>
              <a:buChar char="•"/>
              <a:tabLst>
                <a:tab pos="299085" algn="l"/>
                <a:tab pos="299720" algn="l"/>
              </a:tabLst>
            </a:pPr>
            <a:r>
              <a:rPr sz="2400" b="1" spc="20" dirty="0">
                <a:solidFill>
                  <a:srgbClr val="252525"/>
                </a:solidFill>
                <a:latin typeface="Times New Roman"/>
                <a:cs typeface="Times New Roman"/>
              </a:rPr>
              <a:t>Develops</a:t>
            </a:r>
            <a:r>
              <a:rPr sz="2400" b="1" spc="-5" dirty="0">
                <a:solidFill>
                  <a:srgbClr val="252525"/>
                </a:solidFill>
                <a:latin typeface="Times New Roman"/>
                <a:cs typeface="Times New Roman"/>
              </a:rPr>
              <a:t> </a:t>
            </a:r>
            <a:r>
              <a:rPr sz="2400" b="1" spc="-30" dirty="0">
                <a:solidFill>
                  <a:srgbClr val="252525"/>
                </a:solidFill>
                <a:latin typeface="Times New Roman"/>
                <a:cs typeface="Times New Roman"/>
              </a:rPr>
              <a:t>initiative</a:t>
            </a:r>
            <a:r>
              <a:rPr sz="2400" b="1" spc="20" dirty="0">
                <a:solidFill>
                  <a:srgbClr val="252525"/>
                </a:solidFill>
                <a:latin typeface="Times New Roman"/>
                <a:cs typeface="Times New Roman"/>
              </a:rPr>
              <a:t> </a:t>
            </a:r>
            <a:r>
              <a:rPr sz="2400" b="1" spc="15" dirty="0">
                <a:solidFill>
                  <a:srgbClr val="252525"/>
                </a:solidFill>
                <a:latin typeface="Times New Roman"/>
                <a:cs typeface="Times New Roman"/>
              </a:rPr>
              <a:t>among</a:t>
            </a:r>
            <a:r>
              <a:rPr sz="2400" b="1" spc="10" dirty="0">
                <a:solidFill>
                  <a:srgbClr val="252525"/>
                </a:solidFill>
                <a:latin typeface="Times New Roman"/>
                <a:cs typeface="Times New Roman"/>
              </a:rPr>
              <a:t> </a:t>
            </a:r>
            <a:r>
              <a:rPr sz="2400" b="1" spc="-30" dirty="0">
                <a:solidFill>
                  <a:srgbClr val="252525"/>
                </a:solidFill>
                <a:latin typeface="Times New Roman"/>
                <a:cs typeface="Times New Roman"/>
              </a:rPr>
              <a:t>subordinates:</a:t>
            </a:r>
            <a:endParaRPr sz="240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b="1" spc="20" dirty="0">
                <a:solidFill>
                  <a:srgbClr val="252525"/>
                </a:solidFill>
                <a:latin typeface="Times New Roman"/>
                <a:cs typeface="Times New Roman"/>
              </a:rPr>
              <a:t>Develops</a:t>
            </a:r>
            <a:r>
              <a:rPr sz="2400" b="1" spc="-5" dirty="0">
                <a:solidFill>
                  <a:srgbClr val="252525"/>
                </a:solidFill>
                <a:latin typeface="Times New Roman"/>
                <a:cs typeface="Times New Roman"/>
              </a:rPr>
              <a:t> </a:t>
            </a:r>
            <a:r>
              <a:rPr sz="2400" b="1" spc="-25" dirty="0">
                <a:solidFill>
                  <a:srgbClr val="252525"/>
                </a:solidFill>
                <a:latin typeface="Times New Roman"/>
                <a:cs typeface="Times New Roman"/>
              </a:rPr>
              <a:t>managerial</a:t>
            </a:r>
            <a:r>
              <a:rPr sz="2400" b="1" spc="15" dirty="0">
                <a:solidFill>
                  <a:srgbClr val="252525"/>
                </a:solidFill>
                <a:latin typeface="Times New Roman"/>
                <a:cs typeface="Times New Roman"/>
              </a:rPr>
              <a:t> </a:t>
            </a:r>
            <a:r>
              <a:rPr sz="2400" b="1" spc="-30" dirty="0">
                <a:solidFill>
                  <a:srgbClr val="252525"/>
                </a:solidFill>
                <a:latin typeface="Times New Roman"/>
                <a:cs typeface="Times New Roman"/>
              </a:rPr>
              <a:t>talent</a:t>
            </a:r>
            <a:r>
              <a:rPr sz="2400" b="1" spc="-5" dirty="0">
                <a:solidFill>
                  <a:srgbClr val="252525"/>
                </a:solidFill>
                <a:latin typeface="Times New Roman"/>
                <a:cs typeface="Times New Roman"/>
              </a:rPr>
              <a:t> </a:t>
            </a:r>
            <a:r>
              <a:rPr sz="2400" b="1" spc="-90" dirty="0">
                <a:solidFill>
                  <a:srgbClr val="252525"/>
                </a:solidFill>
                <a:latin typeface="Times New Roman"/>
                <a:cs typeface="Times New Roman"/>
              </a:rPr>
              <a:t>for</a:t>
            </a:r>
            <a:r>
              <a:rPr sz="2400" b="1" spc="5" dirty="0">
                <a:solidFill>
                  <a:srgbClr val="252525"/>
                </a:solidFill>
                <a:latin typeface="Times New Roman"/>
                <a:cs typeface="Times New Roman"/>
              </a:rPr>
              <a:t> </a:t>
            </a:r>
            <a:r>
              <a:rPr sz="2400" b="1" spc="-5" dirty="0">
                <a:solidFill>
                  <a:srgbClr val="252525"/>
                </a:solidFill>
                <a:latin typeface="Times New Roman"/>
                <a:cs typeface="Times New Roman"/>
              </a:rPr>
              <a:t>the </a:t>
            </a:r>
            <a:r>
              <a:rPr sz="2400" b="1" spc="-60" dirty="0">
                <a:solidFill>
                  <a:srgbClr val="252525"/>
                </a:solidFill>
                <a:latin typeface="Times New Roman"/>
                <a:cs typeface="Times New Roman"/>
              </a:rPr>
              <a:t>future</a:t>
            </a:r>
            <a:endParaRPr sz="240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b="1" dirty="0">
                <a:solidFill>
                  <a:srgbClr val="252525"/>
                </a:solidFill>
                <a:latin typeface="Times New Roman"/>
                <a:cs typeface="Times New Roman"/>
              </a:rPr>
              <a:t>Quick</a:t>
            </a:r>
            <a:r>
              <a:rPr sz="2400" b="1" spc="5" dirty="0">
                <a:solidFill>
                  <a:srgbClr val="252525"/>
                </a:solidFill>
                <a:latin typeface="Times New Roman"/>
                <a:cs typeface="Times New Roman"/>
              </a:rPr>
              <a:t> </a:t>
            </a:r>
            <a:r>
              <a:rPr sz="2400" b="1" spc="20" dirty="0">
                <a:solidFill>
                  <a:srgbClr val="252525"/>
                </a:solidFill>
                <a:latin typeface="Times New Roman"/>
                <a:cs typeface="Times New Roman"/>
              </a:rPr>
              <a:t>decision</a:t>
            </a:r>
            <a:r>
              <a:rPr sz="2400" b="1" spc="-15" dirty="0">
                <a:solidFill>
                  <a:srgbClr val="252525"/>
                </a:solidFill>
                <a:latin typeface="Times New Roman"/>
                <a:cs typeface="Times New Roman"/>
              </a:rPr>
              <a:t> </a:t>
            </a:r>
            <a:r>
              <a:rPr sz="2400" b="1" spc="-30" dirty="0">
                <a:solidFill>
                  <a:srgbClr val="252525"/>
                </a:solidFill>
                <a:latin typeface="Times New Roman"/>
                <a:cs typeface="Times New Roman"/>
              </a:rPr>
              <a:t>making:</a:t>
            </a:r>
            <a:endParaRPr sz="240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b="1" spc="-15" dirty="0">
                <a:solidFill>
                  <a:srgbClr val="252525"/>
                </a:solidFill>
                <a:latin typeface="Times New Roman"/>
                <a:cs typeface="Times New Roman"/>
              </a:rPr>
              <a:t>Relief</a:t>
            </a:r>
            <a:r>
              <a:rPr sz="2400" b="1" spc="365" dirty="0">
                <a:solidFill>
                  <a:srgbClr val="252525"/>
                </a:solidFill>
                <a:latin typeface="Times New Roman"/>
                <a:cs typeface="Times New Roman"/>
              </a:rPr>
              <a:t> </a:t>
            </a:r>
            <a:r>
              <a:rPr sz="2400" b="1" spc="-5" dirty="0">
                <a:solidFill>
                  <a:srgbClr val="252525"/>
                </a:solidFill>
                <a:latin typeface="Times New Roman"/>
                <a:cs typeface="Times New Roman"/>
              </a:rPr>
              <a:t>to </a:t>
            </a:r>
            <a:r>
              <a:rPr sz="2400" b="1" spc="-10" dirty="0">
                <a:solidFill>
                  <a:srgbClr val="252525"/>
                </a:solidFill>
                <a:latin typeface="Times New Roman"/>
                <a:cs typeface="Times New Roman"/>
              </a:rPr>
              <a:t>top</a:t>
            </a:r>
            <a:r>
              <a:rPr sz="2400" b="1" spc="-15" dirty="0">
                <a:solidFill>
                  <a:srgbClr val="252525"/>
                </a:solidFill>
                <a:latin typeface="Times New Roman"/>
                <a:cs typeface="Times New Roman"/>
              </a:rPr>
              <a:t> </a:t>
            </a:r>
            <a:r>
              <a:rPr sz="2400" b="1" spc="-10" dirty="0">
                <a:solidFill>
                  <a:srgbClr val="252525"/>
                </a:solidFill>
                <a:latin typeface="Times New Roman"/>
                <a:cs typeface="Times New Roman"/>
              </a:rPr>
              <a:t>management:</a:t>
            </a:r>
            <a:endParaRPr sz="240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b="1" spc="-15" dirty="0">
                <a:solidFill>
                  <a:srgbClr val="252525"/>
                </a:solidFill>
                <a:latin typeface="Times New Roman"/>
                <a:cs typeface="Times New Roman"/>
              </a:rPr>
              <a:t>Facilitates</a:t>
            </a:r>
            <a:r>
              <a:rPr sz="2400" b="1" spc="-5" dirty="0">
                <a:solidFill>
                  <a:srgbClr val="252525"/>
                </a:solidFill>
                <a:latin typeface="Times New Roman"/>
                <a:cs typeface="Times New Roman"/>
              </a:rPr>
              <a:t> </a:t>
            </a:r>
            <a:r>
              <a:rPr sz="2400" b="1" spc="-55" dirty="0">
                <a:solidFill>
                  <a:srgbClr val="252525"/>
                </a:solidFill>
                <a:latin typeface="Times New Roman"/>
                <a:cs typeface="Times New Roman"/>
              </a:rPr>
              <a:t>growth:</a:t>
            </a:r>
            <a:endParaRPr sz="240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b="1" spc="-35" dirty="0">
                <a:solidFill>
                  <a:srgbClr val="252525"/>
                </a:solidFill>
                <a:latin typeface="Times New Roman"/>
                <a:cs typeface="Times New Roman"/>
              </a:rPr>
              <a:t>Better</a:t>
            </a:r>
            <a:r>
              <a:rPr sz="2400" b="1" spc="-45" dirty="0">
                <a:solidFill>
                  <a:srgbClr val="252525"/>
                </a:solidFill>
                <a:latin typeface="Times New Roman"/>
                <a:cs typeface="Times New Roman"/>
              </a:rPr>
              <a:t> </a:t>
            </a:r>
            <a:r>
              <a:rPr sz="2400" b="1" spc="-70" dirty="0">
                <a:solidFill>
                  <a:srgbClr val="252525"/>
                </a:solidFill>
                <a:latin typeface="Times New Roman"/>
                <a:cs typeface="Times New Roman"/>
              </a:rPr>
              <a:t>Control:</a:t>
            </a:r>
            <a:endParaRPr sz="2400">
              <a:latin typeface="Times New Roman"/>
              <a:cs typeface="Times New Roman"/>
            </a:endParaRPr>
          </a:p>
        </p:txBody>
      </p:sp>
    </p:spTree>
    <p:extLst>
      <p:ext uri="{BB962C8B-B14F-4D97-AF65-F5344CB8AC3E}">
        <p14:creationId xmlns:p14="http://schemas.microsoft.com/office/powerpoint/2010/main" val="202406355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78636" y="2357627"/>
            <a:ext cx="6595745" cy="0"/>
          </a:xfrm>
          <a:custGeom>
            <a:avLst/>
            <a:gdLst/>
            <a:ahLst/>
            <a:cxnLst/>
            <a:rect l="l" t="t" r="r" b="b"/>
            <a:pathLst>
              <a:path w="6595745">
                <a:moveTo>
                  <a:pt x="0" y="0"/>
                </a:moveTo>
                <a:lnTo>
                  <a:pt x="6595490" y="0"/>
                </a:lnTo>
              </a:path>
            </a:pathLst>
          </a:custGeom>
          <a:ln w="15240">
            <a:solidFill>
              <a:srgbClr val="83992A"/>
            </a:solidFill>
          </a:ln>
        </p:spPr>
        <p:txBody>
          <a:bodyPr wrap="square" lIns="0" tIns="0" rIns="0" bIns="0" rtlCol="0"/>
          <a:lstStyle/>
          <a:p>
            <a:endParaRPr/>
          </a:p>
        </p:txBody>
      </p:sp>
      <p:sp>
        <p:nvSpPr>
          <p:cNvPr id="3" name="object 3"/>
          <p:cNvSpPr txBox="1">
            <a:spLocks noGrp="1"/>
          </p:cNvSpPr>
          <p:nvPr>
            <p:ph type="title"/>
          </p:nvPr>
        </p:nvSpPr>
        <p:spPr>
          <a:xfrm>
            <a:off x="1494282" y="1244600"/>
            <a:ext cx="6157595" cy="574040"/>
          </a:xfrm>
          <a:prstGeom prst="rect">
            <a:avLst/>
          </a:prstGeom>
        </p:spPr>
        <p:txBody>
          <a:bodyPr vert="horz" wrap="square" lIns="0" tIns="12700" rIns="0" bIns="0" rtlCol="0">
            <a:spAutoFit/>
          </a:bodyPr>
          <a:lstStyle/>
          <a:p>
            <a:pPr marL="12700">
              <a:lnSpc>
                <a:spcPct val="100000"/>
              </a:lnSpc>
              <a:spcBef>
                <a:spcPts val="100"/>
              </a:spcBef>
              <a:tabLst>
                <a:tab pos="2931795" algn="l"/>
              </a:tabLst>
            </a:pPr>
            <a:r>
              <a:rPr sz="3600" b="1" spc="-15" dirty="0">
                <a:latin typeface="Times New Roman"/>
                <a:cs typeface="Times New Roman"/>
              </a:rPr>
              <a:t>Limitations</a:t>
            </a:r>
            <a:r>
              <a:rPr sz="3600" b="1" spc="-5" dirty="0">
                <a:latin typeface="Times New Roman"/>
                <a:cs typeface="Times New Roman"/>
              </a:rPr>
              <a:t> </a:t>
            </a:r>
            <a:r>
              <a:rPr sz="3600" b="1" spc="-20" dirty="0">
                <a:latin typeface="Times New Roman"/>
                <a:cs typeface="Times New Roman"/>
              </a:rPr>
              <a:t>of	</a:t>
            </a:r>
            <a:r>
              <a:rPr sz="3600" b="1" spc="-10" dirty="0">
                <a:latin typeface="Times New Roman"/>
                <a:cs typeface="Times New Roman"/>
              </a:rPr>
              <a:t>Decentralization</a:t>
            </a:r>
            <a:endParaRPr sz="3600">
              <a:latin typeface="Times New Roman"/>
              <a:cs typeface="Times New Roman"/>
            </a:endParaRPr>
          </a:p>
        </p:txBody>
      </p:sp>
      <p:sp>
        <p:nvSpPr>
          <p:cNvPr id="4" name="object 4"/>
          <p:cNvSpPr txBox="1"/>
          <p:nvPr/>
        </p:nvSpPr>
        <p:spPr>
          <a:xfrm>
            <a:off x="1256182" y="2409786"/>
            <a:ext cx="3719195" cy="2037080"/>
          </a:xfrm>
          <a:prstGeom prst="rect">
            <a:avLst/>
          </a:prstGeom>
        </p:spPr>
        <p:txBody>
          <a:bodyPr vert="horz" wrap="square" lIns="0" tIns="102870" rIns="0" bIns="0" rtlCol="0">
            <a:spAutoFit/>
          </a:bodyPr>
          <a:lstStyle/>
          <a:p>
            <a:pPr marL="299085" indent="-287020">
              <a:lnSpc>
                <a:spcPct val="100000"/>
              </a:lnSpc>
              <a:spcBef>
                <a:spcPts val="810"/>
              </a:spcBef>
              <a:buClr>
                <a:srgbClr val="83992A"/>
              </a:buClr>
              <a:buSzPct val="114583"/>
              <a:buFont typeface="Arial MT"/>
              <a:buChar char="•"/>
              <a:tabLst>
                <a:tab pos="299085" algn="l"/>
                <a:tab pos="299720" algn="l"/>
              </a:tabLst>
            </a:pPr>
            <a:r>
              <a:rPr sz="2400" b="1" spc="-35" dirty="0">
                <a:solidFill>
                  <a:srgbClr val="252525"/>
                </a:solidFill>
                <a:latin typeface="Times New Roman"/>
                <a:cs typeface="Times New Roman"/>
              </a:rPr>
              <a:t>Lack </a:t>
            </a:r>
            <a:r>
              <a:rPr sz="2400" b="1" spc="-15" dirty="0">
                <a:solidFill>
                  <a:srgbClr val="252525"/>
                </a:solidFill>
                <a:latin typeface="Times New Roman"/>
                <a:cs typeface="Times New Roman"/>
              </a:rPr>
              <a:t>of</a:t>
            </a:r>
            <a:r>
              <a:rPr sz="2400" b="1" spc="360" dirty="0">
                <a:solidFill>
                  <a:srgbClr val="252525"/>
                </a:solidFill>
                <a:latin typeface="Times New Roman"/>
                <a:cs typeface="Times New Roman"/>
              </a:rPr>
              <a:t> </a:t>
            </a:r>
            <a:r>
              <a:rPr sz="2400" b="1" spc="-40" dirty="0">
                <a:solidFill>
                  <a:srgbClr val="252525"/>
                </a:solidFill>
                <a:latin typeface="Times New Roman"/>
                <a:cs typeface="Times New Roman"/>
              </a:rPr>
              <a:t>Uniformity:</a:t>
            </a:r>
            <a:endParaRPr sz="240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b="1" spc="-25" dirty="0">
                <a:solidFill>
                  <a:srgbClr val="252525"/>
                </a:solidFill>
                <a:latin typeface="Times New Roman"/>
                <a:cs typeface="Times New Roman"/>
              </a:rPr>
              <a:t>Costly</a:t>
            </a:r>
            <a:r>
              <a:rPr sz="2400" b="1" spc="-15" dirty="0">
                <a:solidFill>
                  <a:srgbClr val="252525"/>
                </a:solidFill>
                <a:latin typeface="Times New Roman"/>
                <a:cs typeface="Times New Roman"/>
              </a:rPr>
              <a:t> </a:t>
            </a:r>
            <a:r>
              <a:rPr sz="2400" b="1" spc="-25" dirty="0">
                <a:solidFill>
                  <a:srgbClr val="252525"/>
                </a:solidFill>
                <a:latin typeface="Times New Roman"/>
                <a:cs typeface="Times New Roman"/>
              </a:rPr>
              <a:t>and</a:t>
            </a:r>
            <a:r>
              <a:rPr sz="2400" b="1" spc="-10" dirty="0">
                <a:solidFill>
                  <a:srgbClr val="252525"/>
                </a:solidFill>
                <a:latin typeface="Times New Roman"/>
                <a:cs typeface="Times New Roman"/>
              </a:rPr>
              <a:t> </a:t>
            </a:r>
            <a:r>
              <a:rPr sz="2400" b="1" dirty="0">
                <a:solidFill>
                  <a:srgbClr val="252525"/>
                </a:solidFill>
                <a:latin typeface="Times New Roman"/>
                <a:cs typeface="Times New Roman"/>
              </a:rPr>
              <a:t>Uneconomical:</a:t>
            </a:r>
            <a:endParaRPr sz="240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b="1" spc="-20" dirty="0">
                <a:solidFill>
                  <a:srgbClr val="252525"/>
                </a:solidFill>
                <a:latin typeface="Times New Roman"/>
                <a:cs typeface="Times New Roman"/>
              </a:rPr>
              <a:t>Limitation</a:t>
            </a:r>
            <a:r>
              <a:rPr sz="2400" b="1" spc="-5" dirty="0">
                <a:solidFill>
                  <a:srgbClr val="252525"/>
                </a:solidFill>
                <a:latin typeface="Times New Roman"/>
                <a:cs typeface="Times New Roman"/>
              </a:rPr>
              <a:t> </a:t>
            </a:r>
            <a:r>
              <a:rPr sz="2400" b="1" spc="-15" dirty="0">
                <a:solidFill>
                  <a:srgbClr val="252525"/>
                </a:solidFill>
                <a:latin typeface="Times New Roman"/>
                <a:cs typeface="Times New Roman"/>
              </a:rPr>
              <a:t>of</a:t>
            </a:r>
            <a:r>
              <a:rPr sz="2400" b="1" spc="350" dirty="0">
                <a:solidFill>
                  <a:srgbClr val="252525"/>
                </a:solidFill>
                <a:latin typeface="Times New Roman"/>
                <a:cs typeface="Times New Roman"/>
              </a:rPr>
              <a:t> </a:t>
            </a:r>
            <a:r>
              <a:rPr sz="2400" b="1" spc="-50" dirty="0">
                <a:solidFill>
                  <a:srgbClr val="252525"/>
                </a:solidFill>
                <a:latin typeface="Times New Roman"/>
                <a:cs typeface="Times New Roman"/>
              </a:rPr>
              <a:t>Scale:</a:t>
            </a:r>
            <a:endParaRPr sz="240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b="1" spc="-30" dirty="0">
                <a:solidFill>
                  <a:srgbClr val="252525"/>
                </a:solidFill>
                <a:latin typeface="Times New Roman"/>
                <a:cs typeface="Times New Roman"/>
              </a:rPr>
              <a:t>Conflict:</a:t>
            </a:r>
            <a:endParaRPr sz="2400">
              <a:latin typeface="Times New Roman"/>
              <a:cs typeface="Times New Roman"/>
            </a:endParaRPr>
          </a:p>
        </p:txBody>
      </p:sp>
    </p:spTree>
    <p:extLst>
      <p:ext uri="{BB962C8B-B14F-4D97-AF65-F5344CB8AC3E}">
        <p14:creationId xmlns:p14="http://schemas.microsoft.com/office/powerpoint/2010/main" val="107768799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738664"/>
          </a:xfrm>
        </p:spPr>
        <p:txBody>
          <a:bodyPr/>
          <a:lstStyle/>
          <a:p>
            <a:pPr algn="ctr"/>
            <a:r>
              <a:rPr lang="en-IN" sz="4800" b="1" dirty="0" smtClean="0"/>
              <a:t>Span of Control</a:t>
            </a:r>
            <a:endParaRPr lang="en-IN" sz="4800" b="1" dirty="0"/>
          </a:p>
        </p:txBody>
      </p:sp>
      <p:sp>
        <p:nvSpPr>
          <p:cNvPr id="3" name="Text Placeholder 2"/>
          <p:cNvSpPr>
            <a:spLocks noGrp="1"/>
          </p:cNvSpPr>
          <p:nvPr>
            <p:ph type="body" idx="1"/>
          </p:nvPr>
        </p:nvSpPr>
        <p:spPr>
          <a:xfrm>
            <a:off x="528650" y="1645996"/>
            <a:ext cx="8086699" cy="2077492"/>
          </a:xfrm>
        </p:spPr>
        <p:txBody>
          <a:bodyPr/>
          <a:lstStyle/>
          <a:p>
            <a:pPr marL="356870" marR="5080" indent="-344805" algn="just">
              <a:lnSpc>
                <a:spcPct val="100000"/>
              </a:lnSpc>
              <a:spcBef>
                <a:spcPts val="95"/>
              </a:spcBef>
              <a:buFont typeface="Arial MT"/>
              <a:buChar char="•"/>
              <a:tabLst>
                <a:tab pos="356870" algn="l"/>
                <a:tab pos="357505" algn="l"/>
              </a:tabLst>
            </a:pPr>
            <a:r>
              <a:rPr lang="en-GB" dirty="0">
                <a:solidFill>
                  <a:srgbClr val="FF0000"/>
                </a:solidFill>
              </a:rPr>
              <a:t>In management, the span of control refers to the number of subordinates or direct reports that a manager or supervisor can effectively oversee and manage. It's essentially the number of individuals for whom a manager is responsible.</a:t>
            </a:r>
            <a:endParaRPr lang="en-GB" sz="2800" dirty="0">
              <a:solidFill>
                <a:srgbClr val="FF0000"/>
              </a:solidFill>
            </a:endParaRPr>
          </a:p>
        </p:txBody>
      </p:sp>
    </p:spTree>
    <p:extLst>
      <p:ext uri="{BB962C8B-B14F-4D97-AF65-F5344CB8AC3E}">
        <p14:creationId xmlns:p14="http://schemas.microsoft.com/office/powerpoint/2010/main" val="248109972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738664"/>
          </a:xfrm>
        </p:spPr>
        <p:txBody>
          <a:bodyPr/>
          <a:lstStyle/>
          <a:p>
            <a:pPr algn="ctr"/>
            <a:r>
              <a:rPr lang="en-IN" sz="4800" b="1" dirty="0" smtClean="0"/>
              <a:t>Span of Control</a:t>
            </a:r>
            <a:endParaRPr lang="en-IN" sz="4800" b="1" dirty="0"/>
          </a:p>
        </p:txBody>
      </p:sp>
      <p:sp>
        <p:nvSpPr>
          <p:cNvPr id="3" name="Text Placeholder 2"/>
          <p:cNvSpPr>
            <a:spLocks noGrp="1"/>
          </p:cNvSpPr>
          <p:nvPr>
            <p:ph type="body" idx="1"/>
          </p:nvPr>
        </p:nvSpPr>
        <p:spPr>
          <a:xfrm>
            <a:off x="528650" y="1645996"/>
            <a:ext cx="8086699" cy="4570482"/>
          </a:xfrm>
        </p:spPr>
        <p:txBody>
          <a:bodyPr/>
          <a:lstStyle/>
          <a:p>
            <a:pPr marL="457200" indent="-457200" algn="just">
              <a:buFont typeface="Arial" panose="020B0604020202020204" pitchFamily="34" charset="0"/>
              <a:buChar char="•"/>
            </a:pPr>
            <a:r>
              <a:rPr lang="en-GB" b="1" dirty="0"/>
              <a:t>Narrow Span of Control</a:t>
            </a:r>
            <a:r>
              <a:rPr lang="en-GB" dirty="0"/>
              <a:t>: In this case, a manager oversees a smaller number of subordinates. This can allow for more hands-on supervision, closer monitoring, and more personalized attention to each employee. </a:t>
            </a:r>
            <a:endParaRPr lang="en-GB" dirty="0" smtClean="0"/>
          </a:p>
          <a:p>
            <a:pPr marL="457200" indent="-457200" algn="just">
              <a:buFont typeface="Arial" panose="020B0604020202020204" pitchFamily="34" charset="0"/>
              <a:buChar char="•"/>
            </a:pPr>
            <a:endParaRPr lang="en-GB" dirty="0" smtClean="0"/>
          </a:p>
          <a:p>
            <a:pPr marL="457200" indent="-457200" algn="just">
              <a:buFont typeface="Arial" panose="020B0604020202020204" pitchFamily="34" charset="0"/>
              <a:buChar char="•"/>
            </a:pPr>
            <a:r>
              <a:rPr lang="en-GB" b="1" dirty="0" smtClean="0"/>
              <a:t>Wide </a:t>
            </a:r>
            <a:r>
              <a:rPr lang="en-GB" b="1" dirty="0"/>
              <a:t>Span of Control</a:t>
            </a:r>
            <a:r>
              <a:rPr lang="en-GB" dirty="0"/>
              <a:t>: Here, a manager oversees a larger number of subordinates. This structure promotes decentralization, faster decision-making, and can foster a more flexible and adaptive organization. </a:t>
            </a:r>
          </a:p>
        </p:txBody>
      </p:sp>
    </p:spTree>
    <p:extLst>
      <p:ext uri="{BB962C8B-B14F-4D97-AF65-F5344CB8AC3E}">
        <p14:creationId xmlns:p14="http://schemas.microsoft.com/office/powerpoint/2010/main" val="319113867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77108"/>
          </a:xfrm>
        </p:spPr>
        <p:txBody>
          <a:bodyPr/>
          <a:lstStyle/>
          <a:p>
            <a:pPr algn="ctr"/>
            <a:r>
              <a:rPr lang="en-IN" b="1" smtClean="0"/>
              <a:t>Factors Affecting </a:t>
            </a:r>
            <a:r>
              <a:rPr lang="en-IN" b="1" dirty="0" smtClean="0"/>
              <a:t>Span of Control</a:t>
            </a:r>
            <a:endParaRPr lang="en-IN" b="1" dirty="0"/>
          </a:p>
        </p:txBody>
      </p:sp>
      <p:sp>
        <p:nvSpPr>
          <p:cNvPr id="3" name="Text Placeholder 2"/>
          <p:cNvSpPr>
            <a:spLocks noGrp="1"/>
          </p:cNvSpPr>
          <p:nvPr>
            <p:ph type="body" idx="1"/>
          </p:nvPr>
        </p:nvSpPr>
        <p:spPr>
          <a:xfrm>
            <a:off x="528650" y="1645996"/>
            <a:ext cx="8086699" cy="4921540"/>
          </a:xfrm>
        </p:spPr>
        <p:txBody>
          <a:bodyPr/>
          <a:lstStyle/>
          <a:p>
            <a:pPr marL="457200" indent="-457200" algn="just">
              <a:lnSpc>
                <a:spcPct val="150000"/>
              </a:lnSpc>
              <a:buFont typeface="Arial" panose="020B0604020202020204" pitchFamily="34" charset="0"/>
              <a:buChar char="•"/>
            </a:pPr>
            <a:r>
              <a:rPr lang="en-GB" b="1" dirty="0" smtClean="0"/>
              <a:t>Ability of the Manager</a:t>
            </a:r>
          </a:p>
          <a:p>
            <a:pPr marL="457200" indent="-457200" algn="just">
              <a:lnSpc>
                <a:spcPct val="150000"/>
              </a:lnSpc>
              <a:buFont typeface="Arial" panose="020B0604020202020204" pitchFamily="34" charset="0"/>
              <a:buChar char="•"/>
            </a:pPr>
            <a:r>
              <a:rPr lang="en-GB" b="1" dirty="0"/>
              <a:t>Ability of the </a:t>
            </a:r>
            <a:r>
              <a:rPr lang="en-GB" b="1" dirty="0" smtClean="0"/>
              <a:t>Employees</a:t>
            </a:r>
          </a:p>
          <a:p>
            <a:pPr marL="457200" indent="-457200" algn="just">
              <a:lnSpc>
                <a:spcPct val="150000"/>
              </a:lnSpc>
              <a:buFont typeface="Arial" panose="020B0604020202020204" pitchFamily="34" charset="0"/>
              <a:buChar char="•"/>
            </a:pPr>
            <a:r>
              <a:rPr lang="en-GB" b="1" dirty="0" smtClean="0"/>
              <a:t>Type of Work</a:t>
            </a:r>
          </a:p>
          <a:p>
            <a:pPr marL="457200" indent="-457200" algn="just">
              <a:lnSpc>
                <a:spcPct val="150000"/>
              </a:lnSpc>
              <a:buFont typeface="Arial" panose="020B0604020202020204" pitchFamily="34" charset="0"/>
              <a:buChar char="•"/>
            </a:pPr>
            <a:r>
              <a:rPr lang="en-GB" b="1" dirty="0" smtClean="0"/>
              <a:t>Well-defined authority and responsibility</a:t>
            </a:r>
          </a:p>
          <a:p>
            <a:pPr marL="457200" indent="-457200" algn="just">
              <a:lnSpc>
                <a:spcPct val="150000"/>
              </a:lnSpc>
              <a:buFont typeface="Arial" panose="020B0604020202020204" pitchFamily="34" charset="0"/>
              <a:buChar char="•"/>
            </a:pPr>
            <a:r>
              <a:rPr lang="en-GB" b="1" dirty="0" smtClean="0"/>
              <a:t>Geographic Location</a:t>
            </a:r>
          </a:p>
          <a:p>
            <a:pPr marL="457200" indent="-457200" algn="just">
              <a:lnSpc>
                <a:spcPct val="150000"/>
              </a:lnSpc>
              <a:buFont typeface="Arial" panose="020B0604020202020204" pitchFamily="34" charset="0"/>
              <a:buChar char="•"/>
            </a:pPr>
            <a:r>
              <a:rPr lang="en-GB" b="1" dirty="0" smtClean="0"/>
              <a:t>Level of Management</a:t>
            </a:r>
            <a:endParaRPr lang="en-GB" b="1" dirty="0"/>
          </a:p>
          <a:p>
            <a:pPr marL="457200" indent="-457200" algn="just">
              <a:lnSpc>
                <a:spcPct val="150000"/>
              </a:lnSpc>
              <a:buFont typeface="Arial" panose="020B0604020202020204" pitchFamily="34" charset="0"/>
              <a:buChar char="•"/>
            </a:pPr>
            <a:endParaRPr lang="en-GB" b="1" dirty="0" smtClean="0"/>
          </a:p>
          <a:p>
            <a:pPr marL="457200" indent="-457200" algn="just">
              <a:lnSpc>
                <a:spcPct val="150000"/>
              </a:lnSpc>
              <a:buFont typeface="Arial" panose="020B0604020202020204" pitchFamily="34" charset="0"/>
              <a:buChar char="•"/>
            </a:pPr>
            <a:endParaRPr lang="en-GB" b="1" dirty="0"/>
          </a:p>
        </p:txBody>
      </p:sp>
    </p:spTree>
    <p:extLst>
      <p:ext uri="{BB962C8B-B14F-4D97-AF65-F5344CB8AC3E}">
        <p14:creationId xmlns:p14="http://schemas.microsoft.com/office/powerpoint/2010/main" val="282245179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553998"/>
          </a:xfrm>
        </p:spPr>
        <p:txBody>
          <a:bodyPr/>
          <a:lstStyle/>
          <a:p>
            <a:pPr algn="ctr"/>
            <a:r>
              <a:rPr lang="en-GB" sz="3600" b="1" dirty="0" err="1" smtClean="0"/>
              <a:t>Departmentation</a:t>
            </a:r>
            <a:r>
              <a:rPr lang="en-GB" sz="3600" b="1" dirty="0" smtClean="0"/>
              <a:t>/Organizational Structure</a:t>
            </a:r>
            <a:endParaRPr lang="en-IN" sz="3600" b="1" dirty="0"/>
          </a:p>
        </p:txBody>
      </p:sp>
      <p:sp>
        <p:nvSpPr>
          <p:cNvPr id="3" name="Text Placeholder 2"/>
          <p:cNvSpPr>
            <a:spLocks noGrp="1"/>
          </p:cNvSpPr>
          <p:nvPr>
            <p:ph type="body" idx="1"/>
          </p:nvPr>
        </p:nvSpPr>
        <p:spPr>
          <a:xfrm>
            <a:off x="528650" y="1645996"/>
            <a:ext cx="8086699" cy="2077492"/>
          </a:xfrm>
        </p:spPr>
        <p:txBody>
          <a:bodyPr/>
          <a:lstStyle/>
          <a:p>
            <a:pPr algn="just"/>
            <a:r>
              <a:rPr lang="en-GB" dirty="0" err="1" smtClean="0"/>
              <a:t>Departmentation</a:t>
            </a:r>
            <a:r>
              <a:rPr lang="en-GB" dirty="0" smtClean="0"/>
              <a:t> or organizational structure </a:t>
            </a:r>
            <a:r>
              <a:rPr lang="en-GB" dirty="0"/>
              <a:t>refers to the process of grouping related activities or functions into specialized units or departments within an organization. </a:t>
            </a:r>
            <a:endParaRPr lang="en-GB" dirty="0" smtClean="0"/>
          </a:p>
          <a:p>
            <a:pPr algn="just"/>
            <a:endParaRPr lang="en-GB" dirty="0" smtClean="0"/>
          </a:p>
          <a:p>
            <a:pPr algn="just"/>
            <a:endParaRPr lang="en-IN" dirty="0"/>
          </a:p>
        </p:txBody>
      </p:sp>
    </p:spTree>
    <p:extLst>
      <p:ext uri="{BB962C8B-B14F-4D97-AF65-F5344CB8AC3E}">
        <p14:creationId xmlns:p14="http://schemas.microsoft.com/office/powerpoint/2010/main" val="42065116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15553"/>
          </a:xfrm>
        </p:spPr>
        <p:txBody>
          <a:bodyPr/>
          <a:lstStyle/>
          <a:p>
            <a:pPr algn="ctr"/>
            <a:r>
              <a:rPr lang="en-GB" sz="4000" b="1" dirty="0"/>
              <a:t>Functional </a:t>
            </a:r>
            <a:r>
              <a:rPr lang="en-GB" sz="4000" b="1" dirty="0" err="1" smtClean="0"/>
              <a:t>Departmentation</a:t>
            </a:r>
            <a:r>
              <a:rPr lang="en-GB" sz="4000" b="1" dirty="0" smtClean="0"/>
              <a:t>/Structure</a:t>
            </a:r>
            <a:endParaRPr lang="en-IN" sz="4000" b="1" dirty="0"/>
          </a:p>
        </p:txBody>
      </p:sp>
      <p:sp>
        <p:nvSpPr>
          <p:cNvPr id="3" name="Text Placeholder 2"/>
          <p:cNvSpPr>
            <a:spLocks noGrp="1"/>
          </p:cNvSpPr>
          <p:nvPr>
            <p:ph type="body" idx="1"/>
          </p:nvPr>
        </p:nvSpPr>
        <p:spPr>
          <a:xfrm>
            <a:off x="492772" y="1447800"/>
            <a:ext cx="8086699" cy="1661993"/>
          </a:xfrm>
        </p:spPr>
        <p:txBody>
          <a:bodyPr/>
          <a:lstStyle/>
          <a:p>
            <a:pPr algn="just"/>
            <a:r>
              <a:rPr lang="en-GB" dirty="0" smtClean="0"/>
              <a:t>In this structure, Departments </a:t>
            </a:r>
            <a:r>
              <a:rPr lang="en-GB" dirty="0"/>
              <a:t>are organized based on functions or tasks performed. For example, departments may include marketing, finance, human resources, operations, and so on.</a:t>
            </a:r>
          </a:p>
        </p:txBody>
      </p:sp>
    </p:spTree>
    <p:extLst>
      <p:ext uri="{BB962C8B-B14F-4D97-AF65-F5344CB8AC3E}">
        <p14:creationId xmlns:p14="http://schemas.microsoft.com/office/powerpoint/2010/main" val="364302334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partmentalization By Fun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52400"/>
            <a:ext cx="8494902" cy="6314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76308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430887"/>
          </a:xfrm>
        </p:spPr>
        <p:txBody>
          <a:bodyPr/>
          <a:lstStyle/>
          <a:p>
            <a:pPr algn="ctr"/>
            <a:r>
              <a:rPr lang="en-GB" sz="2800" b="1" dirty="0" smtClean="0"/>
              <a:t>Benefits of Functional </a:t>
            </a:r>
            <a:r>
              <a:rPr lang="en-GB" sz="2800" b="1" dirty="0" err="1" smtClean="0"/>
              <a:t>Departmentation</a:t>
            </a:r>
            <a:r>
              <a:rPr lang="en-GB" sz="2800" b="1" dirty="0" smtClean="0"/>
              <a:t>/Structure</a:t>
            </a:r>
            <a:endParaRPr lang="en-IN" sz="2800" b="1" dirty="0"/>
          </a:p>
        </p:txBody>
      </p:sp>
      <p:sp>
        <p:nvSpPr>
          <p:cNvPr id="3" name="Text Placeholder 2"/>
          <p:cNvSpPr>
            <a:spLocks noGrp="1"/>
          </p:cNvSpPr>
          <p:nvPr>
            <p:ph type="body" idx="1"/>
          </p:nvPr>
        </p:nvSpPr>
        <p:spPr>
          <a:xfrm>
            <a:off x="543458" y="1143000"/>
            <a:ext cx="8086699" cy="5755422"/>
          </a:xfrm>
        </p:spPr>
        <p:txBody>
          <a:bodyPr/>
          <a:lstStyle/>
          <a:p>
            <a:pPr algn="just"/>
            <a:r>
              <a:rPr lang="en-GB" sz="2200" b="1" dirty="0"/>
              <a:t>Specialization</a:t>
            </a:r>
            <a:r>
              <a:rPr lang="en-GB" sz="2200" dirty="0"/>
              <a:t>: Functional </a:t>
            </a:r>
            <a:r>
              <a:rPr lang="en-GB" sz="2200" dirty="0" err="1"/>
              <a:t>departmentation</a:t>
            </a:r>
            <a:r>
              <a:rPr lang="en-GB" sz="2200" dirty="0"/>
              <a:t> allows employees to focus on specific tasks or functions within their area of expertise, leading to higher levels of proficiency and productivity.</a:t>
            </a:r>
          </a:p>
          <a:p>
            <a:pPr algn="just"/>
            <a:r>
              <a:rPr lang="en-GB" sz="2200" b="1" dirty="0"/>
              <a:t>Efficiency</a:t>
            </a:r>
            <a:r>
              <a:rPr lang="en-GB" sz="2200" dirty="0"/>
              <a:t>: By grouping together individuals with similar skills and knowledge, functional departments can streamline processes and workflows, reducing duplication of efforts and increasing overall efficiency.</a:t>
            </a:r>
          </a:p>
          <a:p>
            <a:pPr algn="just"/>
            <a:r>
              <a:rPr lang="en-GB" sz="2200" b="1" dirty="0"/>
              <a:t>Clear Reporting Structure</a:t>
            </a:r>
            <a:r>
              <a:rPr lang="en-GB" sz="2200" dirty="0"/>
              <a:t>: Functional </a:t>
            </a:r>
            <a:r>
              <a:rPr lang="en-GB" sz="2200" dirty="0" err="1"/>
              <a:t>departmentation</a:t>
            </a:r>
            <a:r>
              <a:rPr lang="en-GB" sz="2200" dirty="0"/>
              <a:t> typically involves a clear hierarchy, with each department reporting to a designated manager or head. This clarity in reporting lines can facilitate decision-making and accountability.</a:t>
            </a:r>
          </a:p>
          <a:p>
            <a:pPr algn="just"/>
            <a:r>
              <a:rPr lang="en-GB" sz="2200" b="1" dirty="0"/>
              <a:t>Career Development</a:t>
            </a:r>
            <a:r>
              <a:rPr lang="en-GB" sz="2200" dirty="0"/>
              <a:t>: Employees in functional departments often have opportunities for career advancement within their specialized area, as they can gain deeper expertise and experience over time.</a:t>
            </a:r>
          </a:p>
          <a:p>
            <a:pPr algn="just"/>
            <a:r>
              <a:rPr lang="en-GB" sz="2200" b="1" dirty="0"/>
              <a:t>Cost Savings</a:t>
            </a:r>
            <a:r>
              <a:rPr lang="en-GB" sz="2200" dirty="0"/>
              <a:t>: By consolidating similar activities and resources, functional </a:t>
            </a:r>
            <a:r>
              <a:rPr lang="en-GB" sz="2200" dirty="0" err="1"/>
              <a:t>departmentation</a:t>
            </a:r>
            <a:r>
              <a:rPr lang="en-GB" sz="2200" dirty="0"/>
              <a:t> can lead to cost savings through economies of scale and more effective resource allocation</a:t>
            </a:r>
            <a:r>
              <a:rPr lang="en-GB" sz="2200" dirty="0" smtClean="0"/>
              <a:t>.</a:t>
            </a:r>
            <a:endParaRPr lang="en-GB" sz="2200" dirty="0"/>
          </a:p>
        </p:txBody>
      </p:sp>
    </p:spTree>
    <p:extLst>
      <p:ext uri="{BB962C8B-B14F-4D97-AF65-F5344CB8AC3E}">
        <p14:creationId xmlns:p14="http://schemas.microsoft.com/office/powerpoint/2010/main" val="34036443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430887"/>
          </a:xfrm>
        </p:spPr>
        <p:txBody>
          <a:bodyPr/>
          <a:lstStyle/>
          <a:p>
            <a:pPr algn="ctr"/>
            <a:r>
              <a:rPr lang="en-GB" sz="2800" b="1" dirty="0" smtClean="0"/>
              <a:t>Limitations</a:t>
            </a:r>
            <a:r>
              <a:rPr lang="en-GB" sz="2800" b="1" dirty="0" smtClean="0"/>
              <a:t> </a:t>
            </a:r>
            <a:r>
              <a:rPr lang="en-GB" sz="2800" b="1" dirty="0" smtClean="0"/>
              <a:t>of Functional </a:t>
            </a:r>
            <a:r>
              <a:rPr lang="en-GB" sz="2800" b="1" dirty="0" err="1"/>
              <a:t>Departmentation</a:t>
            </a:r>
            <a:r>
              <a:rPr lang="en-GB" sz="2800" b="1" dirty="0"/>
              <a:t>/Structure</a:t>
            </a:r>
            <a:endParaRPr lang="en-IN" sz="2800" b="1" dirty="0"/>
          </a:p>
        </p:txBody>
      </p:sp>
      <p:sp>
        <p:nvSpPr>
          <p:cNvPr id="3" name="Text Placeholder 2"/>
          <p:cNvSpPr>
            <a:spLocks noGrp="1"/>
          </p:cNvSpPr>
          <p:nvPr>
            <p:ph type="body" idx="1"/>
          </p:nvPr>
        </p:nvSpPr>
        <p:spPr>
          <a:xfrm>
            <a:off x="492772" y="914400"/>
            <a:ext cx="8086699" cy="5847755"/>
          </a:xfrm>
        </p:spPr>
        <p:txBody>
          <a:bodyPr/>
          <a:lstStyle/>
          <a:p>
            <a:pPr algn="just"/>
            <a:r>
              <a:rPr lang="en-GB" sz="2000" b="1" dirty="0"/>
              <a:t>Communication Barriers</a:t>
            </a:r>
            <a:r>
              <a:rPr lang="en-GB" sz="2000" dirty="0"/>
              <a:t>: Functional </a:t>
            </a:r>
            <a:r>
              <a:rPr lang="en-GB" sz="2000" dirty="0" err="1"/>
              <a:t>departmentation</a:t>
            </a:r>
            <a:r>
              <a:rPr lang="en-GB" sz="2000" dirty="0"/>
              <a:t> may result in silos, where departments operate independently and communication between them becomes challenging. This can hinder collaboration and coordination across the organization.</a:t>
            </a:r>
          </a:p>
          <a:p>
            <a:pPr algn="just"/>
            <a:r>
              <a:rPr lang="en-GB" sz="2000" b="1" dirty="0"/>
              <a:t>Lack of Holistic View</a:t>
            </a:r>
            <a:r>
              <a:rPr lang="en-GB" sz="2000" dirty="0"/>
              <a:t>: Employees within functional departments may focus solely on their own area of responsibility, potentially overlooking the broader organizational goals and objectives. This can lead to suboptimal decision-making and a lack of alignment with overall strategic direction.</a:t>
            </a:r>
          </a:p>
          <a:p>
            <a:pPr algn="just"/>
            <a:r>
              <a:rPr lang="en-GB" sz="2000" b="1" dirty="0" smtClean="0"/>
              <a:t>Conflict </a:t>
            </a:r>
            <a:r>
              <a:rPr lang="en-GB" sz="2000" b="1" dirty="0"/>
              <a:t>and Tension</a:t>
            </a:r>
            <a:r>
              <a:rPr lang="en-GB" sz="2000" dirty="0"/>
              <a:t>: Different functional departments may have competing priorities or conflicting interests, leading to internal tensions or conflicts. This can impede cooperation and teamwork within the organization.</a:t>
            </a:r>
          </a:p>
          <a:p>
            <a:pPr algn="just"/>
            <a:r>
              <a:rPr lang="en-GB" sz="2000" b="1" dirty="0"/>
              <a:t>Difficulty in Innovation</a:t>
            </a:r>
            <a:r>
              <a:rPr lang="en-GB" sz="2000" dirty="0"/>
              <a:t>: Functional </a:t>
            </a:r>
            <a:r>
              <a:rPr lang="en-GB" sz="2000" dirty="0" err="1"/>
              <a:t>departmentation</a:t>
            </a:r>
            <a:r>
              <a:rPr lang="en-GB" sz="2000" dirty="0"/>
              <a:t> may discourage cross-functional collaboration, limiting opportunities for innovation and creativity that often arise from diverse perspectives and interdisciplinary approaches</a:t>
            </a:r>
            <a:r>
              <a:rPr lang="en-GB" sz="2000" dirty="0" smtClean="0"/>
              <a:t>.</a:t>
            </a:r>
          </a:p>
          <a:p>
            <a:pPr algn="just"/>
            <a:endParaRPr lang="en-GB" sz="2000" dirty="0" smtClean="0">
              <a:solidFill>
                <a:srgbClr val="FF0000"/>
              </a:solidFill>
            </a:endParaRPr>
          </a:p>
          <a:p>
            <a:pPr algn="just"/>
            <a:r>
              <a:rPr lang="en-GB" sz="2000" dirty="0" smtClean="0">
                <a:solidFill>
                  <a:srgbClr val="FF0000"/>
                </a:solidFill>
              </a:rPr>
              <a:t>Overall</a:t>
            </a:r>
            <a:r>
              <a:rPr lang="en-GB" sz="2000" dirty="0">
                <a:solidFill>
                  <a:srgbClr val="FF0000"/>
                </a:solidFill>
              </a:rPr>
              <a:t>, while functional </a:t>
            </a:r>
            <a:r>
              <a:rPr lang="en-GB" sz="2000" dirty="0" err="1">
                <a:solidFill>
                  <a:srgbClr val="FF0000"/>
                </a:solidFill>
              </a:rPr>
              <a:t>departmentation</a:t>
            </a:r>
            <a:r>
              <a:rPr lang="en-GB" sz="2000" dirty="0">
                <a:solidFill>
                  <a:srgbClr val="FF0000"/>
                </a:solidFill>
              </a:rPr>
              <a:t> offers certain advantages such as specialization and efficiency, organizations need to be mindful of its limitations and consider adopting hybrid approaches or implementing mechanisms to mitigate potential drawbacks.</a:t>
            </a:r>
            <a:endParaRPr lang="en-GB" sz="2000" dirty="0" smtClean="0">
              <a:solidFill>
                <a:srgbClr val="FF0000"/>
              </a:solidFill>
            </a:endParaRPr>
          </a:p>
        </p:txBody>
      </p:sp>
    </p:spTree>
    <p:extLst>
      <p:ext uri="{BB962C8B-B14F-4D97-AF65-F5344CB8AC3E}">
        <p14:creationId xmlns:p14="http://schemas.microsoft.com/office/powerpoint/2010/main" val="26151565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615553"/>
          </a:xfrm>
        </p:spPr>
        <p:txBody>
          <a:bodyPr/>
          <a:lstStyle/>
          <a:p>
            <a:pPr algn="ctr"/>
            <a:r>
              <a:rPr lang="en-GB" sz="4000" b="1" dirty="0"/>
              <a:t>Product </a:t>
            </a:r>
            <a:r>
              <a:rPr lang="en-GB" sz="4000" b="1" dirty="0" err="1"/>
              <a:t>Departmentation</a:t>
            </a:r>
            <a:r>
              <a:rPr lang="en-GB" sz="4000" b="1" dirty="0"/>
              <a:t>/Structure</a:t>
            </a:r>
            <a:endParaRPr lang="en-IN" sz="4000" b="1" dirty="0"/>
          </a:p>
        </p:txBody>
      </p:sp>
      <p:sp>
        <p:nvSpPr>
          <p:cNvPr id="3" name="Text Placeholder 2"/>
          <p:cNvSpPr>
            <a:spLocks noGrp="1"/>
          </p:cNvSpPr>
          <p:nvPr>
            <p:ph type="body" idx="1"/>
          </p:nvPr>
        </p:nvSpPr>
        <p:spPr>
          <a:xfrm>
            <a:off x="528650" y="1645996"/>
            <a:ext cx="8086699" cy="1661993"/>
          </a:xfrm>
        </p:spPr>
        <p:txBody>
          <a:bodyPr/>
          <a:lstStyle/>
          <a:p>
            <a:pPr algn="just"/>
            <a:r>
              <a:rPr lang="en-GB" dirty="0" smtClean="0"/>
              <a:t>Departments </a:t>
            </a:r>
            <a:r>
              <a:rPr lang="en-GB" dirty="0"/>
              <a:t>are organized around different products or product lines. This type of </a:t>
            </a:r>
            <a:r>
              <a:rPr lang="en-GB" dirty="0" err="1"/>
              <a:t>departmentation</a:t>
            </a:r>
            <a:r>
              <a:rPr lang="en-GB" dirty="0"/>
              <a:t> allows for a focus on specific products or services, which can lead to better coordination and expertise in those areas.</a:t>
            </a:r>
          </a:p>
        </p:txBody>
      </p:sp>
    </p:spTree>
    <p:extLst>
      <p:ext uri="{BB962C8B-B14F-4D97-AF65-F5344CB8AC3E}">
        <p14:creationId xmlns:p14="http://schemas.microsoft.com/office/powerpoint/2010/main" val="98978918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partmentalization by Product: Definition, &amp; Pros/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686800" cy="6492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35773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492443"/>
          </a:xfrm>
        </p:spPr>
        <p:txBody>
          <a:bodyPr/>
          <a:lstStyle/>
          <a:p>
            <a:pPr algn="ctr"/>
            <a:r>
              <a:rPr lang="en-GB" sz="3200" b="1" dirty="0" smtClean="0"/>
              <a:t>Benefits of Product </a:t>
            </a:r>
            <a:r>
              <a:rPr lang="en-GB" sz="3200" b="1" dirty="0" err="1"/>
              <a:t>Departmentation</a:t>
            </a:r>
            <a:r>
              <a:rPr lang="en-GB" sz="3200" b="1" dirty="0"/>
              <a:t>/Structure</a:t>
            </a:r>
            <a:endParaRPr lang="en-IN" sz="3200" b="1" dirty="0"/>
          </a:p>
        </p:txBody>
      </p:sp>
      <p:sp>
        <p:nvSpPr>
          <p:cNvPr id="3" name="Text Placeholder 2"/>
          <p:cNvSpPr>
            <a:spLocks noGrp="1"/>
          </p:cNvSpPr>
          <p:nvPr>
            <p:ph type="body" idx="1"/>
          </p:nvPr>
        </p:nvSpPr>
        <p:spPr>
          <a:xfrm>
            <a:off x="543458" y="1143000"/>
            <a:ext cx="8086699" cy="5232202"/>
          </a:xfrm>
        </p:spPr>
        <p:txBody>
          <a:bodyPr/>
          <a:lstStyle/>
          <a:p>
            <a:pPr algn="just"/>
            <a:r>
              <a:rPr lang="en-GB" sz="2000" b="1" dirty="0"/>
              <a:t>Specialization</a:t>
            </a:r>
            <a:r>
              <a:rPr lang="en-GB" sz="2000" dirty="0"/>
              <a:t>: Each product department can focus solely on its specific product or product line, allowing for specialized knowledge and expertise. This can lead to improved product development, marketing, and customer support.</a:t>
            </a:r>
          </a:p>
          <a:p>
            <a:pPr algn="just"/>
            <a:r>
              <a:rPr lang="en-GB" sz="2000" b="1" dirty="0"/>
              <a:t>Clear Accountability</a:t>
            </a:r>
            <a:r>
              <a:rPr lang="en-GB" sz="2000" dirty="0"/>
              <a:t>: With distinct product departments, accountability becomes clearer. Each department is responsible for its own product's success or failure, which can improve decision-making and efficiency.</a:t>
            </a:r>
          </a:p>
          <a:p>
            <a:pPr algn="just"/>
            <a:r>
              <a:rPr lang="en-GB" sz="2000" b="1" dirty="0"/>
              <a:t>Flexibility</a:t>
            </a:r>
            <a:r>
              <a:rPr lang="en-GB" sz="2000" dirty="0"/>
              <a:t>: Product </a:t>
            </a:r>
            <a:r>
              <a:rPr lang="en-GB" sz="2000" dirty="0" err="1"/>
              <a:t>departmentation</a:t>
            </a:r>
            <a:r>
              <a:rPr lang="en-GB" sz="2000" dirty="0"/>
              <a:t> allows for flexibility in responding to market changes and customer demands. Each department can adapt its strategies independently, making it easier to customize approaches based on product-specific requirements.</a:t>
            </a:r>
          </a:p>
          <a:p>
            <a:pPr algn="just"/>
            <a:r>
              <a:rPr lang="en-GB" sz="2000" b="1" dirty="0"/>
              <a:t>Customer Focus</a:t>
            </a:r>
            <a:r>
              <a:rPr lang="en-GB" sz="2000" dirty="0"/>
              <a:t>: Since each product department is dedicated to a particular product or product line, there's a greater potential to understand and address customer needs and preferences effectively.</a:t>
            </a:r>
          </a:p>
          <a:p>
            <a:pPr algn="just"/>
            <a:r>
              <a:rPr lang="en-GB" sz="2000" b="1" dirty="0"/>
              <a:t>Innovation</a:t>
            </a:r>
            <a:r>
              <a:rPr lang="en-GB" sz="2000" dirty="0"/>
              <a:t>: Product departments often foster innovation within their specific product domain. They can allocate resources, conduct research, and develop new features or products tailored to their market segment.</a:t>
            </a:r>
          </a:p>
        </p:txBody>
      </p:sp>
    </p:spTree>
    <p:extLst>
      <p:ext uri="{BB962C8B-B14F-4D97-AF65-F5344CB8AC3E}">
        <p14:creationId xmlns:p14="http://schemas.microsoft.com/office/powerpoint/2010/main" val="309310892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7385"/>
            <a:ext cx="8305165" cy="430887"/>
          </a:xfrm>
        </p:spPr>
        <p:txBody>
          <a:bodyPr/>
          <a:lstStyle/>
          <a:p>
            <a:pPr algn="ctr"/>
            <a:r>
              <a:rPr lang="en-GB" sz="2800" b="1" dirty="0" smtClean="0"/>
              <a:t>Limitations of Product </a:t>
            </a:r>
            <a:r>
              <a:rPr lang="en-GB" sz="2800" b="1" dirty="0" err="1"/>
              <a:t>Departmentation</a:t>
            </a:r>
            <a:r>
              <a:rPr lang="en-GB" sz="2800" b="1" dirty="0"/>
              <a:t>/Structure</a:t>
            </a:r>
            <a:endParaRPr lang="en-IN" sz="2800" b="1" dirty="0"/>
          </a:p>
        </p:txBody>
      </p:sp>
      <p:sp>
        <p:nvSpPr>
          <p:cNvPr id="3" name="Text Placeholder 2"/>
          <p:cNvSpPr>
            <a:spLocks noGrp="1"/>
          </p:cNvSpPr>
          <p:nvPr>
            <p:ph type="body" idx="1"/>
          </p:nvPr>
        </p:nvSpPr>
        <p:spPr>
          <a:xfrm>
            <a:off x="543458" y="1143000"/>
            <a:ext cx="8086699" cy="5539978"/>
          </a:xfrm>
        </p:spPr>
        <p:txBody>
          <a:bodyPr/>
          <a:lstStyle/>
          <a:p>
            <a:pPr algn="just"/>
            <a:r>
              <a:rPr lang="en-GB" sz="2000" b="1" dirty="0"/>
              <a:t>Duplication of Effort</a:t>
            </a:r>
            <a:r>
              <a:rPr lang="en-GB" sz="2000" dirty="0"/>
              <a:t>: Each product department may require its own set of resources, including personnel, equipment, and facilities. This can lead to duplication of effort and increased costs across departments.</a:t>
            </a:r>
          </a:p>
          <a:p>
            <a:pPr algn="just"/>
            <a:r>
              <a:rPr lang="en-GB" sz="2000" b="1" dirty="0"/>
              <a:t>Coordination Challenges</a:t>
            </a:r>
            <a:r>
              <a:rPr lang="en-GB" sz="2000" dirty="0"/>
              <a:t>: Coordinating activities and sharing resources across product departments can be challenging. There may be conflicts over resource allocation, and communication between departments may suffer, potentially leading to inefficiencies and missed opportunities.</a:t>
            </a:r>
          </a:p>
          <a:p>
            <a:pPr algn="just"/>
            <a:r>
              <a:rPr lang="en-GB" sz="2000" b="1" dirty="0"/>
              <a:t>Narrow Perspective</a:t>
            </a:r>
            <a:r>
              <a:rPr lang="en-GB" sz="2000" dirty="0"/>
              <a:t>: Product </a:t>
            </a:r>
            <a:r>
              <a:rPr lang="en-GB" sz="2000" dirty="0" err="1"/>
              <a:t>departmentation</a:t>
            </a:r>
            <a:r>
              <a:rPr lang="en-GB" sz="2000" dirty="0"/>
              <a:t> may result in a narrow focus on individual products or product lines, potentially overlooking synergies or opportunities for collaboration across different products or markets.</a:t>
            </a:r>
          </a:p>
          <a:p>
            <a:pPr algn="just"/>
            <a:r>
              <a:rPr lang="en-GB" sz="2000" b="1" dirty="0"/>
              <a:t>Difficulty in Scaling</a:t>
            </a:r>
            <a:r>
              <a:rPr lang="en-GB" sz="2000" dirty="0"/>
              <a:t>: As the company grows or diversifies its product offerings, managing multiple product departments can become increasingly complex. It may be difficult to scale the organizational structure efficiently while maintaining cohesion and coordination</a:t>
            </a:r>
            <a:r>
              <a:rPr lang="en-GB" sz="2000" dirty="0" smtClean="0"/>
              <a:t>.</a:t>
            </a:r>
          </a:p>
          <a:p>
            <a:pPr algn="just"/>
            <a:endParaRPr lang="en-GB" sz="2000" dirty="0"/>
          </a:p>
          <a:p>
            <a:pPr algn="just"/>
            <a:r>
              <a:rPr lang="en-GB" sz="2000" dirty="0">
                <a:solidFill>
                  <a:srgbClr val="FF0000"/>
                </a:solidFill>
              </a:rPr>
              <a:t>The effectiveness of product </a:t>
            </a:r>
            <a:r>
              <a:rPr lang="en-GB" sz="2000" dirty="0" err="1">
                <a:solidFill>
                  <a:srgbClr val="FF0000"/>
                </a:solidFill>
              </a:rPr>
              <a:t>departmentation</a:t>
            </a:r>
            <a:r>
              <a:rPr lang="en-GB" sz="2000" dirty="0">
                <a:solidFill>
                  <a:srgbClr val="FF0000"/>
                </a:solidFill>
              </a:rPr>
              <a:t> depends on factors such as the company's size, industry, and strategic objectives, and careful consideration is needed to balance its benefits and limitations.</a:t>
            </a:r>
          </a:p>
        </p:txBody>
      </p:sp>
    </p:spTree>
    <p:extLst>
      <p:ext uri="{BB962C8B-B14F-4D97-AF65-F5344CB8AC3E}">
        <p14:creationId xmlns:p14="http://schemas.microsoft.com/office/powerpoint/2010/main" val="2773343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12766</TotalTime>
  <Words>4968</Words>
  <Application>Microsoft Office PowerPoint</Application>
  <PresentationFormat>On-screen Show (4:3)</PresentationFormat>
  <Paragraphs>500</Paragraphs>
  <Slides>74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Arial MT</vt:lpstr>
      <vt:lpstr>Calibri</vt:lpstr>
      <vt:lpstr>Times New Roman</vt:lpstr>
      <vt:lpstr>Wingdings</vt:lpstr>
      <vt:lpstr>Office Theme</vt:lpstr>
      <vt:lpstr>PowerPoint Presentation</vt:lpstr>
      <vt:lpstr>Content of Module I</vt:lpstr>
      <vt:lpstr>Management: As a Concept</vt:lpstr>
      <vt:lpstr>Nature of Management</vt:lpstr>
      <vt:lpstr>PowerPoint Presentation</vt:lpstr>
      <vt:lpstr>Management as a Science </vt:lpstr>
      <vt:lpstr>Management as an Art</vt:lpstr>
      <vt:lpstr>PowerPoint Presentation</vt:lpstr>
      <vt:lpstr>Scope of Management</vt:lpstr>
      <vt:lpstr>Scope of Management</vt:lpstr>
      <vt:lpstr>Scope of Management</vt:lpstr>
      <vt:lpstr>Scope of Management</vt:lpstr>
      <vt:lpstr>Theories of management</vt:lpstr>
      <vt:lpstr>I) Classical Management</vt:lpstr>
      <vt:lpstr>Principles of Scientific Management</vt:lpstr>
      <vt:lpstr>Principles of Scientific Management</vt:lpstr>
      <vt:lpstr>b) Administrative Management</vt:lpstr>
      <vt:lpstr>PowerPoint Presentation</vt:lpstr>
      <vt:lpstr>PowerPoint Presentation</vt:lpstr>
      <vt:lpstr>PowerPoint Presentation</vt:lpstr>
      <vt:lpstr>C. Bureaucratic Management</vt:lpstr>
      <vt:lpstr>Max Weber’s Bureaucratic Form – 6 Major Principles</vt:lpstr>
      <vt:lpstr>Max Weber’s Bureaucratic Form – 6 Major Principles</vt:lpstr>
      <vt:lpstr>Administration and Management </vt:lpstr>
      <vt:lpstr>PowerPoint Presentation</vt:lpstr>
      <vt:lpstr>Management Functions</vt:lpstr>
      <vt:lpstr>Planning</vt:lpstr>
      <vt:lpstr>Nature of Planning</vt:lpstr>
      <vt:lpstr>Importance of Planning As a managerial function planning is important due to the following reasons:-</vt:lpstr>
      <vt:lpstr>Importance of Planning As a managerial function planning is important due to the following reasons:-</vt:lpstr>
      <vt:lpstr>Planning Process</vt:lpstr>
      <vt:lpstr>Planning Process</vt:lpstr>
      <vt:lpstr>Planning Process</vt:lpstr>
      <vt:lpstr>Planning Process</vt:lpstr>
      <vt:lpstr>Planning Process</vt:lpstr>
      <vt:lpstr>Limitations/Disadvantages of Planning</vt:lpstr>
      <vt:lpstr>Limitations/Disadvantages of Planning</vt:lpstr>
      <vt:lpstr>Limitations/Disadvantages of Planning</vt:lpstr>
      <vt:lpstr>Decision-Making</vt:lpstr>
      <vt:lpstr>Decision-making Process</vt:lpstr>
      <vt:lpstr>Decision-making Process</vt:lpstr>
      <vt:lpstr>Decision-making Process</vt:lpstr>
      <vt:lpstr>Decision-making Process</vt:lpstr>
      <vt:lpstr>Decision-making Process</vt:lpstr>
      <vt:lpstr>Decision-making Techniques</vt:lpstr>
      <vt:lpstr>SWOT Analysis</vt:lpstr>
      <vt:lpstr>SWOT Analysis</vt:lpstr>
      <vt:lpstr>Decision Matrix</vt:lpstr>
      <vt:lpstr>Brainstorming</vt:lpstr>
      <vt:lpstr>Organizing</vt:lpstr>
      <vt:lpstr>Objectives of Organizing</vt:lpstr>
      <vt:lpstr>Objectives of Organizing</vt:lpstr>
      <vt:lpstr>Process of Organizing</vt:lpstr>
      <vt:lpstr>Authority, Responsibility, Accountability</vt:lpstr>
      <vt:lpstr>PowerPoint Presentation</vt:lpstr>
      <vt:lpstr>CENTRALIZATION AND  DECENTRALIZATION</vt:lpstr>
      <vt:lpstr>CENTRALIZATION</vt:lpstr>
      <vt:lpstr>Importance of Centralization</vt:lpstr>
      <vt:lpstr>Limitations of Centralization</vt:lpstr>
      <vt:lpstr>DECENTRALIZATION</vt:lpstr>
      <vt:lpstr>Importance of Decentralization</vt:lpstr>
      <vt:lpstr>Limitations of Decentralization</vt:lpstr>
      <vt:lpstr>Span of Control</vt:lpstr>
      <vt:lpstr>Span of Control</vt:lpstr>
      <vt:lpstr>Factors Affecting Span of Control</vt:lpstr>
      <vt:lpstr>Departmentation/Organizational Structure</vt:lpstr>
      <vt:lpstr>Functional Departmentation/Structure</vt:lpstr>
      <vt:lpstr>PowerPoint Presentation</vt:lpstr>
      <vt:lpstr>Benefits of Functional Departmentation/Structure</vt:lpstr>
      <vt:lpstr>Limitations of Functional Departmentation/Structure</vt:lpstr>
      <vt:lpstr>Product Departmentation/Structure</vt:lpstr>
      <vt:lpstr>PowerPoint Presentation</vt:lpstr>
      <vt:lpstr>Benefits of Product Departmentation/Structure</vt:lpstr>
      <vt:lpstr>Limitations of Product Departmentation/Structure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DELL</cp:lastModifiedBy>
  <cp:revision>169</cp:revision>
  <dcterms:created xsi:type="dcterms:W3CDTF">2023-07-04T06:30:01Z</dcterms:created>
  <dcterms:modified xsi:type="dcterms:W3CDTF">2024-02-24T15:53:45Z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2023-03-09T00:00:00Z</vt:filetime>
  </property>
  <property fmtid="{D5CDD505-2E9C-101B-9397-08002B2CF9AE}" pid="3" name="Creator">
    <vt:lpwstr>Microsoft® PowerPoint® 2016</vt:lpwstr>
  </property>
  <property fmtid="{D5CDD505-2E9C-101B-9397-08002B2CF9AE}" pid="4" name="LastSaved">
    <vt:filetime>2023-07-04T00:00:00Z</vt:filetime>
  </property>
  <property fmtid="{D5CDD505-2E9C-101B-9397-08002B2CF9AE}" pid="5" name="Producer">
    <vt:lpwstr>www.ilovepdf.com</vt:lpwstr>
  </property>
</Properties>
</file>