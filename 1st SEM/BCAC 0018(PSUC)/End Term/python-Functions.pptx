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56221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56221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56221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304" y="3810"/>
            <a:ext cx="819785" cy="819150"/>
          </a:xfrm>
          <a:custGeom>
            <a:avLst/>
            <a:gdLst/>
            <a:ahLst/>
            <a:cxnLst/>
            <a:rect l="l" t="t" r="r" b="b"/>
            <a:pathLst>
              <a:path w="819785" h="819150">
                <a:moveTo>
                  <a:pt x="819655" y="0"/>
                </a:moveTo>
                <a:lnTo>
                  <a:pt x="505" y="0"/>
                </a:lnTo>
                <a:lnTo>
                  <a:pt x="0" y="819150"/>
                </a:lnTo>
                <a:lnTo>
                  <a:pt x="48635" y="817759"/>
                </a:lnTo>
                <a:lnTo>
                  <a:pt x="96034" y="813638"/>
                </a:lnTo>
                <a:lnTo>
                  <a:pt x="142623" y="806864"/>
                </a:lnTo>
                <a:lnTo>
                  <a:pt x="188327" y="797514"/>
                </a:lnTo>
                <a:lnTo>
                  <a:pt x="233067" y="785664"/>
                </a:lnTo>
                <a:lnTo>
                  <a:pt x="276768" y="771391"/>
                </a:lnTo>
                <a:lnTo>
                  <a:pt x="319353" y="754772"/>
                </a:lnTo>
                <a:lnTo>
                  <a:pt x="360744" y="735885"/>
                </a:lnTo>
                <a:lnTo>
                  <a:pt x="400865" y="714805"/>
                </a:lnTo>
                <a:lnTo>
                  <a:pt x="439639" y="691610"/>
                </a:lnTo>
                <a:lnTo>
                  <a:pt x="476990" y="666377"/>
                </a:lnTo>
                <a:lnTo>
                  <a:pt x="512839" y="639182"/>
                </a:lnTo>
                <a:lnTo>
                  <a:pt x="547112" y="610102"/>
                </a:lnTo>
                <a:lnTo>
                  <a:pt x="579729" y="579215"/>
                </a:lnTo>
                <a:lnTo>
                  <a:pt x="610616" y="546596"/>
                </a:lnTo>
                <a:lnTo>
                  <a:pt x="639695" y="512323"/>
                </a:lnTo>
                <a:lnTo>
                  <a:pt x="666889" y="476473"/>
                </a:lnTo>
                <a:lnTo>
                  <a:pt x="692122" y="439123"/>
                </a:lnTo>
                <a:lnTo>
                  <a:pt x="715316" y="400349"/>
                </a:lnTo>
                <a:lnTo>
                  <a:pt x="736395" y="360228"/>
                </a:lnTo>
                <a:lnTo>
                  <a:pt x="755281" y="318837"/>
                </a:lnTo>
                <a:lnTo>
                  <a:pt x="771899" y="276253"/>
                </a:lnTo>
                <a:lnTo>
                  <a:pt x="786171" y="232553"/>
                </a:lnTo>
                <a:lnTo>
                  <a:pt x="798020" y="187814"/>
                </a:lnTo>
                <a:lnTo>
                  <a:pt x="807370" y="142112"/>
                </a:lnTo>
                <a:lnTo>
                  <a:pt x="814144" y="95524"/>
                </a:lnTo>
                <a:lnTo>
                  <a:pt x="818264" y="48128"/>
                </a:lnTo>
                <a:lnTo>
                  <a:pt x="819655" y="0"/>
                </a:lnTo>
                <a:close/>
              </a:path>
            </a:pathLst>
          </a:custGeom>
          <a:solidFill>
            <a:srgbClr val="FDF9F4">
              <a:alpha val="3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304" y="3810"/>
            <a:ext cx="819785" cy="819150"/>
          </a:xfrm>
          <a:custGeom>
            <a:avLst/>
            <a:gdLst/>
            <a:ahLst/>
            <a:cxnLst/>
            <a:rect l="l" t="t" r="r" b="b"/>
            <a:pathLst>
              <a:path w="819785" h="819150">
                <a:moveTo>
                  <a:pt x="819655" y="0"/>
                </a:moveTo>
                <a:lnTo>
                  <a:pt x="818264" y="48128"/>
                </a:lnTo>
                <a:lnTo>
                  <a:pt x="814144" y="95524"/>
                </a:lnTo>
                <a:lnTo>
                  <a:pt x="807370" y="142112"/>
                </a:lnTo>
                <a:lnTo>
                  <a:pt x="798020" y="187814"/>
                </a:lnTo>
                <a:lnTo>
                  <a:pt x="786171" y="232553"/>
                </a:lnTo>
                <a:lnTo>
                  <a:pt x="771899" y="276253"/>
                </a:lnTo>
                <a:lnTo>
                  <a:pt x="755281" y="318837"/>
                </a:lnTo>
                <a:lnTo>
                  <a:pt x="736395" y="360228"/>
                </a:lnTo>
                <a:lnTo>
                  <a:pt x="715316" y="400349"/>
                </a:lnTo>
                <a:lnTo>
                  <a:pt x="692122" y="439123"/>
                </a:lnTo>
                <a:lnTo>
                  <a:pt x="666889" y="476473"/>
                </a:lnTo>
                <a:lnTo>
                  <a:pt x="639695" y="512323"/>
                </a:lnTo>
                <a:lnTo>
                  <a:pt x="610616" y="546596"/>
                </a:lnTo>
                <a:lnTo>
                  <a:pt x="579729" y="579215"/>
                </a:lnTo>
                <a:lnTo>
                  <a:pt x="547112" y="610102"/>
                </a:lnTo>
                <a:lnTo>
                  <a:pt x="512839" y="639182"/>
                </a:lnTo>
                <a:lnTo>
                  <a:pt x="476990" y="666377"/>
                </a:lnTo>
                <a:lnTo>
                  <a:pt x="439639" y="691610"/>
                </a:lnTo>
                <a:lnTo>
                  <a:pt x="400865" y="714805"/>
                </a:lnTo>
                <a:lnTo>
                  <a:pt x="360744" y="735885"/>
                </a:lnTo>
                <a:lnTo>
                  <a:pt x="319353" y="754772"/>
                </a:lnTo>
                <a:lnTo>
                  <a:pt x="276768" y="771391"/>
                </a:lnTo>
                <a:lnTo>
                  <a:pt x="233067" y="785664"/>
                </a:lnTo>
                <a:lnTo>
                  <a:pt x="188327" y="797514"/>
                </a:lnTo>
                <a:lnTo>
                  <a:pt x="142623" y="806864"/>
                </a:lnTo>
                <a:lnTo>
                  <a:pt x="96034" y="813638"/>
                </a:lnTo>
                <a:lnTo>
                  <a:pt x="48635" y="817759"/>
                </a:lnTo>
                <a:lnTo>
                  <a:pt x="505" y="819150"/>
                </a:lnTo>
                <a:lnTo>
                  <a:pt x="336" y="819150"/>
                </a:lnTo>
                <a:lnTo>
                  <a:pt x="168" y="819150"/>
                </a:lnTo>
                <a:lnTo>
                  <a:pt x="0" y="819150"/>
                </a:lnTo>
                <a:lnTo>
                  <a:pt x="505" y="0"/>
                </a:lnTo>
                <a:lnTo>
                  <a:pt x="819655" y="0"/>
                </a:lnTo>
                <a:close/>
              </a:path>
            </a:pathLst>
          </a:custGeom>
          <a:ln w="3175">
            <a:solidFill>
              <a:srgbClr val="D2C3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28015" y="6095"/>
            <a:ext cx="1784604" cy="17846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69163" y="21335"/>
            <a:ext cx="1702435" cy="1702435"/>
          </a:xfrm>
          <a:custGeom>
            <a:avLst/>
            <a:gdLst/>
            <a:ahLst/>
            <a:cxnLst/>
            <a:rect l="l" t="t" r="r" b="b"/>
            <a:pathLst>
              <a:path w="1702435" h="1702435">
                <a:moveTo>
                  <a:pt x="0" y="851154"/>
                </a:moveTo>
                <a:lnTo>
                  <a:pt x="1347" y="802859"/>
                </a:lnTo>
                <a:lnTo>
                  <a:pt x="5341" y="755271"/>
                </a:lnTo>
                <a:lnTo>
                  <a:pt x="11910" y="708461"/>
                </a:lnTo>
                <a:lnTo>
                  <a:pt x="20983" y="662500"/>
                </a:lnTo>
                <a:lnTo>
                  <a:pt x="32487" y="617462"/>
                </a:lnTo>
                <a:lnTo>
                  <a:pt x="46350" y="573417"/>
                </a:lnTo>
                <a:lnTo>
                  <a:pt x="62501" y="530438"/>
                </a:lnTo>
                <a:lnTo>
                  <a:pt x="80868" y="488596"/>
                </a:lnTo>
                <a:lnTo>
                  <a:pt x="101378" y="447964"/>
                </a:lnTo>
                <a:lnTo>
                  <a:pt x="123961" y="408613"/>
                </a:lnTo>
                <a:lnTo>
                  <a:pt x="148543" y="370615"/>
                </a:lnTo>
                <a:lnTo>
                  <a:pt x="175055" y="334042"/>
                </a:lnTo>
                <a:lnTo>
                  <a:pt x="203422" y="298966"/>
                </a:lnTo>
                <a:lnTo>
                  <a:pt x="233574" y="265459"/>
                </a:lnTo>
                <a:lnTo>
                  <a:pt x="265439" y="233593"/>
                </a:lnTo>
                <a:lnTo>
                  <a:pt x="298945" y="203439"/>
                </a:lnTo>
                <a:lnTo>
                  <a:pt x="334020" y="175070"/>
                </a:lnTo>
                <a:lnTo>
                  <a:pt x="370593" y="148557"/>
                </a:lnTo>
                <a:lnTo>
                  <a:pt x="408590" y="123973"/>
                </a:lnTo>
                <a:lnTo>
                  <a:pt x="447941" y="101388"/>
                </a:lnTo>
                <a:lnTo>
                  <a:pt x="488574" y="80876"/>
                </a:lnTo>
                <a:lnTo>
                  <a:pt x="530417" y="62508"/>
                </a:lnTo>
                <a:lnTo>
                  <a:pt x="573397" y="46355"/>
                </a:lnTo>
                <a:lnTo>
                  <a:pt x="617444" y="32490"/>
                </a:lnTo>
                <a:lnTo>
                  <a:pt x="662485" y="20985"/>
                </a:lnTo>
                <a:lnTo>
                  <a:pt x="708448" y="11912"/>
                </a:lnTo>
                <a:lnTo>
                  <a:pt x="755262" y="5342"/>
                </a:lnTo>
                <a:lnTo>
                  <a:pt x="802854" y="1347"/>
                </a:lnTo>
                <a:lnTo>
                  <a:pt x="851154" y="0"/>
                </a:lnTo>
                <a:lnTo>
                  <a:pt x="899448" y="1347"/>
                </a:lnTo>
                <a:lnTo>
                  <a:pt x="947036" y="5342"/>
                </a:lnTo>
                <a:lnTo>
                  <a:pt x="993846" y="11912"/>
                </a:lnTo>
                <a:lnTo>
                  <a:pt x="1039807" y="20985"/>
                </a:lnTo>
                <a:lnTo>
                  <a:pt x="1084845" y="32490"/>
                </a:lnTo>
                <a:lnTo>
                  <a:pt x="1128890" y="46355"/>
                </a:lnTo>
                <a:lnTo>
                  <a:pt x="1171869" y="62508"/>
                </a:lnTo>
                <a:lnTo>
                  <a:pt x="1213711" y="80876"/>
                </a:lnTo>
                <a:lnTo>
                  <a:pt x="1254343" y="101388"/>
                </a:lnTo>
                <a:lnTo>
                  <a:pt x="1293694" y="123973"/>
                </a:lnTo>
                <a:lnTo>
                  <a:pt x="1331692" y="148557"/>
                </a:lnTo>
                <a:lnTo>
                  <a:pt x="1368265" y="175070"/>
                </a:lnTo>
                <a:lnTo>
                  <a:pt x="1403341" y="203439"/>
                </a:lnTo>
                <a:lnTo>
                  <a:pt x="1436848" y="233593"/>
                </a:lnTo>
                <a:lnTo>
                  <a:pt x="1468714" y="265459"/>
                </a:lnTo>
                <a:lnTo>
                  <a:pt x="1498868" y="298966"/>
                </a:lnTo>
                <a:lnTo>
                  <a:pt x="1527237" y="334042"/>
                </a:lnTo>
                <a:lnTo>
                  <a:pt x="1553750" y="370615"/>
                </a:lnTo>
                <a:lnTo>
                  <a:pt x="1578334" y="408613"/>
                </a:lnTo>
                <a:lnTo>
                  <a:pt x="1600919" y="447964"/>
                </a:lnTo>
                <a:lnTo>
                  <a:pt x="1621431" y="488596"/>
                </a:lnTo>
                <a:lnTo>
                  <a:pt x="1639799" y="530438"/>
                </a:lnTo>
                <a:lnTo>
                  <a:pt x="1655952" y="573417"/>
                </a:lnTo>
                <a:lnTo>
                  <a:pt x="1669817" y="617462"/>
                </a:lnTo>
                <a:lnTo>
                  <a:pt x="1681322" y="662500"/>
                </a:lnTo>
                <a:lnTo>
                  <a:pt x="1690395" y="708461"/>
                </a:lnTo>
                <a:lnTo>
                  <a:pt x="1696965" y="755271"/>
                </a:lnTo>
                <a:lnTo>
                  <a:pt x="1700960" y="802859"/>
                </a:lnTo>
                <a:lnTo>
                  <a:pt x="1702308" y="851154"/>
                </a:lnTo>
                <a:lnTo>
                  <a:pt x="1700960" y="899448"/>
                </a:lnTo>
                <a:lnTo>
                  <a:pt x="1696965" y="947036"/>
                </a:lnTo>
                <a:lnTo>
                  <a:pt x="1690395" y="993846"/>
                </a:lnTo>
                <a:lnTo>
                  <a:pt x="1681322" y="1039807"/>
                </a:lnTo>
                <a:lnTo>
                  <a:pt x="1669817" y="1084845"/>
                </a:lnTo>
                <a:lnTo>
                  <a:pt x="1655952" y="1128890"/>
                </a:lnTo>
                <a:lnTo>
                  <a:pt x="1639799" y="1171869"/>
                </a:lnTo>
                <a:lnTo>
                  <a:pt x="1621431" y="1213711"/>
                </a:lnTo>
                <a:lnTo>
                  <a:pt x="1600919" y="1254343"/>
                </a:lnTo>
                <a:lnTo>
                  <a:pt x="1578334" y="1293694"/>
                </a:lnTo>
                <a:lnTo>
                  <a:pt x="1553750" y="1331692"/>
                </a:lnTo>
                <a:lnTo>
                  <a:pt x="1527237" y="1368265"/>
                </a:lnTo>
                <a:lnTo>
                  <a:pt x="1498868" y="1403341"/>
                </a:lnTo>
                <a:lnTo>
                  <a:pt x="1468714" y="1436848"/>
                </a:lnTo>
                <a:lnTo>
                  <a:pt x="1436848" y="1468714"/>
                </a:lnTo>
                <a:lnTo>
                  <a:pt x="1403341" y="1498868"/>
                </a:lnTo>
                <a:lnTo>
                  <a:pt x="1368265" y="1527237"/>
                </a:lnTo>
                <a:lnTo>
                  <a:pt x="1331692" y="1553750"/>
                </a:lnTo>
                <a:lnTo>
                  <a:pt x="1293694" y="1578334"/>
                </a:lnTo>
                <a:lnTo>
                  <a:pt x="1254343" y="1600919"/>
                </a:lnTo>
                <a:lnTo>
                  <a:pt x="1213711" y="1621431"/>
                </a:lnTo>
                <a:lnTo>
                  <a:pt x="1171869" y="1639799"/>
                </a:lnTo>
                <a:lnTo>
                  <a:pt x="1128890" y="1655952"/>
                </a:lnTo>
                <a:lnTo>
                  <a:pt x="1084845" y="1669817"/>
                </a:lnTo>
                <a:lnTo>
                  <a:pt x="1039807" y="1681322"/>
                </a:lnTo>
                <a:lnTo>
                  <a:pt x="993846" y="1690395"/>
                </a:lnTo>
                <a:lnTo>
                  <a:pt x="947036" y="1696965"/>
                </a:lnTo>
                <a:lnTo>
                  <a:pt x="899448" y="1700960"/>
                </a:lnTo>
                <a:lnTo>
                  <a:pt x="851154" y="1702308"/>
                </a:lnTo>
                <a:lnTo>
                  <a:pt x="802854" y="1700960"/>
                </a:lnTo>
                <a:lnTo>
                  <a:pt x="755262" y="1696965"/>
                </a:lnTo>
                <a:lnTo>
                  <a:pt x="708448" y="1690395"/>
                </a:lnTo>
                <a:lnTo>
                  <a:pt x="662485" y="1681322"/>
                </a:lnTo>
                <a:lnTo>
                  <a:pt x="617444" y="1669817"/>
                </a:lnTo>
                <a:lnTo>
                  <a:pt x="573397" y="1655952"/>
                </a:lnTo>
                <a:lnTo>
                  <a:pt x="530417" y="1639799"/>
                </a:lnTo>
                <a:lnTo>
                  <a:pt x="488574" y="1621431"/>
                </a:lnTo>
                <a:lnTo>
                  <a:pt x="447941" y="1600919"/>
                </a:lnTo>
                <a:lnTo>
                  <a:pt x="408590" y="1578334"/>
                </a:lnTo>
                <a:lnTo>
                  <a:pt x="370593" y="1553750"/>
                </a:lnTo>
                <a:lnTo>
                  <a:pt x="334020" y="1527237"/>
                </a:lnTo>
                <a:lnTo>
                  <a:pt x="298945" y="1498868"/>
                </a:lnTo>
                <a:lnTo>
                  <a:pt x="265439" y="1468714"/>
                </a:lnTo>
                <a:lnTo>
                  <a:pt x="233574" y="1436848"/>
                </a:lnTo>
                <a:lnTo>
                  <a:pt x="203422" y="1403341"/>
                </a:lnTo>
                <a:lnTo>
                  <a:pt x="175055" y="1368265"/>
                </a:lnTo>
                <a:lnTo>
                  <a:pt x="148543" y="1331692"/>
                </a:lnTo>
                <a:lnTo>
                  <a:pt x="123961" y="1293694"/>
                </a:lnTo>
                <a:lnTo>
                  <a:pt x="101378" y="1254343"/>
                </a:lnTo>
                <a:lnTo>
                  <a:pt x="80868" y="1213711"/>
                </a:lnTo>
                <a:lnTo>
                  <a:pt x="62501" y="1171869"/>
                </a:lnTo>
                <a:lnTo>
                  <a:pt x="46350" y="1128890"/>
                </a:lnTo>
                <a:lnTo>
                  <a:pt x="32487" y="1084845"/>
                </a:lnTo>
                <a:lnTo>
                  <a:pt x="20983" y="1039807"/>
                </a:lnTo>
                <a:lnTo>
                  <a:pt x="11910" y="993846"/>
                </a:lnTo>
                <a:lnTo>
                  <a:pt x="5341" y="947036"/>
                </a:lnTo>
                <a:lnTo>
                  <a:pt x="1347" y="899448"/>
                </a:lnTo>
                <a:lnTo>
                  <a:pt x="0" y="851154"/>
                </a:lnTo>
                <a:close/>
              </a:path>
            </a:pathLst>
          </a:custGeom>
          <a:ln w="27432">
            <a:solidFill>
              <a:srgbClr val="FFF6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72212" y="1045463"/>
            <a:ext cx="1155192" cy="115061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87319" y="1050633"/>
            <a:ext cx="1116813" cy="111147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87319" y="1050633"/>
            <a:ext cx="1116965" cy="1111885"/>
          </a:xfrm>
          <a:custGeom>
            <a:avLst/>
            <a:gdLst/>
            <a:ahLst/>
            <a:cxnLst/>
            <a:rect l="l" t="t" r="r" b="b"/>
            <a:pathLst>
              <a:path w="1116965" h="1111885">
                <a:moveTo>
                  <a:pt x="118496" y="204634"/>
                </a:moveTo>
                <a:lnTo>
                  <a:pt x="149785" y="168741"/>
                </a:lnTo>
                <a:lnTo>
                  <a:pt x="183515" y="136234"/>
                </a:lnTo>
                <a:lnTo>
                  <a:pt x="219451" y="107137"/>
                </a:lnTo>
                <a:lnTo>
                  <a:pt x="257356" y="81474"/>
                </a:lnTo>
                <a:lnTo>
                  <a:pt x="296996" y="59270"/>
                </a:lnTo>
                <a:lnTo>
                  <a:pt x="338135" y="40547"/>
                </a:lnTo>
                <a:lnTo>
                  <a:pt x="380538" y="25331"/>
                </a:lnTo>
                <a:lnTo>
                  <a:pt x="423971" y="13644"/>
                </a:lnTo>
                <a:lnTo>
                  <a:pt x="468196" y="5510"/>
                </a:lnTo>
                <a:lnTo>
                  <a:pt x="512980" y="954"/>
                </a:lnTo>
                <a:lnTo>
                  <a:pt x="558087" y="0"/>
                </a:lnTo>
                <a:lnTo>
                  <a:pt x="603281" y="2670"/>
                </a:lnTo>
                <a:lnTo>
                  <a:pt x="648327" y="8990"/>
                </a:lnTo>
                <a:lnTo>
                  <a:pt x="692991" y="18983"/>
                </a:lnTo>
                <a:lnTo>
                  <a:pt x="737036" y="32672"/>
                </a:lnTo>
                <a:lnTo>
                  <a:pt x="780227" y="50083"/>
                </a:lnTo>
                <a:lnTo>
                  <a:pt x="822330" y="71238"/>
                </a:lnTo>
                <a:lnTo>
                  <a:pt x="863108" y="96162"/>
                </a:lnTo>
                <a:lnTo>
                  <a:pt x="902327" y="124878"/>
                </a:lnTo>
                <a:lnTo>
                  <a:pt x="939023" y="156757"/>
                </a:lnTo>
                <a:lnTo>
                  <a:pt x="972365" y="190998"/>
                </a:lnTo>
                <a:lnTo>
                  <a:pt x="1002325" y="227366"/>
                </a:lnTo>
                <a:lnTo>
                  <a:pt x="1028874" y="265625"/>
                </a:lnTo>
                <a:lnTo>
                  <a:pt x="1051985" y="305541"/>
                </a:lnTo>
                <a:lnTo>
                  <a:pt x="1071626" y="346879"/>
                </a:lnTo>
                <a:lnTo>
                  <a:pt x="1087772" y="389404"/>
                </a:lnTo>
                <a:lnTo>
                  <a:pt x="1100392" y="432881"/>
                </a:lnTo>
                <a:lnTo>
                  <a:pt x="1109458" y="477076"/>
                </a:lnTo>
                <a:lnTo>
                  <a:pt x="1114941" y="521754"/>
                </a:lnTo>
                <a:lnTo>
                  <a:pt x="1116813" y="566679"/>
                </a:lnTo>
                <a:lnTo>
                  <a:pt x="1115044" y="611617"/>
                </a:lnTo>
                <a:lnTo>
                  <a:pt x="1109608" y="656333"/>
                </a:lnTo>
                <a:lnTo>
                  <a:pt x="1100473" y="700593"/>
                </a:lnTo>
                <a:lnTo>
                  <a:pt x="1087613" y="744160"/>
                </a:lnTo>
                <a:lnTo>
                  <a:pt x="1070998" y="786801"/>
                </a:lnTo>
                <a:lnTo>
                  <a:pt x="1050600" y="828281"/>
                </a:lnTo>
                <a:lnTo>
                  <a:pt x="1026390" y="868365"/>
                </a:lnTo>
                <a:lnTo>
                  <a:pt x="998339" y="906817"/>
                </a:lnTo>
                <a:lnTo>
                  <a:pt x="967050" y="942710"/>
                </a:lnTo>
                <a:lnTo>
                  <a:pt x="933320" y="975218"/>
                </a:lnTo>
                <a:lnTo>
                  <a:pt x="897385" y="1004315"/>
                </a:lnTo>
                <a:lnTo>
                  <a:pt x="859481" y="1029978"/>
                </a:lnTo>
                <a:lnTo>
                  <a:pt x="819841" y="1052184"/>
                </a:lnTo>
                <a:lnTo>
                  <a:pt x="778703" y="1070908"/>
                </a:lnTo>
                <a:lnTo>
                  <a:pt x="736300" y="1086127"/>
                </a:lnTo>
                <a:lnTo>
                  <a:pt x="692869" y="1097817"/>
                </a:lnTo>
                <a:lnTo>
                  <a:pt x="648644" y="1105954"/>
                </a:lnTo>
                <a:lnTo>
                  <a:pt x="603860" y="1110515"/>
                </a:lnTo>
                <a:lnTo>
                  <a:pt x="558754" y="1111476"/>
                </a:lnTo>
                <a:lnTo>
                  <a:pt x="513560" y="1108813"/>
                </a:lnTo>
                <a:lnTo>
                  <a:pt x="468514" y="1102502"/>
                </a:lnTo>
                <a:lnTo>
                  <a:pt x="423850" y="1092519"/>
                </a:lnTo>
                <a:lnTo>
                  <a:pt x="379804" y="1078841"/>
                </a:lnTo>
                <a:lnTo>
                  <a:pt x="336612" y="1061444"/>
                </a:lnTo>
                <a:lnTo>
                  <a:pt x="294508" y="1040304"/>
                </a:lnTo>
                <a:lnTo>
                  <a:pt x="253729" y="1015397"/>
                </a:lnTo>
                <a:lnTo>
                  <a:pt x="214508" y="986700"/>
                </a:lnTo>
                <a:lnTo>
                  <a:pt x="177812" y="954821"/>
                </a:lnTo>
                <a:lnTo>
                  <a:pt x="144469" y="920580"/>
                </a:lnTo>
                <a:lnTo>
                  <a:pt x="114507" y="884212"/>
                </a:lnTo>
                <a:lnTo>
                  <a:pt x="87955" y="845952"/>
                </a:lnTo>
                <a:lnTo>
                  <a:pt x="64842" y="806035"/>
                </a:lnTo>
                <a:lnTo>
                  <a:pt x="45198" y="764695"/>
                </a:lnTo>
                <a:lnTo>
                  <a:pt x="29049" y="722168"/>
                </a:lnTo>
                <a:lnTo>
                  <a:pt x="16427" y="678687"/>
                </a:lnTo>
                <a:lnTo>
                  <a:pt x="7358" y="634488"/>
                </a:lnTo>
                <a:lnTo>
                  <a:pt x="1873" y="589806"/>
                </a:lnTo>
                <a:lnTo>
                  <a:pt x="0" y="544874"/>
                </a:lnTo>
                <a:lnTo>
                  <a:pt x="1767" y="499929"/>
                </a:lnTo>
                <a:lnTo>
                  <a:pt x="7203" y="455204"/>
                </a:lnTo>
                <a:lnTo>
                  <a:pt x="16338" y="410935"/>
                </a:lnTo>
                <a:lnTo>
                  <a:pt x="29200" y="367355"/>
                </a:lnTo>
                <a:lnTo>
                  <a:pt x="45818" y="324701"/>
                </a:lnTo>
                <a:lnTo>
                  <a:pt x="66221" y="283206"/>
                </a:lnTo>
                <a:lnTo>
                  <a:pt x="90437" y="243105"/>
                </a:lnTo>
                <a:lnTo>
                  <a:pt x="118496" y="204634"/>
                </a:lnTo>
                <a:close/>
              </a:path>
              <a:path w="1116965" h="1111885">
                <a:moveTo>
                  <a:pt x="220477" y="286041"/>
                </a:moveTo>
                <a:lnTo>
                  <a:pt x="193856" y="323455"/>
                </a:lnTo>
                <a:lnTo>
                  <a:pt x="171955" y="362810"/>
                </a:lnTo>
                <a:lnTo>
                  <a:pt x="154729" y="403741"/>
                </a:lnTo>
                <a:lnTo>
                  <a:pt x="142131" y="445881"/>
                </a:lnTo>
                <a:lnTo>
                  <a:pt x="134116" y="488865"/>
                </a:lnTo>
                <a:lnTo>
                  <a:pt x="130638" y="532328"/>
                </a:lnTo>
                <a:lnTo>
                  <a:pt x="131651" y="575903"/>
                </a:lnTo>
                <a:lnTo>
                  <a:pt x="137108" y="619227"/>
                </a:lnTo>
                <a:lnTo>
                  <a:pt x="146964" y="661933"/>
                </a:lnTo>
                <a:lnTo>
                  <a:pt x="161173" y="703655"/>
                </a:lnTo>
                <a:lnTo>
                  <a:pt x="179689" y="744028"/>
                </a:lnTo>
                <a:lnTo>
                  <a:pt x="202465" y="782686"/>
                </a:lnTo>
                <a:lnTo>
                  <a:pt x="229457" y="819265"/>
                </a:lnTo>
                <a:lnTo>
                  <a:pt x="260618" y="853397"/>
                </a:lnTo>
                <a:lnTo>
                  <a:pt x="295902" y="884719"/>
                </a:lnTo>
                <a:lnTo>
                  <a:pt x="334265" y="912179"/>
                </a:lnTo>
                <a:lnTo>
                  <a:pt x="374453" y="934995"/>
                </a:lnTo>
                <a:lnTo>
                  <a:pt x="416101" y="953204"/>
                </a:lnTo>
                <a:lnTo>
                  <a:pt x="458841" y="966841"/>
                </a:lnTo>
                <a:lnTo>
                  <a:pt x="502308" y="975943"/>
                </a:lnTo>
                <a:lnTo>
                  <a:pt x="546136" y="980546"/>
                </a:lnTo>
                <a:lnTo>
                  <a:pt x="589957" y="980687"/>
                </a:lnTo>
                <a:lnTo>
                  <a:pt x="633406" y="976403"/>
                </a:lnTo>
                <a:lnTo>
                  <a:pt x="676117" y="967728"/>
                </a:lnTo>
                <a:lnTo>
                  <a:pt x="717723" y="954701"/>
                </a:lnTo>
                <a:lnTo>
                  <a:pt x="757858" y="937356"/>
                </a:lnTo>
                <a:lnTo>
                  <a:pt x="796155" y="915731"/>
                </a:lnTo>
                <a:lnTo>
                  <a:pt x="832248" y="889862"/>
                </a:lnTo>
                <a:lnTo>
                  <a:pt x="865771" y="859785"/>
                </a:lnTo>
                <a:lnTo>
                  <a:pt x="896358" y="825537"/>
                </a:lnTo>
                <a:lnTo>
                  <a:pt x="922982" y="788101"/>
                </a:lnTo>
                <a:lnTo>
                  <a:pt x="944884" y="748730"/>
                </a:lnTo>
                <a:lnTo>
                  <a:pt x="962111" y="707789"/>
                </a:lnTo>
                <a:lnTo>
                  <a:pt x="974709" y="665643"/>
                </a:lnTo>
                <a:lnTo>
                  <a:pt x="982725" y="622657"/>
                </a:lnTo>
                <a:lnTo>
                  <a:pt x="986203" y="579196"/>
                </a:lnTo>
                <a:lnTo>
                  <a:pt x="985191" y="535624"/>
                </a:lnTo>
                <a:lnTo>
                  <a:pt x="979734" y="492307"/>
                </a:lnTo>
                <a:lnTo>
                  <a:pt x="969878" y="449609"/>
                </a:lnTo>
                <a:lnTo>
                  <a:pt x="955669" y="407895"/>
                </a:lnTo>
                <a:lnTo>
                  <a:pt x="937154" y="367530"/>
                </a:lnTo>
                <a:lnTo>
                  <a:pt x="914378" y="328880"/>
                </a:lnTo>
                <a:lnTo>
                  <a:pt x="887387" y="292308"/>
                </a:lnTo>
                <a:lnTo>
                  <a:pt x="856228" y="258179"/>
                </a:lnTo>
                <a:lnTo>
                  <a:pt x="820946" y="226859"/>
                </a:lnTo>
                <a:lnTo>
                  <a:pt x="782581" y="199399"/>
                </a:lnTo>
                <a:lnTo>
                  <a:pt x="742390" y="176583"/>
                </a:lnTo>
                <a:lnTo>
                  <a:pt x="700741" y="158375"/>
                </a:lnTo>
                <a:lnTo>
                  <a:pt x="657999" y="144737"/>
                </a:lnTo>
                <a:lnTo>
                  <a:pt x="614531" y="135635"/>
                </a:lnTo>
                <a:lnTo>
                  <a:pt x="570702" y="131032"/>
                </a:lnTo>
                <a:lnTo>
                  <a:pt x="526880" y="130891"/>
                </a:lnTo>
                <a:lnTo>
                  <a:pt x="483430" y="135175"/>
                </a:lnTo>
                <a:lnTo>
                  <a:pt x="440719" y="143850"/>
                </a:lnTo>
                <a:lnTo>
                  <a:pt x="399113" y="156877"/>
                </a:lnTo>
                <a:lnTo>
                  <a:pt x="358978" y="174222"/>
                </a:lnTo>
                <a:lnTo>
                  <a:pt x="320681" y="195847"/>
                </a:lnTo>
                <a:lnTo>
                  <a:pt x="284587" y="221716"/>
                </a:lnTo>
                <a:lnTo>
                  <a:pt x="251064" y="251793"/>
                </a:lnTo>
                <a:lnTo>
                  <a:pt x="220477" y="286041"/>
                </a:lnTo>
                <a:close/>
              </a:path>
            </a:pathLst>
          </a:custGeom>
          <a:ln w="7349">
            <a:solidFill>
              <a:srgbClr val="C6B7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13460" y="0"/>
            <a:ext cx="8130540" cy="6858000"/>
          </a:xfrm>
          <a:custGeom>
            <a:avLst/>
            <a:gdLst/>
            <a:ahLst/>
            <a:cxnLst/>
            <a:rect l="l" t="t" r="r" b="b"/>
            <a:pathLst>
              <a:path w="8130540" h="6858000">
                <a:moveTo>
                  <a:pt x="8130540" y="0"/>
                </a:moveTo>
                <a:lnTo>
                  <a:pt x="0" y="0"/>
                </a:lnTo>
                <a:lnTo>
                  <a:pt x="0" y="6858000"/>
                </a:lnTo>
                <a:lnTo>
                  <a:pt x="8130540" y="6858000"/>
                </a:lnTo>
                <a:lnTo>
                  <a:pt x="81305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935736" y="0"/>
            <a:ext cx="155447" cy="685799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014983" y="0"/>
            <a:ext cx="73660" cy="6858000"/>
          </a:xfrm>
          <a:custGeom>
            <a:avLst/>
            <a:gdLst/>
            <a:ahLst/>
            <a:cxnLst/>
            <a:rect l="l" t="t" r="r" b="b"/>
            <a:pathLst>
              <a:path w="73659" h="6858000">
                <a:moveTo>
                  <a:pt x="73152" y="0"/>
                </a:moveTo>
                <a:lnTo>
                  <a:pt x="0" y="0"/>
                </a:lnTo>
                <a:lnTo>
                  <a:pt x="0" y="6858000"/>
                </a:lnTo>
                <a:lnTo>
                  <a:pt x="73152" y="6858000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992" y="225678"/>
            <a:ext cx="8494014" cy="1214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0" i="0">
                <a:solidFill>
                  <a:srgbClr val="56221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96897" y="1473453"/>
            <a:ext cx="7171690" cy="3664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21892" y="414527"/>
            <a:ext cx="5183505" cy="1221105"/>
            <a:chOff x="921892" y="414527"/>
            <a:chExt cx="5183505" cy="1221105"/>
          </a:xfrm>
        </p:grpSpPr>
        <p:sp>
          <p:nvSpPr>
            <p:cNvPr id="3" name="object 3"/>
            <p:cNvSpPr/>
            <p:nvPr/>
          </p:nvSpPr>
          <p:spPr>
            <a:xfrm>
              <a:off x="922781" y="1415033"/>
              <a:ext cx="210312" cy="2103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21892" y="1339595"/>
              <a:ext cx="304927" cy="2866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9763" y="414527"/>
              <a:ext cx="4945380" cy="1220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11553" y="566673"/>
            <a:ext cx="424243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Python</a:t>
            </a:r>
            <a:r>
              <a:rPr sz="4300" spc="-50" dirty="0"/>
              <a:t> </a:t>
            </a:r>
            <a:r>
              <a:rPr sz="4300" spc="-5" dirty="0"/>
              <a:t>Functions</a:t>
            </a:r>
            <a:endParaRPr sz="4300"/>
          </a:p>
        </p:txBody>
      </p:sp>
      <p:sp>
        <p:nvSpPr>
          <p:cNvPr id="7" name="object 7"/>
          <p:cNvSpPr txBox="1"/>
          <p:nvPr/>
        </p:nvSpPr>
        <p:spPr>
          <a:xfrm>
            <a:off x="1538986" y="1753329"/>
            <a:ext cx="5372735" cy="333311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04800" indent="-292735">
              <a:lnSpc>
                <a:spcPct val="100000"/>
              </a:lnSpc>
              <a:spcBef>
                <a:spcPts val="695"/>
              </a:spcBef>
              <a:buChar char="●"/>
              <a:tabLst>
                <a:tab pos="305435" algn="l"/>
              </a:tabLst>
            </a:pPr>
            <a:r>
              <a:rPr sz="2600" dirty="0">
                <a:solidFill>
                  <a:srgbClr val="310D04"/>
                </a:solidFill>
                <a:latin typeface="Arial"/>
                <a:cs typeface="Arial"/>
              </a:rPr>
              <a:t>Define</a:t>
            </a:r>
            <a:r>
              <a:rPr sz="2600" spc="-20" dirty="0">
                <a:solidFill>
                  <a:srgbClr val="310D04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10D04"/>
                </a:solidFill>
                <a:latin typeface="Arial"/>
                <a:cs typeface="Arial"/>
              </a:rPr>
              <a:t>functions</a:t>
            </a:r>
            <a:endParaRPr sz="2600">
              <a:latin typeface="Arial"/>
              <a:cs typeface="Arial"/>
            </a:endParaRPr>
          </a:p>
          <a:p>
            <a:pPr marL="304800" indent="-292735">
              <a:lnSpc>
                <a:spcPct val="100000"/>
              </a:lnSpc>
              <a:spcBef>
                <a:spcPts val="600"/>
              </a:spcBef>
              <a:buChar char="●"/>
              <a:tabLst>
                <a:tab pos="305435" algn="l"/>
              </a:tabLst>
            </a:pPr>
            <a:r>
              <a:rPr sz="2600" dirty="0">
                <a:solidFill>
                  <a:srgbClr val="310D04"/>
                </a:solidFill>
                <a:latin typeface="Arial"/>
                <a:cs typeface="Arial"/>
              </a:rPr>
              <a:t>Passing arguments to</a:t>
            </a:r>
            <a:r>
              <a:rPr sz="2600" spc="-55" dirty="0">
                <a:solidFill>
                  <a:srgbClr val="310D04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10D04"/>
                </a:solidFill>
                <a:latin typeface="Arial"/>
                <a:cs typeface="Arial"/>
              </a:rPr>
              <a:t>Function</a:t>
            </a:r>
            <a:endParaRPr sz="2600">
              <a:latin typeface="Arial"/>
              <a:cs typeface="Arial"/>
            </a:endParaRPr>
          </a:p>
          <a:p>
            <a:pPr marL="304800" indent="-292735">
              <a:lnSpc>
                <a:spcPct val="100000"/>
              </a:lnSpc>
              <a:spcBef>
                <a:spcPts val="605"/>
              </a:spcBef>
              <a:buChar char="●"/>
              <a:tabLst>
                <a:tab pos="305435" algn="l"/>
              </a:tabLst>
            </a:pPr>
            <a:r>
              <a:rPr sz="2600" dirty="0">
                <a:solidFill>
                  <a:srgbClr val="310D04"/>
                </a:solidFill>
                <a:latin typeface="Arial"/>
                <a:cs typeface="Arial"/>
              </a:rPr>
              <a:t>Return a value from</a:t>
            </a:r>
            <a:r>
              <a:rPr sz="2600" spc="-45" dirty="0">
                <a:solidFill>
                  <a:srgbClr val="310D04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10D04"/>
                </a:solidFill>
                <a:latin typeface="Arial"/>
                <a:cs typeface="Arial"/>
              </a:rPr>
              <a:t>function</a:t>
            </a:r>
            <a:endParaRPr sz="2600">
              <a:latin typeface="Arial"/>
              <a:cs typeface="Arial"/>
            </a:endParaRPr>
          </a:p>
          <a:p>
            <a:pPr marL="304800" indent="-292735">
              <a:lnSpc>
                <a:spcPct val="100000"/>
              </a:lnSpc>
              <a:spcBef>
                <a:spcPts val="600"/>
              </a:spcBef>
              <a:buChar char="●"/>
              <a:tabLst>
                <a:tab pos="305435" algn="l"/>
              </a:tabLst>
            </a:pPr>
            <a:r>
              <a:rPr sz="2600" dirty="0">
                <a:solidFill>
                  <a:srgbClr val="310D04"/>
                </a:solidFill>
                <a:latin typeface="Arial"/>
                <a:cs typeface="Arial"/>
              </a:rPr>
              <a:t>Scope of</a:t>
            </a:r>
            <a:r>
              <a:rPr sz="2600" spc="-20" dirty="0">
                <a:solidFill>
                  <a:srgbClr val="310D04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10D04"/>
                </a:solidFill>
                <a:latin typeface="Arial"/>
                <a:cs typeface="Arial"/>
              </a:rPr>
              <a:t>Objects</a:t>
            </a:r>
            <a:endParaRPr sz="2600">
              <a:latin typeface="Arial"/>
              <a:cs typeface="Arial"/>
            </a:endParaRPr>
          </a:p>
          <a:p>
            <a:pPr marL="304800" indent="-292735">
              <a:lnSpc>
                <a:spcPct val="100000"/>
              </a:lnSpc>
              <a:spcBef>
                <a:spcPts val="600"/>
              </a:spcBef>
              <a:buChar char="●"/>
              <a:tabLst>
                <a:tab pos="305435" algn="l"/>
              </a:tabLst>
            </a:pPr>
            <a:r>
              <a:rPr sz="2600" dirty="0">
                <a:solidFill>
                  <a:srgbClr val="310D04"/>
                </a:solidFill>
                <a:latin typeface="Arial"/>
                <a:cs typeface="Arial"/>
              </a:rPr>
              <a:t>Default</a:t>
            </a:r>
            <a:r>
              <a:rPr sz="2600" spc="-5" dirty="0">
                <a:solidFill>
                  <a:srgbClr val="310D04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10D04"/>
                </a:solidFill>
                <a:latin typeface="Arial"/>
                <a:cs typeface="Arial"/>
              </a:rPr>
              <a:t>arguments</a:t>
            </a:r>
            <a:endParaRPr sz="2600">
              <a:latin typeface="Arial"/>
              <a:cs typeface="Arial"/>
            </a:endParaRPr>
          </a:p>
          <a:p>
            <a:pPr marL="304800" indent="-292735">
              <a:lnSpc>
                <a:spcPct val="100000"/>
              </a:lnSpc>
              <a:spcBef>
                <a:spcPts val="600"/>
              </a:spcBef>
              <a:buChar char="●"/>
              <a:tabLst>
                <a:tab pos="305435" algn="l"/>
              </a:tabLst>
            </a:pPr>
            <a:r>
              <a:rPr sz="2600" dirty="0">
                <a:solidFill>
                  <a:srgbClr val="310D04"/>
                </a:solidFill>
                <a:latin typeface="Arial"/>
                <a:cs typeface="Arial"/>
              </a:rPr>
              <a:t>Positional and keyword</a:t>
            </a:r>
            <a:r>
              <a:rPr sz="2600" spc="-70" dirty="0">
                <a:solidFill>
                  <a:srgbClr val="310D04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10D04"/>
                </a:solidFill>
                <a:latin typeface="Arial"/>
                <a:cs typeface="Arial"/>
              </a:rPr>
              <a:t>arguments</a:t>
            </a:r>
            <a:endParaRPr sz="2600">
              <a:latin typeface="Arial"/>
              <a:cs typeface="Arial"/>
            </a:endParaRPr>
          </a:p>
          <a:p>
            <a:pPr marL="396240" indent="-384175">
              <a:lnSpc>
                <a:spcPct val="100000"/>
              </a:lnSpc>
              <a:spcBef>
                <a:spcPts val="600"/>
              </a:spcBef>
              <a:buChar char="●"/>
              <a:tabLst>
                <a:tab pos="396240" algn="l"/>
                <a:tab pos="396875" algn="l"/>
              </a:tabLst>
            </a:pPr>
            <a:r>
              <a:rPr sz="2600" spc="-25" dirty="0">
                <a:solidFill>
                  <a:srgbClr val="310D04"/>
                </a:solidFill>
                <a:latin typeface="Arial"/>
                <a:cs typeface="Arial"/>
              </a:rPr>
              <a:t>Variable </a:t>
            </a:r>
            <a:r>
              <a:rPr sz="2600" dirty="0">
                <a:solidFill>
                  <a:srgbClr val="310D04"/>
                </a:solidFill>
                <a:latin typeface="Arial"/>
                <a:cs typeface="Arial"/>
              </a:rPr>
              <a:t>length</a:t>
            </a:r>
            <a:r>
              <a:rPr sz="2600" spc="5" dirty="0">
                <a:solidFill>
                  <a:srgbClr val="310D04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10D04"/>
                </a:solidFill>
                <a:latin typeface="Arial"/>
                <a:cs typeface="Arial"/>
              </a:rPr>
              <a:t>arguments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811" y="338327"/>
            <a:ext cx="3093719" cy="1220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239077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Functions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1532889" y="1392910"/>
            <a:ext cx="6694805" cy="22059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700"/>
              </a:spcBef>
              <a:buClr>
                <a:srgbClr val="3891A7"/>
              </a:buClr>
              <a:buSzPct val="79687"/>
              <a:buChar char=""/>
              <a:tabLst>
                <a:tab pos="296545" algn="l"/>
              </a:tabLst>
            </a:pPr>
            <a:r>
              <a:rPr sz="3200" spc="-5" dirty="0">
                <a:latin typeface="Arial"/>
                <a:cs typeface="Arial"/>
              </a:rPr>
              <a:t>Piece </a:t>
            </a:r>
            <a:r>
              <a:rPr sz="3200" dirty="0">
                <a:latin typeface="Arial"/>
                <a:cs typeface="Arial"/>
              </a:rPr>
              <a:t>of reusable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code</a:t>
            </a:r>
            <a:endParaRPr sz="3200">
              <a:latin typeface="Arial"/>
              <a:cs typeface="Arial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Char char=""/>
              <a:tabLst>
                <a:tab pos="296545" algn="l"/>
              </a:tabLst>
            </a:pPr>
            <a:r>
              <a:rPr sz="3200" dirty="0">
                <a:latin typeface="Arial"/>
                <a:cs typeface="Arial"/>
              </a:rPr>
              <a:t>Solves </a:t>
            </a:r>
            <a:r>
              <a:rPr sz="3200" spc="-5" dirty="0">
                <a:latin typeface="Arial"/>
                <a:cs typeface="Arial"/>
              </a:rPr>
              <a:t>particular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task</a:t>
            </a:r>
            <a:endParaRPr sz="3200">
              <a:latin typeface="Arial"/>
              <a:cs typeface="Arial"/>
            </a:endParaRPr>
          </a:p>
          <a:p>
            <a:pPr marL="295910" marR="508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Char char=""/>
              <a:tabLst>
                <a:tab pos="296545" algn="l"/>
              </a:tabLst>
            </a:pPr>
            <a:r>
              <a:rPr sz="3200" dirty="0">
                <a:latin typeface="Arial"/>
                <a:cs typeface="Arial"/>
              </a:rPr>
              <a:t>Call </a:t>
            </a:r>
            <a:r>
              <a:rPr sz="3200" spc="-5" dirty="0">
                <a:latin typeface="Arial"/>
                <a:cs typeface="Arial"/>
              </a:rPr>
              <a:t>function instead </a:t>
            </a:r>
            <a:r>
              <a:rPr sz="3200" dirty="0">
                <a:latin typeface="Arial"/>
                <a:cs typeface="Arial"/>
              </a:rPr>
              <a:t>of </a:t>
            </a:r>
            <a:r>
              <a:rPr sz="3200" spc="-5" dirty="0">
                <a:latin typeface="Arial"/>
                <a:cs typeface="Arial"/>
              </a:rPr>
              <a:t>writing </a:t>
            </a:r>
            <a:r>
              <a:rPr sz="3200" spc="-125" dirty="0">
                <a:latin typeface="Arial"/>
                <a:cs typeface="Arial"/>
              </a:rPr>
              <a:t>code  </a:t>
            </a:r>
            <a:r>
              <a:rPr sz="3200" dirty="0">
                <a:latin typeface="Arial"/>
                <a:cs typeface="Arial"/>
              </a:rPr>
              <a:t>yourself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2811" y="338327"/>
            <a:ext cx="4913630" cy="1221105"/>
            <a:chOff x="1162811" y="338327"/>
            <a:chExt cx="4913630" cy="1221105"/>
          </a:xfrm>
        </p:grpSpPr>
        <p:sp>
          <p:nvSpPr>
            <p:cNvPr id="3" name="object 3"/>
            <p:cNvSpPr/>
            <p:nvPr/>
          </p:nvSpPr>
          <p:spPr>
            <a:xfrm>
              <a:off x="1162811" y="338327"/>
              <a:ext cx="1790700" cy="12207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25039" y="338327"/>
              <a:ext cx="909827" cy="12207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06395" y="338327"/>
              <a:ext cx="3669791" cy="12207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421195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Built-in</a:t>
            </a:r>
            <a:r>
              <a:rPr sz="4300" spc="-50" dirty="0"/>
              <a:t> </a:t>
            </a:r>
            <a:r>
              <a:rPr sz="4300" spc="-5" dirty="0"/>
              <a:t>Functions</a:t>
            </a:r>
            <a:endParaRPr sz="4300"/>
          </a:p>
        </p:txBody>
      </p:sp>
      <p:sp>
        <p:nvSpPr>
          <p:cNvPr id="7" name="object 7"/>
          <p:cNvSpPr/>
          <p:nvPr/>
        </p:nvSpPr>
        <p:spPr>
          <a:xfrm>
            <a:off x="1447800" y="1447800"/>
            <a:ext cx="6829044" cy="1828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811" y="338327"/>
            <a:ext cx="5643372" cy="1220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493903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spc="-5" dirty="0">
                <a:latin typeface="Arial"/>
                <a:cs typeface="Arial"/>
              </a:rPr>
              <a:t>Syntax of</a:t>
            </a:r>
            <a:r>
              <a:rPr sz="4300" b="1" spc="-30" dirty="0">
                <a:latin typeface="Arial"/>
                <a:cs typeface="Arial"/>
              </a:rPr>
              <a:t> </a:t>
            </a:r>
            <a:r>
              <a:rPr sz="4300" b="1" spc="-5" dirty="0">
                <a:latin typeface="Arial"/>
                <a:cs typeface="Arial"/>
              </a:rPr>
              <a:t>Function</a:t>
            </a:r>
            <a:endParaRPr sz="4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94628" y="6537147"/>
            <a:ext cx="1472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Mohammed</a:t>
            </a:r>
            <a:r>
              <a:rPr sz="1200" spc="-90" dirty="0">
                <a:solidFill>
                  <a:srgbClr val="B5A78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B5A787"/>
                </a:solidFill>
                <a:latin typeface="Arial"/>
                <a:cs typeface="Arial"/>
              </a:rPr>
              <a:t>Sikander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7130" y="653714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B5A787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76400" y="1447800"/>
            <a:ext cx="5734811" cy="1143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811" y="338327"/>
            <a:ext cx="5245608" cy="1220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454215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Defining a</a:t>
            </a:r>
            <a:r>
              <a:rPr sz="4300" spc="-75" dirty="0"/>
              <a:t> </a:t>
            </a:r>
            <a:r>
              <a:rPr sz="4300" spc="-5" dirty="0"/>
              <a:t>function</a:t>
            </a:r>
            <a:endParaRPr sz="4300"/>
          </a:p>
        </p:txBody>
      </p:sp>
      <p:sp>
        <p:nvSpPr>
          <p:cNvPr id="4" name="object 4"/>
          <p:cNvSpPr/>
          <p:nvPr/>
        </p:nvSpPr>
        <p:spPr>
          <a:xfrm>
            <a:off x="1600200" y="1524000"/>
            <a:ext cx="5943600" cy="914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811" y="338327"/>
            <a:ext cx="4186428" cy="1220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348424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spc="-5" dirty="0">
                <a:latin typeface="Arial"/>
                <a:cs typeface="Arial"/>
              </a:rPr>
              <a:t>Function</a:t>
            </a:r>
            <a:r>
              <a:rPr sz="4300" b="1" spc="-40" dirty="0">
                <a:latin typeface="Arial"/>
                <a:cs typeface="Arial"/>
              </a:rPr>
              <a:t> </a:t>
            </a:r>
            <a:r>
              <a:rPr sz="4300" b="1" spc="-5" dirty="0">
                <a:latin typeface="Arial"/>
                <a:cs typeface="Arial"/>
              </a:rPr>
              <a:t>Call</a:t>
            </a:r>
            <a:endParaRPr sz="4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35447" y="3054647"/>
            <a:ext cx="33909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latin typeface="Arial"/>
                <a:cs typeface="Arial"/>
              </a:rPr>
              <a:t>rs.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0" y="3124200"/>
            <a:ext cx="3465576" cy="29626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40005" indent="-28384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166"/>
              <a:buChar char=""/>
              <a:tabLst>
                <a:tab pos="295910" algn="l"/>
                <a:tab pos="296545" algn="l"/>
              </a:tabLst>
            </a:pPr>
            <a:r>
              <a:rPr sz="2400" dirty="0"/>
              <a:t>Once </a:t>
            </a:r>
            <a:r>
              <a:rPr sz="2400" spc="-10" dirty="0"/>
              <a:t>we </a:t>
            </a:r>
            <a:r>
              <a:rPr sz="2400" spc="-5" dirty="0"/>
              <a:t>have defined a function, </a:t>
            </a:r>
            <a:r>
              <a:rPr sz="2400" spc="-10" dirty="0"/>
              <a:t>we </a:t>
            </a:r>
            <a:r>
              <a:rPr sz="2400" spc="-5" dirty="0"/>
              <a:t>can call </a:t>
            </a:r>
            <a:r>
              <a:rPr sz="2400" dirty="0"/>
              <a:t>it  from </a:t>
            </a:r>
            <a:r>
              <a:rPr sz="2400" spc="-5" dirty="0"/>
              <a:t>another function, </a:t>
            </a:r>
            <a:r>
              <a:rPr sz="2400" dirty="0"/>
              <a:t>program or </a:t>
            </a:r>
            <a:r>
              <a:rPr sz="2400" spc="-5" dirty="0"/>
              <a:t>even </a:t>
            </a:r>
            <a:r>
              <a:rPr sz="2400" dirty="0"/>
              <a:t>the </a:t>
            </a:r>
            <a:r>
              <a:rPr sz="2400" spc="-5" dirty="0"/>
              <a:t>Python  </a:t>
            </a:r>
            <a:r>
              <a:rPr sz="2400" dirty="0"/>
              <a:t>prompt.</a:t>
            </a:r>
            <a:endParaRPr sz="2400"/>
          </a:p>
          <a:p>
            <a:pPr marL="295910" marR="508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166"/>
              <a:buChar char=""/>
              <a:tabLst>
                <a:tab pos="295910" algn="l"/>
                <a:tab pos="296545" algn="l"/>
              </a:tabLst>
            </a:pPr>
            <a:r>
              <a:rPr sz="2400" spc="-135" dirty="0"/>
              <a:t>To </a:t>
            </a:r>
            <a:r>
              <a:rPr sz="2400" spc="-5" dirty="0"/>
              <a:t>call a function we simply </a:t>
            </a:r>
            <a:r>
              <a:rPr sz="2400" dirty="0"/>
              <a:t>type the </a:t>
            </a:r>
            <a:r>
              <a:rPr sz="2400" spc="-5" dirty="0"/>
              <a:t>function name  with appropriate</a:t>
            </a:r>
            <a:r>
              <a:rPr sz="2400" spc="30" dirty="0"/>
              <a:t> </a:t>
            </a:r>
            <a:r>
              <a:rPr sz="2400" spc="-5" dirty="0"/>
              <a:t>paramete</a:t>
            </a:r>
            <a:endParaRPr sz="2400"/>
          </a:p>
          <a:p>
            <a:pPr>
              <a:lnSpc>
                <a:spcPct val="100000"/>
              </a:lnSpc>
            </a:pPr>
            <a:endParaRPr sz="2700"/>
          </a:p>
          <a:p>
            <a:pPr marL="12700" marR="3561715">
              <a:lnSpc>
                <a:spcPct val="115599"/>
              </a:lnSpc>
              <a:spcBef>
                <a:spcPts val="1670"/>
              </a:spcBef>
            </a:pPr>
            <a:r>
              <a:rPr spc="-5" dirty="0"/>
              <a:t>Calling </a:t>
            </a:r>
            <a:r>
              <a:rPr dirty="0"/>
              <a:t>the</a:t>
            </a:r>
            <a:r>
              <a:rPr spc="-55" dirty="0"/>
              <a:t> </a:t>
            </a:r>
            <a:r>
              <a:rPr spc="-5" dirty="0"/>
              <a:t>Function  my_function()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94816" y="86868"/>
            <a:ext cx="7615555" cy="1705610"/>
            <a:chOff x="1194816" y="86868"/>
            <a:chExt cx="7615555" cy="1705610"/>
          </a:xfrm>
        </p:grpSpPr>
        <p:sp>
          <p:nvSpPr>
            <p:cNvPr id="3" name="object 3"/>
            <p:cNvSpPr/>
            <p:nvPr/>
          </p:nvSpPr>
          <p:spPr>
            <a:xfrm>
              <a:off x="1194816" y="86868"/>
              <a:ext cx="2403348" cy="111099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33700" y="86868"/>
              <a:ext cx="3585972" cy="111099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95416" y="86868"/>
              <a:ext cx="1632204" cy="111099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4816" y="681227"/>
              <a:ext cx="7615428" cy="111099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2055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Square </a:t>
            </a:r>
            <a:r>
              <a:rPr spc="-35" dirty="0"/>
              <a:t>function:Take </a:t>
            </a:r>
            <a:r>
              <a:rPr spc="-5" dirty="0"/>
              <a:t>one  </a:t>
            </a:r>
            <a:r>
              <a:rPr dirty="0"/>
              <a:t>arguments </a:t>
            </a:r>
            <a:r>
              <a:rPr spc="-5" dirty="0"/>
              <a:t>and prints </a:t>
            </a:r>
            <a:r>
              <a:rPr dirty="0"/>
              <a:t>its</a:t>
            </a:r>
            <a:r>
              <a:rPr spc="15" dirty="0"/>
              <a:t> </a:t>
            </a:r>
            <a:r>
              <a:rPr dirty="0"/>
              <a:t>square</a:t>
            </a:r>
          </a:p>
        </p:txBody>
      </p:sp>
      <p:sp>
        <p:nvSpPr>
          <p:cNvPr id="8" name="object 8"/>
          <p:cNvSpPr/>
          <p:nvPr/>
        </p:nvSpPr>
        <p:spPr>
          <a:xfrm>
            <a:off x="428244" y="2133600"/>
            <a:ext cx="8715756" cy="2133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94816" y="86868"/>
            <a:ext cx="7946390" cy="1705610"/>
            <a:chOff x="1194816" y="86868"/>
            <a:chExt cx="7946390" cy="1705610"/>
          </a:xfrm>
        </p:grpSpPr>
        <p:sp>
          <p:nvSpPr>
            <p:cNvPr id="3" name="object 3"/>
            <p:cNvSpPr/>
            <p:nvPr/>
          </p:nvSpPr>
          <p:spPr>
            <a:xfrm>
              <a:off x="1194816" y="86868"/>
              <a:ext cx="2403348" cy="111099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33700" y="86868"/>
              <a:ext cx="3585972" cy="111099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95416" y="86868"/>
              <a:ext cx="1632204" cy="111099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4816" y="681227"/>
              <a:ext cx="7946135" cy="111099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2055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Square </a:t>
            </a:r>
            <a:r>
              <a:rPr spc="-35" dirty="0"/>
              <a:t>function:Take </a:t>
            </a:r>
            <a:r>
              <a:rPr spc="-5" dirty="0"/>
              <a:t>one  </a:t>
            </a:r>
            <a:r>
              <a:rPr dirty="0"/>
              <a:t>arguments </a:t>
            </a:r>
            <a:r>
              <a:rPr spc="-5" dirty="0"/>
              <a:t>and </a:t>
            </a:r>
            <a:r>
              <a:rPr dirty="0"/>
              <a:t>returns its</a:t>
            </a:r>
            <a:r>
              <a:rPr spc="-10" dirty="0"/>
              <a:t> </a:t>
            </a:r>
            <a:r>
              <a:rPr dirty="0"/>
              <a:t>square</a:t>
            </a:r>
          </a:p>
        </p:txBody>
      </p:sp>
      <p:sp>
        <p:nvSpPr>
          <p:cNvPr id="8" name="object 8"/>
          <p:cNvSpPr/>
          <p:nvPr/>
        </p:nvSpPr>
        <p:spPr>
          <a:xfrm>
            <a:off x="1447800" y="1600200"/>
            <a:ext cx="5609844" cy="24475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2811" y="10667"/>
            <a:ext cx="7312659" cy="1876425"/>
            <a:chOff x="1162811" y="10667"/>
            <a:chExt cx="7312659" cy="1876425"/>
          </a:xfrm>
        </p:grpSpPr>
        <p:sp>
          <p:nvSpPr>
            <p:cNvPr id="3" name="object 3"/>
            <p:cNvSpPr/>
            <p:nvPr/>
          </p:nvSpPr>
          <p:spPr>
            <a:xfrm>
              <a:off x="1162811" y="10667"/>
              <a:ext cx="7312152" cy="12207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62811" y="665987"/>
              <a:ext cx="2033016" cy="12207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14602" y="163194"/>
            <a:ext cx="6455410" cy="1336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Function returning</a:t>
            </a:r>
            <a:r>
              <a:rPr sz="4300" spc="-20" dirty="0"/>
              <a:t> </a:t>
            </a:r>
            <a:r>
              <a:rPr sz="4300" spc="-5" dirty="0"/>
              <a:t>multiple  value</a:t>
            </a:r>
            <a:endParaRPr sz="4300"/>
          </a:p>
        </p:txBody>
      </p:sp>
      <p:sp>
        <p:nvSpPr>
          <p:cNvPr id="6" name="object 6"/>
          <p:cNvSpPr/>
          <p:nvPr/>
        </p:nvSpPr>
        <p:spPr>
          <a:xfrm>
            <a:off x="237743" y="1524000"/>
            <a:ext cx="8830056" cy="48295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94816" y="86868"/>
            <a:ext cx="5958840" cy="1705610"/>
            <a:chOff x="1194816" y="86868"/>
            <a:chExt cx="5958840" cy="1705610"/>
          </a:xfrm>
        </p:grpSpPr>
        <p:sp>
          <p:nvSpPr>
            <p:cNvPr id="3" name="object 3"/>
            <p:cNvSpPr/>
            <p:nvPr/>
          </p:nvSpPr>
          <p:spPr>
            <a:xfrm>
              <a:off x="1194816" y="86868"/>
              <a:ext cx="5958840" cy="111099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94816" y="681227"/>
              <a:ext cx="2813304" cy="11109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14602" y="225678"/>
            <a:ext cx="5179060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Scope and Lifetime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of  </a:t>
            </a:r>
            <a:r>
              <a:rPr b="1" spc="-5" dirty="0">
                <a:latin typeface="Arial"/>
                <a:cs typeface="Arial"/>
              </a:rPr>
              <a:t>variables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80489" y="1417066"/>
            <a:ext cx="7150100" cy="262890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295910" marR="757555" indent="-283845">
              <a:lnSpc>
                <a:spcPct val="80000"/>
              </a:lnSpc>
              <a:spcBef>
                <a:spcPts val="550"/>
              </a:spcBef>
              <a:buClr>
                <a:srgbClr val="3891A7"/>
              </a:buClr>
              <a:buSzPct val="78947"/>
              <a:buChar char=""/>
              <a:tabLst>
                <a:tab pos="295910" algn="l"/>
                <a:tab pos="296545" algn="l"/>
              </a:tabLst>
            </a:pPr>
            <a:r>
              <a:rPr sz="1900" spc="-5" dirty="0">
                <a:latin typeface="Arial"/>
                <a:cs typeface="Arial"/>
              </a:rPr>
              <a:t>Scope of a variable is the portion of a program where the  variable is</a:t>
            </a:r>
            <a:r>
              <a:rPr sz="1900" spc="30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recognized.</a:t>
            </a:r>
            <a:endParaRPr sz="1900">
              <a:latin typeface="Arial"/>
              <a:cs typeface="Arial"/>
            </a:endParaRPr>
          </a:p>
          <a:p>
            <a:pPr marL="295910" indent="-283845">
              <a:lnSpc>
                <a:spcPts val="2055"/>
              </a:lnSpc>
              <a:spcBef>
                <a:spcPts val="145"/>
              </a:spcBef>
              <a:buClr>
                <a:srgbClr val="3891A7"/>
              </a:buClr>
              <a:buSzPct val="78947"/>
              <a:buChar char=""/>
              <a:tabLst>
                <a:tab pos="295910" algn="l"/>
                <a:tab pos="296545" algn="l"/>
              </a:tabLst>
            </a:pPr>
            <a:r>
              <a:rPr sz="1900" spc="-5" dirty="0">
                <a:latin typeface="Arial"/>
                <a:cs typeface="Arial"/>
              </a:rPr>
              <a:t>Parameters and variables defined inside a function is not</a:t>
            </a:r>
            <a:r>
              <a:rPr sz="1900" spc="295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visible</a:t>
            </a:r>
            <a:endParaRPr sz="1900">
              <a:latin typeface="Arial"/>
              <a:cs typeface="Arial"/>
            </a:endParaRPr>
          </a:p>
          <a:p>
            <a:pPr marL="295910">
              <a:lnSpc>
                <a:spcPts val="2055"/>
              </a:lnSpc>
            </a:pPr>
            <a:r>
              <a:rPr sz="1900" spc="-5" dirty="0">
                <a:latin typeface="Arial"/>
                <a:cs typeface="Arial"/>
              </a:rPr>
              <a:t>from outside. Hence, they have a local</a:t>
            </a:r>
            <a:r>
              <a:rPr sz="1900" spc="130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scope.</a:t>
            </a:r>
            <a:endParaRPr sz="1900">
              <a:latin typeface="Arial"/>
              <a:cs typeface="Arial"/>
            </a:endParaRPr>
          </a:p>
          <a:p>
            <a:pPr marL="295910" marR="5080" indent="-283845" algn="just">
              <a:lnSpc>
                <a:spcPts val="1820"/>
              </a:lnSpc>
              <a:spcBef>
                <a:spcPts val="585"/>
              </a:spcBef>
              <a:buClr>
                <a:srgbClr val="3891A7"/>
              </a:buClr>
              <a:buSzPct val="78947"/>
              <a:buChar char=""/>
              <a:tabLst>
                <a:tab pos="296545" algn="l"/>
              </a:tabLst>
            </a:pPr>
            <a:r>
              <a:rPr sz="1900" spc="-5" dirty="0">
                <a:latin typeface="Arial"/>
                <a:cs typeface="Arial"/>
              </a:rPr>
              <a:t>Lifetime of a variable is the period throughout </a:t>
            </a:r>
            <a:r>
              <a:rPr sz="1900" spc="-10" dirty="0">
                <a:latin typeface="Arial"/>
                <a:cs typeface="Arial"/>
              </a:rPr>
              <a:t>which </a:t>
            </a:r>
            <a:r>
              <a:rPr sz="1900" spc="-5" dirty="0">
                <a:latin typeface="Arial"/>
                <a:cs typeface="Arial"/>
              </a:rPr>
              <a:t>the </a:t>
            </a:r>
            <a:r>
              <a:rPr sz="1900" spc="-40" dirty="0">
                <a:latin typeface="Arial"/>
                <a:cs typeface="Arial"/>
              </a:rPr>
              <a:t>variable  </a:t>
            </a:r>
            <a:r>
              <a:rPr sz="1900" spc="-5" dirty="0">
                <a:latin typeface="Arial"/>
                <a:cs typeface="Arial"/>
              </a:rPr>
              <a:t>exits in the </a:t>
            </a:r>
            <a:r>
              <a:rPr sz="1900" spc="-25" dirty="0">
                <a:latin typeface="Arial"/>
                <a:cs typeface="Arial"/>
              </a:rPr>
              <a:t>memory. </a:t>
            </a:r>
            <a:r>
              <a:rPr sz="1900" spc="-5" dirty="0">
                <a:latin typeface="Arial"/>
                <a:cs typeface="Arial"/>
              </a:rPr>
              <a:t>The lifetime of variables inside a function is  as long as the function</a:t>
            </a:r>
            <a:r>
              <a:rPr sz="1900" spc="65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executes.</a:t>
            </a:r>
            <a:endParaRPr sz="1900">
              <a:latin typeface="Arial"/>
              <a:cs typeface="Arial"/>
            </a:endParaRPr>
          </a:p>
          <a:p>
            <a:pPr marL="295910" marR="126364" indent="-283845">
              <a:lnSpc>
                <a:spcPts val="1830"/>
              </a:lnSpc>
              <a:spcBef>
                <a:spcPts val="605"/>
              </a:spcBef>
              <a:buClr>
                <a:srgbClr val="3891A7"/>
              </a:buClr>
              <a:buSzPct val="78947"/>
              <a:buChar char=""/>
              <a:tabLst>
                <a:tab pos="295910" algn="l"/>
                <a:tab pos="296545" algn="l"/>
              </a:tabLst>
            </a:pPr>
            <a:r>
              <a:rPr sz="1900" spc="-5" dirty="0">
                <a:latin typeface="Arial"/>
                <a:cs typeface="Arial"/>
              </a:rPr>
              <a:t>They are destroyed once </a:t>
            </a:r>
            <a:r>
              <a:rPr sz="1900" spc="-15" dirty="0">
                <a:latin typeface="Arial"/>
                <a:cs typeface="Arial"/>
              </a:rPr>
              <a:t>we </a:t>
            </a:r>
            <a:r>
              <a:rPr sz="1900" spc="-5" dirty="0">
                <a:latin typeface="Arial"/>
                <a:cs typeface="Arial"/>
              </a:rPr>
              <a:t>return from the function. Hence, a  function does not remember the value of a variable from its  previous</a:t>
            </a:r>
            <a:r>
              <a:rPr sz="1900" spc="30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calls.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59991" y="1459991"/>
            <a:ext cx="4775200" cy="1812289"/>
            <a:chOff x="1459991" y="1459991"/>
            <a:chExt cx="4775200" cy="1812289"/>
          </a:xfrm>
        </p:grpSpPr>
        <p:sp>
          <p:nvSpPr>
            <p:cNvPr id="3" name="object 3"/>
            <p:cNvSpPr/>
            <p:nvPr/>
          </p:nvSpPr>
          <p:spPr>
            <a:xfrm>
              <a:off x="1459991" y="1459991"/>
              <a:ext cx="4774692" cy="181203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3999" y="1523999"/>
              <a:ext cx="4591812" cy="16291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04949" y="1504949"/>
              <a:ext cx="4630420" cy="1667510"/>
            </a:xfrm>
            <a:custGeom>
              <a:avLst/>
              <a:gdLst/>
              <a:ahLst/>
              <a:cxnLst/>
              <a:rect l="l" t="t" r="r" b="b"/>
              <a:pathLst>
                <a:path w="4630420" h="1667510">
                  <a:moveTo>
                    <a:pt x="0" y="1667255"/>
                  </a:moveTo>
                  <a:lnTo>
                    <a:pt x="4629912" y="1667255"/>
                  </a:lnTo>
                  <a:lnTo>
                    <a:pt x="4629912" y="0"/>
                  </a:lnTo>
                  <a:lnTo>
                    <a:pt x="0" y="0"/>
                  </a:lnTo>
                  <a:lnTo>
                    <a:pt x="0" y="166725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383791" y="3898391"/>
            <a:ext cx="6299200" cy="1993900"/>
            <a:chOff x="1383791" y="3898391"/>
            <a:chExt cx="6299200" cy="1993900"/>
          </a:xfrm>
        </p:grpSpPr>
        <p:sp>
          <p:nvSpPr>
            <p:cNvPr id="7" name="object 7"/>
            <p:cNvSpPr/>
            <p:nvPr/>
          </p:nvSpPr>
          <p:spPr>
            <a:xfrm>
              <a:off x="1383791" y="3898391"/>
              <a:ext cx="6298692" cy="199339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47799" y="3962399"/>
              <a:ext cx="6115811" cy="181051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28749" y="3943349"/>
              <a:ext cx="6154420" cy="1849120"/>
            </a:xfrm>
            <a:custGeom>
              <a:avLst/>
              <a:gdLst/>
              <a:ahLst/>
              <a:cxnLst/>
              <a:rect l="l" t="t" r="r" b="b"/>
              <a:pathLst>
                <a:path w="6154420" h="1849120">
                  <a:moveTo>
                    <a:pt x="0" y="1848612"/>
                  </a:moveTo>
                  <a:lnTo>
                    <a:pt x="6153911" y="1848612"/>
                  </a:lnTo>
                  <a:lnTo>
                    <a:pt x="6153911" y="0"/>
                  </a:lnTo>
                  <a:lnTo>
                    <a:pt x="0" y="0"/>
                  </a:lnTo>
                  <a:lnTo>
                    <a:pt x="0" y="184861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1600200"/>
            <a:ext cx="6230111" cy="213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19427" y="2218944"/>
            <a:ext cx="6105144" cy="24201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811" y="338327"/>
            <a:ext cx="5591555" cy="1220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488823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spc="-5" dirty="0">
                <a:latin typeface="Arial"/>
                <a:cs typeface="Arial"/>
              </a:rPr>
              <a:t>Default</a:t>
            </a:r>
            <a:r>
              <a:rPr sz="4300" b="1" spc="-200" dirty="0">
                <a:latin typeface="Arial"/>
                <a:cs typeface="Arial"/>
              </a:rPr>
              <a:t> </a:t>
            </a:r>
            <a:r>
              <a:rPr sz="4300" b="1" spc="-5" dirty="0">
                <a:latin typeface="Arial"/>
                <a:cs typeface="Arial"/>
              </a:rPr>
              <a:t>Arguments</a:t>
            </a:r>
            <a:endParaRPr sz="4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6897" y="1473453"/>
            <a:ext cx="7031990" cy="156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423545" indent="-28384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166"/>
              <a:buChar char=""/>
              <a:tabLst>
                <a:tab pos="295910" algn="l"/>
                <a:tab pos="296545" algn="l"/>
              </a:tabLst>
            </a:pPr>
            <a:r>
              <a:rPr sz="2400" spc="-5" dirty="0">
                <a:latin typeface="Arial"/>
                <a:cs typeface="Arial"/>
              </a:rPr>
              <a:t>Function arguments can have default values in  Python.</a:t>
            </a:r>
            <a:endParaRPr sz="2400">
              <a:latin typeface="Arial"/>
              <a:cs typeface="Arial"/>
            </a:endParaRPr>
          </a:p>
          <a:p>
            <a:pPr marL="295910" marR="508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166"/>
              <a:buChar char=""/>
              <a:tabLst>
                <a:tab pos="295910" algn="l"/>
                <a:tab pos="296545" algn="l"/>
              </a:tabLst>
            </a:pPr>
            <a:r>
              <a:rPr sz="2400" spc="-25" dirty="0">
                <a:latin typeface="Arial"/>
                <a:cs typeface="Arial"/>
              </a:rPr>
              <a:t>We </a:t>
            </a:r>
            <a:r>
              <a:rPr sz="2400" spc="-5" dirty="0">
                <a:latin typeface="Arial"/>
                <a:cs typeface="Arial"/>
              </a:rPr>
              <a:t>can provide a default value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an argument by  using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assignment operator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(=).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52955" y="3229355"/>
            <a:ext cx="5838444" cy="22570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811" y="338327"/>
            <a:ext cx="5591555" cy="1220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488823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spc="-5" dirty="0">
                <a:latin typeface="Arial"/>
                <a:cs typeface="Arial"/>
              </a:rPr>
              <a:t>Default</a:t>
            </a:r>
            <a:r>
              <a:rPr sz="4300" b="1" spc="-200" dirty="0">
                <a:latin typeface="Arial"/>
                <a:cs typeface="Arial"/>
              </a:rPr>
              <a:t> </a:t>
            </a:r>
            <a:r>
              <a:rPr sz="4300" b="1" spc="-5" dirty="0">
                <a:latin typeface="Arial"/>
                <a:cs typeface="Arial"/>
              </a:rPr>
              <a:t>Arguments</a:t>
            </a:r>
            <a:endParaRPr sz="4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6897" y="1471929"/>
            <a:ext cx="7122795" cy="4948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910" indent="-283845" algn="just">
              <a:lnSpc>
                <a:spcPct val="100000"/>
              </a:lnSpc>
              <a:spcBef>
                <a:spcPts val="95"/>
              </a:spcBef>
              <a:buClr>
                <a:srgbClr val="3891A7"/>
              </a:buClr>
              <a:buSzPct val="80357"/>
              <a:buChar char=""/>
              <a:tabLst>
                <a:tab pos="296545" algn="l"/>
              </a:tabLst>
            </a:pPr>
            <a:r>
              <a:rPr sz="2800" spc="-5" dirty="0">
                <a:latin typeface="Arial"/>
                <a:cs typeface="Arial"/>
              </a:rPr>
              <a:t>In this function,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the</a:t>
            </a:r>
            <a:endParaRPr sz="2800">
              <a:latin typeface="Arial"/>
              <a:cs typeface="Arial"/>
            </a:endParaRPr>
          </a:p>
          <a:p>
            <a:pPr marL="295910" marR="5080" algn="just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parameter </a:t>
            </a:r>
            <a:r>
              <a:rPr sz="2800" b="1" spc="-5" dirty="0">
                <a:latin typeface="Arial"/>
                <a:cs typeface="Arial"/>
              </a:rPr>
              <a:t>amount </a:t>
            </a:r>
            <a:r>
              <a:rPr sz="2800" dirty="0">
                <a:latin typeface="Arial"/>
                <a:cs typeface="Arial"/>
              </a:rPr>
              <a:t>does not have </a:t>
            </a:r>
            <a:r>
              <a:rPr sz="2800" spc="-5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default  </a:t>
            </a:r>
            <a:r>
              <a:rPr sz="2800" spc="-5" dirty="0">
                <a:latin typeface="Arial"/>
                <a:cs typeface="Arial"/>
              </a:rPr>
              <a:t>value </a:t>
            </a:r>
            <a:r>
              <a:rPr sz="2800" dirty="0">
                <a:latin typeface="Arial"/>
                <a:cs typeface="Arial"/>
              </a:rPr>
              <a:t>and </a:t>
            </a:r>
            <a:r>
              <a:rPr sz="2800" spc="-5" dirty="0">
                <a:latin typeface="Arial"/>
                <a:cs typeface="Arial"/>
              </a:rPr>
              <a:t>is </a:t>
            </a:r>
            <a:r>
              <a:rPr sz="2800" dirty="0">
                <a:latin typeface="Arial"/>
                <a:cs typeface="Arial"/>
              </a:rPr>
              <a:t>required (mandatory) during </a:t>
            </a:r>
            <a:r>
              <a:rPr sz="2800" spc="-5" dirty="0">
                <a:latin typeface="Arial"/>
                <a:cs typeface="Arial"/>
              </a:rPr>
              <a:t>a  call.</a:t>
            </a:r>
            <a:endParaRPr sz="2800">
              <a:latin typeface="Arial"/>
              <a:cs typeface="Arial"/>
            </a:endParaRPr>
          </a:p>
          <a:p>
            <a:pPr marL="295910" marR="58293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80357"/>
              <a:buChar char=""/>
              <a:tabLst>
                <a:tab pos="296545" algn="l"/>
                <a:tab pos="789305" algn="l"/>
                <a:tab pos="1283335" algn="l"/>
              </a:tabLst>
            </a:pPr>
            <a:r>
              <a:rPr sz="2800" spc="-5" dirty="0">
                <a:latin typeface="Arial"/>
                <a:cs typeface="Arial"/>
              </a:rPr>
              <a:t>On the </a:t>
            </a:r>
            <a:r>
              <a:rPr sz="2800" dirty="0">
                <a:latin typeface="Arial"/>
                <a:cs typeface="Arial"/>
              </a:rPr>
              <a:t>other </a:t>
            </a:r>
            <a:r>
              <a:rPr sz="2800" spc="-5" dirty="0">
                <a:latin typeface="Arial"/>
                <a:cs typeface="Arial"/>
              </a:rPr>
              <a:t>hand, </a:t>
            </a:r>
            <a:r>
              <a:rPr sz="2800" dirty="0">
                <a:latin typeface="Arial"/>
                <a:cs typeface="Arial"/>
              </a:rPr>
              <a:t>the parameter  discountPercentage </a:t>
            </a:r>
            <a:r>
              <a:rPr sz="2800" spc="-5" dirty="0">
                <a:latin typeface="Arial"/>
                <a:cs typeface="Arial"/>
              </a:rPr>
              <a:t>has a </a:t>
            </a:r>
            <a:r>
              <a:rPr sz="2800" dirty="0">
                <a:latin typeface="Arial"/>
                <a:cs typeface="Arial"/>
              </a:rPr>
              <a:t>default </a:t>
            </a:r>
            <a:r>
              <a:rPr sz="2800" spc="-5" dirty="0">
                <a:latin typeface="Arial"/>
                <a:cs typeface="Arial"/>
              </a:rPr>
              <a:t>value  </a:t>
            </a:r>
            <a:r>
              <a:rPr sz="2800" dirty="0">
                <a:latin typeface="Arial"/>
                <a:cs typeface="Arial"/>
              </a:rPr>
              <a:t>of	</a:t>
            </a:r>
            <a:r>
              <a:rPr sz="2800" spc="-5" dirty="0">
                <a:latin typeface="Arial"/>
                <a:cs typeface="Arial"/>
              </a:rPr>
              <a:t>0.	So, </a:t>
            </a:r>
            <a:r>
              <a:rPr sz="2800" dirty="0">
                <a:latin typeface="Arial"/>
                <a:cs typeface="Arial"/>
              </a:rPr>
              <a:t>it </a:t>
            </a:r>
            <a:r>
              <a:rPr sz="2800" spc="-5" dirty="0">
                <a:latin typeface="Arial"/>
                <a:cs typeface="Arial"/>
              </a:rPr>
              <a:t>is optional </a:t>
            </a:r>
            <a:r>
              <a:rPr sz="2800" dirty="0">
                <a:latin typeface="Arial"/>
                <a:cs typeface="Arial"/>
              </a:rPr>
              <a:t>during </a:t>
            </a:r>
            <a:r>
              <a:rPr sz="2800" spc="-5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call.</a:t>
            </a:r>
            <a:endParaRPr sz="2800">
              <a:latin typeface="Arial"/>
              <a:cs typeface="Arial"/>
            </a:endParaRPr>
          </a:p>
          <a:p>
            <a:pPr marL="295910" marR="45085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357"/>
              <a:buChar char=""/>
              <a:tabLst>
                <a:tab pos="296545" algn="l"/>
              </a:tabLst>
            </a:pPr>
            <a:r>
              <a:rPr sz="2800" spc="-5" dirty="0">
                <a:latin typeface="Arial"/>
                <a:cs typeface="Arial"/>
              </a:rPr>
              <a:t>If a value is </a:t>
            </a:r>
            <a:r>
              <a:rPr sz="2800" dirty="0">
                <a:latin typeface="Arial"/>
                <a:cs typeface="Arial"/>
              </a:rPr>
              <a:t>provided, it </a:t>
            </a:r>
            <a:r>
              <a:rPr sz="2800" spc="-5" dirty="0">
                <a:latin typeface="Arial"/>
                <a:cs typeface="Arial"/>
              </a:rPr>
              <a:t>will overwrite </a:t>
            </a:r>
            <a:r>
              <a:rPr sz="2800" spc="-140" dirty="0">
                <a:latin typeface="Arial"/>
                <a:cs typeface="Arial"/>
              </a:rPr>
              <a:t>the  </a:t>
            </a:r>
            <a:r>
              <a:rPr sz="2800" dirty="0">
                <a:latin typeface="Arial"/>
                <a:cs typeface="Arial"/>
              </a:rPr>
              <a:t>default </a:t>
            </a:r>
            <a:r>
              <a:rPr sz="2800" spc="-5" dirty="0">
                <a:latin typeface="Arial"/>
                <a:cs typeface="Arial"/>
              </a:rPr>
              <a:t>value.</a:t>
            </a:r>
            <a:endParaRPr sz="2800">
              <a:latin typeface="Arial"/>
              <a:cs typeface="Arial"/>
            </a:endParaRPr>
          </a:p>
          <a:p>
            <a:pPr marL="295910" marR="34925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357"/>
              <a:buChar char=""/>
              <a:tabLst>
                <a:tab pos="296545" algn="l"/>
              </a:tabLst>
            </a:pPr>
            <a:r>
              <a:rPr sz="2800" spc="-5" dirty="0">
                <a:latin typeface="Arial"/>
                <a:cs typeface="Arial"/>
              </a:rPr>
              <a:t>Any number of arguments in a </a:t>
            </a:r>
            <a:r>
              <a:rPr sz="2800" dirty="0">
                <a:latin typeface="Arial"/>
                <a:cs typeface="Arial"/>
              </a:rPr>
              <a:t>function </a:t>
            </a:r>
            <a:r>
              <a:rPr sz="2800" spc="-150" dirty="0">
                <a:latin typeface="Arial"/>
                <a:cs typeface="Arial"/>
              </a:rPr>
              <a:t>can  </a:t>
            </a:r>
            <a:r>
              <a:rPr sz="2800" spc="-5" dirty="0">
                <a:latin typeface="Arial"/>
                <a:cs typeface="Arial"/>
              </a:rPr>
              <a:t>have a </a:t>
            </a:r>
            <a:r>
              <a:rPr sz="2800" dirty="0">
                <a:latin typeface="Arial"/>
                <a:cs typeface="Arial"/>
              </a:rPr>
              <a:t>default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value.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811" y="338327"/>
            <a:ext cx="5591555" cy="1220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488823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spc="-5" dirty="0">
                <a:latin typeface="Arial"/>
                <a:cs typeface="Arial"/>
              </a:rPr>
              <a:t>Default</a:t>
            </a:r>
            <a:r>
              <a:rPr sz="4300" b="1" spc="-200" dirty="0">
                <a:latin typeface="Arial"/>
                <a:cs typeface="Arial"/>
              </a:rPr>
              <a:t> </a:t>
            </a:r>
            <a:r>
              <a:rPr sz="4300" b="1" spc="-5" dirty="0">
                <a:latin typeface="Arial"/>
                <a:cs typeface="Arial"/>
              </a:rPr>
              <a:t>Arguments</a:t>
            </a:r>
            <a:endParaRPr sz="4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</a:pPr>
            <a:r>
              <a:rPr sz="2550" spc="-665" dirty="0">
                <a:solidFill>
                  <a:srgbClr val="3891A7"/>
                </a:solidFill>
              </a:rPr>
              <a:t> </a:t>
            </a:r>
            <a:r>
              <a:rPr dirty="0"/>
              <a:t>Once we </a:t>
            </a:r>
            <a:r>
              <a:rPr spc="-5" dirty="0"/>
              <a:t>have </a:t>
            </a:r>
            <a:r>
              <a:rPr dirty="0"/>
              <a:t>a </a:t>
            </a:r>
            <a:r>
              <a:rPr spc="-5" dirty="0"/>
              <a:t>default argument,</a:t>
            </a:r>
            <a:r>
              <a:rPr spc="-95" dirty="0"/>
              <a:t> </a:t>
            </a:r>
            <a:r>
              <a:rPr spc="-165" dirty="0"/>
              <a:t>all  </a:t>
            </a:r>
            <a:r>
              <a:rPr dirty="0"/>
              <a:t>the </a:t>
            </a:r>
            <a:r>
              <a:rPr spc="-5" dirty="0"/>
              <a:t>arguments </a:t>
            </a:r>
            <a:r>
              <a:rPr dirty="0"/>
              <a:t>to its </a:t>
            </a:r>
            <a:r>
              <a:rPr spc="-5" dirty="0"/>
              <a:t>right must </a:t>
            </a:r>
            <a:r>
              <a:rPr dirty="0"/>
              <a:t>also  </a:t>
            </a:r>
            <a:r>
              <a:rPr spc="-5" dirty="0"/>
              <a:t>have default</a:t>
            </a:r>
            <a:r>
              <a:rPr spc="-15" dirty="0"/>
              <a:t> </a:t>
            </a:r>
            <a:r>
              <a:rPr spc="-5" dirty="0"/>
              <a:t>values.</a:t>
            </a:r>
            <a:endParaRPr sz="2550"/>
          </a:p>
        </p:txBody>
      </p:sp>
      <p:sp>
        <p:nvSpPr>
          <p:cNvPr id="5" name="object 5"/>
          <p:cNvSpPr txBox="1"/>
          <p:nvPr/>
        </p:nvSpPr>
        <p:spPr>
          <a:xfrm>
            <a:off x="1596897" y="4700092"/>
            <a:ext cx="653732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</a:pPr>
            <a:r>
              <a:rPr sz="2550" spc="-660" dirty="0">
                <a:solidFill>
                  <a:srgbClr val="3891A7"/>
                </a:solidFill>
                <a:latin typeface="Arial"/>
                <a:cs typeface="Arial"/>
              </a:rPr>
              <a:t> </a:t>
            </a:r>
            <a:r>
              <a:rPr sz="3200" dirty="0">
                <a:latin typeface="Arial"/>
                <a:cs typeface="Arial"/>
              </a:rPr>
              <a:t>SyntaxError: </a:t>
            </a:r>
            <a:r>
              <a:rPr sz="3200" spc="-5" dirty="0">
                <a:latin typeface="Arial"/>
                <a:cs typeface="Arial"/>
              </a:rPr>
              <a:t>non-default </a:t>
            </a:r>
            <a:r>
              <a:rPr sz="3200" spc="-70" dirty="0">
                <a:latin typeface="Arial"/>
                <a:cs typeface="Arial"/>
              </a:rPr>
              <a:t>argument  </a:t>
            </a:r>
            <a:r>
              <a:rPr sz="3200" spc="-5" dirty="0">
                <a:latin typeface="Arial"/>
                <a:cs typeface="Arial"/>
              </a:rPr>
              <a:t>follows default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argument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76400" y="3429000"/>
            <a:ext cx="7010400" cy="533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811" y="338327"/>
            <a:ext cx="5609844" cy="1220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490855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Keyword</a:t>
            </a:r>
            <a:r>
              <a:rPr sz="4300" spc="-285" dirty="0"/>
              <a:t> </a:t>
            </a:r>
            <a:r>
              <a:rPr sz="4300" spc="-5" dirty="0"/>
              <a:t>Arguments</a:t>
            </a:r>
            <a:endParaRPr sz="4300"/>
          </a:p>
        </p:txBody>
      </p:sp>
      <p:grpSp>
        <p:nvGrpSpPr>
          <p:cNvPr id="4" name="object 4"/>
          <p:cNvGrpSpPr/>
          <p:nvPr/>
        </p:nvGrpSpPr>
        <p:grpSpPr>
          <a:xfrm>
            <a:off x="1371600" y="1447800"/>
            <a:ext cx="4173220" cy="2306320"/>
            <a:chOff x="1371600" y="1447800"/>
            <a:chExt cx="4173220" cy="2306320"/>
          </a:xfrm>
        </p:grpSpPr>
        <p:sp>
          <p:nvSpPr>
            <p:cNvPr id="5" name="object 5"/>
            <p:cNvSpPr/>
            <p:nvPr/>
          </p:nvSpPr>
          <p:spPr>
            <a:xfrm>
              <a:off x="1371600" y="1447800"/>
              <a:ext cx="4143755" cy="2305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1600" y="3200400"/>
              <a:ext cx="4172712" cy="4572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6897" y="1468882"/>
            <a:ext cx="637730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</a:pPr>
            <a:r>
              <a:rPr sz="2550" spc="-665" dirty="0">
                <a:solidFill>
                  <a:srgbClr val="3891A7"/>
                </a:solidFill>
              </a:rPr>
              <a:t> </a:t>
            </a:r>
            <a:r>
              <a:rPr sz="3200" spc="-5" dirty="0">
                <a:solidFill>
                  <a:srgbClr val="000000"/>
                </a:solidFill>
              </a:rPr>
              <a:t>Positional argument </a:t>
            </a:r>
            <a:r>
              <a:rPr sz="3200" dirty="0">
                <a:solidFill>
                  <a:srgbClr val="000000"/>
                </a:solidFill>
              </a:rPr>
              <a:t>cannot </a:t>
            </a:r>
            <a:r>
              <a:rPr sz="3200" spc="-90" dirty="0">
                <a:solidFill>
                  <a:srgbClr val="000000"/>
                </a:solidFill>
              </a:rPr>
              <a:t>follow  </a:t>
            </a:r>
            <a:r>
              <a:rPr sz="3200" dirty="0">
                <a:solidFill>
                  <a:srgbClr val="000000"/>
                </a:solidFill>
              </a:rPr>
              <a:t>keyword</a:t>
            </a:r>
            <a:r>
              <a:rPr sz="3200" spc="-30" dirty="0">
                <a:solidFill>
                  <a:srgbClr val="000000"/>
                </a:solidFill>
              </a:rPr>
              <a:t> </a:t>
            </a:r>
            <a:r>
              <a:rPr sz="3200" spc="-5" dirty="0">
                <a:solidFill>
                  <a:srgbClr val="000000"/>
                </a:solidFill>
              </a:rPr>
              <a:t>argument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1383791" y="2907792"/>
            <a:ext cx="4699000" cy="2032000"/>
            <a:chOff x="1383791" y="2907792"/>
            <a:chExt cx="4699000" cy="2032000"/>
          </a:xfrm>
        </p:grpSpPr>
        <p:sp>
          <p:nvSpPr>
            <p:cNvPr id="4" name="object 4"/>
            <p:cNvSpPr/>
            <p:nvPr/>
          </p:nvSpPr>
          <p:spPr>
            <a:xfrm>
              <a:off x="1383791" y="2907792"/>
              <a:ext cx="4698492" cy="20314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47799" y="2971800"/>
              <a:ext cx="4515612" cy="18486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28749" y="2952750"/>
              <a:ext cx="4554220" cy="1887220"/>
            </a:xfrm>
            <a:custGeom>
              <a:avLst/>
              <a:gdLst/>
              <a:ahLst/>
              <a:cxnLst/>
              <a:rect l="l" t="t" r="r" b="b"/>
              <a:pathLst>
                <a:path w="4554220" h="1887220">
                  <a:moveTo>
                    <a:pt x="0" y="1886712"/>
                  </a:moveTo>
                  <a:lnTo>
                    <a:pt x="4553712" y="1886712"/>
                  </a:lnTo>
                  <a:lnTo>
                    <a:pt x="4553712" y="0"/>
                  </a:lnTo>
                  <a:lnTo>
                    <a:pt x="0" y="0"/>
                  </a:lnTo>
                  <a:lnTo>
                    <a:pt x="0" y="188671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811" y="338327"/>
            <a:ext cx="7981188" cy="1220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732345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45" dirty="0"/>
              <a:t>Variable </a:t>
            </a:r>
            <a:r>
              <a:rPr sz="4300" spc="-5" dirty="0"/>
              <a:t>number of</a:t>
            </a:r>
            <a:r>
              <a:rPr sz="4300" dirty="0"/>
              <a:t> </a:t>
            </a:r>
            <a:r>
              <a:rPr sz="4300" spc="-5" dirty="0"/>
              <a:t>arguments</a:t>
            </a:r>
            <a:endParaRPr sz="4300"/>
          </a:p>
        </p:txBody>
      </p:sp>
      <p:grpSp>
        <p:nvGrpSpPr>
          <p:cNvPr id="4" name="object 4"/>
          <p:cNvGrpSpPr/>
          <p:nvPr/>
        </p:nvGrpSpPr>
        <p:grpSpPr>
          <a:xfrm>
            <a:off x="1078991" y="1307591"/>
            <a:ext cx="6355080" cy="5516880"/>
            <a:chOff x="1078991" y="1307591"/>
            <a:chExt cx="6355080" cy="5516880"/>
          </a:xfrm>
        </p:grpSpPr>
        <p:sp>
          <p:nvSpPr>
            <p:cNvPr id="5" name="object 5"/>
            <p:cNvSpPr/>
            <p:nvPr/>
          </p:nvSpPr>
          <p:spPr>
            <a:xfrm>
              <a:off x="1136903" y="4223002"/>
              <a:ext cx="4468368" cy="260146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0911" y="4287012"/>
              <a:ext cx="4285488" cy="24185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1861" y="4267962"/>
              <a:ext cx="4323715" cy="2456815"/>
            </a:xfrm>
            <a:custGeom>
              <a:avLst/>
              <a:gdLst/>
              <a:ahLst/>
              <a:cxnLst/>
              <a:rect l="l" t="t" r="r" b="b"/>
              <a:pathLst>
                <a:path w="4323715" h="2456815">
                  <a:moveTo>
                    <a:pt x="0" y="2456688"/>
                  </a:moveTo>
                  <a:lnTo>
                    <a:pt x="4323588" y="2456688"/>
                  </a:lnTo>
                  <a:lnTo>
                    <a:pt x="4323588" y="0"/>
                  </a:lnTo>
                  <a:lnTo>
                    <a:pt x="0" y="0"/>
                  </a:lnTo>
                  <a:lnTo>
                    <a:pt x="0" y="2456688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78991" y="1307591"/>
              <a:ext cx="6355080" cy="300227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42999" y="1371599"/>
              <a:ext cx="6172200" cy="28194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23949" y="1352549"/>
              <a:ext cx="6210300" cy="2857500"/>
            </a:xfrm>
            <a:custGeom>
              <a:avLst/>
              <a:gdLst/>
              <a:ahLst/>
              <a:cxnLst/>
              <a:rect l="l" t="t" r="r" b="b"/>
              <a:pathLst>
                <a:path w="6210300" h="2857500">
                  <a:moveTo>
                    <a:pt x="0" y="2857500"/>
                  </a:moveTo>
                  <a:lnTo>
                    <a:pt x="6210300" y="2857500"/>
                  </a:lnTo>
                  <a:lnTo>
                    <a:pt x="6210300" y="0"/>
                  </a:lnTo>
                  <a:lnTo>
                    <a:pt x="0" y="0"/>
                  </a:lnTo>
                  <a:lnTo>
                    <a:pt x="0" y="285750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811" y="338327"/>
            <a:ext cx="5823203" cy="1220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490854"/>
            <a:ext cx="512000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>
                <a:solidFill>
                  <a:srgbClr val="552113"/>
                </a:solidFill>
              </a:rPr>
              <a:t>Functions as</a:t>
            </a:r>
            <a:r>
              <a:rPr sz="4300" spc="-55" dirty="0">
                <a:solidFill>
                  <a:srgbClr val="552113"/>
                </a:solidFill>
              </a:rPr>
              <a:t> </a:t>
            </a:r>
            <a:r>
              <a:rPr sz="4300" spc="-5" dirty="0">
                <a:solidFill>
                  <a:srgbClr val="552113"/>
                </a:solidFill>
              </a:rPr>
              <a:t>Objects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1590802" y="1473453"/>
            <a:ext cx="7100570" cy="1322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1625" marR="442595" indent="-289560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80000"/>
              <a:buChar char="●"/>
              <a:tabLst>
                <a:tab pos="301625" algn="l"/>
                <a:tab pos="302260" algn="l"/>
              </a:tabLst>
            </a:pPr>
            <a:r>
              <a:rPr sz="2000" dirty="0">
                <a:latin typeface="Arial"/>
                <a:cs typeface="Arial"/>
              </a:rPr>
              <a:t>Although functions are created </a:t>
            </a:r>
            <a:r>
              <a:rPr sz="2000" spc="-5" dirty="0">
                <a:latin typeface="Arial"/>
                <a:cs typeface="Arial"/>
              </a:rPr>
              <a:t>differently </a:t>
            </a:r>
            <a:r>
              <a:rPr sz="2000" dirty="0">
                <a:latin typeface="Arial"/>
                <a:cs typeface="Arial"/>
              </a:rPr>
              <a:t>from normal  variables, </a:t>
            </a:r>
            <a:r>
              <a:rPr sz="2000" b="1" dirty="0">
                <a:latin typeface="Arial"/>
                <a:cs typeface="Arial"/>
              </a:rPr>
              <a:t>functions </a:t>
            </a:r>
            <a:r>
              <a:rPr sz="2000" dirty="0">
                <a:latin typeface="Arial"/>
                <a:cs typeface="Arial"/>
              </a:rPr>
              <a:t>are just like any other kind of</a:t>
            </a:r>
            <a:r>
              <a:rPr sz="2000" spc="-1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value.</a:t>
            </a:r>
            <a:endParaRPr sz="2000">
              <a:latin typeface="Arial"/>
              <a:cs typeface="Arial"/>
            </a:endParaRPr>
          </a:p>
          <a:p>
            <a:pPr marL="301625" marR="5080" indent="-289560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Char char="●"/>
              <a:tabLst>
                <a:tab pos="301625" algn="l"/>
                <a:tab pos="302260" algn="l"/>
              </a:tabLst>
            </a:pPr>
            <a:r>
              <a:rPr sz="2000" dirty="0">
                <a:latin typeface="Arial"/>
                <a:cs typeface="Arial"/>
              </a:rPr>
              <a:t>They can be assigned and reassigned to variables, and</a:t>
            </a:r>
            <a:r>
              <a:rPr sz="2000" spc="-2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later  referenced by those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names.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52600" y="3276600"/>
            <a:ext cx="4724400" cy="2362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527304"/>
            <a:ext cx="9182100" cy="5001895"/>
            <a:chOff x="-19050" y="527304"/>
            <a:chExt cx="9182100" cy="5001895"/>
          </a:xfrm>
        </p:grpSpPr>
        <p:sp>
          <p:nvSpPr>
            <p:cNvPr id="3" name="object 3"/>
            <p:cNvSpPr/>
            <p:nvPr/>
          </p:nvSpPr>
          <p:spPr>
            <a:xfrm>
              <a:off x="0" y="545592"/>
              <a:ext cx="3319272" cy="41452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09600"/>
              <a:ext cx="3200400" cy="39624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590550"/>
              <a:ext cx="3219450" cy="4000500"/>
            </a:xfrm>
            <a:custGeom>
              <a:avLst/>
              <a:gdLst/>
              <a:ahLst/>
              <a:cxnLst/>
              <a:rect l="l" t="t" r="r" b="b"/>
              <a:pathLst>
                <a:path w="3219450" h="4000500">
                  <a:moveTo>
                    <a:pt x="0" y="4000500"/>
                  </a:moveTo>
                  <a:lnTo>
                    <a:pt x="3219450" y="4000500"/>
                  </a:lnTo>
                  <a:lnTo>
                    <a:pt x="3219450" y="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12592" y="527304"/>
              <a:ext cx="5931408" cy="50017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6600" y="591312"/>
              <a:ext cx="5867400" cy="481888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57550" y="572262"/>
              <a:ext cx="5886450" cy="4857115"/>
            </a:xfrm>
            <a:custGeom>
              <a:avLst/>
              <a:gdLst/>
              <a:ahLst/>
              <a:cxnLst/>
              <a:rect l="l" t="t" r="r" b="b"/>
              <a:pathLst>
                <a:path w="5886450" h="4857115">
                  <a:moveTo>
                    <a:pt x="0" y="4856988"/>
                  </a:moveTo>
                  <a:lnTo>
                    <a:pt x="5886449" y="4856988"/>
                  </a:lnTo>
                </a:path>
                <a:path w="5886450" h="4857115">
                  <a:moveTo>
                    <a:pt x="5886449" y="0"/>
                  </a:moveTo>
                  <a:lnTo>
                    <a:pt x="0" y="0"/>
                  </a:lnTo>
                  <a:lnTo>
                    <a:pt x="0" y="485698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360</Words>
  <Application>Microsoft Office PowerPoint</Application>
  <PresentationFormat>On-screen Show (4:3)</PresentationFormat>
  <Paragraphs>50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Python Functions</vt:lpstr>
      <vt:lpstr>Functions</vt:lpstr>
      <vt:lpstr>Built-in Functions</vt:lpstr>
      <vt:lpstr>Syntax of Function</vt:lpstr>
      <vt:lpstr>Defining a function</vt:lpstr>
      <vt:lpstr>Function Call</vt:lpstr>
      <vt:lpstr>Square function:Take one  arguments and prints its square</vt:lpstr>
      <vt:lpstr>Square function:Take one  arguments and returns its square</vt:lpstr>
      <vt:lpstr>Function returning multiple  value</vt:lpstr>
      <vt:lpstr>Scope and Lifetime of  variables</vt:lpstr>
      <vt:lpstr>PowerPoint Presentation</vt:lpstr>
      <vt:lpstr>PowerPoint Presentation</vt:lpstr>
      <vt:lpstr>PowerPoint Presentation</vt:lpstr>
      <vt:lpstr>Default Arguments</vt:lpstr>
      <vt:lpstr>Default Arguments</vt:lpstr>
      <vt:lpstr>Default Arguments</vt:lpstr>
      <vt:lpstr>Keyword Arguments</vt:lpstr>
      <vt:lpstr> Positional argument cannot follow  keyword argument</vt:lpstr>
      <vt:lpstr>Variable number of arguments</vt:lpstr>
      <vt:lpstr>Functions as Objects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Functions</dc:title>
  <cp:lastModifiedBy>HP</cp:lastModifiedBy>
  <cp:revision>1</cp:revision>
  <dcterms:created xsi:type="dcterms:W3CDTF">2023-12-03T10:13:24Z</dcterms:created>
  <dcterms:modified xsi:type="dcterms:W3CDTF">2023-12-03T10:19:11Z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2019-05-06T00:00:00Z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2023-12-03T00:00:00Z</vt:filetime>
  </property>
</Properties>
</file>