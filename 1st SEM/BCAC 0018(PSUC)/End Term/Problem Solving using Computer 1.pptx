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3"/>
  </p:notesMasterIdLst>
  <p:sldIdLst>
    <p:sldId id="256" r:id="rId2"/>
    <p:sldId id="257" r:id="rId3"/>
    <p:sldId id="266" r:id="rId4"/>
    <p:sldId id="267" r:id="rId5"/>
    <p:sldId id="268" r:id="rId6"/>
    <p:sldId id="269" r:id="rId7"/>
    <p:sldId id="275" r:id="rId8"/>
    <p:sldId id="276" r:id="rId9"/>
    <p:sldId id="277" r:id="rId10"/>
    <p:sldId id="278" r:id="rId11"/>
    <p:sldId id="270" r:id="rId12"/>
    <p:sldId id="272" r:id="rId13"/>
    <p:sldId id="273" r:id="rId14"/>
    <p:sldId id="279" r:id="rId15"/>
    <p:sldId id="280" r:id="rId16"/>
    <p:sldId id="281" r:id="rId17"/>
    <p:sldId id="282" r:id="rId18"/>
    <p:sldId id="283" r:id="rId19"/>
    <p:sldId id="284" r:id="rId20"/>
    <p:sldId id="274" r:id="rId21"/>
    <p:sldId id="258" r:id="rId22"/>
    <p:sldId id="285" r:id="rId23"/>
    <p:sldId id="263" r:id="rId24"/>
    <p:sldId id="286" r:id="rId25"/>
    <p:sldId id="287" r:id="rId26"/>
    <p:sldId id="288" r:id="rId27"/>
    <p:sldId id="289" r:id="rId28"/>
    <p:sldId id="290" r:id="rId29"/>
    <p:sldId id="291" r:id="rId30"/>
    <p:sldId id="324" r:id="rId31"/>
    <p:sldId id="325" r:id="rId32"/>
    <p:sldId id="417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265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22" r:id="rId53"/>
    <p:sldId id="323" r:id="rId54"/>
    <p:sldId id="311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6" r:id="rId65"/>
    <p:sldId id="327" r:id="rId66"/>
    <p:sldId id="328" r:id="rId67"/>
    <p:sldId id="330" r:id="rId68"/>
    <p:sldId id="331" r:id="rId69"/>
    <p:sldId id="332" r:id="rId70"/>
    <p:sldId id="333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359" r:id="rId96"/>
    <p:sldId id="360" r:id="rId97"/>
    <p:sldId id="361" r:id="rId98"/>
    <p:sldId id="362" r:id="rId99"/>
    <p:sldId id="363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5" r:id="rId119"/>
    <p:sldId id="386" r:id="rId120"/>
    <p:sldId id="387" r:id="rId121"/>
    <p:sldId id="388" r:id="rId122"/>
    <p:sldId id="390" r:id="rId123"/>
    <p:sldId id="389" r:id="rId124"/>
    <p:sldId id="383" r:id="rId125"/>
    <p:sldId id="384" r:id="rId126"/>
    <p:sldId id="391" r:id="rId127"/>
    <p:sldId id="392" r:id="rId128"/>
    <p:sldId id="393" r:id="rId129"/>
    <p:sldId id="397" r:id="rId130"/>
    <p:sldId id="398" r:id="rId131"/>
    <p:sldId id="399" r:id="rId132"/>
    <p:sldId id="400" r:id="rId133"/>
    <p:sldId id="394" r:id="rId134"/>
    <p:sldId id="395" r:id="rId135"/>
    <p:sldId id="396" r:id="rId136"/>
    <p:sldId id="401" r:id="rId137"/>
    <p:sldId id="402" r:id="rId138"/>
    <p:sldId id="403" r:id="rId139"/>
    <p:sldId id="404" r:id="rId140"/>
    <p:sldId id="405" r:id="rId141"/>
    <p:sldId id="406" r:id="rId142"/>
    <p:sldId id="407" r:id="rId143"/>
    <p:sldId id="408" r:id="rId144"/>
    <p:sldId id="409" r:id="rId145"/>
    <p:sldId id="410" r:id="rId146"/>
    <p:sldId id="411" r:id="rId147"/>
    <p:sldId id="412" r:id="rId148"/>
    <p:sldId id="413" r:id="rId149"/>
    <p:sldId id="414" r:id="rId150"/>
    <p:sldId id="415" r:id="rId151"/>
    <p:sldId id="416" r:id="rId1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1D363-61F8-4C06-8E15-4F697BD12EC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D31AC-5789-4CF0-A699-7141442FA7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5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72FB-9E1D-475A-9BF0-CEBC1D142A63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D071A-F4E6-415E-A156-C6D2FC893EBF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7896-D034-49C8-94F2-E49CCB39F6C0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887F-3ADD-4209-A04A-B5C4F74B127D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E680-0AF8-4582-9181-2B7A839E8E60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3DBC-7D43-42DC-88F8-696D733536F3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87EF-649F-4E39-98DE-C8E52AD13C9D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353B-8DFF-4AB2-A12E-3C48311B2D73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BCD0-FB13-4FEA-B71B-2FC2492C2065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5A314-8B0E-45BA-B072-EBE3D99BB734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3DBD-AC10-4CFD-BC30-15C8442EB21B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4B5D-48B3-415F-8909-823095CB1A68}" type="datetime1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D:\PYTHON%20Ebook\new\Python%20web\www.programiz.com\python-programming\for-loop.html" TargetMode="External"/><Relationship Id="rId2" Type="http://schemas.openxmlformats.org/officeDocument/2006/relationships/hyperlink" Target="file:///D:\PYTHON%20Ebook\new\Python%20web\www.programiz.com\python-programming\function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file:///D:\PYTHON%20Ebook\new\Python%20web\www.programiz.com\python-programming\string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file:///D:\PYTHON%20Ebook\new\Python%20web\www.programiz.com\python-programming\list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file:///D:\PYTHON%20Ebook\new\Python%20web\www.programiz.com\python-programming\tuple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file:///D:\PYTHON%20Ebook\new\Python%20web\www.programiz.com\python-programming\string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file:///D:\PYTHON%20Ebook\new\Python%20web\www.programiz.com\python-programming\set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file:///D:\PYTHON%20Ebook\new\Python%20web\www.programiz.com\python-programming\dictionary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file:///D:\PYTHON%20Ebook\new\Python%20web\www.programiz.com\python-programming\for-loop.html" TargetMode="External"/><Relationship Id="rId2" Type="http://schemas.openxmlformats.org/officeDocument/2006/relationships/hyperlink" Target="file:///D:\PYTHON%20Ebook\new\Python%20web\www.programiz.com\python-programming\statement-indentation-comment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D:\PYTHON%20Ebook\new\Python%20web\www.programiz.com\python-programming\function.html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</a:t>
            </a:r>
            <a:r>
              <a:rPr lang="en-US" b="1" smtClean="0"/>
              <a:t>Programming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sz="4000" dirty="0" smtClean="0"/>
              <a:t>Module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Course: </a:t>
            </a:r>
            <a:r>
              <a:rPr lang="en-US" dirty="0" smtClean="0">
                <a:solidFill>
                  <a:schemeClr val="tx1"/>
                </a:solidFill>
              </a:rPr>
              <a:t>BCA I Year I </a:t>
            </a:r>
            <a:r>
              <a:rPr lang="en-US" dirty="0" smtClean="0">
                <a:solidFill>
                  <a:schemeClr val="tx1"/>
                </a:solidFill>
              </a:rPr>
              <a:t>Semester</a:t>
            </a:r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About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2596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Guido van </a:t>
            </a:r>
            <a:r>
              <a:rPr lang="en-US" sz="2400" b="1" dirty="0" err="1" smtClean="0"/>
              <a:t>Rossum</a:t>
            </a:r>
            <a:r>
              <a:rPr lang="en-US" sz="2400" dirty="0" smtClean="0"/>
              <a:t> is the creator of the Python programming language, first released in  the early 1990s.</a:t>
            </a:r>
          </a:p>
          <a:p>
            <a:pPr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Its name comes from a 1970s British comedy sketch television show called Monty Python’s Flying Circus . 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0" y="1785938"/>
            <a:ext cx="262890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History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It was developed in </a:t>
            </a:r>
            <a:r>
              <a:rPr lang="en-US" b="1" dirty="0" smtClean="0"/>
              <a:t>National Research Institute for Mathematics and Computer Science</a:t>
            </a:r>
            <a:r>
              <a:rPr lang="en-US" dirty="0" smtClean="0"/>
              <a:t> in the </a:t>
            </a:r>
            <a:r>
              <a:rPr lang="en-US" b="1" dirty="0" smtClean="0"/>
              <a:t>Netherlands</a:t>
            </a:r>
            <a:r>
              <a:rPr lang="en-US" dirty="0" smtClean="0"/>
              <a:t>. </a:t>
            </a:r>
          </a:p>
          <a:p>
            <a:pPr algn="just"/>
            <a:r>
              <a:rPr lang="en-US" dirty="0" smtClean="0"/>
              <a:t>Python is derived from many other languages, including ABC, Modula-3, C, C++,  Algol-68, </a:t>
            </a:r>
            <a:r>
              <a:rPr lang="en-US" dirty="0" err="1" smtClean="0"/>
              <a:t>SmallTalk</a:t>
            </a:r>
            <a:r>
              <a:rPr lang="en-US" dirty="0" smtClean="0"/>
              <a:t>, and Unix shell and other scripting languages.   </a:t>
            </a:r>
          </a:p>
          <a:p>
            <a:pPr algn="just"/>
            <a:r>
              <a:rPr lang="en-US" dirty="0" smtClean="0"/>
              <a:t>Python 1.0 was released in November 1994. </a:t>
            </a:r>
          </a:p>
          <a:p>
            <a:pPr algn="just"/>
            <a:r>
              <a:rPr lang="en-US" dirty="0" smtClean="0"/>
              <a:t>In 2000, Python 2.0 was released. </a:t>
            </a:r>
          </a:p>
          <a:p>
            <a:pPr algn="just"/>
            <a:r>
              <a:rPr lang="en-US" dirty="0" smtClean="0"/>
              <a:t>Python 2.7.11 is the latest edition of Python 2. </a:t>
            </a:r>
          </a:p>
          <a:p>
            <a:pPr algn="just"/>
            <a:r>
              <a:rPr lang="en-US" dirty="0" smtClean="0"/>
              <a:t>Meanwhile, Python 3.0 was released in 2008. </a:t>
            </a:r>
          </a:p>
          <a:p>
            <a:pPr algn="just"/>
            <a:r>
              <a:rPr lang="en-US" dirty="0" smtClean="0"/>
              <a:t>Python 3 is not backward compatible with Python 2. </a:t>
            </a:r>
          </a:p>
          <a:p>
            <a:pPr algn="just"/>
            <a:r>
              <a:rPr lang="en-US" b="1" smtClean="0"/>
              <a:t>Python 3.9.5</a:t>
            </a:r>
            <a:r>
              <a:rPr lang="en-US" smtClean="0"/>
              <a:t> </a:t>
            </a:r>
            <a:r>
              <a:rPr lang="en-US" dirty="0" smtClean="0"/>
              <a:t>is the latest version of Python 3.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Features of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 smtClean="0"/>
              <a:t>Python is Interpreted:</a:t>
            </a:r>
            <a:r>
              <a:rPr lang="en-US" dirty="0" smtClean="0"/>
              <a:t> Python is processed at runtime by the interpreter. You do not need to compile your program before executing it. This is similar to PERL and PHP. </a:t>
            </a:r>
          </a:p>
          <a:p>
            <a:pPr algn="just">
              <a:buNone/>
            </a:pPr>
            <a:r>
              <a:rPr lang="en-US" dirty="0" smtClean="0"/>
              <a:t> </a:t>
            </a:r>
          </a:p>
          <a:p>
            <a:pPr algn="just"/>
            <a:r>
              <a:rPr lang="en-US" b="1" dirty="0" smtClean="0"/>
              <a:t>Python is Interactive:</a:t>
            </a:r>
            <a:r>
              <a:rPr lang="en-US" dirty="0" smtClean="0"/>
              <a:t> You can actually sit at a Python prompt and interact with the interpreter directly to write your programs. 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b="1" dirty="0" smtClean="0"/>
              <a:t>Python is Object-Oriented:</a:t>
            </a:r>
            <a:r>
              <a:rPr lang="en-US" dirty="0" smtClean="0"/>
              <a:t> Python supports Object-Oriented style or technique of programming that encapsulates code within objects.  </a:t>
            </a:r>
          </a:p>
          <a:p>
            <a:pPr algn="just"/>
            <a:r>
              <a:rPr lang="en-US" b="1" dirty="0" smtClean="0"/>
              <a:t>Python is a Beginner's Language:</a:t>
            </a:r>
            <a:r>
              <a:rPr lang="en-US" dirty="0" smtClean="0"/>
              <a:t> Python is a great language for the beginner-level programmers and supports the development of a wide range of applications from simple text processing to WWW browsers to games.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Features of Python…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/>
              <a:t>A broad standard library:</a:t>
            </a:r>
            <a:r>
              <a:rPr lang="en-US" sz="2400" dirty="0" smtClean="0"/>
              <a:t> Python's bulk of the library is very portable and cross-platform compatible on UNIX, Windows, and Macintosh. </a:t>
            </a:r>
          </a:p>
          <a:p>
            <a:pPr algn="just"/>
            <a:r>
              <a:rPr lang="en-US" sz="2400" b="1" dirty="0" smtClean="0"/>
              <a:t>Portable:</a:t>
            </a:r>
            <a:r>
              <a:rPr lang="en-US" sz="2400" dirty="0" smtClean="0"/>
              <a:t> Python can run on a wide variety of hardware platforms and has the same interface on all platforms. </a:t>
            </a:r>
          </a:p>
          <a:p>
            <a:pPr algn="just"/>
            <a:r>
              <a:rPr lang="en-US" sz="2400" b="1" dirty="0" smtClean="0"/>
              <a:t>Extendable:</a:t>
            </a:r>
            <a:r>
              <a:rPr lang="en-US" sz="2400" dirty="0" smtClean="0"/>
              <a:t> You can add low-level modules to the Python interpreter. These modules enable programmers to add to or customize their tools to be more efficient.  </a:t>
            </a:r>
          </a:p>
          <a:p>
            <a:pPr algn="just"/>
            <a:r>
              <a:rPr lang="en-US" sz="2400" b="1" dirty="0" smtClean="0"/>
              <a:t>Databases:</a:t>
            </a:r>
            <a:r>
              <a:rPr lang="en-US" sz="2400" dirty="0" smtClean="0"/>
              <a:t> Python provides interfaces to all major commercial databases. </a:t>
            </a:r>
          </a:p>
          <a:p>
            <a:pPr algn="just"/>
            <a:r>
              <a:rPr lang="en-US" sz="2400" b="1" dirty="0" smtClean="0"/>
              <a:t>GUI Programming:</a:t>
            </a:r>
            <a:r>
              <a:rPr lang="en-US" sz="2400" dirty="0" smtClean="0"/>
              <a:t> Python supports GUI applications that can be created and ported to many system calls, libraries and windows systems.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Basics of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print Function</a:t>
            </a:r>
          </a:p>
          <a:p>
            <a:pPr lvl="1"/>
            <a:r>
              <a:rPr lang="en-US" dirty="0" smtClean="0"/>
              <a:t>print "Hello World“     </a:t>
            </a:r>
            <a:r>
              <a:rPr lang="en-US" sz="2400" dirty="0" smtClean="0"/>
              <a:t>#is acceptable in Python 2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print ("Hello World")   </a:t>
            </a:r>
            <a:r>
              <a:rPr lang="en-US" sz="2400" dirty="0" smtClean="0"/>
              <a:t># in Python 3, print must be    						followed by ()</a:t>
            </a:r>
            <a:endParaRPr lang="en-US" dirty="0" smtClean="0"/>
          </a:p>
          <a:p>
            <a:pPr lvl="1"/>
            <a:r>
              <a:rPr lang="en-US" dirty="0" smtClean="0"/>
              <a:t>print(x, end=" ")  </a:t>
            </a:r>
            <a:r>
              <a:rPr lang="en-US" sz="2400" dirty="0" smtClean="0"/>
              <a:t># Appends a space instead of a 						newline in Python 3 </a:t>
            </a:r>
            <a:endParaRPr lang="en-US" dirty="0" smtClean="0"/>
          </a:p>
          <a:p>
            <a:pPr>
              <a:buNone/>
            </a:pPr>
            <a:endParaRPr lang="en-US" b="1" dirty="0" smtClean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Basic Input and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name</a:t>
            </a:r>
            <a:r>
              <a:rPr lang="en-US" sz="2800" b="1" dirty="0" smtClean="0"/>
              <a:t>   =  input('</a:t>
            </a:r>
            <a:r>
              <a:rPr lang="en-US" sz="2800" dirty="0" smtClean="0"/>
              <a:t>What is your name?:</a:t>
            </a:r>
            <a:r>
              <a:rPr lang="en-US" sz="2800" b="1" dirty="0" smtClean="0"/>
              <a:t> ')</a:t>
            </a:r>
          </a:p>
          <a:p>
            <a:pPr lvl="1"/>
            <a:r>
              <a:rPr lang="en-US" sz="2400" dirty="0" smtClean="0"/>
              <a:t>Characters within quotes are called strings. </a:t>
            </a:r>
          </a:p>
          <a:p>
            <a:pPr lvl="1"/>
            <a:r>
              <a:rPr lang="en-US" sz="2400" dirty="0" smtClean="0"/>
              <a:t>This particular use of a string, for requesting input from the user, is called a </a:t>
            </a:r>
            <a:r>
              <a:rPr lang="en-US" sz="2400" b="1" dirty="0" smtClean="0"/>
              <a:t>prompt</a:t>
            </a:r>
            <a:r>
              <a:rPr lang="en-US" sz="2400" dirty="0" smtClean="0"/>
              <a:t>. </a:t>
            </a:r>
          </a:p>
          <a:p>
            <a:pPr lvl="1"/>
            <a:r>
              <a:rPr lang="en-US" sz="2400" dirty="0" smtClean="0"/>
              <a:t>The input function displays the string on the screen to prompt the user for input.</a:t>
            </a:r>
          </a:p>
          <a:p>
            <a:pPr lvl="1">
              <a:buNone/>
            </a:pPr>
            <a:endParaRPr lang="en-US" sz="2400" dirty="0" smtClean="0"/>
          </a:p>
          <a:p>
            <a:pPr lvl="1">
              <a:buNone/>
            </a:pPr>
            <a:r>
              <a:rPr lang="en-US" sz="2400" b="1" i="1" dirty="0" smtClean="0"/>
              <a:t>What is your name?:  </a:t>
            </a:r>
            <a:r>
              <a:rPr lang="en-US" sz="2400" b="1" i="1" u="sng" dirty="0" err="1" smtClean="0"/>
              <a:t>Rossum</a:t>
            </a:r>
            <a:endParaRPr lang="en-US" b="1" i="1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&gt;&gt;&gt;  name   </a:t>
            </a:r>
            <a:r>
              <a:rPr lang="en-US" b="1" dirty="0" smtClean="0"/>
              <a:t>=</a:t>
            </a:r>
            <a:r>
              <a:rPr lang="en-US" dirty="0" smtClean="0"/>
              <a:t>  </a:t>
            </a:r>
            <a:r>
              <a:rPr lang="en-US" b="1" dirty="0" smtClean="0"/>
              <a:t>input('</a:t>
            </a:r>
            <a:r>
              <a:rPr lang="en-US" sz="2800" dirty="0" smtClean="0"/>
              <a:t>What is your name?:</a:t>
            </a:r>
            <a:r>
              <a:rPr lang="en-US" dirty="0" smtClean="0"/>
              <a:t> </a:t>
            </a:r>
            <a:r>
              <a:rPr lang="en-US" b="1" dirty="0" smtClean="0"/>
              <a:t>')</a:t>
            </a:r>
            <a:r>
              <a:rPr lang="en-US" dirty="0" smtClean="0"/>
              <a:t> </a:t>
            </a:r>
            <a:endParaRPr lang="en-US" sz="2800" i="1" dirty="0" smtClean="0"/>
          </a:p>
          <a:p>
            <a:pPr>
              <a:buNone/>
            </a:pPr>
            <a:r>
              <a:rPr lang="en-US" sz="2800" i="1" dirty="0" smtClean="0"/>
              <a:t>What is your name?:  </a:t>
            </a:r>
            <a:r>
              <a:rPr lang="en-US" sz="2800" i="1" dirty="0" err="1" smtClean="0"/>
              <a:t>Rossum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&gt;&gt;&gt;  </a:t>
            </a:r>
            <a:r>
              <a:rPr lang="en-US" b="1" dirty="0" smtClean="0"/>
              <a:t>print('</a:t>
            </a:r>
            <a:r>
              <a:rPr lang="en-US" sz="2800" dirty="0" smtClean="0"/>
              <a:t>Hello</a:t>
            </a:r>
            <a:r>
              <a:rPr lang="en-US" dirty="0" smtClean="0"/>
              <a:t>', </a:t>
            </a:r>
            <a:r>
              <a:rPr lang="en-US" sz="2800" dirty="0" smtClean="0"/>
              <a:t>name</a:t>
            </a:r>
            <a:r>
              <a:rPr lang="en-US" b="1" dirty="0" smtClean="0"/>
              <a:t>)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sz="2800" dirty="0" smtClean="0"/>
              <a:t>Hello </a:t>
            </a:r>
            <a:r>
              <a:rPr lang="en-US" sz="2800" dirty="0" err="1" smtClean="0"/>
              <a:t>Rossum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 Python, </a:t>
            </a:r>
            <a:r>
              <a:rPr lang="en-US" sz="2800" b="1" dirty="0" smtClean="0"/>
              <a:t>input()</a:t>
            </a:r>
            <a:r>
              <a:rPr lang="en-US" sz="2800" dirty="0" smtClean="0"/>
              <a:t> is used to request and get information from the user, and </a:t>
            </a:r>
          </a:p>
          <a:p>
            <a:r>
              <a:rPr lang="en-US" sz="2800" b="1" dirty="0" smtClean="0"/>
              <a:t>print()</a:t>
            </a:r>
            <a:r>
              <a:rPr lang="en-US" sz="2800" dirty="0" smtClean="0"/>
              <a:t> is used to display information on the screen.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b="1" u="sng" dirty="0" smtClean="0"/>
              <a:t>NOTE:</a:t>
            </a:r>
            <a:r>
              <a:rPr lang="en-US" sz="2800" dirty="0" smtClean="0"/>
              <a:t> </a:t>
            </a:r>
            <a:r>
              <a:rPr lang="en-US" sz="2800" i="1" dirty="0" smtClean="0"/>
              <a:t>The </a:t>
            </a:r>
            <a:r>
              <a:rPr lang="en-US" sz="2800" b="1" i="1" dirty="0" smtClean="0"/>
              <a:t>input function</a:t>
            </a:r>
            <a:r>
              <a:rPr lang="en-US" sz="2800" i="1" dirty="0" smtClean="0"/>
              <a:t> always </a:t>
            </a:r>
            <a:r>
              <a:rPr lang="en-US" sz="2800" b="1" i="1" dirty="0" smtClean="0"/>
              <a:t>returns</a:t>
            </a:r>
            <a:r>
              <a:rPr lang="en-US" sz="2800" i="1" dirty="0" smtClean="0"/>
              <a:t> what the user enters as a </a:t>
            </a:r>
            <a:r>
              <a:rPr lang="en-US" sz="2800" b="1" i="1" dirty="0" smtClean="0"/>
              <a:t>string</a:t>
            </a:r>
            <a:r>
              <a:rPr lang="en-US" sz="2800" i="1" dirty="0" smtClean="0"/>
              <a:t> of characters.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400" dirty="0" smtClean="0"/>
              <a:t>Example:</a:t>
            </a:r>
            <a:r>
              <a:rPr lang="en-US" sz="2800" dirty="0" smtClean="0"/>
              <a:t>  </a:t>
            </a:r>
            <a:r>
              <a:rPr lang="en-US" sz="2800" b="1" dirty="0" smtClean="0"/>
              <a:t>P</a:t>
            </a:r>
            <a:r>
              <a:rPr lang="en-US" sz="2800" dirty="0" smtClean="0"/>
              <a:t> = </a:t>
            </a:r>
            <a:r>
              <a:rPr lang="en-US" sz="2800" b="1" dirty="0" smtClean="0"/>
              <a:t>int(input(‘</a:t>
            </a:r>
            <a:r>
              <a:rPr lang="en-US" sz="2800" dirty="0" smtClean="0"/>
              <a:t>now u can enter a number</a:t>
            </a:r>
            <a:r>
              <a:rPr lang="en-US" sz="2800" b="1" dirty="0" smtClean="0"/>
              <a:t>’))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/>
              <a:t>Exercise 1:</a:t>
            </a:r>
            <a:r>
              <a:rPr lang="en-US" sz="2800" dirty="0" smtClean="0"/>
              <a:t> Print the following message on the console.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Hello I am: </a:t>
            </a:r>
            <a:r>
              <a:rPr lang="en-US" b="1" i="1" dirty="0" smtClean="0"/>
              <a:t>NAME </a:t>
            </a:r>
            <a:r>
              <a:rPr lang="en-US" b="1" dirty="0" smtClean="0"/>
              <a:t>student of GLA University 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Solution: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name=input(‘enter  your name’) </a:t>
            </a:r>
          </a:p>
          <a:p>
            <a:pPr>
              <a:buNone/>
            </a:pPr>
            <a:r>
              <a:rPr lang="en-US" sz="2800" dirty="0" smtClean="0"/>
              <a:t>print(‘Hello I am ’, name, ‘student of GLA university’)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600" b="1" dirty="0" smtClean="0"/>
              <a:t>&gt;&gt;&gt; x=input("something:") </a:t>
            </a:r>
          </a:p>
          <a:p>
            <a:pPr>
              <a:buNone/>
            </a:pPr>
            <a:r>
              <a:rPr lang="en-US" sz="2600" dirty="0" smtClean="0"/>
              <a:t>	something:'10' #entered data treated as string with or without '' </a:t>
            </a:r>
          </a:p>
          <a:p>
            <a:pPr>
              <a:buNone/>
            </a:pPr>
            <a:r>
              <a:rPr lang="en-US" sz="2600" b="1" dirty="0" smtClean="0"/>
              <a:t>&gt;&gt;&gt; x </a:t>
            </a:r>
          </a:p>
          <a:p>
            <a:pPr>
              <a:buNone/>
            </a:pPr>
            <a:r>
              <a:rPr lang="en-US" sz="2600" dirty="0" smtClean="0"/>
              <a:t>	'10‘</a:t>
            </a:r>
          </a:p>
          <a:p>
            <a:pPr>
              <a:buNone/>
            </a:pPr>
            <a:r>
              <a:rPr lang="en-US" sz="2600" b="1" dirty="0" smtClean="0"/>
              <a:t>&gt;&gt;&gt; x=input("something:") </a:t>
            </a:r>
          </a:p>
          <a:p>
            <a:pPr>
              <a:buNone/>
            </a:pPr>
            <a:r>
              <a:rPr lang="en-US" sz="2600" dirty="0" smtClean="0"/>
              <a:t>something:'10' #entered data treated as string with or without '' </a:t>
            </a:r>
          </a:p>
          <a:p>
            <a:pPr>
              <a:buNone/>
            </a:pPr>
            <a:r>
              <a:rPr lang="en-US" sz="2600" b="1" dirty="0" smtClean="0"/>
              <a:t>&gt;&gt;&gt; x </a:t>
            </a:r>
          </a:p>
          <a:p>
            <a:pPr>
              <a:buNone/>
            </a:pPr>
            <a:r>
              <a:rPr lang="en-US" sz="2600" dirty="0" smtClean="0"/>
              <a:t>"'10'“ 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Python Identifiers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A Python identifier is a name used to identify a variable, function, class, module or other object. </a:t>
            </a:r>
          </a:p>
          <a:p>
            <a:pPr algn="just"/>
            <a:r>
              <a:rPr lang="en-US" sz="2400" dirty="0" smtClean="0"/>
              <a:t>An identifier starts with a letter A to Z or a to z or an underscore (_) followed by zero or more letters, underscores and digits (0 to 9).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400" b="1" dirty="0" smtClean="0"/>
              <a:t>Here are naming conventions for Python identifiers- </a:t>
            </a:r>
          </a:p>
          <a:p>
            <a:pPr algn="just"/>
            <a:r>
              <a:rPr lang="en-US" sz="2400" b="1" dirty="0" smtClean="0"/>
              <a:t>Class names</a:t>
            </a:r>
            <a:r>
              <a:rPr lang="en-US" sz="2400" dirty="0" smtClean="0"/>
              <a:t> start with an </a:t>
            </a:r>
            <a:r>
              <a:rPr lang="en-US" sz="2400" b="1" dirty="0" smtClean="0"/>
              <a:t>uppercase letter</a:t>
            </a:r>
            <a:r>
              <a:rPr lang="en-US" sz="2400" dirty="0" smtClean="0"/>
              <a:t>. </a:t>
            </a:r>
          </a:p>
          <a:p>
            <a:pPr algn="just"/>
            <a:r>
              <a:rPr lang="en-US" sz="2400" dirty="0" smtClean="0"/>
              <a:t>All other identifiers start with a lowercase letter. </a:t>
            </a:r>
          </a:p>
          <a:p>
            <a:pPr algn="just"/>
            <a:r>
              <a:rPr lang="en-US" sz="2400" dirty="0" smtClean="0"/>
              <a:t>Starting an identifier with a </a:t>
            </a:r>
            <a:r>
              <a:rPr lang="en-US" sz="2400" b="1" dirty="0" smtClean="0"/>
              <a:t>single leading underscore</a:t>
            </a:r>
            <a:r>
              <a:rPr lang="en-US" sz="2400" dirty="0" smtClean="0"/>
              <a:t> indicates that the </a:t>
            </a:r>
            <a:r>
              <a:rPr lang="en-US" sz="2400" b="1" dirty="0" smtClean="0"/>
              <a:t>identifier is private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Starting an identifier with </a:t>
            </a:r>
            <a:r>
              <a:rPr lang="en-US" sz="2400" b="1" dirty="0" smtClean="0"/>
              <a:t>two leading underscores</a:t>
            </a:r>
            <a:r>
              <a:rPr lang="en-US" sz="2400" dirty="0" smtClean="0"/>
              <a:t> indicates a </a:t>
            </a:r>
            <a:r>
              <a:rPr lang="en-US" sz="2400" b="1" dirty="0" smtClean="0"/>
              <a:t>strong  private identifier</a:t>
            </a:r>
            <a:r>
              <a:rPr lang="en-US" sz="2400" dirty="0" smtClean="0"/>
              <a:t>. </a:t>
            </a:r>
          </a:p>
          <a:p>
            <a:pPr algn="just"/>
            <a:r>
              <a:rPr lang="en-US" sz="2400" b="1" dirty="0" smtClean="0"/>
              <a:t>If the identifier also ends with two trailing underscores, the identifier is a language-defined special name.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Python Statement, Indentation and Comments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Multi-line statement:  </a:t>
            </a:r>
            <a:r>
              <a:rPr lang="en-US" sz="2400" dirty="0" smtClean="0"/>
              <a:t>In Python, end of a statement is marked by a newline character. </a:t>
            </a:r>
          </a:p>
          <a:p>
            <a:r>
              <a:rPr lang="en-US" sz="2400" dirty="0" smtClean="0"/>
              <a:t>But we can make a statement extend over multiple lines with the line continuation character (\). </a:t>
            </a:r>
          </a:p>
          <a:p>
            <a:pPr>
              <a:buNone/>
            </a:pPr>
            <a:r>
              <a:rPr lang="en-US" sz="2400" b="1" dirty="0" smtClean="0"/>
              <a:t>Example:	</a:t>
            </a:r>
            <a:r>
              <a:rPr lang="en-US" sz="2400" dirty="0" smtClean="0"/>
              <a:t>a = 1 + 2 + 3 + \ </a:t>
            </a:r>
          </a:p>
          <a:p>
            <a:pPr>
              <a:buNone/>
            </a:pPr>
            <a:r>
              <a:rPr lang="en-US" sz="2400" dirty="0" smtClean="0"/>
              <a:t>			      4 + 5 + 6 + \ </a:t>
            </a:r>
          </a:p>
          <a:p>
            <a:pPr>
              <a:buNone/>
            </a:pPr>
            <a:r>
              <a:rPr lang="en-US" sz="2400" dirty="0" smtClean="0"/>
              <a:t>			      7 + 8 + 9 </a:t>
            </a:r>
          </a:p>
          <a:p>
            <a:r>
              <a:rPr lang="en-US" sz="2400" dirty="0" smtClean="0"/>
              <a:t>This is </a:t>
            </a:r>
            <a:r>
              <a:rPr lang="en-US" sz="2400" b="1" dirty="0" smtClean="0"/>
              <a:t>explicit line continuation</a:t>
            </a:r>
            <a:r>
              <a:rPr lang="en-US" sz="2400" dirty="0" smtClean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 Python, line continuation is implied inside parentheses ( ), brackets [ ] and braces { }. </a:t>
            </a:r>
          </a:p>
          <a:p>
            <a:pPr>
              <a:buNone/>
            </a:pPr>
            <a:r>
              <a:rPr lang="en-US" b="1" dirty="0" smtClean="0"/>
              <a:t>Example:          </a:t>
            </a:r>
            <a:r>
              <a:rPr lang="en-US" dirty="0" smtClean="0"/>
              <a:t>a = (1 + 2 + 3 + </a:t>
            </a:r>
          </a:p>
          <a:p>
            <a:pPr>
              <a:buNone/>
            </a:pPr>
            <a:r>
              <a:rPr lang="en-US" dirty="0" smtClean="0"/>
              <a:t>			       4 + 5 + 6 + </a:t>
            </a:r>
          </a:p>
          <a:p>
            <a:pPr>
              <a:buNone/>
            </a:pPr>
            <a:r>
              <a:rPr lang="en-US" dirty="0" smtClean="0"/>
              <a:t>			       7 + 8 + 9) </a:t>
            </a:r>
          </a:p>
          <a:p>
            <a:pPr>
              <a:buNone/>
            </a:pPr>
            <a:r>
              <a:rPr lang="en-US" b="1" dirty="0" smtClean="0"/>
              <a:t>Example:   </a:t>
            </a:r>
            <a:r>
              <a:rPr lang="en-US" dirty="0" smtClean="0"/>
              <a:t>colors = ['red', </a:t>
            </a:r>
          </a:p>
          <a:p>
            <a:pPr>
              <a:buNone/>
            </a:pPr>
            <a:r>
              <a:rPr lang="en-US" dirty="0" smtClean="0"/>
              <a:t>			            'blue', </a:t>
            </a:r>
          </a:p>
          <a:p>
            <a:pPr>
              <a:buNone/>
            </a:pPr>
            <a:r>
              <a:rPr lang="en-US" dirty="0" smtClean="0"/>
              <a:t>			              'green'] </a:t>
            </a:r>
          </a:p>
          <a:p>
            <a:r>
              <a:rPr lang="en-US" dirty="0" smtClean="0"/>
              <a:t>We could also put multiple statements in a single line using semicolons</a:t>
            </a:r>
          </a:p>
          <a:p>
            <a:pPr>
              <a:buNone/>
            </a:pPr>
            <a:r>
              <a:rPr lang="en-US" b="1" dirty="0" smtClean="0"/>
              <a:t>Example:</a:t>
            </a:r>
          </a:p>
          <a:p>
            <a:r>
              <a:rPr lang="en-US" dirty="0" smtClean="0"/>
              <a:t>a = 1; b = 2; c = 3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Indentation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Most of the programming languages like C, C++, Java use braces { } to define a block of code. </a:t>
            </a:r>
          </a:p>
          <a:p>
            <a:r>
              <a:rPr lang="en-US" sz="2400" dirty="0" smtClean="0"/>
              <a:t>Python uses indentation.</a:t>
            </a:r>
          </a:p>
          <a:p>
            <a:r>
              <a:rPr lang="en-US" sz="2400" dirty="0" smtClean="0"/>
              <a:t>A code block (body of a </a:t>
            </a:r>
            <a:r>
              <a:rPr lang="en-US" sz="2400" dirty="0" smtClean="0">
                <a:hlinkClick r:id="rId2" action="ppaction://hlinkfile" tooltip="Python Functions"/>
              </a:rPr>
              <a:t>function</a:t>
            </a:r>
            <a:r>
              <a:rPr lang="en-US" sz="2400" dirty="0" smtClean="0"/>
              <a:t>, </a:t>
            </a:r>
            <a:r>
              <a:rPr lang="en-US" sz="2400" dirty="0" smtClean="0">
                <a:hlinkClick r:id="rId3" action="ppaction://hlinkfile" tooltip="Python for Loop"/>
              </a:rPr>
              <a:t>loop</a:t>
            </a:r>
            <a:r>
              <a:rPr lang="en-US" sz="2400" dirty="0" smtClean="0"/>
              <a:t> etc.) starts with indentation and ends with the first </a:t>
            </a:r>
            <a:r>
              <a:rPr lang="en-US" sz="2400" dirty="0" err="1" smtClean="0"/>
              <a:t>unindented</a:t>
            </a:r>
            <a:r>
              <a:rPr lang="en-US" sz="2400" dirty="0" smtClean="0"/>
              <a:t> line. </a:t>
            </a:r>
          </a:p>
          <a:p>
            <a:r>
              <a:rPr lang="en-US" sz="2400" dirty="0" smtClean="0"/>
              <a:t>The amount of indentation is up to you, but it must be consistent throughout that block.</a:t>
            </a:r>
          </a:p>
          <a:p>
            <a:r>
              <a:rPr lang="en-US" sz="2400" dirty="0" smtClean="0"/>
              <a:t>Generally four whitespaces are used for indentation and is preferred over tabs.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u="sng" dirty="0" smtClean="0"/>
              <a:t>Example 1</a:t>
            </a:r>
            <a:endParaRPr lang="en-US" sz="2800" u="sng" dirty="0" smtClean="0"/>
          </a:p>
          <a:p>
            <a:pPr>
              <a:buNone/>
            </a:pP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for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</a:t>
            </a:r>
            <a:r>
              <a:rPr lang="en-US" sz="2800" dirty="0" err="1" smtClean="0">
                <a:latin typeface="Andale Sans for VST" pitchFamily="34" charset="0"/>
                <a:cs typeface="Aharoni" pitchFamily="2" charset="-79"/>
              </a:rPr>
              <a:t>i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in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range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(1,11)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: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   </a:t>
            </a:r>
          </a:p>
          <a:p>
            <a:pPr>
              <a:buNone/>
            </a:pP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     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print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(</a:t>
            </a:r>
            <a:r>
              <a:rPr lang="en-US" sz="2800" dirty="0" err="1" smtClean="0">
                <a:latin typeface="Andale Sans for VST" pitchFamily="34" charset="0"/>
                <a:cs typeface="Aharoni" pitchFamily="2" charset="-79"/>
              </a:rPr>
              <a:t>i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)    </a:t>
            </a:r>
          </a:p>
          <a:p>
            <a:pPr>
              <a:buNone/>
            </a:pP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     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if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</a:t>
            </a:r>
            <a:r>
              <a:rPr lang="en-US" sz="2800" dirty="0" err="1" smtClean="0">
                <a:latin typeface="Andale Sans for VST" pitchFamily="34" charset="0"/>
                <a:cs typeface="Aharoni" pitchFamily="2" charset="-79"/>
              </a:rPr>
              <a:t>i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== 5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: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       </a:t>
            </a:r>
          </a:p>
          <a:p>
            <a:pPr>
              <a:buNone/>
            </a:pP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         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break</a:t>
            </a:r>
          </a:p>
          <a:p>
            <a:r>
              <a:rPr lang="en-US" sz="2400" u="sng" dirty="0" smtClean="0">
                <a:cs typeface="Aharoni" pitchFamily="2" charset="-79"/>
              </a:rPr>
              <a:t>Example 2</a:t>
            </a:r>
          </a:p>
          <a:p>
            <a:pPr>
              <a:buNone/>
            </a:pP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if True: </a:t>
            </a:r>
          </a:p>
          <a:p>
            <a:pPr>
              <a:buNone/>
            </a:pP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     print('</a:t>
            </a: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Hello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') </a:t>
            </a:r>
          </a:p>
          <a:p>
            <a:pPr>
              <a:buNone/>
            </a:pPr>
            <a:r>
              <a:rPr lang="en-US" sz="2800" dirty="0" smtClean="0">
                <a:latin typeface="Andale Sans for VST" pitchFamily="34" charset="0"/>
                <a:cs typeface="Aharoni" pitchFamily="2" charset="-79"/>
              </a:rPr>
              <a:t>a = 5</a:t>
            </a:r>
            <a:r>
              <a:rPr lang="en-US" sz="2800" b="1" dirty="0" smtClean="0">
                <a:latin typeface="Andale Sans for VST" pitchFamily="34" charset="0"/>
                <a:cs typeface="Aharoni" pitchFamily="2" charset="-79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 smtClean="0"/>
              <a:t>In Python, we use the hash (#) symbol to start writing a comment.</a:t>
            </a:r>
          </a:p>
          <a:p>
            <a:r>
              <a:rPr lang="en-US" sz="2400" dirty="0" smtClean="0"/>
              <a:t>It extends up to the newline character. </a:t>
            </a:r>
          </a:p>
          <a:p>
            <a:r>
              <a:rPr lang="en-US" sz="2400" dirty="0" smtClean="0"/>
              <a:t>Comments are for programmers for better understanding of a program. </a:t>
            </a:r>
          </a:p>
          <a:p>
            <a:r>
              <a:rPr lang="en-US" sz="2400" dirty="0" smtClean="0"/>
              <a:t>Python Interpreter ignores comment. </a:t>
            </a:r>
          </a:p>
          <a:p>
            <a:pPr>
              <a:buNone/>
            </a:pPr>
            <a:r>
              <a:rPr lang="en-US" sz="2400" b="1" dirty="0" smtClean="0">
                <a:latin typeface="Andale Sans for VST" pitchFamily="34" charset="0"/>
              </a:rPr>
              <a:t>#This is a comment </a:t>
            </a:r>
          </a:p>
          <a:p>
            <a:pPr>
              <a:buNone/>
            </a:pPr>
            <a:r>
              <a:rPr lang="en-US" sz="2400" b="1" dirty="0" smtClean="0">
                <a:latin typeface="Andale Sans for VST" pitchFamily="34" charset="0"/>
              </a:rPr>
              <a:t>#print out Hello </a:t>
            </a:r>
          </a:p>
          <a:p>
            <a:pPr>
              <a:buNone/>
            </a:pPr>
            <a:r>
              <a:rPr lang="en-US" sz="2400" b="1" dirty="0" smtClean="0">
                <a:latin typeface="Andale Sans for VST" pitchFamily="34" charset="0"/>
              </a:rPr>
              <a:t>print('</a:t>
            </a:r>
            <a:r>
              <a:rPr lang="en-US" sz="2400" dirty="0" smtClean="0">
                <a:latin typeface="Andale Sans for VST" pitchFamily="34" charset="0"/>
              </a:rPr>
              <a:t>Hello</a:t>
            </a:r>
            <a:r>
              <a:rPr lang="en-US" sz="2400" b="1" dirty="0" smtClean="0">
                <a:latin typeface="Andale Sans for VST" pitchFamily="34" charset="0"/>
              </a:rPr>
              <a:t>')</a:t>
            </a:r>
          </a:p>
          <a:p>
            <a:r>
              <a:rPr lang="en-US" sz="2400" dirty="0" smtClean="0"/>
              <a:t>Another way of doing this is to use triple quotes, either ''' or """.</a:t>
            </a:r>
          </a:p>
          <a:p>
            <a:r>
              <a:rPr lang="en-US" sz="2400" dirty="0" smtClean="0"/>
              <a:t>These triple quotes are generally used for multi-line strings. </a:t>
            </a:r>
          </a:p>
          <a:p>
            <a:r>
              <a:rPr lang="en-US" sz="2400" dirty="0" smtClean="0"/>
              <a:t>But they can be used as multi-line comment as well. </a:t>
            </a:r>
          </a:p>
          <a:p>
            <a:r>
              <a:rPr lang="en-US" sz="2400" dirty="0" smtClean="0"/>
              <a:t>Unless they are not </a:t>
            </a:r>
            <a:r>
              <a:rPr lang="en-US" sz="2400" dirty="0" err="1" smtClean="0"/>
              <a:t>docstrings</a:t>
            </a:r>
            <a:r>
              <a:rPr lang="en-US" sz="2400" dirty="0" smtClean="0"/>
              <a:t>, they do not generate any extra code.</a:t>
            </a:r>
          </a:p>
          <a:p>
            <a:pPr>
              <a:buNone/>
            </a:pPr>
            <a:r>
              <a:rPr lang="en-US" sz="2400" b="1" dirty="0" smtClean="0">
                <a:latin typeface="Andale Sans for VST" pitchFamily="34" charset="0"/>
              </a:rPr>
              <a:t>"""This is also a perfect example of multi-line comments"""</a:t>
            </a:r>
            <a:endParaRPr lang="en-US" sz="2400" b="1" dirty="0">
              <a:latin typeface="Andale Sans for VST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/>
              <a:t>Docstring</a:t>
            </a:r>
            <a:r>
              <a:rPr lang="en-US" sz="3600" b="1" dirty="0" smtClean="0"/>
              <a:t>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Docstring</a:t>
            </a:r>
            <a:r>
              <a:rPr lang="en-US" dirty="0" smtClean="0"/>
              <a:t> is short for documentation string.</a:t>
            </a:r>
          </a:p>
          <a:p>
            <a:r>
              <a:rPr lang="en-US" dirty="0" smtClean="0"/>
              <a:t>It is a </a:t>
            </a:r>
            <a:r>
              <a:rPr lang="en-US" dirty="0" smtClean="0">
                <a:hlinkClick r:id="rId2" action="ppaction://hlinkfile" tooltip="Python Strings"/>
              </a:rPr>
              <a:t>string</a:t>
            </a:r>
            <a:r>
              <a:rPr lang="en-US" dirty="0" smtClean="0"/>
              <a:t> that occurs as the first statement in a module, function, class, or method definition. We must write what a function/class does in the </a:t>
            </a:r>
            <a:r>
              <a:rPr lang="en-US" dirty="0" err="1" smtClean="0"/>
              <a:t>docstring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Triple quotes are used while writing </a:t>
            </a:r>
            <a:r>
              <a:rPr lang="en-US" dirty="0" err="1" smtClean="0"/>
              <a:t>docstrings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For example:</a:t>
            </a:r>
          </a:p>
          <a:p>
            <a:pPr>
              <a:buNone/>
            </a:pPr>
            <a:r>
              <a:rPr lang="en-US" b="1" dirty="0" smtClean="0"/>
              <a:t>In [2]: def double(num):</a:t>
            </a:r>
          </a:p>
          <a:p>
            <a:pPr>
              <a:buNone/>
            </a:pPr>
            <a:r>
              <a:rPr lang="en-US" b="1" dirty="0" smtClean="0"/>
              <a:t>	...:     """Function to the double vale"""</a:t>
            </a:r>
          </a:p>
          <a:p>
            <a:pPr>
              <a:buNone/>
            </a:pPr>
            <a:r>
              <a:rPr lang="en-US" b="1" dirty="0" smtClean="0"/>
              <a:t>   	...:     return 2*num</a:t>
            </a:r>
          </a:p>
          <a:p>
            <a:pPr>
              <a:buNone/>
            </a:pPr>
            <a:r>
              <a:rPr lang="en-US" b="1" dirty="0" smtClean="0"/>
              <a:t>   	...: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In [3]: print(</a:t>
            </a:r>
            <a:r>
              <a:rPr lang="en-US" b="1" dirty="0" err="1" smtClean="0"/>
              <a:t>double.__doc</a:t>
            </a:r>
            <a:r>
              <a:rPr lang="en-US" b="1" dirty="0" smtClean="0"/>
              <a:t>__)</a:t>
            </a:r>
          </a:p>
          <a:p>
            <a:pPr>
              <a:buNone/>
            </a:pPr>
            <a:r>
              <a:rPr lang="en-US" b="1" dirty="0" smtClean="0"/>
              <a:t>	Function to the double vale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and              </a:t>
            </a:r>
            <a:r>
              <a:rPr lang="en-US" sz="2400" b="1" dirty="0" smtClean="0"/>
              <a:t>as</a:t>
            </a:r>
            <a:r>
              <a:rPr lang="en-US" sz="2400" dirty="0" smtClean="0"/>
              <a:t>            assert         </a:t>
            </a:r>
            <a:r>
              <a:rPr lang="en-US" sz="2400" b="1" dirty="0" smtClean="0"/>
              <a:t>break</a:t>
            </a:r>
            <a:r>
              <a:rPr lang="en-US" sz="2400" dirty="0" smtClean="0"/>
              <a:t>      </a:t>
            </a:r>
            <a:r>
              <a:rPr lang="en-US" sz="2400" b="1" dirty="0" smtClean="0"/>
              <a:t>class</a:t>
            </a:r>
            <a:r>
              <a:rPr lang="en-US" sz="2400" dirty="0" smtClean="0"/>
              <a:t>            continue     </a:t>
            </a:r>
          </a:p>
          <a:p>
            <a:pPr>
              <a:buNone/>
            </a:pPr>
            <a:r>
              <a:rPr lang="en-US" sz="2400" b="1" dirty="0" smtClean="0"/>
              <a:t>	</a:t>
            </a:r>
          </a:p>
          <a:p>
            <a:pPr>
              <a:buNone/>
            </a:pPr>
            <a:r>
              <a:rPr lang="en-US" sz="2400" b="1" dirty="0" smtClean="0"/>
              <a:t>def</a:t>
            </a:r>
            <a:r>
              <a:rPr lang="en-US" sz="2400" dirty="0" smtClean="0"/>
              <a:t>              del           </a:t>
            </a:r>
            <a:r>
              <a:rPr lang="en-US" sz="2400" b="1" dirty="0" err="1" smtClean="0"/>
              <a:t>elif</a:t>
            </a:r>
            <a:r>
              <a:rPr lang="en-US" sz="2400" dirty="0" smtClean="0"/>
              <a:t>              </a:t>
            </a:r>
            <a:r>
              <a:rPr lang="en-US" sz="2400" b="1" dirty="0" smtClean="0"/>
              <a:t>else</a:t>
            </a:r>
            <a:r>
              <a:rPr lang="en-US" sz="2400" dirty="0" smtClean="0"/>
              <a:t>         </a:t>
            </a:r>
            <a:r>
              <a:rPr lang="en-US" sz="2400" b="1" dirty="0" smtClean="0"/>
              <a:t>except</a:t>
            </a:r>
            <a:r>
              <a:rPr lang="en-US" sz="2400" dirty="0" smtClean="0"/>
              <a:t>         exec    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finally         </a:t>
            </a:r>
            <a:r>
              <a:rPr lang="en-US" sz="2400" b="1" dirty="0" smtClean="0"/>
              <a:t>for</a:t>
            </a:r>
            <a:r>
              <a:rPr lang="en-US" sz="2400" dirty="0" smtClean="0"/>
              <a:t>            from           global          </a:t>
            </a:r>
            <a:r>
              <a:rPr lang="en-US" sz="2400" b="1" dirty="0" smtClean="0"/>
              <a:t>if </a:t>
            </a:r>
            <a:r>
              <a:rPr lang="en-US" sz="2400" dirty="0" smtClean="0"/>
              <a:t>             </a:t>
            </a:r>
            <a:r>
              <a:rPr lang="en-US" sz="2400" b="1" dirty="0" smtClean="0"/>
              <a:t>import</a:t>
            </a:r>
            <a:r>
              <a:rPr lang="en-US" sz="2400" dirty="0" smtClean="0"/>
              <a:t>           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in</a:t>
            </a:r>
            <a:r>
              <a:rPr lang="en-US" sz="2400" dirty="0" smtClean="0"/>
              <a:t>                 </a:t>
            </a:r>
            <a:r>
              <a:rPr lang="en-US" sz="2400" b="1" dirty="0" smtClean="0"/>
              <a:t>is</a:t>
            </a:r>
            <a:r>
              <a:rPr lang="en-US" sz="2400" dirty="0" smtClean="0"/>
              <a:t>              lambda      nonlocal      </a:t>
            </a:r>
            <a:r>
              <a:rPr lang="en-US" sz="2400" b="1" dirty="0" smtClean="0"/>
              <a:t>not</a:t>
            </a:r>
            <a:r>
              <a:rPr lang="en-US" sz="2400" dirty="0" smtClean="0"/>
              <a:t>          </a:t>
            </a:r>
            <a:r>
              <a:rPr lang="en-US" sz="2400" b="1" dirty="0" smtClean="0"/>
              <a:t>or</a:t>
            </a:r>
            <a:r>
              <a:rPr lang="en-US" sz="2400" dirty="0" smtClean="0"/>
              <a:t>          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pass            raise         </a:t>
            </a:r>
            <a:r>
              <a:rPr lang="en-US" sz="2400" b="1" dirty="0" smtClean="0"/>
              <a:t>return</a:t>
            </a:r>
            <a:r>
              <a:rPr lang="en-US" sz="2400" dirty="0" smtClean="0"/>
              <a:t>        </a:t>
            </a:r>
            <a:r>
              <a:rPr lang="en-US" sz="2400" b="1" dirty="0" smtClean="0"/>
              <a:t>try</a:t>
            </a:r>
            <a:r>
              <a:rPr lang="en-US" sz="2400" dirty="0" smtClean="0"/>
              <a:t>             </a:t>
            </a:r>
            <a:r>
              <a:rPr lang="en-US" sz="2400" b="1" dirty="0" smtClean="0"/>
              <a:t>while</a:t>
            </a:r>
            <a:r>
              <a:rPr lang="en-US" sz="2400" dirty="0" smtClean="0"/>
              <a:t>         </a:t>
            </a:r>
            <a:r>
              <a:rPr lang="en-US" sz="2400" b="1" dirty="0" smtClean="0"/>
              <a:t>with</a:t>
            </a:r>
            <a:r>
              <a:rPr lang="en-US" sz="2400" dirty="0" smtClean="0"/>
              <a:t>  yield           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True</a:t>
            </a:r>
            <a:r>
              <a:rPr lang="en-US" sz="2400" dirty="0" smtClean="0"/>
              <a:t>          </a:t>
            </a:r>
            <a:r>
              <a:rPr lang="en-US" sz="2400" b="1" dirty="0" smtClean="0"/>
              <a:t>False</a:t>
            </a:r>
            <a:r>
              <a:rPr lang="en-US" sz="2400" dirty="0" smtClean="0"/>
              <a:t>         None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 Variables: </a:t>
            </a:r>
            <a:r>
              <a:rPr lang="en-US" sz="2400" dirty="0" smtClean="0"/>
              <a:t>a name that is assigned to a value</a:t>
            </a:r>
          </a:p>
          <a:p>
            <a:pPr>
              <a:buNone/>
            </a:pPr>
            <a:r>
              <a:rPr lang="en-US" sz="2400" b="1" dirty="0" smtClean="0"/>
              <a:t>Ex.       </a:t>
            </a:r>
            <a:r>
              <a:rPr lang="en-US" sz="2400" dirty="0" smtClean="0"/>
              <a:t>A = 50</a:t>
            </a:r>
          </a:p>
          <a:p>
            <a:r>
              <a:rPr lang="en-US" sz="2400" dirty="0" smtClean="0"/>
              <a:t>We don't need to declare a variable before using it. </a:t>
            </a:r>
          </a:p>
          <a:p>
            <a:r>
              <a:rPr lang="en-US" sz="2400" dirty="0" smtClean="0"/>
              <a:t>In Python, we simply assign a value to a variable and it will exist. </a:t>
            </a:r>
          </a:p>
          <a:p>
            <a:r>
              <a:rPr lang="en-US" sz="2400" dirty="0" smtClean="0"/>
              <a:t>We don't even have to declare the type of the variable. </a:t>
            </a:r>
          </a:p>
          <a:p>
            <a:r>
              <a:rPr lang="en-US" sz="2400" dirty="0" smtClean="0"/>
              <a:t>This is handled internally according to the type of value we assign to the variable.</a:t>
            </a:r>
          </a:p>
          <a:p>
            <a:endParaRPr lang="en-US" sz="2400" b="1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u="sng" dirty="0" smtClean="0"/>
              <a:t>Variable assignment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3600" b="1" dirty="0" smtClean="0">
                <a:latin typeface="Andale Sans for VST" pitchFamily="34" charset="0"/>
              </a:rPr>
              <a:t>a = 5 </a:t>
            </a:r>
          </a:p>
          <a:p>
            <a:pPr>
              <a:buNone/>
            </a:pPr>
            <a:r>
              <a:rPr lang="en-US" sz="3600" b="1" dirty="0" smtClean="0">
                <a:latin typeface="Andale Sans for VST" pitchFamily="34" charset="0"/>
              </a:rPr>
              <a:t>	b = 3.2 </a:t>
            </a:r>
          </a:p>
          <a:p>
            <a:pPr>
              <a:buNone/>
            </a:pPr>
            <a:r>
              <a:rPr lang="en-US" sz="3600" b="1" dirty="0" smtClean="0">
                <a:latin typeface="Andale Sans for VST" pitchFamily="34" charset="0"/>
              </a:rPr>
              <a:t>	c = "Hello" </a:t>
            </a:r>
            <a:endParaRPr lang="en-US" b="1" dirty="0" smtClean="0">
              <a:latin typeface="Andale Sans for VST" pitchFamily="34" charset="0"/>
            </a:endParaRPr>
          </a:p>
          <a:p>
            <a:pPr>
              <a:buNone/>
            </a:pPr>
            <a:r>
              <a:rPr lang="en-US" b="1" u="sng" dirty="0" smtClean="0"/>
              <a:t>Multiple assignments</a:t>
            </a:r>
          </a:p>
          <a:p>
            <a:r>
              <a:rPr lang="en-US" dirty="0" smtClean="0"/>
              <a:t>In Python, multiple assignments can be made in a single statement as follows:</a:t>
            </a:r>
          </a:p>
          <a:p>
            <a:pPr>
              <a:buNone/>
            </a:pPr>
            <a:r>
              <a:rPr lang="en-US" sz="3600" b="1" dirty="0" smtClean="0">
                <a:latin typeface="Andale Sans for VST" pitchFamily="34" charset="0"/>
              </a:rPr>
              <a:t>a, b, c = 5, 3.2, "Hello" </a:t>
            </a:r>
          </a:p>
          <a:p>
            <a:r>
              <a:rPr lang="en-US" dirty="0" smtClean="0"/>
              <a:t>If we want to assign the same value to multiple variables at once, we can do this as</a:t>
            </a:r>
          </a:p>
          <a:p>
            <a:pPr>
              <a:buNone/>
            </a:pPr>
            <a:r>
              <a:rPr lang="en-US" b="1" dirty="0" smtClean="0">
                <a:latin typeface="Andale Sans for VST" pitchFamily="34" charset="0"/>
              </a:rPr>
              <a:t>x = y = z = "same" </a:t>
            </a:r>
          </a:p>
          <a:p>
            <a:pPr>
              <a:buNone/>
            </a:pPr>
            <a:r>
              <a:rPr lang="en-US" dirty="0" smtClean="0"/>
              <a:t>This assigns the "same" string to all the three variables.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 types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Values are classified into different </a:t>
            </a:r>
            <a:r>
              <a:rPr lang="en-US" sz="2400" b="1" dirty="0" smtClean="0"/>
              <a:t>classes</a:t>
            </a:r>
            <a:r>
              <a:rPr lang="en-US" sz="2400" dirty="0" smtClean="0"/>
              <a:t>, or </a:t>
            </a:r>
            <a:r>
              <a:rPr lang="en-US" sz="2400" b="1" dirty="0" smtClean="0"/>
              <a:t>data types</a:t>
            </a:r>
            <a:r>
              <a:rPr lang="en-US" sz="2400" dirty="0" smtClean="0"/>
              <a:t>: </a:t>
            </a:r>
          </a:p>
          <a:p>
            <a:r>
              <a:rPr lang="en-US" sz="2400" dirty="0" smtClean="0"/>
              <a:t>We can use the </a:t>
            </a:r>
            <a:r>
              <a:rPr lang="en-US" sz="2800" b="1" dirty="0" smtClean="0"/>
              <a:t>type()</a:t>
            </a:r>
            <a:r>
              <a:rPr lang="en-US" sz="2400" dirty="0" smtClean="0"/>
              <a:t> function to know which class a variable or a value belongs to and </a:t>
            </a:r>
          </a:p>
          <a:p>
            <a:r>
              <a:rPr lang="en-US" sz="2400" dirty="0" smtClean="0"/>
              <a:t>the </a:t>
            </a:r>
            <a:r>
              <a:rPr lang="en-US" sz="2800" b="1" dirty="0" err="1" smtClean="0"/>
              <a:t>isinstance</a:t>
            </a:r>
            <a:r>
              <a:rPr lang="en-US" sz="2800" b="1" dirty="0" smtClean="0"/>
              <a:t>()</a:t>
            </a:r>
            <a:r>
              <a:rPr lang="en-US" sz="2400" dirty="0" smtClean="0"/>
              <a:t> function to check if an object belongs to a particular class.</a:t>
            </a:r>
          </a:p>
          <a:p>
            <a:pPr>
              <a:buNone/>
            </a:pPr>
            <a:endParaRPr lang="en-US" sz="2400" b="1" dirty="0" smtClean="0">
              <a:latin typeface="Andale Sans for VST" pitchFamily="34" charset="0"/>
            </a:endParaRPr>
          </a:p>
          <a:p>
            <a:pPr lvl="1">
              <a:buNone/>
            </a:pPr>
            <a:r>
              <a:rPr lang="en-US" sz="2400" b="1" dirty="0" smtClean="0">
                <a:latin typeface="Andale Sans for VST" pitchFamily="34" charset="0"/>
              </a:rPr>
              <a:t>&gt;&gt;&gt; type("Hello, World!") </a:t>
            </a:r>
          </a:p>
          <a:p>
            <a:pPr lvl="1">
              <a:buNone/>
            </a:pPr>
            <a:r>
              <a:rPr lang="en-US" sz="2400" b="1" dirty="0" err="1" smtClean="0">
                <a:latin typeface="Andale Sans for VST" pitchFamily="34" charset="0"/>
              </a:rPr>
              <a:t>str</a:t>
            </a:r>
            <a:r>
              <a:rPr lang="en-US" sz="2400" b="1" dirty="0" smtClean="0">
                <a:latin typeface="Andale Sans for VST" pitchFamily="34" charset="0"/>
              </a:rPr>
              <a:t> </a:t>
            </a:r>
          </a:p>
          <a:p>
            <a:pPr lvl="1">
              <a:buNone/>
            </a:pPr>
            <a:r>
              <a:rPr lang="en-US" sz="2400" b="1" dirty="0" smtClean="0">
                <a:latin typeface="Andale Sans for VST" pitchFamily="34" charset="0"/>
              </a:rPr>
              <a:t>&gt;&gt;&gt; type(17) </a:t>
            </a:r>
          </a:p>
          <a:p>
            <a:pPr lvl="1">
              <a:buNone/>
            </a:pPr>
            <a:r>
              <a:rPr lang="en-US" sz="2400" b="1" dirty="0" smtClean="0">
                <a:latin typeface="Andale Sans for VST" pitchFamily="34" charset="0"/>
              </a:rPr>
              <a:t>int </a:t>
            </a:r>
            <a:br>
              <a:rPr lang="en-US" sz="2400" b="1" dirty="0" smtClean="0">
                <a:latin typeface="Andale Sans for VST" pitchFamily="34" charset="0"/>
              </a:rPr>
            </a:br>
            <a:endParaRPr lang="en-US" sz="2400" b="1" dirty="0" smtClean="0">
              <a:latin typeface="Andale Sans for VST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Every value in Python has a data-type. </a:t>
            </a:r>
          </a:p>
          <a:p>
            <a:r>
              <a:rPr lang="en-US" sz="2800" dirty="0" smtClean="0"/>
              <a:t>Since everything is an object in Python programming, </a:t>
            </a:r>
          </a:p>
          <a:p>
            <a:r>
              <a:rPr lang="en-US" sz="2800" b="1" dirty="0" smtClean="0"/>
              <a:t>data types are</a:t>
            </a:r>
            <a:r>
              <a:rPr lang="en-US" sz="2800" dirty="0" smtClean="0"/>
              <a:t> actually </a:t>
            </a:r>
            <a:r>
              <a:rPr lang="en-US" sz="2800" b="1" dirty="0" smtClean="0"/>
              <a:t>classes</a:t>
            </a:r>
            <a:r>
              <a:rPr lang="en-US" sz="2800" dirty="0" smtClean="0"/>
              <a:t> and </a:t>
            </a:r>
          </a:p>
          <a:p>
            <a:r>
              <a:rPr lang="en-US" sz="2800" b="1" dirty="0" smtClean="0"/>
              <a:t>variables are instance</a:t>
            </a:r>
            <a:r>
              <a:rPr lang="en-US" sz="2800" dirty="0" smtClean="0"/>
              <a:t> (</a:t>
            </a:r>
            <a:r>
              <a:rPr lang="en-US" sz="2800" b="1" dirty="0" smtClean="0"/>
              <a:t>object</a:t>
            </a:r>
            <a:r>
              <a:rPr lang="en-US" sz="2800" dirty="0" smtClean="0"/>
              <a:t>) of these classes.</a:t>
            </a:r>
          </a:p>
          <a:p>
            <a:r>
              <a:rPr lang="en-US" sz="2800" dirty="0" smtClean="0"/>
              <a:t>Some of the important types are listed below.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Numbers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List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Tuple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Strings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Python 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Dictionary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1" dirty="0" smtClean="0"/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Integers, floating point numbers and complex numbers</a:t>
            </a:r>
          </a:p>
          <a:p>
            <a:r>
              <a:rPr lang="en-US" sz="2400" dirty="0" smtClean="0"/>
              <a:t>They are defined as </a:t>
            </a:r>
            <a:r>
              <a:rPr lang="en-US" sz="2400" b="1" dirty="0" smtClean="0"/>
              <a:t>int, float</a:t>
            </a:r>
            <a:r>
              <a:rPr lang="en-US" sz="2400" dirty="0" smtClean="0"/>
              <a:t> and </a:t>
            </a:r>
            <a:r>
              <a:rPr lang="en-US" sz="2400" b="1" dirty="0" smtClean="0"/>
              <a:t>complex</a:t>
            </a:r>
            <a:r>
              <a:rPr lang="en-US" sz="2400" dirty="0" smtClean="0"/>
              <a:t> class in Python.</a:t>
            </a:r>
          </a:p>
          <a:p>
            <a:pPr>
              <a:buNone/>
            </a:pPr>
            <a:r>
              <a:rPr lang="en-US" sz="2400" b="1" dirty="0" smtClean="0"/>
              <a:t>Ex1. 	a = 5</a:t>
            </a:r>
          </a:p>
          <a:p>
            <a:pPr>
              <a:buNone/>
            </a:pPr>
            <a:r>
              <a:rPr lang="en-US" sz="2400" b="1" dirty="0" smtClean="0"/>
              <a:t>		print(a, "is of type", type(a))  # int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Ex2.     </a:t>
            </a:r>
            <a:r>
              <a:rPr lang="en-US" sz="2400" dirty="0" smtClean="0"/>
              <a:t>b = 2.0</a:t>
            </a:r>
          </a:p>
          <a:p>
            <a:pPr>
              <a:buNone/>
            </a:pPr>
            <a:r>
              <a:rPr lang="en-US" sz="2400" dirty="0" smtClean="0"/>
              <a:t>             print(b, "is of type", type(b))  #float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Ex3.      c = 1+2j</a:t>
            </a:r>
          </a:p>
          <a:p>
            <a:pPr>
              <a:buNone/>
            </a:pPr>
            <a:r>
              <a:rPr lang="en-US" sz="2400" b="1" dirty="0" smtClean="0"/>
              <a:t>             print(</a:t>
            </a:r>
            <a:r>
              <a:rPr lang="en-US" sz="2400" b="1" dirty="0" err="1" smtClean="0"/>
              <a:t>isinstance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c,complex</a:t>
            </a:r>
            <a:r>
              <a:rPr lang="en-US" sz="2400" b="1" dirty="0" smtClean="0"/>
              <a:t>))  #True</a:t>
            </a:r>
          </a:p>
          <a:p>
            <a:endParaRPr lang="en-US" sz="2400" dirty="0" smtClean="0"/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Integers can be of any length, it is only limited by the memory available.</a:t>
            </a:r>
          </a:p>
          <a:p>
            <a:r>
              <a:rPr lang="en-US" sz="2800" dirty="0" smtClean="0"/>
              <a:t>A floating point number is accurate up to 15 decimal places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hlinkClick r:id="rId2" action="ppaction://hlinkfile" tooltip="Python List"/>
              </a:rPr>
              <a:t>List</a:t>
            </a:r>
            <a:r>
              <a:rPr lang="en-US" sz="2400" dirty="0" smtClean="0"/>
              <a:t> is an ordered sequence of items. </a:t>
            </a:r>
          </a:p>
          <a:p>
            <a:r>
              <a:rPr lang="en-US" sz="2400" dirty="0" smtClean="0"/>
              <a:t>It is one of the most used data type in Python and is very flexible. </a:t>
            </a:r>
          </a:p>
          <a:p>
            <a:r>
              <a:rPr lang="en-US" sz="2400" dirty="0" smtClean="0"/>
              <a:t>All the items in a list do not need to be of the same type.</a:t>
            </a:r>
          </a:p>
          <a:p>
            <a:r>
              <a:rPr lang="en-US" sz="2400" dirty="0" smtClean="0"/>
              <a:t>Declaring a list is pretty straight forward. </a:t>
            </a:r>
          </a:p>
          <a:p>
            <a:r>
              <a:rPr lang="en-US" sz="2400" dirty="0" smtClean="0"/>
              <a:t>Items separated by commas are enclosed within brackets [ ].</a:t>
            </a:r>
          </a:p>
          <a:p>
            <a:r>
              <a:rPr lang="en-US" sz="2400" dirty="0" smtClean="0"/>
              <a:t>&gt;&gt;&gt; a = [1, 2.2, 'python'] </a:t>
            </a:r>
          </a:p>
          <a:p>
            <a:r>
              <a:rPr lang="en-US" sz="2400" dirty="0" smtClean="0"/>
              <a:t>We can use the slicing operator [ ] to extract an item or a range of items from a list. </a:t>
            </a:r>
          </a:p>
          <a:p>
            <a:r>
              <a:rPr lang="en-US" sz="2400" dirty="0" smtClean="0"/>
              <a:t>Index starts form 0 in Python.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2400" dirty="0" smtClean="0"/>
              <a:t>In [1]: </a:t>
            </a:r>
            <a:r>
              <a:rPr lang="pt-BR" sz="2400" b="1" dirty="0" smtClean="0"/>
              <a:t>a=[10,20,30,40,45,65,66]</a:t>
            </a:r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r>
              <a:rPr lang="pt-BR" dirty="0" smtClean="0"/>
              <a:t>In [2]: </a:t>
            </a:r>
            <a:r>
              <a:rPr lang="pt-BR" b="1" dirty="0" smtClean="0"/>
              <a:t>print(</a:t>
            </a:r>
            <a:r>
              <a:rPr lang="pt-BR" dirty="0" smtClean="0"/>
              <a:t>a[2]</a:t>
            </a:r>
            <a:r>
              <a:rPr lang="pt-BR" b="1" dirty="0" smtClean="0"/>
              <a:t>)</a:t>
            </a:r>
          </a:p>
          <a:p>
            <a:pPr>
              <a:buNone/>
            </a:pPr>
            <a:r>
              <a:rPr lang="pt-BR" b="1" dirty="0" smtClean="0"/>
              <a:t>30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In [3]: </a:t>
            </a:r>
            <a:r>
              <a:rPr lang="pt-BR" b="1" dirty="0" smtClean="0"/>
              <a:t>print(</a:t>
            </a:r>
            <a:r>
              <a:rPr lang="pt-BR" dirty="0" smtClean="0"/>
              <a:t>a[0:3]</a:t>
            </a:r>
            <a:r>
              <a:rPr lang="pt-BR" b="1" dirty="0" smtClean="0"/>
              <a:t>)</a:t>
            </a:r>
          </a:p>
          <a:p>
            <a:pPr>
              <a:buNone/>
            </a:pPr>
            <a:r>
              <a:rPr lang="pt-BR" b="1" dirty="0" smtClean="0"/>
              <a:t>[10, 20, 30]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In [4]: </a:t>
            </a:r>
            <a:r>
              <a:rPr lang="pt-BR" b="1" dirty="0" smtClean="0"/>
              <a:t>print(</a:t>
            </a:r>
            <a:r>
              <a:rPr lang="pt-BR" dirty="0" smtClean="0"/>
              <a:t>a[2:4]</a:t>
            </a:r>
            <a:r>
              <a:rPr lang="pt-BR" b="1" dirty="0" smtClean="0"/>
              <a:t>)</a:t>
            </a:r>
          </a:p>
          <a:p>
            <a:pPr>
              <a:buNone/>
            </a:pPr>
            <a:r>
              <a:rPr lang="pt-BR" b="1" dirty="0" smtClean="0"/>
              <a:t>[30, 40]</a:t>
            </a:r>
          </a:p>
          <a:p>
            <a:pPr>
              <a:buNone/>
            </a:pPr>
            <a:endParaRPr lang="pt-BR" sz="2400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dirty="0" smtClean="0"/>
              <a:t>In [5]: </a:t>
            </a:r>
            <a:r>
              <a:rPr lang="pt-BR" b="1" dirty="0" smtClean="0"/>
              <a:t>print(</a:t>
            </a:r>
            <a:r>
              <a:rPr lang="pt-BR" dirty="0" smtClean="0"/>
              <a:t>a[2:]</a:t>
            </a:r>
            <a:r>
              <a:rPr lang="pt-BR" b="1" dirty="0" smtClean="0"/>
              <a:t>)</a:t>
            </a:r>
          </a:p>
          <a:p>
            <a:pPr>
              <a:buNone/>
            </a:pPr>
            <a:r>
              <a:rPr lang="pt-BR" b="1" dirty="0" smtClean="0"/>
              <a:t>[30, 40, 45, 65, 66]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In [6]: </a:t>
            </a:r>
            <a:r>
              <a:rPr lang="pt-BR" b="1" dirty="0" smtClean="0"/>
              <a:t>print(</a:t>
            </a:r>
            <a:r>
              <a:rPr lang="pt-BR" dirty="0" smtClean="0"/>
              <a:t>a[1:-3]</a:t>
            </a:r>
            <a:r>
              <a:rPr lang="pt-BR" b="1" dirty="0" smtClean="0"/>
              <a:t>)</a:t>
            </a:r>
          </a:p>
          <a:p>
            <a:pPr>
              <a:buNone/>
            </a:pPr>
            <a:r>
              <a:rPr lang="pt-BR" b="1" dirty="0" smtClean="0"/>
              <a:t>[20, 30, 40]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In [7]: </a:t>
            </a:r>
            <a:r>
              <a:rPr lang="pt-BR" b="1" dirty="0" smtClean="0"/>
              <a:t>print(</a:t>
            </a:r>
            <a:r>
              <a:rPr lang="pt-BR" dirty="0" smtClean="0"/>
              <a:t>a[-6:-3]</a:t>
            </a:r>
            <a:r>
              <a:rPr lang="pt-BR" b="1" dirty="0" smtClean="0"/>
              <a:t>)</a:t>
            </a:r>
          </a:p>
          <a:p>
            <a:pPr>
              <a:buNone/>
            </a:pPr>
            <a:r>
              <a:rPr lang="pt-BR" b="1" dirty="0" smtClean="0"/>
              <a:t>[20, 30, 40]</a:t>
            </a:r>
            <a:endParaRPr lang="en-US" b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Lists are mutable, meaning, value of elements of a list can be altered.</a:t>
            </a:r>
          </a:p>
          <a:p>
            <a:pPr>
              <a:buNone/>
            </a:pPr>
            <a:r>
              <a:rPr lang="en-US" sz="2800" b="1" dirty="0" smtClean="0"/>
              <a:t>&gt;&gt;&gt; a = [1,2,3] </a:t>
            </a:r>
          </a:p>
          <a:p>
            <a:pPr>
              <a:buNone/>
            </a:pPr>
            <a:r>
              <a:rPr lang="en-US" sz="2800" b="1" dirty="0" smtClean="0"/>
              <a:t>&gt;&gt;&gt; a[2]=4 </a:t>
            </a:r>
          </a:p>
          <a:p>
            <a:pPr>
              <a:buNone/>
            </a:pPr>
            <a:r>
              <a:rPr lang="en-US" sz="2800" b="1" dirty="0" smtClean="0"/>
              <a:t>&gt;&gt;&gt; a [1, 2, 4]</a:t>
            </a:r>
            <a:endParaRPr lang="en-US" sz="28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 smtClean="0"/>
              <a:t>Input the values from user in a list</a:t>
            </a:r>
            <a:endParaRPr lang="en-US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L=[int(x) for x in input().split()]</a:t>
            </a:r>
          </a:p>
          <a:p>
            <a:pPr>
              <a:buNone/>
            </a:pPr>
            <a:r>
              <a:rPr lang="en-US" sz="2400" dirty="0" smtClean="0"/>
              <a:t>1 33  555  56666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print(L)</a:t>
            </a:r>
          </a:p>
          <a:p>
            <a:pPr>
              <a:buNone/>
            </a:pPr>
            <a:r>
              <a:rPr lang="en-US" sz="2400" dirty="0" smtClean="0"/>
              <a:t>[1, 33, 555, 56666]</a:t>
            </a:r>
          </a:p>
          <a:p>
            <a:endParaRPr lang="en-US" sz="24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267200" cy="45259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L = []</a:t>
            </a:r>
          </a:p>
          <a:p>
            <a:pPr>
              <a:buNone/>
            </a:pPr>
            <a:r>
              <a:rPr lang="en-US" sz="2400" dirty="0" smtClean="0"/>
              <a:t>for </a:t>
            </a:r>
            <a:r>
              <a:rPr lang="en-US" sz="2400" dirty="0" err="1" smtClean="0"/>
              <a:t>i</a:t>
            </a:r>
            <a:r>
              <a:rPr lang="en-US" sz="2400" dirty="0" smtClean="0"/>
              <a:t> in range(10):</a:t>
            </a:r>
          </a:p>
          <a:p>
            <a:pPr>
              <a:buNone/>
            </a:pPr>
            <a:r>
              <a:rPr lang="en-US" sz="2400" dirty="0" smtClean="0"/>
              <a:t>	a = int(input("</a:t>
            </a:r>
            <a:r>
              <a:rPr lang="en-US" sz="1800" dirty="0" smtClean="0"/>
              <a:t>enter a number. </a:t>
            </a:r>
            <a:r>
              <a:rPr lang="en-US" sz="2400" dirty="0" smtClean="0"/>
              <a:t>"))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L.append</a:t>
            </a:r>
            <a:r>
              <a:rPr lang="en-US" sz="2400" dirty="0" smtClean="0"/>
              <a:t>(a)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 smtClean="0"/>
              <a:t>Multiple input from user</a:t>
            </a:r>
            <a:endParaRPr lang="en-US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a,b,c</a:t>
            </a:r>
            <a:r>
              <a:rPr lang="en-US" dirty="0" smtClean="0"/>
              <a:t>=input("enter three values ").split()</a:t>
            </a:r>
          </a:p>
          <a:p>
            <a:pPr>
              <a:buNone/>
            </a:pPr>
            <a:r>
              <a:rPr lang="en-US" dirty="0" smtClean="0"/>
              <a:t>enter three values 11 22 33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a,b,c</a:t>
            </a:r>
            <a:r>
              <a:rPr lang="en-US" dirty="0" smtClean="0"/>
              <a:t>=[int(a), int(b),int(c)]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a+b+c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66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Fibonacci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def fib(n):</a:t>
            </a:r>
          </a:p>
          <a:p>
            <a:r>
              <a:rPr lang="en-US" dirty="0" smtClean="0"/>
              <a:t>         a=[0,1]</a:t>
            </a:r>
          </a:p>
          <a:p>
            <a:r>
              <a:rPr lang="en-US" dirty="0" smtClean="0"/>
              <a:t>         for </a:t>
            </a:r>
            <a:r>
              <a:rPr lang="en-US" dirty="0" err="1" smtClean="0"/>
              <a:t>i</a:t>
            </a:r>
            <a:r>
              <a:rPr lang="en-US" dirty="0" smtClean="0"/>
              <a:t> in range(2,n):</a:t>
            </a:r>
          </a:p>
          <a:p>
            <a:r>
              <a:rPr lang="en-US" dirty="0" smtClean="0"/>
              <a:t>             </a:t>
            </a:r>
            <a:r>
              <a:rPr lang="en-US" dirty="0" err="1" smtClean="0"/>
              <a:t>a.append</a:t>
            </a:r>
            <a:r>
              <a:rPr lang="en-US" dirty="0" smtClean="0"/>
              <a:t>(a[i-1]+a[i-2])</a:t>
            </a:r>
          </a:p>
          <a:p>
            <a:r>
              <a:rPr lang="en-US" dirty="0" smtClean="0"/>
              <a:t>         else:</a:t>
            </a:r>
          </a:p>
          <a:p>
            <a:r>
              <a:rPr lang="en-US" dirty="0" smtClean="0"/>
              <a:t>             print(a)</a:t>
            </a:r>
          </a:p>
          <a:p>
            <a:endParaRPr lang="en-US" dirty="0" smtClean="0"/>
          </a:p>
          <a:p>
            <a:r>
              <a:rPr lang="en-US" dirty="0" smtClean="0"/>
              <a:t>In [17]: fib(5)</a:t>
            </a:r>
          </a:p>
          <a:p>
            <a:r>
              <a:rPr lang="en-US" dirty="0" smtClean="0"/>
              <a:t>[0, 1, 1, 2, 3]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3.Tuple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hlinkClick r:id="rId2" action="ppaction://hlinkfile"/>
              </a:rPr>
              <a:t>Tuple</a:t>
            </a:r>
            <a:r>
              <a:rPr lang="en-US" dirty="0" smtClean="0"/>
              <a:t> is an ordered sequence of items same as list.</a:t>
            </a:r>
          </a:p>
          <a:p>
            <a:r>
              <a:rPr lang="en-US" dirty="0" smtClean="0"/>
              <a:t>The only difference is that </a:t>
            </a:r>
            <a:r>
              <a:rPr lang="en-US" dirty="0" err="1" smtClean="0"/>
              <a:t>tuples</a:t>
            </a:r>
            <a:r>
              <a:rPr lang="en-US" dirty="0" smtClean="0"/>
              <a:t> are immutable. </a:t>
            </a:r>
          </a:p>
          <a:p>
            <a:r>
              <a:rPr lang="en-US" dirty="0" err="1" smtClean="0"/>
              <a:t>Tuples</a:t>
            </a:r>
            <a:r>
              <a:rPr lang="en-US" dirty="0" smtClean="0"/>
              <a:t> once created cannot be modified.</a:t>
            </a:r>
          </a:p>
          <a:p>
            <a:r>
              <a:rPr lang="en-US" dirty="0" err="1" smtClean="0"/>
              <a:t>Tuples</a:t>
            </a:r>
            <a:r>
              <a:rPr lang="en-US" dirty="0" smtClean="0"/>
              <a:t> are used to write-protect data and are usually faster than list as it cannot change dynamically.</a:t>
            </a:r>
          </a:p>
          <a:p>
            <a:r>
              <a:rPr lang="en-US" dirty="0" smtClean="0"/>
              <a:t>It is defined within parentheses () where items are separated by commas.</a:t>
            </a:r>
          </a:p>
          <a:p>
            <a:r>
              <a:rPr lang="en-US" dirty="0" smtClean="0"/>
              <a:t>&gt;&gt;&gt; t = (5,'program', 1+3j) </a:t>
            </a:r>
          </a:p>
          <a:p>
            <a:r>
              <a:rPr lang="en-US" dirty="0" smtClean="0"/>
              <a:t>We can use the slicing operator [] to extract items but we cannot change its value.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fr-FR" sz="2400" b="1" dirty="0" smtClean="0"/>
              <a:t>t = (5,'program', 1+3j)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r>
              <a:rPr lang="fr-FR" sz="2000" dirty="0" smtClean="0"/>
              <a:t># t[1] = 'program‘</a:t>
            </a:r>
          </a:p>
          <a:p>
            <a:pPr>
              <a:buNone/>
            </a:pPr>
            <a:r>
              <a:rPr lang="fr-FR" sz="2400" b="1" dirty="0" err="1" smtClean="0"/>
              <a:t>print</a:t>
            </a:r>
            <a:r>
              <a:rPr lang="fr-FR" sz="2400" b="1" dirty="0" smtClean="0"/>
              <a:t>("t[1] = ", t[1])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r>
              <a:rPr lang="fr-FR" sz="2000" dirty="0" smtClean="0"/>
              <a:t># t[0:3] = (5, 'program', (1+3j))</a:t>
            </a:r>
          </a:p>
          <a:p>
            <a:pPr>
              <a:buNone/>
            </a:pPr>
            <a:r>
              <a:rPr lang="fr-FR" sz="2400" b="1" dirty="0" err="1" smtClean="0"/>
              <a:t>print</a:t>
            </a:r>
            <a:r>
              <a:rPr lang="fr-FR" sz="2400" b="1" dirty="0" smtClean="0"/>
              <a:t>("t[0:3] = ", t[0:3])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r>
              <a:rPr lang="fr-FR" sz="2000" dirty="0" smtClean="0"/>
              <a:t># </a:t>
            </a:r>
            <a:r>
              <a:rPr lang="fr-FR" sz="2000" dirty="0" err="1" smtClean="0"/>
              <a:t>Generates</a:t>
            </a:r>
            <a:r>
              <a:rPr lang="fr-FR" sz="2000" dirty="0" smtClean="0"/>
              <a:t> </a:t>
            </a:r>
            <a:r>
              <a:rPr lang="fr-FR" sz="2000" dirty="0" err="1" smtClean="0"/>
              <a:t>error</a:t>
            </a: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# </a:t>
            </a:r>
            <a:r>
              <a:rPr lang="fr-FR" sz="2000" dirty="0" err="1" smtClean="0"/>
              <a:t>Tuples</a:t>
            </a:r>
            <a:r>
              <a:rPr lang="fr-FR" sz="2000" dirty="0" smtClean="0"/>
              <a:t> are immutable</a:t>
            </a:r>
          </a:p>
          <a:p>
            <a:pPr>
              <a:buNone/>
            </a:pPr>
            <a:r>
              <a:rPr lang="fr-FR" sz="2400" b="1" dirty="0" smtClean="0"/>
              <a:t>t[0] = 10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4.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hlinkClick r:id="rId2" action="ppaction://hlinkfile"/>
              </a:rPr>
              <a:t>String</a:t>
            </a:r>
            <a:r>
              <a:rPr lang="en-US" dirty="0" smtClean="0"/>
              <a:t> is sequence of Unicode characters. </a:t>
            </a:r>
          </a:p>
          <a:p>
            <a:r>
              <a:rPr lang="en-US" dirty="0" smtClean="0"/>
              <a:t>We can use single quotes or double quotes to represent strings. </a:t>
            </a:r>
          </a:p>
          <a:p>
            <a:r>
              <a:rPr lang="en-US" dirty="0" smtClean="0"/>
              <a:t>Multi-line strings can be denoted using triple quotes, ’’’ or ’’’.</a:t>
            </a:r>
          </a:p>
          <a:p>
            <a:pPr>
              <a:buNone/>
            </a:pPr>
            <a:r>
              <a:rPr lang="en-US" b="1" dirty="0" smtClean="0"/>
              <a:t>&gt;&gt;&gt; s = "This is a string" </a:t>
            </a:r>
          </a:p>
          <a:p>
            <a:pPr>
              <a:buNone/>
            </a:pPr>
            <a:r>
              <a:rPr lang="en-US" b="1" dirty="0" smtClean="0"/>
              <a:t>&gt;&gt;&gt; s = '''a multiline’’’ </a:t>
            </a:r>
          </a:p>
          <a:p>
            <a:r>
              <a:rPr lang="en-US" dirty="0" smtClean="0"/>
              <a:t>Like list and </a:t>
            </a:r>
            <a:r>
              <a:rPr lang="en-US" dirty="0" err="1" smtClean="0"/>
              <a:t>tuple</a:t>
            </a:r>
            <a:r>
              <a:rPr lang="en-US" dirty="0" smtClean="0"/>
              <a:t>, slicing operator [ ] can be used with string. </a:t>
            </a:r>
          </a:p>
          <a:p>
            <a:r>
              <a:rPr lang="en-US" dirty="0" smtClean="0"/>
              <a:t>Strings are immutable.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s = 'Hello world!‘</a:t>
            </a:r>
          </a:p>
          <a:p>
            <a:endParaRPr lang="en-US" dirty="0" smtClean="0"/>
          </a:p>
          <a:p>
            <a:r>
              <a:rPr lang="en-US" dirty="0" smtClean="0"/>
              <a:t># s[4] = 'o‘</a:t>
            </a:r>
          </a:p>
          <a:p>
            <a:pPr>
              <a:buNone/>
            </a:pPr>
            <a:r>
              <a:rPr lang="en-US" b="1" dirty="0" smtClean="0"/>
              <a:t>print("s[4] = ", s[4])</a:t>
            </a:r>
          </a:p>
          <a:p>
            <a:endParaRPr lang="en-US" dirty="0" smtClean="0"/>
          </a:p>
          <a:p>
            <a:r>
              <a:rPr lang="en-US" dirty="0" smtClean="0"/>
              <a:t># s[6:11] = 'world‘</a:t>
            </a:r>
          </a:p>
          <a:p>
            <a:pPr>
              <a:buNone/>
            </a:pPr>
            <a:r>
              <a:rPr lang="en-US" b="1" dirty="0" smtClean="0"/>
              <a:t>print("s[6:11] = ", s[6:11])</a:t>
            </a:r>
          </a:p>
          <a:p>
            <a:endParaRPr lang="en-US" dirty="0" smtClean="0"/>
          </a:p>
          <a:p>
            <a:r>
              <a:rPr lang="en-US" dirty="0" smtClean="0"/>
              <a:t># Generates error</a:t>
            </a:r>
          </a:p>
          <a:p>
            <a:r>
              <a:rPr lang="en-US" dirty="0" smtClean="0"/>
              <a:t># Strings are immutable in Python</a:t>
            </a:r>
          </a:p>
          <a:p>
            <a:pPr>
              <a:buNone/>
            </a:pPr>
            <a:r>
              <a:rPr lang="en-US" b="1" dirty="0" smtClean="0"/>
              <a:t>s[5] ='d'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5.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 action="ppaction://hlinkfile"/>
              </a:rPr>
              <a:t>Set</a:t>
            </a:r>
            <a:r>
              <a:rPr lang="en-US" sz="2400" dirty="0" smtClean="0"/>
              <a:t> is an unordered collection of unique items. </a:t>
            </a:r>
          </a:p>
          <a:p>
            <a:r>
              <a:rPr lang="en-US" sz="2400" dirty="0" smtClean="0"/>
              <a:t>Set is defined by values separated by comma inside braces { }. </a:t>
            </a:r>
          </a:p>
          <a:p>
            <a:r>
              <a:rPr lang="en-US" sz="2400" dirty="0" smtClean="0"/>
              <a:t>Items in a set are not ordered.</a:t>
            </a:r>
          </a:p>
          <a:p>
            <a:pPr>
              <a:buNone/>
            </a:pPr>
            <a:r>
              <a:rPr lang="en-US" sz="2400" b="1" dirty="0" smtClean="0"/>
              <a:t>a = {5,2,3,1,4}</a:t>
            </a:r>
          </a:p>
          <a:p>
            <a:endParaRPr lang="en-US" sz="2400" dirty="0" smtClean="0"/>
          </a:p>
          <a:p>
            <a:r>
              <a:rPr lang="en-US" sz="2400" dirty="0" smtClean="0"/>
              <a:t># printing set variable</a:t>
            </a:r>
          </a:p>
          <a:p>
            <a:pPr>
              <a:buNone/>
            </a:pPr>
            <a:r>
              <a:rPr lang="en-US" sz="2400" b="1" dirty="0" smtClean="0"/>
              <a:t>print("a = ", a)</a:t>
            </a:r>
          </a:p>
          <a:p>
            <a:endParaRPr lang="en-US" sz="2400" dirty="0" smtClean="0"/>
          </a:p>
          <a:p>
            <a:r>
              <a:rPr lang="en-US" sz="2400" dirty="0" smtClean="0"/>
              <a:t># data type of variable a</a:t>
            </a:r>
          </a:p>
          <a:p>
            <a:pPr>
              <a:buNone/>
            </a:pPr>
            <a:r>
              <a:rPr lang="en-US" sz="2400" b="1" dirty="0" smtClean="0"/>
              <a:t>print(type(a))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Since, set are unordered collection, indexing has no meaning. </a:t>
            </a:r>
          </a:p>
          <a:p>
            <a:r>
              <a:rPr lang="en-US" sz="2400" dirty="0" smtClean="0"/>
              <a:t>Hence the slicing operator [] does not work.</a:t>
            </a:r>
          </a:p>
          <a:p>
            <a:r>
              <a:rPr lang="en-US" sz="2400" dirty="0" smtClean="0"/>
              <a:t>We can perform set operations like union, intersection on two sets. </a:t>
            </a:r>
          </a:p>
          <a:p>
            <a:r>
              <a:rPr lang="en-US" sz="2400" dirty="0" smtClean="0"/>
              <a:t>Set have unique values. </a:t>
            </a:r>
          </a:p>
          <a:p>
            <a:r>
              <a:rPr lang="en-US" sz="2400" dirty="0" smtClean="0"/>
              <a:t>They eliminate duplicates.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6.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hlinkClick r:id="rId2" action="ppaction://hlinkfile"/>
              </a:rPr>
              <a:t>Dictionary</a:t>
            </a:r>
            <a:r>
              <a:rPr lang="en-US" dirty="0" smtClean="0"/>
              <a:t> is an unordered collection of key-value pairs.</a:t>
            </a:r>
          </a:p>
          <a:p>
            <a:r>
              <a:rPr lang="en-US" dirty="0" smtClean="0"/>
              <a:t>It is generally used when we have a huge amount of data. </a:t>
            </a:r>
          </a:p>
          <a:p>
            <a:r>
              <a:rPr lang="en-US" dirty="0" smtClean="0"/>
              <a:t>Dictionaries are optimized for retrieving data. </a:t>
            </a:r>
          </a:p>
          <a:p>
            <a:r>
              <a:rPr lang="en-US" dirty="0" smtClean="0"/>
              <a:t>We must know the key to retrieve the value.</a:t>
            </a:r>
          </a:p>
          <a:p>
            <a:r>
              <a:rPr lang="en-US" dirty="0" smtClean="0"/>
              <a:t>In Python, dictionaries are defined within braces {} with each item being a pair in the form </a:t>
            </a:r>
            <a:r>
              <a:rPr lang="en-US" dirty="0" err="1" smtClean="0"/>
              <a:t>key:value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Key and value can be of any type.</a:t>
            </a:r>
          </a:p>
          <a:p>
            <a:pPr>
              <a:buNone/>
            </a:pPr>
            <a:r>
              <a:rPr lang="en-US" b="1" dirty="0" smtClean="0"/>
              <a:t>&gt;&gt;&gt; d = {1:'value','key':2} </a:t>
            </a:r>
          </a:p>
          <a:p>
            <a:pPr>
              <a:buNone/>
            </a:pPr>
            <a:r>
              <a:rPr lang="en-US" b="1" dirty="0" smtClean="0"/>
              <a:t>&gt;&gt;&gt; type(d) &lt;class '</a:t>
            </a:r>
            <a:r>
              <a:rPr lang="en-US" b="1" dirty="0" err="1" smtClean="0"/>
              <a:t>dict</a:t>
            </a:r>
            <a:r>
              <a:rPr lang="en-US" b="1" dirty="0" smtClean="0"/>
              <a:t>'&gt; </a:t>
            </a:r>
          </a:p>
          <a:p>
            <a:r>
              <a:rPr lang="en-US" dirty="0" smtClean="0"/>
              <a:t>We use key to retrieve the respective value. But not the other way around.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d={10:'value', 'key':20}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print(type(d))</a:t>
            </a:r>
          </a:p>
          <a:p>
            <a:pPr>
              <a:buNone/>
            </a:pPr>
            <a:r>
              <a:rPr lang="en-US" dirty="0" smtClean="0"/>
              <a:t>&lt;class '</a:t>
            </a:r>
            <a:r>
              <a:rPr lang="en-US" dirty="0" err="1" smtClean="0"/>
              <a:t>dict</a:t>
            </a:r>
            <a:r>
              <a:rPr lang="en-US" dirty="0" smtClean="0"/>
              <a:t>'&gt;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print(d[10])</a:t>
            </a:r>
          </a:p>
          <a:p>
            <a:pPr>
              <a:buNone/>
            </a:pPr>
            <a:r>
              <a:rPr lang="en-US" dirty="0" smtClean="0"/>
              <a:t>value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print(d['key'])</a:t>
            </a:r>
          </a:p>
          <a:p>
            <a:pPr>
              <a:buNone/>
            </a:pPr>
            <a:r>
              <a:rPr lang="en-US" dirty="0" smtClean="0"/>
              <a:t>20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Some Basic 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r>
              <a:rPr lang="en-US" b="1" dirty="0" smtClean="0"/>
              <a:t>+</a:t>
            </a:r>
            <a:r>
              <a:rPr lang="en-US" dirty="0" smtClean="0"/>
              <a:t>  	(addition), </a:t>
            </a:r>
          </a:p>
          <a:p>
            <a:pPr lvl="1">
              <a:buNone/>
            </a:pPr>
            <a:r>
              <a:rPr lang="en-US" b="1" dirty="0" smtClean="0"/>
              <a:t>-</a:t>
            </a:r>
            <a:r>
              <a:rPr lang="en-US" dirty="0" smtClean="0"/>
              <a:t> 		(subtraction), </a:t>
            </a:r>
          </a:p>
          <a:p>
            <a:pPr lvl="1">
              <a:buNone/>
            </a:pPr>
            <a:r>
              <a:rPr lang="en-US" b="1" dirty="0" smtClean="0"/>
              <a:t>*</a:t>
            </a:r>
            <a:r>
              <a:rPr lang="en-US" dirty="0" smtClean="0"/>
              <a:t> 		(multiplication), </a:t>
            </a:r>
          </a:p>
          <a:p>
            <a:pPr lvl="1">
              <a:buNone/>
            </a:pPr>
            <a:r>
              <a:rPr lang="en-US" b="1" dirty="0" smtClean="0"/>
              <a:t>/</a:t>
            </a:r>
            <a:r>
              <a:rPr lang="en-US" dirty="0" smtClean="0"/>
              <a:t> 		(division),  </a:t>
            </a:r>
          </a:p>
          <a:p>
            <a:pPr lvl="1">
              <a:buNone/>
            </a:pPr>
            <a:r>
              <a:rPr lang="en-US" b="1" dirty="0" smtClean="0"/>
              <a:t>**</a:t>
            </a:r>
            <a:r>
              <a:rPr lang="en-US" dirty="0" smtClean="0"/>
              <a:t> 	(exponentiation)</a:t>
            </a:r>
          </a:p>
          <a:p>
            <a:pPr lvl="1">
              <a:buNone/>
            </a:pPr>
            <a:r>
              <a:rPr lang="en-US" dirty="0" smtClean="0"/>
              <a:t>//    (truncating division)</a:t>
            </a:r>
          </a:p>
          <a:p>
            <a:pPr lvl="1">
              <a:buNone/>
            </a:pPr>
            <a:r>
              <a:rPr lang="en-US" dirty="0" smtClean="0"/>
              <a:t>%    (remainder)</a:t>
            </a:r>
          </a:p>
          <a:p>
            <a:pPr lvl="1">
              <a:buNone/>
            </a:pPr>
            <a:r>
              <a:rPr lang="en-US" b="1" dirty="0" smtClean="0"/>
              <a:t>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8229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Flow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Python if Statement Syntax</a:t>
            </a:r>
          </a:p>
          <a:p>
            <a:pPr lvl="1">
              <a:buNone/>
            </a:pPr>
            <a:r>
              <a:rPr lang="en-US" sz="2400" dirty="0" smtClean="0"/>
              <a:t>if test expression: </a:t>
            </a:r>
          </a:p>
          <a:p>
            <a:pPr lvl="1">
              <a:buNone/>
            </a:pPr>
            <a:r>
              <a:rPr lang="en-US" sz="2400" dirty="0" smtClean="0"/>
              <a:t>	statement(s)</a:t>
            </a:r>
          </a:p>
          <a:p>
            <a:pPr marL="285750" lvl="1">
              <a:buNone/>
            </a:pPr>
            <a:r>
              <a:rPr lang="en-US" sz="2400" b="1" dirty="0" smtClean="0"/>
              <a:t>Example: Python if Statement</a:t>
            </a:r>
          </a:p>
          <a:p>
            <a:pPr marL="285750" lvl="1">
              <a:buNone/>
            </a:pPr>
            <a:r>
              <a:rPr lang="en-US" sz="2400" b="1" dirty="0" smtClean="0"/>
              <a:t># </a:t>
            </a:r>
            <a:r>
              <a:rPr lang="en-US" sz="2400" dirty="0" smtClean="0"/>
              <a:t>If the number is positive, we print an appropriate message</a:t>
            </a:r>
          </a:p>
          <a:p>
            <a:pPr marL="285750" lvl="1">
              <a:buNone/>
            </a:pPr>
            <a:r>
              <a:rPr lang="en-US" sz="2400" b="1" dirty="0" smtClean="0"/>
              <a:t>num = 3</a:t>
            </a:r>
          </a:p>
          <a:p>
            <a:pPr marL="285750" lvl="1">
              <a:buNone/>
            </a:pPr>
            <a:r>
              <a:rPr lang="en-US" sz="2400" b="1" dirty="0" smtClean="0"/>
              <a:t>if num &gt; 0:    </a:t>
            </a:r>
          </a:p>
          <a:p>
            <a:pPr marL="285750" lvl="1">
              <a:buNone/>
            </a:pPr>
            <a:r>
              <a:rPr lang="en-US" sz="2400" b="1" dirty="0" smtClean="0"/>
              <a:t>	print(num, "is a positive number.")</a:t>
            </a:r>
          </a:p>
          <a:p>
            <a:pPr marL="285750" lvl="1">
              <a:buNone/>
            </a:pPr>
            <a:r>
              <a:rPr lang="en-US" sz="2400" b="1" dirty="0" smtClean="0"/>
              <a:t>print("This is always printed.")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276600" cy="47244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Syntax of if...else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b="1" dirty="0" smtClean="0"/>
              <a:t>if</a:t>
            </a:r>
            <a:r>
              <a:rPr lang="en-US" sz="2800" dirty="0" smtClean="0"/>
              <a:t> </a:t>
            </a:r>
            <a:r>
              <a:rPr lang="en-US" sz="2800" dirty="0" err="1" smtClean="0"/>
              <a:t>test_expression</a:t>
            </a:r>
            <a:r>
              <a:rPr lang="en-US" sz="2800" b="1" dirty="0" smtClean="0"/>
              <a:t>: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		Body of if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b="1" dirty="0" smtClean="0"/>
              <a:t>else: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		Body of else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733800" y="1600200"/>
            <a:ext cx="4953000" cy="472440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# Program checks if the number is</a:t>
            </a:r>
          </a:p>
          <a:p>
            <a:pPr marL="0" indent="0">
              <a:buNone/>
            </a:pPr>
            <a:r>
              <a:rPr lang="en-US" sz="2400" dirty="0" smtClean="0"/>
              <a:t># positive or negative And displays an # appropriate message</a:t>
            </a:r>
          </a:p>
          <a:p>
            <a:pPr marL="0" indent="0">
              <a:buNone/>
            </a:pPr>
            <a:r>
              <a:rPr lang="en-US" sz="2400" b="1" dirty="0" smtClean="0"/>
              <a:t>num = 3</a:t>
            </a:r>
          </a:p>
          <a:p>
            <a:pPr marL="0" indent="0">
              <a:buNone/>
            </a:pPr>
            <a:r>
              <a:rPr lang="en-US" sz="2400" b="1" dirty="0" smtClean="0"/>
              <a:t>if num &gt;= 0:    </a:t>
            </a:r>
          </a:p>
          <a:p>
            <a:pPr marL="0" indent="0">
              <a:buNone/>
            </a:pPr>
            <a:r>
              <a:rPr lang="en-US" sz="2400" b="1" dirty="0" smtClean="0"/>
              <a:t>	print("Positive or Zero")</a:t>
            </a:r>
          </a:p>
          <a:p>
            <a:pPr marL="0" indent="0">
              <a:buNone/>
            </a:pPr>
            <a:r>
              <a:rPr lang="en-US" sz="2400" b="1" dirty="0" smtClean="0"/>
              <a:t>else:    </a:t>
            </a:r>
          </a:p>
          <a:p>
            <a:pPr marL="0" indent="0">
              <a:buNone/>
            </a:pPr>
            <a:r>
              <a:rPr lang="en-US" sz="2400" b="1" dirty="0" smtClean="0"/>
              <a:t>	print("Negative number")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Syntax of if...</a:t>
            </a:r>
            <a:r>
              <a:rPr lang="en-US" b="1" dirty="0" err="1" smtClean="0"/>
              <a:t>elif</a:t>
            </a:r>
            <a:r>
              <a:rPr lang="en-US" b="1" dirty="0" smtClean="0"/>
              <a:t>...else</a:t>
            </a:r>
          </a:p>
          <a:p>
            <a:pPr>
              <a:buNone/>
            </a:pPr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 err="1" smtClean="0"/>
              <a:t>test_expression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dirty="0" smtClean="0"/>
              <a:t>	Body of if </a:t>
            </a:r>
          </a:p>
          <a:p>
            <a:pPr>
              <a:buNone/>
            </a:pPr>
            <a:r>
              <a:rPr lang="en-US" dirty="0" err="1" smtClean="0"/>
              <a:t>elif</a:t>
            </a:r>
            <a:r>
              <a:rPr lang="en-US" dirty="0" smtClean="0"/>
              <a:t> </a:t>
            </a:r>
            <a:r>
              <a:rPr lang="en-US" dirty="0" err="1" smtClean="0"/>
              <a:t>test_expression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dirty="0" smtClean="0"/>
              <a:t>	Body of </a:t>
            </a:r>
            <a:r>
              <a:rPr lang="en-US" dirty="0" err="1" smtClean="0"/>
              <a:t>elif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else: </a:t>
            </a:r>
          </a:p>
          <a:p>
            <a:pPr>
              <a:buNone/>
            </a:pPr>
            <a:r>
              <a:rPr lang="en-US" dirty="0" smtClean="0"/>
              <a:t>	Body of else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b="1" u="sng" dirty="0" smtClean="0"/>
              <a:t>Example:</a:t>
            </a:r>
          </a:p>
          <a:p>
            <a:pPr>
              <a:buNone/>
            </a:pPr>
            <a:r>
              <a:rPr lang="en-US" dirty="0" smtClean="0"/>
              <a:t>num = -4.5</a:t>
            </a:r>
          </a:p>
          <a:p>
            <a:pPr>
              <a:buNone/>
            </a:pPr>
            <a:r>
              <a:rPr lang="en-US" dirty="0" smtClean="0"/>
              <a:t>if num &gt; 0:    </a:t>
            </a:r>
          </a:p>
          <a:p>
            <a:pPr>
              <a:buNone/>
            </a:pPr>
            <a:r>
              <a:rPr lang="en-US" dirty="0" smtClean="0"/>
              <a:t>	print("</a:t>
            </a:r>
            <a:r>
              <a:rPr lang="en-US" sz="2400" dirty="0" smtClean="0"/>
              <a:t>Positive number</a:t>
            </a:r>
            <a:r>
              <a:rPr lang="en-US" dirty="0" smtClean="0"/>
              <a:t>")</a:t>
            </a:r>
          </a:p>
          <a:p>
            <a:pPr>
              <a:buNone/>
            </a:pPr>
            <a:r>
              <a:rPr lang="en-US" dirty="0" err="1" smtClean="0"/>
              <a:t>elif</a:t>
            </a:r>
            <a:r>
              <a:rPr lang="en-US" dirty="0" smtClean="0"/>
              <a:t> num == 0:    print("</a:t>
            </a:r>
            <a:r>
              <a:rPr lang="en-US" sz="2400" dirty="0" smtClean="0"/>
              <a:t>Zero</a:t>
            </a:r>
            <a:r>
              <a:rPr lang="en-US" dirty="0" smtClean="0"/>
              <a:t>")</a:t>
            </a:r>
          </a:p>
          <a:p>
            <a:pPr>
              <a:buNone/>
            </a:pPr>
            <a:r>
              <a:rPr lang="en-US" dirty="0" smtClean="0"/>
              <a:t>else:    </a:t>
            </a:r>
          </a:p>
          <a:p>
            <a:pPr>
              <a:buNone/>
            </a:pPr>
            <a:r>
              <a:rPr lang="en-US" dirty="0" smtClean="0"/>
              <a:t>	print("</a:t>
            </a:r>
            <a:r>
              <a:rPr lang="en-US" sz="2400" dirty="0" smtClean="0"/>
              <a:t>Negative number</a:t>
            </a:r>
            <a:r>
              <a:rPr lang="en-US" dirty="0" smtClean="0"/>
              <a:t>")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Python Nested if statements</a:t>
            </a:r>
          </a:p>
          <a:p>
            <a:pPr>
              <a:buNone/>
            </a:pPr>
            <a:r>
              <a:rPr lang="en-US" sz="2800" dirty="0" smtClean="0"/>
              <a:t>num = float(input("Enter a number: ")) </a:t>
            </a:r>
          </a:p>
          <a:p>
            <a:pPr>
              <a:buNone/>
            </a:pPr>
            <a:r>
              <a:rPr lang="en-US" sz="2800" dirty="0" smtClean="0"/>
              <a:t>if num &gt;= 0: </a:t>
            </a:r>
          </a:p>
          <a:p>
            <a:pPr>
              <a:buNone/>
            </a:pPr>
            <a:r>
              <a:rPr lang="en-US" sz="2800" dirty="0" smtClean="0"/>
              <a:t>	if num == 0: </a:t>
            </a:r>
          </a:p>
          <a:p>
            <a:pPr>
              <a:buNone/>
            </a:pPr>
            <a:r>
              <a:rPr lang="en-US" sz="2800" dirty="0" smtClean="0"/>
              <a:t>		print("Zero") </a:t>
            </a:r>
          </a:p>
          <a:p>
            <a:pPr>
              <a:buNone/>
            </a:pPr>
            <a:r>
              <a:rPr lang="en-US" sz="2800" dirty="0" smtClean="0"/>
              <a:t>	else: </a:t>
            </a:r>
          </a:p>
          <a:p>
            <a:pPr>
              <a:buNone/>
            </a:pPr>
            <a:r>
              <a:rPr lang="en-US" sz="2800" dirty="0" smtClean="0"/>
              <a:t>		print("Positive number") </a:t>
            </a:r>
          </a:p>
          <a:p>
            <a:pPr>
              <a:buNone/>
            </a:pPr>
            <a:r>
              <a:rPr lang="en-US" sz="2800" dirty="0" smtClean="0"/>
              <a:t>else: </a:t>
            </a:r>
          </a:p>
          <a:p>
            <a:pPr>
              <a:buNone/>
            </a:pPr>
            <a:r>
              <a:rPr lang="en-US" sz="2800" dirty="0" smtClean="0"/>
              <a:t>	print("Negative number")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Syntax of 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Andale Sans for VST" pitchFamily="34" charset="0"/>
              </a:rPr>
              <a:t>for</a:t>
            </a:r>
            <a:r>
              <a:rPr lang="en-US" sz="2400" dirty="0" smtClean="0">
                <a:latin typeface="Andale Sans for VST" pitchFamily="34" charset="0"/>
              </a:rPr>
              <a:t> target </a:t>
            </a:r>
            <a:r>
              <a:rPr lang="en-US" sz="2400" b="1" dirty="0" smtClean="0">
                <a:latin typeface="Andale Sans for VST" pitchFamily="34" charset="0"/>
              </a:rPr>
              <a:t>in</a:t>
            </a:r>
            <a:r>
              <a:rPr lang="en-US" sz="2400" dirty="0" smtClean="0">
                <a:latin typeface="Andale Sans for VST" pitchFamily="34" charset="0"/>
              </a:rPr>
              <a:t> object:                 </a:t>
            </a:r>
            <a:r>
              <a:rPr lang="en-US" sz="2000" dirty="0" smtClean="0">
                <a:latin typeface="Andale Sans for VST" pitchFamily="34" charset="0"/>
              </a:rPr>
              <a:t># Assign object items to target</a:t>
            </a:r>
          </a:p>
          <a:p>
            <a:pPr>
              <a:buNone/>
            </a:pPr>
            <a:r>
              <a:rPr lang="en-US" sz="2000" dirty="0" smtClean="0">
                <a:latin typeface="Andale Sans for VST" pitchFamily="34" charset="0"/>
              </a:rPr>
              <a:t>    </a:t>
            </a:r>
            <a:r>
              <a:rPr lang="en-US" sz="2400" dirty="0" smtClean="0">
                <a:latin typeface="Andale Sans for VST" pitchFamily="34" charset="0"/>
              </a:rPr>
              <a:t>statements</a:t>
            </a:r>
            <a:r>
              <a:rPr lang="en-US" sz="2000" dirty="0" smtClean="0">
                <a:latin typeface="Andale Sans for VST" pitchFamily="34" charset="0"/>
              </a:rPr>
              <a:t>                               # Repeated loop body: use target</a:t>
            </a:r>
          </a:p>
          <a:p>
            <a:pPr>
              <a:buNone/>
            </a:pPr>
            <a:r>
              <a:rPr lang="en-US" sz="2400" b="1" dirty="0" smtClean="0">
                <a:latin typeface="Andale Sans for VST" pitchFamily="34" charset="0"/>
              </a:rPr>
              <a:t>else:</a:t>
            </a:r>
            <a:r>
              <a:rPr lang="en-US" sz="2000" dirty="0" smtClean="0">
                <a:latin typeface="Andale Sans for VST" pitchFamily="34" charset="0"/>
              </a:rPr>
              <a:t>                                               # Optional else part</a:t>
            </a:r>
          </a:p>
          <a:p>
            <a:pPr>
              <a:buNone/>
            </a:pPr>
            <a:r>
              <a:rPr lang="en-US" sz="2000" dirty="0" smtClean="0">
                <a:latin typeface="Andale Sans for VST" pitchFamily="34" charset="0"/>
              </a:rPr>
              <a:t>    </a:t>
            </a:r>
            <a:r>
              <a:rPr lang="en-US" sz="2400" dirty="0" smtClean="0">
                <a:latin typeface="Andale Sans for VST" pitchFamily="34" charset="0"/>
              </a:rPr>
              <a:t>statements</a:t>
            </a:r>
            <a:r>
              <a:rPr lang="en-US" sz="2000" dirty="0" smtClean="0">
                <a:latin typeface="Andale Sans for VST" pitchFamily="34" charset="0"/>
              </a:rPr>
              <a:t>                                # If we didn't hit a 'break'</a:t>
            </a:r>
            <a:endParaRPr lang="en-US" sz="1800" dirty="0">
              <a:latin typeface="Andale Sans for VST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range(</a:t>
            </a:r>
            <a:r>
              <a:rPr lang="en-US" dirty="0" err="1" smtClean="0"/>
              <a:t>start,stop,step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Default values are </a:t>
            </a:r>
            <a:r>
              <a:rPr lang="en-US" b="1" i="1" dirty="0" smtClean="0"/>
              <a:t>start = 0</a:t>
            </a:r>
            <a:r>
              <a:rPr lang="en-US" dirty="0" smtClean="0"/>
              <a:t> and </a:t>
            </a:r>
            <a:r>
              <a:rPr lang="en-US" b="1" i="1" dirty="0" smtClean="0"/>
              <a:t>step = 1</a:t>
            </a:r>
            <a:r>
              <a:rPr lang="en-US" dirty="0" smtClean="0"/>
              <a:t> and optional</a:t>
            </a:r>
          </a:p>
          <a:p>
            <a:r>
              <a:rPr lang="en-US" dirty="0" smtClean="0"/>
              <a:t>Loop until value is     </a:t>
            </a:r>
            <a:r>
              <a:rPr lang="en-US" b="1" i="1" dirty="0" smtClean="0"/>
              <a:t>stop - 1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Example 1:</a:t>
            </a:r>
          </a:p>
          <a:p>
            <a:pPr>
              <a:buNone/>
            </a:pPr>
            <a:r>
              <a:rPr lang="en-US" dirty="0" err="1" smtClean="0"/>
              <a:t>mysum</a:t>
            </a:r>
            <a:r>
              <a:rPr lang="en-US" dirty="0" smtClean="0"/>
              <a:t> = 0</a:t>
            </a:r>
          </a:p>
          <a:p>
            <a:pPr>
              <a:buNone/>
            </a:pP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b="1" dirty="0" smtClean="0"/>
              <a:t>in range(</a:t>
            </a:r>
            <a:r>
              <a:rPr lang="en-US" dirty="0" smtClean="0"/>
              <a:t>7, 10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mysum</a:t>
            </a:r>
            <a:r>
              <a:rPr lang="en-US" dirty="0" smtClean="0"/>
              <a:t> += </a:t>
            </a:r>
            <a:r>
              <a:rPr lang="en-US" dirty="0" err="1" smtClean="0"/>
              <a:t>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mysum</a:t>
            </a:r>
            <a:r>
              <a:rPr lang="en-US" dirty="0" smtClean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Example 2:</a:t>
            </a:r>
          </a:p>
          <a:p>
            <a:pPr>
              <a:buNone/>
            </a:pPr>
            <a:r>
              <a:rPr lang="en-US" dirty="0" err="1" smtClean="0"/>
              <a:t>mysum</a:t>
            </a:r>
            <a:r>
              <a:rPr lang="en-US" dirty="0" smtClean="0"/>
              <a:t> = 0</a:t>
            </a:r>
          </a:p>
          <a:p>
            <a:pPr>
              <a:buNone/>
            </a:pP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b="1" dirty="0" smtClean="0"/>
              <a:t>in range(</a:t>
            </a:r>
            <a:r>
              <a:rPr lang="en-US" dirty="0" smtClean="0"/>
              <a:t>5, 11, 2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mysum</a:t>
            </a:r>
            <a:r>
              <a:rPr lang="en-US" dirty="0" smtClean="0"/>
              <a:t> += </a:t>
            </a:r>
            <a:r>
              <a:rPr lang="en-US" dirty="0" err="1" smtClean="0"/>
              <a:t>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mysum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for </a:t>
            </a:r>
            <a:r>
              <a:rPr lang="en-US" dirty="0" err="1" smtClean="0"/>
              <a:t>i</a:t>
            </a:r>
            <a:r>
              <a:rPr lang="en-US" b="1" dirty="0" smtClean="0"/>
              <a:t> in range(</a:t>
            </a:r>
            <a:r>
              <a:rPr lang="en-US" dirty="0" smtClean="0"/>
              <a:t>3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b="1" dirty="0" smtClean="0"/>
              <a:t>    print("</a:t>
            </a:r>
            <a:r>
              <a:rPr lang="en-US" dirty="0" smtClean="0"/>
              <a:t>three times</a:t>
            </a:r>
            <a:r>
              <a:rPr lang="en-US" b="1" dirty="0" smtClean="0"/>
              <a:t>")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for </a:t>
            </a:r>
            <a:r>
              <a:rPr lang="en-US" dirty="0" err="1" smtClean="0"/>
              <a:t>i</a:t>
            </a:r>
            <a:r>
              <a:rPr lang="en-US" b="1" dirty="0" smtClean="0"/>
              <a:t> in range(</a:t>
            </a:r>
            <a:r>
              <a:rPr lang="en-US" dirty="0" smtClean="0"/>
              <a:t>1, 5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b="1" dirty="0" smtClean="0"/>
              <a:t>    print("</a:t>
            </a:r>
            <a:r>
              <a:rPr lang="en-US" dirty="0" smtClean="0"/>
              <a:t>four times</a:t>
            </a:r>
            <a:r>
              <a:rPr lang="en-US" b="1" dirty="0" smtClean="0"/>
              <a:t>")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for </a:t>
            </a:r>
            <a:r>
              <a:rPr lang="en-US" dirty="0" err="1" smtClean="0"/>
              <a:t>i</a:t>
            </a:r>
            <a:r>
              <a:rPr lang="en-US" b="1" dirty="0" smtClean="0"/>
              <a:t> in range(</a:t>
            </a:r>
            <a:r>
              <a:rPr lang="en-US" dirty="0" smtClean="0"/>
              <a:t>1, 5, 1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b="1" dirty="0" smtClean="0"/>
              <a:t>    print("</a:t>
            </a:r>
            <a:r>
              <a:rPr lang="en-US" dirty="0" smtClean="0"/>
              <a:t>also four times</a:t>
            </a:r>
            <a:r>
              <a:rPr lang="en-US" b="1" dirty="0" smtClean="0"/>
              <a:t>")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for </a:t>
            </a:r>
            <a:r>
              <a:rPr lang="en-US" dirty="0" err="1" smtClean="0"/>
              <a:t>i</a:t>
            </a:r>
            <a:r>
              <a:rPr lang="en-US" b="1" dirty="0" smtClean="0"/>
              <a:t> in range(</a:t>
            </a:r>
            <a:r>
              <a:rPr lang="en-US" dirty="0" smtClean="0"/>
              <a:t>5, 1, -1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b="1" dirty="0" smtClean="0"/>
              <a:t>    print("</a:t>
            </a:r>
            <a:r>
              <a:rPr lang="en-US" dirty="0" smtClean="0"/>
              <a:t>4 times</a:t>
            </a:r>
            <a:r>
              <a:rPr lang="en-US" b="1" dirty="0" smtClean="0"/>
              <a:t>")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while</a:t>
            </a:r>
            <a:r>
              <a:rPr lang="en-US" dirty="0" smtClean="0"/>
              <a:t> test:                  </a:t>
            </a:r>
            <a:r>
              <a:rPr lang="en-US" sz="2800" dirty="0" smtClean="0"/>
              <a:t># Loop test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statements            </a:t>
            </a:r>
            <a:r>
              <a:rPr lang="en-US" sz="2800" dirty="0" smtClean="0"/>
              <a:t># Loop body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else:</a:t>
            </a:r>
            <a:r>
              <a:rPr lang="en-US" dirty="0" smtClean="0"/>
              <a:t>                           </a:t>
            </a:r>
            <a:r>
              <a:rPr lang="en-US" sz="2800" dirty="0" smtClean="0"/>
              <a:t># Optional else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statements           </a:t>
            </a:r>
            <a:r>
              <a:rPr lang="en-US" sz="2400" dirty="0" smtClean="0"/>
              <a:t># Run if didn't exit loop </a:t>
            </a:r>
            <a:r>
              <a:rPr lang="en-US" sz="2800" dirty="0" smtClean="0"/>
              <a:t>with break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n = input("You're in the Lost Forest. Go left or right? ")</a:t>
            </a:r>
          </a:p>
          <a:p>
            <a:pPr>
              <a:buNone/>
            </a:pPr>
            <a:r>
              <a:rPr lang="en-US" sz="2400" dirty="0" smtClean="0"/>
              <a:t>while n == "right":</a:t>
            </a:r>
          </a:p>
          <a:p>
            <a:pPr>
              <a:buNone/>
            </a:pPr>
            <a:r>
              <a:rPr lang="en-US" sz="2400" dirty="0" smtClean="0"/>
              <a:t>	      n = input("You're in the Lost Forest. Go left or right? ")</a:t>
            </a:r>
          </a:p>
          <a:p>
            <a:pPr>
              <a:buNone/>
            </a:pPr>
            <a:r>
              <a:rPr lang="en-US" sz="2400" dirty="0" smtClean="0"/>
              <a:t>print("You got out of the Lost Forest!")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x='</a:t>
            </a:r>
            <a:r>
              <a:rPr lang="en-US" dirty="0" smtClean="0"/>
              <a:t>computer</a:t>
            </a:r>
            <a:r>
              <a:rPr lang="en-US" b="1" dirty="0" smtClean="0"/>
              <a:t>‘</a:t>
            </a:r>
          </a:p>
          <a:p>
            <a:r>
              <a:rPr lang="en-US" b="1" dirty="0" smtClean="0"/>
              <a:t>while </a:t>
            </a:r>
            <a:r>
              <a:rPr lang="en-US" dirty="0" smtClean="0"/>
              <a:t>x</a:t>
            </a:r>
            <a:r>
              <a:rPr lang="en-US" b="1" dirty="0" smtClean="0"/>
              <a:t>:</a:t>
            </a:r>
          </a:p>
          <a:p>
            <a:r>
              <a:rPr lang="en-US" b="1" dirty="0" smtClean="0"/>
              <a:t>...:     print(</a:t>
            </a:r>
            <a:r>
              <a:rPr lang="en-US" dirty="0" smtClean="0"/>
              <a:t>x</a:t>
            </a:r>
            <a:r>
              <a:rPr lang="en-US" b="1" dirty="0" smtClean="0"/>
              <a:t>)</a:t>
            </a:r>
          </a:p>
          <a:p>
            <a:r>
              <a:rPr lang="en-US" b="1" dirty="0" smtClean="0"/>
              <a:t>...:     </a:t>
            </a:r>
            <a:r>
              <a:rPr lang="en-US" dirty="0" smtClean="0"/>
              <a:t>x</a:t>
            </a:r>
            <a:r>
              <a:rPr lang="en-US" b="1" dirty="0" smtClean="0"/>
              <a:t>=</a:t>
            </a:r>
            <a:r>
              <a:rPr lang="en-US" dirty="0" smtClean="0"/>
              <a:t>x</a:t>
            </a:r>
            <a:r>
              <a:rPr lang="en-US" b="1" dirty="0" smtClean="0"/>
              <a:t>[</a:t>
            </a:r>
            <a:r>
              <a:rPr lang="en-US" dirty="0" smtClean="0"/>
              <a:t>1:</a:t>
            </a:r>
            <a:r>
              <a:rPr lang="en-US" b="1" dirty="0" smtClean="0"/>
              <a:t>]</a:t>
            </a:r>
          </a:p>
          <a:p>
            <a:r>
              <a:rPr lang="en-US" b="1" dirty="0" smtClean="0"/>
              <a:t>...:</a:t>
            </a:r>
          </a:p>
          <a:p>
            <a:r>
              <a:rPr lang="en-US" dirty="0" smtClean="0"/>
              <a:t>computer</a:t>
            </a:r>
          </a:p>
          <a:p>
            <a:r>
              <a:rPr lang="en-US" dirty="0" err="1" smtClean="0"/>
              <a:t>omputer</a:t>
            </a:r>
            <a:endParaRPr lang="en-US" dirty="0" smtClean="0"/>
          </a:p>
          <a:p>
            <a:r>
              <a:rPr lang="en-US" dirty="0" err="1" smtClean="0"/>
              <a:t>mputer</a:t>
            </a:r>
            <a:endParaRPr lang="en-US" dirty="0" smtClean="0"/>
          </a:p>
          <a:p>
            <a:r>
              <a:rPr lang="en-US" dirty="0" err="1" smtClean="0"/>
              <a:t>puter</a:t>
            </a:r>
            <a:endParaRPr lang="en-US" dirty="0" smtClean="0"/>
          </a:p>
          <a:p>
            <a:r>
              <a:rPr lang="en-US" dirty="0" err="1" smtClean="0"/>
              <a:t>uter</a:t>
            </a:r>
            <a:endParaRPr lang="en-US" dirty="0" smtClean="0"/>
          </a:p>
          <a:p>
            <a:r>
              <a:rPr lang="en-US" dirty="0" err="1" smtClean="0"/>
              <a:t>ter</a:t>
            </a:r>
            <a:endParaRPr lang="en-US" dirty="0" smtClean="0"/>
          </a:p>
          <a:p>
            <a:r>
              <a:rPr lang="en-US" dirty="0" err="1" smtClean="0"/>
              <a:t>er</a:t>
            </a:r>
            <a:endParaRPr lang="en-US" dirty="0" smtClean="0"/>
          </a:p>
          <a:p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of else as a flag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/>
              <a:t>y = int(input("enter a value"))</a:t>
            </a:r>
          </a:p>
          <a:p>
            <a:pPr>
              <a:buNone/>
            </a:pPr>
            <a:r>
              <a:rPr lang="en-US" sz="2400" dirty="0" smtClean="0"/>
              <a:t>x = y//2</a:t>
            </a:r>
          </a:p>
          <a:p>
            <a:pPr>
              <a:buNone/>
            </a:pPr>
            <a:r>
              <a:rPr lang="en-US" sz="2400" dirty="0" smtClean="0"/>
              <a:t>while(x&gt;1):</a:t>
            </a:r>
          </a:p>
          <a:p>
            <a:pPr>
              <a:buNone/>
            </a:pPr>
            <a:r>
              <a:rPr lang="en-US" sz="2400" dirty="0" smtClean="0"/>
              <a:t>     if </a:t>
            </a:r>
            <a:r>
              <a:rPr lang="en-US" sz="2400" dirty="0" err="1" smtClean="0"/>
              <a:t>y%x</a:t>
            </a:r>
            <a:r>
              <a:rPr lang="en-US" sz="2400" dirty="0" smtClean="0"/>
              <a:t>==0:</a:t>
            </a:r>
          </a:p>
          <a:p>
            <a:pPr>
              <a:buNone/>
            </a:pPr>
            <a:r>
              <a:rPr lang="en-US" sz="2400" dirty="0" smtClean="0"/>
              <a:t>         print(</a:t>
            </a:r>
            <a:r>
              <a:rPr lang="en-US" sz="2400" dirty="0" err="1" smtClean="0"/>
              <a:t>y,'has</a:t>
            </a:r>
            <a:r>
              <a:rPr lang="en-US" sz="2400" dirty="0" smtClean="0"/>
              <a:t> factor', x)</a:t>
            </a:r>
          </a:p>
          <a:p>
            <a:pPr>
              <a:buNone/>
            </a:pPr>
            <a:r>
              <a:rPr lang="en-US" sz="2400" dirty="0" smtClean="0"/>
              <a:t>         break</a:t>
            </a:r>
          </a:p>
          <a:p>
            <a:pPr>
              <a:buNone/>
            </a:pPr>
            <a:r>
              <a:rPr lang="en-US" sz="2400" dirty="0" smtClean="0"/>
              <a:t>     x=x-1</a:t>
            </a:r>
          </a:p>
          <a:p>
            <a:pPr>
              <a:buNone/>
            </a:pPr>
            <a:r>
              <a:rPr lang="en-US" sz="2400" dirty="0" smtClean="0"/>
              <a:t>else:</a:t>
            </a:r>
          </a:p>
          <a:p>
            <a:pPr>
              <a:buNone/>
            </a:pPr>
            <a:r>
              <a:rPr lang="en-US" sz="2400" dirty="0" smtClean="0"/>
              <a:t>     print(</a:t>
            </a:r>
            <a:r>
              <a:rPr lang="en-US" sz="2400" dirty="0" err="1" smtClean="0"/>
              <a:t>y,'is</a:t>
            </a:r>
            <a:r>
              <a:rPr lang="en-US" sz="2400" dirty="0" smtClean="0"/>
              <a:t> a prime no')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200" b="1" dirty="0" smtClean="0"/>
              <a:t># Program to find the sum of all numbers stored in a list</a:t>
            </a:r>
          </a:p>
          <a:p>
            <a:pPr>
              <a:buNone/>
            </a:pPr>
            <a:r>
              <a:rPr lang="en-US" sz="2200" b="1" dirty="0" smtClean="0"/>
              <a:t># List of numbers</a:t>
            </a:r>
          </a:p>
          <a:p>
            <a:pPr>
              <a:buNone/>
            </a:pPr>
            <a:r>
              <a:rPr lang="en-US" sz="3500" i="1" dirty="0" smtClean="0"/>
              <a:t>numbers = [6, 5, 3, 8, 4, 2, 5, 4, 11]</a:t>
            </a:r>
          </a:p>
          <a:p>
            <a:pPr>
              <a:buNone/>
            </a:pPr>
            <a:endParaRPr lang="en-US" sz="2200" b="1" dirty="0" smtClean="0"/>
          </a:p>
          <a:p>
            <a:pPr>
              <a:buNone/>
            </a:pPr>
            <a:r>
              <a:rPr lang="en-US" sz="2200" b="1" dirty="0" smtClean="0"/>
              <a:t># variable to store the sum</a:t>
            </a:r>
            <a:endParaRPr lang="en-US" sz="3000" b="1" dirty="0" smtClean="0"/>
          </a:p>
          <a:p>
            <a:pPr>
              <a:buNone/>
            </a:pPr>
            <a:r>
              <a:rPr lang="en-US" i="1" dirty="0" smtClean="0"/>
              <a:t>sum = 0</a:t>
            </a:r>
          </a:p>
          <a:p>
            <a:pPr>
              <a:buNone/>
            </a:pPr>
            <a:endParaRPr lang="en-US" sz="2200" b="1" dirty="0" smtClean="0"/>
          </a:p>
          <a:p>
            <a:pPr>
              <a:buNone/>
            </a:pPr>
            <a:r>
              <a:rPr lang="en-US" sz="2200" b="1" dirty="0" smtClean="0"/>
              <a:t># iterate over the list</a:t>
            </a:r>
            <a:endParaRPr lang="en-US" sz="3000" b="1" dirty="0" smtClean="0"/>
          </a:p>
          <a:p>
            <a:pPr>
              <a:buNone/>
            </a:pPr>
            <a:r>
              <a:rPr lang="en-US" b="1" i="1" dirty="0" smtClean="0"/>
              <a:t>for</a:t>
            </a:r>
            <a:r>
              <a:rPr lang="en-US" i="1" dirty="0" smtClean="0"/>
              <a:t> </a:t>
            </a:r>
            <a:r>
              <a:rPr lang="en-US" i="1" dirty="0" err="1" smtClean="0"/>
              <a:t>val</a:t>
            </a:r>
            <a:r>
              <a:rPr lang="en-US" i="1" dirty="0" smtClean="0"/>
              <a:t> </a:t>
            </a:r>
            <a:r>
              <a:rPr lang="en-US" b="1" i="1" dirty="0" smtClean="0"/>
              <a:t>in</a:t>
            </a:r>
            <a:r>
              <a:rPr lang="en-US" i="1" dirty="0" smtClean="0"/>
              <a:t> numbers:	</a:t>
            </a:r>
          </a:p>
          <a:p>
            <a:pPr>
              <a:buNone/>
            </a:pPr>
            <a:r>
              <a:rPr lang="en-US" i="1" dirty="0" smtClean="0"/>
              <a:t>	   sum = </a:t>
            </a:r>
            <a:r>
              <a:rPr lang="en-US" i="1" dirty="0" err="1" smtClean="0"/>
              <a:t>sum+val</a:t>
            </a:r>
            <a:endParaRPr lang="en-US" i="1" dirty="0" smtClean="0"/>
          </a:p>
          <a:p>
            <a:pPr>
              <a:buNone/>
            </a:pPr>
            <a:endParaRPr lang="en-US" sz="2200" b="1" dirty="0" smtClean="0"/>
          </a:p>
          <a:p>
            <a:pPr>
              <a:buNone/>
            </a:pPr>
            <a:r>
              <a:rPr lang="en-US" sz="2200" b="1" dirty="0" smtClean="0"/>
              <a:t># Output: The sum is 48</a:t>
            </a:r>
          </a:p>
          <a:p>
            <a:pPr>
              <a:buNone/>
            </a:pPr>
            <a:r>
              <a:rPr lang="en-US" dirty="0" smtClean="0"/>
              <a:t>print("The sum is", sum)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and for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Iterate through numbers in a sequence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400" b="1" dirty="0" smtClean="0"/>
              <a:t># more complicated with while loop</a:t>
            </a:r>
          </a:p>
          <a:p>
            <a:pPr>
              <a:buNone/>
            </a:pPr>
            <a:r>
              <a:rPr lang="en-US" dirty="0" smtClean="0"/>
              <a:t>n = 0</a:t>
            </a:r>
          </a:p>
          <a:p>
            <a:pPr>
              <a:buNone/>
            </a:pPr>
            <a:r>
              <a:rPr lang="en-US" b="1" dirty="0" smtClean="0"/>
              <a:t>while</a:t>
            </a:r>
            <a:r>
              <a:rPr lang="en-US" dirty="0" smtClean="0"/>
              <a:t> n &lt; 5: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print(</a:t>
            </a:r>
            <a:r>
              <a:rPr lang="en-US" dirty="0" smtClean="0"/>
              <a:t>n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dirty="0" smtClean="0"/>
              <a:t>		n = n+1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400" b="1" dirty="0" smtClean="0"/>
              <a:t># shortcut with for loop</a:t>
            </a:r>
            <a:endParaRPr lang="en-US" sz="2800" b="1" dirty="0" smtClean="0"/>
          </a:p>
          <a:p>
            <a:pPr>
              <a:buNone/>
            </a:pPr>
            <a:r>
              <a:rPr lang="en-US" b="1" dirty="0" smtClean="0"/>
              <a:t>for</a:t>
            </a:r>
            <a:r>
              <a:rPr lang="en-US" dirty="0" smtClean="0"/>
              <a:t> n </a:t>
            </a:r>
            <a:r>
              <a:rPr lang="en-US" b="1" dirty="0" smtClean="0"/>
              <a:t>in</a:t>
            </a:r>
            <a:r>
              <a:rPr lang="en-US" dirty="0" smtClean="0"/>
              <a:t> </a:t>
            </a:r>
            <a:r>
              <a:rPr lang="en-US" b="1" dirty="0" smtClean="0"/>
              <a:t>range(</a:t>
            </a:r>
            <a:r>
              <a:rPr lang="en-US" dirty="0" smtClean="0"/>
              <a:t>5</a:t>
            </a:r>
            <a:r>
              <a:rPr lang="en-US" b="1" dirty="0" smtClean="0"/>
              <a:t>):</a:t>
            </a:r>
          </a:p>
          <a:p>
            <a:pPr>
              <a:buNone/>
            </a:pPr>
            <a:r>
              <a:rPr lang="en-US" b="1" dirty="0" smtClean="0"/>
              <a:t>print(</a:t>
            </a:r>
            <a:r>
              <a:rPr lang="en-US" dirty="0" smtClean="0"/>
              <a:t>n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for loop with 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A for loop can have an optional else block as well. </a:t>
            </a:r>
          </a:p>
          <a:p>
            <a:r>
              <a:rPr lang="en-US" sz="2400" dirty="0" smtClean="0"/>
              <a:t>The else part is executed if the items in the sequence used in for loop exhausts.</a:t>
            </a:r>
          </a:p>
          <a:p>
            <a:r>
              <a:rPr lang="en-US" sz="2400" dirty="0" smtClean="0"/>
              <a:t>break statement can be used to stop a for loop. </a:t>
            </a:r>
          </a:p>
          <a:p>
            <a:r>
              <a:rPr lang="en-US" sz="2400" dirty="0" smtClean="0"/>
              <a:t>In such case, the else part is ignored.</a:t>
            </a:r>
          </a:p>
          <a:p>
            <a:r>
              <a:rPr lang="en-US" sz="2400" dirty="0" smtClean="0"/>
              <a:t>Hence, a for loop's else part runs if no break occurs.</a:t>
            </a:r>
          </a:p>
          <a:p>
            <a:pPr>
              <a:buNone/>
            </a:pPr>
            <a:r>
              <a:rPr lang="en-US" sz="3000" dirty="0" smtClean="0"/>
              <a:t>digits = [0, 1, 5]</a:t>
            </a:r>
          </a:p>
          <a:p>
            <a:pPr>
              <a:buNone/>
            </a:pPr>
            <a:r>
              <a:rPr lang="en-US" sz="3000" dirty="0" smtClean="0"/>
              <a:t>for </a:t>
            </a:r>
            <a:r>
              <a:rPr lang="en-US" sz="3000" dirty="0" err="1" smtClean="0"/>
              <a:t>i</a:t>
            </a:r>
            <a:r>
              <a:rPr lang="en-US" sz="3000" dirty="0" smtClean="0"/>
              <a:t> in digits:    </a:t>
            </a:r>
          </a:p>
          <a:p>
            <a:pPr>
              <a:buNone/>
            </a:pPr>
            <a:r>
              <a:rPr lang="en-US" sz="3000" dirty="0" smtClean="0"/>
              <a:t>	   print(</a:t>
            </a:r>
            <a:r>
              <a:rPr lang="en-US" sz="3000" dirty="0" err="1" smtClean="0"/>
              <a:t>i</a:t>
            </a:r>
            <a:r>
              <a:rPr lang="en-US" sz="3000" dirty="0" smtClean="0"/>
              <a:t>)</a:t>
            </a:r>
          </a:p>
          <a:p>
            <a:pPr>
              <a:buNone/>
            </a:pPr>
            <a:r>
              <a:rPr lang="en-US" sz="3000" dirty="0" smtClean="0"/>
              <a:t>else:    </a:t>
            </a:r>
          </a:p>
          <a:p>
            <a:pPr>
              <a:buNone/>
            </a:pPr>
            <a:r>
              <a:rPr lang="en-US" sz="3000" dirty="0" smtClean="0"/>
              <a:t>	   print("No items left.")</a:t>
            </a:r>
            <a:endParaRPr 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15001" y="3657600"/>
            <a:ext cx="2819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When you run the program, </a:t>
            </a:r>
          </a:p>
          <a:p>
            <a:r>
              <a:rPr lang="en-US" b="1" u="sng" dirty="0" smtClean="0"/>
              <a:t>the output will be:</a:t>
            </a:r>
          </a:p>
          <a:p>
            <a:r>
              <a:rPr lang="en-US" sz="2400" b="1" dirty="0" smtClean="0"/>
              <a:t>0</a:t>
            </a:r>
          </a:p>
          <a:p>
            <a:r>
              <a:rPr lang="en-US" sz="2400" b="1" dirty="0" smtClean="0"/>
              <a:t>1 </a:t>
            </a:r>
          </a:p>
          <a:p>
            <a:r>
              <a:rPr lang="en-US" sz="2400" b="1" dirty="0" smtClean="0"/>
              <a:t>5 </a:t>
            </a:r>
          </a:p>
          <a:p>
            <a:r>
              <a:rPr lang="en-US" sz="2400" b="1" dirty="0" smtClean="0"/>
              <a:t>No items left.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break and continue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 Python, break and continue statements can alter the flow of a normal loop.</a:t>
            </a:r>
          </a:p>
          <a:p>
            <a:r>
              <a:rPr lang="en-US" sz="2800" dirty="0" smtClean="0"/>
              <a:t>Loops iterate over a block of code until test expression is false, but </a:t>
            </a:r>
          </a:p>
          <a:p>
            <a:pPr lvl="1"/>
            <a:r>
              <a:rPr lang="en-US" sz="2400" dirty="0" smtClean="0"/>
              <a:t>terminate the current iteration or </a:t>
            </a:r>
          </a:p>
          <a:p>
            <a:pPr lvl="1"/>
            <a:r>
              <a:rPr lang="en-US" sz="2400" dirty="0" smtClean="0"/>
              <a:t>even the whole loop without checking test expression.</a:t>
            </a:r>
          </a:p>
          <a:p>
            <a:r>
              <a:rPr lang="en-US" sz="2800" dirty="0" smtClean="0"/>
              <a:t>The </a:t>
            </a:r>
            <a:r>
              <a:rPr lang="en-US" sz="2800" b="1" dirty="0" smtClean="0"/>
              <a:t>break</a:t>
            </a:r>
            <a:r>
              <a:rPr lang="en-US" sz="2800" dirty="0" smtClean="0"/>
              <a:t> and continue statements are used in these cases.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# Use of break statement inside loop</a:t>
            </a:r>
          </a:p>
          <a:p>
            <a:pPr>
              <a:buNone/>
            </a:pP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b="1" dirty="0" smtClean="0"/>
              <a:t>in</a:t>
            </a:r>
            <a:r>
              <a:rPr lang="en-US" dirty="0" smtClean="0"/>
              <a:t> "string":   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b="1" dirty="0" smtClean="0"/>
              <a:t>== </a:t>
            </a:r>
            <a:r>
              <a:rPr lang="en-US" dirty="0" smtClean="0"/>
              <a:t>"</a:t>
            </a:r>
            <a:r>
              <a:rPr lang="en-US" dirty="0" err="1" smtClean="0"/>
              <a:t>i</a:t>
            </a:r>
            <a:r>
              <a:rPr lang="en-US" dirty="0" smtClean="0"/>
              <a:t>":       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break</a:t>
            </a:r>
            <a:r>
              <a:rPr lang="en-US" dirty="0" smtClean="0"/>
              <a:t>   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print(</a:t>
            </a:r>
            <a:r>
              <a:rPr lang="en-US" dirty="0" err="1" smtClean="0"/>
              <a:t>val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print("</a:t>
            </a:r>
            <a:r>
              <a:rPr lang="en-US" dirty="0" smtClean="0"/>
              <a:t>The end</a:t>
            </a:r>
            <a:r>
              <a:rPr lang="en-US" b="1" dirty="0" smtClean="0"/>
              <a:t>")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continue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# </a:t>
            </a:r>
            <a:r>
              <a:rPr lang="en-US" sz="2400" dirty="0" smtClean="0"/>
              <a:t>Program to show the use of continue statement inside loop</a:t>
            </a:r>
          </a:p>
          <a:p>
            <a:pPr>
              <a:buNone/>
            </a:pP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b="1" dirty="0" smtClean="0"/>
              <a:t> </a:t>
            </a:r>
            <a:r>
              <a:rPr lang="en-US" dirty="0" smtClean="0"/>
              <a:t> "string":    </a:t>
            </a:r>
          </a:p>
          <a:p>
            <a:pPr>
              <a:buNone/>
            </a:pPr>
            <a:r>
              <a:rPr lang="en-US" dirty="0" smtClean="0"/>
              <a:t>	   </a:t>
            </a:r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b="1" dirty="0" smtClean="0"/>
              <a:t>==</a:t>
            </a:r>
            <a:r>
              <a:rPr lang="en-US" dirty="0" smtClean="0"/>
              <a:t> "</a:t>
            </a:r>
            <a:r>
              <a:rPr lang="en-US" dirty="0" err="1" smtClean="0"/>
              <a:t>i</a:t>
            </a:r>
            <a:r>
              <a:rPr lang="en-US" dirty="0" smtClean="0"/>
              <a:t>":        </a:t>
            </a:r>
          </a:p>
          <a:p>
            <a:pPr>
              <a:buNone/>
            </a:pPr>
            <a:r>
              <a:rPr lang="en-US" dirty="0" smtClean="0"/>
              <a:t>	          </a:t>
            </a:r>
            <a:r>
              <a:rPr lang="en-US" b="1" dirty="0" smtClean="0"/>
              <a:t>continue</a:t>
            </a:r>
            <a:r>
              <a:rPr lang="en-US" dirty="0" smtClean="0"/>
              <a:t>    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b="1" dirty="0" smtClean="0"/>
              <a:t>print(</a:t>
            </a:r>
            <a:r>
              <a:rPr lang="en-US" dirty="0" err="1" smtClean="0"/>
              <a:t>val</a:t>
            </a:r>
            <a:r>
              <a:rPr lang="en-US" b="1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print("</a:t>
            </a:r>
            <a:r>
              <a:rPr lang="en-US" dirty="0" smtClean="0"/>
              <a:t>The end</a:t>
            </a:r>
            <a:r>
              <a:rPr lang="en-US" b="1" dirty="0" smtClean="0"/>
              <a:t>")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pass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 Python programming, pass is a null statement. The difference between a </a:t>
            </a:r>
            <a:r>
              <a:rPr lang="en-US" dirty="0" smtClean="0">
                <a:hlinkClick r:id="rId2" action="ppaction://hlinkfile" tooltip="Python comments"/>
              </a:rPr>
              <a:t>comment </a:t>
            </a:r>
            <a:r>
              <a:rPr lang="en-US" dirty="0" smtClean="0"/>
              <a:t>and pass statement in Python is that, while the interpreter ignores a comment entirely, pass is not ignored.</a:t>
            </a:r>
          </a:p>
          <a:p>
            <a:r>
              <a:rPr lang="en-US" dirty="0" smtClean="0"/>
              <a:t>However, nothing happens when pass is executed. It results into no operation (NOP).</a:t>
            </a:r>
          </a:p>
          <a:p>
            <a:pPr>
              <a:buNone/>
            </a:pPr>
            <a:r>
              <a:rPr lang="en-US" b="1" dirty="0" smtClean="0"/>
              <a:t>Syntax of pass</a:t>
            </a:r>
          </a:p>
          <a:p>
            <a:pPr>
              <a:buNone/>
            </a:pPr>
            <a:r>
              <a:rPr lang="en-US" dirty="0" smtClean="0"/>
              <a:t>	pass </a:t>
            </a:r>
          </a:p>
          <a:p>
            <a:r>
              <a:rPr lang="en-US" dirty="0" smtClean="0"/>
              <a:t>We generally use it as a placeholder.</a:t>
            </a:r>
          </a:p>
          <a:p>
            <a:r>
              <a:rPr lang="en-US" dirty="0" smtClean="0"/>
              <a:t>Suppose we have a </a:t>
            </a:r>
            <a:r>
              <a:rPr lang="en-US" dirty="0" smtClean="0">
                <a:hlinkClick r:id="rId3" action="ppaction://hlinkfile" tooltip="Python for loop"/>
              </a:rPr>
              <a:t>loop </a:t>
            </a:r>
            <a:r>
              <a:rPr lang="en-US" dirty="0" smtClean="0"/>
              <a:t>or a </a:t>
            </a:r>
            <a:r>
              <a:rPr lang="en-US" dirty="0" smtClean="0">
                <a:hlinkClick r:id="rId4" action="ppaction://hlinkfile" tooltip="Python functions"/>
              </a:rPr>
              <a:t>function</a:t>
            </a:r>
            <a:r>
              <a:rPr lang="en-US" dirty="0" smtClean="0"/>
              <a:t> that is not implemented yet, but we want to implement it in the future. </a:t>
            </a:r>
          </a:p>
          <a:p>
            <a:r>
              <a:rPr lang="en-US" dirty="0" smtClean="0"/>
              <a:t>They cannot have an empty body. </a:t>
            </a:r>
          </a:p>
          <a:p>
            <a:r>
              <a:rPr lang="en-US" dirty="0" smtClean="0"/>
              <a:t>The interpreter would complain. </a:t>
            </a:r>
          </a:p>
          <a:p>
            <a:r>
              <a:rPr lang="en-US" dirty="0" smtClean="0"/>
              <a:t>So, we use the pass statement to construct a body that does nothing.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 smtClean="0"/>
              <a:t># pass is just a placeholder for</a:t>
            </a:r>
          </a:p>
          <a:p>
            <a:pPr>
              <a:buNone/>
            </a:pPr>
            <a:r>
              <a:rPr lang="en-US" sz="2400" b="1" dirty="0" smtClean="0"/>
              <a:t># functionality to be added later.</a:t>
            </a:r>
          </a:p>
          <a:p>
            <a:pPr>
              <a:buNone/>
            </a:pPr>
            <a:r>
              <a:rPr lang="en-US" dirty="0" smtClean="0"/>
              <a:t>sequence = {'p', 'a', 's', 's'}</a:t>
            </a:r>
          </a:p>
          <a:p>
            <a:pPr>
              <a:buNone/>
            </a:pP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b="1" dirty="0" smtClean="0"/>
              <a:t>in</a:t>
            </a:r>
            <a:r>
              <a:rPr lang="en-US" dirty="0" smtClean="0"/>
              <a:t> sequence:    </a:t>
            </a:r>
          </a:p>
          <a:p>
            <a:pPr>
              <a:buNone/>
            </a:pPr>
            <a:r>
              <a:rPr lang="en-US" dirty="0" smtClean="0"/>
              <a:t>	   </a:t>
            </a:r>
            <a:r>
              <a:rPr lang="en-US" b="1" dirty="0" smtClean="0"/>
              <a:t>pass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can do the same thing in an empty function or class as well.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def</a:t>
            </a:r>
            <a:r>
              <a:rPr lang="en-US" dirty="0" smtClean="0"/>
              <a:t> function(</a:t>
            </a:r>
            <a:r>
              <a:rPr lang="en-US" dirty="0" err="1" smtClean="0"/>
              <a:t>args</a:t>
            </a:r>
            <a:r>
              <a:rPr lang="en-US" dirty="0" smtClean="0"/>
              <a:t>)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   pass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class</a:t>
            </a:r>
            <a:r>
              <a:rPr lang="en-US" dirty="0" smtClean="0"/>
              <a:t> example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pass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string is a sequence of characters.</a:t>
            </a:r>
          </a:p>
          <a:p>
            <a:r>
              <a:rPr lang="en-US" sz="2400" dirty="0" smtClean="0"/>
              <a:t>A character is simply a symbol. </a:t>
            </a:r>
          </a:p>
          <a:p>
            <a:r>
              <a:rPr lang="en-US" sz="2400" dirty="0" smtClean="0"/>
              <a:t>Computers do not deal with characters, they deal with numbers (binary). </a:t>
            </a:r>
          </a:p>
          <a:p>
            <a:r>
              <a:rPr lang="en-US" sz="2400" dirty="0" smtClean="0"/>
              <a:t>Even though you may see characters on your screen, internally it is stored and manipulated as a combination of 0's and 1's.</a:t>
            </a:r>
          </a:p>
          <a:p>
            <a:r>
              <a:rPr lang="en-US" sz="2400" dirty="0" smtClean="0"/>
              <a:t>This conversion of character to a number is called encoding, and the reverse process is decoding.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ASCII and Unicode are some of the popular encoding used.</a:t>
            </a:r>
          </a:p>
          <a:p>
            <a:r>
              <a:rPr lang="en-US" sz="2400" dirty="0" smtClean="0"/>
              <a:t>In Python, string is a sequence of Unicode character. </a:t>
            </a:r>
          </a:p>
          <a:p>
            <a:r>
              <a:rPr lang="en-US" sz="2400" dirty="0" smtClean="0"/>
              <a:t>Unicode was introduced to include every character in all languages and bring uniformity in encoding.</a:t>
            </a:r>
          </a:p>
          <a:p>
            <a:endParaRPr lang="en-US" sz="2400" dirty="0" smtClean="0"/>
          </a:p>
          <a:p>
            <a:r>
              <a:rPr lang="en-US" sz="2400" dirty="0" smtClean="0"/>
              <a:t>Python does not support a character type; these are treated as strings of length one, thus also considered a substring.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You can "update" an existing string by (re)assigning a variable to another string. </a:t>
            </a:r>
          </a:p>
          <a:p>
            <a:r>
              <a:rPr lang="en-US" sz="2400" dirty="0" smtClean="0"/>
              <a:t>The new value can be related to its previous value or to a completely different string altogether.</a:t>
            </a:r>
          </a:p>
          <a:p>
            <a:pPr>
              <a:buNone/>
            </a:pPr>
            <a:r>
              <a:rPr lang="en-US" sz="2400" b="1" dirty="0" smtClean="0"/>
              <a:t>var1 = 'Hello World!' </a:t>
            </a:r>
          </a:p>
          <a:p>
            <a:pPr>
              <a:buNone/>
            </a:pPr>
            <a:r>
              <a:rPr lang="en-US" sz="2400" b="1" dirty="0" smtClean="0"/>
              <a:t>print ("Updated String :- ", var1[:6] + 'Python') </a:t>
            </a:r>
          </a:p>
          <a:p>
            <a:r>
              <a:rPr lang="en-US" sz="2400" dirty="0" smtClean="0"/>
              <a:t>When the above code is executed, it produces the following result- </a:t>
            </a:r>
          </a:p>
          <a:p>
            <a:r>
              <a:rPr lang="en-US" sz="2400" dirty="0" smtClean="0"/>
              <a:t>Updated String :-  Hello Python 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String Special Operators</a:t>
            </a:r>
            <a:br>
              <a:rPr lang="en-US" dirty="0" smtClean="0"/>
            </a:br>
            <a:r>
              <a:rPr lang="en-US" sz="2200" dirty="0" smtClean="0"/>
              <a:t>let a=‘Hello’ and b=‘python’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0"/>
            <a:ext cx="83058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String Formatting Operator %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This operator is unique to strings.</a:t>
            </a:r>
          </a:p>
          <a:p>
            <a:pPr>
              <a:buNone/>
            </a:pPr>
            <a:r>
              <a:rPr lang="en-US" sz="2400" dirty="0" smtClean="0"/>
              <a:t>Example − </a:t>
            </a:r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400" b="1" dirty="0" smtClean="0"/>
              <a:t>print ("</a:t>
            </a:r>
            <a:r>
              <a:rPr lang="en-US" sz="2400" dirty="0" smtClean="0"/>
              <a:t>My name is</a:t>
            </a:r>
            <a:r>
              <a:rPr lang="en-US" sz="2400" b="1" dirty="0" smtClean="0"/>
              <a:t> %s </a:t>
            </a:r>
            <a:r>
              <a:rPr lang="en-US" sz="2400" dirty="0" smtClean="0"/>
              <a:t>and roll number is</a:t>
            </a:r>
            <a:r>
              <a:rPr lang="en-US" sz="2400" b="1" dirty="0" smtClean="0"/>
              <a:t> %d " % (‘</a:t>
            </a:r>
            <a:r>
              <a:rPr lang="en-US" sz="2400" dirty="0" smtClean="0"/>
              <a:t>ABC</a:t>
            </a:r>
            <a:r>
              <a:rPr lang="en-US" sz="2400" b="1" dirty="0" smtClean="0"/>
              <a:t>', </a:t>
            </a:r>
            <a:r>
              <a:rPr lang="en-US" sz="2400" dirty="0" smtClean="0"/>
              <a:t>210</a:t>
            </a:r>
            <a:r>
              <a:rPr lang="en-US" sz="2400" b="1" dirty="0" smtClean="0"/>
              <a:t>)) </a:t>
            </a:r>
          </a:p>
          <a:p>
            <a:endParaRPr lang="en-US" sz="2400" dirty="0" smtClean="0"/>
          </a:p>
          <a:p>
            <a:r>
              <a:rPr lang="en-US" sz="2400" dirty="0" smtClean="0"/>
              <a:t>When the above code is executed, it produces the following result − </a:t>
            </a:r>
            <a:endParaRPr lang="en-US" sz="2800" dirty="0" smtClean="0"/>
          </a:p>
          <a:p>
            <a:pPr>
              <a:buNone/>
            </a:pPr>
            <a:r>
              <a:rPr lang="en-US" sz="2000" dirty="0" smtClean="0"/>
              <a:t>My name is ABC and roll number is 210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43050"/>
            <a:ext cx="853440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2296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String Operations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 smtClean="0"/>
              <a:t>Concatenation of Two or More Strings</a:t>
            </a:r>
          </a:p>
          <a:p>
            <a:r>
              <a:rPr lang="en-US" sz="2400" dirty="0" smtClean="0"/>
              <a:t>The </a:t>
            </a:r>
            <a:r>
              <a:rPr lang="en-US" sz="2400" b="1" dirty="0" smtClean="0"/>
              <a:t>+</a:t>
            </a:r>
            <a:r>
              <a:rPr lang="en-US" sz="2400" dirty="0" smtClean="0"/>
              <a:t> operator does this in Python. </a:t>
            </a:r>
          </a:p>
          <a:p>
            <a:r>
              <a:rPr lang="en-US" sz="2400" dirty="0" smtClean="0"/>
              <a:t>Simply writing two string literals together also concatenates them.</a:t>
            </a:r>
          </a:p>
          <a:p>
            <a:r>
              <a:rPr lang="en-US" sz="2400" dirty="0" smtClean="0"/>
              <a:t>The </a:t>
            </a:r>
            <a:r>
              <a:rPr lang="en-US" sz="2400" b="1" dirty="0" smtClean="0"/>
              <a:t>*</a:t>
            </a:r>
            <a:r>
              <a:rPr lang="en-US" sz="2400" dirty="0" smtClean="0"/>
              <a:t> operator can be used to repeat the string for a given number of times.</a:t>
            </a:r>
          </a:p>
          <a:p>
            <a:pPr>
              <a:buNone/>
            </a:pPr>
            <a:r>
              <a:rPr lang="en-US" sz="2400" dirty="0" smtClean="0"/>
              <a:t>str1 = 'Hello‘</a:t>
            </a:r>
          </a:p>
          <a:p>
            <a:pPr>
              <a:buNone/>
            </a:pPr>
            <a:r>
              <a:rPr lang="en-US" sz="2400" dirty="0" smtClean="0"/>
              <a:t>str2 ='World!‘</a:t>
            </a:r>
          </a:p>
          <a:p>
            <a:pPr>
              <a:buNone/>
            </a:pPr>
            <a:r>
              <a:rPr lang="en-US" sz="2200" b="1" dirty="0" smtClean="0"/>
              <a:t># using +</a:t>
            </a: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print('str1 + str2 = ', str1 + str2)</a:t>
            </a:r>
          </a:p>
          <a:p>
            <a:pPr>
              <a:buNone/>
            </a:pPr>
            <a:r>
              <a:rPr lang="en-US" sz="2200" b="1" dirty="0" smtClean="0"/>
              <a:t># using *</a:t>
            </a: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print('str1 * 3 =', str1 * 3)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Iterating Through String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count = 0</a:t>
            </a:r>
          </a:p>
          <a:p>
            <a:pPr>
              <a:buNone/>
            </a:pPr>
            <a:r>
              <a:rPr lang="en-US" sz="2800" dirty="0" smtClean="0"/>
              <a:t>for letter in 'Hello World':   </a:t>
            </a:r>
          </a:p>
          <a:p>
            <a:pPr>
              <a:buNone/>
            </a:pPr>
            <a:r>
              <a:rPr lang="en-US" sz="2800" dirty="0" smtClean="0"/>
              <a:t>		if(letter == 'l'):      </a:t>
            </a:r>
          </a:p>
          <a:p>
            <a:pPr>
              <a:buNone/>
            </a:pPr>
            <a:r>
              <a:rPr lang="en-US" sz="2800" dirty="0" smtClean="0"/>
              <a:t>			count += 1</a:t>
            </a:r>
          </a:p>
          <a:p>
            <a:pPr>
              <a:buNone/>
            </a:pPr>
            <a:r>
              <a:rPr lang="en-US" sz="2800" dirty="0" smtClean="0"/>
              <a:t>print(</a:t>
            </a:r>
            <a:r>
              <a:rPr lang="en-US" sz="2800" dirty="0" err="1" smtClean="0"/>
              <a:t>count,'letters</a:t>
            </a:r>
            <a:r>
              <a:rPr lang="en-US" sz="2800" dirty="0" smtClean="0"/>
              <a:t> found')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String Membership Test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 can test if a sub string exists within a string or not, using the keyword in.</a:t>
            </a:r>
          </a:p>
          <a:p>
            <a:pPr>
              <a:buNone/>
            </a:pPr>
            <a:r>
              <a:rPr lang="en-US" sz="2400" dirty="0" smtClean="0"/>
              <a:t>&gt;&gt;&gt; 'a' in 'program' </a:t>
            </a:r>
          </a:p>
          <a:p>
            <a:pPr>
              <a:buNone/>
            </a:pPr>
            <a:r>
              <a:rPr lang="en-US" sz="2400" dirty="0" smtClean="0"/>
              <a:t>	True </a:t>
            </a:r>
          </a:p>
          <a:p>
            <a:pPr>
              <a:buNone/>
            </a:pPr>
            <a:r>
              <a:rPr lang="en-US" sz="2400" dirty="0" smtClean="0"/>
              <a:t>&gt;&gt;&gt; 'at' not in 'battle' </a:t>
            </a:r>
          </a:p>
          <a:p>
            <a:pPr>
              <a:buNone/>
            </a:pPr>
            <a:r>
              <a:rPr lang="en-US" sz="2400" dirty="0" smtClean="0"/>
              <a:t>	False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Built-in functions to Work with Python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&gt;&gt;&gt;s='cold‘</a:t>
            </a:r>
          </a:p>
          <a:p>
            <a:pPr>
              <a:buNone/>
            </a:pPr>
            <a:r>
              <a:rPr lang="en-US" dirty="0" smtClean="0"/>
              <a:t>list(</a:t>
            </a:r>
            <a:r>
              <a:rPr lang="en-US" b="1" dirty="0" smtClean="0"/>
              <a:t>enumerate(s)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[(0, 'c'), (1, 'o'), (2, 'l'), (3, 'd')]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len</a:t>
            </a:r>
            <a:r>
              <a:rPr lang="en-US" b="1" dirty="0" smtClean="0"/>
              <a:t>(s)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Raw String to ignore escape sequence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&gt;&gt;&gt; print("This is </a:t>
            </a:r>
            <a:r>
              <a:rPr lang="en-US" sz="2800" b="1" dirty="0" smtClean="0"/>
              <a:t>\x61</a:t>
            </a:r>
            <a:r>
              <a:rPr lang="en-US" sz="2800" dirty="0" smtClean="0"/>
              <a:t> \</a:t>
            </a:r>
            <a:r>
              <a:rPr lang="en-US" sz="2800" dirty="0" err="1" smtClean="0"/>
              <a:t>ngood</a:t>
            </a:r>
            <a:r>
              <a:rPr lang="en-US" sz="2800" dirty="0" smtClean="0"/>
              <a:t> example") </a:t>
            </a:r>
          </a:p>
          <a:p>
            <a:pPr>
              <a:buNone/>
            </a:pPr>
            <a:r>
              <a:rPr lang="en-US" sz="2800" dirty="0" smtClean="0"/>
              <a:t>	This is </a:t>
            </a:r>
            <a:r>
              <a:rPr lang="en-US" sz="2800" b="1" dirty="0" smtClean="0"/>
              <a:t>a</a:t>
            </a:r>
            <a:r>
              <a:rPr lang="en-US" sz="2800" dirty="0" smtClean="0"/>
              <a:t> good example </a:t>
            </a:r>
          </a:p>
          <a:p>
            <a:pPr>
              <a:buNone/>
            </a:pPr>
            <a:r>
              <a:rPr lang="en-US" sz="2800" dirty="0" smtClean="0"/>
              <a:t>&gt;&gt;&gt; print(</a:t>
            </a:r>
            <a:r>
              <a:rPr lang="en-US" sz="2800" dirty="0" err="1" smtClean="0"/>
              <a:t>r"This</a:t>
            </a:r>
            <a:r>
              <a:rPr lang="en-US" sz="2800" dirty="0" smtClean="0"/>
              <a:t> is \x61 \</a:t>
            </a:r>
            <a:r>
              <a:rPr lang="en-US" sz="2800" dirty="0" err="1" smtClean="0"/>
              <a:t>ngood</a:t>
            </a:r>
            <a:r>
              <a:rPr lang="en-US" sz="2800" dirty="0" smtClean="0"/>
              <a:t> example") </a:t>
            </a:r>
          </a:p>
          <a:p>
            <a:pPr>
              <a:buNone/>
            </a:pPr>
            <a:r>
              <a:rPr lang="en-US" sz="2800" dirty="0" smtClean="0"/>
              <a:t>	This is \x61 \</a:t>
            </a:r>
            <a:r>
              <a:rPr lang="en-US" sz="2800" dirty="0" err="1" smtClean="0"/>
              <a:t>ngood</a:t>
            </a:r>
            <a:r>
              <a:rPr lang="en-US" sz="2800" dirty="0" smtClean="0"/>
              <a:t> example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The format() Method for Formatting Strings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Format strings contains curly braces {} as </a:t>
            </a:r>
            <a:r>
              <a:rPr lang="en-US" sz="2400" b="1" dirty="0" smtClean="0"/>
              <a:t>placeholders or replacement fields</a:t>
            </a:r>
            <a:r>
              <a:rPr lang="en-US" sz="2400" dirty="0" smtClean="0"/>
              <a:t> which gets replaced.</a:t>
            </a:r>
          </a:p>
          <a:p>
            <a:r>
              <a:rPr lang="en-US" sz="2400" dirty="0" smtClean="0"/>
              <a:t>We can use </a:t>
            </a:r>
            <a:r>
              <a:rPr lang="en-US" sz="2400" b="1" dirty="0" smtClean="0"/>
              <a:t>positional arguments or keyword arguments</a:t>
            </a:r>
            <a:r>
              <a:rPr lang="en-US" sz="2400" dirty="0" smtClean="0"/>
              <a:t> to specify the order.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# default(implicit) order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3600" dirty="0" smtClean="0"/>
              <a:t>print("{}, {} and {}".format(‘AA','BB',‘CC'))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Output: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AA BB and CC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# order using positional argument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dirty="0" smtClean="0"/>
              <a:t>print("{1}, {0} and {2}".format(‘AA','BB',‘CC'))</a:t>
            </a:r>
            <a:endParaRPr lang="en-US" sz="24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Output: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BB AA and CC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# order using keyword argument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print("{c}, {b} and {a}".format(a=‘AA, b=‘BB', c=‘CC'))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Output: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400" dirty="0" smtClean="0"/>
              <a:t>CC BB and AA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 format() method can have optional format specifications. </a:t>
            </a:r>
          </a:p>
          <a:p>
            <a:r>
              <a:rPr lang="en-US" sz="2400" dirty="0" smtClean="0"/>
              <a:t>They are separated from field name using colon. </a:t>
            </a:r>
          </a:p>
          <a:p>
            <a:pPr>
              <a:buNone/>
            </a:pPr>
            <a:r>
              <a:rPr lang="en-US" sz="2400" dirty="0" smtClean="0"/>
              <a:t>For example, </a:t>
            </a:r>
          </a:p>
          <a:p>
            <a:pPr>
              <a:buNone/>
            </a:pPr>
            <a:r>
              <a:rPr lang="en-US" sz="2400" dirty="0" smtClean="0"/>
              <a:t>		</a:t>
            </a:r>
            <a:r>
              <a:rPr lang="en-US" sz="2400" b="1" dirty="0" smtClean="0"/>
              <a:t>we can left-justify &lt;, </a:t>
            </a:r>
          </a:p>
          <a:p>
            <a:pPr>
              <a:buNone/>
            </a:pPr>
            <a:r>
              <a:rPr lang="en-US" sz="2400" b="1" dirty="0" smtClean="0"/>
              <a:t>		right-justify &gt; or </a:t>
            </a:r>
          </a:p>
          <a:p>
            <a:pPr>
              <a:buNone/>
            </a:pPr>
            <a:r>
              <a:rPr lang="en-US" sz="2400" b="1" dirty="0" smtClean="0"/>
              <a:t>		center ^ a string in the given space. </a:t>
            </a:r>
          </a:p>
          <a:p>
            <a:r>
              <a:rPr lang="en-US" sz="2400" dirty="0" smtClean="0"/>
              <a:t>We can also format integers as binary, hexadecimal etc. and </a:t>
            </a:r>
          </a:p>
          <a:p>
            <a:r>
              <a:rPr lang="en-US" sz="2400" dirty="0" smtClean="0"/>
              <a:t>Floats can be rounded or displayed in the exponent format.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&gt;&gt;&gt; # formatting integers </a:t>
            </a:r>
          </a:p>
          <a:p>
            <a:pPr>
              <a:buNone/>
            </a:pPr>
            <a:r>
              <a:rPr lang="en-US" dirty="0" smtClean="0"/>
              <a:t>&gt;&gt;&gt; </a:t>
            </a:r>
            <a:r>
              <a:rPr lang="en-US" sz="2800" dirty="0" smtClean="0"/>
              <a:t>"Binary representation of {0} is {0:b}".format(12) 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'Binary representation of 12 is 1100'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&gt;&gt;&gt; # formatting floats </a:t>
            </a:r>
          </a:p>
          <a:p>
            <a:pPr>
              <a:buNone/>
            </a:pPr>
            <a:r>
              <a:rPr lang="en-US" dirty="0" smtClean="0"/>
              <a:t>&gt;&gt;&gt; </a:t>
            </a:r>
            <a:r>
              <a:rPr lang="en-US" sz="2400" dirty="0" smtClean="0"/>
              <a:t>"Exponent representation: {0:e}".format(1566.345)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'Exponent representation: 1.566345e+03'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&gt;&gt;&gt; # round off </a:t>
            </a:r>
          </a:p>
          <a:p>
            <a:pPr>
              <a:buNone/>
            </a:pPr>
            <a:r>
              <a:rPr lang="en-US" dirty="0" smtClean="0"/>
              <a:t>&gt;&gt;&gt; </a:t>
            </a:r>
            <a:r>
              <a:rPr lang="en-US" b="1" dirty="0" smtClean="0"/>
              <a:t>print(</a:t>
            </a:r>
            <a:r>
              <a:rPr lang="en-US" sz="2400" b="1" dirty="0" smtClean="0"/>
              <a:t>"One third is: {0:.3f}".format(1/3))</a:t>
            </a:r>
            <a:r>
              <a:rPr lang="en-US" sz="2400" dirty="0" smtClean="0"/>
              <a:t>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'One third is: 0.333‘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&gt;&gt;&gt; # string alignment </a:t>
            </a:r>
          </a:p>
          <a:p>
            <a:pPr>
              <a:buNone/>
            </a:pPr>
            <a:r>
              <a:rPr lang="en-US" dirty="0" smtClean="0"/>
              <a:t>&gt;&gt;&gt;</a:t>
            </a:r>
            <a:r>
              <a:rPr lang="en-US" b="1" dirty="0" smtClean="0"/>
              <a:t>print(</a:t>
            </a:r>
            <a:r>
              <a:rPr lang="en-US" sz="2400" b="1" dirty="0" smtClean="0"/>
              <a:t>"{:&lt;10}{:^10}{:&gt;10}|".format('</a:t>
            </a:r>
            <a:r>
              <a:rPr lang="en-US" sz="2400" b="1" dirty="0" err="1" smtClean="0"/>
              <a:t>butter','bread','ham</a:t>
            </a:r>
            <a:r>
              <a:rPr lang="en-US" sz="2400" b="1" dirty="0" smtClean="0"/>
              <a:t>'))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butter     bread      ham      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Old style formatting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 can even format strings like the old </a:t>
            </a:r>
            <a:r>
              <a:rPr lang="en-US" sz="2400" dirty="0" err="1" smtClean="0"/>
              <a:t>sprintf</a:t>
            </a:r>
            <a:r>
              <a:rPr lang="en-US" sz="2400" dirty="0" smtClean="0"/>
              <a:t>() style used in C programming language. </a:t>
            </a:r>
          </a:p>
          <a:p>
            <a:r>
              <a:rPr lang="en-US" sz="2400" dirty="0" smtClean="0"/>
              <a:t>We use the % operator to accomplish this.</a:t>
            </a:r>
          </a:p>
          <a:p>
            <a:pPr>
              <a:buNone/>
            </a:pPr>
            <a:r>
              <a:rPr lang="en-US" sz="2400" dirty="0" smtClean="0"/>
              <a:t>&gt;&gt;&gt; x = 12.3456789 </a:t>
            </a:r>
          </a:p>
          <a:p>
            <a:pPr>
              <a:buNone/>
            </a:pPr>
            <a:r>
              <a:rPr lang="en-US" sz="2400" dirty="0" smtClean="0"/>
              <a:t>&gt;&gt;&gt; print('The value of x is %.2f' %x) </a:t>
            </a:r>
          </a:p>
          <a:p>
            <a:pPr>
              <a:buNone/>
            </a:pPr>
            <a:r>
              <a:rPr lang="en-US" sz="2400" dirty="0" smtClean="0"/>
              <a:t>	The value of x is 12.35 </a:t>
            </a:r>
          </a:p>
          <a:p>
            <a:pPr>
              <a:buNone/>
            </a:pPr>
            <a:r>
              <a:rPr lang="en-US" sz="2400" dirty="0" smtClean="0"/>
              <a:t>&gt;&gt;&gt; print('The value of x is %.4f' %x) </a:t>
            </a:r>
          </a:p>
          <a:p>
            <a:pPr>
              <a:buNone/>
            </a:pPr>
            <a:r>
              <a:rPr lang="en-US" sz="2400" dirty="0" smtClean="0"/>
              <a:t>	The value of x is 12.3457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Common Python String Methods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&gt;&gt;&gt; "</a:t>
            </a:r>
            <a:r>
              <a:rPr lang="en-US" sz="2400" dirty="0" err="1" smtClean="0"/>
              <a:t>PrOgRaMmInG"</a:t>
            </a:r>
            <a:r>
              <a:rPr lang="en-US" sz="2400" b="1" dirty="0" err="1" smtClean="0"/>
              <a:t>.lower</a:t>
            </a:r>
            <a:r>
              <a:rPr lang="en-US" sz="2400" b="1" dirty="0" smtClean="0"/>
              <a:t>()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'programming'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&gt;&gt;&gt; "</a:t>
            </a:r>
            <a:r>
              <a:rPr lang="en-US" sz="2400" dirty="0" err="1" smtClean="0"/>
              <a:t>PrOgRaMmIng"</a:t>
            </a:r>
            <a:r>
              <a:rPr lang="en-US" sz="2400" b="1" dirty="0" err="1" smtClean="0"/>
              <a:t>.upper</a:t>
            </a:r>
            <a:r>
              <a:rPr lang="en-US" sz="2400" b="1" dirty="0" smtClean="0"/>
              <a:t>() </a:t>
            </a:r>
          </a:p>
          <a:p>
            <a:pPr>
              <a:buNone/>
            </a:pPr>
            <a:r>
              <a:rPr lang="en-US" sz="2400" dirty="0" smtClean="0"/>
              <a:t>	'PROGRAMMING'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&gt;&gt;&gt; "This will split all words into a </a:t>
            </a:r>
            <a:r>
              <a:rPr lang="en-US" sz="2400" dirty="0" err="1" smtClean="0"/>
              <a:t>list"</a:t>
            </a:r>
            <a:r>
              <a:rPr lang="en-US" sz="2400" b="1" dirty="0" err="1" smtClean="0"/>
              <a:t>.split</a:t>
            </a:r>
            <a:r>
              <a:rPr lang="en-US" sz="2400" b="1" dirty="0" smtClean="0"/>
              <a:t>()</a:t>
            </a:r>
          </a:p>
          <a:p>
            <a:pPr>
              <a:buNone/>
            </a:pPr>
            <a:r>
              <a:rPr lang="en-US" sz="2400" dirty="0" smtClean="0"/>
              <a:t>	['This', 'will', 'split', 'all', 'words', 'into', 'a', 'list']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&gt;&gt;&gt; ' '</a:t>
            </a:r>
            <a:r>
              <a:rPr lang="en-US" sz="2400" b="1" dirty="0" smtClean="0"/>
              <a:t>.join(</a:t>
            </a:r>
            <a:r>
              <a:rPr lang="en-US" sz="2400" dirty="0" smtClean="0"/>
              <a:t>['This', 'will', 'join', 'all', 'words', 'into', 'a', 'string']</a:t>
            </a:r>
            <a:r>
              <a:rPr lang="en-US" sz="2400" b="1" dirty="0" smtClean="0"/>
              <a:t>)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'This will join all words into a string'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&gt;&gt;&gt; 'Happy New </a:t>
            </a:r>
            <a:r>
              <a:rPr lang="en-US" sz="2800" dirty="0" err="1" smtClean="0"/>
              <a:t>Year'</a:t>
            </a:r>
            <a:r>
              <a:rPr lang="en-US" sz="2800" b="1" dirty="0" err="1" smtClean="0"/>
              <a:t>.find</a:t>
            </a:r>
            <a:r>
              <a:rPr lang="en-US" sz="2800" b="1" dirty="0" smtClean="0"/>
              <a:t>('</a:t>
            </a:r>
            <a:r>
              <a:rPr lang="en-US" sz="2800" b="1" dirty="0" err="1" smtClean="0"/>
              <a:t>ew</a:t>
            </a:r>
            <a:r>
              <a:rPr lang="en-US" sz="2800" b="1" dirty="0" smtClean="0"/>
              <a:t>')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400" dirty="0" smtClean="0"/>
              <a:t>	7 </a:t>
            </a:r>
          </a:p>
          <a:p>
            <a:pPr>
              <a:buNone/>
            </a:pPr>
            <a:r>
              <a:rPr lang="en-US" sz="2800" b="1" dirty="0" smtClean="0"/>
              <a:t>&gt;&gt;&gt;index(</a:t>
            </a:r>
            <a:r>
              <a:rPr lang="en-US" sz="2800" b="1" dirty="0" err="1" smtClean="0"/>
              <a:t>str</a:t>
            </a:r>
            <a:r>
              <a:rPr lang="en-US" sz="2800" b="1" dirty="0" smtClean="0"/>
              <a:t>, beg=0, end=</a:t>
            </a:r>
            <a:r>
              <a:rPr lang="en-US" sz="2800" b="1" dirty="0" err="1" smtClean="0"/>
              <a:t>len</a:t>
            </a:r>
            <a:r>
              <a:rPr lang="en-US" sz="2800" b="1" dirty="0" smtClean="0"/>
              <a:t>(string)) </a:t>
            </a:r>
          </a:p>
          <a:p>
            <a:pPr>
              <a:buNone/>
            </a:pPr>
            <a:r>
              <a:rPr lang="en-US" sz="2800" i="1" dirty="0" smtClean="0"/>
              <a:t>Same as find(), but raises an exception if </a:t>
            </a:r>
            <a:r>
              <a:rPr lang="en-US" sz="2800" i="1" dirty="0" err="1" smtClean="0"/>
              <a:t>str</a:t>
            </a:r>
            <a:r>
              <a:rPr lang="en-US" sz="2800" i="1" dirty="0" smtClean="0"/>
              <a:t> not found.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&gt;&gt;&gt; 'Happy New </a:t>
            </a:r>
            <a:r>
              <a:rPr lang="en-US" sz="2800" dirty="0" err="1" smtClean="0"/>
              <a:t>Year'</a:t>
            </a:r>
            <a:r>
              <a:rPr lang="en-US" sz="2800" b="1" dirty="0" err="1" smtClean="0"/>
              <a:t>.replace</a:t>
            </a:r>
            <a:r>
              <a:rPr lang="en-US" sz="2800" dirty="0" smtClean="0"/>
              <a:t>('</a:t>
            </a:r>
            <a:r>
              <a:rPr lang="en-US" sz="2800" dirty="0" err="1" smtClean="0"/>
              <a:t>Happy','Brilliant</a:t>
            </a:r>
            <a:r>
              <a:rPr lang="en-US" sz="2800" dirty="0" smtClean="0"/>
              <a:t>') </a:t>
            </a:r>
          </a:p>
          <a:p>
            <a:pPr>
              <a:buNone/>
            </a:pPr>
            <a:r>
              <a:rPr lang="en-US" sz="2800" dirty="0" smtClean="0"/>
              <a:t>	</a:t>
            </a:r>
          </a:p>
          <a:p>
            <a:pPr>
              <a:buNone/>
            </a:pPr>
            <a:r>
              <a:rPr lang="en-US" sz="2800" dirty="0" smtClean="0"/>
              <a:t>	'Brilliant New Year'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capitalize() </a:t>
            </a:r>
          </a:p>
          <a:p>
            <a:r>
              <a:rPr lang="en-US" sz="2800" dirty="0" smtClean="0"/>
              <a:t>Capitalizes first letter of string</a:t>
            </a:r>
          </a:p>
          <a:p>
            <a:pPr>
              <a:buNone/>
            </a:pPr>
            <a:r>
              <a:rPr lang="en-US" sz="2800" dirty="0" smtClean="0"/>
              <a:t>&gt;&gt;&gt;A=‘hello world’</a:t>
            </a:r>
          </a:p>
          <a:p>
            <a:pPr>
              <a:buNone/>
            </a:pPr>
            <a:r>
              <a:rPr lang="en-US" sz="2800" dirty="0" smtClean="0"/>
              <a:t>&gt;&gt;&gt;</a:t>
            </a:r>
            <a:r>
              <a:rPr lang="en-US" sz="2800" dirty="0" err="1" smtClean="0"/>
              <a:t>A.capitalize</a:t>
            </a:r>
            <a:r>
              <a:rPr lang="en-US" sz="2800" dirty="0" smtClean="0"/>
              <a:t>()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Output: Hello world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center(width, </a:t>
            </a:r>
            <a:r>
              <a:rPr lang="en-US" b="1" dirty="0" err="1" smtClean="0"/>
              <a:t>fillchar</a:t>
            </a:r>
            <a:r>
              <a:rPr lang="en-US" b="1" dirty="0" smtClean="0"/>
              <a:t>)</a:t>
            </a:r>
          </a:p>
          <a:p>
            <a:r>
              <a:rPr lang="en-US" sz="2400" dirty="0" smtClean="0"/>
              <a:t>Returns a string padded with </a:t>
            </a:r>
            <a:r>
              <a:rPr lang="en-US" sz="2400" dirty="0" err="1" smtClean="0"/>
              <a:t>fillchar</a:t>
            </a:r>
            <a:r>
              <a:rPr lang="en-US" sz="2400" dirty="0" smtClean="0"/>
              <a:t> with the original string centered to a total of width columns.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&gt;&gt;&gt;a="hello“</a:t>
            </a:r>
          </a:p>
          <a:p>
            <a:pPr>
              <a:buNone/>
            </a:pPr>
            <a:r>
              <a:rPr lang="en-US" sz="2400" dirty="0" smtClean="0"/>
              <a:t>&gt;&gt;&gt;</a:t>
            </a:r>
            <a:r>
              <a:rPr lang="en-US" sz="2400" dirty="0" err="1" smtClean="0"/>
              <a:t>a.center</a:t>
            </a:r>
            <a:r>
              <a:rPr lang="en-US" sz="2400" dirty="0" smtClean="0"/>
              <a:t> (10,'*')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'**hello***'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 err="1" smtClean="0"/>
              <a:t>string.count</a:t>
            </a:r>
            <a:r>
              <a:rPr lang="en-US" sz="2800" b="1" dirty="0" smtClean="0"/>
              <a:t>(</a:t>
            </a:r>
            <a:r>
              <a:rPr lang="en-US" sz="2800" b="1" dirty="0" err="1" smtClean="0"/>
              <a:t>substr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beg,end</a:t>
            </a:r>
            <a:r>
              <a:rPr lang="en-US" sz="2800" b="1" dirty="0" smtClean="0"/>
              <a:t>) 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Counts how many times </a:t>
            </a:r>
            <a:r>
              <a:rPr lang="en-US" sz="2400" dirty="0" err="1" smtClean="0"/>
              <a:t>str</a:t>
            </a:r>
            <a:r>
              <a:rPr lang="en-US" sz="2400" dirty="0" smtClean="0"/>
              <a:t> occurs in string or</a:t>
            </a:r>
          </a:p>
          <a:p>
            <a:r>
              <a:rPr lang="en-US" sz="2400" dirty="0" smtClean="0"/>
              <a:t>in a substring of string </a:t>
            </a:r>
          </a:p>
          <a:p>
            <a:r>
              <a:rPr lang="en-US" sz="2400" dirty="0" smtClean="0"/>
              <a:t>if starting index beg and ending index end are given.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800" b="1" dirty="0" smtClean="0"/>
              <a:t>a="hello world“</a:t>
            </a:r>
          </a:p>
          <a:p>
            <a:pPr>
              <a:buNone/>
            </a:pPr>
            <a:r>
              <a:rPr lang="en-US" sz="2800" b="1" dirty="0" err="1" smtClean="0"/>
              <a:t>a.count</a:t>
            </a:r>
            <a:r>
              <a:rPr lang="en-US" sz="2800" b="1" dirty="0" smtClean="0"/>
              <a:t>('l',0,len(a))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Output:</a:t>
            </a:r>
          </a:p>
          <a:p>
            <a:pPr>
              <a:buNone/>
            </a:pPr>
            <a:r>
              <a:rPr lang="en-US" sz="2800" dirty="0" smtClean="0"/>
              <a:t> 3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err="1" smtClean="0"/>
              <a:t>endswith</a:t>
            </a:r>
            <a:r>
              <a:rPr lang="en-US" sz="2400" b="1" dirty="0" smtClean="0"/>
              <a:t>(suffix, beg, end)</a:t>
            </a:r>
          </a:p>
          <a:p>
            <a:r>
              <a:rPr lang="en-US" sz="2400" dirty="0" smtClean="0"/>
              <a:t>Determines if string or a substring of string (if starting index beg and ending index end are given) ends with suffix; returns true if so and false otherwise.</a:t>
            </a:r>
          </a:p>
          <a:p>
            <a:pPr>
              <a:buNone/>
            </a:pPr>
            <a:r>
              <a:rPr lang="en-US" sz="2800" b="1" dirty="0" smtClean="0"/>
              <a:t>a="hello world“</a:t>
            </a:r>
          </a:p>
          <a:p>
            <a:pPr>
              <a:buNone/>
            </a:pPr>
            <a:r>
              <a:rPr lang="en-US" sz="2800" b="1" dirty="0" err="1" smtClean="0"/>
              <a:t>a.endswith</a:t>
            </a:r>
            <a:r>
              <a:rPr lang="en-US" sz="2800" b="1" dirty="0" smtClean="0"/>
              <a:t>('l',0,len(a))</a:t>
            </a:r>
          </a:p>
          <a:p>
            <a:pPr>
              <a:buNone/>
            </a:pPr>
            <a:r>
              <a:rPr lang="en-US" sz="2400" dirty="0" smtClean="0"/>
              <a:t>Output: </a:t>
            </a:r>
          </a:p>
          <a:p>
            <a:r>
              <a:rPr lang="en-US" sz="2400" dirty="0" smtClean="0"/>
              <a:t>False</a:t>
            </a:r>
          </a:p>
          <a:p>
            <a:pPr>
              <a:buNone/>
            </a:pPr>
            <a:r>
              <a:rPr lang="en-US" sz="2800" b="1" dirty="0" err="1" smtClean="0"/>
              <a:t>a.endswith</a:t>
            </a:r>
            <a:r>
              <a:rPr lang="en-US" sz="2800" b="1" dirty="0" smtClean="0"/>
              <a:t>('d',0,len(a))</a:t>
            </a:r>
          </a:p>
          <a:p>
            <a:pPr>
              <a:buNone/>
            </a:pPr>
            <a:r>
              <a:rPr lang="en-US" sz="2400" dirty="0" smtClean="0"/>
              <a:t>Output:</a:t>
            </a:r>
          </a:p>
          <a:p>
            <a:r>
              <a:rPr lang="en-US" sz="2400" dirty="0" smtClean="0"/>
              <a:t>True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isalnum</a:t>
            </a:r>
            <a:r>
              <a:rPr lang="en-US" b="1" dirty="0" smtClean="0"/>
              <a:t>() </a:t>
            </a:r>
          </a:p>
          <a:p>
            <a:r>
              <a:rPr lang="en-US" sz="2400" dirty="0" smtClean="0"/>
              <a:t>Returns true if string has at least 1 character and all characters are alphanumeric and false otherwise.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800" b="1" dirty="0" smtClean="0"/>
              <a:t>&gt;&gt;&gt;</a:t>
            </a:r>
            <a:r>
              <a:rPr lang="en-US" sz="2800" b="1" dirty="0" err="1" smtClean="0"/>
              <a:t>isalpha</a:t>
            </a:r>
            <a:r>
              <a:rPr lang="en-US" sz="2800" b="1" dirty="0" smtClean="0"/>
              <a:t>()</a:t>
            </a:r>
            <a:r>
              <a:rPr lang="en-US" sz="2400" b="1" dirty="0" smtClean="0"/>
              <a:t> </a:t>
            </a:r>
          </a:p>
          <a:p>
            <a:r>
              <a:rPr lang="en-US" sz="2400" dirty="0" smtClean="0"/>
              <a:t>Returns true if string has at least 1 character and all characters are alphabetic and false otherwise.</a:t>
            </a:r>
          </a:p>
          <a:p>
            <a:pPr>
              <a:buNone/>
            </a:pPr>
            <a:r>
              <a:rPr lang="en-US" sz="2400" dirty="0" smtClean="0"/>
              <a:t>&gt;&gt;&gt;a='123‘</a:t>
            </a:r>
          </a:p>
          <a:p>
            <a:pPr>
              <a:buNone/>
            </a:pPr>
            <a:r>
              <a:rPr lang="en-US" sz="2400" dirty="0" smtClean="0"/>
              <a:t>&gt;&gt;&gt;</a:t>
            </a:r>
            <a:r>
              <a:rPr lang="en-US" sz="2400" dirty="0" err="1" smtClean="0"/>
              <a:t>a.isalpha</a:t>
            </a:r>
            <a:r>
              <a:rPr lang="en-US" sz="2400" dirty="0" smtClean="0"/>
              <a:t>()</a:t>
            </a:r>
          </a:p>
          <a:p>
            <a:r>
              <a:rPr lang="en-US" sz="2400" dirty="0" smtClean="0"/>
              <a:t>False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&gt;&gt;&gt;a='</a:t>
            </a:r>
            <a:r>
              <a:rPr lang="en-US" sz="2400" dirty="0" err="1" smtClean="0"/>
              <a:t>aanbvnv</a:t>
            </a:r>
            <a:r>
              <a:rPr lang="en-US" sz="2400" dirty="0" smtClean="0"/>
              <a:t>'</a:t>
            </a:r>
          </a:p>
          <a:p>
            <a:pPr>
              <a:buNone/>
            </a:pPr>
            <a:r>
              <a:rPr lang="en-US" sz="2400" dirty="0" smtClean="0"/>
              <a:t>&gt;&gt;&gt;</a:t>
            </a:r>
            <a:r>
              <a:rPr lang="en-US" sz="2400" dirty="0" err="1" smtClean="0"/>
              <a:t>a.isalpha</a:t>
            </a:r>
            <a:r>
              <a:rPr lang="en-US" sz="2400" dirty="0" smtClean="0"/>
              <a:t>()</a:t>
            </a:r>
          </a:p>
          <a:p>
            <a:r>
              <a:rPr lang="en-US" sz="2400" dirty="0" smtClean="0"/>
              <a:t>True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isdigit</a:t>
            </a:r>
            <a:r>
              <a:rPr lang="en-US" b="1" dirty="0" smtClean="0"/>
              <a:t>()    or  </a:t>
            </a:r>
            <a:r>
              <a:rPr lang="en-US" b="1" dirty="0" err="1" smtClean="0"/>
              <a:t>isnumeric</a:t>
            </a:r>
            <a:r>
              <a:rPr lang="en-US" b="1" dirty="0" smtClean="0"/>
              <a:t>()</a:t>
            </a:r>
          </a:p>
          <a:p>
            <a:r>
              <a:rPr lang="en-US" sz="2400" dirty="0" smtClean="0"/>
              <a:t>Returns true if the string contains only digits and false otherwise.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islower</a:t>
            </a:r>
            <a:r>
              <a:rPr lang="en-US" b="1" dirty="0" smtClean="0"/>
              <a:t>()</a:t>
            </a:r>
            <a:r>
              <a:rPr lang="en-US" dirty="0" smtClean="0"/>
              <a:t> </a:t>
            </a:r>
          </a:p>
          <a:p>
            <a:r>
              <a:rPr lang="en-US" sz="2400" dirty="0" smtClean="0"/>
              <a:t>Returns true if string has all cased characters in lowercase and false otherwise.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isspace</a:t>
            </a:r>
            <a:r>
              <a:rPr lang="en-US" b="1" dirty="0" smtClean="0"/>
              <a:t>() </a:t>
            </a:r>
          </a:p>
          <a:p>
            <a:r>
              <a:rPr lang="en-US" sz="2400" dirty="0" smtClean="0"/>
              <a:t>Returns true if string contains only whitespace characters and false otherwise.</a:t>
            </a:r>
          </a:p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isupper</a:t>
            </a:r>
            <a:r>
              <a:rPr lang="en-US" b="1" dirty="0" smtClean="0"/>
              <a:t>() </a:t>
            </a:r>
          </a:p>
          <a:p>
            <a:r>
              <a:rPr lang="en-US" sz="2400" dirty="0" smtClean="0"/>
              <a:t>Returns true if string has all cased characters in uppercase and false otherwise.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ljust</a:t>
            </a:r>
            <a:r>
              <a:rPr lang="en-US" b="1" dirty="0" smtClean="0"/>
              <a:t>(width[, </a:t>
            </a:r>
            <a:r>
              <a:rPr lang="en-US" b="1" dirty="0" err="1" smtClean="0"/>
              <a:t>fillchar</a:t>
            </a:r>
            <a:r>
              <a:rPr lang="en-US" b="1" dirty="0" smtClean="0"/>
              <a:t>]) </a:t>
            </a:r>
          </a:p>
          <a:p>
            <a:r>
              <a:rPr lang="en-US" sz="2600" dirty="0" smtClean="0"/>
              <a:t>Returns a space-padded string with the original string left-justified to a total of width columns.</a:t>
            </a:r>
          </a:p>
          <a:p>
            <a:pPr>
              <a:buNone/>
            </a:pPr>
            <a:r>
              <a:rPr lang="en-US" sz="2800" b="1" dirty="0" smtClean="0"/>
              <a:t>&gt;&gt;&gt;</a:t>
            </a:r>
            <a:r>
              <a:rPr lang="en-US" sz="2800" b="1" dirty="0" err="1" smtClean="0"/>
              <a:t>rjust</a:t>
            </a:r>
            <a:r>
              <a:rPr lang="en-US" sz="2800" b="1" dirty="0" smtClean="0"/>
              <a:t>(width,[, </a:t>
            </a:r>
            <a:r>
              <a:rPr lang="en-US" sz="2800" b="1" dirty="0" err="1" smtClean="0"/>
              <a:t>fillchar</a:t>
            </a:r>
            <a:r>
              <a:rPr lang="en-US" sz="2800" b="1" dirty="0" smtClean="0"/>
              <a:t>]) </a:t>
            </a:r>
          </a:p>
          <a:p>
            <a:r>
              <a:rPr lang="en-US" sz="2800" dirty="0" smtClean="0"/>
              <a:t>Returns a space-padded string with the original string right-justified to a total of width columns.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&gt;&gt;&gt;a='</a:t>
            </a:r>
            <a:r>
              <a:rPr lang="en-US" sz="2800" dirty="0" err="1" smtClean="0"/>
              <a:t>hh</a:t>
            </a:r>
            <a:r>
              <a:rPr lang="en-US" sz="2800" dirty="0" smtClean="0"/>
              <a:t>‘</a:t>
            </a:r>
          </a:p>
          <a:p>
            <a:pPr>
              <a:buNone/>
            </a:pPr>
            <a:r>
              <a:rPr lang="en-US" sz="2800" dirty="0" smtClean="0"/>
              <a:t>&gt;&gt;&gt;</a:t>
            </a:r>
            <a:r>
              <a:rPr lang="en-US" sz="2800" dirty="0" err="1" smtClean="0"/>
              <a:t>a.ljust</a:t>
            </a:r>
            <a:r>
              <a:rPr lang="en-US" sz="2800" dirty="0" smtClean="0"/>
              <a:t>(10,'*')</a:t>
            </a:r>
          </a:p>
          <a:p>
            <a:pPr>
              <a:buNone/>
            </a:pPr>
            <a:r>
              <a:rPr lang="en-US" sz="2800" dirty="0" smtClean="0"/>
              <a:t>'</a:t>
            </a:r>
            <a:r>
              <a:rPr lang="en-US" sz="2800" dirty="0" err="1" smtClean="0"/>
              <a:t>hh</a:t>
            </a:r>
            <a:r>
              <a:rPr lang="en-US" sz="2800" dirty="0" smtClean="0"/>
              <a:t>********'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lstrip</a:t>
            </a:r>
            <a:r>
              <a:rPr lang="en-US" b="1" dirty="0" smtClean="0"/>
              <a:t>() </a:t>
            </a:r>
          </a:p>
          <a:p>
            <a:pPr>
              <a:buNone/>
            </a:pPr>
            <a:r>
              <a:rPr lang="en-US" sz="2800" dirty="0" smtClean="0"/>
              <a:t>Removes all leading whitespace in string.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&gt;&gt;&gt;a="   </a:t>
            </a:r>
            <a:r>
              <a:rPr lang="en-US" dirty="0" err="1" smtClean="0"/>
              <a:t>dffgfg</a:t>
            </a:r>
            <a:r>
              <a:rPr lang="en-US" dirty="0" smtClean="0"/>
              <a:t>“</a:t>
            </a:r>
          </a:p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a.lstrip</a:t>
            </a:r>
            <a:r>
              <a:rPr lang="en-US" b="1" dirty="0" smtClean="0"/>
              <a:t>()</a:t>
            </a:r>
          </a:p>
          <a:p>
            <a:pPr>
              <a:buNone/>
            </a:pPr>
            <a:r>
              <a:rPr lang="en-US" sz="2800" dirty="0" smtClean="0"/>
              <a:t>'</a:t>
            </a:r>
            <a:r>
              <a:rPr lang="en-US" sz="2800" dirty="0" err="1" smtClean="0"/>
              <a:t>dffgfg</a:t>
            </a:r>
            <a:r>
              <a:rPr lang="en-US" sz="2800" dirty="0" smtClean="0"/>
              <a:t>‘</a:t>
            </a:r>
          </a:p>
          <a:p>
            <a:pPr>
              <a:buNone/>
            </a:pPr>
            <a:r>
              <a:rPr lang="en-US" b="1" dirty="0" smtClean="0"/>
              <a:t>&gt;&gt;&gt;strip([chars])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sz="2800" dirty="0" smtClean="0"/>
              <a:t>Performs both </a:t>
            </a:r>
            <a:r>
              <a:rPr lang="en-US" sz="2800" dirty="0" err="1" smtClean="0"/>
              <a:t>lstrip</a:t>
            </a:r>
            <a:r>
              <a:rPr lang="en-US" sz="2800" dirty="0" smtClean="0"/>
              <a:t>() and </a:t>
            </a:r>
            <a:r>
              <a:rPr lang="en-US" sz="2800" dirty="0" err="1" smtClean="0"/>
              <a:t>rstrip</a:t>
            </a:r>
            <a:r>
              <a:rPr lang="en-US" sz="2800" dirty="0" smtClean="0"/>
              <a:t>() on string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&gt;&gt;&gt;max(</a:t>
            </a:r>
            <a:r>
              <a:rPr lang="en-US" b="1" dirty="0" err="1" smtClean="0"/>
              <a:t>str</a:t>
            </a:r>
            <a:r>
              <a:rPr lang="en-US" b="1" dirty="0" smtClean="0"/>
              <a:t>) </a:t>
            </a:r>
          </a:p>
          <a:p>
            <a:r>
              <a:rPr lang="en-US" sz="2600" dirty="0" smtClean="0"/>
              <a:t>Returns the max alphabetical character from the string str. </a:t>
            </a:r>
          </a:p>
          <a:p>
            <a:pPr>
              <a:buNone/>
            </a:pPr>
            <a:r>
              <a:rPr lang="en-US" sz="3000" b="1" dirty="0" smtClean="0"/>
              <a:t>&gt;&gt;&gt;min(</a:t>
            </a:r>
            <a:r>
              <a:rPr lang="en-US" sz="3000" b="1" dirty="0" err="1" smtClean="0"/>
              <a:t>str</a:t>
            </a:r>
            <a:r>
              <a:rPr lang="en-US" sz="3000" b="1" dirty="0" smtClean="0"/>
              <a:t>) </a:t>
            </a:r>
            <a:endParaRPr lang="en-US" b="1" dirty="0" smtClean="0"/>
          </a:p>
          <a:p>
            <a:r>
              <a:rPr lang="en-US" sz="2600" dirty="0" smtClean="0"/>
              <a:t>Returns the min alphabetical character from the string str.</a:t>
            </a:r>
            <a:r>
              <a:rPr lang="en-US" sz="3000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sz="3000" b="1" dirty="0" smtClean="0"/>
              <a:t>&gt;&gt;&gt;replace(old, new [, max]) </a:t>
            </a:r>
          </a:p>
          <a:p>
            <a:r>
              <a:rPr lang="en-US" sz="2400" dirty="0" smtClean="0"/>
              <a:t>Replaces all occurrences of old in string with new or at most max occurrences if max given.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rstrip</a:t>
            </a:r>
            <a:r>
              <a:rPr lang="en-US" b="1" dirty="0" smtClean="0"/>
              <a:t>() </a:t>
            </a:r>
          </a:p>
          <a:p>
            <a:r>
              <a:rPr lang="en-US" sz="2400" dirty="0" smtClean="0"/>
              <a:t>Removes all trailing whitespace of string.</a:t>
            </a:r>
          </a:p>
          <a:p>
            <a:pPr>
              <a:buNone/>
            </a:pPr>
            <a:r>
              <a:rPr lang="en-US" b="1" dirty="0" smtClean="0"/>
              <a:t>&gt;&gt;&gt;split(</a:t>
            </a:r>
            <a:r>
              <a:rPr lang="en-US" b="1" dirty="0" err="1" smtClean="0"/>
              <a:t>str</a:t>
            </a:r>
            <a:r>
              <a:rPr lang="en-US" b="1" dirty="0" smtClean="0"/>
              <a:t>="", num=</a:t>
            </a:r>
            <a:r>
              <a:rPr lang="en-US" b="1" dirty="0" err="1" smtClean="0"/>
              <a:t>string.count</a:t>
            </a:r>
            <a:r>
              <a:rPr lang="en-US" b="1" dirty="0" smtClean="0"/>
              <a:t>(</a:t>
            </a:r>
            <a:r>
              <a:rPr lang="en-US" b="1" dirty="0" err="1" smtClean="0"/>
              <a:t>str</a:t>
            </a:r>
            <a:r>
              <a:rPr lang="en-US" b="1" dirty="0" smtClean="0"/>
              <a:t>)) </a:t>
            </a:r>
          </a:p>
          <a:p>
            <a:r>
              <a:rPr lang="en-US" sz="2400" dirty="0" smtClean="0"/>
              <a:t>Splits string according to delimiter </a:t>
            </a:r>
            <a:r>
              <a:rPr lang="en-US" sz="2400" dirty="0" err="1" smtClean="0"/>
              <a:t>str</a:t>
            </a:r>
            <a:r>
              <a:rPr lang="en-US" sz="2400" dirty="0" smtClean="0"/>
              <a:t> (space if not provided) and returns list of substrings; </a:t>
            </a:r>
          </a:p>
          <a:p>
            <a:r>
              <a:rPr lang="en-US" sz="2400" dirty="0" smtClean="0"/>
              <a:t>split into at most num substrings if given.</a:t>
            </a:r>
          </a:p>
          <a:p>
            <a:pPr>
              <a:buNone/>
            </a:pPr>
            <a:r>
              <a:rPr lang="en-US" sz="2400" b="1" dirty="0" smtClean="0"/>
              <a:t>&gt;&gt;&gt;a='</a:t>
            </a:r>
            <a:r>
              <a:rPr lang="en-US" sz="2400" b="1" dirty="0" err="1" smtClean="0"/>
              <a:t>asjhagjhg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ghjghjg</a:t>
            </a:r>
            <a:r>
              <a:rPr lang="en-US" sz="2400" b="1" dirty="0" smtClean="0"/>
              <a:t> g </a:t>
            </a:r>
            <a:r>
              <a:rPr lang="en-US" sz="2400" b="1" dirty="0" err="1" smtClean="0"/>
              <a:t>jhgjhg</a:t>
            </a:r>
            <a:r>
              <a:rPr lang="en-US" sz="2400" b="1" dirty="0" smtClean="0"/>
              <a:t>‘</a:t>
            </a:r>
          </a:p>
          <a:p>
            <a:pPr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a.split</a:t>
            </a:r>
            <a:r>
              <a:rPr lang="en-US" sz="2400" b="1" dirty="0" smtClean="0"/>
              <a:t>("</a:t>
            </a:r>
            <a:r>
              <a:rPr lang="en-US" sz="2400" b="1" dirty="0" err="1" smtClean="0"/>
              <a:t>g",a.count</a:t>
            </a:r>
            <a:r>
              <a:rPr lang="en-US" sz="2400" b="1" dirty="0" smtClean="0"/>
              <a:t>('g'))</a:t>
            </a:r>
          </a:p>
          <a:p>
            <a:pPr>
              <a:buNone/>
            </a:pPr>
            <a:r>
              <a:rPr lang="en-US" sz="2400" dirty="0" smtClean="0"/>
              <a:t>	['</a:t>
            </a:r>
            <a:r>
              <a:rPr lang="en-US" sz="2400" dirty="0" err="1" smtClean="0"/>
              <a:t>asjha</a:t>
            </a:r>
            <a:r>
              <a:rPr lang="en-US" sz="2400" dirty="0" smtClean="0"/>
              <a:t>', '</a:t>
            </a:r>
            <a:r>
              <a:rPr lang="en-US" sz="2400" dirty="0" err="1" smtClean="0"/>
              <a:t>jh</a:t>
            </a:r>
            <a:r>
              <a:rPr lang="en-US" sz="2400" dirty="0" smtClean="0"/>
              <a:t>', ' ', '</a:t>
            </a:r>
            <a:r>
              <a:rPr lang="en-US" sz="2400" dirty="0" err="1" smtClean="0"/>
              <a:t>hj</a:t>
            </a:r>
            <a:r>
              <a:rPr lang="en-US" sz="2400" dirty="0" smtClean="0"/>
              <a:t>', '</a:t>
            </a:r>
            <a:r>
              <a:rPr lang="en-US" sz="2400" dirty="0" err="1" smtClean="0"/>
              <a:t>hj</a:t>
            </a:r>
            <a:r>
              <a:rPr lang="en-US" sz="2400" dirty="0" smtClean="0"/>
              <a:t>', ' ', ' </a:t>
            </a:r>
            <a:r>
              <a:rPr lang="en-US" sz="2400" dirty="0" err="1" smtClean="0"/>
              <a:t>jh</a:t>
            </a:r>
            <a:r>
              <a:rPr lang="en-US" sz="2400" dirty="0" smtClean="0"/>
              <a:t>', '</a:t>
            </a:r>
            <a:r>
              <a:rPr lang="en-US" sz="2400" dirty="0" err="1" smtClean="0"/>
              <a:t>jh</a:t>
            </a:r>
            <a:r>
              <a:rPr lang="en-US" sz="2400" dirty="0" smtClean="0"/>
              <a:t>', '']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swapcase</a:t>
            </a:r>
            <a:r>
              <a:rPr lang="en-US" b="1" dirty="0" smtClean="0"/>
              <a:t>() </a:t>
            </a:r>
          </a:p>
          <a:p>
            <a:r>
              <a:rPr lang="en-US" sz="2400" dirty="0" smtClean="0"/>
              <a:t>Inverts case for all letters in string.</a:t>
            </a:r>
          </a:p>
          <a:p>
            <a:pPr>
              <a:buNone/>
            </a:pPr>
            <a:r>
              <a:rPr lang="en-US" sz="2800" b="1" dirty="0" smtClean="0"/>
              <a:t>&gt;&gt;&gt;title() </a:t>
            </a:r>
          </a:p>
          <a:p>
            <a:r>
              <a:rPr lang="en-US" sz="2400" dirty="0" smtClean="0"/>
              <a:t>Returns "</a:t>
            </a:r>
            <a:r>
              <a:rPr lang="en-US" sz="2400" dirty="0" err="1" smtClean="0"/>
              <a:t>titlecased</a:t>
            </a:r>
            <a:r>
              <a:rPr lang="en-US" sz="2400" dirty="0" smtClean="0"/>
              <a:t>" version of string, that is, all words begin with uppercase and the rest are lowercase.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 in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def </a:t>
            </a:r>
            <a:r>
              <a:rPr lang="en-US" sz="2800" dirty="0" err="1" smtClean="0"/>
              <a:t>function_name</a:t>
            </a:r>
            <a:r>
              <a:rPr lang="en-US" b="1" dirty="0" smtClean="0"/>
              <a:t>( </a:t>
            </a:r>
            <a:r>
              <a:rPr lang="en-US" sz="2800" dirty="0" smtClean="0"/>
              <a:t>parameters</a:t>
            </a:r>
            <a:r>
              <a:rPr lang="en-US" b="1" dirty="0" smtClean="0"/>
              <a:t> ): </a:t>
            </a:r>
          </a:p>
          <a:p>
            <a:pPr>
              <a:buNone/>
            </a:pPr>
            <a:r>
              <a:rPr lang="en-US" b="1" dirty="0" smtClean="0"/>
              <a:t>   	</a:t>
            </a:r>
            <a:r>
              <a:rPr lang="en-US" sz="2800" dirty="0" smtClean="0"/>
              <a:t>"</a:t>
            </a:r>
            <a:r>
              <a:rPr lang="en-US" sz="2800" dirty="0" err="1" smtClean="0"/>
              <a:t>function_docstring</a:t>
            </a:r>
            <a:r>
              <a:rPr lang="en-US" sz="2800" dirty="0" smtClean="0"/>
              <a:t>" </a:t>
            </a:r>
          </a:p>
          <a:p>
            <a:pPr>
              <a:buNone/>
            </a:pPr>
            <a:r>
              <a:rPr lang="en-US" sz="2800" dirty="0" smtClean="0"/>
              <a:t>   	</a:t>
            </a:r>
            <a:r>
              <a:rPr lang="en-US" sz="2800" dirty="0" err="1" smtClean="0"/>
              <a:t>function_suite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   	return [expression] 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def </a:t>
            </a:r>
            <a:r>
              <a:rPr lang="en-US" dirty="0" err="1" smtClean="0"/>
              <a:t>my_func</a:t>
            </a:r>
            <a:r>
              <a:rPr lang="en-US" b="1" dirty="0" smtClean="0"/>
              <a:t>():	</a:t>
            </a:r>
          </a:p>
          <a:p>
            <a:pPr>
              <a:buNone/>
            </a:pPr>
            <a:r>
              <a:rPr lang="en-US" sz="2800" b="1" dirty="0" smtClean="0"/>
              <a:t>		x = 10	</a:t>
            </a:r>
          </a:p>
          <a:p>
            <a:pPr>
              <a:buNone/>
            </a:pPr>
            <a:r>
              <a:rPr lang="en-US" sz="2800" b="1" dirty="0" smtClean="0"/>
              <a:t>		print("Value inside function:",x)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400" dirty="0" smtClean="0"/>
              <a:t>x = 20</a:t>
            </a:r>
          </a:p>
          <a:p>
            <a:pPr>
              <a:buNone/>
            </a:pPr>
            <a:r>
              <a:rPr lang="en-US" sz="2400" dirty="0" err="1" smtClean="0"/>
              <a:t>my_func</a:t>
            </a:r>
            <a:r>
              <a:rPr lang="en-US" sz="2400" dirty="0" smtClean="0"/>
              <a:t>()</a:t>
            </a:r>
          </a:p>
          <a:p>
            <a:pPr>
              <a:buNone/>
            </a:pPr>
            <a:r>
              <a:rPr lang="en-US" sz="2400" dirty="0" smtClean="0"/>
              <a:t>print("Value outside function:",x)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Value inside function: 10 </a:t>
            </a:r>
          </a:p>
          <a:p>
            <a:pPr>
              <a:buNone/>
            </a:pPr>
            <a:r>
              <a:rPr lang="en-US" sz="2400" dirty="0" smtClean="0"/>
              <a:t>Value outside function: 20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Pass by Reference </a:t>
            </a:r>
            <a:r>
              <a:rPr lang="en-US" b="1" dirty="0" err="1" smtClean="0"/>
              <a:t>vs</a:t>
            </a:r>
            <a:r>
              <a:rPr lang="en-US" b="1" dirty="0" smtClean="0"/>
              <a:t> Value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2400" b="1" dirty="0" smtClean="0"/>
              <a:t>def</a:t>
            </a:r>
            <a:r>
              <a:rPr lang="en-US" sz="2400" dirty="0" smtClean="0"/>
              <a:t> </a:t>
            </a:r>
            <a:r>
              <a:rPr lang="en-US" sz="2400" dirty="0" err="1" smtClean="0"/>
              <a:t>changeme</a:t>
            </a:r>
            <a:r>
              <a:rPr lang="en-US" sz="2400" dirty="0" smtClean="0"/>
              <a:t>( mylist1 ): </a:t>
            </a:r>
          </a:p>
          <a:p>
            <a:pPr algn="just">
              <a:buNone/>
            </a:pPr>
            <a:r>
              <a:rPr lang="en-US" sz="2400" dirty="0" smtClean="0"/>
              <a:t>   	"This changes a passed list into this function" </a:t>
            </a:r>
          </a:p>
          <a:p>
            <a:pPr algn="just">
              <a:buNone/>
            </a:pPr>
            <a:r>
              <a:rPr lang="en-US" sz="2400" dirty="0" smtClean="0"/>
              <a:t>   	</a:t>
            </a:r>
            <a:r>
              <a:rPr lang="en-US" sz="2800" b="1" dirty="0" smtClean="0"/>
              <a:t>print ("</a:t>
            </a:r>
            <a:r>
              <a:rPr lang="en-US" sz="2400" dirty="0" smtClean="0"/>
              <a:t>before change: ", mylist1</a:t>
            </a:r>
            <a:r>
              <a:rPr lang="en-US" sz="2800" b="1" dirty="0" smtClean="0"/>
              <a:t>) </a:t>
            </a: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   	mylist1[2]=50 </a:t>
            </a:r>
          </a:p>
          <a:p>
            <a:pPr algn="just">
              <a:buNone/>
            </a:pPr>
            <a:r>
              <a:rPr lang="en-US" sz="2400" dirty="0" smtClean="0"/>
              <a:t>   	</a:t>
            </a:r>
            <a:r>
              <a:rPr lang="en-US" sz="2800" b="1" dirty="0" smtClean="0"/>
              <a:t>print ("</a:t>
            </a:r>
            <a:r>
              <a:rPr lang="en-US" sz="2400" dirty="0" smtClean="0"/>
              <a:t>after change: ", mylist1</a:t>
            </a:r>
            <a:r>
              <a:rPr lang="en-US" sz="2800" b="1" dirty="0" smtClean="0"/>
              <a:t>)</a:t>
            </a:r>
          </a:p>
          <a:p>
            <a:pPr algn="just">
              <a:buNone/>
            </a:pPr>
            <a:r>
              <a:rPr lang="en-US" sz="2800" b="1" dirty="0" smtClean="0"/>
              <a:t> 	return </a:t>
            </a:r>
          </a:p>
          <a:p>
            <a:pPr algn="just">
              <a:buNone/>
            </a:pPr>
            <a:r>
              <a:rPr lang="en-US" sz="2600" dirty="0" smtClean="0"/>
              <a:t># Now you can call </a:t>
            </a:r>
            <a:r>
              <a:rPr lang="en-US" sz="2600" dirty="0" err="1" smtClean="0"/>
              <a:t>changeme</a:t>
            </a:r>
            <a:r>
              <a:rPr lang="en-US" sz="2600" dirty="0" smtClean="0"/>
              <a:t> function </a:t>
            </a:r>
          </a:p>
          <a:p>
            <a:pPr algn="just">
              <a:buNone/>
            </a:pPr>
            <a:r>
              <a:rPr lang="en-US" sz="2600" dirty="0" err="1" smtClean="0"/>
              <a:t>mylist</a:t>
            </a:r>
            <a:r>
              <a:rPr lang="en-US" sz="2600" dirty="0" smtClean="0"/>
              <a:t> = [10,20,30] </a:t>
            </a:r>
          </a:p>
          <a:p>
            <a:pPr algn="just">
              <a:buNone/>
            </a:pPr>
            <a:r>
              <a:rPr lang="en-US" sz="2600" dirty="0" err="1" smtClean="0"/>
              <a:t>changeme</a:t>
            </a:r>
            <a:r>
              <a:rPr lang="en-US" sz="2600" dirty="0" smtClean="0"/>
              <a:t>( </a:t>
            </a:r>
            <a:r>
              <a:rPr lang="en-US" sz="2600" dirty="0" err="1" smtClean="0"/>
              <a:t>mylist</a:t>
            </a:r>
            <a:r>
              <a:rPr lang="en-US" sz="2600" dirty="0" smtClean="0"/>
              <a:t> ) </a:t>
            </a:r>
          </a:p>
          <a:p>
            <a:pPr algn="just">
              <a:buNone/>
            </a:pPr>
            <a:r>
              <a:rPr lang="en-US" sz="2600" dirty="0" smtClean="0"/>
              <a:t>print ("Values outside the function: ", </a:t>
            </a:r>
            <a:r>
              <a:rPr lang="en-US" sz="2600" dirty="0" err="1" smtClean="0"/>
              <a:t>mylist</a:t>
            </a:r>
            <a:r>
              <a:rPr lang="en-US" sz="2600" dirty="0" smtClean="0"/>
              <a:t>) </a:t>
            </a:r>
          </a:p>
          <a:p>
            <a:pPr algn="just">
              <a:buNone/>
            </a:pPr>
            <a:r>
              <a:rPr lang="en-US" sz="2400" dirty="0" smtClean="0"/>
              <a:t> 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Here, we are maintaining reference of the passed object and appending values in the same object. </a:t>
            </a:r>
          </a:p>
          <a:p>
            <a:r>
              <a:rPr lang="en-US" sz="2400" dirty="0" smtClean="0"/>
              <a:t>Therefore, this would produce the following result- </a:t>
            </a:r>
          </a:p>
          <a:p>
            <a:r>
              <a:rPr lang="en-US" sz="2400" dirty="0" smtClean="0"/>
              <a:t>before change:  [10, 20, 30] </a:t>
            </a:r>
          </a:p>
          <a:p>
            <a:r>
              <a:rPr lang="en-US" sz="2400" dirty="0" smtClean="0"/>
              <a:t>after change:     [10, 20, 50] </a:t>
            </a:r>
          </a:p>
          <a:p>
            <a:r>
              <a:rPr lang="en-US" sz="2400" dirty="0" smtClean="0"/>
              <a:t>Values outside the function:  [10, 20, 50]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def</a:t>
            </a:r>
            <a:r>
              <a:rPr lang="en-US" sz="2400" dirty="0" smtClean="0"/>
              <a:t> </a:t>
            </a:r>
            <a:r>
              <a:rPr lang="en-US" sz="2400" dirty="0" err="1" smtClean="0"/>
              <a:t>changeme</a:t>
            </a:r>
            <a:r>
              <a:rPr lang="en-US" sz="2400" b="1" dirty="0" smtClean="0"/>
              <a:t>(</a:t>
            </a:r>
            <a:r>
              <a:rPr lang="en-US" sz="2400" dirty="0" smtClean="0"/>
              <a:t> </a:t>
            </a:r>
            <a:r>
              <a:rPr lang="en-US" sz="2400" dirty="0" err="1" smtClean="0"/>
              <a:t>mylist</a:t>
            </a:r>
            <a:r>
              <a:rPr lang="en-US" sz="2400" dirty="0" smtClean="0"/>
              <a:t> </a:t>
            </a:r>
            <a:r>
              <a:rPr lang="en-US" sz="2400" b="1" dirty="0" smtClean="0"/>
              <a:t>):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		"This changes a passed list into this function" </a:t>
            </a:r>
          </a:p>
          <a:p>
            <a:pPr>
              <a:buNone/>
            </a:pPr>
            <a:r>
              <a:rPr lang="en-US" sz="2400" dirty="0" smtClean="0"/>
              <a:t>   		</a:t>
            </a:r>
            <a:r>
              <a:rPr lang="en-US" sz="2400" dirty="0" err="1" smtClean="0"/>
              <a:t>mylist</a:t>
            </a:r>
            <a:r>
              <a:rPr lang="en-US" sz="2400" dirty="0" smtClean="0"/>
              <a:t> = [1,2,3,4]</a:t>
            </a:r>
            <a:r>
              <a:rPr lang="en-US" sz="2000" dirty="0" smtClean="0"/>
              <a:t> # This would assign new reference in </a:t>
            </a:r>
            <a:r>
              <a:rPr lang="en-US" sz="2000" dirty="0" err="1" smtClean="0"/>
              <a:t>mylist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		</a:t>
            </a:r>
            <a:r>
              <a:rPr lang="en-US" sz="2400" b="1" dirty="0" smtClean="0"/>
              <a:t>print ("</a:t>
            </a:r>
            <a:r>
              <a:rPr lang="en-US" sz="2400" dirty="0" smtClean="0"/>
              <a:t>Values inside the function: ", </a:t>
            </a:r>
            <a:r>
              <a:rPr lang="en-US" sz="2400" dirty="0" err="1" smtClean="0"/>
              <a:t>mylist</a:t>
            </a:r>
            <a:r>
              <a:rPr lang="en-US" sz="2400" b="1" dirty="0" smtClean="0"/>
              <a:t>)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		</a:t>
            </a:r>
            <a:r>
              <a:rPr lang="en-US" sz="2400" b="1" dirty="0" smtClean="0"/>
              <a:t>return </a:t>
            </a:r>
          </a:p>
          <a:p>
            <a:pPr>
              <a:buNone/>
            </a:pP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# Now you can call </a:t>
            </a:r>
            <a:r>
              <a:rPr lang="en-US" sz="2400" dirty="0" err="1" smtClean="0"/>
              <a:t>changeme</a:t>
            </a:r>
            <a:r>
              <a:rPr lang="en-US" sz="2400" dirty="0" smtClean="0"/>
              <a:t> function </a:t>
            </a:r>
          </a:p>
          <a:p>
            <a:pPr>
              <a:buNone/>
            </a:pPr>
            <a:r>
              <a:rPr lang="en-US" sz="2400" dirty="0" err="1" smtClean="0"/>
              <a:t>mylist</a:t>
            </a:r>
            <a:r>
              <a:rPr lang="en-US" sz="2400" dirty="0" smtClean="0"/>
              <a:t> = [10,20,30] </a:t>
            </a:r>
          </a:p>
          <a:p>
            <a:pPr>
              <a:buNone/>
            </a:pPr>
            <a:r>
              <a:rPr lang="en-US" sz="2400" dirty="0" err="1" smtClean="0"/>
              <a:t>changeme</a:t>
            </a:r>
            <a:r>
              <a:rPr lang="en-US" sz="2400" dirty="0" smtClean="0"/>
              <a:t>( </a:t>
            </a:r>
            <a:r>
              <a:rPr lang="en-US" sz="2400" dirty="0" err="1" smtClean="0"/>
              <a:t>mylist</a:t>
            </a:r>
            <a:r>
              <a:rPr lang="en-US" sz="2400" dirty="0" smtClean="0"/>
              <a:t> ) </a:t>
            </a:r>
          </a:p>
          <a:p>
            <a:pPr>
              <a:buNone/>
            </a:pPr>
            <a:r>
              <a:rPr lang="en-US" sz="2400" dirty="0" smtClean="0"/>
              <a:t>print ("Values outside the function: ", </a:t>
            </a:r>
            <a:r>
              <a:rPr lang="en-US" sz="2400" dirty="0" err="1" smtClean="0"/>
              <a:t>mylist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parameter </a:t>
            </a:r>
            <a:r>
              <a:rPr lang="en-US" sz="2400" dirty="0" err="1" smtClean="0"/>
              <a:t>mylist</a:t>
            </a:r>
            <a:r>
              <a:rPr lang="en-US" sz="2400" dirty="0" smtClean="0"/>
              <a:t> is local to the function  </a:t>
            </a:r>
            <a:r>
              <a:rPr lang="en-US" sz="2400" dirty="0" err="1" smtClean="0"/>
              <a:t>changeme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Changing </a:t>
            </a:r>
            <a:r>
              <a:rPr lang="en-US" sz="2400" dirty="0" err="1" smtClean="0"/>
              <a:t>mylist</a:t>
            </a:r>
            <a:r>
              <a:rPr lang="en-US" sz="2400" dirty="0" smtClean="0"/>
              <a:t> within the function does not affect </a:t>
            </a:r>
            <a:r>
              <a:rPr lang="en-US" sz="2400" dirty="0" err="1" smtClean="0"/>
              <a:t>mylist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The function accomplishes nothing and finally this would produce the following result-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Values inside the function:  [1, 2, 3, 4]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Values outside the function:  [10, 20, 30]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You can call a function by using the following types of formal arguments- </a:t>
            </a:r>
          </a:p>
          <a:p>
            <a:pPr lvl="1"/>
            <a:r>
              <a:rPr lang="en-US" sz="2400" dirty="0" smtClean="0"/>
              <a:t>Required arguments </a:t>
            </a:r>
          </a:p>
          <a:p>
            <a:pPr lvl="1"/>
            <a:r>
              <a:rPr lang="en-US" sz="2400" dirty="0" smtClean="0"/>
              <a:t>Keyword arguments </a:t>
            </a:r>
          </a:p>
          <a:p>
            <a:pPr lvl="1"/>
            <a:r>
              <a:rPr lang="en-US" sz="2400" dirty="0" smtClean="0"/>
              <a:t>Default arguments </a:t>
            </a:r>
          </a:p>
          <a:p>
            <a:pPr lvl="1"/>
            <a:r>
              <a:rPr lang="en-US" sz="2400" dirty="0" smtClean="0"/>
              <a:t>Variable-length arguments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Required Arguments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Required arguments are the arguments passed to a function in correct positional order. </a:t>
            </a:r>
          </a:p>
          <a:p>
            <a:r>
              <a:rPr lang="en-US" sz="2400" dirty="0" smtClean="0"/>
              <a:t>Here, the number of arguments in the function call should match exactly with the function definition.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# Function definition is here </a:t>
            </a:r>
          </a:p>
          <a:p>
            <a:pPr>
              <a:buNone/>
            </a:pPr>
            <a:r>
              <a:rPr lang="en-US" sz="2400" dirty="0" smtClean="0"/>
              <a:t>def </a:t>
            </a:r>
            <a:r>
              <a:rPr lang="en-US" sz="2400" dirty="0" err="1" smtClean="0"/>
              <a:t>printme</a:t>
            </a:r>
            <a:r>
              <a:rPr lang="en-US" sz="2400" dirty="0" smtClean="0"/>
              <a:t>( </a:t>
            </a:r>
            <a:r>
              <a:rPr lang="en-US" sz="2400" dirty="0" err="1" smtClean="0"/>
              <a:t>str</a:t>
            </a:r>
            <a:r>
              <a:rPr lang="en-US" sz="2400" dirty="0" smtClean="0"/>
              <a:t> ): </a:t>
            </a:r>
          </a:p>
          <a:p>
            <a:pPr>
              <a:buNone/>
            </a:pPr>
            <a:r>
              <a:rPr lang="en-US" sz="2400" dirty="0" smtClean="0"/>
              <a:t>   	"This prints a passed string into this function" </a:t>
            </a:r>
          </a:p>
          <a:p>
            <a:pPr>
              <a:buNone/>
            </a:pPr>
            <a:r>
              <a:rPr lang="en-US" sz="2400" dirty="0" smtClean="0"/>
              <a:t>   	print (</a:t>
            </a:r>
            <a:r>
              <a:rPr lang="en-US" sz="2400" dirty="0" err="1" smtClean="0"/>
              <a:t>str</a:t>
            </a:r>
            <a:r>
              <a:rPr lang="en-US" sz="2400" dirty="0" smtClean="0"/>
              <a:t>) </a:t>
            </a:r>
          </a:p>
          <a:p>
            <a:pPr>
              <a:buNone/>
            </a:pPr>
            <a:r>
              <a:rPr lang="en-US" sz="2400" dirty="0" smtClean="0"/>
              <a:t>   	return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# Now you can call </a:t>
            </a:r>
            <a:r>
              <a:rPr lang="en-US" sz="2400" dirty="0" err="1" smtClean="0"/>
              <a:t>printme</a:t>
            </a:r>
            <a:r>
              <a:rPr lang="en-US" sz="2400" dirty="0" smtClean="0"/>
              <a:t> function </a:t>
            </a:r>
          </a:p>
          <a:p>
            <a:pPr>
              <a:buNone/>
            </a:pPr>
            <a:r>
              <a:rPr lang="en-US" sz="2400" dirty="0" err="1" smtClean="0"/>
              <a:t>printme</a:t>
            </a:r>
            <a:r>
              <a:rPr lang="en-US" sz="2400" dirty="0" smtClean="0"/>
              <a:t>(‘hello’)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Output: hello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Keyword Arguments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Keyword arguments are related to the function calls. </a:t>
            </a:r>
          </a:p>
          <a:p>
            <a:r>
              <a:rPr lang="en-US" sz="2400" dirty="0" smtClean="0"/>
              <a:t>When you use keyword arguments in a function call, the caller identifies the arguments by the parameter name. </a:t>
            </a:r>
          </a:p>
          <a:p>
            <a:r>
              <a:rPr lang="en-US" sz="2400" dirty="0" smtClean="0"/>
              <a:t>This allows you to skip arguments or place them out of order because the Python interpreter is able to use the keywords provided to match the values with parameters. </a:t>
            </a:r>
          </a:p>
          <a:p>
            <a:r>
              <a:rPr lang="en-US" sz="2400" dirty="0" smtClean="0"/>
              <a:t>You can also make keyword calls to the </a:t>
            </a:r>
            <a:r>
              <a:rPr lang="en-US" sz="2400" dirty="0" err="1" smtClean="0"/>
              <a:t>printme</a:t>
            </a:r>
            <a:r>
              <a:rPr lang="en-US" sz="2400" dirty="0" smtClean="0"/>
              <a:t>() function in the following ways-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def </a:t>
            </a:r>
            <a:r>
              <a:rPr lang="en-US" sz="2400" dirty="0" err="1" smtClean="0"/>
              <a:t>printme</a:t>
            </a:r>
            <a:r>
              <a:rPr lang="en-US" sz="2400" dirty="0" smtClean="0"/>
              <a:t>( </a:t>
            </a:r>
            <a:r>
              <a:rPr lang="en-US" sz="2400" dirty="0" err="1" smtClean="0"/>
              <a:t>strn</a:t>
            </a:r>
            <a:r>
              <a:rPr lang="en-US" sz="2400" dirty="0" smtClean="0"/>
              <a:t> ): </a:t>
            </a:r>
          </a:p>
          <a:p>
            <a:pPr>
              <a:buNone/>
            </a:pPr>
            <a:r>
              <a:rPr lang="en-US" sz="2400" dirty="0" smtClean="0"/>
              <a:t>   	"This prints a passed string into this function" </a:t>
            </a:r>
          </a:p>
          <a:p>
            <a:pPr>
              <a:buNone/>
            </a:pPr>
            <a:r>
              <a:rPr lang="en-US" sz="2400" dirty="0" smtClean="0"/>
              <a:t>   	print (</a:t>
            </a:r>
            <a:r>
              <a:rPr lang="en-US" sz="2400" dirty="0" err="1" smtClean="0"/>
              <a:t>strn</a:t>
            </a:r>
            <a:r>
              <a:rPr lang="en-US" sz="2400" dirty="0" smtClean="0"/>
              <a:t>) </a:t>
            </a:r>
          </a:p>
          <a:p>
            <a:pPr>
              <a:buNone/>
            </a:pPr>
            <a:r>
              <a:rPr lang="en-US" sz="2400" dirty="0" smtClean="0"/>
              <a:t>   	return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# Now you can call </a:t>
            </a:r>
            <a:r>
              <a:rPr lang="en-US" sz="2400" dirty="0" err="1" smtClean="0"/>
              <a:t>printme</a:t>
            </a:r>
            <a:r>
              <a:rPr lang="en-US" sz="2400" dirty="0" smtClean="0"/>
              <a:t> function </a:t>
            </a:r>
          </a:p>
          <a:p>
            <a:pPr>
              <a:buNone/>
            </a:pPr>
            <a:r>
              <a:rPr lang="en-US" sz="2400" dirty="0" err="1" smtClean="0"/>
              <a:t>printme</a:t>
            </a:r>
            <a:r>
              <a:rPr lang="en-US" sz="2400" dirty="0" smtClean="0"/>
              <a:t>( </a:t>
            </a:r>
            <a:r>
              <a:rPr lang="en-US" sz="2400" dirty="0" err="1" smtClean="0"/>
              <a:t>strn</a:t>
            </a:r>
            <a:r>
              <a:rPr lang="en-US" sz="2400" dirty="0" smtClean="0"/>
              <a:t> = "My string")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# Function definition is here </a:t>
            </a:r>
            <a:endParaRPr lang="en-US" dirty="0" smtClean="0"/>
          </a:p>
          <a:p>
            <a:pPr>
              <a:buNone/>
            </a:pPr>
            <a:r>
              <a:rPr lang="en-US" sz="2600" b="1" dirty="0" smtClean="0"/>
              <a:t>def</a:t>
            </a:r>
            <a:r>
              <a:rPr lang="en-US" sz="2600" dirty="0" smtClean="0"/>
              <a:t> </a:t>
            </a:r>
            <a:r>
              <a:rPr lang="en-US" sz="2600" dirty="0" err="1" smtClean="0"/>
              <a:t>printinfo</a:t>
            </a:r>
            <a:r>
              <a:rPr lang="en-US" sz="2600" dirty="0" smtClean="0"/>
              <a:t>( name, age ): </a:t>
            </a:r>
          </a:p>
          <a:p>
            <a:pPr>
              <a:buNone/>
            </a:pPr>
            <a:r>
              <a:rPr lang="en-US" sz="2600" dirty="0" smtClean="0"/>
              <a:t>	   "This prints a passed info into this function" </a:t>
            </a:r>
          </a:p>
          <a:p>
            <a:pPr>
              <a:buNone/>
            </a:pPr>
            <a:r>
              <a:rPr lang="en-US" sz="2600" dirty="0" smtClean="0"/>
              <a:t>	   print ("Name: ", name) </a:t>
            </a:r>
          </a:p>
          <a:p>
            <a:pPr>
              <a:buNone/>
            </a:pPr>
            <a:r>
              <a:rPr lang="en-US" sz="2600" dirty="0" smtClean="0"/>
              <a:t>	   print ("Age ", age) </a:t>
            </a:r>
          </a:p>
          <a:p>
            <a:pPr>
              <a:buNone/>
            </a:pPr>
            <a:r>
              <a:rPr lang="en-US" sz="2600" dirty="0" smtClean="0"/>
              <a:t>	   return 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sz="2400" dirty="0" smtClean="0"/>
              <a:t># Now you can call </a:t>
            </a:r>
            <a:r>
              <a:rPr lang="en-US" sz="2400" dirty="0" err="1" smtClean="0"/>
              <a:t>printinfo</a:t>
            </a:r>
            <a:r>
              <a:rPr lang="en-US" sz="2400" dirty="0" smtClean="0"/>
              <a:t> function </a:t>
            </a:r>
            <a:endParaRPr lang="en-US" sz="2800" dirty="0" smtClean="0"/>
          </a:p>
          <a:p>
            <a:pPr>
              <a:buNone/>
            </a:pPr>
            <a:r>
              <a:rPr lang="en-US" sz="2800" dirty="0" err="1" smtClean="0"/>
              <a:t>printinfo</a:t>
            </a:r>
            <a:r>
              <a:rPr lang="en-US" sz="2800" dirty="0" smtClean="0"/>
              <a:t>( age=50, name="</a:t>
            </a:r>
            <a:r>
              <a:rPr lang="en-US" sz="2800" dirty="0" err="1" smtClean="0"/>
              <a:t>miki</a:t>
            </a:r>
            <a:r>
              <a:rPr lang="en-US" sz="2800" dirty="0" smtClean="0"/>
              <a:t>" ) 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A default argument is an argument that assumes a default value if a value is not provided in the function call for  that argument. 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def</a:t>
            </a:r>
            <a:r>
              <a:rPr lang="en-US" sz="2400" dirty="0" smtClean="0"/>
              <a:t> </a:t>
            </a:r>
            <a:r>
              <a:rPr lang="en-US" sz="2400" dirty="0" err="1" smtClean="0"/>
              <a:t>printinfo</a:t>
            </a:r>
            <a:r>
              <a:rPr lang="en-US" sz="2400" dirty="0" smtClean="0"/>
              <a:t>( name, age = 35 ): </a:t>
            </a:r>
          </a:p>
          <a:p>
            <a:pPr>
              <a:buNone/>
            </a:pPr>
            <a:r>
              <a:rPr lang="en-US" sz="2400" dirty="0" smtClean="0"/>
              <a:t>	   print ("Name: ", name)</a:t>
            </a:r>
          </a:p>
          <a:p>
            <a:pPr>
              <a:buNone/>
            </a:pPr>
            <a:r>
              <a:rPr lang="en-US" sz="2400" dirty="0" smtClean="0"/>
              <a:t>	   print ("Age ", age)</a:t>
            </a:r>
          </a:p>
          <a:p>
            <a:pPr>
              <a:buNone/>
            </a:pPr>
            <a:endParaRPr lang="en-US" sz="1300" dirty="0" smtClean="0"/>
          </a:p>
          <a:p>
            <a:pPr>
              <a:buNone/>
            </a:pPr>
            <a:r>
              <a:rPr lang="en-US" sz="2300" dirty="0" smtClean="0"/>
              <a:t># Now you can call </a:t>
            </a:r>
            <a:r>
              <a:rPr lang="en-US" sz="2300" dirty="0" err="1" smtClean="0"/>
              <a:t>printinfo</a:t>
            </a:r>
            <a:r>
              <a:rPr lang="en-US" sz="2300" dirty="0" smtClean="0"/>
              <a:t> function </a:t>
            </a:r>
          </a:p>
          <a:p>
            <a:pPr>
              <a:buNone/>
            </a:pPr>
            <a:r>
              <a:rPr lang="en-US" sz="2400" dirty="0" err="1" smtClean="0"/>
              <a:t>printinfo</a:t>
            </a:r>
            <a:r>
              <a:rPr lang="en-US" sz="2400" dirty="0" smtClean="0"/>
              <a:t>( age=50, name="</a:t>
            </a:r>
            <a:r>
              <a:rPr lang="en-US" sz="2400" dirty="0" err="1" smtClean="0"/>
              <a:t>miki</a:t>
            </a:r>
            <a:r>
              <a:rPr lang="en-US" sz="2400" dirty="0" smtClean="0"/>
              <a:t>" ) </a:t>
            </a:r>
          </a:p>
          <a:p>
            <a:pPr>
              <a:buNone/>
            </a:pPr>
            <a:r>
              <a:rPr lang="en-US" sz="2400" dirty="0" err="1" smtClean="0"/>
              <a:t>printinfo</a:t>
            </a:r>
            <a:r>
              <a:rPr lang="en-US" sz="2400" dirty="0" smtClean="0"/>
              <a:t>( name="</a:t>
            </a:r>
            <a:r>
              <a:rPr lang="en-US" sz="2400" dirty="0" err="1" smtClean="0"/>
              <a:t>miki</a:t>
            </a:r>
            <a:r>
              <a:rPr lang="en-US" sz="2400" dirty="0" smtClean="0"/>
              <a:t>" )</a:t>
            </a:r>
          </a:p>
          <a:p>
            <a:pPr>
              <a:buNone/>
            </a:pPr>
            <a:endParaRPr lang="en-US" sz="1400" dirty="0" smtClean="0"/>
          </a:p>
          <a:p>
            <a:pPr>
              <a:buNone/>
            </a:pPr>
            <a:r>
              <a:rPr lang="en-US" sz="1900" dirty="0" smtClean="0"/>
              <a:t>Name:  </a:t>
            </a:r>
            <a:r>
              <a:rPr lang="en-US" sz="1900" dirty="0" err="1" smtClean="0"/>
              <a:t>miki</a:t>
            </a:r>
            <a:r>
              <a:rPr lang="en-US" sz="1900" dirty="0" smtClean="0"/>
              <a:t> </a:t>
            </a:r>
          </a:p>
          <a:p>
            <a:pPr>
              <a:buNone/>
            </a:pPr>
            <a:r>
              <a:rPr lang="en-US" sz="1900" dirty="0" smtClean="0"/>
              <a:t>Age  50 </a:t>
            </a:r>
          </a:p>
          <a:p>
            <a:pPr>
              <a:buNone/>
            </a:pPr>
            <a:r>
              <a:rPr lang="en-US" sz="1900" dirty="0" smtClean="0"/>
              <a:t>Name:  </a:t>
            </a:r>
            <a:r>
              <a:rPr lang="en-US" sz="1900" dirty="0" err="1" smtClean="0"/>
              <a:t>miki</a:t>
            </a:r>
            <a:r>
              <a:rPr lang="en-US" sz="1900" dirty="0" smtClean="0"/>
              <a:t> </a:t>
            </a:r>
          </a:p>
          <a:p>
            <a:pPr>
              <a:buNone/>
            </a:pPr>
            <a:r>
              <a:rPr lang="en-US" sz="1900" dirty="0" smtClean="0"/>
              <a:t>Age  35</a:t>
            </a:r>
            <a:endParaRPr lang="en-US" sz="1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Variable-length Arguments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You may need to process a function for more arguments than you specified while defining the function. </a:t>
            </a:r>
          </a:p>
          <a:p>
            <a:pPr algn="just"/>
            <a:r>
              <a:rPr lang="en-US" sz="2400" dirty="0" smtClean="0"/>
              <a:t>These arguments are called variable-length arguments and are not named in the function definition, unlike required and default arguments.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def </a:t>
            </a:r>
            <a:r>
              <a:rPr lang="en-US" sz="2400" dirty="0" err="1" smtClean="0"/>
              <a:t>function_name</a:t>
            </a:r>
            <a:r>
              <a:rPr lang="en-US" dirty="0" smtClean="0"/>
              <a:t>(</a:t>
            </a:r>
            <a:r>
              <a:rPr lang="en-US" sz="3000" dirty="0" smtClean="0"/>
              <a:t>[</a:t>
            </a:r>
            <a:r>
              <a:rPr lang="en-US" sz="3000" dirty="0" err="1" smtClean="0"/>
              <a:t>formal_args</a:t>
            </a:r>
            <a:r>
              <a:rPr lang="en-US" sz="3000" dirty="0" smtClean="0"/>
              <a:t>,]</a:t>
            </a:r>
            <a:r>
              <a:rPr lang="en-US" dirty="0" smtClean="0"/>
              <a:t> *</a:t>
            </a:r>
            <a:r>
              <a:rPr lang="en-US" dirty="0" err="1" smtClean="0"/>
              <a:t>var_args_tuple</a:t>
            </a:r>
            <a:r>
              <a:rPr lang="en-US" dirty="0" smtClean="0"/>
              <a:t> ): </a:t>
            </a:r>
          </a:p>
          <a:p>
            <a:pPr>
              <a:buNone/>
            </a:pPr>
            <a:r>
              <a:rPr lang="en-US" dirty="0" smtClean="0"/>
              <a:t>	   </a:t>
            </a:r>
            <a:r>
              <a:rPr lang="en-US" sz="2600" dirty="0" err="1" smtClean="0"/>
              <a:t>function_stmt</a:t>
            </a:r>
            <a:r>
              <a:rPr lang="en-US" sz="2600" dirty="0" smtClean="0"/>
              <a:t> </a:t>
            </a:r>
          </a:p>
          <a:p>
            <a:pPr>
              <a:buNone/>
            </a:pPr>
            <a:r>
              <a:rPr lang="en-US" sz="2600" dirty="0" smtClean="0"/>
              <a:t>   	   return [expression]</a:t>
            </a:r>
            <a:r>
              <a:rPr lang="en-US" dirty="0" smtClean="0"/>
              <a:t> </a:t>
            </a:r>
          </a:p>
          <a:p>
            <a:r>
              <a:rPr lang="en-US" sz="2800" dirty="0" smtClean="0"/>
              <a:t>An asterisk (*) is placed before the variable name that holds the values of all non keyword variable arguments. </a:t>
            </a:r>
          </a:p>
          <a:p>
            <a:r>
              <a:rPr lang="en-US" sz="2800" dirty="0" smtClean="0"/>
              <a:t>This </a:t>
            </a:r>
            <a:r>
              <a:rPr lang="en-US" sz="2800" dirty="0" err="1" smtClean="0"/>
              <a:t>tuple</a:t>
            </a:r>
            <a:r>
              <a:rPr lang="en-US" sz="2800" dirty="0" smtClean="0"/>
              <a:t> remains empty if no additional arguments are specified during the function call.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600200"/>
            <a:ext cx="3505200" cy="452596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 smtClean="0"/>
              <a:t># Now you can call</a:t>
            </a:r>
          </a:p>
          <a:p>
            <a:pPr>
              <a:buNone/>
            </a:pPr>
            <a:r>
              <a:rPr lang="en-US" sz="2400" dirty="0" smtClean="0"/>
              <a:t># </a:t>
            </a:r>
            <a:r>
              <a:rPr lang="en-US" sz="2400" dirty="0" err="1" smtClean="0"/>
              <a:t>printinfo</a:t>
            </a:r>
            <a:r>
              <a:rPr lang="en-US" sz="2400" dirty="0" smtClean="0"/>
              <a:t> function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err="1" smtClean="0"/>
              <a:t>printinfo</a:t>
            </a:r>
            <a:r>
              <a:rPr lang="en-US" sz="2400" dirty="0" smtClean="0"/>
              <a:t>( 10 ) </a:t>
            </a:r>
          </a:p>
          <a:p>
            <a:pPr>
              <a:buNone/>
            </a:pPr>
            <a:r>
              <a:rPr lang="en-US" sz="2400" dirty="0" err="1" smtClean="0"/>
              <a:t>printinfo</a:t>
            </a:r>
            <a:r>
              <a:rPr lang="en-US" sz="2400" dirty="0" smtClean="0"/>
              <a:t>( 70, 60, 50 )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Output is: </a:t>
            </a:r>
          </a:p>
          <a:p>
            <a:pPr>
              <a:buNone/>
            </a:pPr>
            <a:r>
              <a:rPr lang="en-US" sz="2400" dirty="0" smtClean="0"/>
              <a:t>10 </a:t>
            </a:r>
          </a:p>
          <a:p>
            <a:pPr>
              <a:buNone/>
            </a:pPr>
            <a:r>
              <a:rPr lang="en-US" sz="2400" dirty="0" smtClean="0"/>
              <a:t>Output is: </a:t>
            </a:r>
          </a:p>
          <a:p>
            <a:pPr>
              <a:buNone/>
            </a:pPr>
            <a:r>
              <a:rPr lang="en-US" sz="2400" dirty="0" smtClean="0"/>
              <a:t>70 </a:t>
            </a:r>
          </a:p>
          <a:p>
            <a:pPr>
              <a:buNone/>
            </a:pPr>
            <a:r>
              <a:rPr lang="en-US" sz="2400" dirty="0" smtClean="0"/>
              <a:t>60 </a:t>
            </a:r>
          </a:p>
          <a:p>
            <a:pPr>
              <a:buNone/>
            </a:pPr>
            <a:r>
              <a:rPr lang="en-US" sz="2400" dirty="0" smtClean="0"/>
              <a:t>50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1524000"/>
            <a:ext cx="4953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Function definition is here </a:t>
            </a:r>
            <a:endParaRPr lang="en-US" sz="2800" dirty="0" smtClean="0"/>
          </a:p>
          <a:p>
            <a:r>
              <a:rPr lang="en-US" sz="2800" dirty="0" smtClean="0"/>
              <a:t>def </a:t>
            </a:r>
            <a:r>
              <a:rPr lang="en-US" sz="2400" dirty="0" err="1" smtClean="0"/>
              <a:t>printinfo</a:t>
            </a:r>
            <a:r>
              <a:rPr lang="en-US" sz="2800" dirty="0" smtClean="0"/>
              <a:t>( arg1, *</a:t>
            </a:r>
            <a:r>
              <a:rPr lang="en-US" sz="2800" dirty="0" err="1" smtClean="0"/>
              <a:t>vartuple</a:t>
            </a:r>
            <a:r>
              <a:rPr lang="en-US" sz="2800" dirty="0" smtClean="0"/>
              <a:t> ): </a:t>
            </a:r>
          </a:p>
          <a:p>
            <a:r>
              <a:rPr lang="en-US" sz="2800" dirty="0" smtClean="0"/>
              <a:t>   print ("Output is: ") </a:t>
            </a:r>
          </a:p>
          <a:p>
            <a:r>
              <a:rPr lang="en-US" sz="2800" dirty="0" smtClean="0"/>
              <a:t>   print (arg1) </a:t>
            </a:r>
          </a:p>
          <a:p>
            <a:r>
              <a:rPr lang="en-US" sz="2800" dirty="0" smtClean="0"/>
              <a:t>   for </a:t>
            </a:r>
            <a:r>
              <a:rPr lang="en-US" sz="2800" dirty="0" err="1" smtClean="0"/>
              <a:t>var</a:t>
            </a:r>
            <a:r>
              <a:rPr lang="en-US" sz="2800" dirty="0" smtClean="0"/>
              <a:t> in </a:t>
            </a:r>
            <a:r>
              <a:rPr lang="en-US" sz="2800" dirty="0" err="1" smtClean="0"/>
              <a:t>vartuple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      	print (</a:t>
            </a:r>
            <a:r>
              <a:rPr lang="en-US" sz="2800" dirty="0" err="1" smtClean="0"/>
              <a:t>var</a:t>
            </a:r>
            <a:r>
              <a:rPr lang="en-US" sz="2800" dirty="0" smtClean="0"/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The Anonymous Functions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These functions are called anonymous because they are not declared in the standard manner by using the def keyword.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You can use the lambda keyword to  create small anonymous functions.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93688" lvl="1" algn="just"/>
            <a:r>
              <a:rPr lang="en-US" sz="2400" dirty="0" smtClean="0"/>
              <a:t>Lambda forms can take any number of arguments but return just one value in the form of an expression. </a:t>
            </a:r>
          </a:p>
          <a:p>
            <a:pPr marL="293688" lvl="1" algn="just"/>
            <a:r>
              <a:rPr lang="en-US" sz="2400" dirty="0" smtClean="0"/>
              <a:t>They cannot contain commands or multiple expressions.  </a:t>
            </a:r>
          </a:p>
          <a:p>
            <a:pPr marL="293688" lvl="1" algn="just"/>
            <a:r>
              <a:rPr lang="en-US" sz="2400" dirty="0" smtClean="0"/>
              <a:t>An anonymous function cannot be a direct call to print because lambda requires an expression. </a:t>
            </a:r>
          </a:p>
          <a:p>
            <a:pPr marL="293688" lvl="1" algn="just"/>
            <a:r>
              <a:rPr lang="en-US" sz="2400" dirty="0" smtClean="0"/>
              <a:t> Lambda functions have their own local namespace and cannot access variables other than those in their parameter list and those in the global namespace. </a:t>
            </a:r>
          </a:p>
          <a:p>
            <a:pPr marL="293688" indent="-285750"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syntax of lambda function contains only a single statement, which is as follows-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lambda</a:t>
            </a:r>
            <a:r>
              <a:rPr lang="en-US" dirty="0" smtClean="0"/>
              <a:t> [arg1 [,arg2,.....</a:t>
            </a:r>
            <a:r>
              <a:rPr lang="en-US" dirty="0" err="1" smtClean="0"/>
              <a:t>argn</a:t>
            </a:r>
            <a:r>
              <a:rPr lang="en-US" dirty="0" smtClean="0"/>
              <a:t>]]</a:t>
            </a:r>
            <a:r>
              <a:rPr lang="en-US" b="1" dirty="0" smtClean="0"/>
              <a:t>:</a:t>
            </a:r>
            <a:r>
              <a:rPr lang="en-US" dirty="0" smtClean="0"/>
              <a:t>expression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# Function definition is here </a:t>
            </a:r>
          </a:p>
          <a:p>
            <a:pPr>
              <a:buNone/>
            </a:pPr>
            <a:r>
              <a:rPr lang="en-US" dirty="0" smtClean="0"/>
              <a:t>&gt;&gt;&gt;sum = lambda arg1, arg2: arg1 + arg2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# Now you can call sum as a function </a:t>
            </a:r>
          </a:p>
          <a:p>
            <a:pPr>
              <a:buNone/>
            </a:pPr>
            <a:r>
              <a:rPr lang="en-US" dirty="0" smtClean="0"/>
              <a:t>&gt;&gt;&gt;print ("Value of total : ", sum( 10, 20 )) </a:t>
            </a:r>
          </a:p>
          <a:p>
            <a:pPr>
              <a:buNone/>
            </a:pPr>
            <a:r>
              <a:rPr lang="en-US" dirty="0" smtClean="0"/>
              <a:t>&gt;&gt;&gt;print ("Value of total : ", sum( 20, 20 ))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Use of Lambda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We use lambda functions when we require a nameless function for a short period of time.</a:t>
            </a:r>
          </a:p>
          <a:p>
            <a:pPr algn="just"/>
            <a:r>
              <a:rPr lang="en-US" sz="2400" dirty="0" smtClean="0"/>
              <a:t>In Python, we generally use it as an argument to a higher-order function (a function that takes in other functions as arguments). </a:t>
            </a:r>
          </a:p>
          <a:p>
            <a:pPr algn="just"/>
            <a:r>
              <a:rPr lang="en-US" sz="2400" dirty="0" smtClean="0"/>
              <a:t>Lambda functions are used along with built-in functions like filter(), map() etc.</a:t>
            </a:r>
          </a:p>
          <a:p>
            <a:pPr algn="just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Example use with filter()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 smtClean="0"/>
              <a:t>filter(function, </a:t>
            </a:r>
            <a:r>
              <a:rPr lang="en-US" sz="2800" b="1" dirty="0" err="1" smtClean="0"/>
              <a:t>iterable</a:t>
            </a:r>
            <a:r>
              <a:rPr lang="en-US" sz="2800" b="1" dirty="0" smtClean="0"/>
              <a:t>) </a:t>
            </a:r>
            <a:endParaRPr lang="en-US" sz="2400" b="1" dirty="0" smtClean="0"/>
          </a:p>
          <a:p>
            <a:pPr algn="just"/>
            <a:r>
              <a:rPr lang="en-US" sz="2400" dirty="0" smtClean="0"/>
              <a:t>creates a new list from the elements for which the function returns True.</a:t>
            </a:r>
          </a:p>
          <a:p>
            <a:pPr algn="just">
              <a:buNone/>
            </a:pPr>
            <a:r>
              <a:rPr lang="en-US" sz="2400" dirty="0" smtClean="0"/>
              <a:t> </a:t>
            </a:r>
          </a:p>
          <a:p>
            <a:pPr algn="just">
              <a:buNone/>
            </a:pPr>
            <a:r>
              <a:rPr lang="en-US" sz="2000" dirty="0" smtClean="0"/>
              <a:t># Program to filter out only the even items from a list</a:t>
            </a:r>
          </a:p>
          <a:p>
            <a:pPr algn="just">
              <a:buNone/>
            </a:pPr>
            <a:r>
              <a:rPr lang="en-US" sz="2400" dirty="0" err="1" smtClean="0"/>
              <a:t>my_list</a:t>
            </a:r>
            <a:r>
              <a:rPr lang="en-US" sz="2400" dirty="0" smtClean="0"/>
              <a:t> = </a:t>
            </a:r>
            <a:r>
              <a:rPr lang="en-US" sz="2400" b="1" dirty="0" smtClean="0"/>
              <a:t>[</a:t>
            </a:r>
            <a:r>
              <a:rPr lang="en-US" sz="2400" dirty="0" smtClean="0"/>
              <a:t>1, 5, 4, 6, 8, 11, 3, 12</a:t>
            </a:r>
            <a:r>
              <a:rPr lang="en-US" sz="2400" b="1" dirty="0" smtClean="0"/>
              <a:t>]</a:t>
            </a:r>
          </a:p>
          <a:p>
            <a:pPr algn="just">
              <a:buNone/>
            </a:pPr>
            <a:r>
              <a:rPr lang="en-US" sz="2400" dirty="0" err="1" smtClean="0"/>
              <a:t>new_list</a:t>
            </a:r>
            <a:r>
              <a:rPr lang="en-US" sz="2400" dirty="0" smtClean="0"/>
              <a:t> = list</a:t>
            </a:r>
            <a:r>
              <a:rPr lang="en-US" sz="2400" b="1" dirty="0" smtClean="0"/>
              <a:t>(filter</a:t>
            </a:r>
            <a:r>
              <a:rPr lang="en-US" sz="2400" dirty="0" smtClean="0"/>
              <a:t>(</a:t>
            </a:r>
            <a:r>
              <a:rPr lang="en-US" sz="2400" b="1" dirty="0" smtClean="0"/>
              <a:t>lambda</a:t>
            </a:r>
            <a:r>
              <a:rPr lang="en-US" sz="2400" dirty="0" smtClean="0"/>
              <a:t> x: </a:t>
            </a:r>
            <a:r>
              <a:rPr lang="en-US" sz="2400" b="1" dirty="0" smtClean="0"/>
              <a:t>(</a:t>
            </a:r>
            <a:r>
              <a:rPr lang="en-US" sz="2400" dirty="0" smtClean="0"/>
              <a:t>x%2 </a:t>
            </a:r>
            <a:r>
              <a:rPr lang="en-US" sz="2400" b="1" dirty="0" smtClean="0"/>
              <a:t>==</a:t>
            </a:r>
            <a:r>
              <a:rPr lang="en-US" sz="2400" dirty="0" smtClean="0"/>
              <a:t> 0</a:t>
            </a:r>
            <a:r>
              <a:rPr lang="en-US" sz="2400" b="1" dirty="0" smtClean="0"/>
              <a:t>)</a:t>
            </a:r>
            <a:r>
              <a:rPr lang="en-US" sz="2400" dirty="0" smtClean="0"/>
              <a:t> </a:t>
            </a:r>
            <a:r>
              <a:rPr lang="en-US" sz="2400" b="1" dirty="0" smtClean="0"/>
              <a:t>,</a:t>
            </a:r>
            <a:r>
              <a:rPr lang="en-US" sz="2400" dirty="0" smtClean="0"/>
              <a:t> </a:t>
            </a:r>
            <a:r>
              <a:rPr lang="en-US" sz="2400" dirty="0" err="1" smtClean="0"/>
              <a:t>my_list</a:t>
            </a:r>
            <a:r>
              <a:rPr lang="en-US" sz="2400" b="1" dirty="0" smtClean="0"/>
              <a:t>))</a:t>
            </a:r>
          </a:p>
          <a:p>
            <a:pPr algn="just">
              <a:buNone/>
            </a:pPr>
            <a:r>
              <a:rPr lang="en-US" sz="2400" b="1" dirty="0" smtClean="0"/>
              <a:t>print(</a:t>
            </a:r>
            <a:r>
              <a:rPr lang="en-US" sz="2400" dirty="0" err="1" smtClean="0"/>
              <a:t>new_list</a:t>
            </a:r>
            <a:r>
              <a:rPr lang="en-US" sz="2400" b="1" dirty="0" smtClean="0"/>
              <a:t>)</a:t>
            </a:r>
            <a:endParaRPr lang="en-US" sz="2000" b="1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Output: [4, 6, 8, 12]</a:t>
            </a: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Example use with map()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map(function, </a:t>
            </a:r>
            <a:r>
              <a:rPr lang="en-US" sz="2800" b="1" dirty="0" err="1" smtClean="0"/>
              <a:t>iterable</a:t>
            </a:r>
            <a:r>
              <a:rPr lang="en-US" sz="2800" b="1" dirty="0" smtClean="0"/>
              <a:t>) </a:t>
            </a:r>
          </a:p>
          <a:p>
            <a:r>
              <a:rPr lang="en-US" sz="2400" dirty="0" smtClean="0"/>
              <a:t>It applies a function to every item in the </a:t>
            </a:r>
            <a:r>
              <a:rPr lang="en-US" sz="2400" dirty="0" err="1" smtClean="0"/>
              <a:t>iterable</a:t>
            </a:r>
            <a:r>
              <a:rPr lang="en-US" sz="2400" dirty="0" smtClean="0"/>
              <a:t>.  </a:t>
            </a:r>
          </a:p>
          <a:p>
            <a:r>
              <a:rPr lang="en-US" sz="2400" dirty="0" smtClean="0"/>
              <a:t>We can use map() to on a lambda function with a list:</a:t>
            </a:r>
          </a:p>
          <a:p>
            <a:pPr>
              <a:buNone/>
            </a:pPr>
            <a:r>
              <a:rPr lang="en-US" sz="2800" dirty="0" smtClean="0"/>
              <a:t>&gt;&gt;&gt;list = [1,2,3,4,5] </a:t>
            </a:r>
          </a:p>
          <a:p>
            <a:pPr>
              <a:buNone/>
            </a:pPr>
            <a:r>
              <a:rPr lang="en-US" sz="2800" dirty="0" smtClean="0"/>
              <a:t>&gt;&gt;&gt;</a:t>
            </a:r>
            <a:r>
              <a:rPr lang="en-US" sz="2800" dirty="0" err="1" smtClean="0"/>
              <a:t>squaredList</a:t>
            </a:r>
            <a:r>
              <a:rPr lang="en-US" sz="2800" dirty="0" smtClean="0"/>
              <a:t> = list(map(</a:t>
            </a:r>
            <a:r>
              <a:rPr lang="en-US" sz="2800" b="1" dirty="0" smtClean="0"/>
              <a:t>lambda</a:t>
            </a:r>
            <a:r>
              <a:rPr lang="en-US" sz="2800" dirty="0" smtClean="0"/>
              <a:t> x: x*x, list)) </a:t>
            </a:r>
          </a:p>
          <a:p>
            <a:pPr>
              <a:buNone/>
            </a:pPr>
            <a:r>
              <a:rPr lang="en-US" sz="2800" b="1" dirty="0" smtClean="0"/>
              <a:t>&gt;&gt;&gt;print</a:t>
            </a:r>
            <a:r>
              <a:rPr lang="en-US" sz="2800" dirty="0" smtClean="0"/>
              <a:t>(</a:t>
            </a:r>
            <a:r>
              <a:rPr lang="en-US" sz="2800" dirty="0" err="1" smtClean="0"/>
              <a:t>squaredList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Reduce function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reduce(function, </a:t>
            </a:r>
            <a:r>
              <a:rPr lang="en-US" b="1" dirty="0" err="1" smtClean="0"/>
              <a:t>iterable</a:t>
            </a:r>
            <a:r>
              <a:rPr lang="en-US" b="1" dirty="0" smtClean="0"/>
              <a:t>)</a:t>
            </a:r>
            <a:r>
              <a:rPr lang="en-US" dirty="0" smtClean="0"/>
              <a:t> </a:t>
            </a:r>
          </a:p>
          <a:p>
            <a:r>
              <a:rPr lang="en-US" sz="2400" dirty="0" smtClean="0"/>
              <a:t>applies two arguments cumulatively to the items of </a:t>
            </a:r>
            <a:r>
              <a:rPr lang="en-US" sz="2400" dirty="0" err="1" smtClean="0"/>
              <a:t>iterable</a:t>
            </a:r>
            <a:r>
              <a:rPr lang="en-US" sz="2400" dirty="0" smtClean="0"/>
              <a:t>, from left to right.</a:t>
            </a:r>
          </a:p>
          <a:p>
            <a:pPr>
              <a:buNone/>
            </a:pPr>
            <a:r>
              <a:rPr lang="en-US" sz="2400" b="1" dirty="0" smtClean="0"/>
              <a:t>&gt;&gt;&gt;from</a:t>
            </a:r>
            <a:r>
              <a:rPr lang="en-US" sz="2400" dirty="0" smtClean="0"/>
              <a:t> </a:t>
            </a:r>
            <a:r>
              <a:rPr lang="en-US" sz="2400" dirty="0" err="1" smtClean="0"/>
              <a:t>functools</a:t>
            </a:r>
            <a:r>
              <a:rPr lang="en-US" sz="2400" dirty="0" smtClean="0"/>
              <a:t> </a:t>
            </a:r>
            <a:r>
              <a:rPr lang="en-US" sz="2400" b="1" dirty="0" smtClean="0"/>
              <a:t>import</a:t>
            </a:r>
            <a:r>
              <a:rPr lang="en-US" sz="2400" dirty="0" smtClean="0"/>
              <a:t> reduce</a:t>
            </a:r>
          </a:p>
          <a:p>
            <a:pPr>
              <a:buNone/>
            </a:pPr>
            <a:r>
              <a:rPr lang="en-US" sz="2400" dirty="0" smtClean="0"/>
              <a:t>&gt;&gt;&gt;list = [1,2,3,4,5] </a:t>
            </a:r>
          </a:p>
          <a:p>
            <a:pPr>
              <a:buNone/>
            </a:pPr>
            <a:r>
              <a:rPr lang="en-US" sz="2400" dirty="0" smtClean="0"/>
              <a:t>&gt;&gt;&gt;s = reduce(</a:t>
            </a:r>
            <a:r>
              <a:rPr lang="en-US" sz="2400" b="1" dirty="0" smtClean="0"/>
              <a:t>lambda</a:t>
            </a:r>
            <a:r>
              <a:rPr lang="en-US" sz="2400" dirty="0" smtClean="0"/>
              <a:t> x, y: </a:t>
            </a:r>
            <a:r>
              <a:rPr lang="en-US" sz="2400" dirty="0" err="1" smtClean="0"/>
              <a:t>x+y</a:t>
            </a:r>
            <a:r>
              <a:rPr lang="en-US" sz="2400" dirty="0" smtClean="0"/>
              <a:t>, list) </a:t>
            </a:r>
          </a:p>
          <a:p>
            <a:pPr>
              <a:buNone/>
            </a:pPr>
            <a:r>
              <a:rPr lang="en-US" sz="2400" b="1" dirty="0" smtClean="0"/>
              <a:t>&gt;&gt;&gt;print</a:t>
            </a:r>
            <a:r>
              <a:rPr lang="en-US" sz="2400" dirty="0" smtClean="0"/>
              <a:t>(s)</a:t>
            </a:r>
          </a:p>
          <a:p>
            <a:r>
              <a:rPr lang="en-US" sz="2400" dirty="0" smtClean="0"/>
              <a:t>In this case the expression is always true, thus it simply sums up the elements of the list.</a:t>
            </a:r>
          </a:p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&gt;&gt;&gt;def </a:t>
            </a:r>
            <a:r>
              <a:rPr lang="en-US" sz="2800" dirty="0" err="1" smtClean="0"/>
              <a:t>fahrenheit</a:t>
            </a:r>
            <a:r>
              <a:rPr lang="en-US" sz="2800" dirty="0" smtClean="0"/>
              <a:t>(T):</a:t>
            </a:r>
          </a:p>
          <a:p>
            <a:pPr>
              <a:buNone/>
            </a:pPr>
            <a:r>
              <a:rPr lang="en-US" sz="2800" dirty="0" smtClean="0"/>
              <a:t>     return ((float(9)/5)*T + 32)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&gt;&gt;&gt;temp = [36.5, 37, 37.5,39]</a:t>
            </a:r>
          </a:p>
          <a:p>
            <a:pPr>
              <a:buNone/>
            </a:pPr>
            <a:r>
              <a:rPr lang="en-US" sz="2800" dirty="0" smtClean="0"/>
              <a:t>&gt;&gt;&gt;F = map(</a:t>
            </a:r>
            <a:r>
              <a:rPr lang="en-US" sz="2800" dirty="0" err="1" smtClean="0"/>
              <a:t>fahrenheit</a:t>
            </a:r>
            <a:r>
              <a:rPr lang="en-US" sz="2800" dirty="0" smtClean="0"/>
              <a:t>, temp)</a:t>
            </a:r>
          </a:p>
          <a:p>
            <a:pPr>
              <a:buNone/>
            </a:pPr>
            <a:r>
              <a:rPr lang="en-US" sz="2800" dirty="0" smtClean="0"/>
              <a:t>&gt;&gt;&gt;print(list(F))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[97.7, 98.600, 99.5, 102.2]</a:t>
            </a:r>
          </a:p>
          <a:p>
            <a:pPr>
              <a:buNone/>
            </a:pP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en-US" sz="2800" dirty="0" smtClean="0"/>
              <a:t>&gt;&gt;&gt;temp = [36.5, 37, 37.5,39]</a:t>
            </a:r>
          </a:p>
          <a:p>
            <a:pPr algn="l">
              <a:buNone/>
            </a:pPr>
            <a:r>
              <a:rPr lang="en-US" sz="2800" dirty="0" smtClean="0"/>
              <a:t>&gt;&gt;&gt;F=map(lambda T:((float(9)/5)*T +32 ), temp)</a:t>
            </a:r>
          </a:p>
          <a:p>
            <a:pPr algn="l">
              <a:buNone/>
            </a:pPr>
            <a:r>
              <a:rPr lang="en-US" sz="2800" dirty="0" smtClean="0"/>
              <a:t>&gt;&gt;&gt;list(F)</a:t>
            </a:r>
            <a:br>
              <a:rPr lang="en-US" sz="28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algn="l">
              <a:buNone/>
            </a:pPr>
            <a:r>
              <a:rPr lang="en-US" sz="2400" dirty="0" smtClean="0"/>
              <a:t>[97.7, 98.600, 99.5, 102.2]</a:t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Global Vs Local variable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&gt;&gt;&gt;total = 0 # This is global variable.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&gt;&gt;&gt;def sum( arg1, arg2 ): </a:t>
            </a:r>
          </a:p>
          <a:p>
            <a:pPr>
              <a:buNone/>
            </a:pPr>
            <a:r>
              <a:rPr lang="en-US" sz="2400" dirty="0" smtClean="0"/>
              <a:t>		total = arg1 + arg2;    # Here total is local variable. </a:t>
            </a:r>
          </a:p>
          <a:p>
            <a:pPr>
              <a:buNone/>
            </a:pPr>
            <a:r>
              <a:rPr lang="en-US" sz="2400" dirty="0" smtClean="0"/>
              <a:t>		print ("Inside the function local total : ", total) 	return total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# Now you can call sum function </a:t>
            </a:r>
          </a:p>
          <a:p>
            <a:pPr>
              <a:buNone/>
            </a:pPr>
            <a:r>
              <a:rPr lang="en-US" sz="2400" dirty="0" smtClean="0"/>
              <a:t>&gt;&gt;&gt;sum( 10, 20 ) </a:t>
            </a:r>
          </a:p>
          <a:p>
            <a:pPr>
              <a:buNone/>
            </a:pPr>
            <a:r>
              <a:rPr lang="en-US" sz="2400" dirty="0" smtClean="0"/>
              <a:t>&gt;&gt;&gt;print ("Outside the function global total : ", total )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Inside the function local total :  30 </a:t>
            </a:r>
          </a:p>
          <a:p>
            <a:r>
              <a:rPr lang="en-US" sz="2400" dirty="0" smtClean="0"/>
              <a:t>Outside the function global total :  0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Python List Comprehension and Slicing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Overview </a:t>
            </a:r>
          </a:p>
          <a:p>
            <a:r>
              <a:rPr lang="en-US" sz="2400" dirty="0" smtClean="0"/>
              <a:t>The list type is a container that holds a number of other objects, in a given order. </a:t>
            </a:r>
          </a:p>
          <a:p>
            <a:r>
              <a:rPr lang="en-US" sz="2400" dirty="0" smtClean="0"/>
              <a:t>The list type allows you to add and remove objects from the sequence.</a:t>
            </a:r>
          </a:p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Creating Lists</a:t>
            </a:r>
          </a:p>
          <a:p>
            <a:r>
              <a:rPr lang="en-US" dirty="0" smtClean="0"/>
              <a:t>L = [] </a:t>
            </a:r>
          </a:p>
          <a:p>
            <a:r>
              <a:rPr lang="en-US" dirty="0" smtClean="0"/>
              <a:t>L = [expression, ...]</a:t>
            </a:r>
          </a:p>
          <a:p>
            <a:r>
              <a:rPr lang="en-US" dirty="0" smtClean="0"/>
              <a:t>This construct is known as a “list display”. </a:t>
            </a:r>
          </a:p>
          <a:p>
            <a:r>
              <a:rPr lang="en-US" dirty="0" smtClean="0"/>
              <a:t>Python also supports computed lists, called “list comprehensions”. </a:t>
            </a:r>
          </a:p>
          <a:p>
            <a:r>
              <a:rPr lang="en-US" dirty="0" smtClean="0"/>
              <a:t>In its simplest form, a list comprehension has the following syntax:</a:t>
            </a:r>
          </a:p>
          <a:p>
            <a:r>
              <a:rPr lang="en-US" b="1" dirty="0" smtClean="0"/>
              <a:t>L = [expression </a:t>
            </a:r>
            <a:r>
              <a:rPr lang="en-US" dirty="0" smtClean="0"/>
              <a:t>for</a:t>
            </a:r>
            <a:r>
              <a:rPr lang="en-US" b="1" dirty="0" smtClean="0"/>
              <a:t> variable </a:t>
            </a:r>
            <a:r>
              <a:rPr lang="en-US" dirty="0" smtClean="0"/>
              <a:t>in</a:t>
            </a:r>
            <a:r>
              <a:rPr lang="en-US" b="1" dirty="0" smtClean="0"/>
              <a:t> sequence]</a:t>
            </a:r>
          </a:p>
          <a:p>
            <a:r>
              <a:rPr lang="en-US" dirty="0" smtClean="0"/>
              <a:t>where the expression is evaluated once, for every item in the sequence.</a:t>
            </a:r>
          </a:p>
          <a:p>
            <a:r>
              <a:rPr lang="en-US" dirty="0" smtClean="0"/>
              <a:t>The expressions can be anything; you can put all kinds of objects in lists, including other lists.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You can also use the built-in </a:t>
            </a:r>
            <a:r>
              <a:rPr lang="en-US" sz="2400" b="1" dirty="0" smtClean="0"/>
              <a:t>list</a:t>
            </a:r>
            <a:r>
              <a:rPr lang="en-US" sz="2400" dirty="0" smtClean="0"/>
              <a:t> type object to create lists:</a:t>
            </a:r>
          </a:p>
          <a:p>
            <a:pPr>
              <a:buNone/>
            </a:pPr>
            <a:r>
              <a:rPr lang="en-US" sz="2400" dirty="0" smtClean="0"/>
              <a:t>&gt;&gt;&gt;L = list()                              </a:t>
            </a:r>
            <a:r>
              <a:rPr lang="en-US" sz="2400" i="1" dirty="0" smtClean="0"/>
              <a:t># empty list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&gt;&gt;&gt;L = list(sequence) </a:t>
            </a:r>
          </a:p>
          <a:p>
            <a:pPr>
              <a:buNone/>
            </a:pPr>
            <a:r>
              <a:rPr lang="en-US" sz="2400" dirty="0" smtClean="0"/>
              <a:t>&gt;&gt;&gt;L = list(expression for variable in sequence)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A list comprehension generally consist of these parts : </a:t>
            </a:r>
          </a:p>
          <a:p>
            <a:pPr lvl="1" algn="just"/>
            <a:r>
              <a:rPr lang="en-US" sz="2000" dirty="0" smtClean="0"/>
              <a:t>Output expression, </a:t>
            </a:r>
          </a:p>
          <a:p>
            <a:pPr lvl="1" algn="just"/>
            <a:r>
              <a:rPr lang="en-US" sz="2000" dirty="0" smtClean="0"/>
              <a:t>input sequence, </a:t>
            </a:r>
          </a:p>
          <a:p>
            <a:pPr lvl="1" algn="just"/>
            <a:r>
              <a:rPr lang="en-US" sz="2000" dirty="0" smtClean="0"/>
              <a:t>a variable representing member of input sequence and </a:t>
            </a:r>
          </a:p>
          <a:p>
            <a:pPr lvl="1" algn="just"/>
            <a:r>
              <a:rPr lang="en-US" sz="2000" dirty="0" smtClean="0"/>
              <a:t>an optional predicate part. </a:t>
            </a:r>
          </a:p>
          <a:p>
            <a:pPr algn="just">
              <a:buNone/>
            </a:pPr>
            <a:r>
              <a:rPr lang="en-US" sz="2400" dirty="0" smtClean="0"/>
              <a:t>For example : </a:t>
            </a:r>
          </a:p>
          <a:p>
            <a:pPr algn="just">
              <a:buNone/>
            </a:pPr>
            <a:r>
              <a:rPr lang="en-US" sz="2400" dirty="0" smtClean="0"/>
              <a:t>&gt;&gt;&gt;</a:t>
            </a:r>
            <a:r>
              <a:rPr lang="en-US" sz="2400" b="1" dirty="0" smtClean="0"/>
              <a:t>A = [x ** 2 for x in range (1, 11) if x % 2 == 1] </a:t>
            </a:r>
          </a:p>
          <a:p>
            <a:pPr algn="just"/>
            <a:r>
              <a:rPr lang="en-US" sz="2000" dirty="0" smtClean="0"/>
              <a:t>here, x ** 2 is output expression, </a:t>
            </a:r>
          </a:p>
          <a:p>
            <a:pPr algn="just"/>
            <a:r>
              <a:rPr lang="en-US" sz="2000" dirty="0" smtClean="0"/>
              <a:t>range (1, 11) is input sequence, </a:t>
            </a:r>
          </a:p>
          <a:p>
            <a:pPr algn="just"/>
            <a:r>
              <a:rPr lang="en-US" sz="2000" dirty="0" smtClean="0"/>
              <a:t>x is variable and </a:t>
            </a:r>
          </a:p>
          <a:p>
            <a:pPr algn="just"/>
            <a:r>
              <a:rPr lang="en-US" sz="2000" dirty="0" smtClean="0"/>
              <a:t>if x % 2 == 1 is predicate part.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&gt;&gt;&gt;a=[x**2 for x in range(1,11) if x%2==0]</a:t>
            </a:r>
          </a:p>
          <a:p>
            <a:pPr>
              <a:buNone/>
            </a:pPr>
            <a:r>
              <a:rPr lang="en-US" sz="2800" dirty="0" smtClean="0"/>
              <a:t>&gt;&gt;&gt;print(a)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400" dirty="0" smtClean="0"/>
              <a:t>[4, 16, 36, 64, 100]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800" b="1" dirty="0" smtClean="0"/>
              <a:t>&gt;&gt;&gt;a=[x**2 for x in range(1,11)]</a:t>
            </a:r>
          </a:p>
          <a:p>
            <a:pPr>
              <a:buNone/>
            </a:pPr>
            <a:r>
              <a:rPr lang="en-US" sz="2800" b="1" dirty="0" smtClean="0"/>
              <a:t>&gt;&gt;&gt;print(a)</a:t>
            </a:r>
          </a:p>
          <a:p>
            <a:r>
              <a:rPr lang="en-US" sz="2400" dirty="0" smtClean="0"/>
              <a:t>[1, 4, 9, 16, 25, 36, 49, 64, 81, 100]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&gt;&gt;&gt;a=[int(x) for </a:t>
            </a:r>
            <a:r>
              <a:rPr lang="en-US" sz="2800" dirty="0" smtClean="0"/>
              <a:t>x</a:t>
            </a:r>
            <a:r>
              <a:rPr lang="en-US" sz="2800" b="1" dirty="0" smtClean="0"/>
              <a:t> in input(“</a:t>
            </a:r>
            <a:r>
              <a:rPr lang="en-US" sz="2800" dirty="0" smtClean="0"/>
              <a:t>Enter values</a:t>
            </a:r>
            <a:r>
              <a:rPr lang="en-US" sz="2800" b="1" dirty="0" smtClean="0"/>
              <a:t> ").split()]</a:t>
            </a:r>
          </a:p>
          <a:p>
            <a:pPr>
              <a:buNone/>
            </a:pPr>
            <a:r>
              <a:rPr lang="en-US" sz="2800" dirty="0" smtClean="0"/>
              <a:t>Enter values 12 34 56 767 89 909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&gt;&gt;&gt;a</a:t>
            </a:r>
          </a:p>
          <a:p>
            <a:pPr>
              <a:buNone/>
            </a:pPr>
            <a:r>
              <a:rPr lang="en-US" sz="2800" dirty="0" smtClean="0"/>
              <a:t>[12, 34, 56, 767, 89, 909]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US" sz="2800" dirty="0" smtClean="0"/>
              <a:t># list which extracts number</a:t>
            </a:r>
          </a:p>
          <a:p>
            <a:pPr fontAlgn="base">
              <a:buNone/>
            </a:pPr>
            <a:r>
              <a:rPr lang="en-US" sz="2800" b="1" dirty="0" smtClean="0"/>
              <a:t>&gt;&gt;&gt;string = "my phone number is : 11122 !!“</a:t>
            </a:r>
          </a:p>
          <a:p>
            <a:pPr>
              <a:buNone/>
            </a:pPr>
            <a:r>
              <a:rPr lang="en-US" sz="2800" b="1" dirty="0" smtClean="0"/>
              <a:t>&gt;&gt;&gt;A=[</a:t>
            </a:r>
            <a:r>
              <a:rPr lang="en-US" sz="2800" dirty="0" smtClean="0"/>
              <a:t>x</a:t>
            </a:r>
            <a:r>
              <a:rPr lang="en-US" sz="2800" b="1" dirty="0" smtClean="0"/>
              <a:t> for </a:t>
            </a:r>
            <a:r>
              <a:rPr lang="en-US" sz="2800" dirty="0" smtClean="0"/>
              <a:t>x</a:t>
            </a:r>
            <a:r>
              <a:rPr lang="en-US" sz="2800" b="1" dirty="0" smtClean="0"/>
              <a:t> in </a:t>
            </a:r>
            <a:r>
              <a:rPr lang="en-US" sz="2800" dirty="0" smtClean="0"/>
              <a:t>string</a:t>
            </a:r>
            <a:r>
              <a:rPr lang="en-US" sz="2800" b="1" dirty="0" smtClean="0"/>
              <a:t> if </a:t>
            </a:r>
            <a:r>
              <a:rPr lang="en-US" sz="2800" dirty="0" err="1" smtClean="0"/>
              <a:t>x</a:t>
            </a:r>
            <a:r>
              <a:rPr lang="en-US" sz="2800" b="1" dirty="0" err="1" smtClean="0"/>
              <a:t>.isdigit</a:t>
            </a:r>
            <a:r>
              <a:rPr lang="en-US" sz="2800" b="1" dirty="0" smtClean="0"/>
              <a:t>()]</a:t>
            </a:r>
          </a:p>
          <a:p>
            <a:pPr>
              <a:buNone/>
            </a:pPr>
            <a:r>
              <a:rPr lang="en-US" sz="2800" b="1" dirty="0" smtClean="0"/>
              <a:t>&gt;&gt;&gt;A</a:t>
            </a:r>
          </a:p>
          <a:p>
            <a:pPr>
              <a:buNone/>
            </a:pPr>
            <a:r>
              <a:rPr lang="en-US" sz="2800" dirty="0" smtClean="0"/>
              <a:t>[‘1', ‘1', ‘1', ‘2', ‘2’]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Note that Python creates a single new list every time you </a:t>
            </a:r>
            <a:r>
              <a:rPr lang="en-US" sz="2400" i="1" dirty="0" smtClean="0"/>
              <a:t>execute</a:t>
            </a:r>
            <a:r>
              <a:rPr lang="en-US" sz="2400" dirty="0" smtClean="0"/>
              <a:t> the [] expression. </a:t>
            </a:r>
          </a:p>
          <a:p>
            <a:pPr algn="just"/>
            <a:r>
              <a:rPr lang="en-US" sz="2400" dirty="0" smtClean="0"/>
              <a:t>And Python never creates a new list if you assign a list to a variable.</a:t>
            </a:r>
          </a:p>
          <a:p>
            <a:pPr algn="just">
              <a:buNone/>
            </a:pPr>
            <a:r>
              <a:rPr lang="en-US" sz="2400" dirty="0" smtClean="0"/>
              <a:t>&gt;&gt;&gt;A = B = [] </a:t>
            </a:r>
            <a:r>
              <a:rPr lang="en-US" sz="2400" i="1" dirty="0" smtClean="0"/>
              <a:t># both names will point to the same list</a:t>
            </a:r>
            <a:r>
              <a:rPr lang="en-US" sz="2400" dirty="0" smtClean="0"/>
              <a:t> </a:t>
            </a:r>
          </a:p>
          <a:p>
            <a:pPr algn="just">
              <a:buNone/>
            </a:pPr>
            <a:r>
              <a:rPr lang="en-US" sz="2400" dirty="0" smtClean="0"/>
              <a:t>&gt;&gt;&gt;A = [] </a:t>
            </a:r>
          </a:p>
          <a:p>
            <a:pPr algn="just">
              <a:buNone/>
            </a:pPr>
            <a:r>
              <a:rPr lang="en-US" sz="2400" dirty="0" smtClean="0"/>
              <a:t>&gt;&gt;&gt;B = A </a:t>
            </a:r>
            <a:r>
              <a:rPr lang="en-US" sz="2400" i="1" dirty="0" smtClean="0"/>
              <a:t># both names will point to the same list</a:t>
            </a:r>
            <a:r>
              <a:rPr lang="en-US" sz="2400" dirty="0" smtClean="0"/>
              <a:t> </a:t>
            </a:r>
          </a:p>
          <a:p>
            <a:pPr algn="just">
              <a:buNone/>
            </a:pPr>
            <a:r>
              <a:rPr lang="en-US" sz="2400" dirty="0" smtClean="0"/>
              <a:t>&gt;&gt;&gt;A = []; B = [] </a:t>
            </a:r>
            <a:r>
              <a:rPr lang="en-US" sz="2400" i="1" dirty="0" smtClean="0"/>
              <a:t># independent lists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Accessing Lists</a:t>
            </a:r>
          </a:p>
          <a:p>
            <a:pPr algn="just"/>
            <a:r>
              <a:rPr lang="en-US" sz="2400" dirty="0" smtClean="0"/>
              <a:t>Lists implement the standard sequence interface; </a:t>
            </a:r>
          </a:p>
          <a:p>
            <a:pPr algn="just"/>
            <a:r>
              <a:rPr lang="en-US" sz="2400" b="1" dirty="0" err="1" smtClean="0"/>
              <a:t>len</a:t>
            </a:r>
            <a:r>
              <a:rPr lang="en-US" sz="2400" b="1" dirty="0" smtClean="0"/>
              <a:t>(L)</a:t>
            </a:r>
            <a:r>
              <a:rPr lang="en-US" sz="2400" dirty="0" smtClean="0"/>
              <a:t> returns the number of items in the list, </a:t>
            </a:r>
          </a:p>
          <a:p>
            <a:pPr algn="just"/>
            <a:r>
              <a:rPr lang="en-US" sz="2400" b="1" dirty="0" smtClean="0"/>
              <a:t>L[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]</a:t>
            </a:r>
            <a:r>
              <a:rPr lang="en-US" sz="2400" dirty="0" smtClean="0"/>
              <a:t> returns the item at index </a:t>
            </a:r>
            <a:r>
              <a:rPr lang="en-US" sz="2400" i="1" dirty="0" err="1" smtClean="0"/>
              <a:t>i</a:t>
            </a:r>
            <a:r>
              <a:rPr lang="en-US" sz="2400" dirty="0" smtClean="0"/>
              <a:t> (the first item has index 0),</a:t>
            </a:r>
          </a:p>
          <a:p>
            <a:pPr algn="just"/>
            <a:r>
              <a:rPr lang="en-US" sz="2400" dirty="0" smtClean="0"/>
              <a:t>and </a:t>
            </a:r>
            <a:r>
              <a:rPr lang="en-US" sz="2400" b="1" dirty="0" smtClean="0"/>
              <a:t>L[i:j]</a:t>
            </a:r>
            <a:r>
              <a:rPr lang="en-US" sz="2400" dirty="0" smtClean="0"/>
              <a:t> returns a new list, containing the objects between </a:t>
            </a:r>
            <a:r>
              <a:rPr lang="en-US" sz="2400" i="1" dirty="0" err="1" smtClean="0"/>
              <a:t>i</a:t>
            </a:r>
            <a:r>
              <a:rPr lang="en-US" sz="2400" dirty="0" smtClean="0"/>
              <a:t> and </a:t>
            </a:r>
            <a:r>
              <a:rPr lang="en-US" sz="2400" i="1" dirty="0" smtClean="0"/>
              <a:t>j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n = </a:t>
            </a:r>
            <a:r>
              <a:rPr lang="en-US" sz="2400" dirty="0" err="1" smtClean="0"/>
              <a:t>len</a:t>
            </a:r>
            <a:r>
              <a:rPr lang="en-US" sz="2400" dirty="0" smtClean="0"/>
              <a:t>(L)</a:t>
            </a:r>
          </a:p>
          <a:p>
            <a:pPr algn="just"/>
            <a:r>
              <a:rPr lang="en-US" sz="2400" dirty="0" smtClean="0"/>
              <a:t>item = L[index] </a:t>
            </a:r>
          </a:p>
          <a:p>
            <a:pPr algn="just"/>
            <a:r>
              <a:rPr lang="en-US" sz="2400" dirty="0" err="1" smtClean="0"/>
              <a:t>seq</a:t>
            </a:r>
            <a:r>
              <a:rPr lang="en-US" sz="2400" dirty="0" smtClean="0"/>
              <a:t> = L[start : stop]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python’s slicing operator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b="1" dirty="0" smtClean="0"/>
              <a:t>[start : stop : steps] </a:t>
            </a:r>
            <a:r>
              <a:rPr lang="en-US" sz="2400" dirty="0" smtClean="0"/>
              <a:t>which means that slicing will start from index start will go up to </a:t>
            </a:r>
            <a:r>
              <a:rPr lang="en-US" sz="2400" b="1" dirty="0" smtClean="0"/>
              <a:t>stop</a:t>
            </a:r>
            <a:r>
              <a:rPr lang="en-US" sz="2400" dirty="0" smtClean="0"/>
              <a:t> in </a:t>
            </a:r>
            <a:r>
              <a:rPr lang="en-US" sz="2400" b="1" dirty="0" smtClean="0"/>
              <a:t>step</a:t>
            </a:r>
            <a:r>
              <a:rPr lang="en-US" sz="2400" dirty="0" smtClean="0"/>
              <a:t> of steps. </a:t>
            </a:r>
          </a:p>
          <a:p>
            <a:pPr fontAlgn="base"/>
            <a:r>
              <a:rPr lang="en-US" sz="2400" dirty="0" smtClean="0"/>
              <a:t>Default value of </a:t>
            </a:r>
          </a:p>
          <a:p>
            <a:pPr lvl="1" fontAlgn="base"/>
            <a:r>
              <a:rPr lang="en-US" sz="2000" dirty="0" smtClean="0"/>
              <a:t>start is 0, </a:t>
            </a:r>
          </a:p>
          <a:p>
            <a:pPr lvl="1" fontAlgn="base"/>
            <a:r>
              <a:rPr lang="en-US" sz="2000" dirty="0" smtClean="0"/>
              <a:t>stop is last index of list and </a:t>
            </a:r>
          </a:p>
          <a:p>
            <a:pPr lvl="1" fontAlgn="base"/>
            <a:r>
              <a:rPr lang="en-US" sz="2000" dirty="0" smtClean="0"/>
              <a:t>for step it is 1 </a:t>
            </a:r>
          </a:p>
          <a:p>
            <a:pPr fontAlgn="base"/>
            <a:r>
              <a:rPr lang="en-US" sz="2400" dirty="0" smtClean="0"/>
              <a:t>So </a:t>
            </a:r>
            <a:r>
              <a:rPr lang="en-US" sz="2400" b="1" dirty="0" smtClean="0"/>
              <a:t>[: stop] </a:t>
            </a:r>
            <a:r>
              <a:rPr lang="en-US" sz="2400" dirty="0" smtClean="0"/>
              <a:t>will slice list from starting till stop index and </a:t>
            </a:r>
          </a:p>
          <a:p>
            <a:pPr fontAlgn="base"/>
            <a:r>
              <a:rPr lang="en-US" sz="2400" b="1" dirty="0" smtClean="0"/>
              <a:t>[start : ]</a:t>
            </a:r>
            <a:r>
              <a:rPr lang="en-US" sz="2400" dirty="0" smtClean="0"/>
              <a:t> will slice list from start index till end </a:t>
            </a:r>
          </a:p>
          <a:p>
            <a:pPr fontAlgn="base"/>
            <a:r>
              <a:rPr lang="en-US" sz="2400" dirty="0" smtClean="0"/>
              <a:t>Negative value of steps shows right to left traversal instead of left to right traversal </a:t>
            </a:r>
          </a:p>
          <a:p>
            <a:pPr fontAlgn="base"/>
            <a:r>
              <a:rPr lang="en-US" sz="2400" dirty="0" smtClean="0"/>
              <a:t>that is why </a:t>
            </a:r>
            <a:r>
              <a:rPr lang="en-US" sz="2400" b="1" dirty="0" smtClean="0"/>
              <a:t>[: : -1]</a:t>
            </a:r>
            <a:r>
              <a:rPr lang="en-US" sz="2400" dirty="0" smtClean="0"/>
              <a:t> prints list in reverse order.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Looping Over Lists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 </a:t>
            </a:r>
            <a:r>
              <a:rPr lang="en-US" sz="2400" b="1" dirty="0" smtClean="0"/>
              <a:t>for-in</a:t>
            </a:r>
            <a:r>
              <a:rPr lang="en-US" sz="2400" dirty="0" smtClean="0"/>
              <a:t> statement makes it easy to loop over the items in a list:</a:t>
            </a:r>
          </a:p>
          <a:p>
            <a:pPr>
              <a:buNone/>
            </a:pPr>
            <a:r>
              <a:rPr lang="en-US" sz="2400" b="1" dirty="0" smtClean="0"/>
              <a:t>&gt;&gt;&gt;for </a:t>
            </a:r>
            <a:r>
              <a:rPr lang="en-US" sz="2400" dirty="0" smtClean="0"/>
              <a:t>item</a:t>
            </a:r>
            <a:r>
              <a:rPr lang="en-US" sz="2400" b="1" dirty="0" smtClean="0"/>
              <a:t> in </a:t>
            </a:r>
            <a:r>
              <a:rPr lang="en-US" sz="2400" dirty="0" smtClean="0"/>
              <a:t>L</a:t>
            </a:r>
            <a:r>
              <a:rPr lang="en-US" sz="2400" b="1" dirty="0" smtClean="0"/>
              <a:t>: </a:t>
            </a:r>
          </a:p>
          <a:p>
            <a:pPr>
              <a:buNone/>
            </a:pPr>
            <a:r>
              <a:rPr lang="en-US" sz="2400" b="1" dirty="0" smtClean="0"/>
              <a:t>		print (</a:t>
            </a:r>
            <a:r>
              <a:rPr lang="en-US" sz="2400" dirty="0" smtClean="0"/>
              <a:t>item)</a:t>
            </a:r>
          </a:p>
          <a:p>
            <a:r>
              <a:rPr lang="en-US" sz="2000" dirty="0" smtClean="0"/>
              <a:t>If you need both the index and the item, use the </a:t>
            </a:r>
            <a:r>
              <a:rPr lang="en-US" sz="2000" b="1" dirty="0" smtClean="0"/>
              <a:t>enumerate</a:t>
            </a:r>
            <a:r>
              <a:rPr lang="en-US" sz="2000" dirty="0" smtClean="0"/>
              <a:t> function:</a:t>
            </a:r>
          </a:p>
          <a:p>
            <a:pPr>
              <a:buNone/>
            </a:pPr>
            <a:r>
              <a:rPr lang="en-US" sz="2400" b="1" dirty="0" smtClean="0"/>
              <a:t>&gt;&gt;&gt;for index, item in enumerate(L): </a:t>
            </a:r>
          </a:p>
          <a:p>
            <a:pPr>
              <a:buNone/>
            </a:pPr>
            <a:r>
              <a:rPr lang="en-US" sz="2400" b="1" dirty="0" smtClean="0"/>
              <a:t>		print(</a:t>
            </a:r>
            <a:r>
              <a:rPr lang="en-US" sz="2400" dirty="0" smtClean="0"/>
              <a:t> index, item</a:t>
            </a:r>
            <a:r>
              <a:rPr lang="en-US" sz="2400" b="1" dirty="0" smtClean="0"/>
              <a:t>)</a:t>
            </a:r>
          </a:p>
          <a:p>
            <a:r>
              <a:rPr lang="en-US" sz="2400" dirty="0" smtClean="0"/>
              <a:t>If you need only the index, use </a:t>
            </a:r>
            <a:r>
              <a:rPr lang="en-US" sz="2400" b="1" dirty="0" smtClean="0"/>
              <a:t>range</a:t>
            </a:r>
            <a:r>
              <a:rPr lang="en-US" sz="2400" dirty="0" smtClean="0"/>
              <a:t> and </a:t>
            </a:r>
            <a:r>
              <a:rPr lang="en-US" sz="2400" b="1" dirty="0" err="1" smtClean="0"/>
              <a:t>len</a:t>
            </a:r>
            <a:r>
              <a:rPr lang="en-US" sz="2400" dirty="0" smtClean="0"/>
              <a:t>:</a:t>
            </a:r>
          </a:p>
          <a:p>
            <a:pPr>
              <a:buNone/>
            </a:pPr>
            <a:r>
              <a:rPr lang="en-US" sz="2400" b="1" dirty="0" smtClean="0"/>
              <a:t>&gt;&gt;&gt;for index in range(</a:t>
            </a:r>
            <a:r>
              <a:rPr lang="en-US" sz="2400" b="1" dirty="0" err="1" smtClean="0"/>
              <a:t>len</a:t>
            </a:r>
            <a:r>
              <a:rPr lang="en-US" sz="2400" b="1" dirty="0" smtClean="0"/>
              <a:t>(L)): </a:t>
            </a:r>
          </a:p>
          <a:p>
            <a:pPr>
              <a:buNone/>
            </a:pPr>
            <a:r>
              <a:rPr lang="en-US" sz="2400" b="1" dirty="0" smtClean="0"/>
              <a:t>		print (</a:t>
            </a:r>
            <a:r>
              <a:rPr lang="en-US" sz="2400" dirty="0" smtClean="0"/>
              <a:t>index</a:t>
            </a:r>
            <a:r>
              <a:rPr lang="en-US" sz="2400" b="1" dirty="0" smtClean="0"/>
              <a:t>)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List Methods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fontAlgn="base"/>
            <a:r>
              <a:rPr lang="en-US" sz="2400" b="1" dirty="0" smtClean="0"/>
              <a:t>“in” operator </a:t>
            </a:r>
            <a:r>
              <a:rPr lang="en-US" sz="2400" dirty="0" smtClean="0"/>
              <a:t>:- This operator is used to </a:t>
            </a:r>
            <a:r>
              <a:rPr lang="en-US" sz="2400" b="1" dirty="0" smtClean="0"/>
              <a:t>check if an element is present</a:t>
            </a:r>
            <a:r>
              <a:rPr lang="en-US" sz="2400" dirty="0" smtClean="0"/>
              <a:t> in the list or not. </a:t>
            </a:r>
          </a:p>
          <a:p>
            <a:pPr marL="514350" indent="-514350" fontAlgn="base">
              <a:buNone/>
            </a:pPr>
            <a:r>
              <a:rPr lang="en-US" sz="2400" dirty="0" smtClean="0"/>
              <a:t>	Returns true if element is present in list else returns false.</a:t>
            </a:r>
          </a:p>
          <a:p>
            <a:pPr fontAlgn="base"/>
            <a:r>
              <a:rPr lang="en-US" sz="2400" b="1" dirty="0" smtClean="0"/>
              <a:t>“not in” operator </a:t>
            </a:r>
            <a:r>
              <a:rPr lang="en-US" sz="2400" dirty="0" smtClean="0"/>
              <a:t>:- This operator is used to </a:t>
            </a:r>
            <a:r>
              <a:rPr lang="en-US" sz="2400" b="1" dirty="0" smtClean="0"/>
              <a:t>check if an element is not present</a:t>
            </a:r>
            <a:r>
              <a:rPr lang="en-US" sz="2400" dirty="0" smtClean="0"/>
              <a:t> in the list or not. </a:t>
            </a:r>
          </a:p>
          <a:p>
            <a:pPr fontAlgn="base">
              <a:buNone/>
            </a:pPr>
            <a:r>
              <a:rPr lang="en-US" sz="2400" dirty="0" smtClean="0"/>
              <a:t>	Returns true if element is not present in list else returns false.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>
              <a:buNone/>
            </a:pPr>
            <a:r>
              <a:rPr lang="en-US" b="1" dirty="0" smtClean="0"/>
              <a:t>&gt;&gt;&gt;</a:t>
            </a:r>
            <a:r>
              <a:rPr lang="en-US" b="1" dirty="0" err="1" smtClean="0"/>
              <a:t>lis</a:t>
            </a:r>
            <a:r>
              <a:rPr lang="en-US" b="1" dirty="0" smtClean="0"/>
              <a:t> = [1, 4, 3, 2, 5]</a:t>
            </a:r>
          </a:p>
          <a:p>
            <a:pPr fontAlgn="base">
              <a:buNone/>
            </a:pPr>
            <a:r>
              <a:rPr lang="en-US" dirty="0" smtClean="0"/>
              <a:t>&gt;&gt;&gt;if 4 in </a:t>
            </a:r>
            <a:r>
              <a:rPr lang="en-US" dirty="0" err="1" smtClean="0"/>
              <a:t>lis</a:t>
            </a:r>
            <a:r>
              <a:rPr lang="en-US" dirty="0" smtClean="0"/>
              <a:t>:</a:t>
            </a:r>
          </a:p>
          <a:p>
            <a:pPr fontAlgn="base">
              <a:buNone/>
            </a:pPr>
            <a:r>
              <a:rPr lang="en-US" dirty="0" smtClean="0"/>
              <a:t>	        print ("List is having element with value 4")</a:t>
            </a:r>
          </a:p>
          <a:p>
            <a:pPr fontAlgn="base">
              <a:buNone/>
            </a:pPr>
            <a:r>
              <a:rPr lang="en-US" dirty="0" smtClean="0"/>
              <a:t>	  else :  </a:t>
            </a:r>
          </a:p>
          <a:p>
            <a:pPr fontAlgn="base">
              <a:buNone/>
            </a:pPr>
            <a:r>
              <a:rPr lang="en-US" dirty="0" smtClean="0"/>
              <a:t>		print ("List is not having element with value 4")</a:t>
            </a:r>
          </a:p>
          <a:p>
            <a:pPr fontAlgn="base">
              <a:buNone/>
            </a:pPr>
            <a:r>
              <a:rPr lang="en-US" sz="2400" b="1" dirty="0" smtClean="0"/>
              <a:t># checking if 4 is not list using "not in"</a:t>
            </a:r>
          </a:p>
          <a:p>
            <a:pPr fontAlgn="base">
              <a:buNone/>
            </a:pPr>
            <a:r>
              <a:rPr lang="en-US" dirty="0" smtClean="0"/>
              <a:t>&gt;&gt;&gt;if 4 not in </a:t>
            </a:r>
            <a:r>
              <a:rPr lang="en-US" dirty="0" err="1" smtClean="0"/>
              <a:t>lis</a:t>
            </a:r>
            <a:r>
              <a:rPr lang="en-US" dirty="0" smtClean="0"/>
              <a:t>:</a:t>
            </a:r>
          </a:p>
          <a:p>
            <a:pPr fontAlgn="base">
              <a:buNone/>
            </a:pPr>
            <a:r>
              <a:rPr lang="en-US" dirty="0" smtClean="0"/>
              <a:t>        	print ("List is not having element with value 4")</a:t>
            </a:r>
          </a:p>
          <a:p>
            <a:pPr fontAlgn="base">
              <a:buNone/>
            </a:pPr>
            <a:r>
              <a:rPr lang="en-US" dirty="0" smtClean="0"/>
              <a:t>	  else :  </a:t>
            </a:r>
          </a:p>
          <a:p>
            <a:pPr fontAlgn="base">
              <a:buNone/>
            </a:pPr>
            <a:r>
              <a:rPr lang="en-US" dirty="0" smtClean="0"/>
              <a:t>		print ("List is having element with value 4")</a:t>
            </a:r>
          </a:p>
          <a:p>
            <a:pPr fontAlgn="base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b="1" dirty="0" err="1" smtClean="0"/>
              <a:t>len</a:t>
            </a:r>
            <a:r>
              <a:rPr lang="en-US" sz="2400" b="1" dirty="0" smtClean="0"/>
              <a:t>()</a:t>
            </a:r>
            <a:r>
              <a:rPr lang="en-US" sz="2400" dirty="0" smtClean="0"/>
              <a:t> :- This function returns the </a:t>
            </a:r>
            <a:r>
              <a:rPr lang="en-US" sz="2400" b="1" dirty="0" smtClean="0"/>
              <a:t>length</a:t>
            </a:r>
            <a:r>
              <a:rPr lang="en-US" sz="2400" dirty="0" smtClean="0"/>
              <a:t> of list.</a:t>
            </a:r>
          </a:p>
          <a:p>
            <a:pPr fontAlgn="base"/>
            <a:r>
              <a:rPr lang="en-US" sz="2400" b="1" dirty="0" smtClean="0"/>
              <a:t>min()</a:t>
            </a:r>
            <a:r>
              <a:rPr lang="en-US" sz="2400" dirty="0" smtClean="0"/>
              <a:t> :- This function returns the </a:t>
            </a:r>
            <a:r>
              <a:rPr lang="en-US" sz="2400" b="1" dirty="0" smtClean="0"/>
              <a:t>minimum</a:t>
            </a:r>
            <a:r>
              <a:rPr lang="en-US" sz="2400" dirty="0" smtClean="0"/>
              <a:t> element of list.</a:t>
            </a:r>
          </a:p>
          <a:p>
            <a:pPr fontAlgn="base"/>
            <a:r>
              <a:rPr lang="en-US" sz="2400" b="1" dirty="0" smtClean="0"/>
              <a:t>max()</a:t>
            </a:r>
            <a:r>
              <a:rPr lang="en-US" sz="2400" dirty="0" smtClean="0"/>
              <a:t> :- This function returns the </a:t>
            </a:r>
            <a:r>
              <a:rPr lang="en-US" sz="2400" b="1" dirty="0" smtClean="0"/>
              <a:t>maximum</a:t>
            </a:r>
            <a:r>
              <a:rPr lang="en-US" sz="2400" dirty="0" smtClean="0"/>
              <a:t> element of list.</a:t>
            </a:r>
          </a:p>
          <a:p>
            <a:pPr fontAlgn="base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lis</a:t>
            </a:r>
            <a:r>
              <a:rPr lang="en-US" sz="2400" b="1" dirty="0" smtClean="0"/>
              <a:t> = [2, 1, 3, 5, 4] </a:t>
            </a:r>
          </a:p>
          <a:p>
            <a:pPr fontAlgn="base">
              <a:buNone/>
            </a:pPr>
            <a:r>
              <a:rPr lang="en-US" sz="2400" dirty="0" smtClean="0"/>
              <a:t># using </a:t>
            </a:r>
            <a:r>
              <a:rPr lang="en-US" sz="2400" dirty="0" err="1" smtClean="0"/>
              <a:t>len</a:t>
            </a:r>
            <a:r>
              <a:rPr lang="en-US" sz="2400" dirty="0" smtClean="0"/>
              <a:t>() to print length of list</a:t>
            </a:r>
          </a:p>
          <a:p>
            <a:pPr fontAlgn="base">
              <a:buNone/>
            </a:pPr>
            <a:r>
              <a:rPr lang="en-US" sz="2400" b="1" dirty="0" smtClean="0"/>
              <a:t>&gt;&gt;&gt;print (</a:t>
            </a:r>
            <a:r>
              <a:rPr lang="en-US" sz="2400" b="1" dirty="0" err="1" smtClean="0"/>
              <a:t>len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lis</a:t>
            </a:r>
            <a:r>
              <a:rPr lang="en-US" sz="2400" b="1" dirty="0" smtClean="0"/>
              <a:t>))</a:t>
            </a:r>
          </a:p>
          <a:p>
            <a:pPr fontAlgn="base">
              <a:buNone/>
            </a:pPr>
            <a:r>
              <a:rPr lang="en-US" sz="2400" dirty="0" smtClean="0"/>
              <a:t># using min() to print minimum element of list</a:t>
            </a:r>
          </a:p>
          <a:p>
            <a:pPr fontAlgn="base">
              <a:buNone/>
            </a:pPr>
            <a:r>
              <a:rPr lang="en-US" sz="2400" b="1" dirty="0" smtClean="0"/>
              <a:t>&gt;&gt;&gt;print (min(</a:t>
            </a:r>
            <a:r>
              <a:rPr lang="en-US" sz="2400" b="1" dirty="0" err="1" smtClean="0"/>
              <a:t>lis</a:t>
            </a:r>
            <a:r>
              <a:rPr lang="en-US" sz="2400" b="1" dirty="0" smtClean="0"/>
              <a:t>))</a:t>
            </a:r>
          </a:p>
          <a:p>
            <a:pPr fontAlgn="base">
              <a:buNone/>
            </a:pPr>
            <a:r>
              <a:rPr lang="en-US" sz="2400" dirty="0" smtClean="0"/>
              <a:t># using max() to print maximum element of list</a:t>
            </a:r>
          </a:p>
          <a:p>
            <a:pPr fontAlgn="base">
              <a:buNone/>
            </a:pPr>
            <a:r>
              <a:rPr lang="en-US" sz="2400" b="1" dirty="0" smtClean="0"/>
              <a:t>&gt;&gt;&gt;print (max(</a:t>
            </a:r>
            <a:r>
              <a:rPr lang="en-US" sz="2400" b="1" dirty="0" err="1" smtClean="0"/>
              <a:t>lis</a:t>
            </a:r>
            <a:r>
              <a:rPr lang="en-US" sz="2400" b="1" dirty="0" smtClean="0"/>
              <a:t>))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b="1" dirty="0" smtClean="0"/>
              <a:t>“+” operator</a:t>
            </a:r>
            <a:r>
              <a:rPr lang="en-US" sz="2400" dirty="0" smtClean="0"/>
              <a:t> :- This operator is used to</a:t>
            </a:r>
            <a:r>
              <a:rPr lang="en-US" sz="2400" b="1" dirty="0" smtClean="0"/>
              <a:t> concatenate</a:t>
            </a:r>
            <a:r>
              <a:rPr lang="en-US" sz="2400" dirty="0" smtClean="0"/>
              <a:t> two lists into a single list.</a:t>
            </a:r>
          </a:p>
          <a:p>
            <a:pPr fontAlgn="base"/>
            <a:r>
              <a:rPr lang="en-US" sz="2400" b="1" dirty="0" smtClean="0"/>
              <a:t> “*” operator </a:t>
            </a:r>
            <a:r>
              <a:rPr lang="en-US" sz="2400" dirty="0" smtClean="0"/>
              <a:t>:- This operator is used to</a:t>
            </a:r>
            <a:r>
              <a:rPr lang="en-US" sz="2400" b="1" dirty="0" smtClean="0"/>
              <a:t> multiply the list “n” times</a:t>
            </a:r>
            <a:r>
              <a:rPr lang="en-US" sz="2400" dirty="0" smtClean="0"/>
              <a:t> and return the single list.</a:t>
            </a:r>
          </a:p>
          <a:p>
            <a:pPr fontAlgn="base">
              <a:buNone/>
            </a:pPr>
            <a:r>
              <a:rPr lang="pt-BR" sz="2400" dirty="0" smtClean="0"/>
              <a:t>&gt;&gt;&gt;a=[1,2,3]</a:t>
            </a:r>
          </a:p>
          <a:p>
            <a:pPr fontAlgn="base">
              <a:buNone/>
            </a:pPr>
            <a:r>
              <a:rPr lang="pt-BR" sz="2400" dirty="0" smtClean="0"/>
              <a:t>&gt;&gt;&gt;b=[4,5,6]</a:t>
            </a:r>
          </a:p>
          <a:p>
            <a:pPr fontAlgn="base">
              <a:buNone/>
            </a:pPr>
            <a:r>
              <a:rPr lang="pt-BR" sz="2400" dirty="0" smtClean="0"/>
              <a:t>&gt;&gt;&gt;c=a+b</a:t>
            </a:r>
          </a:p>
          <a:p>
            <a:pPr fontAlgn="base">
              <a:buNone/>
            </a:pPr>
            <a:r>
              <a:rPr lang="pt-BR" sz="2400" dirty="0" smtClean="0"/>
              <a:t>&gt;&gt;&gt;c</a:t>
            </a:r>
          </a:p>
          <a:p>
            <a:pPr fontAlgn="base">
              <a:buNone/>
            </a:pPr>
            <a:r>
              <a:rPr lang="pt-BR" sz="2400" dirty="0" smtClean="0"/>
              <a:t>[1, 2, 3, 4, 5, 6]</a:t>
            </a: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#using '*' to combine lists </a:t>
            </a:r>
          </a:p>
          <a:p>
            <a:pPr fontAlgn="base">
              <a:buNone/>
            </a:pPr>
            <a:r>
              <a:rPr lang="pt-BR" sz="2800" dirty="0" smtClean="0"/>
              <a:t>&gt;&gt;&gt;a=[1,2,3]</a:t>
            </a:r>
          </a:p>
          <a:p>
            <a:pPr fontAlgn="base">
              <a:buNone/>
            </a:pPr>
            <a:r>
              <a:rPr lang="pt-BR" sz="2800" dirty="0" smtClean="0"/>
              <a:t>&gt;&gt;&gt;b=a*2</a:t>
            </a:r>
          </a:p>
          <a:p>
            <a:pPr fontAlgn="base">
              <a:buNone/>
            </a:pPr>
            <a:r>
              <a:rPr lang="pt-BR" sz="2800" dirty="0" smtClean="0"/>
              <a:t>&gt;&gt;&gt;b</a:t>
            </a:r>
          </a:p>
          <a:p>
            <a:pPr fontAlgn="base">
              <a:buNone/>
            </a:pPr>
            <a:r>
              <a:rPr lang="pt-BR" sz="2800" dirty="0" smtClean="0"/>
              <a:t>[1, 2, 3, 1, 2, 3]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b="1" dirty="0" smtClean="0"/>
              <a:t>index(</a:t>
            </a:r>
            <a:r>
              <a:rPr lang="en-US" sz="2400" b="1" dirty="0" err="1" smtClean="0"/>
              <a:t>ele</a:t>
            </a:r>
            <a:r>
              <a:rPr lang="en-US" sz="2400" b="1" dirty="0" smtClean="0"/>
              <a:t>, beg, end)</a:t>
            </a:r>
            <a:r>
              <a:rPr lang="en-US" sz="2400" dirty="0" smtClean="0"/>
              <a:t> :- This function returns the</a:t>
            </a:r>
            <a:r>
              <a:rPr lang="en-US" sz="2400" b="1" dirty="0" smtClean="0"/>
              <a:t> index of first occurrence of element</a:t>
            </a:r>
            <a:r>
              <a:rPr lang="en-US" sz="2400" dirty="0" smtClean="0"/>
              <a:t> after beg and before end.</a:t>
            </a:r>
          </a:p>
          <a:p>
            <a:pPr fontAlgn="base"/>
            <a:r>
              <a:rPr lang="en-US" sz="2400" b="1" dirty="0" smtClean="0"/>
              <a:t>count()</a:t>
            </a:r>
            <a:r>
              <a:rPr lang="en-US" sz="2400" dirty="0" smtClean="0"/>
              <a:t> :- This function counts the</a:t>
            </a:r>
            <a:r>
              <a:rPr lang="en-US" sz="2400" b="1" dirty="0" smtClean="0"/>
              <a:t> number of occurrences</a:t>
            </a:r>
            <a:r>
              <a:rPr lang="en-US" sz="2400" dirty="0" smtClean="0"/>
              <a:t> of elements in list.</a:t>
            </a:r>
          </a:p>
          <a:p>
            <a:pPr>
              <a:buNone/>
            </a:pPr>
            <a:r>
              <a:rPr lang="en-US" sz="2800" b="1" dirty="0" smtClean="0"/>
              <a:t>&gt;&gt;&gt; a=[int(x) for x in input().split()]</a:t>
            </a:r>
          </a:p>
          <a:p>
            <a:pPr>
              <a:buNone/>
            </a:pPr>
            <a:r>
              <a:rPr lang="en-US" sz="2400" dirty="0" smtClean="0"/>
              <a:t>12   34   43   45   12   78   12   88</a:t>
            </a:r>
          </a:p>
          <a:p>
            <a:pPr>
              <a:buNone/>
            </a:pPr>
            <a:r>
              <a:rPr lang="en-US" sz="2800" b="1" dirty="0" smtClean="0"/>
              <a:t>&gt;&gt;&gt;</a:t>
            </a:r>
            <a:r>
              <a:rPr lang="en-US" sz="2800" b="1" dirty="0" err="1" smtClean="0"/>
              <a:t>a.index</a:t>
            </a:r>
            <a:r>
              <a:rPr lang="en-US" sz="2800" b="1" dirty="0" smtClean="0"/>
              <a:t>(12,1,len(a))</a:t>
            </a:r>
          </a:p>
          <a:p>
            <a:pPr>
              <a:buNone/>
            </a:pPr>
            <a:r>
              <a:rPr lang="en-US" sz="2400" dirty="0" smtClean="0"/>
              <a:t> 4</a:t>
            </a:r>
          </a:p>
          <a:p>
            <a:pPr>
              <a:buNone/>
            </a:pPr>
            <a:r>
              <a:rPr lang="en-US" sz="2800" b="1" dirty="0" smtClean="0"/>
              <a:t>&gt;&gt;&gt;</a:t>
            </a:r>
            <a:r>
              <a:rPr lang="en-US" sz="2800" b="1" dirty="0" err="1" smtClean="0"/>
              <a:t>a.count</a:t>
            </a:r>
            <a:r>
              <a:rPr lang="en-US" sz="2800" b="1" dirty="0" smtClean="0"/>
              <a:t>(12)</a:t>
            </a:r>
          </a:p>
          <a:p>
            <a:pPr>
              <a:buNone/>
            </a:pPr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400" b="1" dirty="0" smtClean="0"/>
              <a:t>del[a : b]</a:t>
            </a:r>
            <a:r>
              <a:rPr lang="en-US" sz="2400" dirty="0" smtClean="0"/>
              <a:t> :- This method </a:t>
            </a:r>
            <a:r>
              <a:rPr lang="en-US" sz="2400" b="1" dirty="0" smtClean="0"/>
              <a:t>deletes all the elements in range</a:t>
            </a:r>
            <a:r>
              <a:rPr lang="en-US" sz="2400" dirty="0" smtClean="0"/>
              <a:t> starting from index ‘a’ till ‘b’ mentioned in arguments.</a:t>
            </a:r>
          </a:p>
          <a:p>
            <a:pPr algn="just" fontAlgn="base"/>
            <a:r>
              <a:rPr lang="en-US" sz="2400" b="1" dirty="0" smtClean="0"/>
              <a:t>pop()</a:t>
            </a:r>
            <a:r>
              <a:rPr lang="en-US" sz="2400" dirty="0" smtClean="0"/>
              <a:t> :- This method</a:t>
            </a:r>
            <a:r>
              <a:rPr lang="en-US" sz="2400" b="1" dirty="0" smtClean="0"/>
              <a:t> deletes</a:t>
            </a:r>
            <a:r>
              <a:rPr lang="en-US" sz="2400" dirty="0" smtClean="0"/>
              <a:t> the element </a:t>
            </a:r>
            <a:r>
              <a:rPr lang="en-US" sz="2400" b="1" dirty="0" smtClean="0"/>
              <a:t>at the position</a:t>
            </a:r>
            <a:r>
              <a:rPr lang="en-US" sz="2400" dirty="0" smtClean="0"/>
              <a:t> mentioned in its arguments.</a:t>
            </a:r>
          </a:p>
          <a:p>
            <a:pPr algn="just" fontAlgn="base">
              <a:buNone/>
            </a:pPr>
            <a:r>
              <a:rPr lang="en-US" sz="2400" b="1" dirty="0" smtClean="0"/>
              <a:t>&gt;&gt;&gt;a=[</a:t>
            </a:r>
            <a:r>
              <a:rPr lang="en-US" sz="2400" dirty="0" smtClean="0"/>
              <a:t>11,22,33,44,55,66,77,88,99</a:t>
            </a:r>
            <a:r>
              <a:rPr lang="en-US" sz="2400" b="1" dirty="0" smtClean="0"/>
              <a:t>]</a:t>
            </a:r>
          </a:p>
          <a:p>
            <a:pPr algn="just" fontAlgn="base">
              <a:buNone/>
            </a:pPr>
            <a:r>
              <a:rPr lang="en-US" sz="2400" b="1" dirty="0" smtClean="0"/>
              <a:t>&gt;&gt;&gt;del a[2:5]</a:t>
            </a:r>
          </a:p>
          <a:p>
            <a:pPr algn="just" fontAlgn="base">
              <a:buNone/>
            </a:pPr>
            <a:r>
              <a:rPr lang="en-US" sz="2400" b="1" dirty="0" smtClean="0"/>
              <a:t>&gt;&gt;&gt;a</a:t>
            </a:r>
          </a:p>
          <a:p>
            <a:pPr algn="just" fontAlgn="base">
              <a:buNone/>
            </a:pPr>
            <a:r>
              <a:rPr lang="en-US" sz="2400" dirty="0" smtClean="0"/>
              <a:t>[11, 22, 66, 77, 88, 99]</a:t>
            </a:r>
          </a:p>
          <a:p>
            <a:pPr algn="just" fontAlgn="base">
              <a:buNone/>
            </a:pPr>
            <a:r>
              <a:rPr lang="en-US" sz="2400" b="1" dirty="0" smtClean="0"/>
              <a:t>&gt;&gt;&gt;a.pop(3)</a:t>
            </a:r>
          </a:p>
          <a:p>
            <a:pPr algn="just" fontAlgn="base">
              <a:buNone/>
            </a:pPr>
            <a:r>
              <a:rPr lang="en-US" sz="2400" dirty="0" smtClean="0"/>
              <a:t>77</a:t>
            </a:r>
          </a:p>
          <a:p>
            <a:pPr algn="just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en-US" sz="2400" b="1" dirty="0" smtClean="0"/>
              <a:t>insert(a, x)</a:t>
            </a:r>
            <a:r>
              <a:rPr lang="en-US" sz="2400" dirty="0" smtClean="0"/>
              <a:t> :- This function </a:t>
            </a:r>
            <a:r>
              <a:rPr lang="en-US" sz="2400" b="1" dirty="0" smtClean="0"/>
              <a:t>inserts an element at the position </a:t>
            </a:r>
            <a:r>
              <a:rPr lang="en-US" sz="2400" dirty="0" smtClean="0"/>
              <a:t>mentioned in its arguments. It takes 2 arguments,</a:t>
            </a:r>
            <a:r>
              <a:rPr lang="en-US" sz="2400" b="1" dirty="0" smtClean="0"/>
              <a:t> position and element to be added at respective position.</a:t>
            </a:r>
            <a:endParaRPr lang="en-US" sz="2400" dirty="0" smtClean="0"/>
          </a:p>
          <a:p>
            <a:pPr algn="just" fontAlgn="base"/>
            <a:r>
              <a:rPr lang="en-US" sz="2400" b="1" dirty="0" smtClean="0"/>
              <a:t>remove()</a:t>
            </a:r>
            <a:r>
              <a:rPr lang="en-US" sz="2400" dirty="0" smtClean="0"/>
              <a:t> :- This function is used to</a:t>
            </a:r>
            <a:r>
              <a:rPr lang="en-US" sz="2400" b="1" dirty="0" smtClean="0"/>
              <a:t> delete the first occurrence</a:t>
            </a:r>
            <a:r>
              <a:rPr lang="en-US" sz="2400" dirty="0" smtClean="0"/>
              <a:t> of number mentioned in its arguments.</a:t>
            </a:r>
          </a:p>
          <a:p>
            <a:pPr algn="just" fontAlgn="base">
              <a:buNone/>
            </a:pPr>
            <a:r>
              <a:rPr lang="en-US" sz="2400" b="1" dirty="0" smtClean="0"/>
              <a:t>&gt;&gt;&gt;a=[</a:t>
            </a:r>
            <a:r>
              <a:rPr lang="en-US" sz="2400" dirty="0" smtClean="0"/>
              <a:t>11, 22, 66, 88, 99</a:t>
            </a:r>
            <a:r>
              <a:rPr lang="en-US" sz="2400" b="1" dirty="0" smtClean="0"/>
              <a:t>]</a:t>
            </a:r>
          </a:p>
          <a:p>
            <a:pPr algn="just" fontAlgn="base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a.insert</a:t>
            </a:r>
            <a:r>
              <a:rPr lang="en-US" sz="2400" b="1" dirty="0" smtClean="0"/>
              <a:t>(</a:t>
            </a:r>
            <a:r>
              <a:rPr lang="en-US" sz="2400" dirty="0" smtClean="0"/>
              <a:t>2,555</a:t>
            </a:r>
            <a:r>
              <a:rPr lang="en-US" sz="2400" b="1" dirty="0" smtClean="0"/>
              <a:t>)</a:t>
            </a:r>
          </a:p>
          <a:p>
            <a:pPr algn="just" fontAlgn="base">
              <a:buNone/>
            </a:pPr>
            <a:r>
              <a:rPr lang="en-US" sz="2400" b="1" dirty="0" smtClean="0"/>
              <a:t>&gt;&gt;&gt;a</a:t>
            </a:r>
          </a:p>
          <a:p>
            <a:pPr algn="just" fontAlgn="base">
              <a:buNone/>
            </a:pPr>
            <a:r>
              <a:rPr lang="en-US" sz="2400" dirty="0" smtClean="0"/>
              <a:t>[11, 22, 555, 66, 88, 99]</a:t>
            </a:r>
          </a:p>
          <a:p>
            <a:pPr algn="just" fontAlgn="base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a.remove</a:t>
            </a:r>
            <a:r>
              <a:rPr lang="en-US" sz="2400" b="1" dirty="0" smtClean="0"/>
              <a:t>(22)</a:t>
            </a:r>
          </a:p>
          <a:p>
            <a:pPr algn="just" fontAlgn="base">
              <a:buNone/>
            </a:pPr>
            <a:r>
              <a:rPr lang="en-US" sz="2400" b="1" dirty="0" smtClean="0"/>
              <a:t>&gt;&gt;&gt;a</a:t>
            </a:r>
          </a:p>
          <a:p>
            <a:pPr algn="just" fontAlgn="base">
              <a:buNone/>
            </a:pPr>
            <a:r>
              <a:rPr lang="en-US" sz="2400" dirty="0" smtClean="0"/>
              <a:t>[11, 555, 66, 88, 99]</a:t>
            </a:r>
          </a:p>
          <a:p>
            <a:pPr algn="just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400" b="1" dirty="0" smtClean="0"/>
              <a:t>sort()</a:t>
            </a:r>
            <a:r>
              <a:rPr lang="en-US" sz="2400" dirty="0" smtClean="0"/>
              <a:t> :- This function </a:t>
            </a:r>
            <a:r>
              <a:rPr lang="en-US" sz="2400" b="1" dirty="0" smtClean="0"/>
              <a:t>sorts</a:t>
            </a:r>
            <a:r>
              <a:rPr lang="en-US" sz="2400" dirty="0" smtClean="0"/>
              <a:t> the list in</a:t>
            </a:r>
            <a:r>
              <a:rPr lang="en-US" sz="2400" b="1" dirty="0" smtClean="0"/>
              <a:t> increasing order</a:t>
            </a:r>
            <a:r>
              <a:rPr lang="en-US" sz="2400" dirty="0" smtClean="0"/>
              <a:t>.</a:t>
            </a:r>
          </a:p>
          <a:p>
            <a:pPr algn="just" fontAlgn="base"/>
            <a:r>
              <a:rPr lang="en-US" sz="2400" b="1" dirty="0" smtClean="0"/>
              <a:t>reverse()</a:t>
            </a:r>
            <a:r>
              <a:rPr lang="en-US" sz="2400" dirty="0" smtClean="0"/>
              <a:t> :- This function </a:t>
            </a:r>
            <a:r>
              <a:rPr lang="en-US" sz="2400" b="1" dirty="0" smtClean="0"/>
              <a:t>reverses</a:t>
            </a:r>
            <a:r>
              <a:rPr lang="en-US" sz="2400" dirty="0" smtClean="0"/>
              <a:t> the elements of list.</a:t>
            </a:r>
          </a:p>
          <a:p>
            <a:pPr algn="just">
              <a:buNone/>
            </a:pPr>
            <a:r>
              <a:rPr lang="en-US" sz="2400" dirty="0" smtClean="0"/>
              <a:t>&gt;&gt;&gt;a=[11, 555, 66, 88, 99]</a:t>
            </a:r>
          </a:p>
          <a:p>
            <a:pPr algn="just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a.sort</a:t>
            </a:r>
            <a:r>
              <a:rPr lang="en-US" sz="2400" b="1" dirty="0" smtClean="0"/>
              <a:t>()</a:t>
            </a:r>
          </a:p>
          <a:p>
            <a:pPr algn="just">
              <a:buNone/>
            </a:pPr>
            <a:r>
              <a:rPr lang="en-US" sz="2400" b="1" dirty="0" smtClean="0"/>
              <a:t>&gt;&gt;&gt;a</a:t>
            </a:r>
          </a:p>
          <a:p>
            <a:pPr algn="just">
              <a:buNone/>
            </a:pPr>
            <a:r>
              <a:rPr lang="en-US" sz="2400" dirty="0" smtClean="0"/>
              <a:t>[11, 66, 88, 99, 555]</a:t>
            </a:r>
          </a:p>
          <a:p>
            <a:pPr algn="just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a.reverse</a:t>
            </a:r>
            <a:r>
              <a:rPr lang="en-US" sz="2400" b="1" dirty="0" smtClean="0"/>
              <a:t>()</a:t>
            </a:r>
          </a:p>
          <a:p>
            <a:pPr algn="just">
              <a:buNone/>
            </a:pPr>
            <a:r>
              <a:rPr lang="en-US" sz="2400" b="1" dirty="0" smtClean="0"/>
              <a:t>&gt;&gt;&gt;a</a:t>
            </a:r>
          </a:p>
          <a:p>
            <a:pPr algn="just">
              <a:buNone/>
            </a:pPr>
            <a:r>
              <a:rPr lang="en-US" sz="2400" dirty="0" smtClean="0"/>
              <a:t>[555, 99, 88, 66, 11]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en-US" sz="2400" b="1" dirty="0" smtClean="0"/>
              <a:t>extend(b) </a:t>
            </a:r>
            <a:r>
              <a:rPr lang="en-US" sz="2400" dirty="0" smtClean="0"/>
              <a:t>:- This function is used to </a:t>
            </a:r>
            <a:r>
              <a:rPr lang="en-US" sz="2400" b="1" dirty="0" smtClean="0"/>
              <a:t>extend the list with</a:t>
            </a:r>
            <a:r>
              <a:rPr lang="en-US" sz="2400" dirty="0" smtClean="0"/>
              <a:t> the elements present in </a:t>
            </a:r>
            <a:r>
              <a:rPr lang="en-US" sz="2400" b="1" dirty="0" smtClean="0"/>
              <a:t>another list</a:t>
            </a:r>
            <a:r>
              <a:rPr lang="en-US" sz="2400" dirty="0" smtClean="0"/>
              <a:t>. This function takes</a:t>
            </a:r>
            <a:r>
              <a:rPr lang="en-US" sz="2400" b="1" dirty="0" smtClean="0"/>
              <a:t> another list as its argument</a:t>
            </a:r>
            <a:r>
              <a:rPr lang="en-US" sz="2400" dirty="0" smtClean="0"/>
              <a:t>.</a:t>
            </a:r>
          </a:p>
          <a:p>
            <a:pPr algn="just" fontAlgn="base"/>
            <a:r>
              <a:rPr lang="en-US" sz="2400" b="1" dirty="0" smtClean="0"/>
              <a:t>clear()</a:t>
            </a:r>
            <a:r>
              <a:rPr lang="en-US" sz="2400" dirty="0" smtClean="0"/>
              <a:t> :- This function is used to</a:t>
            </a:r>
            <a:r>
              <a:rPr lang="en-US" sz="2400" b="1" dirty="0" smtClean="0"/>
              <a:t> erase all the elements</a:t>
            </a:r>
            <a:r>
              <a:rPr lang="en-US" sz="2400" dirty="0" smtClean="0"/>
              <a:t> of list. After this operation, list becomes empty.</a:t>
            </a:r>
          </a:p>
          <a:p>
            <a:pPr algn="just">
              <a:buNone/>
            </a:pPr>
            <a:r>
              <a:rPr lang="en-US" sz="2400" dirty="0" smtClean="0"/>
              <a:t>&gt;&gt;&gt;a=[11,22,33,44,55,66]</a:t>
            </a:r>
          </a:p>
          <a:p>
            <a:pPr algn="just">
              <a:buNone/>
            </a:pPr>
            <a:r>
              <a:rPr lang="en-US" sz="2400" dirty="0" smtClean="0"/>
              <a:t>&gt;&gt;&gt;b=[10,20,30,40]</a:t>
            </a:r>
          </a:p>
          <a:p>
            <a:pPr algn="just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a.extend</a:t>
            </a:r>
            <a:r>
              <a:rPr lang="en-US" sz="2400" b="1" dirty="0" smtClean="0"/>
              <a:t>(b)</a:t>
            </a:r>
          </a:p>
          <a:p>
            <a:pPr algn="just">
              <a:buNone/>
            </a:pPr>
            <a:r>
              <a:rPr lang="en-US" sz="2400" dirty="0" smtClean="0"/>
              <a:t>&gt;&gt;&gt;a</a:t>
            </a:r>
          </a:p>
          <a:p>
            <a:pPr algn="just">
              <a:buNone/>
            </a:pPr>
            <a:r>
              <a:rPr lang="en-US" sz="2400" dirty="0" smtClean="0"/>
              <a:t>[11, 22, 33, 44, 55, 66, 10, 20, 30, 40]</a:t>
            </a:r>
          </a:p>
          <a:p>
            <a:pPr algn="just">
              <a:buNone/>
            </a:pPr>
            <a:r>
              <a:rPr lang="en-US" sz="2400" b="1" dirty="0" smtClean="0"/>
              <a:t>&gt;&gt;&gt;</a:t>
            </a:r>
            <a:r>
              <a:rPr lang="en-US" sz="2400" b="1" dirty="0" err="1" smtClean="0"/>
              <a:t>a.clear</a:t>
            </a:r>
            <a:r>
              <a:rPr lang="en-US" sz="2400" b="1" dirty="0" smtClean="0"/>
              <a:t>()</a:t>
            </a:r>
          </a:p>
          <a:p>
            <a:pPr algn="just">
              <a:buNone/>
            </a:pPr>
            <a:r>
              <a:rPr lang="en-US" sz="2400" b="1" dirty="0" smtClean="0"/>
              <a:t>&gt;&gt;&gt;a</a:t>
            </a:r>
          </a:p>
          <a:p>
            <a:pPr algn="just">
              <a:buNone/>
            </a:pPr>
            <a:r>
              <a:rPr lang="en-US" sz="2400" dirty="0" smtClean="0"/>
              <a:t>[]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sz="2400" b="1" dirty="0" smtClean="0"/>
              <a:t>append(): </a:t>
            </a:r>
            <a:r>
              <a:rPr lang="en-US" sz="2400" dirty="0" smtClean="0"/>
              <a:t>Used for appending and adding elements to </a:t>
            </a:r>
            <a:r>
              <a:rPr lang="en-US" sz="2400" dirty="0" err="1" smtClean="0"/>
              <a:t>List.It</a:t>
            </a:r>
            <a:r>
              <a:rPr lang="en-US" sz="2400" dirty="0" smtClean="0"/>
              <a:t> is used to add elements to the last position of List.</a:t>
            </a:r>
          </a:p>
          <a:p>
            <a:pPr fontAlgn="base">
              <a:buNone/>
            </a:pPr>
            <a:r>
              <a:rPr lang="en-US" sz="2400" dirty="0" smtClean="0"/>
              <a:t>&gt;&gt;&gt;a=[11, 22, 33, 44, 55, 66, 111]</a:t>
            </a:r>
          </a:p>
          <a:p>
            <a:pPr fontAlgn="base">
              <a:buNone/>
            </a:pPr>
            <a:r>
              <a:rPr lang="en-US" sz="2400" dirty="0" smtClean="0"/>
              <a:t>&gt;&gt;&gt;</a:t>
            </a:r>
            <a:r>
              <a:rPr lang="en-US" sz="2400" dirty="0" err="1" smtClean="0"/>
              <a:t>a.append</a:t>
            </a:r>
            <a:r>
              <a:rPr lang="en-US" sz="2400" dirty="0" smtClean="0"/>
              <a:t>(222)</a:t>
            </a:r>
          </a:p>
          <a:p>
            <a:pPr fontAlgn="base">
              <a:buNone/>
            </a:pPr>
            <a:r>
              <a:rPr lang="en-US" sz="2400" dirty="0" smtClean="0"/>
              <a:t>&gt;&gt;&gt;a</a:t>
            </a:r>
          </a:p>
          <a:p>
            <a:pPr fontAlgn="base">
              <a:buNone/>
            </a:pPr>
            <a:r>
              <a:rPr lang="en-US" sz="2400" dirty="0" smtClean="0"/>
              <a:t>[11, 22, 33, 44, 55, 66, 111, 222]</a:t>
            </a:r>
          </a:p>
          <a:p>
            <a:pPr fontAlgn="base">
              <a:buNone/>
            </a:pPr>
            <a:endParaRPr lang="en-US" sz="2400" dirty="0" smtClean="0"/>
          </a:p>
          <a:p>
            <a:pPr fontAlgn="base"/>
            <a:r>
              <a:rPr lang="en-US" sz="2400" b="1" dirty="0" smtClean="0"/>
              <a:t>sum() :</a:t>
            </a:r>
            <a:r>
              <a:rPr lang="en-US" sz="2400" dirty="0" smtClean="0"/>
              <a:t> Calculates sum of all the elements of List.</a:t>
            </a:r>
            <a:br>
              <a:rPr lang="en-US" sz="2400" dirty="0" smtClean="0"/>
            </a:br>
            <a:r>
              <a:rPr lang="en-US" sz="2400" b="1" dirty="0" smtClean="0"/>
              <a:t>Syntax:</a:t>
            </a:r>
            <a:endParaRPr lang="en-US" sz="2400" dirty="0" smtClean="0"/>
          </a:p>
          <a:p>
            <a:pPr fontAlgn="base">
              <a:buNone/>
            </a:pPr>
            <a:r>
              <a:rPr lang="en-US" sz="2400" dirty="0" smtClean="0"/>
              <a:t>&gt;&gt;&gt;List = [1, 2, 3, 4, 5]</a:t>
            </a:r>
          </a:p>
          <a:p>
            <a:pPr fontAlgn="base">
              <a:buNone/>
            </a:pPr>
            <a:r>
              <a:rPr lang="en-US" sz="2400" b="1" dirty="0" smtClean="0"/>
              <a:t>&gt;&gt;&gt;print(sum(List))</a:t>
            </a:r>
          </a:p>
          <a:p>
            <a:pPr>
              <a:buNone/>
            </a:pPr>
            <a:r>
              <a:rPr lang="en-US" sz="2400" dirty="0" smtClean="0"/>
              <a:t>15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Any</a:t>
            </a:r>
            <a:r>
              <a:rPr lang="en-US" sz="4000" dirty="0" smtClean="0"/>
              <a:t> &amp; </a:t>
            </a:r>
            <a:r>
              <a:rPr lang="en-US" sz="4000" b="1" dirty="0" smtClean="0"/>
              <a:t>All</a:t>
            </a:r>
            <a:r>
              <a:rPr lang="en-US" sz="4000" dirty="0" smtClean="0"/>
              <a:t> operators in Python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 smtClean="0"/>
              <a:t>Any and All are two built ins provided in python used for successive </a:t>
            </a:r>
            <a:r>
              <a:rPr lang="en-US" sz="2400" dirty="0" err="1" smtClean="0"/>
              <a:t>And/Or</a:t>
            </a:r>
            <a:r>
              <a:rPr lang="en-US" sz="2400" dirty="0" smtClean="0"/>
              <a:t>.</a:t>
            </a:r>
          </a:p>
          <a:p>
            <a:pPr fontAlgn="base">
              <a:buNone/>
            </a:pPr>
            <a:r>
              <a:rPr lang="en-US" sz="2400" b="1" dirty="0" smtClean="0"/>
              <a:t>Any</a:t>
            </a:r>
            <a:endParaRPr lang="en-US" sz="2400" dirty="0" smtClean="0"/>
          </a:p>
          <a:p>
            <a:pPr fontAlgn="base"/>
            <a:r>
              <a:rPr lang="en-US" sz="2400" dirty="0" smtClean="0"/>
              <a:t>Returns true if any of the items is True. </a:t>
            </a:r>
          </a:p>
          <a:p>
            <a:pPr fontAlgn="base"/>
            <a:r>
              <a:rPr lang="en-US" sz="2400" dirty="0" smtClean="0"/>
              <a:t>It returns False if empty or all are false. </a:t>
            </a:r>
          </a:p>
          <a:p>
            <a:pPr fontAlgn="base"/>
            <a:r>
              <a:rPr lang="en-US" sz="2400" dirty="0" smtClean="0"/>
              <a:t>Any can be thought of as a sequence of OR operations on the provided </a:t>
            </a:r>
            <a:r>
              <a:rPr lang="en-US" sz="2400" dirty="0" err="1" smtClean="0"/>
              <a:t>iterables</a:t>
            </a:r>
            <a:r>
              <a:rPr lang="en-US" sz="2400" dirty="0" smtClean="0"/>
              <a:t>.</a:t>
            </a:r>
          </a:p>
          <a:p>
            <a:pPr fontAlgn="base"/>
            <a:r>
              <a:rPr lang="en-US" sz="2400" dirty="0" smtClean="0"/>
              <a:t>It short circuit the execution i.e. stop the execution as soon as the result is known.</a:t>
            </a:r>
          </a:p>
          <a:p>
            <a:pPr fontAlgn="base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>
              <a:buNone/>
            </a:pPr>
            <a:r>
              <a:rPr lang="en-US" sz="2800" dirty="0" smtClean="0"/>
              <a:t># Since all are false, false is returned</a:t>
            </a:r>
          </a:p>
          <a:p>
            <a:pPr fontAlgn="base">
              <a:buNone/>
            </a:pPr>
            <a:r>
              <a:rPr lang="en-US" b="1" dirty="0" smtClean="0"/>
              <a:t>&gt;&gt;&gt;print (any([False, False, False, False]))</a:t>
            </a:r>
          </a:p>
          <a:p>
            <a:pPr fontAlgn="base">
              <a:buNone/>
            </a:pPr>
            <a:r>
              <a:rPr lang="en-US" dirty="0" smtClean="0"/>
              <a:t>False </a:t>
            </a:r>
          </a:p>
          <a:p>
            <a:pPr fontAlgn="base">
              <a:buNone/>
            </a:pPr>
            <a:r>
              <a:rPr lang="en-US" sz="1900" dirty="0" smtClean="0"/>
              <a:t># Here the method will short-circuit at the second item (True) and will return True.</a:t>
            </a:r>
          </a:p>
          <a:p>
            <a:pPr fontAlgn="base">
              <a:buNone/>
            </a:pPr>
            <a:r>
              <a:rPr lang="en-US" b="1" dirty="0" smtClean="0"/>
              <a:t>&gt;&gt;&gt;print (any([False, True, False, False]))</a:t>
            </a:r>
          </a:p>
          <a:p>
            <a:pPr fontAlgn="base">
              <a:buNone/>
            </a:pPr>
            <a:r>
              <a:rPr lang="en-US" dirty="0" smtClean="0"/>
              <a:t>True</a:t>
            </a:r>
          </a:p>
          <a:p>
            <a:pPr fontAlgn="base">
              <a:buNone/>
            </a:pPr>
            <a:r>
              <a:rPr lang="en-US" sz="2200" dirty="0" smtClean="0"/>
              <a:t># Here the method will short-circuit at the first (True) and will return True.</a:t>
            </a:r>
          </a:p>
          <a:p>
            <a:pPr fontAlgn="base">
              <a:buNone/>
            </a:pPr>
            <a:r>
              <a:rPr lang="en-US" b="1" dirty="0" smtClean="0"/>
              <a:t>&gt;&gt;&gt;print (any([True, False, False, False]))</a:t>
            </a:r>
          </a:p>
          <a:p>
            <a:pPr fontAlgn="base">
              <a:buNone/>
            </a:pPr>
            <a:r>
              <a:rPr lang="en-US" dirty="0" smtClean="0"/>
              <a:t>True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buNone/>
            </a:pPr>
            <a:r>
              <a:rPr lang="en-US" sz="2800" b="1" dirty="0" smtClean="0"/>
              <a:t>All</a:t>
            </a:r>
          </a:p>
          <a:p>
            <a:pPr algn="just" fontAlgn="base"/>
            <a:r>
              <a:rPr lang="en-US" sz="2800" dirty="0" smtClean="0"/>
              <a:t>Returns true if all of the items are True (or if the </a:t>
            </a:r>
            <a:r>
              <a:rPr lang="en-US" sz="2800" dirty="0" err="1" smtClean="0"/>
              <a:t>iterable</a:t>
            </a:r>
            <a:r>
              <a:rPr lang="en-US" sz="2800" dirty="0" smtClean="0"/>
              <a:t> is empty). </a:t>
            </a:r>
          </a:p>
          <a:p>
            <a:pPr algn="just" fontAlgn="base"/>
            <a:r>
              <a:rPr lang="en-US" sz="2800" dirty="0" smtClean="0"/>
              <a:t>All can be thought of as a sequence of AND operations on the provided </a:t>
            </a:r>
            <a:r>
              <a:rPr lang="en-US" sz="2800" dirty="0" err="1" smtClean="0"/>
              <a:t>iterables</a:t>
            </a:r>
            <a:r>
              <a:rPr lang="en-US" sz="2800" dirty="0" smtClean="0"/>
              <a:t>. </a:t>
            </a:r>
          </a:p>
          <a:p>
            <a:pPr algn="just" fontAlgn="base"/>
            <a:r>
              <a:rPr lang="en-US" sz="2800" dirty="0" smtClean="0"/>
              <a:t>It also short circuit the execution i.e. stop the execution as soon as the result is known.</a:t>
            </a:r>
          </a:p>
          <a:p>
            <a:pPr algn="just" fontAlgn="base"/>
            <a:r>
              <a:rPr lang="en-US" sz="2800" dirty="0" smtClean="0"/>
              <a:t>Syntax : all(list of </a:t>
            </a:r>
            <a:r>
              <a:rPr lang="en-US" sz="2800" dirty="0" err="1" smtClean="0"/>
              <a:t>iterables</a:t>
            </a:r>
            <a:r>
              <a:rPr lang="en-US" sz="2800" dirty="0" smtClean="0"/>
              <a:t>)</a:t>
            </a:r>
          </a:p>
          <a:p>
            <a:pPr algn="just"/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US" sz="1900" dirty="0" smtClean="0"/>
              <a:t># Here all the </a:t>
            </a:r>
            <a:r>
              <a:rPr lang="en-US" sz="1900" dirty="0" err="1" smtClean="0"/>
              <a:t>iterables</a:t>
            </a:r>
            <a:r>
              <a:rPr lang="en-US" sz="1900" dirty="0" smtClean="0"/>
              <a:t> are True so all will return True and the same will be printed</a:t>
            </a:r>
          </a:p>
          <a:p>
            <a:pPr fontAlgn="base">
              <a:buNone/>
            </a:pPr>
            <a:r>
              <a:rPr lang="en-US" dirty="0" smtClean="0"/>
              <a:t>&gt;&gt;&gt;print (all([True, True, True, True]))</a:t>
            </a:r>
          </a:p>
          <a:p>
            <a:pPr fontAlgn="base">
              <a:buNone/>
            </a:pPr>
            <a:r>
              <a:rPr lang="en-US" sz="2800" dirty="0" smtClean="0"/>
              <a:t>True</a:t>
            </a:r>
            <a:endParaRPr lang="en-US" sz="2600" dirty="0" smtClean="0"/>
          </a:p>
          <a:p>
            <a:pPr fontAlgn="base">
              <a:buNone/>
            </a:pPr>
            <a:r>
              <a:rPr lang="en-US" sz="1900" dirty="0" smtClean="0"/>
              <a:t># Here the method will short-circuit at the first item (False) and will return False.</a:t>
            </a:r>
          </a:p>
          <a:p>
            <a:pPr fontAlgn="base">
              <a:buNone/>
            </a:pPr>
            <a:r>
              <a:rPr lang="en-US" dirty="0" smtClean="0"/>
              <a:t>&gt;&gt;&gt;print (all([False, True, True, False]))</a:t>
            </a:r>
          </a:p>
          <a:p>
            <a:pPr fontAlgn="base">
              <a:buNone/>
            </a:pPr>
            <a:r>
              <a:rPr lang="en-US" sz="2600" dirty="0" smtClean="0"/>
              <a:t>False</a:t>
            </a:r>
          </a:p>
          <a:p>
            <a:pPr fontAlgn="base">
              <a:buNone/>
            </a:pPr>
            <a:r>
              <a:rPr lang="en-US" sz="1800" dirty="0" smtClean="0"/>
              <a:t>#</a:t>
            </a:r>
            <a:r>
              <a:rPr lang="en-US" sz="2000" dirty="0" smtClean="0"/>
              <a:t> This statement will return False, as no True is found in the </a:t>
            </a:r>
            <a:r>
              <a:rPr lang="en-US" sz="2000" dirty="0" err="1" smtClean="0"/>
              <a:t>iterables</a:t>
            </a:r>
            <a:endParaRPr lang="en-US" sz="2000" dirty="0" smtClean="0"/>
          </a:p>
          <a:p>
            <a:pPr fontAlgn="base">
              <a:buNone/>
            </a:pPr>
            <a:r>
              <a:rPr lang="en-US" dirty="0" smtClean="0"/>
              <a:t>&gt;&gt;&gt;print (all([False, False, False]))</a:t>
            </a:r>
          </a:p>
          <a:p>
            <a:pPr fontAlgn="base">
              <a:buNone/>
            </a:pPr>
            <a:r>
              <a:rPr lang="en-US" dirty="0" smtClean="0"/>
              <a:t>False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12279</TotalTime>
  <Words>4912</Words>
  <Application>Microsoft Office PowerPoint</Application>
  <PresentationFormat>On-screen Show (4:3)</PresentationFormat>
  <Paragraphs>1158</Paragraphs>
  <Slides>151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2" baseType="lpstr">
      <vt:lpstr>Office Theme</vt:lpstr>
      <vt:lpstr>PYTHON Programming   Module 1</vt:lpstr>
      <vt:lpstr>About Python</vt:lpstr>
      <vt:lpstr>History</vt:lpstr>
      <vt:lpstr>Features of Python</vt:lpstr>
      <vt:lpstr>Features of Python…</vt:lpstr>
      <vt:lpstr>Basics of PYTHON</vt:lpstr>
      <vt:lpstr>Basic Input and Output</vt:lpstr>
      <vt:lpstr>PowerPoint Presentation</vt:lpstr>
      <vt:lpstr>PowerPoint Presentation</vt:lpstr>
      <vt:lpstr>PowerPoint Presentation</vt:lpstr>
      <vt:lpstr>PowerPoint Presentation</vt:lpstr>
      <vt:lpstr>Python Identifiers</vt:lpstr>
      <vt:lpstr>PowerPoint Presentation</vt:lpstr>
      <vt:lpstr>Python Statement, Indentation and Comments</vt:lpstr>
      <vt:lpstr>PowerPoint Presentation</vt:lpstr>
      <vt:lpstr>Python Indentation</vt:lpstr>
      <vt:lpstr>PowerPoint Presentation</vt:lpstr>
      <vt:lpstr>Python Comments</vt:lpstr>
      <vt:lpstr>Docstring in Python</vt:lpstr>
      <vt:lpstr>Keywords</vt:lpstr>
      <vt:lpstr>Python Variables</vt:lpstr>
      <vt:lpstr>PowerPoint Presentation</vt:lpstr>
      <vt:lpstr>Data types in Python</vt:lpstr>
      <vt:lpstr>PowerPoint Presentation</vt:lpstr>
      <vt:lpstr>1. Numbers</vt:lpstr>
      <vt:lpstr>PowerPoint Presentation</vt:lpstr>
      <vt:lpstr>2. List</vt:lpstr>
      <vt:lpstr>PowerPoint Presentation</vt:lpstr>
      <vt:lpstr>PowerPoint Presentation</vt:lpstr>
      <vt:lpstr>Input the values from user in a list</vt:lpstr>
      <vt:lpstr>Multiple input from user</vt:lpstr>
      <vt:lpstr>Fibonacci series</vt:lpstr>
      <vt:lpstr>3.Tuple</vt:lpstr>
      <vt:lpstr>PowerPoint Presentation</vt:lpstr>
      <vt:lpstr>4. Strings</vt:lpstr>
      <vt:lpstr>PowerPoint Presentation</vt:lpstr>
      <vt:lpstr>5. Set</vt:lpstr>
      <vt:lpstr>PowerPoint Presentation</vt:lpstr>
      <vt:lpstr>6. Dictionary</vt:lpstr>
      <vt:lpstr>PowerPoint Presentation</vt:lpstr>
      <vt:lpstr>Some Basic Arithmetic Operators</vt:lpstr>
      <vt:lpstr>PowerPoint Presentation</vt:lpstr>
      <vt:lpstr>Python Flow Control</vt:lpstr>
      <vt:lpstr>PowerPoint Presentation</vt:lpstr>
      <vt:lpstr>PowerPoint Presentation</vt:lpstr>
      <vt:lpstr>PowerPoint Presentation</vt:lpstr>
      <vt:lpstr>Syntax of for Loop</vt:lpstr>
      <vt:lpstr>range(start,stop,step)</vt:lpstr>
      <vt:lpstr>PowerPoint Presentation</vt:lpstr>
      <vt:lpstr>while Loop</vt:lpstr>
      <vt:lpstr>PowerPoint Presentation</vt:lpstr>
      <vt:lpstr>PowerPoint Presentation</vt:lpstr>
      <vt:lpstr>Use of else as a flag</vt:lpstr>
      <vt:lpstr>PowerPoint Presentation</vt:lpstr>
      <vt:lpstr>while and for LOOPS</vt:lpstr>
      <vt:lpstr>for loop with else</vt:lpstr>
      <vt:lpstr>Python break and continue</vt:lpstr>
      <vt:lpstr>PowerPoint Presentation</vt:lpstr>
      <vt:lpstr>Python continue statement</vt:lpstr>
      <vt:lpstr>Python pass statement</vt:lpstr>
      <vt:lpstr>PowerPoint Presentation</vt:lpstr>
      <vt:lpstr>PowerPoint Presentation</vt:lpstr>
      <vt:lpstr>Python Strings</vt:lpstr>
      <vt:lpstr>PowerPoint Presentation</vt:lpstr>
      <vt:lpstr>Updating Strings</vt:lpstr>
      <vt:lpstr>String Special Operators let a=‘Hello’ and b=‘python’</vt:lpstr>
      <vt:lpstr>String Formatting Operator %</vt:lpstr>
      <vt:lpstr>PowerPoint Presentation</vt:lpstr>
      <vt:lpstr>PowerPoint Presentation</vt:lpstr>
      <vt:lpstr>Python String Operations</vt:lpstr>
      <vt:lpstr>Iterating Through String</vt:lpstr>
      <vt:lpstr>String Membership Test</vt:lpstr>
      <vt:lpstr>Built-in functions to Work with Python</vt:lpstr>
      <vt:lpstr>Raw String to ignore escape sequence</vt:lpstr>
      <vt:lpstr>The format() Method for Formatting Strings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style formatting</vt:lpstr>
      <vt:lpstr>Common Python String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 in Python</vt:lpstr>
      <vt:lpstr>PowerPoint Presentation</vt:lpstr>
      <vt:lpstr>Pass by Reference vs Value</vt:lpstr>
      <vt:lpstr>PowerPoint Presentation</vt:lpstr>
      <vt:lpstr>PowerPoint Presentation</vt:lpstr>
      <vt:lpstr>PowerPoint Presentation</vt:lpstr>
      <vt:lpstr>Function Arguments</vt:lpstr>
      <vt:lpstr>Required Arguments</vt:lpstr>
      <vt:lpstr>PowerPoint Presentation</vt:lpstr>
      <vt:lpstr>Keyword Arguments </vt:lpstr>
      <vt:lpstr>PowerPoint Presentation</vt:lpstr>
      <vt:lpstr>PowerPoint Presentation</vt:lpstr>
      <vt:lpstr>Default Arguments</vt:lpstr>
      <vt:lpstr>Variable-length Arguments</vt:lpstr>
      <vt:lpstr>PowerPoint Presentation</vt:lpstr>
      <vt:lpstr>PowerPoint Presentation</vt:lpstr>
      <vt:lpstr>The Anonymous Functions</vt:lpstr>
      <vt:lpstr>PowerPoint Presentation</vt:lpstr>
      <vt:lpstr>PowerPoint Presentation</vt:lpstr>
      <vt:lpstr>PowerPoint Presentation</vt:lpstr>
      <vt:lpstr>Use of Lambda Function</vt:lpstr>
      <vt:lpstr>Example use with filter()</vt:lpstr>
      <vt:lpstr>Example use with map()</vt:lpstr>
      <vt:lpstr>Reduce function</vt:lpstr>
      <vt:lpstr>PowerPoint Presentation</vt:lpstr>
      <vt:lpstr>PowerPoint Presentation</vt:lpstr>
      <vt:lpstr>Global Vs Local variable</vt:lpstr>
      <vt:lpstr>PowerPoint Presentation</vt:lpstr>
      <vt:lpstr>Python List Comprehension and Slicing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python’s slicing operator</vt:lpstr>
      <vt:lpstr>Looping Over Lists</vt:lpstr>
      <vt:lpstr>List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&amp; All operators in Python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Lect. 1</dc:title>
  <dc:creator>atul</dc:creator>
  <cp:lastModifiedBy>HP</cp:lastModifiedBy>
  <cp:revision>78</cp:revision>
  <dcterms:created xsi:type="dcterms:W3CDTF">2006-08-16T00:00:00Z</dcterms:created>
  <dcterms:modified xsi:type="dcterms:W3CDTF">2023-12-03T16:24:47Z</dcterms:modified>
</cp:coreProperties>
</file>