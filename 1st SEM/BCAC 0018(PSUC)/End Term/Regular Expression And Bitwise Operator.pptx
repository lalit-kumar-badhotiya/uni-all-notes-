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12" r:id="rId21"/>
    <p:sldId id="313" r:id="rId22"/>
    <p:sldId id="314" r:id="rId23"/>
    <p:sldId id="281" r:id="rId24"/>
    <p:sldId id="278" r:id="rId25"/>
    <p:sldId id="279" r:id="rId26"/>
    <p:sldId id="282" r:id="rId27"/>
    <p:sldId id="280" r:id="rId28"/>
    <p:sldId id="283" r:id="rId29"/>
    <p:sldId id="284" r:id="rId30"/>
    <p:sldId id="285" r:id="rId31"/>
    <p:sldId id="286" r:id="rId32"/>
    <p:sldId id="277" r:id="rId33"/>
    <p:sldId id="287" r:id="rId34"/>
    <p:sldId id="288" r:id="rId35"/>
    <p:sldId id="290" r:id="rId36"/>
    <p:sldId id="291" r:id="rId37"/>
    <p:sldId id="310" r:id="rId38"/>
    <p:sldId id="311" r:id="rId39"/>
    <p:sldId id="304" r:id="rId40"/>
    <p:sldId id="305" r:id="rId41"/>
    <p:sldId id="306" r:id="rId42"/>
    <p:sldId id="307" r:id="rId43"/>
    <p:sldId id="308" r:id="rId44"/>
    <p:sldId id="30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B2A7-828B-4701-A9F8-9B30E8C0AAEC}" type="datetimeFigureOut">
              <a:rPr lang="en-US" smtClean="0"/>
              <a:pPr/>
              <a:t>12/2/2023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A0429-81B4-46F6-B3B7-148B62B1A6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A regular expression (RE) is </a:t>
            </a:r>
            <a:r>
              <a:rPr lang="en-US" sz="2400" b="1" dirty="0" smtClean="0"/>
              <a:t>a string</a:t>
            </a:r>
            <a:r>
              <a:rPr lang="en-US" sz="2400" dirty="0" smtClean="0"/>
              <a:t> </a:t>
            </a:r>
            <a:r>
              <a:rPr lang="en-US" sz="2400" b="1" dirty="0" smtClean="0"/>
              <a:t>that represents a pattern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With RE functionality, you can check any string with the pattern and see if any part of the string matches the pattern.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b="1" i="1" dirty="0" smtClean="0"/>
              <a:t>re</a:t>
            </a:r>
            <a:r>
              <a:rPr lang="en-US" sz="2400" dirty="0" smtClean="0"/>
              <a:t> module supplies Python’s RE functionality.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 smtClean="0"/>
              <a:t>Since RE patterns often contain backslashes, you often specify them using raw string syntax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Regular expressions use two types of characters: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</a:rPr>
              <a:t>a) Meta characters:</a:t>
            </a:r>
            <a:r>
              <a:rPr lang="en-US" sz="2800" dirty="0" smtClean="0"/>
              <a:t> have a special meaning</a:t>
            </a:r>
          </a:p>
          <a:p>
            <a:pPr>
              <a:buNone/>
            </a:pPr>
            <a:r>
              <a:rPr lang="en-US" sz="2800" dirty="0" smtClean="0"/>
              <a:t>Ex.       </a:t>
            </a:r>
            <a:r>
              <a:rPr lang="en-US" sz="3600" b="1" dirty="0" smtClean="0"/>
              <a:t>.   ^  $  *  +  ?  { } [ ] \ | ( ) </a:t>
            </a:r>
            <a:endParaRPr lang="en-US" sz="2800" b="1" dirty="0" smtClean="0"/>
          </a:p>
          <a:p>
            <a:pPr>
              <a:buNone/>
            </a:pPr>
            <a:endParaRPr lang="en-US" sz="2800" b="1" dirty="0" smtClean="0"/>
          </a:p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b) Literals:</a:t>
            </a:r>
            <a:r>
              <a:rPr lang="en-US" sz="2800" dirty="0" smtClean="0"/>
              <a:t> have usual meaning</a:t>
            </a:r>
          </a:p>
          <a:p>
            <a:pPr>
              <a:buNone/>
            </a:pPr>
            <a:r>
              <a:rPr lang="en-US" sz="2800" dirty="0" smtClean="0"/>
              <a:t>Ex.       </a:t>
            </a:r>
            <a:r>
              <a:rPr lang="en-US" sz="3600" b="1" dirty="0" smtClean="0"/>
              <a:t>A, B, a, b, text,  0,1,  9</a:t>
            </a:r>
            <a:endParaRPr lang="en-US" sz="2800" b="1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Uses of regular expressions: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a string (search and match)</a:t>
            </a:r>
          </a:p>
          <a:p>
            <a:r>
              <a:rPr lang="en-US" dirty="0" smtClean="0"/>
              <a:t>Finding a string (</a:t>
            </a:r>
            <a:r>
              <a:rPr lang="en-US" dirty="0" err="1" smtClean="0"/>
              <a:t>findall</a:t>
            </a:r>
            <a:r>
              <a:rPr lang="en-US" dirty="0" smtClean="0"/>
              <a:t>)</a:t>
            </a:r>
          </a:p>
          <a:p>
            <a:r>
              <a:rPr lang="en-US" dirty="0" smtClean="0"/>
              <a:t>Break string into a sub strings (split)</a:t>
            </a:r>
          </a:p>
          <a:p>
            <a:r>
              <a:rPr lang="en-US" dirty="0" smtClean="0"/>
              <a:t>Replace part of a string (sub)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V</a:t>
            </a:r>
            <a:r>
              <a:rPr lang="en-US" sz="3600" b="1" dirty="0" smtClean="0"/>
              <a:t>arious methods of Regular Expressions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	The ‘re’ package provides multiple methods to perform queries on an input string. </a:t>
            </a:r>
          </a:p>
          <a:p>
            <a:r>
              <a:rPr lang="en-US" sz="2800" dirty="0" err="1" smtClean="0"/>
              <a:t>re.match</a:t>
            </a:r>
            <a:r>
              <a:rPr lang="en-US" sz="2800" dirty="0" smtClean="0"/>
              <a:t>()</a:t>
            </a:r>
          </a:p>
          <a:p>
            <a:r>
              <a:rPr lang="en-US" sz="2800" dirty="0" err="1" smtClean="0"/>
              <a:t>re.search</a:t>
            </a:r>
            <a:r>
              <a:rPr lang="en-US" sz="2800" dirty="0" smtClean="0"/>
              <a:t>()</a:t>
            </a:r>
          </a:p>
          <a:p>
            <a:r>
              <a:rPr lang="en-US" sz="2800" dirty="0" err="1" smtClean="0"/>
              <a:t>re.findall</a:t>
            </a:r>
            <a:r>
              <a:rPr lang="en-US" sz="2800" dirty="0" smtClean="0"/>
              <a:t>()</a:t>
            </a:r>
          </a:p>
          <a:p>
            <a:r>
              <a:rPr lang="en-US" sz="2800" dirty="0" err="1" smtClean="0"/>
              <a:t>re.split</a:t>
            </a:r>
            <a:r>
              <a:rPr lang="en-US" sz="2800" dirty="0" smtClean="0"/>
              <a:t>()</a:t>
            </a:r>
          </a:p>
          <a:p>
            <a:r>
              <a:rPr lang="en-US" sz="2800" dirty="0" smtClean="0"/>
              <a:t>re.sub()</a:t>
            </a:r>
          </a:p>
          <a:p>
            <a:r>
              <a:rPr lang="en-US" sz="2800" dirty="0" err="1" smtClean="0"/>
              <a:t>re.compile</a:t>
            </a:r>
            <a:r>
              <a:rPr lang="en-US" sz="2800" dirty="0" smtClean="0"/>
              <a:t>()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err="1" smtClean="0"/>
              <a:t>re.match</a:t>
            </a:r>
            <a:r>
              <a:rPr lang="en-US" sz="4000" b="1" dirty="0" smtClean="0"/>
              <a:t>(</a:t>
            </a:r>
            <a:r>
              <a:rPr lang="en-US" sz="3200" b="1" i="1" dirty="0" smtClean="0"/>
              <a:t>pattern</a:t>
            </a:r>
            <a:r>
              <a:rPr lang="en-US" sz="3200" b="1" dirty="0" smtClean="0"/>
              <a:t>, </a:t>
            </a:r>
            <a:r>
              <a:rPr lang="en-US" sz="3200" b="1" i="1" dirty="0" smtClean="0"/>
              <a:t>string, flag=0</a:t>
            </a:r>
            <a:r>
              <a:rPr lang="en-US" sz="4000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This function attempts to match RE pattern to string with optional flags.</a:t>
            </a:r>
          </a:p>
          <a:p>
            <a:r>
              <a:rPr lang="en-US" sz="2800" dirty="0" smtClean="0"/>
              <a:t>The match() method will </a:t>
            </a:r>
            <a:r>
              <a:rPr lang="en-US" sz="2800" b="1" dirty="0" smtClean="0"/>
              <a:t>only find matches if they occur at the start of the string</a:t>
            </a:r>
            <a:r>
              <a:rPr lang="en-US" sz="2800" dirty="0" smtClean="0"/>
              <a:t> being searched.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attern</a:t>
            </a:r>
            <a:r>
              <a:rPr lang="en-US" dirty="0" smtClean="0"/>
              <a:t>       </a:t>
            </a:r>
            <a:r>
              <a:rPr lang="en-US" sz="2800" dirty="0" smtClean="0"/>
              <a:t>the regular expression to be matched. </a:t>
            </a:r>
            <a:endParaRPr lang="en-US" dirty="0" smtClean="0"/>
          </a:p>
          <a:p>
            <a:r>
              <a:rPr lang="en-US" b="1" dirty="0" smtClean="0"/>
              <a:t>String</a:t>
            </a:r>
            <a:r>
              <a:rPr lang="en-US" dirty="0" smtClean="0"/>
              <a:t> 	    </a:t>
            </a:r>
            <a:r>
              <a:rPr lang="en-US" sz="2800" dirty="0" smtClean="0"/>
              <a:t>the string, which would be searched to match the pattern </a:t>
            </a:r>
            <a:r>
              <a:rPr lang="en-US" sz="2800" b="1" dirty="0" smtClean="0"/>
              <a:t>at the beginning of string</a:t>
            </a:r>
            <a:r>
              <a:rPr lang="en-US" sz="2800" dirty="0" smtClean="0"/>
              <a:t>. </a:t>
            </a:r>
          </a:p>
          <a:p>
            <a:pPr algn="just"/>
            <a:r>
              <a:rPr lang="en-US" b="1" dirty="0" smtClean="0"/>
              <a:t>Flags</a:t>
            </a:r>
            <a:r>
              <a:rPr lang="en-US" dirty="0" smtClean="0"/>
              <a:t>      </a:t>
            </a:r>
            <a:r>
              <a:rPr lang="en-US" sz="2800" dirty="0" smtClean="0"/>
              <a:t>You can specify different flags using bitwise OR (|). These are modifiers.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b="1" dirty="0" err="1" smtClean="0"/>
              <a:t>re.match</a:t>
            </a:r>
            <a:r>
              <a:rPr lang="en-US" sz="2800" dirty="0" smtClean="0"/>
              <a:t> function returns </a:t>
            </a:r>
          </a:p>
          <a:p>
            <a:pPr lvl="1"/>
            <a:r>
              <a:rPr lang="en-US" sz="2400" dirty="0" smtClean="0"/>
              <a:t>a match object on success, </a:t>
            </a:r>
          </a:p>
          <a:p>
            <a:pPr lvl="1"/>
            <a:r>
              <a:rPr lang="en-US" sz="2400" dirty="0" smtClean="0"/>
              <a:t>none on failure.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We use group(num) or groups() function of match object to get matched expression. </a:t>
            </a:r>
            <a:endParaRPr lang="en-US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Match Object Methods 	</a:t>
            </a:r>
            <a:r>
              <a:rPr lang="en-US" sz="2400" b="1" dirty="0"/>
              <a:t> </a:t>
            </a:r>
            <a:r>
              <a:rPr lang="en-US" sz="2400" b="1" dirty="0" smtClean="0"/>
              <a:t>     Description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group(num=0)  	This method returns entire match (or 			specific subgroup num)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groups()  		This method returns all matching 				subgroups in a </a:t>
            </a:r>
            <a:r>
              <a:rPr lang="en-US" sz="2400" dirty="0" err="1" smtClean="0"/>
              <a:t>tuple</a:t>
            </a:r>
            <a:r>
              <a:rPr lang="en-US" sz="2400" dirty="0" smtClean="0"/>
              <a:t> (empty if there 				weren't any)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import   re</a:t>
            </a:r>
          </a:p>
          <a:p>
            <a:pPr>
              <a:buNone/>
            </a:pPr>
            <a:r>
              <a:rPr lang="en-US" dirty="0" smtClean="0"/>
              <a:t>pattern=“</a:t>
            </a:r>
            <a:r>
              <a:rPr lang="en-US" sz="2800" dirty="0" smtClean="0"/>
              <a:t>dog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/>
              <a:t>s</a:t>
            </a:r>
            <a:r>
              <a:rPr lang="en-US" dirty="0" smtClean="0"/>
              <a:t>tring=“</a:t>
            </a:r>
            <a:r>
              <a:rPr lang="en-US" sz="2800" dirty="0" smtClean="0"/>
              <a:t>dog </a:t>
            </a:r>
            <a:r>
              <a:rPr lang="en-US" sz="2800" dirty="0" err="1" smtClean="0"/>
              <a:t>vs</a:t>
            </a:r>
            <a:r>
              <a:rPr lang="en-US" sz="2800" dirty="0" smtClean="0"/>
              <a:t> cat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result=</a:t>
            </a:r>
            <a:r>
              <a:rPr lang="en-US" dirty="0" err="1" smtClean="0"/>
              <a:t>re.match</a:t>
            </a:r>
            <a:r>
              <a:rPr lang="en-US" dirty="0" smtClean="0"/>
              <a:t>(</a:t>
            </a:r>
            <a:r>
              <a:rPr lang="en-US" sz="2800" dirty="0" smtClean="0"/>
              <a:t>pattern, string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print(result)   </a:t>
            </a:r>
            <a:r>
              <a:rPr lang="en-US" sz="2000" dirty="0" smtClean="0"/>
              <a:t>#&lt;_</a:t>
            </a:r>
            <a:r>
              <a:rPr lang="en-US" sz="2000" dirty="0" err="1" smtClean="0"/>
              <a:t>sre.SRE_Match</a:t>
            </a:r>
            <a:r>
              <a:rPr lang="en-US" sz="2000" dirty="0" smtClean="0"/>
              <a:t> object; span=(0, 3), match='dog'&gt;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result.group</a:t>
            </a:r>
            <a:r>
              <a:rPr lang="en-US" dirty="0" smtClean="0"/>
              <a:t>(0))   </a:t>
            </a:r>
            <a:r>
              <a:rPr lang="en-US" sz="2000" dirty="0" smtClean="0"/>
              <a:t>#dog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re.search</a:t>
            </a:r>
            <a:r>
              <a:rPr lang="en-US" b="1" dirty="0" smtClean="0"/>
              <a:t>(</a:t>
            </a:r>
            <a:r>
              <a:rPr lang="en-US" sz="3200" i="1" dirty="0" smtClean="0"/>
              <a:t>pattern</a:t>
            </a:r>
            <a:r>
              <a:rPr lang="en-US" sz="3200" dirty="0" smtClean="0"/>
              <a:t>, </a:t>
            </a:r>
            <a:r>
              <a:rPr lang="en-US" sz="3200" i="1" dirty="0" smtClean="0"/>
              <a:t>string, flag=0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function searches for first occurrence of RE pattern within string with optional flags.</a:t>
            </a:r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re.search</a:t>
            </a:r>
            <a:r>
              <a:rPr lang="en-US" sz="2400" dirty="0" smtClean="0"/>
              <a:t>() function returns </a:t>
            </a:r>
          </a:p>
          <a:p>
            <a:pPr lvl="1"/>
            <a:r>
              <a:rPr lang="en-US" sz="2000" dirty="0" smtClean="0"/>
              <a:t>a match object on success, </a:t>
            </a:r>
          </a:p>
          <a:p>
            <a:pPr lvl="1"/>
            <a:r>
              <a:rPr lang="en-US" sz="2000" dirty="0" smtClean="0"/>
              <a:t>none on failure.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import    re</a:t>
            </a:r>
          </a:p>
          <a:p>
            <a:pPr>
              <a:buNone/>
            </a:pPr>
            <a:r>
              <a:rPr lang="en-US" sz="2800" dirty="0" smtClean="0"/>
              <a:t>result=</a:t>
            </a:r>
            <a:r>
              <a:rPr lang="en-US" sz="2800" dirty="0" err="1" smtClean="0"/>
              <a:t>re.search</a:t>
            </a:r>
            <a:r>
              <a:rPr lang="en-US" sz="2800" dirty="0" smtClean="0"/>
              <a:t>("CA", "BCOM BCA MCOM </a:t>
            </a:r>
            <a:r>
              <a:rPr lang="en-US" sz="2800" dirty="0" err="1" smtClean="0"/>
              <a:t>BTech</a:t>
            </a:r>
            <a:r>
              <a:rPr lang="en-US" sz="2800" dirty="0" smtClean="0"/>
              <a:t>")</a:t>
            </a:r>
          </a:p>
          <a:p>
            <a:pPr>
              <a:buNone/>
            </a:pPr>
            <a:r>
              <a:rPr lang="en-US" sz="2800" dirty="0" smtClean="0"/>
              <a:t>print(</a:t>
            </a:r>
            <a:r>
              <a:rPr lang="en-US" sz="2800" dirty="0" err="1" smtClean="0"/>
              <a:t>result.group</a:t>
            </a:r>
            <a:r>
              <a:rPr lang="en-US" sz="2800" dirty="0" smtClean="0"/>
              <a:t>(0))       #CA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Matching Versus Searching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Python offers two different primitive operations based on regular expressions: </a:t>
            </a:r>
          </a:p>
          <a:p>
            <a:r>
              <a:rPr lang="en-US" b="1" dirty="0"/>
              <a:t>m</a:t>
            </a:r>
            <a:r>
              <a:rPr lang="en-US" b="1" dirty="0" smtClean="0"/>
              <a:t>atch()</a:t>
            </a:r>
            <a:r>
              <a:rPr lang="en-US" sz="2400" dirty="0" smtClean="0"/>
              <a:t> checks for a match only at the beginning of the string. </a:t>
            </a:r>
          </a:p>
          <a:p>
            <a:r>
              <a:rPr lang="en-US" b="1" dirty="0"/>
              <a:t>s</a:t>
            </a:r>
            <a:r>
              <a:rPr lang="en-US" b="1" dirty="0" smtClean="0"/>
              <a:t>earch()</a:t>
            </a:r>
            <a:r>
              <a:rPr lang="en-US" sz="2400" dirty="0" smtClean="0"/>
              <a:t> checks for a match anywhere in the string.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re.findall</a:t>
            </a:r>
            <a:r>
              <a:rPr lang="en-US" b="1" dirty="0" smtClean="0"/>
              <a:t> (</a:t>
            </a:r>
            <a:r>
              <a:rPr lang="en-US" b="1" i="1" dirty="0" smtClean="0"/>
              <a:t>pattern</a:t>
            </a:r>
            <a:r>
              <a:rPr lang="en-US" b="1" dirty="0" smtClean="0"/>
              <a:t>, </a:t>
            </a:r>
            <a:r>
              <a:rPr lang="en-US" b="1" i="1" dirty="0" smtClean="0"/>
              <a:t>string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It</a:t>
            </a:r>
            <a:r>
              <a:rPr lang="en-US" sz="2800" b="1" dirty="0" smtClean="0"/>
              <a:t> </a:t>
            </a:r>
            <a:r>
              <a:rPr lang="en-US" sz="2800" dirty="0" smtClean="0"/>
              <a:t>returns</a:t>
            </a:r>
            <a:r>
              <a:rPr lang="en-US" sz="2800" b="1" dirty="0" smtClean="0"/>
              <a:t> </a:t>
            </a:r>
          </a:p>
          <a:p>
            <a:pPr lvl="1"/>
            <a:r>
              <a:rPr lang="en-US" sz="2400" b="1" dirty="0" smtClean="0"/>
              <a:t>a list</a:t>
            </a:r>
            <a:r>
              <a:rPr lang="en-US" sz="2400" dirty="0" smtClean="0"/>
              <a:t> of all matching patterns on success.</a:t>
            </a:r>
          </a:p>
          <a:p>
            <a:pPr lvl="1"/>
            <a:r>
              <a:rPr lang="en-US" sz="2400" dirty="0" smtClean="0"/>
              <a:t>a blank list on failure </a:t>
            </a:r>
          </a:p>
          <a:p>
            <a:r>
              <a:rPr lang="en-US" sz="2800" dirty="0" smtClean="0"/>
              <a:t>It has no constraints of searching from start or end.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400" b="1" dirty="0" smtClean="0"/>
              <a:t>NOTE: </a:t>
            </a:r>
            <a:r>
              <a:rPr lang="en-US" sz="2400" dirty="0" smtClean="0"/>
              <a:t>Do not use group()/groups() with </a:t>
            </a:r>
            <a:r>
              <a:rPr lang="en-US" sz="2400" dirty="0" err="1" smtClean="0"/>
              <a:t>findall</a:t>
            </a:r>
            <a:r>
              <a:rPr lang="en-US" sz="2400" dirty="0" smtClean="0"/>
              <a:t>() returned object as it is a list.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import  re</a:t>
            </a:r>
          </a:p>
          <a:p>
            <a:r>
              <a:rPr lang="en-US" sz="2800" dirty="0" smtClean="0"/>
              <a:t>result=</a:t>
            </a:r>
            <a:r>
              <a:rPr lang="en-US" sz="2800" dirty="0" err="1" smtClean="0"/>
              <a:t>re.findall</a:t>
            </a:r>
            <a:r>
              <a:rPr lang="en-US" sz="2800" dirty="0" smtClean="0"/>
              <a:t>("CA", "BCOM BCA MCA </a:t>
            </a:r>
            <a:r>
              <a:rPr lang="en-US" sz="2800" dirty="0" err="1" smtClean="0"/>
              <a:t>BTech</a:t>
            </a:r>
            <a:r>
              <a:rPr lang="en-US" sz="2800" dirty="0" smtClean="0"/>
              <a:t> CA")</a:t>
            </a:r>
          </a:p>
          <a:p>
            <a:r>
              <a:rPr lang="en-US" sz="2800" dirty="0" smtClean="0"/>
              <a:t>print(result)     </a:t>
            </a:r>
            <a:r>
              <a:rPr lang="en-US" sz="2000" dirty="0" smtClean="0"/>
              <a:t>#['CA', 'CA', 'CA']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tx1"/>
                </a:solidFill>
              </a:rPr>
              <a:t>re.split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en-US" sz="3200" i="1" dirty="0" smtClean="0">
                <a:solidFill>
                  <a:schemeClr val="tx1"/>
                </a:solidFill>
              </a:rPr>
              <a:t>pattern</a:t>
            </a:r>
            <a:r>
              <a:rPr lang="en-US" sz="3200" dirty="0" smtClean="0">
                <a:solidFill>
                  <a:schemeClr val="tx1"/>
                </a:solidFill>
              </a:rPr>
              <a:t>, </a:t>
            </a:r>
            <a:r>
              <a:rPr lang="en-US" sz="3200" i="1" dirty="0" smtClean="0">
                <a:solidFill>
                  <a:schemeClr val="tx1"/>
                </a:solidFill>
              </a:rPr>
              <a:t>string</a:t>
            </a:r>
            <a:r>
              <a:rPr lang="en-US" sz="3200" dirty="0" smtClean="0">
                <a:solidFill>
                  <a:schemeClr val="tx1"/>
                </a:solidFill>
              </a:rPr>
              <a:t>, [</a:t>
            </a:r>
            <a:r>
              <a:rPr lang="en-US" sz="3200" i="1" dirty="0" err="1" smtClean="0">
                <a:solidFill>
                  <a:schemeClr val="tx1"/>
                </a:solidFill>
              </a:rPr>
              <a:t>maxsplit</a:t>
            </a:r>
            <a:r>
              <a:rPr lang="en-US" sz="3200" i="1" dirty="0" smtClean="0">
                <a:solidFill>
                  <a:schemeClr val="tx1"/>
                </a:solidFill>
              </a:rPr>
              <a:t>=0</a:t>
            </a:r>
            <a:r>
              <a:rPr lang="en-US" sz="3200" dirty="0" smtClean="0">
                <a:solidFill>
                  <a:schemeClr val="tx1"/>
                </a:solidFill>
              </a:rPr>
              <a:t>]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split a </a:t>
            </a:r>
            <a:r>
              <a:rPr lang="en-US" sz="2400" i="1" dirty="0" smtClean="0"/>
              <a:t>string</a:t>
            </a:r>
            <a:r>
              <a:rPr lang="en-US" sz="2400" dirty="0" smtClean="0"/>
              <a:t> by the occurrences of given </a:t>
            </a:r>
            <a:r>
              <a:rPr lang="en-US" sz="2400" i="1" dirty="0" smtClean="0"/>
              <a:t>pattern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returning a list containing the resulting substrings.</a:t>
            </a:r>
          </a:p>
          <a:p>
            <a:r>
              <a:rPr lang="en-US" sz="2400" dirty="0" smtClean="0"/>
              <a:t>If the pattern is not found, </a:t>
            </a:r>
            <a:r>
              <a:rPr lang="en-US" sz="2400" i="1" dirty="0" smtClean="0"/>
              <a:t>string</a:t>
            </a:r>
            <a:r>
              <a:rPr lang="en-US" sz="2400" dirty="0" smtClean="0"/>
              <a:t> is returned unchanged</a:t>
            </a:r>
          </a:p>
          <a:p>
            <a:pPr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import re</a:t>
            </a: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result=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re.split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("CA", "BCOM BCA MCA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BTech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BA")</a:t>
            </a:r>
          </a:p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print(result)    # ['BCOM B', ' M', '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BTech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BA']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import re</a:t>
            </a:r>
          </a:p>
          <a:p>
            <a:r>
              <a:rPr lang="en-US" sz="2400" dirty="0" smtClean="0"/>
              <a:t>result=</a:t>
            </a:r>
            <a:r>
              <a:rPr lang="en-US" sz="2400" dirty="0" err="1" smtClean="0"/>
              <a:t>re.split</a:t>
            </a:r>
            <a:r>
              <a:rPr lang="en-US" sz="2400" dirty="0" smtClean="0"/>
              <a:t>("CA", "BCOM BCA MCA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BA", </a:t>
            </a:r>
            <a:r>
              <a:rPr lang="en-US" sz="2400" b="1" dirty="0" err="1" smtClean="0"/>
              <a:t>maxsplit</a:t>
            </a:r>
            <a:r>
              <a:rPr lang="en-US" sz="2400" b="1" dirty="0" smtClean="0"/>
              <a:t>=1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print(result)   </a:t>
            </a:r>
            <a:r>
              <a:rPr lang="en-US" sz="2000" dirty="0" smtClean="0"/>
              <a:t># ['BCOM B', ' MCA </a:t>
            </a:r>
            <a:r>
              <a:rPr lang="en-US" sz="2000" dirty="0" err="1" smtClean="0"/>
              <a:t>BTech</a:t>
            </a:r>
            <a:r>
              <a:rPr lang="en-US" sz="2000" dirty="0" smtClean="0"/>
              <a:t> BA']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re.sub(</a:t>
            </a:r>
            <a:r>
              <a:rPr lang="en-US" sz="3200" i="1" dirty="0" smtClean="0"/>
              <a:t>pattern</a:t>
            </a:r>
            <a:r>
              <a:rPr lang="en-US" sz="3200" dirty="0" smtClean="0"/>
              <a:t>, </a:t>
            </a:r>
            <a:r>
              <a:rPr lang="en-US" sz="3200" i="1" dirty="0" err="1" smtClean="0"/>
              <a:t>repl</a:t>
            </a:r>
            <a:r>
              <a:rPr lang="en-US" sz="3200" dirty="0" smtClean="0"/>
              <a:t>, </a:t>
            </a:r>
            <a:r>
              <a:rPr lang="en-US" sz="3200" i="1" dirty="0" smtClean="0"/>
              <a:t>string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search a pattern and replace with a new sub string. </a:t>
            </a:r>
          </a:p>
          <a:p>
            <a:r>
              <a:rPr lang="en-US" sz="2400" dirty="0" smtClean="0"/>
              <a:t>If the pattern is not found, </a:t>
            </a:r>
            <a:r>
              <a:rPr lang="en-US" sz="2400" i="1" dirty="0" smtClean="0"/>
              <a:t>string</a:t>
            </a:r>
            <a:r>
              <a:rPr lang="en-US" sz="2400" dirty="0" smtClean="0"/>
              <a:t> is returned unchanged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 smtClean="0"/>
              <a:t>import re</a:t>
            </a:r>
          </a:p>
          <a:p>
            <a:pPr>
              <a:buNone/>
            </a:pPr>
            <a:r>
              <a:rPr lang="en-US" sz="2400" dirty="0" smtClean="0"/>
              <a:t>result=re.sub("</a:t>
            </a:r>
            <a:r>
              <a:rPr lang="en-US" sz="2400" dirty="0" err="1" smtClean="0"/>
              <a:t>CA","ca</a:t>
            </a:r>
            <a:r>
              <a:rPr lang="en-US" sz="2400" dirty="0" smtClean="0"/>
              <a:t>", "BCOM BCA MCA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BA")</a:t>
            </a:r>
          </a:p>
          <a:p>
            <a:pPr>
              <a:buNone/>
            </a:pPr>
            <a:r>
              <a:rPr lang="en-US" sz="2400" dirty="0" smtClean="0"/>
              <a:t>print(result)       #</a:t>
            </a:r>
            <a:r>
              <a:rPr lang="pl-PL" sz="2400" dirty="0" smtClean="0"/>
              <a:t>BCOM Bca Mca BTech BA</a:t>
            </a:r>
            <a:endParaRPr lang="en-US" sz="2400" dirty="0" smtClean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re.compile</a:t>
            </a:r>
            <a:r>
              <a:rPr lang="en-US" b="1" dirty="0" smtClean="0"/>
              <a:t>(</a:t>
            </a:r>
            <a:r>
              <a:rPr lang="en-US" sz="3200" b="1" i="1" dirty="0" smtClean="0"/>
              <a:t>pattern,  flag=0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can combine a regular expression pattern into pattern objects, which can be used for pattern matching. </a:t>
            </a:r>
          </a:p>
          <a:p>
            <a:r>
              <a:rPr lang="en-US" sz="2400" dirty="0" smtClean="0"/>
              <a:t>It also helps to search a pattern again without rewriting 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import re</a:t>
            </a:r>
          </a:p>
          <a:p>
            <a:pPr>
              <a:buNone/>
            </a:pPr>
            <a:r>
              <a:rPr lang="en-US" sz="2400" dirty="0" smtClean="0"/>
              <a:t>p=</a:t>
            </a:r>
            <a:r>
              <a:rPr lang="en-US" sz="2400" dirty="0" err="1" smtClean="0"/>
              <a:t>re.compile</a:t>
            </a:r>
            <a:r>
              <a:rPr lang="en-US" sz="2400" dirty="0" smtClean="0"/>
              <a:t>("CA")</a:t>
            </a:r>
          </a:p>
          <a:p>
            <a:pPr>
              <a:buNone/>
            </a:pPr>
            <a:r>
              <a:rPr lang="en-US" sz="2400" dirty="0" smtClean="0"/>
              <a:t>r1= </a:t>
            </a:r>
            <a:r>
              <a:rPr lang="en-US" sz="2400" dirty="0" err="1" smtClean="0"/>
              <a:t>p.findall</a:t>
            </a:r>
            <a:r>
              <a:rPr lang="en-US" sz="2400" dirty="0" smtClean="0"/>
              <a:t>("BCOM BCA MCA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BA")</a:t>
            </a:r>
          </a:p>
          <a:p>
            <a:pPr>
              <a:buNone/>
            </a:pPr>
            <a:r>
              <a:rPr lang="en-US" sz="2400" dirty="0" smtClean="0"/>
              <a:t>r2=</a:t>
            </a:r>
            <a:r>
              <a:rPr lang="en-US" sz="2400" dirty="0" err="1" smtClean="0"/>
              <a:t>p.split</a:t>
            </a:r>
            <a:r>
              <a:rPr lang="en-US" sz="2400" dirty="0" smtClean="0"/>
              <a:t>("BCOM BCA MCA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BA")</a:t>
            </a:r>
          </a:p>
          <a:p>
            <a:pPr>
              <a:buNone/>
            </a:pPr>
            <a:r>
              <a:rPr lang="en-US" sz="2400" dirty="0" smtClean="0"/>
              <a:t>r3=p.sub("</a:t>
            </a:r>
            <a:r>
              <a:rPr lang="en-US" sz="2400" dirty="0" err="1" smtClean="0"/>
              <a:t>ca","BCOM</a:t>
            </a:r>
            <a:r>
              <a:rPr lang="en-US" sz="2400" dirty="0" smtClean="0"/>
              <a:t> BCA MCA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BA")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print(r1)    #['CA', 'CA']</a:t>
            </a:r>
          </a:p>
          <a:p>
            <a:pPr>
              <a:buNone/>
            </a:pPr>
            <a:r>
              <a:rPr lang="en-US" sz="2400" dirty="0" smtClean="0"/>
              <a:t>print(r2)    #['BCOM B', ' M', ' </a:t>
            </a:r>
            <a:r>
              <a:rPr lang="en-US" sz="2400" dirty="0" err="1" smtClean="0"/>
              <a:t>BTech</a:t>
            </a:r>
            <a:r>
              <a:rPr lang="en-US" sz="2400" dirty="0" smtClean="0"/>
              <a:t> BA']</a:t>
            </a:r>
          </a:p>
          <a:p>
            <a:pPr>
              <a:buNone/>
            </a:pPr>
            <a:r>
              <a:rPr lang="en-US" sz="2400" dirty="0" smtClean="0"/>
              <a:t>print(r3)    #</a:t>
            </a:r>
            <a:r>
              <a:rPr lang="pl-PL" sz="2400" dirty="0" smtClean="0"/>
              <a:t>BCOM Bca Mca BTech BA</a:t>
            </a: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Python Bitwise Operators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Bitwise operator works on bits and performs bit by bit operation. </a:t>
            </a:r>
          </a:p>
          <a:p>
            <a:r>
              <a:rPr lang="en-US" sz="2400" dirty="0" smtClean="0"/>
              <a:t>Assume if a = 60;  and b = 13; </a:t>
            </a:r>
          </a:p>
          <a:p>
            <a:r>
              <a:rPr lang="en-US" sz="2400" dirty="0" smtClean="0"/>
              <a:t>Now in binary format they will be as follows: </a:t>
            </a:r>
          </a:p>
          <a:p>
            <a:pPr>
              <a:buNone/>
            </a:pPr>
            <a:r>
              <a:rPr lang="en-US" sz="2400" dirty="0" smtClean="0"/>
              <a:t>a = 0011 1100 </a:t>
            </a:r>
          </a:p>
          <a:p>
            <a:pPr>
              <a:buNone/>
            </a:pPr>
            <a:r>
              <a:rPr lang="en-US" sz="2400" dirty="0" smtClean="0"/>
              <a:t>b = 0000 1101 </a:t>
            </a:r>
          </a:p>
          <a:p>
            <a:pPr>
              <a:buNone/>
            </a:pPr>
            <a:r>
              <a:rPr lang="en-US" sz="2400" dirty="0" smtClean="0"/>
              <a:t>----------------- </a:t>
            </a:r>
          </a:p>
          <a:p>
            <a:pPr>
              <a:buNone/>
            </a:pPr>
            <a:r>
              <a:rPr lang="en-US" sz="2400" dirty="0" err="1" smtClean="0"/>
              <a:t>a&amp;b</a:t>
            </a:r>
            <a:r>
              <a:rPr lang="en-US" sz="2400" dirty="0" smtClean="0"/>
              <a:t> = 0000 1100 </a:t>
            </a:r>
          </a:p>
          <a:p>
            <a:pPr>
              <a:buNone/>
            </a:pPr>
            <a:r>
              <a:rPr lang="en-US" sz="2400" dirty="0" err="1" smtClean="0"/>
              <a:t>a|b</a:t>
            </a:r>
            <a:r>
              <a:rPr lang="en-US" sz="2400" dirty="0" smtClean="0"/>
              <a:t> = 0011 1101 </a:t>
            </a:r>
          </a:p>
          <a:p>
            <a:pPr>
              <a:buNone/>
            </a:pPr>
            <a:r>
              <a:rPr lang="en-US" sz="2400" dirty="0" err="1" smtClean="0"/>
              <a:t>a^b</a:t>
            </a:r>
            <a:r>
              <a:rPr lang="en-US" sz="2400" dirty="0" smtClean="0"/>
              <a:t> = 0011 0001 </a:t>
            </a:r>
          </a:p>
          <a:p>
            <a:pPr>
              <a:buNone/>
            </a:pPr>
            <a:r>
              <a:rPr lang="en-US" sz="2400" dirty="0" smtClean="0"/>
              <a:t>~a  = 1100 0011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199"/>
            <a:ext cx="8991600" cy="664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571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3" y="2314575"/>
            <a:ext cx="886777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800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NEED RE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/>
              <a:t>	Problem: extract the area code from the given string, area code is of three digit.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err="1" smtClean="0"/>
              <a:t>phone_number</a:t>
            </a:r>
            <a:r>
              <a:rPr lang="en-US" sz="2800" dirty="0" smtClean="0"/>
              <a:t> ="Home: (555) 265-2901“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 smtClean="0"/>
              <a:t>phone_number</a:t>
            </a:r>
            <a:r>
              <a:rPr lang="en-US" sz="2800" dirty="0" smtClean="0"/>
              <a:t> = "Cell (mobile): (555)-918-8271“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solution without regular expression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 err="1" smtClean="0"/>
              <a:t>phone_number</a:t>
            </a:r>
            <a:r>
              <a:rPr lang="en-US" sz="2400" dirty="0" smtClean="0"/>
              <a:t>="Home: (555) 265-2901“</a:t>
            </a:r>
          </a:p>
          <a:p>
            <a:pPr>
              <a:buNone/>
            </a:pPr>
            <a:r>
              <a:rPr lang="en-US" sz="2400" dirty="0"/>
              <a:t>s</a:t>
            </a:r>
            <a:r>
              <a:rPr lang="en-US" sz="2400" dirty="0" smtClean="0"/>
              <a:t>tart = </a:t>
            </a:r>
            <a:r>
              <a:rPr lang="en-US" sz="2400" dirty="0" err="1" smtClean="0"/>
              <a:t>phone_number.find</a:t>
            </a:r>
            <a:r>
              <a:rPr lang="en-US" sz="2400" dirty="0" smtClean="0"/>
              <a:t>( </a:t>
            </a:r>
            <a:r>
              <a:rPr lang="en-US" sz="2400" b="1" dirty="0" smtClean="0"/>
              <a:t>'(‘ 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print(start)</a:t>
            </a:r>
          </a:p>
          <a:p>
            <a:pPr>
              <a:buNone/>
            </a:pPr>
            <a:r>
              <a:rPr lang="en-US" sz="2400" dirty="0" smtClean="0"/>
              <a:t>6</a:t>
            </a:r>
          </a:p>
          <a:p>
            <a:pPr>
              <a:buNone/>
            </a:pPr>
            <a:r>
              <a:rPr lang="en-US" sz="2400" dirty="0" smtClean="0"/>
              <a:t>start=start+1</a:t>
            </a:r>
          </a:p>
          <a:p>
            <a:pPr>
              <a:buNone/>
            </a:pPr>
            <a:r>
              <a:rPr lang="en-US" sz="2400" dirty="0" smtClean="0"/>
              <a:t>end=start+3</a:t>
            </a:r>
          </a:p>
          <a:p>
            <a:pPr>
              <a:buNone/>
            </a:pPr>
            <a:r>
              <a:rPr lang="en-US" sz="2400" dirty="0" err="1" smtClean="0"/>
              <a:t>area_code</a:t>
            </a:r>
            <a:r>
              <a:rPr lang="en-US" sz="2400" dirty="0" smtClean="0"/>
              <a:t>=</a:t>
            </a:r>
            <a:r>
              <a:rPr lang="en-US" sz="2400" dirty="0" err="1" smtClean="0"/>
              <a:t>phone_number</a:t>
            </a:r>
            <a:r>
              <a:rPr lang="en-US" sz="2400" dirty="0" smtClean="0"/>
              <a:t>[start  : end]</a:t>
            </a:r>
          </a:p>
          <a:p>
            <a:pPr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area_code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555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 smtClean="0"/>
              <a:t>phone_number</a:t>
            </a:r>
            <a:r>
              <a:rPr lang="en-US" sz="2800" b="1" dirty="0" smtClean="0"/>
              <a:t> = "Cell (mobile): (555)-918-8271“</a:t>
            </a:r>
          </a:p>
          <a:p>
            <a:r>
              <a:rPr lang="en-US" dirty="0" smtClean="0"/>
              <a:t>Previous code can’t work here</a:t>
            </a:r>
          </a:p>
          <a:p>
            <a:endParaRPr lang="en-US" dirty="0"/>
          </a:p>
          <a:p>
            <a:r>
              <a:rPr lang="en-US" dirty="0" err="1" smtClean="0"/>
              <a:t>Ans</a:t>
            </a:r>
            <a:r>
              <a:rPr lang="en-US" dirty="0" smtClean="0"/>
              <a:t> is </a:t>
            </a:r>
            <a:r>
              <a:rPr lang="en-US" b="1" dirty="0" smtClean="0"/>
              <a:t>mob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solution with regular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import re</a:t>
            </a:r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err="1" smtClean="0"/>
              <a:t>phone_number</a:t>
            </a:r>
            <a:r>
              <a:rPr lang="en-US" sz="2400" dirty="0" smtClean="0"/>
              <a:t>="Home: (555) 265-2901“</a:t>
            </a:r>
          </a:p>
          <a:p>
            <a:pPr>
              <a:buNone/>
            </a:pPr>
            <a:r>
              <a:rPr lang="en-US" sz="2400" dirty="0" smtClean="0"/>
              <a:t> result=</a:t>
            </a:r>
            <a:r>
              <a:rPr lang="en-US" sz="2400" dirty="0" err="1" smtClean="0"/>
              <a:t>re.search</a:t>
            </a:r>
            <a:r>
              <a:rPr lang="en-US" sz="2400" dirty="0" smtClean="0"/>
              <a:t>("</a:t>
            </a:r>
            <a:r>
              <a:rPr lang="en-US" sz="2400" b="1" dirty="0" smtClean="0"/>
              <a:t>\((\d{3})\)</a:t>
            </a:r>
            <a:r>
              <a:rPr lang="en-US" sz="2400" dirty="0" smtClean="0"/>
              <a:t>", </a:t>
            </a:r>
            <a:r>
              <a:rPr lang="en-US" sz="2400" dirty="0" err="1" smtClean="0"/>
              <a:t>phone_number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en-US" sz="2400" dirty="0" err="1" smtClean="0"/>
              <a:t>area_code</a:t>
            </a:r>
            <a:r>
              <a:rPr lang="en-US" sz="2400" dirty="0" smtClean="0"/>
              <a:t>=</a:t>
            </a:r>
            <a:r>
              <a:rPr lang="en-US" sz="2400" dirty="0" err="1" smtClean="0"/>
              <a:t>result.group</a:t>
            </a:r>
            <a:r>
              <a:rPr lang="en-US" sz="2400" dirty="0" smtClean="0"/>
              <a:t>(1)</a:t>
            </a:r>
          </a:p>
          <a:p>
            <a:pPr>
              <a:buNone/>
            </a:pPr>
            <a:r>
              <a:rPr lang="en-US" sz="2400" dirty="0" smtClean="0"/>
              <a:t> print(</a:t>
            </a:r>
            <a:r>
              <a:rPr lang="en-US" sz="2400" dirty="0" err="1" smtClean="0"/>
              <a:t>area_code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 555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343400"/>
            <a:ext cx="7772400" cy="1752600"/>
          </a:xfrm>
        </p:spPr>
        <p:txBody>
          <a:bodyPr>
            <a:noAutofit/>
          </a:bodyPr>
          <a:lstStyle/>
          <a:p>
            <a:pPr algn="l"/>
            <a:r>
              <a:rPr lang="en-US" sz="2400" dirty="0" err="1" smtClean="0">
                <a:solidFill>
                  <a:schemeClr val="tx1"/>
                </a:solidFill>
              </a:rPr>
              <a:t>phone_number</a:t>
            </a:r>
            <a:r>
              <a:rPr lang="en-US" sz="2400" dirty="0" smtClean="0">
                <a:solidFill>
                  <a:schemeClr val="tx1"/>
                </a:solidFill>
              </a:rPr>
              <a:t>="Cell (mobile): (555) 265-2901“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result=</a:t>
            </a:r>
            <a:r>
              <a:rPr lang="en-US" sz="2400" b="1" dirty="0" err="1" smtClean="0">
                <a:solidFill>
                  <a:schemeClr val="tx1"/>
                </a:solidFill>
              </a:rPr>
              <a:t>re.search</a:t>
            </a:r>
            <a:r>
              <a:rPr lang="en-US" sz="2400" b="1" dirty="0" smtClean="0">
                <a:solidFill>
                  <a:schemeClr val="tx1"/>
                </a:solidFill>
              </a:rPr>
              <a:t>("\(\d{3}\)", </a:t>
            </a:r>
            <a:r>
              <a:rPr lang="en-US" sz="2400" b="1" dirty="0" err="1" smtClean="0">
                <a:solidFill>
                  <a:schemeClr val="tx1"/>
                </a:solidFill>
              </a:rPr>
              <a:t>phone_number</a:t>
            </a:r>
            <a:r>
              <a:rPr lang="en-US" sz="2400" b="1" dirty="0" smtClean="0">
                <a:solidFill>
                  <a:schemeClr val="tx1"/>
                </a:solidFill>
              </a:rPr>
              <a:t>)</a:t>
            </a:r>
            <a:r>
              <a:rPr lang="en-US" sz="2400" dirty="0" smtClean="0">
                <a:solidFill>
                  <a:schemeClr val="tx1"/>
                </a:solidFill>
              </a:rPr>
              <a:t/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err="1" smtClean="0">
                <a:solidFill>
                  <a:schemeClr val="tx1"/>
                </a:solidFill>
              </a:rPr>
              <a:t>area_code</a:t>
            </a:r>
            <a:r>
              <a:rPr lang="en-US" sz="2400" dirty="0" smtClean="0">
                <a:solidFill>
                  <a:schemeClr val="tx1"/>
                </a:solidFill>
              </a:rPr>
              <a:t>=</a:t>
            </a:r>
            <a:r>
              <a:rPr lang="en-US" sz="2400" dirty="0" err="1" smtClean="0">
                <a:solidFill>
                  <a:schemeClr val="tx1"/>
                </a:solidFill>
              </a:rPr>
              <a:t>result.group</a:t>
            </a:r>
            <a:r>
              <a:rPr lang="en-US" sz="2400" dirty="0" smtClean="0">
                <a:solidFill>
                  <a:schemeClr val="tx1"/>
                </a:solidFill>
              </a:rPr>
              <a:t>(0)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print(</a:t>
            </a:r>
            <a:r>
              <a:rPr lang="en-US" sz="2400" dirty="0" err="1" smtClean="0">
                <a:solidFill>
                  <a:schemeClr val="tx1"/>
                </a:solidFill>
              </a:rPr>
              <a:t>area_code</a:t>
            </a:r>
            <a:r>
              <a:rPr lang="en-US" sz="2400" dirty="0" smtClean="0">
                <a:solidFill>
                  <a:schemeClr val="tx1"/>
                </a:solidFill>
              </a:rPr>
              <a:t>)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(555)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352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dirty="0" smtClean="0"/>
              <a:t>import re</a:t>
            </a:r>
          </a:p>
          <a:p>
            <a:pPr>
              <a:buNone/>
            </a:pPr>
            <a:r>
              <a:rPr lang="en-US" sz="2600" dirty="0" err="1" smtClean="0"/>
              <a:t>phone_number</a:t>
            </a:r>
            <a:r>
              <a:rPr lang="en-US" sz="2600" dirty="0" smtClean="0"/>
              <a:t>="Cell (mobile): (555) 265-2901“</a:t>
            </a:r>
          </a:p>
          <a:p>
            <a:pPr>
              <a:buNone/>
            </a:pPr>
            <a:r>
              <a:rPr lang="en-US" sz="2600" dirty="0" smtClean="0"/>
              <a:t>result=</a:t>
            </a:r>
            <a:r>
              <a:rPr lang="en-US" sz="2600" b="1" dirty="0" err="1" smtClean="0"/>
              <a:t>re.search</a:t>
            </a:r>
            <a:r>
              <a:rPr lang="en-US" sz="2600" b="1" dirty="0" smtClean="0"/>
              <a:t>(</a:t>
            </a:r>
            <a:r>
              <a:rPr lang="en-US" sz="2600" dirty="0" smtClean="0"/>
              <a:t>"</a:t>
            </a:r>
            <a:r>
              <a:rPr lang="en-US" sz="2600" b="1" dirty="0" smtClean="0"/>
              <a:t>\((\d{3})\)</a:t>
            </a:r>
            <a:r>
              <a:rPr lang="en-US" sz="2600" dirty="0" smtClean="0"/>
              <a:t>", </a:t>
            </a:r>
            <a:r>
              <a:rPr lang="en-US" sz="2600" dirty="0" err="1" smtClean="0"/>
              <a:t>phone_number</a:t>
            </a:r>
            <a:r>
              <a:rPr lang="en-US" sz="2600" b="1" dirty="0" smtClean="0"/>
              <a:t>)</a:t>
            </a:r>
          </a:p>
          <a:p>
            <a:pPr>
              <a:buNone/>
            </a:pPr>
            <a:r>
              <a:rPr lang="en-US" sz="2600" dirty="0" err="1" smtClean="0"/>
              <a:t>area_code</a:t>
            </a:r>
            <a:r>
              <a:rPr lang="en-US" sz="2600" dirty="0" smtClean="0"/>
              <a:t>=</a:t>
            </a:r>
            <a:r>
              <a:rPr lang="en-US" sz="2600" dirty="0" err="1" smtClean="0"/>
              <a:t>result.group</a:t>
            </a:r>
            <a:r>
              <a:rPr lang="en-US" sz="2600" dirty="0" smtClean="0"/>
              <a:t>(1)</a:t>
            </a:r>
          </a:p>
          <a:p>
            <a:pPr>
              <a:buNone/>
            </a:pPr>
            <a:r>
              <a:rPr lang="en-US" sz="2600" dirty="0" smtClean="0"/>
              <a:t>print(</a:t>
            </a:r>
            <a:r>
              <a:rPr lang="en-US" sz="2600" dirty="0" err="1" smtClean="0"/>
              <a:t>area_code</a:t>
            </a:r>
            <a:r>
              <a:rPr lang="en-US" sz="2600" dirty="0" smtClean="0"/>
              <a:t>)</a:t>
            </a:r>
          </a:p>
          <a:p>
            <a:pPr>
              <a:buNone/>
            </a:pPr>
            <a:r>
              <a:rPr lang="en-US" sz="2600" dirty="0" smtClean="0"/>
              <a:t>555</a:t>
            </a:r>
          </a:p>
          <a:p>
            <a:pPr>
              <a:buNone/>
            </a:pPr>
            <a:r>
              <a:rPr lang="en-US" dirty="0" smtClean="0"/>
              <a:t>				OR				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The following special-character sequences are recognized in regular expression patterns: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b="1" u="sng" dirty="0" smtClean="0"/>
              <a:t>Character</a:t>
            </a:r>
            <a:r>
              <a:rPr lang="en-US" sz="2400" dirty="0" smtClean="0"/>
              <a:t>	            </a:t>
            </a:r>
            <a:r>
              <a:rPr lang="en-US" sz="2400" b="1" u="sng" dirty="0" smtClean="0"/>
              <a:t>Description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text 	Matches the literal string 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.</a:t>
            </a:r>
            <a:r>
              <a:rPr lang="en-US" sz="2400" dirty="0" smtClean="0"/>
              <a:t> 		Matches any character except newline.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^</a:t>
            </a:r>
            <a:r>
              <a:rPr lang="en-US" sz="2400" dirty="0" smtClean="0"/>
              <a:t> 		Matches the start of a string.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$</a:t>
            </a:r>
            <a:r>
              <a:rPr lang="en-US" sz="2400" dirty="0" smtClean="0"/>
              <a:t> 		Matches the end of a string.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*</a:t>
            </a:r>
            <a:r>
              <a:rPr lang="en-US" sz="2400" dirty="0" smtClean="0"/>
              <a:t> 		Matches zero or more repetitions of the 			preceding expression, matching as many 			repetitions as possible.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+</a:t>
            </a:r>
            <a:r>
              <a:rPr lang="en-US" sz="2400" dirty="0" smtClean="0"/>
              <a:t> 		Matches one or more repetitions of the 			preceding expression, matching as many 			repetitions as possible.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b="1" dirty="0" smtClean="0"/>
              <a:t>?</a:t>
            </a:r>
            <a:r>
              <a:rPr lang="en-US" sz="2400" dirty="0" smtClean="0"/>
              <a:t> 		Matches zero repetitions or one repetition of the 		preceding expression.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b="1" dirty="0" smtClean="0"/>
              <a:t>*?</a:t>
            </a:r>
            <a:r>
              <a:rPr lang="en-US" sz="2400" dirty="0" smtClean="0"/>
              <a:t> 		Matches zero or more repetitions of the 			preceding expression, matching as few repetitions 		as possible.(NON GREEDY)</a:t>
            </a:r>
            <a:endParaRPr lang="en-US" sz="2400" b="1" dirty="0" smtClean="0"/>
          </a:p>
          <a:p>
            <a:pPr marL="457200" indent="-457200">
              <a:buFont typeface="+mj-lt"/>
              <a:buAutoNum type="arabicPeriod" startAt="6"/>
            </a:pPr>
            <a:r>
              <a:rPr lang="en-US" sz="2400" b="1" dirty="0" smtClean="0"/>
              <a:t>{m}</a:t>
            </a:r>
            <a:r>
              <a:rPr lang="en-US" sz="2400" dirty="0" smtClean="0"/>
              <a:t>     	Matches exactly m repetitions of the preceding 		expression.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b="1" dirty="0" smtClean="0"/>
              <a:t>{m, n} </a:t>
            </a:r>
            <a:r>
              <a:rPr lang="en-US" sz="2400" dirty="0" smtClean="0"/>
              <a:t>	Matches from m to n repetitions of the preceding 		expression, matching as many repetitions as 		possible. If m 	is omitted, it defaults to 0. If n is 		omitted, it defaults to infinity.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10"/>
            </a:pPr>
            <a:r>
              <a:rPr lang="en-US" sz="2400" b="1" dirty="0" smtClean="0"/>
              <a:t>[...]</a:t>
            </a:r>
            <a:r>
              <a:rPr lang="en-US" sz="2400" dirty="0" smtClean="0"/>
              <a:t> 	Matches a set of characters such as r'[</a:t>
            </a:r>
            <a:r>
              <a:rPr lang="en-US" sz="2400" dirty="0" err="1" smtClean="0"/>
              <a:t>abcdef</a:t>
            </a:r>
            <a:r>
              <a:rPr lang="en-US" sz="2400" dirty="0" smtClean="0"/>
              <a:t>]' or 		r'[a-</a:t>
            </a:r>
            <a:r>
              <a:rPr lang="en-US" sz="2400" dirty="0" err="1" smtClean="0"/>
              <a:t>zA</a:t>
            </a:r>
            <a:r>
              <a:rPr lang="en-US" sz="2400" dirty="0" smtClean="0"/>
              <a:t>-z]'. Special characters such as * are not 		active inside a set.</a:t>
            </a:r>
          </a:p>
          <a:p>
            <a:pPr marL="457200" indent="-457200">
              <a:buFont typeface="+mj-lt"/>
              <a:buAutoNum type="arabicPeriod" startAt="10"/>
            </a:pPr>
            <a:r>
              <a:rPr lang="en-US" sz="2400" b="1" dirty="0" smtClean="0"/>
              <a:t>[^...]</a:t>
            </a:r>
            <a:r>
              <a:rPr lang="en-US" sz="2400" dirty="0" smtClean="0"/>
              <a:t> 	Matches the characters not in the set, such as 		r'[^0-9]'.</a:t>
            </a:r>
          </a:p>
          <a:p>
            <a:pPr marL="457200" indent="-457200">
              <a:buFont typeface="+mj-lt"/>
              <a:buAutoNum type="arabicPeriod" startAt="10"/>
            </a:pPr>
            <a:r>
              <a:rPr lang="en-US" sz="2400" b="1" dirty="0" smtClean="0"/>
              <a:t>A|B</a:t>
            </a:r>
            <a:r>
              <a:rPr lang="en-US" sz="2400" dirty="0" smtClean="0"/>
              <a:t> 	Matches either A or B, where A and B are both 		regular expressions.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11"/>
            </a:pPr>
            <a:r>
              <a:rPr lang="en-US" sz="2400" b="1" dirty="0" smtClean="0"/>
              <a:t>(...) </a:t>
            </a:r>
            <a:r>
              <a:rPr lang="en-US" sz="2400" dirty="0" smtClean="0"/>
              <a:t>	Matches the regular expression inside the   			parentheses as a group and saves the matched 		substring. </a:t>
            </a:r>
          </a:p>
          <a:p>
            <a:pPr marL="457200" indent="-457200" algn="just">
              <a:buNone/>
            </a:pPr>
            <a:r>
              <a:rPr lang="en-US" sz="2400" dirty="0" smtClean="0"/>
              <a:t>			The contents of a group can be obtained using the 		group() method of </a:t>
            </a:r>
            <a:r>
              <a:rPr lang="en-US" sz="2400" dirty="0" err="1" smtClean="0"/>
              <a:t>MatchObject</a:t>
            </a:r>
            <a:r>
              <a:rPr lang="en-US" sz="2400" dirty="0" smtClean="0"/>
              <a:t> objects obtained 		while matching.</a:t>
            </a:r>
          </a:p>
          <a:p>
            <a:pPr>
              <a:buNone/>
            </a:pPr>
            <a:r>
              <a:rPr lang="en-US" sz="2400" dirty="0" smtClean="0"/>
              <a:t>12. </a:t>
            </a:r>
            <a:r>
              <a:rPr lang="en-US" sz="2400" b="1" dirty="0" smtClean="0"/>
              <a:t>(.*)</a:t>
            </a:r>
            <a:r>
              <a:rPr lang="en-US" sz="2400" dirty="0" smtClean="0"/>
              <a:t> 	Matches any character (</a:t>
            </a:r>
            <a:r>
              <a:rPr lang="en-US" sz="2400" b="1" dirty="0" smtClean="0"/>
              <a:t>.</a:t>
            </a:r>
            <a:r>
              <a:rPr lang="en-US" sz="2400" dirty="0" smtClean="0"/>
              <a:t>) repeated zero or more 		times (*). </a:t>
            </a:r>
          </a:p>
          <a:p>
            <a:r>
              <a:rPr lang="en-US" sz="2400" dirty="0" smtClean="0"/>
              <a:t>Here parentheses tells Python to save away the part of the string matched by that part of the pattern as a group—a matched substring available after the match.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*</a:t>
            </a:r>
            <a:r>
              <a:rPr lang="en-US" dirty="0" smtClean="0"/>
              <a:t> Vs </a:t>
            </a:r>
            <a:r>
              <a:rPr lang="en-US" b="1" dirty="0" smtClean="0"/>
              <a:t>*?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3600" dirty="0" smtClean="0"/>
              <a:t>Greedy Vs Non Greedy  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&gt;&gt;&gt; a=</a:t>
            </a:r>
            <a:r>
              <a:rPr lang="en-US" dirty="0" err="1" smtClean="0"/>
              <a:t>re.findall</a:t>
            </a:r>
            <a:r>
              <a:rPr lang="en-US" dirty="0" smtClean="0"/>
              <a:t>("1.*1","10010000001")</a:t>
            </a:r>
          </a:p>
          <a:p>
            <a:pPr>
              <a:buNone/>
            </a:pPr>
            <a:r>
              <a:rPr lang="en-US" dirty="0" smtClean="0"/>
              <a:t>&gt;&gt;&gt; a</a:t>
            </a:r>
          </a:p>
          <a:p>
            <a:pPr>
              <a:buNone/>
            </a:pPr>
            <a:r>
              <a:rPr lang="en-US" dirty="0" smtClean="0"/>
              <a:t>['10010000001']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&gt;&gt;&gt; a=</a:t>
            </a:r>
            <a:r>
              <a:rPr lang="en-US" dirty="0" err="1" smtClean="0"/>
              <a:t>re.findall</a:t>
            </a:r>
            <a:r>
              <a:rPr lang="en-US" dirty="0" smtClean="0"/>
              <a:t>("1.*?1","10010000001")</a:t>
            </a:r>
          </a:p>
          <a:p>
            <a:pPr>
              <a:buNone/>
            </a:pPr>
            <a:r>
              <a:rPr lang="en-US" dirty="0" smtClean="0"/>
              <a:t>&gt;&gt;&gt; a</a:t>
            </a:r>
          </a:p>
          <a:p>
            <a:pPr>
              <a:buNone/>
            </a:pPr>
            <a:r>
              <a:rPr lang="en-US" dirty="0" smtClean="0"/>
              <a:t>['1001']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The special sequences consist of "\\" and a character from the following list: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/>
              <a:t>\d</a:t>
            </a:r>
            <a:r>
              <a:rPr lang="en-US" sz="2400" dirty="0" smtClean="0"/>
              <a:t>	     Matches any decimal digit; equivalent to the set [0-9].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/>
              <a:t>\D</a:t>
            </a:r>
            <a:r>
              <a:rPr lang="en-US" sz="2400" dirty="0" smtClean="0"/>
              <a:t>	    The complement of \d. It matches any non-digit 	   	     character; equivalent to the set [^0-9].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/>
              <a:t>\s</a:t>
            </a:r>
            <a:r>
              <a:rPr lang="en-US" sz="2400" dirty="0" smtClean="0"/>
              <a:t>	     Matches any whitespace character; equivalent to [ 	     \t\n\r\f\v].	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/>
              <a:t>\S</a:t>
            </a:r>
            <a:r>
              <a:rPr lang="en-US" sz="2400" dirty="0" smtClean="0"/>
              <a:t>	     The complement of \s. It matches any non-whitespace 	     character; equiv. to [^ \t\n\r\f\v].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b="1" dirty="0" smtClean="0"/>
              <a:t>\w</a:t>
            </a:r>
            <a:r>
              <a:rPr lang="en-US" sz="2400" dirty="0" smtClean="0"/>
              <a:t>	Matches any alphanumeric character; equivalent to [a-	zA-Z0-9_]. 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 smtClean="0"/>
              <a:t>\W</a:t>
            </a:r>
            <a:r>
              <a:rPr lang="en-US" sz="2400" dirty="0" smtClean="0"/>
              <a:t>	Matches the complement of \w.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 smtClean="0"/>
              <a:t>\b</a:t>
            </a:r>
            <a:r>
              <a:rPr lang="en-US" sz="2400" dirty="0" smtClean="0"/>
              <a:t>	Matches the empty string, but only at the start or end of 	a word.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 smtClean="0"/>
              <a:t>\B</a:t>
            </a:r>
            <a:r>
              <a:rPr lang="en-US" sz="2400" dirty="0" smtClean="0"/>
              <a:t>	Matches the empty string, but not at the start or end of 	a word.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 smtClean="0"/>
              <a:t>\\	</a:t>
            </a:r>
            <a:r>
              <a:rPr lang="en-US" sz="2400" dirty="0" smtClean="0"/>
              <a:t>Matches a literal backslash.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Compilation flags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Compilation flags let you modify some aspects of how regular expressions work. </a:t>
            </a:r>
          </a:p>
          <a:p>
            <a:r>
              <a:rPr lang="en-US" sz="2400" dirty="0" smtClean="0"/>
              <a:t>Flags are available in the re module under two names, </a:t>
            </a:r>
          </a:p>
          <a:p>
            <a:pPr lvl="1"/>
            <a:r>
              <a:rPr lang="en-US" sz="1800" dirty="0" smtClean="0"/>
              <a:t>a long name such as IGNORECASE and </a:t>
            </a:r>
          </a:p>
          <a:p>
            <a:pPr lvl="1"/>
            <a:r>
              <a:rPr lang="en-US" sz="1800" dirty="0" smtClean="0"/>
              <a:t>a short, one-letter form such as I. </a:t>
            </a:r>
          </a:p>
          <a:p>
            <a:pPr>
              <a:buNone/>
            </a:pPr>
            <a:r>
              <a:rPr lang="en-US" sz="2000" b="1" dirty="0" smtClean="0"/>
              <a:t>Flag  			Meaning</a:t>
            </a:r>
            <a:r>
              <a:rPr lang="en-US" sz="2000" b="1" u="sng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DOTALL, S     		Make, match any character, including newlines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IGNORECASE, I      	Do case-insensitive matches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MULTILINE, M  	Multi-line matching, affecting ^ and $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a=</a:t>
            </a:r>
            <a:r>
              <a:rPr lang="en-US" sz="2400" dirty="0" err="1" smtClean="0"/>
              <a:t>re.findall</a:t>
            </a:r>
            <a:r>
              <a:rPr lang="en-US" sz="2400" dirty="0" smtClean="0"/>
              <a:t>(".a","\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dabc</a:t>
            </a:r>
            <a:r>
              <a:rPr lang="en-US" sz="2400" dirty="0" smtClean="0"/>
              <a:t> </a:t>
            </a:r>
            <a:r>
              <a:rPr lang="en-US" sz="2400" dirty="0" err="1" smtClean="0"/>
              <a:t>abd</a:t>
            </a:r>
            <a:r>
              <a:rPr lang="en-US" sz="2400" dirty="0" smtClean="0"/>
              <a:t> abs </a:t>
            </a:r>
            <a:r>
              <a:rPr lang="en-US" sz="2400" dirty="0" err="1" smtClean="0"/>
              <a:t>sbabb",re.DOTALL</a:t>
            </a:r>
            <a:r>
              <a:rPr lang="en-US" sz="2400" dirty="0" smtClean="0"/>
              <a:t>)</a:t>
            </a:r>
            <a:endParaRPr lang="en-US" dirty="0" smtClean="0"/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['\</a:t>
            </a:r>
            <a:r>
              <a:rPr lang="en-US" dirty="0" err="1" smtClean="0"/>
              <a:t>na</a:t>
            </a:r>
            <a:r>
              <a:rPr lang="en-US" dirty="0" smtClean="0"/>
              <a:t>', '</a:t>
            </a:r>
            <a:r>
              <a:rPr lang="en-US" dirty="0" err="1" smtClean="0"/>
              <a:t>da</a:t>
            </a:r>
            <a:r>
              <a:rPr lang="en-US" dirty="0" smtClean="0"/>
              <a:t>', ' a', ' a', '</a:t>
            </a:r>
            <a:r>
              <a:rPr lang="en-US" dirty="0" err="1" smtClean="0"/>
              <a:t>ba</a:t>
            </a:r>
            <a:r>
              <a:rPr lang="en-US" dirty="0" smtClean="0"/>
              <a:t>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Text= "Guido will be out of the office from 12/15/2012 - 1/3/2013.“</a:t>
            </a:r>
          </a:p>
          <a:p>
            <a:endParaRPr lang="en-US" dirty="0" smtClean="0"/>
          </a:p>
          <a:p>
            <a:r>
              <a:rPr lang="en-US" dirty="0" smtClean="0"/>
              <a:t>Extract the both dates from the given text.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a=</a:t>
            </a:r>
            <a:r>
              <a:rPr lang="en-US" dirty="0" err="1" smtClean="0"/>
              <a:t>re.findall</a:t>
            </a:r>
            <a:r>
              <a:rPr lang="en-US" dirty="0" smtClean="0"/>
              <a:t>("\d{1,2}/\d{1,2}/\d{4}",text)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PROBLEMS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Problem 1: </a:t>
            </a:r>
            <a:r>
              <a:rPr lang="en-US" dirty="0" smtClean="0"/>
              <a:t>Return the first word of a given string</a:t>
            </a:r>
          </a:p>
          <a:p>
            <a:r>
              <a:rPr lang="en-US" b="1" dirty="0" smtClean="0"/>
              <a:t>Problem 2: </a:t>
            </a:r>
            <a:r>
              <a:rPr lang="en-US" dirty="0" smtClean="0"/>
              <a:t>Return the first two character of each word</a:t>
            </a:r>
          </a:p>
          <a:p>
            <a:r>
              <a:rPr lang="en-US" b="1" dirty="0" smtClean="0"/>
              <a:t>Problem 3: </a:t>
            </a:r>
            <a:r>
              <a:rPr lang="en-US" dirty="0" smtClean="0"/>
              <a:t>Return the domain type of given email-ids</a:t>
            </a:r>
          </a:p>
          <a:p>
            <a:r>
              <a:rPr lang="en-US" b="1" dirty="0" smtClean="0"/>
              <a:t>Problem 4: </a:t>
            </a:r>
            <a:r>
              <a:rPr lang="en-US" dirty="0" smtClean="0"/>
              <a:t>Return date from given string</a:t>
            </a:r>
          </a:p>
          <a:p>
            <a:r>
              <a:rPr lang="en-US" b="1" dirty="0" smtClean="0"/>
              <a:t>Problem 5: </a:t>
            </a:r>
            <a:r>
              <a:rPr lang="en-US" dirty="0" smtClean="0"/>
              <a:t>Return all words of a string those starts with vowel</a:t>
            </a:r>
          </a:p>
          <a:p>
            <a:r>
              <a:rPr lang="en-US" b="1" dirty="0" smtClean="0"/>
              <a:t>Problem 6: </a:t>
            </a:r>
            <a:r>
              <a:rPr lang="en-US" dirty="0" smtClean="0"/>
              <a:t>Validate a phone number (phone number must be of 10 digits and starts with 8 or 9)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&gt;&gt;&gt; a=</a:t>
            </a:r>
            <a:r>
              <a:rPr lang="en-US" dirty="0" err="1" smtClean="0"/>
              <a:t>re.match</a:t>
            </a:r>
            <a:r>
              <a:rPr lang="en-US" dirty="0" smtClean="0"/>
              <a:t>("\w+", "hello how are you?")</a:t>
            </a:r>
          </a:p>
          <a:p>
            <a:pPr>
              <a:buNone/>
            </a:pPr>
            <a:r>
              <a:rPr lang="en-US" dirty="0" smtClean="0"/>
              <a:t>&gt;&gt;&gt; </a:t>
            </a:r>
            <a:r>
              <a:rPr lang="en-US" dirty="0" err="1" smtClean="0"/>
              <a:t>a.group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'hello'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&gt;&gt;&gt; a=</a:t>
            </a:r>
            <a:r>
              <a:rPr lang="en-US" dirty="0" err="1" smtClean="0"/>
              <a:t>re.findall</a:t>
            </a:r>
            <a:r>
              <a:rPr lang="en-US" dirty="0" smtClean="0"/>
              <a:t>(r"\b\w\w", "</a:t>
            </a:r>
            <a:r>
              <a:rPr lang="en-US" sz="2800" dirty="0" smtClean="0"/>
              <a:t>hello how are you?</a:t>
            </a:r>
            <a:r>
              <a:rPr lang="en-US" dirty="0" smtClean="0"/>
              <a:t>")</a:t>
            </a:r>
          </a:p>
          <a:p>
            <a:pPr>
              <a:buNone/>
            </a:pPr>
            <a:r>
              <a:rPr lang="en-US" dirty="0" smtClean="0"/>
              <a:t>&gt;&gt;&gt; a</a:t>
            </a:r>
          </a:p>
          <a:p>
            <a:pPr>
              <a:buNone/>
            </a:pPr>
            <a:r>
              <a:rPr lang="en-US" dirty="0" smtClean="0"/>
              <a:t>['he', 'ho', '</a:t>
            </a:r>
            <a:r>
              <a:rPr lang="en-US" dirty="0" err="1" smtClean="0"/>
              <a:t>ar</a:t>
            </a:r>
            <a:r>
              <a:rPr lang="en-US" dirty="0" smtClean="0"/>
              <a:t>', '</a:t>
            </a:r>
            <a:r>
              <a:rPr lang="en-US" dirty="0" err="1" smtClean="0"/>
              <a:t>yo</a:t>
            </a:r>
            <a:r>
              <a:rPr lang="en-US" dirty="0" smtClean="0"/>
              <a:t>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&gt;&gt;&gt; a=</a:t>
            </a:r>
            <a:r>
              <a:rPr lang="en-US" dirty="0" err="1" smtClean="0"/>
              <a:t>re.findall</a:t>
            </a:r>
            <a:r>
              <a:rPr lang="en-US" dirty="0" smtClean="0"/>
              <a:t>(r"@\w+", "</a:t>
            </a:r>
            <a:r>
              <a:rPr lang="en-US" sz="2400" dirty="0" smtClean="0"/>
              <a:t>abc.test@gmail.com, xyz@test.in, test.first@analyticsvidhya.com, first.test@rest.biz</a:t>
            </a:r>
            <a:r>
              <a:rPr lang="en-US" dirty="0" smtClean="0"/>
              <a:t>")</a:t>
            </a:r>
          </a:p>
          <a:p>
            <a:pPr>
              <a:buNone/>
            </a:pPr>
            <a:r>
              <a:rPr lang="pt-BR" dirty="0" smtClean="0"/>
              <a:t>&gt;&gt;&gt; a</a:t>
            </a:r>
          </a:p>
          <a:p>
            <a:pPr>
              <a:buNone/>
            </a:pPr>
            <a:r>
              <a:rPr lang="pt-BR" dirty="0" smtClean="0"/>
              <a:t>['@gmail', '@test', '@analyticsvidhya', '@rest']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Solution: </a:t>
            </a:r>
            <a:r>
              <a:rPr lang="en-US" sz="3600" dirty="0" smtClean="0"/>
              <a:t>To extract the domain type only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dirty="0" smtClean="0"/>
              <a:t>import </a:t>
            </a:r>
            <a:r>
              <a:rPr lang="fr-FR" sz="2800" dirty="0" err="1" smtClean="0"/>
              <a:t>re</a:t>
            </a:r>
            <a:endParaRPr lang="fr-FR" sz="2800" dirty="0" smtClean="0"/>
          </a:p>
          <a:p>
            <a:pPr>
              <a:buNone/>
            </a:pPr>
            <a:r>
              <a:rPr lang="fr-FR" sz="2800" dirty="0" smtClean="0"/>
              <a:t>a=</a:t>
            </a:r>
            <a:r>
              <a:rPr lang="fr-FR" sz="2800" dirty="0" err="1" smtClean="0"/>
              <a:t>re.search</a:t>
            </a:r>
            <a:r>
              <a:rPr lang="fr-FR" sz="2800" dirty="0" smtClean="0"/>
              <a:t>("@(\w+).(\w+)", "abc.test@gmail.com")</a:t>
            </a:r>
          </a:p>
          <a:p>
            <a:pPr>
              <a:buNone/>
            </a:pPr>
            <a:r>
              <a:rPr lang="fr-FR" sz="2800" dirty="0" err="1" smtClean="0"/>
              <a:t>print</a:t>
            </a:r>
            <a:r>
              <a:rPr lang="fr-FR" sz="2800" dirty="0" smtClean="0"/>
              <a:t>(</a:t>
            </a:r>
            <a:r>
              <a:rPr lang="fr-FR" sz="2800" dirty="0" err="1" smtClean="0"/>
              <a:t>a.group</a:t>
            </a:r>
            <a:r>
              <a:rPr lang="fr-FR" sz="2800" dirty="0" smtClean="0"/>
              <a:t>())               #@</a:t>
            </a:r>
            <a:r>
              <a:rPr lang="fr-FR" sz="2800" dirty="0" err="1" smtClean="0"/>
              <a:t>gmail.com</a:t>
            </a:r>
            <a:endParaRPr lang="fr-FR" sz="2800" dirty="0" smtClean="0"/>
          </a:p>
          <a:p>
            <a:pPr>
              <a:buNone/>
            </a:pPr>
            <a:r>
              <a:rPr lang="fr-FR" sz="2800" dirty="0" err="1" smtClean="0"/>
              <a:t>print</a:t>
            </a:r>
            <a:r>
              <a:rPr lang="fr-FR" sz="2800" dirty="0" smtClean="0"/>
              <a:t>(</a:t>
            </a:r>
            <a:r>
              <a:rPr lang="fr-FR" sz="2800" dirty="0" err="1" smtClean="0"/>
              <a:t>a.group</a:t>
            </a:r>
            <a:r>
              <a:rPr lang="fr-FR" sz="2800" dirty="0" smtClean="0"/>
              <a:t>(0))             #@</a:t>
            </a:r>
            <a:r>
              <a:rPr lang="fr-FR" sz="2800" dirty="0" err="1" smtClean="0"/>
              <a:t>gmail.com</a:t>
            </a:r>
            <a:endParaRPr lang="fr-FR" sz="2800" dirty="0" smtClean="0"/>
          </a:p>
          <a:p>
            <a:pPr>
              <a:buNone/>
            </a:pPr>
            <a:r>
              <a:rPr lang="fr-FR" sz="2800" dirty="0" err="1" smtClean="0"/>
              <a:t>print</a:t>
            </a:r>
            <a:r>
              <a:rPr lang="fr-FR" sz="2800" dirty="0" smtClean="0"/>
              <a:t>(</a:t>
            </a:r>
            <a:r>
              <a:rPr lang="fr-FR" sz="2800" dirty="0" err="1" smtClean="0"/>
              <a:t>a.group</a:t>
            </a:r>
            <a:r>
              <a:rPr lang="fr-FR" sz="2800" dirty="0" smtClean="0"/>
              <a:t>(1))             #</a:t>
            </a:r>
            <a:r>
              <a:rPr lang="it-IT" sz="2800" dirty="0" smtClean="0"/>
              <a:t> gmail</a:t>
            </a:r>
            <a:endParaRPr lang="fr-FR" sz="2800" dirty="0" smtClean="0"/>
          </a:p>
          <a:p>
            <a:pPr>
              <a:buNone/>
            </a:pPr>
            <a:r>
              <a:rPr lang="fr-FR" sz="2800" b="1" dirty="0" err="1" smtClean="0"/>
              <a:t>print</a:t>
            </a:r>
            <a:r>
              <a:rPr lang="fr-FR" sz="2800" b="1" dirty="0" smtClean="0"/>
              <a:t>(</a:t>
            </a:r>
            <a:r>
              <a:rPr lang="fr-FR" sz="2800" b="1" dirty="0" err="1" smtClean="0"/>
              <a:t>a.group</a:t>
            </a:r>
            <a:r>
              <a:rPr lang="fr-FR" sz="2800" b="1" dirty="0" smtClean="0"/>
              <a:t>(2))             #</a:t>
            </a:r>
            <a:r>
              <a:rPr lang="fr-FR" sz="2800" b="1" dirty="0" err="1" smtClean="0"/>
              <a:t>com</a:t>
            </a:r>
            <a:r>
              <a:rPr lang="fr-FR" sz="2800" dirty="0" smtClean="0"/>
              <a:t>  </a:t>
            </a:r>
          </a:p>
          <a:p>
            <a:pPr>
              <a:buNone/>
            </a:pPr>
            <a:r>
              <a:rPr lang="fr-FR" sz="2800" dirty="0" err="1" smtClean="0"/>
              <a:t>print</a:t>
            </a:r>
            <a:r>
              <a:rPr lang="fr-FR" sz="2800" dirty="0" smtClean="0"/>
              <a:t>(</a:t>
            </a:r>
            <a:r>
              <a:rPr lang="fr-FR" sz="2800" dirty="0" err="1" smtClean="0"/>
              <a:t>a.groups</a:t>
            </a:r>
            <a:r>
              <a:rPr lang="fr-FR" sz="2800" dirty="0" smtClean="0"/>
              <a:t>())             #</a:t>
            </a:r>
            <a:r>
              <a:rPr lang="it-IT" sz="2800" dirty="0" smtClean="0"/>
              <a:t>('gmail', 'com')</a:t>
            </a:r>
            <a:endParaRPr lang="fr-FR" sz="2800" dirty="0" smtClean="0"/>
          </a:p>
          <a:p>
            <a:pPr>
              <a:buNone/>
            </a:pPr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&gt;&gt;&gt;a=</a:t>
            </a:r>
            <a:r>
              <a:rPr lang="en-US" sz="2400" dirty="0" err="1" smtClean="0"/>
              <a:t>re.findall</a:t>
            </a:r>
            <a:r>
              <a:rPr lang="en-US" sz="2400" dirty="0" smtClean="0"/>
              <a:t>(r"\d{2}/\d{2}/\d{4}", "today is 11/14/2018")</a:t>
            </a:r>
          </a:p>
          <a:p>
            <a:pPr>
              <a:buNone/>
            </a:pPr>
            <a:r>
              <a:rPr lang="en-US" dirty="0" smtClean="0"/>
              <a:t>&gt;&gt;&gt;a</a:t>
            </a:r>
          </a:p>
          <a:p>
            <a:pPr>
              <a:buNone/>
            </a:pPr>
            <a:r>
              <a:rPr lang="en-US" dirty="0" smtClean="0"/>
              <a:t>['11/14/2018']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Solution – 2 </a:t>
            </a:r>
            <a:r>
              <a:rPr lang="en-US" dirty="0" smtClean="0"/>
              <a:t>Extract only domain name using “( )”</a:t>
            </a:r>
          </a:p>
          <a:p>
            <a:pPr>
              <a:buNone/>
            </a:pPr>
            <a:r>
              <a:rPr lang="en-US" u="sng" dirty="0" smtClean="0"/>
              <a:t>Code</a:t>
            </a:r>
            <a:endParaRPr lang="en-US" dirty="0" smtClean="0"/>
          </a:p>
          <a:p>
            <a:r>
              <a:rPr lang="en-US" dirty="0" smtClean="0"/>
              <a:t>result=</a:t>
            </a:r>
            <a:r>
              <a:rPr lang="en-US" dirty="0" err="1" smtClean="0"/>
              <a:t>re.findall</a:t>
            </a:r>
            <a:r>
              <a:rPr lang="en-US" dirty="0" smtClean="0"/>
              <a:t>(r'</a:t>
            </a:r>
            <a:r>
              <a:rPr lang="en-US" b="1" dirty="0" smtClean="0"/>
              <a:t>@\w+.(\w+)</a:t>
            </a:r>
            <a:r>
              <a:rPr lang="en-US" dirty="0" smtClean="0"/>
              <a:t>','abc.test@gmail.com, xyz@test.in, test.first@analyticsvidhya.com, first.test@rest.biz') </a:t>
            </a:r>
          </a:p>
          <a:p>
            <a:r>
              <a:rPr lang="en-US" dirty="0" smtClean="0"/>
              <a:t>print (result)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Output:</a:t>
            </a:r>
            <a:r>
              <a:rPr lang="en-US" dirty="0" smtClean="0"/>
              <a:t> ['com', 'in', 'com', 'biz']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Problem 4: Return date from given string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Here we will use “</a:t>
            </a:r>
            <a:r>
              <a:rPr lang="en-US" b="1" dirty="0" smtClean="0"/>
              <a:t>\d</a:t>
            </a:r>
            <a:r>
              <a:rPr lang="en-US" dirty="0" smtClean="0"/>
              <a:t>” to extract digit.</a:t>
            </a:r>
          </a:p>
          <a:p>
            <a:r>
              <a:rPr lang="en-US" b="1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u="sng" dirty="0" smtClean="0"/>
              <a:t>Code</a:t>
            </a:r>
            <a:endParaRPr lang="en-US" dirty="0" smtClean="0"/>
          </a:p>
          <a:p>
            <a:r>
              <a:rPr lang="en-US" dirty="0" smtClean="0"/>
              <a:t>result=</a:t>
            </a:r>
            <a:r>
              <a:rPr lang="en-US" dirty="0" err="1" smtClean="0"/>
              <a:t>re.findall</a:t>
            </a:r>
            <a:r>
              <a:rPr lang="en-US" dirty="0" smtClean="0"/>
              <a:t>(r'\d{2}-\d{2}-\d{4}','</a:t>
            </a:r>
            <a:r>
              <a:rPr lang="en-US" dirty="0" err="1" smtClean="0"/>
              <a:t>Amit</a:t>
            </a:r>
            <a:r>
              <a:rPr lang="en-US" dirty="0" smtClean="0"/>
              <a:t> 34-3456 12-05-2007, XYZ 56-4532 11-11-2011, ABC 67-8945 12-01-2009') </a:t>
            </a:r>
          </a:p>
          <a:p>
            <a:r>
              <a:rPr lang="en-US" dirty="0" smtClean="0"/>
              <a:t>print (result) </a:t>
            </a:r>
          </a:p>
          <a:p>
            <a:pPr>
              <a:buNone/>
            </a:pPr>
            <a:r>
              <a:rPr lang="en-US" b="1" dirty="0" smtClean="0"/>
              <a:t>Output:</a:t>
            </a:r>
            <a:r>
              <a:rPr lang="en-US" dirty="0" smtClean="0"/>
              <a:t> ['12-05-2007', '11-11-2011', '12-01-2009'] </a:t>
            </a:r>
          </a:p>
          <a:p>
            <a:pPr>
              <a:buNone/>
            </a:pPr>
            <a:r>
              <a:rPr lang="en-US" dirty="0" smtClean="0"/>
              <a:t>	If you want to extract only year again parenthesis “( )” will help you.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result=</a:t>
            </a:r>
            <a:r>
              <a:rPr lang="en-US" dirty="0" err="1" smtClean="0"/>
              <a:t>re.findall</a:t>
            </a:r>
            <a:r>
              <a:rPr lang="en-US" dirty="0" smtClean="0"/>
              <a:t>(r'\d{2}-\d{2}-(\d{4})','</a:t>
            </a:r>
            <a:r>
              <a:rPr lang="en-US" dirty="0" err="1" smtClean="0"/>
              <a:t>Amit</a:t>
            </a:r>
            <a:r>
              <a:rPr lang="en-US" dirty="0" smtClean="0"/>
              <a:t> 34-3456 12-05-2007, XYZ 56-4532 11-11-2011, ABC 67-8945 12-01-2009') </a:t>
            </a:r>
          </a:p>
          <a:p>
            <a:r>
              <a:rPr lang="en-US" dirty="0" smtClean="0"/>
              <a:t>print (result) </a:t>
            </a:r>
          </a:p>
          <a:p>
            <a:pPr>
              <a:buNone/>
            </a:pPr>
            <a:r>
              <a:rPr lang="en-US" b="1" dirty="0" smtClean="0"/>
              <a:t>Output:</a:t>
            </a:r>
            <a:r>
              <a:rPr lang="en-US" dirty="0" smtClean="0"/>
              <a:t> ['2007', '2011', '2009']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Problem 5: Return all words of a string those starts with vowel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Solution-1  </a:t>
            </a:r>
            <a:r>
              <a:rPr lang="en-US" dirty="0" smtClean="0"/>
              <a:t>Return each words</a:t>
            </a:r>
          </a:p>
          <a:p>
            <a:pPr>
              <a:buNone/>
            </a:pPr>
            <a:r>
              <a:rPr lang="en-US" u="sng" dirty="0" smtClean="0"/>
              <a:t>Code</a:t>
            </a:r>
            <a:endParaRPr lang="en-US" dirty="0" smtClean="0"/>
          </a:p>
          <a:p>
            <a:r>
              <a:rPr lang="en-US" sz="2000" dirty="0" smtClean="0"/>
              <a:t>result=</a:t>
            </a:r>
            <a:r>
              <a:rPr lang="en-US" sz="2000" dirty="0" err="1" smtClean="0"/>
              <a:t>re.findall</a:t>
            </a:r>
            <a:r>
              <a:rPr lang="en-US" sz="2000" dirty="0" smtClean="0"/>
              <a:t>(r'\b[</a:t>
            </a:r>
            <a:r>
              <a:rPr lang="en-US" sz="2000" dirty="0" err="1" smtClean="0"/>
              <a:t>aeiouAEIOU</a:t>
            </a:r>
            <a:r>
              <a:rPr lang="en-US" sz="2000" dirty="0" smtClean="0"/>
              <a:t>]\</a:t>
            </a:r>
            <a:r>
              <a:rPr lang="en-US" sz="2000" dirty="0" err="1" smtClean="0"/>
              <a:t>w+','AV</a:t>
            </a:r>
            <a:r>
              <a:rPr lang="en-US" sz="2000" dirty="0" smtClean="0"/>
              <a:t> is largest Analytics community of India') </a:t>
            </a:r>
          </a:p>
          <a:p>
            <a:r>
              <a:rPr lang="en-US" sz="2000" dirty="0" smtClean="0"/>
              <a:t>print (result)  </a:t>
            </a:r>
          </a:p>
          <a:p>
            <a:pPr>
              <a:buNone/>
            </a:pPr>
            <a:r>
              <a:rPr lang="en-US" sz="2000" b="1" dirty="0" smtClean="0"/>
              <a:t>Output:</a:t>
            </a:r>
            <a:r>
              <a:rPr lang="en-US" sz="2000" dirty="0" smtClean="0"/>
              <a:t> ['AV', 'is', 'Analytics', 'of', 'India']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3947</TotalTime>
  <Words>1074</Words>
  <Application>Microsoft Office PowerPoint</Application>
  <PresentationFormat>On-screen Show (4:3)</PresentationFormat>
  <Paragraphs>259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Regular Expression</vt:lpstr>
      <vt:lpstr>PowerPoint Presentation</vt:lpstr>
      <vt:lpstr>Uses of regular expressions:</vt:lpstr>
      <vt:lpstr>Various methods of Regular Expressions</vt:lpstr>
      <vt:lpstr>re.match(pattern, string, flag=0)</vt:lpstr>
      <vt:lpstr>PowerPoint Presentation</vt:lpstr>
      <vt:lpstr>PowerPoint Presentation</vt:lpstr>
      <vt:lpstr>PowerPoint Presentation</vt:lpstr>
      <vt:lpstr>PowerPoint Presentation</vt:lpstr>
      <vt:lpstr>re.search(pattern, string, flag=0)</vt:lpstr>
      <vt:lpstr>PowerPoint Presentation</vt:lpstr>
      <vt:lpstr>Matching Versus Searching</vt:lpstr>
      <vt:lpstr>re.findall (pattern, string)</vt:lpstr>
      <vt:lpstr>PowerPoint Presentation</vt:lpstr>
      <vt:lpstr>re.split(pattern, string, [maxsplit=0])</vt:lpstr>
      <vt:lpstr>PowerPoint Presentation</vt:lpstr>
      <vt:lpstr>re.sub(pattern, repl, string)</vt:lpstr>
      <vt:lpstr>re.compile(pattern,  flag=0)</vt:lpstr>
      <vt:lpstr>PowerPoint Presentation</vt:lpstr>
      <vt:lpstr>Python Bitwise Operators</vt:lpstr>
      <vt:lpstr>PowerPoint Presentation</vt:lpstr>
      <vt:lpstr>PowerPoint Presentation</vt:lpstr>
      <vt:lpstr>WHY WE NEED RE ?</vt:lpstr>
      <vt:lpstr>solution without regular expression</vt:lpstr>
      <vt:lpstr>PowerPoint Presentation</vt:lpstr>
      <vt:lpstr>solution with regular expression</vt:lpstr>
      <vt:lpstr>phone_number="Cell (mobile): (555) 265-2901“ result=re.search("\(\d{3}\)", phone_number) area_code=result.group(0) print(area_code) (555)</vt:lpstr>
      <vt:lpstr>The following special-character sequences are recognized in regular expression patterns:</vt:lpstr>
      <vt:lpstr>PowerPoint Presentation</vt:lpstr>
      <vt:lpstr>PowerPoint Presentation</vt:lpstr>
      <vt:lpstr>PowerPoint Presentation</vt:lpstr>
      <vt:lpstr>* Vs *? Greedy Vs Non Greedy   </vt:lpstr>
      <vt:lpstr>Special Sequences</vt:lpstr>
      <vt:lpstr>PowerPoint Presentation</vt:lpstr>
      <vt:lpstr>Compilation flags </vt:lpstr>
      <vt:lpstr>Some Examples</vt:lpstr>
      <vt:lpstr>Questions</vt:lpstr>
      <vt:lpstr>PowerPoint Presentation</vt:lpstr>
      <vt:lpstr>PROBLEMS</vt:lpstr>
      <vt:lpstr>Solution 1</vt:lpstr>
      <vt:lpstr>Solution 2</vt:lpstr>
      <vt:lpstr>Solution 3</vt:lpstr>
      <vt:lpstr>Solution: To extract the domain type only</vt:lpstr>
      <vt:lpstr>Solution 4</vt:lpstr>
      <vt:lpstr>PowerPoint Presentation</vt:lpstr>
      <vt:lpstr>Problem 4: Return date from given string</vt:lpstr>
      <vt:lpstr>PowerPoint Presentation</vt:lpstr>
      <vt:lpstr>Problem 5: Return all words of a string those starts with vowel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BCA3005 Module -III</dc:title>
  <dc:creator>atul</dc:creator>
  <cp:lastModifiedBy>user</cp:lastModifiedBy>
  <cp:revision>19</cp:revision>
  <dcterms:created xsi:type="dcterms:W3CDTF">2018-11-11T14:22:33Z</dcterms:created>
  <dcterms:modified xsi:type="dcterms:W3CDTF">2023-12-02T04:18:50Z</dcterms:modified>
</cp:coreProperties>
</file>