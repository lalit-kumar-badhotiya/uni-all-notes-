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58489" y="1665554"/>
            <a:ext cx="5875020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03273" y="3579367"/>
            <a:ext cx="8585453" cy="72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7889" y="1388447"/>
            <a:ext cx="5321935" cy="472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024255" marR="5080" indent="-1012190">
              <a:lnSpc>
                <a:spcPts val="6480"/>
              </a:lnSpc>
              <a:spcBef>
                <a:spcPts val="915"/>
              </a:spcBef>
            </a:pPr>
            <a:r>
              <a:rPr spc="-225" dirty="0"/>
              <a:t>INTRODUCTION</a:t>
            </a:r>
            <a:r>
              <a:rPr spc="-545" dirty="0"/>
              <a:t> </a:t>
            </a:r>
            <a:r>
              <a:rPr spc="-445" dirty="0"/>
              <a:t>TO  </a:t>
            </a:r>
            <a:r>
              <a:rPr spc="-325" dirty="0"/>
              <a:t>MATPLOTLIB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19220" marR="5080" indent="-3907154">
              <a:lnSpc>
                <a:spcPts val="2590"/>
              </a:lnSpc>
              <a:spcBef>
                <a:spcPts val="425"/>
              </a:spcBef>
            </a:pPr>
            <a:r>
              <a:rPr spc="-5" dirty="0"/>
              <a:t>Matplotlib </a:t>
            </a:r>
            <a:r>
              <a:rPr dirty="0"/>
              <a:t>is an amazing </a:t>
            </a:r>
            <a:r>
              <a:rPr spc="-10" dirty="0"/>
              <a:t>visualization </a:t>
            </a:r>
            <a:r>
              <a:rPr spc="-5" dirty="0"/>
              <a:t>library </a:t>
            </a:r>
            <a:r>
              <a:rPr dirty="0"/>
              <a:t>in Python </a:t>
            </a:r>
            <a:r>
              <a:rPr spc="-20" dirty="0"/>
              <a:t>for </a:t>
            </a:r>
            <a:r>
              <a:rPr spc="-5" dirty="0"/>
              <a:t>2D plots of  </a:t>
            </a:r>
            <a:r>
              <a:rPr spc="-20" dirty="0"/>
              <a:t>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246995" cy="4293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Matplotlib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5" dirty="0">
                <a:latin typeface="Carlito"/>
                <a:cs typeface="Carlito"/>
              </a:rPr>
              <a:t>amazing </a:t>
            </a:r>
            <a:r>
              <a:rPr sz="2800" spc="-15" dirty="0">
                <a:latin typeface="Carlito"/>
                <a:cs typeface="Carlito"/>
              </a:rPr>
              <a:t>visualization library </a:t>
            </a:r>
            <a:r>
              <a:rPr sz="2800" spc="-5" dirty="0">
                <a:latin typeface="Carlito"/>
                <a:cs typeface="Carlito"/>
              </a:rPr>
              <a:t>in Python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2D </a:t>
            </a:r>
            <a:r>
              <a:rPr sz="2800" spc="-10" dirty="0">
                <a:latin typeface="Carlito"/>
                <a:cs typeface="Carlito"/>
              </a:rPr>
              <a:t>plots of  </a:t>
            </a:r>
            <a:r>
              <a:rPr sz="2800" spc="-25" dirty="0">
                <a:latin typeface="Carlito"/>
                <a:cs typeface="Carlito"/>
              </a:rPr>
              <a:t>arrays</a:t>
            </a:r>
            <a:endParaRPr sz="2800">
              <a:latin typeface="Carlito"/>
              <a:cs typeface="Carlito"/>
            </a:endParaRPr>
          </a:p>
          <a:p>
            <a:pPr marL="241300" marR="420370" indent="-229235">
              <a:lnSpc>
                <a:spcPts val="3020"/>
              </a:lnSpc>
              <a:spcBef>
                <a:spcPts val="1115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"/>
                <a:cs typeface="Arial"/>
              </a:rPr>
              <a:t>Matplotlib is a </a:t>
            </a:r>
            <a:r>
              <a:rPr sz="2800" dirty="0">
                <a:latin typeface="Arial"/>
                <a:cs typeface="Arial"/>
              </a:rPr>
              <a:t>multi-platform </a:t>
            </a:r>
            <a:r>
              <a:rPr sz="2800" spc="-5" dirty="0">
                <a:latin typeface="Arial"/>
                <a:cs typeface="Arial"/>
              </a:rPr>
              <a:t>data visualization library </a:t>
            </a:r>
            <a:r>
              <a:rPr sz="2800" dirty="0">
                <a:latin typeface="Arial"/>
                <a:cs typeface="Arial"/>
              </a:rPr>
              <a:t>built </a:t>
            </a:r>
            <a:r>
              <a:rPr sz="2800" spc="-5" dirty="0">
                <a:latin typeface="Arial"/>
                <a:cs typeface="Arial"/>
              </a:rPr>
              <a:t>on  NumPy arrays </a:t>
            </a:r>
            <a:r>
              <a:rPr sz="2800" dirty="0">
                <a:latin typeface="Arial"/>
                <a:cs typeface="Arial"/>
              </a:rPr>
              <a:t>and designed </a:t>
            </a:r>
            <a:r>
              <a:rPr sz="2800" spc="-5" dirty="0">
                <a:latin typeface="Arial"/>
                <a:cs typeface="Arial"/>
              </a:rPr>
              <a:t>to work with the broader SciPy  </a:t>
            </a:r>
            <a:r>
              <a:rPr sz="2800" dirty="0">
                <a:latin typeface="Arial"/>
                <a:cs typeface="Arial"/>
              </a:rPr>
              <a:t>stack. </a:t>
            </a:r>
            <a:r>
              <a:rPr sz="2800" spc="-5" dirty="0">
                <a:latin typeface="Arial"/>
                <a:cs typeface="Arial"/>
              </a:rPr>
              <a:t>It was </a:t>
            </a:r>
            <a:r>
              <a:rPr sz="2800" dirty="0">
                <a:latin typeface="Arial"/>
                <a:cs typeface="Arial"/>
              </a:rPr>
              <a:t>introduced </a:t>
            </a:r>
            <a:r>
              <a:rPr sz="2800" spc="-5" dirty="0">
                <a:latin typeface="Arial"/>
                <a:cs typeface="Arial"/>
              </a:rPr>
              <a:t>by </a:t>
            </a:r>
            <a:r>
              <a:rPr sz="2800" dirty="0">
                <a:latin typeface="Arial"/>
                <a:cs typeface="Arial"/>
              </a:rPr>
              <a:t>John Hunter in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year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2002.</a:t>
            </a:r>
            <a:endParaRPr sz="2800">
              <a:latin typeface="Arial"/>
              <a:cs typeface="Arial"/>
            </a:endParaRPr>
          </a:p>
          <a:p>
            <a:pPr marL="241300" marR="287020" indent="-229235">
              <a:lnSpc>
                <a:spcPts val="3030"/>
              </a:lnSpc>
              <a:spcBef>
                <a:spcPts val="1010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"/>
                <a:cs typeface="Arial"/>
              </a:rPr>
              <a:t>One </a:t>
            </a:r>
            <a:r>
              <a:rPr sz="2800" dirty="0">
                <a:latin typeface="Arial"/>
                <a:cs typeface="Arial"/>
              </a:rPr>
              <a:t>of the greatest benefits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visualization is </a:t>
            </a:r>
            <a:r>
              <a:rPr sz="2800" spc="-5" dirty="0">
                <a:latin typeface="Arial"/>
                <a:cs typeface="Arial"/>
              </a:rPr>
              <a:t>that it allows us  visual access to huge amounts of </a:t>
            </a:r>
            <a:r>
              <a:rPr sz="2800" dirty="0">
                <a:latin typeface="Arial"/>
                <a:cs typeface="Arial"/>
              </a:rPr>
              <a:t>data </a:t>
            </a:r>
            <a:r>
              <a:rPr sz="2800" spc="-5" dirty="0">
                <a:latin typeface="Arial"/>
                <a:cs typeface="Arial"/>
              </a:rPr>
              <a:t>in easily </a:t>
            </a:r>
            <a:r>
              <a:rPr sz="2800" dirty="0">
                <a:latin typeface="Arial"/>
                <a:cs typeface="Arial"/>
              </a:rPr>
              <a:t>digestible  visuals.</a:t>
            </a:r>
            <a:endParaRPr sz="2800">
              <a:latin typeface="Arial"/>
              <a:cs typeface="Arial"/>
            </a:endParaRPr>
          </a:p>
          <a:p>
            <a:pPr marL="241300" marR="1175385" indent="-229235">
              <a:lnSpc>
                <a:spcPts val="2940"/>
              </a:lnSpc>
              <a:spcBef>
                <a:spcPts val="1055"/>
              </a:spcBef>
              <a:buFont typeface="Arial"/>
              <a:buChar char="•"/>
              <a:tabLst>
                <a:tab pos="340360" algn="l"/>
                <a:tab pos="340995" algn="l"/>
              </a:tabLst>
            </a:pPr>
            <a:r>
              <a:rPr dirty="0"/>
              <a:t>	</a:t>
            </a:r>
            <a:r>
              <a:rPr sz="2800" spc="-5" dirty="0">
                <a:latin typeface="Arial"/>
                <a:cs typeface="Arial"/>
              </a:rPr>
              <a:t>Matplotlib </a:t>
            </a:r>
            <a:r>
              <a:rPr sz="2800" dirty="0">
                <a:latin typeface="Arial"/>
                <a:cs typeface="Arial"/>
              </a:rPr>
              <a:t>consists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several plots </a:t>
            </a:r>
            <a:r>
              <a:rPr sz="2800" spc="-5" dirty="0">
                <a:latin typeface="Arial"/>
                <a:cs typeface="Arial"/>
              </a:rPr>
              <a:t>like </a:t>
            </a:r>
            <a:r>
              <a:rPr sz="2800" dirty="0">
                <a:latin typeface="Arial"/>
                <a:cs typeface="Arial"/>
              </a:rPr>
              <a:t>line, </a:t>
            </a:r>
            <a:r>
              <a:rPr sz="2800" spc="-40" dirty="0">
                <a:latin typeface="Arial"/>
                <a:cs typeface="Arial"/>
              </a:rPr>
              <a:t>bar, </a:t>
            </a:r>
            <a:r>
              <a:rPr sz="2800" spc="-20" dirty="0">
                <a:latin typeface="Arial"/>
                <a:cs typeface="Arial"/>
              </a:rPr>
              <a:t>scatter,  </a:t>
            </a:r>
            <a:r>
              <a:rPr sz="2800" dirty="0">
                <a:latin typeface="Arial"/>
                <a:cs typeface="Arial"/>
              </a:rPr>
              <a:t>histogram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etc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48533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Importing </a:t>
            </a:r>
            <a:r>
              <a:rPr spc="-270" dirty="0"/>
              <a:t>matplotlib</a:t>
            </a:r>
            <a:r>
              <a:rPr spc="-730" dirty="0"/>
              <a:t> </a:t>
            </a:r>
            <a:r>
              <a:rPr spc="-459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583819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matplotlib import pyplot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plt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i="1" dirty="0">
                <a:latin typeface="Carlito"/>
                <a:cs typeface="Carlito"/>
              </a:rPr>
              <a:t>or</a:t>
            </a:r>
            <a:endParaRPr sz="2800">
              <a:latin typeface="Carlito"/>
              <a:cs typeface="Carlito"/>
            </a:endParaRPr>
          </a:p>
          <a:p>
            <a:pPr marL="321945" indent="-30988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0" dirty="0">
                <a:latin typeface="Carlito"/>
                <a:cs typeface="Carlito"/>
              </a:rPr>
              <a:t>import matplotlib.pyplot </a:t>
            </a:r>
            <a:r>
              <a:rPr sz="2800" spc="-5" dirty="0">
                <a:latin typeface="Carlito"/>
                <a:cs typeface="Carlito"/>
              </a:rPr>
              <a:t>as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plt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5571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Basic</a:t>
            </a:r>
            <a:r>
              <a:rPr spc="-440" dirty="0"/>
              <a:t> </a:t>
            </a:r>
            <a:r>
              <a:rPr spc="-210" dirty="0"/>
              <a:t>plots</a:t>
            </a:r>
            <a:r>
              <a:rPr spc="-440" dirty="0"/>
              <a:t> </a:t>
            </a:r>
            <a:r>
              <a:rPr spc="-210" dirty="0"/>
              <a:t>in</a:t>
            </a:r>
            <a:r>
              <a:rPr spc="-420" dirty="0"/>
              <a:t> </a:t>
            </a:r>
            <a:r>
              <a:rPr spc="-195" dirty="0"/>
              <a:t>Matplotlib</a:t>
            </a:r>
            <a:r>
              <a:rPr spc="-445" dirty="0"/>
              <a:t> </a:t>
            </a:r>
            <a:r>
              <a:rPr spc="-459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167620" cy="19443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Matplotlib comes </a:t>
            </a:r>
            <a:r>
              <a:rPr sz="2800" spc="-5" dirty="0">
                <a:latin typeface="Carlito"/>
                <a:cs typeface="Carlito"/>
              </a:rPr>
              <a:t>with a wide </a:t>
            </a:r>
            <a:r>
              <a:rPr sz="2800" spc="-15" dirty="0">
                <a:latin typeface="Carlito"/>
                <a:cs typeface="Carlito"/>
              </a:rPr>
              <a:t>variety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plots.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Plots </a:t>
            </a:r>
            <a:r>
              <a:rPr sz="2800" spc="-15" dirty="0">
                <a:latin typeface="Carlito"/>
                <a:cs typeface="Carlito"/>
              </a:rPr>
              <a:t>helps </a:t>
            </a:r>
            <a:r>
              <a:rPr sz="2800" spc="-20" dirty="0">
                <a:latin typeface="Carlito"/>
                <a:cs typeface="Carlito"/>
              </a:rPr>
              <a:t>to understand </a:t>
            </a:r>
            <a:r>
              <a:rPr sz="2800" spc="-10" dirty="0">
                <a:latin typeface="Carlito"/>
                <a:cs typeface="Carlito"/>
              </a:rPr>
              <a:t>trends, </a:t>
            </a:r>
            <a:r>
              <a:rPr sz="2800" spc="-15" dirty="0">
                <a:latin typeface="Carlito"/>
                <a:cs typeface="Carlito"/>
              </a:rPr>
              <a:t>patterns,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make</a:t>
            </a:r>
            <a:r>
              <a:rPr sz="2800" spc="2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correlations.</a:t>
            </a:r>
            <a:endParaRPr sz="2800">
              <a:latin typeface="Carlito"/>
              <a:cs typeface="Carlito"/>
            </a:endParaRPr>
          </a:p>
          <a:p>
            <a:pPr marL="241300" marR="927100" indent="-229235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0" dirty="0">
                <a:latin typeface="Carlito"/>
                <a:cs typeface="Carlito"/>
              </a:rPr>
              <a:t>They’re typically </a:t>
            </a:r>
            <a:r>
              <a:rPr sz="2800" spc="-15" dirty="0">
                <a:latin typeface="Carlito"/>
                <a:cs typeface="Carlito"/>
              </a:rPr>
              <a:t>instruments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reasoning </a:t>
            </a:r>
            <a:r>
              <a:rPr sz="2800" spc="-5" dirty="0">
                <a:latin typeface="Carlito"/>
                <a:cs typeface="Carlito"/>
              </a:rPr>
              <a:t>about </a:t>
            </a:r>
            <a:r>
              <a:rPr sz="2800" spc="-15" dirty="0">
                <a:latin typeface="Carlito"/>
                <a:cs typeface="Carlito"/>
              </a:rPr>
              <a:t>quantitative  information.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97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Line </a:t>
            </a:r>
            <a:r>
              <a:rPr spc="-240" dirty="0"/>
              <a:t>plot</a:t>
            </a:r>
            <a:r>
              <a:rPr spc="-630" dirty="0"/>
              <a:t> </a:t>
            </a:r>
            <a:r>
              <a:rPr spc="-459"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1388447"/>
          <a:ext cx="5320664" cy="4721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"/>
                <a:gridCol w="3213100"/>
                <a:gridCol w="978535"/>
                <a:gridCol w="417829"/>
                <a:gridCol w="520700"/>
              </a:tblGrid>
              <a:tr h="636272">
                <a:tc gridSpan="2">
                  <a:txBody>
                    <a:bodyPr/>
                    <a:lstStyle/>
                    <a:p>
                      <a:pPr marL="260350" indent="-229235">
                        <a:lnSpc>
                          <a:spcPts val="2215"/>
                        </a:lnSpc>
                        <a:buChar char="•"/>
                        <a:tabLst>
                          <a:tab pos="260350" algn="l"/>
                          <a:tab pos="260985" algn="l"/>
                          <a:tab pos="540385" algn="l"/>
                          <a:tab pos="1936750" algn="l"/>
                        </a:tabLst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000" spc="185" dirty="0">
                          <a:latin typeface="Arial"/>
                          <a:cs typeface="Arial"/>
                        </a:rPr>
                        <a:t>importing	</a:t>
                      </a:r>
                      <a:r>
                        <a:rPr sz="2000" spc="240" dirty="0">
                          <a:latin typeface="Arial"/>
                          <a:cs typeface="Arial"/>
                        </a:rPr>
                        <a:t>matplotlib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260350" indent="-229235">
                        <a:lnSpc>
                          <a:spcPct val="100000"/>
                        </a:lnSpc>
                        <a:spcBef>
                          <a:spcPts val="275"/>
                        </a:spcBef>
                        <a:buChar char="•"/>
                        <a:tabLst>
                          <a:tab pos="260350" algn="l"/>
                          <a:tab pos="260985" algn="l"/>
                          <a:tab pos="959485" algn="l"/>
                          <a:tab pos="2496185" algn="l"/>
                        </a:tabLst>
                      </a:pPr>
                      <a:r>
                        <a:rPr sz="2000" spc="100" dirty="0">
                          <a:latin typeface="Arial"/>
                          <a:cs typeface="Arial"/>
                        </a:rPr>
                        <a:t>from	</a:t>
                      </a:r>
                      <a:r>
                        <a:rPr sz="2000" spc="240" dirty="0">
                          <a:latin typeface="Arial"/>
                          <a:cs typeface="Arial"/>
                        </a:rPr>
                        <a:t>matplotlib	</a:t>
                      </a:r>
                      <a:r>
                        <a:rPr sz="2000" spc="170" dirty="0">
                          <a:latin typeface="Arial"/>
                          <a:cs typeface="Arial"/>
                        </a:rPr>
                        <a:t>import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215"/>
                        </a:lnSpc>
                      </a:pPr>
                      <a:r>
                        <a:rPr sz="2000" spc="5" dirty="0">
                          <a:latin typeface="Arial"/>
                          <a:cs typeface="Arial"/>
                        </a:rPr>
                        <a:t>module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210" dirty="0">
                          <a:latin typeface="Arial"/>
                          <a:cs typeface="Arial"/>
                        </a:rPr>
                        <a:t>pyplot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000" spc="45" dirty="0">
                          <a:latin typeface="Arial"/>
                          <a:cs typeface="Arial"/>
                        </a:rPr>
                        <a:t>as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000" spc="395" dirty="0">
                          <a:latin typeface="Arial"/>
                          <a:cs typeface="Arial"/>
                        </a:rPr>
                        <a:t>plt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</a:tr>
              <a:tr h="3575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214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349885" algn="l"/>
                          <a:tab pos="1327785" algn="l"/>
                        </a:tabLst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000" spc="225" dirty="0">
                          <a:latin typeface="Arial"/>
                          <a:cs typeface="Arial"/>
                        </a:rPr>
                        <a:t>x-axis	</a:t>
                      </a:r>
                      <a:r>
                        <a:rPr sz="2000" spc="130" dirty="0">
                          <a:latin typeface="Arial"/>
                          <a:cs typeface="Arial"/>
                        </a:rPr>
                        <a:t>values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349250" algn="l"/>
                          <a:tab pos="629285" algn="l"/>
                          <a:tab pos="1188085" algn="l"/>
                          <a:tab pos="1605915" algn="l"/>
                          <a:tab pos="2025650" algn="l"/>
                          <a:tab pos="2446020" algn="l"/>
                        </a:tabLst>
                      </a:pPr>
                      <a:r>
                        <a:rPr sz="2000" spc="100" dirty="0">
                          <a:latin typeface="Arial"/>
                          <a:cs typeface="Arial"/>
                        </a:rPr>
                        <a:t>x	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=	</a:t>
                      </a:r>
                      <a:r>
                        <a:rPr sz="2000" spc="360" dirty="0">
                          <a:latin typeface="Arial"/>
                          <a:cs typeface="Arial"/>
                        </a:rPr>
                        <a:t>[5,	</a:t>
                      </a:r>
                      <a:r>
                        <a:rPr sz="2000" spc="265" dirty="0">
                          <a:latin typeface="Arial"/>
                          <a:cs typeface="Arial"/>
                        </a:rPr>
                        <a:t>2,	9,	4,	</a:t>
                      </a:r>
                      <a:r>
                        <a:rPr sz="2000" spc="260" dirty="0">
                          <a:latin typeface="Arial"/>
                          <a:cs typeface="Arial"/>
                        </a:rPr>
                        <a:t>7]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2094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349885" algn="l"/>
                          <a:tab pos="1327785" algn="l"/>
                        </a:tabLst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000" spc="170" dirty="0">
                          <a:latin typeface="Arial"/>
                          <a:cs typeface="Arial"/>
                        </a:rPr>
                        <a:t>Y-axis	</a:t>
                      </a:r>
                      <a:r>
                        <a:rPr sz="2000" spc="130" dirty="0">
                          <a:latin typeface="Arial"/>
                          <a:cs typeface="Arial"/>
                        </a:rPr>
                        <a:t>values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349250" algn="l"/>
                          <a:tab pos="629285" algn="l"/>
                          <a:tab pos="1327785" algn="l"/>
                          <a:tab pos="1745614" algn="l"/>
                          <a:tab pos="2165985" algn="l"/>
                          <a:tab pos="2584450" algn="l"/>
                        </a:tabLst>
                      </a:pPr>
                      <a:r>
                        <a:rPr sz="2000" spc="100" dirty="0">
                          <a:latin typeface="Arial"/>
                          <a:cs typeface="Arial"/>
                        </a:rPr>
                        <a:t>y	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=	</a:t>
                      </a:r>
                      <a:r>
                        <a:rPr sz="2000" spc="260" dirty="0">
                          <a:latin typeface="Arial"/>
                          <a:cs typeface="Arial"/>
                        </a:rPr>
                        <a:t>[10,	5,	</a:t>
                      </a:r>
                      <a:r>
                        <a:rPr sz="2000" spc="265" dirty="0">
                          <a:latin typeface="Arial"/>
                          <a:cs typeface="Arial"/>
                        </a:rPr>
                        <a:t>8,	4,	2]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2147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349885" algn="l"/>
                          <a:tab pos="1605915" algn="l"/>
                          <a:tab pos="2026285" algn="l"/>
                        </a:tabLst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000" spc="140" dirty="0">
                          <a:latin typeface="Arial"/>
                          <a:cs typeface="Arial"/>
                        </a:rPr>
                        <a:t>Function	</a:t>
                      </a:r>
                      <a:r>
                        <a:rPr sz="2000" spc="265" dirty="0">
                          <a:latin typeface="Arial"/>
                          <a:cs typeface="Arial"/>
                        </a:rPr>
                        <a:t>to	</a:t>
                      </a:r>
                      <a:r>
                        <a:rPr sz="2000" spc="290" dirty="0">
                          <a:latin typeface="Arial"/>
                          <a:cs typeface="Arial"/>
                        </a:rPr>
                        <a:t>plot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45" dirty="0">
                          <a:latin typeface="Arial"/>
                          <a:cs typeface="Arial"/>
                        </a:rPr>
                        <a:t>plt.plot(x,y)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6350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349250" algn="l"/>
                          <a:tab pos="1605915" algn="l"/>
                          <a:tab pos="2025650" algn="l"/>
                          <a:tab pos="2724150" algn="l"/>
                        </a:tabLst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000" spc="220" dirty="0">
                          <a:latin typeface="Arial"/>
                          <a:cs typeface="Arial"/>
                        </a:rPr>
                        <a:t>function	</a:t>
                      </a:r>
                      <a:r>
                        <a:rPr sz="2000" spc="265" dirty="0">
                          <a:latin typeface="Arial"/>
                          <a:cs typeface="Arial"/>
                        </a:rPr>
                        <a:t>to	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show	</a:t>
                      </a:r>
                      <a:r>
                        <a:rPr sz="2000" spc="170" dirty="0">
                          <a:latin typeface="Arial"/>
                          <a:cs typeface="Arial"/>
                        </a:rPr>
                        <a:t>the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229" dirty="0">
                          <a:latin typeface="Arial"/>
                          <a:cs typeface="Arial"/>
                        </a:rPr>
                        <a:t>plt.show()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spc="295" dirty="0">
                          <a:latin typeface="Arial"/>
                          <a:cs typeface="Arial"/>
                        </a:rPr>
                        <a:t>plot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033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Bar </a:t>
            </a:r>
            <a:r>
              <a:rPr spc="-240" dirty="0"/>
              <a:t>plot</a:t>
            </a:r>
            <a:r>
              <a:rPr spc="-680" dirty="0"/>
              <a:t> </a:t>
            </a:r>
            <a:r>
              <a:rPr spc="-459"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3487676"/>
          <a:ext cx="3371849" cy="685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0"/>
                <a:gridCol w="1078230"/>
                <a:gridCol w="1000760"/>
                <a:gridCol w="384810"/>
                <a:gridCol w="416559"/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#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190" dirty="0">
                          <a:latin typeface="Arial"/>
                          <a:cs typeface="Arial"/>
                        </a:rPr>
                        <a:t>Y-axis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30"/>
                        </a:lnSpc>
                      </a:pPr>
                      <a:r>
                        <a:rPr sz="2200" spc="5" dirty="0">
                          <a:latin typeface="Arial"/>
                          <a:cs typeface="Arial"/>
                        </a:rPr>
                        <a:t>values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tabLst>
                          <a:tab pos="307975" algn="l"/>
                        </a:tabLst>
                      </a:pPr>
                      <a:r>
                        <a:rPr sz="2200" spc="-80" dirty="0">
                          <a:latin typeface="Arial"/>
                          <a:cs typeface="Arial"/>
                        </a:rPr>
                        <a:t>=	</a:t>
                      </a:r>
                      <a:r>
                        <a:rPr sz="2200" spc="295" dirty="0">
                          <a:latin typeface="Arial"/>
                          <a:cs typeface="Arial"/>
                        </a:rPr>
                        <a:t>[10,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  <a:tabLst>
                          <a:tab pos="538480" algn="l"/>
                        </a:tabLst>
                      </a:pPr>
                      <a:r>
                        <a:rPr sz="2200" spc="290" dirty="0">
                          <a:latin typeface="Arial"/>
                          <a:cs typeface="Arial"/>
                        </a:rPr>
                        <a:t>5,	</a:t>
                      </a:r>
                      <a:r>
                        <a:rPr sz="2200" spc="295" dirty="0">
                          <a:latin typeface="Arial"/>
                          <a:cs typeface="Arial"/>
                        </a:rPr>
                        <a:t>8,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5"/>
                        </a:lnSpc>
                      </a:pPr>
                      <a:r>
                        <a:rPr sz="2200" spc="295" dirty="0">
                          <a:latin typeface="Arial"/>
                          <a:cs typeface="Arial"/>
                        </a:rPr>
                        <a:t>4,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spc="295" dirty="0">
                          <a:latin typeface="Arial"/>
                          <a:cs typeface="Arial"/>
                        </a:rPr>
                        <a:t>2]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251689"/>
            <a:ext cx="5796280" cy="50888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  <a:tab pos="241935" algn="l"/>
                <a:tab pos="549275" algn="l"/>
                <a:tab pos="2088514" algn="l"/>
                <a:tab pos="3782060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204" dirty="0">
                <a:latin typeface="Arial"/>
                <a:cs typeface="Arial"/>
              </a:rPr>
              <a:t>importing	</a:t>
            </a:r>
            <a:r>
              <a:rPr sz="2200" spc="265" dirty="0">
                <a:latin typeface="Arial"/>
                <a:cs typeface="Arial"/>
              </a:rPr>
              <a:t>matplotlib	</a:t>
            </a:r>
            <a:r>
              <a:rPr sz="2200" dirty="0">
                <a:latin typeface="Arial"/>
                <a:cs typeface="Arial"/>
              </a:rPr>
              <a:t>module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  <a:tab pos="241935" algn="l"/>
                <a:tab pos="1010919" algn="l"/>
                <a:tab pos="2704465" algn="l"/>
                <a:tab pos="3782060" algn="l"/>
                <a:tab pos="4859020" algn="l"/>
                <a:tab pos="5321300" algn="l"/>
              </a:tabLst>
            </a:pPr>
            <a:r>
              <a:rPr sz="2200" spc="105" dirty="0">
                <a:latin typeface="Arial"/>
                <a:cs typeface="Arial"/>
              </a:rPr>
              <a:t>from	</a:t>
            </a:r>
            <a:r>
              <a:rPr sz="2200" spc="265" dirty="0">
                <a:latin typeface="Arial"/>
                <a:cs typeface="Arial"/>
              </a:rPr>
              <a:t>matplotlib	</a:t>
            </a:r>
            <a:r>
              <a:rPr sz="2200" spc="190" dirty="0">
                <a:latin typeface="Arial"/>
                <a:cs typeface="Arial"/>
              </a:rPr>
              <a:t>import	</a:t>
            </a:r>
            <a:r>
              <a:rPr sz="2200" spc="229" dirty="0">
                <a:latin typeface="Arial"/>
                <a:cs typeface="Arial"/>
              </a:rPr>
              <a:t>pyplot	</a:t>
            </a:r>
            <a:r>
              <a:rPr sz="2200" spc="50" dirty="0">
                <a:latin typeface="Arial"/>
                <a:cs typeface="Arial"/>
              </a:rPr>
              <a:t>a</a:t>
            </a:r>
            <a:r>
              <a:rPr sz="2200" spc="40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430" dirty="0">
                <a:latin typeface="Arial"/>
                <a:cs typeface="Arial"/>
              </a:rPr>
              <a:t>plt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Char char="•"/>
              <a:tabLst>
                <a:tab pos="241300" algn="l"/>
                <a:tab pos="241935" algn="l"/>
                <a:tab pos="549275" algn="l"/>
                <a:tab pos="1626870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250" dirty="0">
                <a:latin typeface="Arial"/>
                <a:cs typeface="Arial"/>
              </a:rPr>
              <a:t>x-axis	</a:t>
            </a:r>
            <a:r>
              <a:rPr sz="2200" spc="150" dirty="0">
                <a:latin typeface="Arial"/>
                <a:cs typeface="Arial"/>
              </a:rPr>
              <a:t>values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  <a:tab pos="241935" algn="l"/>
                <a:tab pos="549275" algn="l"/>
                <a:tab pos="857250" algn="l"/>
                <a:tab pos="1473200" algn="l"/>
                <a:tab pos="1934845" algn="l"/>
                <a:tab pos="2396490" algn="l"/>
                <a:tab pos="2858770" algn="l"/>
              </a:tabLst>
            </a:pPr>
            <a:r>
              <a:rPr sz="2200" spc="105" dirty="0">
                <a:latin typeface="Arial"/>
                <a:cs typeface="Arial"/>
              </a:rPr>
              <a:t>x	</a:t>
            </a:r>
            <a:r>
              <a:rPr sz="2200" spc="-80" dirty="0">
                <a:latin typeface="Arial"/>
                <a:cs typeface="Arial"/>
              </a:rPr>
              <a:t>=	</a:t>
            </a:r>
            <a:r>
              <a:rPr sz="2200" spc="395" dirty="0">
                <a:latin typeface="Arial"/>
                <a:cs typeface="Arial"/>
              </a:rPr>
              <a:t>[5,	</a:t>
            </a:r>
            <a:r>
              <a:rPr sz="2200" spc="290" dirty="0">
                <a:latin typeface="Arial"/>
                <a:cs typeface="Arial"/>
              </a:rPr>
              <a:t>2,	9,	4,	</a:t>
            </a:r>
            <a:r>
              <a:rPr sz="2200" spc="295" dirty="0">
                <a:latin typeface="Arial"/>
                <a:cs typeface="Arial"/>
              </a:rPr>
              <a:t>7]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Char char="•"/>
              <a:tabLst>
                <a:tab pos="241300" algn="l"/>
                <a:tab pos="241935" algn="l"/>
                <a:tab pos="549275" algn="l"/>
                <a:tab pos="1934845" algn="l"/>
                <a:tab pos="2396490" algn="l"/>
                <a:tab pos="3166745" algn="l"/>
                <a:tab pos="3782695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155" dirty="0">
                <a:latin typeface="Arial"/>
                <a:cs typeface="Arial"/>
              </a:rPr>
              <a:t>Function	</a:t>
            </a:r>
            <a:r>
              <a:rPr sz="2200" spc="290" dirty="0">
                <a:latin typeface="Arial"/>
                <a:cs typeface="Arial"/>
              </a:rPr>
              <a:t>to	</a:t>
            </a:r>
            <a:r>
              <a:rPr sz="2200" spc="320" dirty="0">
                <a:latin typeface="Arial"/>
                <a:cs typeface="Arial"/>
              </a:rPr>
              <a:t>plot	</a:t>
            </a:r>
            <a:r>
              <a:rPr sz="2200" spc="190" dirty="0">
                <a:latin typeface="Arial"/>
                <a:cs typeface="Arial"/>
              </a:rPr>
              <a:t>the	</a:t>
            </a:r>
            <a:r>
              <a:rPr sz="2200" spc="150" dirty="0">
                <a:latin typeface="Arial"/>
                <a:cs typeface="Arial"/>
              </a:rPr>
              <a:t>bar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10"/>
              </a:spcBef>
              <a:buChar char="•"/>
              <a:tabLst>
                <a:tab pos="241300" algn="l"/>
                <a:tab pos="241935" algn="l"/>
              </a:tabLst>
            </a:pPr>
            <a:r>
              <a:rPr sz="2200" spc="340" dirty="0">
                <a:latin typeface="Arial"/>
                <a:cs typeface="Arial"/>
              </a:rPr>
              <a:t>plt.bar(x,y)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Char char="•"/>
              <a:tabLst>
                <a:tab pos="241300" algn="l"/>
                <a:tab pos="241935" algn="l"/>
                <a:tab pos="549275" algn="l"/>
                <a:tab pos="1934845" algn="l"/>
                <a:tab pos="2396490" algn="l"/>
                <a:tab pos="3166745" algn="l"/>
                <a:tab pos="3782695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245" dirty="0">
                <a:latin typeface="Arial"/>
                <a:cs typeface="Arial"/>
              </a:rPr>
              <a:t>function	</a:t>
            </a:r>
            <a:r>
              <a:rPr sz="2200" spc="290" dirty="0">
                <a:latin typeface="Arial"/>
                <a:cs typeface="Arial"/>
              </a:rPr>
              <a:t>to	</a:t>
            </a:r>
            <a:r>
              <a:rPr sz="2200" spc="-75" dirty="0">
                <a:latin typeface="Arial"/>
                <a:cs typeface="Arial"/>
              </a:rPr>
              <a:t>show	</a:t>
            </a:r>
            <a:r>
              <a:rPr sz="2200" spc="190" dirty="0">
                <a:latin typeface="Arial"/>
                <a:cs typeface="Arial"/>
              </a:rPr>
              <a:t>the	</a:t>
            </a:r>
            <a:r>
              <a:rPr sz="2200" spc="325" dirty="0">
                <a:latin typeface="Arial"/>
                <a:cs typeface="Arial"/>
              </a:rPr>
              <a:t>plot</a:t>
            </a:r>
            <a:endParaRPr sz="2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  <a:tab pos="241935" algn="l"/>
              </a:tabLst>
            </a:pPr>
            <a:r>
              <a:rPr sz="2200" spc="250" dirty="0">
                <a:latin typeface="Arial"/>
                <a:cs typeface="Arial"/>
              </a:rPr>
              <a:t>plt.show()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552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Histogram</a:t>
            </a:r>
            <a:r>
              <a:rPr spc="-535" dirty="0"/>
              <a:t> </a:t>
            </a:r>
            <a:r>
              <a:rPr spc="-459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7457"/>
            <a:ext cx="6771640" cy="49091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65"/>
              </a:spcBef>
              <a:buChar char="•"/>
              <a:tabLst>
                <a:tab pos="241935" algn="l"/>
                <a:tab pos="603885" algn="l"/>
                <a:tab pos="2414270" algn="l"/>
                <a:tab pos="4404995" algn="l"/>
              </a:tabLst>
            </a:pPr>
            <a:r>
              <a:rPr sz="2600" spc="-15" dirty="0">
                <a:latin typeface="Arial"/>
                <a:cs typeface="Arial"/>
              </a:rPr>
              <a:t>#	</a:t>
            </a:r>
            <a:r>
              <a:rPr sz="2600" spc="235" dirty="0">
                <a:latin typeface="Arial"/>
                <a:cs typeface="Arial"/>
              </a:rPr>
              <a:t>importing	</a:t>
            </a:r>
            <a:r>
              <a:rPr sz="2600" spc="305" dirty="0">
                <a:latin typeface="Arial"/>
                <a:cs typeface="Arial"/>
              </a:rPr>
              <a:t>matplotlib	</a:t>
            </a:r>
            <a:r>
              <a:rPr sz="2600" dirty="0">
                <a:latin typeface="Arial"/>
                <a:cs typeface="Arial"/>
              </a:rPr>
              <a:t>module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Char char="•"/>
              <a:tabLst>
                <a:tab pos="241935" algn="l"/>
                <a:tab pos="1146175" algn="l"/>
                <a:tab pos="3136900" algn="l"/>
                <a:tab pos="4404995" algn="l"/>
                <a:tab pos="5671820" algn="l"/>
                <a:tab pos="6214110" algn="l"/>
              </a:tabLst>
            </a:pPr>
            <a:r>
              <a:rPr sz="2600" spc="95" dirty="0">
                <a:latin typeface="Arial"/>
                <a:cs typeface="Arial"/>
              </a:rPr>
              <a:t>fro</a:t>
            </a:r>
            <a:r>
              <a:rPr sz="2600" spc="220" dirty="0">
                <a:latin typeface="Arial"/>
                <a:cs typeface="Arial"/>
              </a:rPr>
              <a:t>m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450" dirty="0">
                <a:latin typeface="Arial"/>
                <a:cs typeface="Arial"/>
              </a:rPr>
              <a:t>m</a:t>
            </a:r>
            <a:r>
              <a:rPr sz="2600" spc="-310" dirty="0">
                <a:latin typeface="Arial"/>
                <a:cs typeface="Arial"/>
              </a:rPr>
              <a:t>a</a:t>
            </a:r>
            <a:r>
              <a:rPr sz="2600" spc="690" dirty="0">
                <a:latin typeface="Arial"/>
                <a:cs typeface="Arial"/>
              </a:rPr>
              <a:t>t</a:t>
            </a:r>
            <a:r>
              <a:rPr sz="2600" spc="600" dirty="0">
                <a:latin typeface="Arial"/>
                <a:cs typeface="Arial"/>
              </a:rPr>
              <a:t>p</a:t>
            </a:r>
            <a:r>
              <a:rPr sz="2600" spc="229" dirty="0">
                <a:latin typeface="Arial"/>
                <a:cs typeface="Arial"/>
              </a:rPr>
              <a:t>l</a:t>
            </a:r>
            <a:r>
              <a:rPr sz="2600" spc="465" dirty="0">
                <a:latin typeface="Arial"/>
                <a:cs typeface="Arial"/>
              </a:rPr>
              <a:t>o</a:t>
            </a:r>
            <a:r>
              <a:rPr sz="2600" spc="220" dirty="0">
                <a:latin typeface="Arial"/>
                <a:cs typeface="Arial"/>
              </a:rPr>
              <a:t>t</a:t>
            </a:r>
            <a:r>
              <a:rPr sz="2600" spc="835" dirty="0">
                <a:latin typeface="Arial"/>
                <a:cs typeface="Arial"/>
              </a:rPr>
              <a:t>l</a:t>
            </a:r>
            <a:r>
              <a:rPr sz="2600" spc="420" dirty="0">
                <a:latin typeface="Arial"/>
                <a:cs typeface="Arial"/>
              </a:rPr>
              <a:t>ib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25" dirty="0">
                <a:latin typeface="Arial"/>
                <a:cs typeface="Arial"/>
              </a:rPr>
              <a:t>i</a:t>
            </a:r>
            <a:r>
              <a:rPr sz="2600" spc="85" dirty="0">
                <a:latin typeface="Arial"/>
                <a:cs typeface="Arial"/>
              </a:rPr>
              <a:t>m</a:t>
            </a:r>
            <a:r>
              <a:rPr sz="2600" spc="-15" dirty="0">
                <a:latin typeface="Arial"/>
                <a:cs typeface="Arial"/>
              </a:rPr>
              <a:t>p</a:t>
            </a:r>
            <a:r>
              <a:rPr sz="2600" spc="-25" dirty="0">
                <a:latin typeface="Arial"/>
                <a:cs typeface="Arial"/>
              </a:rPr>
              <a:t>o</a:t>
            </a:r>
            <a:r>
              <a:rPr sz="2600" spc="545" dirty="0">
                <a:latin typeface="Arial"/>
                <a:cs typeface="Arial"/>
              </a:rPr>
              <a:t>r</a:t>
            </a:r>
            <a:r>
              <a:rPr sz="2600" spc="710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55" dirty="0">
                <a:latin typeface="Arial"/>
                <a:cs typeface="Arial"/>
              </a:rPr>
              <a:t>y</a:t>
            </a:r>
            <a:r>
              <a:rPr sz="2600" spc="50" dirty="0">
                <a:latin typeface="Arial"/>
                <a:cs typeface="Arial"/>
              </a:rPr>
              <a:t>p</a:t>
            </a:r>
            <a:r>
              <a:rPr sz="2600" spc="240" dirty="0">
                <a:latin typeface="Arial"/>
                <a:cs typeface="Arial"/>
              </a:rPr>
              <a:t>l</a:t>
            </a:r>
            <a:r>
              <a:rPr sz="2600" spc="590" dirty="0">
                <a:latin typeface="Arial"/>
                <a:cs typeface="Arial"/>
              </a:rPr>
              <a:t>o</a:t>
            </a:r>
            <a:r>
              <a:rPr sz="2600" spc="710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60" dirty="0">
                <a:latin typeface="Arial"/>
                <a:cs typeface="Arial"/>
              </a:rPr>
              <a:t>as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509" dirty="0">
                <a:latin typeface="Arial"/>
                <a:cs typeface="Arial"/>
              </a:rPr>
              <a:t>plt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Char char="•"/>
              <a:tabLst>
                <a:tab pos="241935" algn="l"/>
                <a:tab pos="603885" algn="l"/>
                <a:tab pos="1871345" algn="l"/>
              </a:tabLst>
            </a:pPr>
            <a:r>
              <a:rPr sz="2600" spc="-15" dirty="0">
                <a:latin typeface="Arial"/>
                <a:cs typeface="Arial"/>
              </a:rPr>
              <a:t>#	</a:t>
            </a:r>
            <a:r>
              <a:rPr sz="2600" spc="220" dirty="0">
                <a:latin typeface="Arial"/>
                <a:cs typeface="Arial"/>
              </a:rPr>
              <a:t>Y-axis	</a:t>
            </a:r>
            <a:r>
              <a:rPr sz="2600" spc="170" dirty="0">
                <a:latin typeface="Arial"/>
                <a:cs typeface="Arial"/>
              </a:rPr>
              <a:t>values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Char char="•"/>
              <a:tabLst>
                <a:tab pos="241935" algn="l"/>
                <a:tab pos="603885" algn="l"/>
                <a:tab pos="967105" algn="l"/>
                <a:tab pos="1871345" algn="l"/>
                <a:tab pos="2414905" algn="l"/>
                <a:tab pos="2957830" algn="l"/>
                <a:tab pos="3500754" algn="l"/>
              </a:tabLst>
            </a:pPr>
            <a:r>
              <a:rPr sz="2600" spc="130" dirty="0">
                <a:latin typeface="Arial"/>
                <a:cs typeface="Arial"/>
              </a:rPr>
              <a:t>y	</a:t>
            </a:r>
            <a:r>
              <a:rPr sz="2600" spc="-90" dirty="0">
                <a:latin typeface="Arial"/>
                <a:cs typeface="Arial"/>
              </a:rPr>
              <a:t>=	</a:t>
            </a:r>
            <a:r>
              <a:rPr sz="2600" spc="340" dirty="0">
                <a:latin typeface="Arial"/>
                <a:cs typeface="Arial"/>
              </a:rPr>
              <a:t>[10,	5,	</a:t>
            </a:r>
            <a:r>
              <a:rPr sz="2600" spc="335" dirty="0">
                <a:latin typeface="Arial"/>
                <a:cs typeface="Arial"/>
              </a:rPr>
              <a:t>8,	4,	</a:t>
            </a:r>
            <a:r>
              <a:rPr sz="2600" spc="345" dirty="0">
                <a:latin typeface="Arial"/>
                <a:cs typeface="Arial"/>
              </a:rPr>
              <a:t>2]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Char char="•"/>
              <a:tabLst>
                <a:tab pos="241935" algn="l"/>
                <a:tab pos="603885" algn="l"/>
                <a:tab pos="2233930" algn="l"/>
                <a:tab pos="2776855" algn="l"/>
                <a:tab pos="3682365" algn="l"/>
              </a:tabLst>
            </a:pPr>
            <a:r>
              <a:rPr sz="2600" spc="-15" dirty="0">
                <a:latin typeface="Arial"/>
                <a:cs typeface="Arial"/>
              </a:rPr>
              <a:t>#	</a:t>
            </a:r>
            <a:r>
              <a:rPr sz="2600" spc="175" dirty="0">
                <a:latin typeface="Arial"/>
                <a:cs typeface="Arial"/>
              </a:rPr>
              <a:t>Function	</a:t>
            </a:r>
            <a:r>
              <a:rPr sz="2600" spc="340" dirty="0">
                <a:latin typeface="Arial"/>
                <a:cs typeface="Arial"/>
              </a:rPr>
              <a:t>to	</a:t>
            </a:r>
            <a:r>
              <a:rPr sz="2600" spc="375" dirty="0">
                <a:latin typeface="Arial"/>
                <a:cs typeface="Arial"/>
              </a:rPr>
              <a:t>plot	</a:t>
            </a:r>
            <a:r>
              <a:rPr sz="2600" spc="155" dirty="0">
                <a:latin typeface="Arial"/>
                <a:cs typeface="Arial"/>
              </a:rPr>
              <a:t>histogram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Char char="•"/>
              <a:tabLst>
                <a:tab pos="241935" algn="l"/>
              </a:tabLst>
            </a:pPr>
            <a:r>
              <a:rPr sz="2600" spc="465" dirty="0">
                <a:latin typeface="Arial"/>
                <a:cs typeface="Arial"/>
              </a:rPr>
              <a:t>plt.hist(y)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Char char="•"/>
              <a:tabLst>
                <a:tab pos="241935" algn="l"/>
                <a:tab pos="603885" algn="l"/>
                <a:tab pos="2233930" algn="l"/>
                <a:tab pos="2776855" algn="l"/>
                <a:tab pos="3682365" algn="l"/>
                <a:tab pos="4406265" algn="l"/>
              </a:tabLst>
            </a:pPr>
            <a:r>
              <a:rPr sz="2600" spc="-15" dirty="0">
                <a:latin typeface="Arial"/>
                <a:cs typeface="Arial"/>
              </a:rPr>
              <a:t>#	</a:t>
            </a:r>
            <a:r>
              <a:rPr sz="2600" spc="175" dirty="0">
                <a:latin typeface="Arial"/>
                <a:cs typeface="Arial"/>
              </a:rPr>
              <a:t>Function	</a:t>
            </a:r>
            <a:r>
              <a:rPr sz="2600" spc="340" dirty="0">
                <a:latin typeface="Arial"/>
                <a:cs typeface="Arial"/>
              </a:rPr>
              <a:t>to	</a:t>
            </a:r>
            <a:r>
              <a:rPr sz="2600" spc="-95" dirty="0">
                <a:latin typeface="Arial"/>
                <a:cs typeface="Arial"/>
              </a:rPr>
              <a:t>show	</a:t>
            </a:r>
            <a:r>
              <a:rPr sz="2600" spc="215" dirty="0">
                <a:latin typeface="Arial"/>
                <a:cs typeface="Arial"/>
              </a:rPr>
              <a:t>the	</a:t>
            </a:r>
            <a:r>
              <a:rPr sz="2600" spc="375" dirty="0">
                <a:latin typeface="Arial"/>
                <a:cs typeface="Arial"/>
              </a:rPr>
              <a:t>plot</a:t>
            </a:r>
            <a:endParaRPr sz="2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Char char="•"/>
              <a:tabLst>
                <a:tab pos="241935" algn="l"/>
              </a:tabLst>
            </a:pPr>
            <a:r>
              <a:rPr sz="2600" spc="295" dirty="0">
                <a:latin typeface="Arial"/>
                <a:cs typeface="Arial"/>
              </a:rPr>
              <a:t>plt.show()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8232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Scatter </a:t>
            </a:r>
            <a:r>
              <a:rPr spc="-250" dirty="0"/>
              <a:t>Plot</a:t>
            </a:r>
            <a:r>
              <a:rPr spc="-605" dirty="0"/>
              <a:t> </a:t>
            </a:r>
            <a:r>
              <a:rPr spc="-459"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1416941"/>
          <a:ext cx="5832475" cy="685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75"/>
                <a:gridCol w="1076960"/>
                <a:gridCol w="461645"/>
                <a:gridCol w="569595"/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Char char="•"/>
                        <a:tabLst>
                          <a:tab pos="260350" algn="l"/>
                          <a:tab pos="260985" algn="l"/>
                          <a:tab pos="568325" algn="l"/>
                          <a:tab pos="2107565" algn="l"/>
                        </a:tabLst>
                      </a:pPr>
                      <a:r>
                        <a:rPr sz="2200" spc="-20" dirty="0">
                          <a:latin typeface="Arial"/>
                          <a:cs typeface="Arial"/>
                        </a:rPr>
                        <a:t>#	</a:t>
                      </a:r>
                      <a:r>
                        <a:rPr sz="2200" spc="204" dirty="0">
                          <a:latin typeface="Arial"/>
                          <a:cs typeface="Arial"/>
                        </a:rPr>
                        <a:t>importing	</a:t>
                      </a:r>
                      <a:r>
                        <a:rPr sz="2200" spc="265" dirty="0">
                          <a:latin typeface="Arial"/>
                          <a:cs typeface="Arial"/>
                        </a:rPr>
                        <a:t>matplotlib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430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module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Char char="•"/>
                        <a:tabLst>
                          <a:tab pos="260350" algn="l"/>
                          <a:tab pos="260985" algn="l"/>
                          <a:tab pos="1029969" algn="l"/>
                          <a:tab pos="2723515" algn="l"/>
                        </a:tabLst>
                      </a:pPr>
                      <a:r>
                        <a:rPr sz="2200" spc="110" dirty="0">
                          <a:latin typeface="Arial"/>
                          <a:cs typeface="Arial"/>
                        </a:rPr>
                        <a:t>from	</a:t>
                      </a:r>
                      <a:r>
                        <a:rPr sz="2200" spc="265" dirty="0">
                          <a:latin typeface="Arial"/>
                          <a:cs typeface="Arial"/>
                        </a:rPr>
                        <a:t>matplotlib	</a:t>
                      </a:r>
                      <a:r>
                        <a:rPr sz="2200" spc="190" dirty="0">
                          <a:latin typeface="Arial"/>
                          <a:cs typeface="Arial"/>
                        </a:rPr>
                        <a:t>import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pyplot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spc="50" dirty="0">
                          <a:latin typeface="Arial"/>
                          <a:cs typeface="Arial"/>
                        </a:rPr>
                        <a:t>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75"/>
                        </a:lnSpc>
                      </a:pPr>
                      <a:r>
                        <a:rPr sz="2200" spc="430" dirty="0">
                          <a:latin typeface="Arial"/>
                          <a:cs typeface="Arial"/>
                        </a:rPr>
                        <a:t>plt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3587371"/>
          <a:ext cx="3371849" cy="685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0"/>
                <a:gridCol w="1078230"/>
                <a:gridCol w="1000760"/>
                <a:gridCol w="384810"/>
                <a:gridCol w="416559"/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#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190" dirty="0">
                          <a:latin typeface="Arial"/>
                          <a:cs typeface="Arial"/>
                        </a:rPr>
                        <a:t>Y-axis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30"/>
                        </a:lnSpc>
                      </a:pPr>
                      <a:r>
                        <a:rPr sz="2200" spc="5" dirty="0">
                          <a:latin typeface="Arial"/>
                          <a:cs typeface="Arial"/>
                        </a:rPr>
                        <a:t>values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tabLst>
                          <a:tab pos="307975" algn="l"/>
                        </a:tabLst>
                      </a:pPr>
                      <a:r>
                        <a:rPr sz="2200" spc="-80" dirty="0">
                          <a:latin typeface="Arial"/>
                          <a:cs typeface="Arial"/>
                        </a:rPr>
                        <a:t>=	</a:t>
                      </a:r>
                      <a:r>
                        <a:rPr sz="2200" spc="295" dirty="0">
                          <a:latin typeface="Arial"/>
                          <a:cs typeface="Arial"/>
                        </a:rPr>
                        <a:t>[10,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  <a:tabLst>
                          <a:tab pos="538480" algn="l"/>
                        </a:tabLst>
                      </a:pPr>
                      <a:r>
                        <a:rPr sz="2200" spc="290" dirty="0">
                          <a:latin typeface="Arial"/>
                          <a:cs typeface="Arial"/>
                        </a:rPr>
                        <a:t>5,	</a:t>
                      </a:r>
                      <a:r>
                        <a:rPr sz="2200" spc="295" dirty="0">
                          <a:latin typeface="Arial"/>
                          <a:cs typeface="Arial"/>
                        </a:rPr>
                        <a:t>8,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5"/>
                        </a:lnSpc>
                      </a:pPr>
                      <a:r>
                        <a:rPr sz="2200" spc="295" dirty="0">
                          <a:latin typeface="Arial"/>
                          <a:cs typeface="Arial"/>
                        </a:rPr>
                        <a:t>4,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spc="295" dirty="0">
                          <a:latin typeface="Arial"/>
                          <a:cs typeface="Arial"/>
                        </a:rPr>
                        <a:t>2]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29639" y="2072156"/>
            <a:ext cx="4386580" cy="43681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15"/>
              </a:spcBef>
              <a:buChar char="•"/>
              <a:tabLst>
                <a:tab pos="228600" algn="l"/>
                <a:tab pos="229235" algn="l"/>
                <a:tab pos="536575" algn="l"/>
                <a:tab pos="1614170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250" dirty="0">
                <a:latin typeface="Arial"/>
                <a:cs typeface="Arial"/>
              </a:rPr>
              <a:t>x-axis	</a:t>
            </a:r>
            <a:r>
              <a:rPr sz="2200" spc="150" dirty="0">
                <a:latin typeface="Arial"/>
                <a:cs typeface="Arial"/>
              </a:rPr>
              <a:t>values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28600" algn="l"/>
                <a:tab pos="229235" algn="l"/>
                <a:tab pos="536575" algn="l"/>
                <a:tab pos="844550" algn="l"/>
                <a:tab pos="1460500" algn="l"/>
                <a:tab pos="1922145" algn="l"/>
                <a:tab pos="2383790" algn="l"/>
                <a:tab pos="2846070" algn="l"/>
              </a:tabLst>
            </a:pPr>
            <a:r>
              <a:rPr sz="2200" spc="105" dirty="0">
                <a:latin typeface="Arial"/>
                <a:cs typeface="Arial"/>
              </a:rPr>
              <a:t>x	</a:t>
            </a:r>
            <a:r>
              <a:rPr sz="2200" spc="-80" dirty="0">
                <a:latin typeface="Arial"/>
                <a:cs typeface="Arial"/>
              </a:rPr>
              <a:t>=	</a:t>
            </a:r>
            <a:r>
              <a:rPr sz="2200" spc="390" dirty="0">
                <a:latin typeface="Arial"/>
                <a:cs typeface="Arial"/>
              </a:rPr>
              <a:t>[5,	</a:t>
            </a:r>
            <a:r>
              <a:rPr sz="2200" spc="290" dirty="0">
                <a:latin typeface="Arial"/>
                <a:cs typeface="Arial"/>
              </a:rPr>
              <a:t>2,	9,	4,	7]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20"/>
              </a:spcBef>
              <a:buChar char="•"/>
              <a:tabLst>
                <a:tab pos="228600" algn="l"/>
                <a:tab pos="229235" algn="l"/>
                <a:tab pos="536575" algn="l"/>
                <a:tab pos="1922145" algn="l"/>
                <a:tab pos="2383790" algn="l"/>
                <a:tab pos="3154045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155" dirty="0">
                <a:latin typeface="Arial"/>
                <a:cs typeface="Arial"/>
              </a:rPr>
              <a:t>Function	</a:t>
            </a:r>
            <a:r>
              <a:rPr sz="2200" spc="290" dirty="0">
                <a:latin typeface="Arial"/>
                <a:cs typeface="Arial"/>
              </a:rPr>
              <a:t>to	</a:t>
            </a:r>
            <a:r>
              <a:rPr sz="2200" spc="320" dirty="0">
                <a:latin typeface="Arial"/>
                <a:cs typeface="Arial"/>
              </a:rPr>
              <a:t>plot	</a:t>
            </a:r>
            <a:r>
              <a:rPr sz="2200" spc="265" dirty="0">
                <a:latin typeface="Arial"/>
                <a:cs typeface="Arial"/>
              </a:rPr>
              <a:t>scatter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28600" algn="l"/>
                <a:tab pos="229235" algn="l"/>
                <a:tab pos="2537460" algn="l"/>
              </a:tabLst>
            </a:pPr>
            <a:r>
              <a:rPr sz="2200" spc="350" dirty="0">
                <a:latin typeface="Arial"/>
                <a:cs typeface="Arial"/>
              </a:rPr>
              <a:t>plt.scatter(x,	</a:t>
            </a:r>
            <a:r>
              <a:rPr sz="2200" spc="295" dirty="0">
                <a:latin typeface="Arial"/>
                <a:cs typeface="Arial"/>
              </a:rPr>
              <a:t>y)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19"/>
              </a:spcBef>
              <a:buChar char="•"/>
              <a:tabLst>
                <a:tab pos="228600" algn="l"/>
                <a:tab pos="229235" algn="l"/>
                <a:tab pos="536575" algn="l"/>
                <a:tab pos="1922145" algn="l"/>
                <a:tab pos="2383790" algn="l"/>
                <a:tab pos="3154045" algn="l"/>
                <a:tab pos="3769995" algn="l"/>
              </a:tabLst>
            </a:pPr>
            <a:r>
              <a:rPr sz="2200" spc="-20" dirty="0">
                <a:latin typeface="Arial"/>
                <a:cs typeface="Arial"/>
              </a:rPr>
              <a:t>#	</a:t>
            </a:r>
            <a:r>
              <a:rPr sz="2200" spc="235" dirty="0">
                <a:latin typeface="Arial"/>
                <a:cs typeface="Arial"/>
              </a:rPr>
              <a:t>functio</a:t>
            </a:r>
            <a:r>
              <a:rPr sz="2200" spc="31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95" dirty="0">
                <a:latin typeface="Arial"/>
                <a:cs typeface="Arial"/>
              </a:rPr>
              <a:t>t</a:t>
            </a:r>
            <a:r>
              <a:rPr sz="2200" spc="38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sho</a:t>
            </a:r>
            <a:r>
              <a:rPr sz="2200" spc="-95" dirty="0">
                <a:latin typeface="Arial"/>
                <a:cs typeface="Arial"/>
              </a:rPr>
              <a:t>w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70" dirty="0">
                <a:latin typeface="Arial"/>
                <a:cs typeface="Arial"/>
              </a:rPr>
              <a:t>th</a:t>
            </a:r>
            <a:r>
              <a:rPr sz="2200" spc="22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325" dirty="0">
                <a:latin typeface="Arial"/>
                <a:cs typeface="Arial"/>
              </a:rPr>
              <a:t>plot</a:t>
            </a:r>
            <a:endParaRPr sz="2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228600" algn="l"/>
                <a:tab pos="229235" algn="l"/>
              </a:tabLst>
            </a:pPr>
            <a:r>
              <a:rPr sz="2200" spc="250" dirty="0">
                <a:latin typeface="Arial"/>
                <a:cs typeface="Arial"/>
              </a:rPr>
              <a:t>plt.show()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2194" y="582168"/>
            <a:ext cx="9553193" cy="5594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9867" y="961644"/>
            <a:ext cx="9975921" cy="498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0013" y="336245"/>
            <a:ext cx="4084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rlito"/>
                <a:cs typeface="Carlito"/>
              </a:rPr>
              <a:t>Functional</a:t>
            </a:r>
            <a:r>
              <a:rPr sz="3600" b="1" spc="-70" dirty="0">
                <a:latin typeface="Carlito"/>
                <a:cs typeface="Carlito"/>
              </a:rPr>
              <a:t> </a:t>
            </a:r>
            <a:r>
              <a:rPr sz="3600" b="1" spc="-5" dirty="0">
                <a:latin typeface="Carlito"/>
                <a:cs typeface="Carlito"/>
              </a:rPr>
              <a:t>Approach:</a:t>
            </a:r>
            <a:endParaRPr sz="3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2459" y="589787"/>
            <a:ext cx="10254996" cy="553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403" y="595375"/>
            <a:ext cx="10313035" cy="43630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470"/>
              </a:spcBef>
            </a:pPr>
            <a:r>
              <a:rPr sz="2800" spc="-5" dirty="0">
                <a:latin typeface="Arial"/>
                <a:cs typeface="Arial"/>
              </a:rPr>
              <a:t>Matplotlib allows </a:t>
            </a:r>
            <a:r>
              <a:rPr sz="2800" dirty="0">
                <a:latin typeface="Arial"/>
                <a:cs typeface="Arial"/>
              </a:rPr>
              <a:t>us </a:t>
            </a:r>
            <a:r>
              <a:rPr sz="2800" spc="-5" dirty="0">
                <a:latin typeface="Arial"/>
                <a:cs typeface="Arial"/>
              </a:rPr>
              <a:t>easily create </a:t>
            </a:r>
            <a:r>
              <a:rPr sz="2800" dirty="0">
                <a:latin typeface="Arial"/>
                <a:cs typeface="Arial"/>
              </a:rPr>
              <a:t>multi-plots </a:t>
            </a:r>
            <a:r>
              <a:rPr sz="2800" spc="-5" dirty="0">
                <a:latin typeface="Arial"/>
                <a:cs typeface="Arial"/>
              </a:rPr>
              <a:t>on the same figure  using the </a:t>
            </a:r>
            <a:r>
              <a:rPr sz="2800" dirty="0">
                <a:latin typeface="Arial"/>
                <a:cs typeface="Arial"/>
              </a:rPr>
              <a:t>.subplot() </a:t>
            </a:r>
            <a:r>
              <a:rPr sz="2800" spc="-5" dirty="0">
                <a:latin typeface="Arial"/>
                <a:cs typeface="Arial"/>
              </a:rPr>
              <a:t>method. This </a:t>
            </a:r>
            <a:r>
              <a:rPr sz="2800" dirty="0">
                <a:latin typeface="Arial"/>
                <a:cs typeface="Arial"/>
              </a:rPr>
              <a:t>.subplot() </a:t>
            </a:r>
            <a:r>
              <a:rPr sz="2800" spc="-5" dirty="0">
                <a:latin typeface="Arial"/>
                <a:cs typeface="Arial"/>
              </a:rPr>
              <a:t>method </a:t>
            </a:r>
            <a:r>
              <a:rPr sz="2800" dirty="0">
                <a:latin typeface="Arial"/>
                <a:cs typeface="Arial"/>
              </a:rPr>
              <a:t>takes </a:t>
            </a:r>
            <a:r>
              <a:rPr sz="2800" spc="-5" dirty="0">
                <a:latin typeface="Arial"/>
                <a:cs typeface="Arial"/>
              </a:rPr>
              <a:t>in </a:t>
            </a:r>
            <a:r>
              <a:rPr sz="2800" dirty="0">
                <a:latin typeface="Arial"/>
                <a:cs typeface="Arial"/>
              </a:rPr>
              <a:t>three  parameters,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namely:</a:t>
            </a:r>
            <a:endParaRPr sz="2800">
              <a:latin typeface="Arial"/>
              <a:cs typeface="Arial"/>
            </a:endParaRPr>
          </a:p>
          <a:p>
            <a:pPr marL="100330" marR="5279390">
              <a:lnSpc>
                <a:spcPct val="100000"/>
              </a:lnSpc>
              <a:spcBef>
                <a:spcPts val="1785"/>
              </a:spcBef>
              <a:buSzPct val="96875"/>
              <a:buChar char="•"/>
              <a:tabLst>
                <a:tab pos="243840" algn="l"/>
              </a:tabLst>
            </a:pPr>
            <a:r>
              <a:rPr sz="3200" dirty="0">
                <a:latin typeface="Arial"/>
                <a:cs typeface="Arial"/>
              </a:rPr>
              <a:t>nrows: </a:t>
            </a:r>
            <a:r>
              <a:rPr sz="3200" spc="-5" dirty="0">
                <a:latin typeface="Arial"/>
                <a:cs typeface="Arial"/>
              </a:rPr>
              <a:t>the number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rows  the Figure </a:t>
            </a:r>
            <a:r>
              <a:rPr sz="3200" spc="-5" dirty="0">
                <a:latin typeface="Arial"/>
                <a:cs typeface="Arial"/>
              </a:rPr>
              <a:t>should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have.</a:t>
            </a:r>
            <a:endParaRPr sz="3200">
              <a:latin typeface="Arial"/>
              <a:cs typeface="Arial"/>
            </a:endParaRPr>
          </a:p>
          <a:p>
            <a:pPr marL="100330" marR="4759960">
              <a:lnSpc>
                <a:spcPct val="100000"/>
              </a:lnSpc>
              <a:spcBef>
                <a:spcPts val="5"/>
              </a:spcBef>
              <a:buSzPct val="96875"/>
              <a:buChar char="•"/>
              <a:tabLst>
                <a:tab pos="243840" algn="l"/>
              </a:tabLst>
            </a:pPr>
            <a:r>
              <a:rPr sz="3200" dirty="0">
                <a:latin typeface="Arial"/>
                <a:cs typeface="Arial"/>
              </a:rPr>
              <a:t>ncols: the </a:t>
            </a:r>
            <a:r>
              <a:rPr sz="3200" spc="-5" dirty="0">
                <a:latin typeface="Arial"/>
                <a:cs typeface="Arial"/>
              </a:rPr>
              <a:t>number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columns  the </a:t>
            </a:r>
            <a:r>
              <a:rPr sz="3200" dirty="0">
                <a:latin typeface="Arial"/>
                <a:cs typeface="Arial"/>
              </a:rPr>
              <a:t>Figure </a:t>
            </a:r>
            <a:r>
              <a:rPr sz="3200" spc="-5" dirty="0">
                <a:latin typeface="Arial"/>
                <a:cs typeface="Arial"/>
              </a:rPr>
              <a:t>should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have.</a:t>
            </a:r>
            <a:endParaRPr sz="3200">
              <a:latin typeface="Arial"/>
              <a:cs typeface="Arial"/>
            </a:endParaRPr>
          </a:p>
          <a:p>
            <a:pPr marL="100330" marR="3023235">
              <a:lnSpc>
                <a:spcPct val="100000"/>
              </a:lnSpc>
              <a:buSzPct val="96875"/>
              <a:buChar char="•"/>
              <a:tabLst>
                <a:tab pos="243840" algn="l"/>
              </a:tabLst>
            </a:pPr>
            <a:r>
              <a:rPr sz="3200" spc="-5" dirty="0">
                <a:latin typeface="Arial"/>
                <a:cs typeface="Arial"/>
              </a:rPr>
              <a:t>plot_number </a:t>
            </a:r>
            <a:r>
              <a:rPr sz="3200" dirty="0">
                <a:latin typeface="Arial"/>
                <a:cs typeface="Arial"/>
              </a:rPr>
              <a:t>: </a:t>
            </a:r>
            <a:r>
              <a:rPr sz="3200" spc="-5" dirty="0">
                <a:latin typeface="Arial"/>
                <a:cs typeface="Arial"/>
              </a:rPr>
              <a:t>which refers </a:t>
            </a:r>
            <a:r>
              <a:rPr sz="3200" dirty="0">
                <a:latin typeface="Arial"/>
                <a:cs typeface="Arial"/>
              </a:rPr>
              <a:t>to a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specific  </a:t>
            </a:r>
            <a:r>
              <a:rPr sz="3200" dirty="0">
                <a:latin typeface="Arial"/>
                <a:cs typeface="Arial"/>
              </a:rPr>
              <a:t>pl</a:t>
            </a:r>
            <a:r>
              <a:rPr sz="3200" spc="-15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t in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</a:t>
            </a:r>
            <a:r>
              <a:rPr sz="3200" spc="-10" dirty="0">
                <a:latin typeface="Arial"/>
                <a:cs typeface="Arial"/>
              </a:rPr>
              <a:t>h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Fi</a:t>
            </a:r>
            <a:r>
              <a:rPr sz="3200" spc="-10" dirty="0">
                <a:latin typeface="Arial"/>
                <a:cs typeface="Arial"/>
              </a:rPr>
              <a:t>g</a:t>
            </a:r>
            <a:r>
              <a:rPr sz="3200" dirty="0">
                <a:latin typeface="Arial"/>
                <a:cs typeface="Arial"/>
              </a:rPr>
              <a:t>ur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301" y="792861"/>
            <a:ext cx="9899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Using </a:t>
            </a:r>
            <a:r>
              <a:rPr sz="2800" dirty="0">
                <a:latin typeface="Arial"/>
                <a:cs typeface="Arial"/>
              </a:rPr>
              <a:t>.subplot() </a:t>
            </a:r>
            <a:r>
              <a:rPr sz="2800" spc="-5" dirty="0">
                <a:latin typeface="Arial"/>
                <a:cs typeface="Arial"/>
              </a:rPr>
              <a:t>we will create a two </a:t>
            </a:r>
            <a:r>
              <a:rPr sz="2800" dirty="0">
                <a:latin typeface="Arial"/>
                <a:cs typeface="Arial"/>
              </a:rPr>
              <a:t>plots </a:t>
            </a:r>
            <a:r>
              <a:rPr sz="2800" spc="-5" dirty="0">
                <a:latin typeface="Arial"/>
                <a:cs typeface="Arial"/>
              </a:rPr>
              <a:t>on the same</a:t>
            </a:r>
            <a:r>
              <a:rPr sz="2800" spc="11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canvas</a:t>
            </a:r>
            <a:r>
              <a:rPr sz="1500" spc="5" dirty="0">
                <a:latin typeface="Arial"/>
                <a:cs typeface="Arial"/>
              </a:rPr>
              <a:t>: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1460" y="1554480"/>
            <a:ext cx="9187719" cy="4836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5720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10" dirty="0"/>
              <a:t>Object </a:t>
            </a:r>
            <a:r>
              <a:rPr spc="-240" dirty="0"/>
              <a:t>oriented</a:t>
            </a:r>
            <a:r>
              <a:rPr spc="-575" dirty="0"/>
              <a:t> </a:t>
            </a:r>
            <a:r>
              <a:rPr spc="-300" dirty="0"/>
              <a:t>Interface: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301" y="2320289"/>
            <a:ext cx="1005586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This is the </a:t>
            </a:r>
            <a:r>
              <a:rPr sz="2800" dirty="0">
                <a:latin typeface="Arial"/>
                <a:cs typeface="Arial"/>
              </a:rPr>
              <a:t>best </a:t>
            </a:r>
            <a:r>
              <a:rPr sz="2800" spc="-10" dirty="0">
                <a:latin typeface="Arial"/>
                <a:cs typeface="Arial"/>
              </a:rPr>
              <a:t>way </a:t>
            </a:r>
            <a:r>
              <a:rPr sz="2800" spc="-5" dirty="0">
                <a:latin typeface="Arial"/>
                <a:cs typeface="Arial"/>
              </a:rPr>
              <a:t>to create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plots.</a:t>
            </a:r>
            <a:endParaRPr sz="2800">
              <a:latin typeface="Arial"/>
              <a:cs typeface="Arial"/>
            </a:endParaRPr>
          </a:p>
          <a:p>
            <a:pPr marL="111760" marR="5080" indent="-9906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The idea </a:t>
            </a:r>
            <a:r>
              <a:rPr sz="2800" dirty="0">
                <a:latin typeface="Arial"/>
                <a:cs typeface="Arial"/>
              </a:rPr>
              <a:t>here </a:t>
            </a:r>
            <a:r>
              <a:rPr sz="2800" spc="-5" dirty="0">
                <a:latin typeface="Arial"/>
                <a:cs typeface="Arial"/>
              </a:rPr>
              <a:t>is to create Figure </a:t>
            </a:r>
            <a:r>
              <a:rPr sz="2800" dirty="0">
                <a:latin typeface="Arial"/>
                <a:cs typeface="Arial"/>
              </a:rPr>
              <a:t>objects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call </a:t>
            </a:r>
            <a:r>
              <a:rPr sz="2800" spc="-5" dirty="0">
                <a:latin typeface="Arial"/>
                <a:cs typeface="Arial"/>
              </a:rPr>
              <a:t>methods </a:t>
            </a:r>
            <a:r>
              <a:rPr sz="2800" spc="-15" dirty="0">
                <a:latin typeface="Arial"/>
                <a:cs typeface="Arial"/>
              </a:rPr>
              <a:t>off </a:t>
            </a:r>
            <a:r>
              <a:rPr sz="2800" spc="-5" dirty="0">
                <a:latin typeface="Arial"/>
                <a:cs typeface="Arial"/>
              </a:rPr>
              <a:t>it.  </a:t>
            </a:r>
            <a:r>
              <a:rPr sz="2800" spc="-15" dirty="0">
                <a:latin typeface="Arial"/>
                <a:cs typeface="Arial"/>
              </a:rPr>
              <a:t>Let’s </a:t>
            </a:r>
            <a:r>
              <a:rPr sz="2800" spc="-5" dirty="0">
                <a:latin typeface="Arial"/>
                <a:cs typeface="Arial"/>
              </a:rPr>
              <a:t>create a blank Figure using the </a:t>
            </a:r>
            <a:r>
              <a:rPr sz="2800" dirty="0">
                <a:latin typeface="Arial"/>
                <a:cs typeface="Arial"/>
              </a:rPr>
              <a:t>.figure()</a:t>
            </a:r>
            <a:r>
              <a:rPr sz="2800" spc="1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method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6996" y="4557591"/>
            <a:ext cx="10336719" cy="83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53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Next</a:t>
            </a:r>
            <a:r>
              <a:rPr spc="-409" dirty="0"/>
              <a:t> </a:t>
            </a:r>
            <a:r>
              <a:rPr spc="-220" dirty="0"/>
              <a:t>step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639" y="1707918"/>
            <a:ext cx="507301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286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29235" algn="l"/>
              </a:tabLst>
            </a:pPr>
            <a:r>
              <a:rPr sz="2800" spc="-10" dirty="0">
                <a:latin typeface="Carlito"/>
                <a:cs typeface="Carlito"/>
              </a:rPr>
              <a:t>Now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need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add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axes</a:t>
            </a:r>
            <a:endParaRPr sz="2800">
              <a:latin typeface="Carlito"/>
              <a:cs typeface="Carlito"/>
            </a:endParaRPr>
          </a:p>
          <a:p>
            <a:pPr marL="2286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29235" algn="l"/>
              </a:tabLst>
            </a:pPr>
            <a:r>
              <a:rPr sz="2800" spc="-15" dirty="0">
                <a:latin typeface="Carlito"/>
                <a:cs typeface="Carlito"/>
              </a:rPr>
              <a:t>.add_axes()</a:t>
            </a:r>
            <a:endParaRPr sz="2800">
              <a:latin typeface="Carlito"/>
              <a:cs typeface="Carlito"/>
            </a:endParaRPr>
          </a:p>
          <a:p>
            <a:pPr marL="228600" indent="-22923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29235" algn="l"/>
              </a:tabLst>
            </a:pPr>
            <a:r>
              <a:rPr sz="2800" spc="-10" dirty="0">
                <a:latin typeface="Carlito"/>
                <a:cs typeface="Carlito"/>
              </a:rPr>
              <a:t>(left, </a:t>
            </a:r>
            <a:r>
              <a:rPr sz="2800" spc="-20" dirty="0">
                <a:latin typeface="Carlito"/>
                <a:cs typeface="Carlito"/>
              </a:rPr>
              <a:t>bottom, </a:t>
            </a:r>
            <a:r>
              <a:rPr sz="2800" spc="-5" dirty="0">
                <a:latin typeface="Carlito"/>
                <a:cs typeface="Carlito"/>
              </a:rPr>
              <a:t>width, and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height)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98348"/>
            <a:ext cx="11058144" cy="5004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1708" y="365759"/>
            <a:ext cx="9878568" cy="59262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690116"/>
            <a:ext cx="9593580" cy="3081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86264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Something </a:t>
            </a:r>
            <a:r>
              <a:rPr spc="-225" dirty="0"/>
              <a:t>interesting </a:t>
            </a:r>
            <a:r>
              <a:rPr spc="-540" dirty="0"/>
              <a:t>, </a:t>
            </a:r>
            <a:r>
              <a:rPr spc="-225" dirty="0"/>
              <a:t>figure </a:t>
            </a:r>
            <a:r>
              <a:rPr spc="-200" dirty="0"/>
              <a:t>in</a:t>
            </a:r>
            <a:r>
              <a:rPr spc="-560" dirty="0"/>
              <a:t> </a:t>
            </a:r>
            <a:r>
              <a:rPr spc="-225" dirty="0"/>
              <a:t>figure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528997"/>
            <a:ext cx="9369552" cy="5071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" y="278891"/>
            <a:ext cx="10501884" cy="6195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30" dirty="0"/>
              <a:t>We</a:t>
            </a:r>
            <a:r>
              <a:rPr spc="-1010" dirty="0"/>
              <a:t> </a:t>
            </a:r>
            <a:r>
              <a:rPr spc="-240" dirty="0"/>
              <a:t>can </a:t>
            </a:r>
            <a:r>
              <a:rPr spc="-275" dirty="0"/>
              <a:t>create </a:t>
            </a:r>
            <a:r>
              <a:rPr spc="-240" dirty="0"/>
              <a:t>a </a:t>
            </a:r>
            <a:r>
              <a:rPr spc="-270" dirty="0"/>
              <a:t>matrix </a:t>
            </a:r>
            <a:r>
              <a:rPr spc="-200" dirty="0"/>
              <a:t>of </a:t>
            </a:r>
            <a:r>
              <a:rPr spc="-175" dirty="0"/>
              <a:t>subplot </a:t>
            </a:r>
            <a:r>
              <a:rPr spc="-225" dirty="0"/>
              <a:t>for </a:t>
            </a:r>
            <a:r>
              <a:rPr spc="-270" dirty="0"/>
              <a:t>example  </a:t>
            </a:r>
            <a:r>
              <a:rPr spc="140" dirty="0"/>
              <a:t>3*3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495044"/>
            <a:ext cx="9348216" cy="5187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07987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55" dirty="0"/>
              <a:t>Add </a:t>
            </a:r>
            <a:r>
              <a:rPr spc="-540" dirty="0"/>
              <a:t>,  </a:t>
            </a:r>
            <a:r>
              <a:rPr spc="-254" dirty="0"/>
              <a:t>plot.tight_layout()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434" y="1998040"/>
            <a:ext cx="916305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marR="333375" indent="-1270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The only </a:t>
            </a:r>
            <a:r>
              <a:rPr sz="3600" spc="-10" dirty="0">
                <a:latin typeface="Arial"/>
                <a:cs typeface="Arial"/>
              </a:rPr>
              <a:t>difference </a:t>
            </a:r>
            <a:r>
              <a:rPr sz="3600" dirty="0">
                <a:latin typeface="Arial"/>
                <a:cs typeface="Arial"/>
              </a:rPr>
              <a:t>between plt.figure()</a:t>
            </a:r>
            <a:r>
              <a:rPr sz="3600" spc="-10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and  plt.subplots() </a:t>
            </a:r>
            <a:r>
              <a:rPr sz="3600" spc="-5" dirty="0">
                <a:latin typeface="Arial"/>
                <a:cs typeface="Arial"/>
              </a:rPr>
              <a:t>is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that</a:t>
            </a:r>
            <a:endParaRPr sz="36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latin typeface="Arial"/>
                <a:cs typeface="Arial"/>
              </a:rPr>
              <a:t>plt.subplots() automatically</a:t>
            </a:r>
            <a:r>
              <a:rPr sz="3600" spc="-40" dirty="0">
                <a:latin typeface="Arial"/>
                <a:cs typeface="Arial"/>
              </a:rPr>
              <a:t> </a:t>
            </a:r>
            <a:r>
              <a:rPr sz="3600" spc="-5" dirty="0">
                <a:latin typeface="Arial"/>
                <a:cs typeface="Arial"/>
              </a:rPr>
              <a:t>does</a:t>
            </a:r>
            <a:endParaRPr sz="3600">
              <a:latin typeface="Arial"/>
              <a:cs typeface="Arial"/>
            </a:endParaRPr>
          </a:p>
          <a:p>
            <a:pPr marL="12700" marR="1012825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what </a:t>
            </a:r>
            <a:r>
              <a:rPr sz="3600" spc="-5" dirty="0">
                <a:latin typeface="Arial"/>
                <a:cs typeface="Arial"/>
              </a:rPr>
              <a:t>the </a:t>
            </a:r>
            <a:r>
              <a:rPr sz="3600" dirty="0">
                <a:latin typeface="Arial"/>
                <a:cs typeface="Arial"/>
              </a:rPr>
              <a:t>.add_axes() method of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spc="-5" dirty="0">
                <a:latin typeface="Arial"/>
                <a:cs typeface="Arial"/>
              </a:rPr>
              <a:t>.figure()  </a:t>
            </a:r>
            <a:r>
              <a:rPr sz="3600" dirty="0">
                <a:latin typeface="Arial"/>
                <a:cs typeface="Arial"/>
              </a:rPr>
              <a:t>will </a:t>
            </a:r>
            <a:r>
              <a:rPr sz="3600" spc="-5" dirty="0">
                <a:latin typeface="Arial"/>
                <a:cs typeface="Arial"/>
              </a:rPr>
              <a:t>do </a:t>
            </a:r>
            <a:r>
              <a:rPr sz="3600" dirty="0">
                <a:latin typeface="Arial"/>
                <a:cs typeface="Arial"/>
              </a:rPr>
              <a:t>for </a:t>
            </a:r>
            <a:r>
              <a:rPr sz="3600" spc="-5" dirty="0">
                <a:latin typeface="Arial"/>
                <a:cs typeface="Arial"/>
              </a:rPr>
              <a:t>you based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off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Arial"/>
                <a:cs typeface="Arial"/>
              </a:rPr>
              <a:t>the number </a:t>
            </a:r>
            <a:r>
              <a:rPr sz="3600" dirty="0">
                <a:latin typeface="Arial"/>
                <a:cs typeface="Arial"/>
              </a:rPr>
              <a:t>of </a:t>
            </a:r>
            <a:r>
              <a:rPr sz="3600" spc="-5" dirty="0">
                <a:latin typeface="Arial"/>
                <a:cs typeface="Arial"/>
              </a:rPr>
              <a:t>rows and columns you</a:t>
            </a:r>
            <a:r>
              <a:rPr sz="3600" spc="30" dirty="0">
                <a:latin typeface="Arial"/>
                <a:cs typeface="Arial"/>
              </a:rPr>
              <a:t> </a:t>
            </a:r>
            <a:r>
              <a:rPr sz="3600" spc="-35" dirty="0">
                <a:latin typeface="Arial"/>
                <a:cs typeface="Arial"/>
              </a:rPr>
              <a:t>specify.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691" y="434340"/>
            <a:ext cx="8843772" cy="61035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9490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Figure</a:t>
            </a:r>
            <a:r>
              <a:rPr spc="-430" dirty="0"/>
              <a:t> </a:t>
            </a:r>
            <a:r>
              <a:rPr spc="-340" dirty="0"/>
              <a:t>size,</a:t>
            </a:r>
            <a:r>
              <a:rPr spc="-409" dirty="0"/>
              <a:t> </a:t>
            </a:r>
            <a:r>
              <a:rPr spc="-250" dirty="0"/>
              <a:t>aspect</a:t>
            </a:r>
            <a:r>
              <a:rPr spc="-409" dirty="0"/>
              <a:t> </a:t>
            </a:r>
            <a:r>
              <a:rPr spc="-330" dirty="0"/>
              <a:t>ratio,</a:t>
            </a:r>
            <a:r>
              <a:rPr spc="-409" dirty="0"/>
              <a:t> </a:t>
            </a:r>
            <a:r>
              <a:rPr spc="-200" dirty="0"/>
              <a:t>and</a:t>
            </a:r>
            <a:r>
              <a:rPr spc="-415" dirty="0"/>
              <a:t> </a:t>
            </a:r>
            <a:r>
              <a:rPr spc="-155" dirty="0"/>
              <a:t>DPI</a:t>
            </a:r>
            <a:r>
              <a:rPr spc="-409" dirty="0"/>
              <a:t> </a:t>
            </a:r>
            <a:r>
              <a:rPr spc="-80" dirty="0"/>
              <a:t>IN</a:t>
            </a:r>
            <a:r>
              <a:rPr spc="-434" dirty="0"/>
              <a:t> </a:t>
            </a:r>
            <a:r>
              <a:rPr spc="-220" dirty="0"/>
              <a:t>FIGURE</a:t>
            </a:r>
          </a:p>
        </p:txBody>
      </p:sp>
      <p:sp>
        <p:nvSpPr>
          <p:cNvPr id="3" name="object 3"/>
          <p:cNvSpPr/>
          <p:nvPr/>
        </p:nvSpPr>
        <p:spPr>
          <a:xfrm>
            <a:off x="876067" y="1791093"/>
            <a:ext cx="10060156" cy="3534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927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IN</a:t>
            </a:r>
            <a:r>
              <a:rPr spc="-395" dirty="0"/>
              <a:t> </a:t>
            </a:r>
            <a:r>
              <a:rPr spc="-229" dirty="0"/>
              <a:t>SUBPLOTS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565901"/>
            <a:ext cx="9067800" cy="4805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1515"/>
            <a:ext cx="409194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25" dirty="0">
                <a:latin typeface="Trebuchet MS"/>
                <a:cs typeface="Trebuchet MS"/>
              </a:rPr>
              <a:t>THE </a:t>
            </a:r>
            <a:r>
              <a:rPr sz="2000" spc="-110" dirty="0">
                <a:latin typeface="Trebuchet MS"/>
                <a:cs typeface="Trebuchet MS"/>
              </a:rPr>
              <a:t>BROTHER </a:t>
            </a:r>
            <a:r>
              <a:rPr sz="2000" spc="-65" dirty="0">
                <a:latin typeface="Trebuchet MS"/>
                <a:cs typeface="Trebuchet MS"/>
              </a:rPr>
              <a:t>CAN </a:t>
            </a:r>
            <a:r>
              <a:rPr sz="2000" spc="-90" dirty="0">
                <a:latin typeface="Trebuchet MS"/>
                <a:cs typeface="Trebuchet MS"/>
              </a:rPr>
              <a:t>SAVE </a:t>
            </a:r>
            <a:r>
              <a:rPr sz="2000" spc="-100" dirty="0">
                <a:latin typeface="Trebuchet MS"/>
                <a:cs typeface="Trebuchet MS"/>
              </a:rPr>
              <a:t>PICTURE </a:t>
            </a:r>
            <a:r>
              <a:rPr sz="2000" spc="-80" dirty="0">
                <a:latin typeface="Trebuchet MS"/>
                <a:cs typeface="Trebuchet MS"/>
              </a:rPr>
              <a:t>ALSO  </a:t>
            </a:r>
            <a:r>
              <a:rPr sz="2000" spc="-65" dirty="0">
                <a:latin typeface="Trebuchet MS"/>
                <a:cs typeface="Trebuchet MS"/>
              </a:rPr>
              <a:t>VIA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130"/>
              </a:lnSpc>
            </a:pPr>
            <a:r>
              <a:rPr sz="2000" spc="-105" dirty="0">
                <a:solidFill>
                  <a:srgbClr val="FF0000"/>
                </a:solidFill>
                <a:latin typeface="Trebuchet MS"/>
                <a:cs typeface="Trebuchet MS"/>
              </a:rPr>
              <a:t>FIG.SAVEFIG(‘NAME.PNG’)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4223" y="1421655"/>
            <a:ext cx="9735216" cy="5029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09981"/>
            <a:ext cx="10125075" cy="425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>
                <a:latin typeface="Trebuchet MS"/>
                <a:cs typeface="Trebuchet MS"/>
              </a:rPr>
              <a:t>Legends</a:t>
            </a:r>
            <a:endParaRPr sz="4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Trebuchet MS"/>
              <a:cs typeface="Trebuchet MS"/>
            </a:endParaRPr>
          </a:p>
          <a:p>
            <a:pPr marL="241300" marR="5080" indent="-229235">
              <a:lnSpc>
                <a:spcPct val="90000"/>
              </a:lnSpc>
              <a:buFont typeface="Arial"/>
              <a:buChar char="•"/>
              <a:tabLst>
                <a:tab pos="241935" algn="l"/>
              </a:tabLst>
            </a:pPr>
            <a:r>
              <a:rPr sz="4400" spc="-10" dirty="0">
                <a:latin typeface="Carlito"/>
                <a:cs typeface="Carlito"/>
              </a:rPr>
              <a:t>Legends allows </a:t>
            </a:r>
            <a:r>
              <a:rPr sz="4400" spc="-5" dirty="0">
                <a:latin typeface="Carlito"/>
                <a:cs typeface="Carlito"/>
              </a:rPr>
              <a:t>us </a:t>
            </a:r>
            <a:r>
              <a:rPr sz="4400" spc="-25" dirty="0">
                <a:latin typeface="Carlito"/>
                <a:cs typeface="Carlito"/>
              </a:rPr>
              <a:t>to </a:t>
            </a:r>
            <a:r>
              <a:rPr sz="4400" spc="-5" dirty="0">
                <a:latin typeface="Carlito"/>
                <a:cs typeface="Carlito"/>
              </a:rPr>
              <a:t>distinguish </a:t>
            </a:r>
            <a:r>
              <a:rPr sz="4400" spc="-10" dirty="0">
                <a:latin typeface="Carlito"/>
                <a:cs typeface="Carlito"/>
              </a:rPr>
              <a:t>between  </a:t>
            </a:r>
            <a:r>
              <a:rPr sz="4400" spc="-5" dirty="0">
                <a:latin typeface="Carlito"/>
                <a:cs typeface="Carlito"/>
              </a:rPr>
              <a:t>plots. </a:t>
            </a:r>
            <a:r>
              <a:rPr sz="4400" dirty="0">
                <a:latin typeface="Carlito"/>
                <a:cs typeface="Carlito"/>
              </a:rPr>
              <a:t>With </a:t>
            </a:r>
            <a:r>
              <a:rPr sz="4400" spc="-5" dirty="0">
                <a:latin typeface="Carlito"/>
                <a:cs typeface="Carlito"/>
              </a:rPr>
              <a:t>Legends, </a:t>
            </a:r>
            <a:r>
              <a:rPr sz="4400" spc="-20" dirty="0">
                <a:latin typeface="Carlito"/>
                <a:cs typeface="Carlito"/>
              </a:rPr>
              <a:t>you </a:t>
            </a:r>
            <a:r>
              <a:rPr sz="4400" spc="-15" dirty="0">
                <a:latin typeface="Carlito"/>
                <a:cs typeface="Carlito"/>
              </a:rPr>
              <a:t>can </a:t>
            </a:r>
            <a:r>
              <a:rPr sz="4400" spc="-5" dirty="0">
                <a:latin typeface="Carlito"/>
                <a:cs typeface="Carlito"/>
              </a:rPr>
              <a:t>use label </a:t>
            </a:r>
            <a:r>
              <a:rPr sz="4400" spc="-25" dirty="0">
                <a:latin typeface="Carlito"/>
                <a:cs typeface="Carlito"/>
              </a:rPr>
              <a:t>texts  to </a:t>
            </a:r>
            <a:r>
              <a:rPr sz="4400" dirty="0">
                <a:latin typeface="Carlito"/>
                <a:cs typeface="Carlito"/>
              </a:rPr>
              <a:t>identify </a:t>
            </a:r>
            <a:r>
              <a:rPr sz="4400" spc="-5" dirty="0">
                <a:latin typeface="Carlito"/>
                <a:cs typeface="Carlito"/>
              </a:rPr>
              <a:t>or </a:t>
            </a:r>
            <a:r>
              <a:rPr sz="4400" spc="-25" dirty="0">
                <a:latin typeface="Carlito"/>
                <a:cs typeface="Carlito"/>
              </a:rPr>
              <a:t>differentiate </a:t>
            </a:r>
            <a:r>
              <a:rPr sz="4400" spc="-5" dirty="0">
                <a:latin typeface="Carlito"/>
                <a:cs typeface="Carlito"/>
              </a:rPr>
              <a:t>one plot </a:t>
            </a:r>
            <a:r>
              <a:rPr sz="4400" spc="-20" dirty="0">
                <a:latin typeface="Carlito"/>
                <a:cs typeface="Carlito"/>
              </a:rPr>
              <a:t>from  </a:t>
            </a:r>
            <a:r>
              <a:rPr sz="4400" spc="-55" dirty="0">
                <a:latin typeface="Carlito"/>
                <a:cs typeface="Carlito"/>
              </a:rPr>
              <a:t>another. </a:t>
            </a:r>
            <a:r>
              <a:rPr sz="4400" spc="-25" dirty="0">
                <a:latin typeface="Carlito"/>
                <a:cs typeface="Carlito"/>
              </a:rPr>
              <a:t>For </a:t>
            </a:r>
            <a:r>
              <a:rPr sz="4400" spc="-20" dirty="0">
                <a:latin typeface="Carlito"/>
                <a:cs typeface="Carlito"/>
              </a:rPr>
              <a:t>example, </a:t>
            </a:r>
            <a:r>
              <a:rPr sz="4400" spc="-30" dirty="0">
                <a:latin typeface="Carlito"/>
                <a:cs typeface="Carlito"/>
              </a:rPr>
              <a:t>say </a:t>
            </a:r>
            <a:r>
              <a:rPr sz="4400" spc="-25" dirty="0">
                <a:latin typeface="Carlito"/>
                <a:cs typeface="Carlito"/>
              </a:rPr>
              <a:t>we </a:t>
            </a:r>
            <a:r>
              <a:rPr sz="4400" spc="-30" dirty="0">
                <a:latin typeface="Carlito"/>
                <a:cs typeface="Carlito"/>
              </a:rPr>
              <a:t>have </a:t>
            </a:r>
            <a:r>
              <a:rPr sz="4400" dirty="0">
                <a:latin typeface="Carlito"/>
                <a:cs typeface="Carlito"/>
              </a:rPr>
              <a:t>a </a:t>
            </a:r>
            <a:r>
              <a:rPr sz="4400" spc="-15" dirty="0">
                <a:latin typeface="Carlito"/>
                <a:cs typeface="Carlito"/>
              </a:rPr>
              <a:t>figure  having two </a:t>
            </a:r>
            <a:r>
              <a:rPr sz="4400" dirty="0">
                <a:latin typeface="Carlito"/>
                <a:cs typeface="Carlito"/>
              </a:rPr>
              <a:t>plots </a:t>
            </a:r>
            <a:r>
              <a:rPr sz="4400" spc="-35" dirty="0">
                <a:latin typeface="Carlito"/>
                <a:cs typeface="Carlito"/>
              </a:rPr>
              <a:t>like</a:t>
            </a:r>
            <a:r>
              <a:rPr sz="4400" spc="15" dirty="0">
                <a:latin typeface="Carlito"/>
                <a:cs typeface="Carlito"/>
              </a:rPr>
              <a:t> </a:t>
            </a:r>
            <a:r>
              <a:rPr sz="4400" spc="-5" dirty="0">
                <a:latin typeface="Carlito"/>
                <a:cs typeface="Carlito"/>
              </a:rPr>
              <a:t>below:</a:t>
            </a:r>
            <a:endParaRPr sz="4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7926" y="303226"/>
            <a:ext cx="9566233" cy="5751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1363" y="258478"/>
            <a:ext cx="9581187" cy="5911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0383" y="609981"/>
            <a:ext cx="2267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Plot</a:t>
            </a:r>
            <a:r>
              <a:rPr spc="-480" dirty="0"/>
              <a:t> </a:t>
            </a:r>
            <a:r>
              <a:rPr spc="-30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178415" cy="1433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HISTOGRAM</a:t>
            </a:r>
            <a:endParaRPr sz="2800">
              <a:latin typeface="Carlito"/>
              <a:cs typeface="Carlito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rlito"/>
                <a:cs typeface="Carlito"/>
              </a:rPr>
              <a:t>HELPS US </a:t>
            </a:r>
            <a:r>
              <a:rPr sz="2800" spc="-30" dirty="0">
                <a:latin typeface="Carlito"/>
                <a:cs typeface="Carlito"/>
              </a:rPr>
              <a:t>UNDERSTAND </a:t>
            </a:r>
            <a:r>
              <a:rPr sz="2800" spc="-5" dirty="0">
                <a:latin typeface="Carlito"/>
                <a:cs typeface="Carlito"/>
              </a:rPr>
              <a:t>THE DISTRIBUTION OF NUMERIC </a:t>
            </a:r>
            <a:r>
              <a:rPr sz="2800" spc="-45" dirty="0">
                <a:latin typeface="Carlito"/>
                <a:cs typeface="Carlito"/>
              </a:rPr>
              <a:t>VALUE </a:t>
            </a:r>
            <a:r>
              <a:rPr sz="2800" spc="-5" dirty="0">
                <a:latin typeface="Carlito"/>
                <a:cs typeface="Carlito"/>
              </a:rPr>
              <a:t>IN A  </a:t>
            </a:r>
            <a:r>
              <a:rPr sz="2800" spc="-120" dirty="0">
                <a:latin typeface="Carlito"/>
                <a:cs typeface="Carlito"/>
              </a:rPr>
              <a:t>WAY </a:t>
            </a:r>
            <a:r>
              <a:rPr sz="2800" spc="-60" dirty="0">
                <a:latin typeface="Carlito"/>
                <a:cs typeface="Carlito"/>
              </a:rPr>
              <a:t>THAT </a:t>
            </a:r>
            <a:r>
              <a:rPr sz="2800" spc="-35" dirty="0">
                <a:latin typeface="Carlito"/>
                <a:cs typeface="Carlito"/>
              </a:rPr>
              <a:t>YOU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30" dirty="0">
                <a:latin typeface="Carlito"/>
                <a:cs typeface="Carlito"/>
              </a:rPr>
              <a:t>NOT </a:t>
            </a:r>
            <a:r>
              <a:rPr sz="2800" spc="-10" dirty="0">
                <a:latin typeface="Carlito"/>
                <a:cs typeface="Carlito"/>
              </a:rPr>
              <a:t>DO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0" dirty="0">
                <a:latin typeface="Carlito"/>
                <a:cs typeface="Carlito"/>
              </a:rPr>
              <a:t>MEAN </a:t>
            </a:r>
            <a:r>
              <a:rPr sz="2800" spc="-5" dirty="0">
                <a:latin typeface="Carlito"/>
                <a:cs typeface="Carlito"/>
              </a:rPr>
              <a:t>, MEDIAN ,</a:t>
            </a:r>
            <a:r>
              <a:rPr sz="2800" spc="3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3647" y="467770"/>
            <a:ext cx="10204704" cy="56998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4872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Time </a:t>
            </a:r>
            <a:r>
              <a:rPr spc="-204" dirty="0"/>
              <a:t>series </a:t>
            </a:r>
            <a:r>
              <a:rPr spc="-285" dirty="0"/>
              <a:t>(Line</a:t>
            </a:r>
            <a:r>
              <a:rPr spc="-815" dirty="0"/>
              <a:t> </a:t>
            </a:r>
            <a:r>
              <a:rPr spc="-265" dirty="0"/>
              <a:t>Plot)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1"/>
            <a:ext cx="9911715" cy="35052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452120" indent="-229235" algn="just">
              <a:lnSpc>
                <a:spcPts val="4320"/>
              </a:lnSpc>
              <a:spcBef>
                <a:spcPts val="640"/>
              </a:spcBef>
              <a:buFont typeface="Arial"/>
              <a:buChar char="•"/>
              <a:tabLst>
                <a:tab pos="241935" algn="l"/>
              </a:tabLst>
            </a:pPr>
            <a:r>
              <a:rPr sz="4000" spc="-5" dirty="0">
                <a:latin typeface="Carlito"/>
                <a:cs typeface="Carlito"/>
              </a:rPr>
              <a:t>is a chart </a:t>
            </a:r>
            <a:r>
              <a:rPr sz="4000" spc="-10" dirty="0">
                <a:latin typeface="Carlito"/>
                <a:cs typeface="Carlito"/>
              </a:rPr>
              <a:t>that </a:t>
            </a:r>
            <a:r>
              <a:rPr sz="4000" spc="-15" dirty="0">
                <a:latin typeface="Carlito"/>
                <a:cs typeface="Carlito"/>
              </a:rPr>
              <a:t>shows </a:t>
            </a:r>
            <a:r>
              <a:rPr sz="4000" spc="-5" dirty="0">
                <a:latin typeface="Carlito"/>
                <a:cs typeface="Carlito"/>
              </a:rPr>
              <a:t>a </a:t>
            </a:r>
            <a:r>
              <a:rPr sz="4000" spc="-15" dirty="0">
                <a:latin typeface="Carlito"/>
                <a:cs typeface="Carlito"/>
              </a:rPr>
              <a:t>trend </a:t>
            </a:r>
            <a:r>
              <a:rPr sz="4000" spc="-20" dirty="0">
                <a:latin typeface="Carlito"/>
                <a:cs typeface="Carlito"/>
              </a:rPr>
              <a:t>over </a:t>
            </a:r>
            <a:r>
              <a:rPr sz="4000" spc="-5" dirty="0">
                <a:latin typeface="Carlito"/>
                <a:cs typeface="Carlito"/>
              </a:rPr>
              <a:t>a </a:t>
            </a:r>
            <a:r>
              <a:rPr sz="4000" spc="-10" dirty="0">
                <a:latin typeface="Carlito"/>
                <a:cs typeface="Carlito"/>
              </a:rPr>
              <a:t>period of  </a:t>
            </a:r>
            <a:r>
              <a:rPr sz="4000" spc="-5" dirty="0">
                <a:latin typeface="Carlito"/>
                <a:cs typeface="Carlito"/>
              </a:rPr>
              <a:t>time.</a:t>
            </a:r>
            <a:endParaRPr sz="4000">
              <a:latin typeface="Carlito"/>
              <a:cs typeface="Carlito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935"/>
              </a:spcBef>
              <a:buFont typeface="Arial"/>
              <a:buChar char="•"/>
              <a:tabLst>
                <a:tab pos="241935" algn="l"/>
              </a:tabLst>
            </a:pPr>
            <a:r>
              <a:rPr sz="4000" spc="-5" dirty="0">
                <a:latin typeface="Carlito"/>
                <a:cs typeface="Carlito"/>
              </a:rPr>
              <a:t>It </a:t>
            </a:r>
            <a:r>
              <a:rPr sz="4000" spc="-15" dirty="0">
                <a:latin typeface="Carlito"/>
                <a:cs typeface="Carlito"/>
              </a:rPr>
              <a:t>allows </a:t>
            </a:r>
            <a:r>
              <a:rPr sz="4000" spc="-25" dirty="0">
                <a:latin typeface="Carlito"/>
                <a:cs typeface="Carlito"/>
              </a:rPr>
              <a:t>you </a:t>
            </a:r>
            <a:r>
              <a:rPr sz="4000" spc="-15" dirty="0">
                <a:latin typeface="Carlito"/>
                <a:cs typeface="Carlito"/>
              </a:rPr>
              <a:t>to </a:t>
            </a:r>
            <a:r>
              <a:rPr sz="4000" spc="-30" dirty="0">
                <a:latin typeface="Carlito"/>
                <a:cs typeface="Carlito"/>
              </a:rPr>
              <a:t>test </a:t>
            </a:r>
            <a:r>
              <a:rPr sz="4000" spc="-15" dirty="0">
                <a:latin typeface="Carlito"/>
                <a:cs typeface="Carlito"/>
              </a:rPr>
              <a:t>various </a:t>
            </a:r>
            <a:r>
              <a:rPr sz="4000" spc="-10" dirty="0">
                <a:latin typeface="Carlito"/>
                <a:cs typeface="Carlito"/>
              </a:rPr>
              <a:t>hypotheses under  certain conditions, </a:t>
            </a:r>
            <a:r>
              <a:rPr sz="4000" spc="-45" dirty="0">
                <a:latin typeface="Carlito"/>
                <a:cs typeface="Carlito"/>
              </a:rPr>
              <a:t>like </a:t>
            </a:r>
            <a:r>
              <a:rPr sz="4000" spc="-15" dirty="0">
                <a:latin typeface="Carlito"/>
                <a:cs typeface="Carlito"/>
              </a:rPr>
              <a:t>what </a:t>
            </a:r>
            <a:r>
              <a:rPr sz="4000" spc="-10" dirty="0">
                <a:latin typeface="Carlito"/>
                <a:cs typeface="Carlito"/>
              </a:rPr>
              <a:t>happens </a:t>
            </a:r>
            <a:r>
              <a:rPr sz="4000" spc="-30" dirty="0">
                <a:latin typeface="Carlito"/>
                <a:cs typeface="Carlito"/>
              </a:rPr>
              <a:t>different  days </a:t>
            </a:r>
            <a:r>
              <a:rPr sz="4000" spc="-5" dirty="0">
                <a:latin typeface="Carlito"/>
                <a:cs typeface="Carlito"/>
              </a:rPr>
              <a:t>of the </a:t>
            </a:r>
            <a:r>
              <a:rPr sz="4000" spc="-15" dirty="0">
                <a:latin typeface="Carlito"/>
                <a:cs typeface="Carlito"/>
              </a:rPr>
              <a:t>week </a:t>
            </a:r>
            <a:r>
              <a:rPr sz="4000" spc="-5" dirty="0">
                <a:latin typeface="Carlito"/>
                <a:cs typeface="Carlito"/>
              </a:rPr>
              <a:t>or </a:t>
            </a:r>
            <a:r>
              <a:rPr sz="4000" spc="-15" dirty="0">
                <a:latin typeface="Carlito"/>
                <a:cs typeface="Carlito"/>
              </a:rPr>
              <a:t>between </a:t>
            </a:r>
            <a:r>
              <a:rPr sz="4000" spc="-30" dirty="0">
                <a:latin typeface="Carlito"/>
                <a:cs typeface="Carlito"/>
              </a:rPr>
              <a:t>different </a:t>
            </a:r>
            <a:r>
              <a:rPr sz="4000" spc="-5" dirty="0">
                <a:latin typeface="Carlito"/>
                <a:cs typeface="Carlito"/>
              </a:rPr>
              <a:t>times </a:t>
            </a:r>
            <a:r>
              <a:rPr sz="4000" spc="-10" dirty="0">
                <a:latin typeface="Carlito"/>
                <a:cs typeface="Carlito"/>
              </a:rPr>
              <a:t>of  </a:t>
            </a:r>
            <a:r>
              <a:rPr sz="4000" spc="-5" dirty="0">
                <a:latin typeface="Carlito"/>
                <a:cs typeface="Carlito"/>
              </a:rPr>
              <a:t>the</a:t>
            </a:r>
            <a:r>
              <a:rPr sz="4000" spc="-10" dirty="0">
                <a:latin typeface="Carlito"/>
                <a:cs typeface="Carlito"/>
              </a:rPr>
              <a:t> </a:t>
            </a:r>
            <a:r>
              <a:rPr sz="4000" spc="-90" dirty="0">
                <a:latin typeface="Carlito"/>
                <a:cs typeface="Carlito"/>
              </a:rPr>
              <a:t>day.</a:t>
            </a:r>
            <a:endParaRPr sz="4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59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633983"/>
            <a:ext cx="8305800" cy="5751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779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Scatter</a:t>
            </a:r>
            <a:r>
              <a:rPr spc="-490" dirty="0"/>
              <a:t> </a:t>
            </a:r>
            <a:r>
              <a:rPr spc="-2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177780" cy="2742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Arial"/>
                <a:cs typeface="Arial"/>
              </a:rPr>
              <a:t>offer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convenient </a:t>
            </a:r>
            <a:r>
              <a:rPr sz="2800" spc="-5" dirty="0">
                <a:latin typeface="Arial"/>
                <a:cs typeface="Arial"/>
              </a:rPr>
              <a:t>way to </a:t>
            </a:r>
            <a:r>
              <a:rPr sz="2800" dirty="0">
                <a:latin typeface="Arial"/>
                <a:cs typeface="Arial"/>
              </a:rPr>
              <a:t>visualize how </a:t>
            </a:r>
            <a:r>
              <a:rPr sz="2800" spc="-5" dirty="0">
                <a:latin typeface="Arial"/>
                <a:cs typeface="Arial"/>
              </a:rPr>
              <a:t>two numeric values are  related in </a:t>
            </a:r>
            <a:r>
              <a:rPr sz="2800" dirty="0">
                <a:latin typeface="Arial"/>
                <a:cs typeface="Arial"/>
              </a:rPr>
              <a:t>your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data.</a:t>
            </a:r>
            <a:endParaRPr sz="2800">
              <a:latin typeface="Arial"/>
              <a:cs typeface="Arial"/>
            </a:endParaRPr>
          </a:p>
          <a:p>
            <a:pPr marL="241300" marR="1181100" indent="-229235">
              <a:lnSpc>
                <a:spcPts val="3020"/>
              </a:lnSpc>
              <a:spcBef>
                <a:spcPts val="1005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"/>
                <a:cs typeface="Arial"/>
              </a:rPr>
              <a:t>It helps in </a:t>
            </a:r>
            <a:r>
              <a:rPr sz="2800" dirty="0">
                <a:latin typeface="Arial"/>
                <a:cs typeface="Arial"/>
              </a:rPr>
              <a:t>understanding </a:t>
            </a:r>
            <a:r>
              <a:rPr sz="2800" spc="-5" dirty="0">
                <a:latin typeface="Arial"/>
                <a:cs typeface="Arial"/>
              </a:rPr>
              <a:t>relationships between multiple  </a:t>
            </a:r>
            <a:r>
              <a:rPr sz="2800" dirty="0">
                <a:latin typeface="Arial"/>
                <a:cs typeface="Arial"/>
              </a:rPr>
              <a:t>variables.</a:t>
            </a:r>
            <a:endParaRPr sz="2800">
              <a:latin typeface="Arial"/>
              <a:cs typeface="Arial"/>
            </a:endParaRPr>
          </a:p>
          <a:p>
            <a:pPr marL="340360" indent="-328295">
              <a:lnSpc>
                <a:spcPct val="100000"/>
              </a:lnSpc>
              <a:spcBef>
                <a:spcPts val="550"/>
              </a:spcBef>
              <a:buChar char="•"/>
              <a:tabLst>
                <a:tab pos="340360" algn="l"/>
                <a:tab pos="340995" algn="l"/>
              </a:tabLst>
            </a:pPr>
            <a:r>
              <a:rPr sz="2800" spc="-5" dirty="0">
                <a:latin typeface="Arial"/>
                <a:cs typeface="Arial"/>
              </a:rPr>
              <a:t>Using </a:t>
            </a:r>
            <a:r>
              <a:rPr sz="2800" spc="-15" dirty="0">
                <a:latin typeface="Carlito"/>
                <a:cs typeface="Carlito"/>
              </a:rPr>
              <a:t>.scatter() </a:t>
            </a:r>
            <a:r>
              <a:rPr sz="2800" spc="-5" dirty="0">
                <a:latin typeface="Arial"/>
                <a:cs typeface="Arial"/>
              </a:rPr>
              <a:t>method, we can </a:t>
            </a:r>
            <a:r>
              <a:rPr sz="2800" dirty="0">
                <a:latin typeface="Arial"/>
                <a:cs typeface="Arial"/>
              </a:rPr>
              <a:t>create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scatter</a:t>
            </a:r>
            <a:r>
              <a:rPr sz="2800" spc="1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plot:</a:t>
            </a:r>
            <a:endParaRPr sz="28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60515"/>
            <a:ext cx="9474708" cy="5566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374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Bar</a:t>
            </a:r>
            <a:r>
              <a:rPr spc="-470" dirty="0"/>
              <a:t> </a:t>
            </a:r>
            <a:r>
              <a:rPr spc="-204" dirty="0"/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286365" cy="8255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300" marR="5080" indent="-229235">
              <a:lnSpc>
                <a:spcPts val="2940"/>
              </a:lnSpc>
              <a:spcBef>
                <a:spcPts val="540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"/>
                <a:cs typeface="Arial"/>
              </a:rPr>
              <a:t>are </a:t>
            </a:r>
            <a:r>
              <a:rPr sz="2800" dirty="0">
                <a:latin typeface="Arial"/>
                <a:cs typeface="Arial"/>
              </a:rPr>
              <a:t>convenient for </a:t>
            </a:r>
            <a:r>
              <a:rPr sz="2800" spc="-5" dirty="0">
                <a:latin typeface="Arial"/>
                <a:cs typeface="Arial"/>
              </a:rPr>
              <a:t>comparing numeric values of </a:t>
            </a:r>
            <a:r>
              <a:rPr sz="2800" dirty="0">
                <a:latin typeface="Arial"/>
                <a:cs typeface="Arial"/>
              </a:rPr>
              <a:t>several </a:t>
            </a:r>
            <a:r>
              <a:rPr sz="2800" spc="-5" dirty="0">
                <a:latin typeface="Arial"/>
                <a:cs typeface="Arial"/>
              </a:rPr>
              <a:t>groups.  Using </a:t>
            </a:r>
            <a:r>
              <a:rPr sz="2800" spc="-10" dirty="0">
                <a:latin typeface="Carlito"/>
                <a:cs typeface="Carlito"/>
              </a:rPr>
              <a:t>.bar() </a:t>
            </a:r>
            <a:r>
              <a:rPr sz="2800" spc="-5" dirty="0">
                <a:latin typeface="Arial"/>
                <a:cs typeface="Arial"/>
              </a:rPr>
              <a:t>method, we can create a bar</a:t>
            </a:r>
            <a:r>
              <a:rPr sz="2800" spc="2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graph: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504" y="365759"/>
            <a:ext cx="10363295" cy="53335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780795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WHAT </a:t>
            </a:r>
            <a:r>
              <a:rPr spc="-245" dirty="0"/>
              <a:t>YOU </a:t>
            </a:r>
            <a:r>
              <a:rPr spc="-200" dirty="0"/>
              <a:t>HAVE LEARN </a:t>
            </a:r>
            <a:r>
              <a:rPr spc="-50" dirty="0"/>
              <a:t>AND</a:t>
            </a:r>
            <a:r>
              <a:rPr spc="-850" dirty="0"/>
              <a:t> </a:t>
            </a:r>
            <a:r>
              <a:rPr spc="-155" dirty="0"/>
              <a:t>WHY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1807"/>
            <a:ext cx="10246995" cy="389445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rlito"/>
                <a:cs typeface="Carlito"/>
              </a:rPr>
              <a:t>FOR </a:t>
            </a:r>
            <a:r>
              <a:rPr sz="2600" spc="-110" dirty="0">
                <a:latin typeface="Carlito"/>
                <a:cs typeface="Carlito"/>
              </a:rPr>
              <a:t>DATA</a:t>
            </a:r>
            <a:r>
              <a:rPr sz="2600" spc="-25" dirty="0">
                <a:latin typeface="Carlito"/>
                <a:cs typeface="Carlito"/>
              </a:rPr>
              <a:t> VISUALIZATION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rlito"/>
                <a:cs typeface="Carlito"/>
              </a:rPr>
              <a:t>WE </a:t>
            </a:r>
            <a:r>
              <a:rPr sz="2600" spc="-5" dirty="0">
                <a:latin typeface="Carlito"/>
                <a:cs typeface="Carlito"/>
              </a:rPr>
              <a:t>CAN </a:t>
            </a:r>
            <a:r>
              <a:rPr sz="2600" spc="-25" dirty="0">
                <a:latin typeface="Carlito"/>
                <a:cs typeface="Carlito"/>
              </a:rPr>
              <a:t>INTEGRATE </a:t>
            </a:r>
            <a:r>
              <a:rPr sz="2600" spc="-5" dirty="0">
                <a:latin typeface="Carlito"/>
                <a:cs typeface="Carlito"/>
              </a:rPr>
              <a:t>THE </a:t>
            </a:r>
            <a:r>
              <a:rPr sz="2600" spc="-25" dirty="0">
                <a:latin typeface="Carlito"/>
                <a:cs typeface="Carlito"/>
              </a:rPr>
              <a:t>VISUALIZATION </a:t>
            </a:r>
            <a:r>
              <a:rPr sz="2600" spc="-10" dirty="0">
                <a:latin typeface="Carlito"/>
                <a:cs typeface="Carlito"/>
              </a:rPr>
              <a:t>TECHNIQUE </a:t>
            </a:r>
            <a:r>
              <a:rPr sz="2600" dirty="0">
                <a:latin typeface="Carlito"/>
                <a:cs typeface="Carlito"/>
              </a:rPr>
              <a:t>IN </a:t>
            </a:r>
            <a:r>
              <a:rPr sz="2600" spc="-5" dirty="0">
                <a:latin typeface="Carlito"/>
                <a:cs typeface="Carlito"/>
              </a:rPr>
              <a:t>OUR </a:t>
            </a:r>
            <a:r>
              <a:rPr sz="2600" dirty="0">
                <a:latin typeface="Carlito"/>
                <a:cs typeface="Carlito"/>
              </a:rPr>
              <a:t>ML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MODEL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rlito"/>
                <a:cs typeface="Carlito"/>
              </a:rPr>
              <a:t>WE </a:t>
            </a:r>
            <a:r>
              <a:rPr sz="2600" spc="-5" dirty="0">
                <a:latin typeface="Carlito"/>
                <a:cs typeface="Carlito"/>
              </a:rPr>
              <a:t>CAN SELL </a:t>
            </a:r>
            <a:r>
              <a:rPr sz="2600" spc="-25" dirty="0">
                <a:latin typeface="Carlito"/>
                <a:cs typeface="Carlito"/>
              </a:rPr>
              <a:t>VISUALIZATIONS </a:t>
            </a:r>
            <a:r>
              <a:rPr sz="2600" spc="-35" dirty="0">
                <a:latin typeface="Carlito"/>
                <a:cs typeface="Carlito"/>
              </a:rPr>
              <a:t>TO </a:t>
            </a:r>
            <a:r>
              <a:rPr sz="2600" spc="-30" dirty="0">
                <a:latin typeface="Carlito"/>
                <a:cs typeface="Carlito"/>
              </a:rPr>
              <a:t>COMPANY </a:t>
            </a:r>
            <a:r>
              <a:rPr sz="2600" spc="-40" dirty="0">
                <a:latin typeface="Carlito"/>
                <a:cs typeface="Carlito"/>
              </a:rPr>
              <a:t>BY </a:t>
            </a:r>
            <a:r>
              <a:rPr sz="2600" spc="-5" dirty="0">
                <a:latin typeface="Carlito"/>
                <a:cs typeface="Carlito"/>
              </a:rPr>
              <a:t>THEIR</a:t>
            </a:r>
            <a:r>
              <a:rPr sz="2600" dirty="0">
                <a:latin typeface="Carlito"/>
                <a:cs typeface="Carlito"/>
              </a:rPr>
              <a:t> </a:t>
            </a:r>
            <a:r>
              <a:rPr sz="2600" spc="-110" dirty="0">
                <a:latin typeface="Carlito"/>
                <a:cs typeface="Carlito"/>
              </a:rPr>
              <a:t>DATA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rlito"/>
                <a:cs typeface="Carlito"/>
              </a:rPr>
              <a:t>HOWEVER </a:t>
            </a:r>
            <a:r>
              <a:rPr sz="2600" dirty="0">
                <a:latin typeface="Carlito"/>
                <a:cs typeface="Carlito"/>
              </a:rPr>
              <a:t>, IF </a:t>
            </a:r>
            <a:r>
              <a:rPr sz="2600" spc="-30" dirty="0">
                <a:latin typeface="Carlito"/>
                <a:cs typeface="Carlito"/>
              </a:rPr>
              <a:t>YOU WANT </a:t>
            </a:r>
            <a:r>
              <a:rPr sz="2600" spc="-35" dirty="0">
                <a:latin typeface="Carlito"/>
                <a:cs typeface="Carlito"/>
              </a:rPr>
              <a:t>TO</a:t>
            </a:r>
            <a:r>
              <a:rPr sz="2600" spc="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BECOME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rlito"/>
                <a:cs typeface="Carlito"/>
              </a:rPr>
              <a:t>&gt;&gt;&gt; </a:t>
            </a:r>
            <a:r>
              <a:rPr sz="2600" spc="-110" dirty="0">
                <a:latin typeface="Carlito"/>
                <a:cs typeface="Carlito"/>
              </a:rPr>
              <a:t>DATA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35" dirty="0">
                <a:latin typeface="Carlito"/>
                <a:cs typeface="Carlito"/>
              </a:rPr>
              <a:t>ANALYST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rlito"/>
                <a:cs typeface="Carlito"/>
              </a:rPr>
              <a:t>&gt;&gt;&gt;&gt;&gt;&gt;&gt;&gt;MASTER THIS </a:t>
            </a:r>
            <a:r>
              <a:rPr sz="2600" spc="-10" dirty="0">
                <a:latin typeface="Carlito"/>
                <a:cs typeface="Carlito"/>
              </a:rPr>
              <a:t>LIBRARY </a:t>
            </a:r>
            <a:r>
              <a:rPr sz="2600" spc="-30" dirty="0">
                <a:latin typeface="Carlito"/>
                <a:cs typeface="Carlito"/>
              </a:rPr>
              <a:t>YOU </a:t>
            </a:r>
            <a:r>
              <a:rPr sz="2600" dirty="0">
                <a:latin typeface="Carlito"/>
                <a:cs typeface="Carlito"/>
              </a:rPr>
              <a:t>WILL </a:t>
            </a:r>
            <a:r>
              <a:rPr sz="2600" spc="-5" dirty="0">
                <a:latin typeface="Carlito"/>
                <a:cs typeface="Carlito"/>
              </a:rPr>
              <a:t>GET HIRED </a:t>
            </a:r>
            <a:r>
              <a:rPr sz="2600" spc="-105" dirty="0">
                <a:latin typeface="Carlito"/>
                <a:cs typeface="Carlito"/>
              </a:rPr>
              <a:t>AT </a:t>
            </a:r>
            <a:r>
              <a:rPr sz="2600" spc="-35" dirty="0">
                <a:latin typeface="Carlito"/>
                <a:cs typeface="Carlito"/>
              </a:rPr>
              <a:t>PACKAGE</a:t>
            </a:r>
            <a:r>
              <a:rPr sz="2600" spc="1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OF</a:t>
            </a:r>
            <a:endParaRPr sz="2600">
              <a:latin typeface="Carlito"/>
              <a:cs typeface="Carlito"/>
            </a:endParaRPr>
          </a:p>
          <a:p>
            <a:pPr marL="465455" indent="-45339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465455" algn="l"/>
                <a:tab pos="466090" algn="l"/>
              </a:tabLst>
            </a:pPr>
            <a:r>
              <a:rPr sz="2600" spc="-5" dirty="0">
                <a:latin typeface="Carlito"/>
                <a:cs typeface="Carlito"/>
              </a:rPr>
              <a:t>*** </a:t>
            </a:r>
            <a:r>
              <a:rPr sz="2600" dirty="0">
                <a:latin typeface="Carlito"/>
                <a:cs typeface="Carlito"/>
              </a:rPr>
              <a:t>5.5 </a:t>
            </a:r>
            <a:r>
              <a:rPr sz="2600" spc="-70" dirty="0">
                <a:latin typeface="Carlito"/>
                <a:cs typeface="Carlito"/>
              </a:rPr>
              <a:t>LPA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**</a:t>
            </a:r>
            <a:endParaRPr sz="26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60" dirty="0">
                <a:latin typeface="Carlito"/>
                <a:cs typeface="Carlito"/>
              </a:rPr>
              <a:t>PLOTLY </a:t>
            </a:r>
            <a:r>
              <a:rPr sz="2600" dirty="0">
                <a:latin typeface="Carlito"/>
                <a:cs typeface="Carlito"/>
              </a:rPr>
              <a:t>, </a:t>
            </a:r>
            <a:r>
              <a:rPr sz="2600" spc="-5" dirty="0">
                <a:latin typeface="Carlito"/>
                <a:cs typeface="Carlito"/>
              </a:rPr>
              <a:t>SEABORN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40" dirty="0">
                <a:latin typeface="Carlito"/>
                <a:cs typeface="Carlito"/>
              </a:rPr>
              <a:t>MATPLOTLIB </a:t>
            </a:r>
            <a:r>
              <a:rPr sz="2600" dirty="0">
                <a:latin typeface="Carlito"/>
                <a:cs typeface="Carlito"/>
              </a:rPr>
              <a:t>ARE </a:t>
            </a:r>
            <a:r>
              <a:rPr sz="2600" spc="-5" dirty="0">
                <a:latin typeface="Carlito"/>
                <a:cs typeface="Carlito"/>
              </a:rPr>
              <a:t>REPLACEMENT </a:t>
            </a:r>
            <a:r>
              <a:rPr sz="2600" spc="-10" dirty="0">
                <a:latin typeface="Carlito"/>
                <a:cs typeface="Carlito"/>
              </a:rPr>
              <a:t>FOR </a:t>
            </a:r>
            <a:r>
              <a:rPr sz="2600" spc="-15" dirty="0">
                <a:latin typeface="Carlito"/>
                <a:cs typeface="Carlito"/>
              </a:rPr>
              <a:t>EACH</a:t>
            </a:r>
            <a:r>
              <a:rPr sz="2600" spc="2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OTHER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659</Words>
  <Application>Microsoft Office PowerPoint</Application>
  <PresentationFormat>Custom</PresentationFormat>
  <Paragraphs>156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INTRODUCTION TO  MATPLOTLIB</vt:lpstr>
      <vt:lpstr>PowerPoint Presentation</vt:lpstr>
      <vt:lpstr>Importing matplotlib :</vt:lpstr>
      <vt:lpstr>Basic plots in Matplotlib :</vt:lpstr>
      <vt:lpstr>Line plot :</vt:lpstr>
      <vt:lpstr>Bar plot :</vt:lpstr>
      <vt:lpstr>Histogram :</vt:lpstr>
      <vt:lpstr>Scatter Plot :</vt:lpstr>
      <vt:lpstr>PowerPoint Presentation</vt:lpstr>
      <vt:lpstr>Functional Approach:</vt:lpstr>
      <vt:lpstr>PowerPoint Presentation</vt:lpstr>
      <vt:lpstr>PowerPoint Presentation</vt:lpstr>
      <vt:lpstr>Using .subplot() we will create a two plots on the same canvas:</vt:lpstr>
      <vt:lpstr>Object oriented Interface:</vt:lpstr>
      <vt:lpstr>Next step</vt:lpstr>
      <vt:lpstr>PowerPoint Presentation</vt:lpstr>
      <vt:lpstr>PowerPoint Presentation</vt:lpstr>
      <vt:lpstr>PowerPoint Presentation</vt:lpstr>
      <vt:lpstr>Something interesting , figure in figure</vt:lpstr>
      <vt:lpstr>PowerPoint Presentation</vt:lpstr>
      <vt:lpstr>We can create a matrix of subplot for example  3*3</vt:lpstr>
      <vt:lpstr>Add ,  plot.tight_layout()</vt:lpstr>
      <vt:lpstr>PowerPoint Presentation</vt:lpstr>
      <vt:lpstr>Figure size, aspect ratio, and DPI IN FIGURE</vt:lpstr>
      <vt:lpstr>IN SUBPLOTS</vt:lpstr>
      <vt:lpstr>PowerPoint Presentation</vt:lpstr>
      <vt:lpstr>PowerPoint Presentation</vt:lpstr>
      <vt:lpstr>PowerPoint Presentation</vt:lpstr>
      <vt:lpstr>PowerPoint Presentation</vt:lpstr>
      <vt:lpstr>Plot Types</vt:lpstr>
      <vt:lpstr>PowerPoint Presentation</vt:lpstr>
      <vt:lpstr>Time series (Line Plot)</vt:lpstr>
      <vt:lpstr>EXAMPLE</vt:lpstr>
      <vt:lpstr>Scatter plots</vt:lpstr>
      <vt:lpstr>PowerPoint Presentation</vt:lpstr>
      <vt:lpstr>Bar graphs</vt:lpstr>
      <vt:lpstr>PowerPoint Presentation</vt:lpstr>
      <vt:lpstr>WHAT YOU HAVE LEARN AND WHY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MATPLOTLIB</dc:title>
  <cp:lastModifiedBy>HP</cp:lastModifiedBy>
  <cp:revision>1</cp:revision>
  <dcterms:created xsi:type="dcterms:W3CDTF">2023-12-03T16:40:08Z</dcterms:created>
  <dcterms:modified xsi:type="dcterms:W3CDTF">2023-12-03T16:51:19Z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