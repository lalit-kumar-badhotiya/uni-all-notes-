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8" r:id="rId51"/>
    <p:sldId id="309" r:id="rId52"/>
    <p:sldId id="310" r:id="rId53"/>
    <p:sldId id="320" r:id="rId54"/>
    <p:sldId id="312" r:id="rId55"/>
    <p:sldId id="319" r:id="rId56"/>
    <p:sldId id="313" r:id="rId57"/>
    <p:sldId id="318" r:id="rId58"/>
    <p:sldId id="311" r:id="rId59"/>
    <p:sldId id="305" r:id="rId60"/>
    <p:sldId id="307" r:id="rId61"/>
    <p:sldId id="314" r:id="rId62"/>
    <p:sldId id="315" r:id="rId63"/>
    <p:sldId id="316" r:id="rId64"/>
    <p:sldId id="317" r:id="rId65"/>
    <p:sldId id="321" r:id="rId66"/>
    <p:sldId id="332" r:id="rId67"/>
    <p:sldId id="322" r:id="rId68"/>
    <p:sldId id="323" r:id="rId69"/>
    <p:sldId id="324" r:id="rId70"/>
    <p:sldId id="325" r:id="rId71"/>
    <p:sldId id="326" r:id="rId72"/>
    <p:sldId id="327" r:id="rId73"/>
    <p:sldId id="333" r:id="rId74"/>
    <p:sldId id="328" r:id="rId75"/>
    <p:sldId id="329" r:id="rId76"/>
    <p:sldId id="330" r:id="rId77"/>
    <p:sldId id="331" r:id="rId78"/>
    <p:sldId id="364" r:id="rId79"/>
    <p:sldId id="365" r:id="rId80"/>
    <p:sldId id="366" r:id="rId81"/>
    <p:sldId id="367" r:id="rId82"/>
    <p:sldId id="368" r:id="rId83"/>
    <p:sldId id="354" r:id="rId84"/>
    <p:sldId id="363" r:id="rId85"/>
    <p:sldId id="373" r:id="rId86"/>
    <p:sldId id="369" r:id="rId87"/>
    <p:sldId id="370" r:id="rId88"/>
    <p:sldId id="371" r:id="rId89"/>
    <p:sldId id="372" r:id="rId90"/>
    <p:sldId id="355" r:id="rId91"/>
    <p:sldId id="359" r:id="rId92"/>
    <p:sldId id="356" r:id="rId93"/>
    <p:sldId id="383" r:id="rId94"/>
    <p:sldId id="384" r:id="rId95"/>
    <p:sldId id="357" r:id="rId96"/>
    <p:sldId id="358" r:id="rId97"/>
    <p:sldId id="360" r:id="rId98"/>
    <p:sldId id="380" r:id="rId99"/>
    <p:sldId id="381" r:id="rId100"/>
    <p:sldId id="382" r:id="rId101"/>
    <p:sldId id="385" r:id="rId102"/>
    <p:sldId id="386" r:id="rId103"/>
    <p:sldId id="387" r:id="rId104"/>
    <p:sldId id="389" r:id="rId10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viewProps" Target="viewProps.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12/6/2023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12/6/2023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12/6/2023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Python Module II</a:t>
            </a:r>
            <a:br>
              <a:rPr lang="en-US" b="1" dirty="0" smtClean="0"/>
            </a:br>
            <a:endParaRPr lang="en-US" b="1" dirty="0"/>
          </a:p>
        </p:txBody>
      </p:sp>
      <p:sp>
        <p:nvSpPr>
          <p:cNvPr id="3" name="Subtitle 2"/>
          <p:cNvSpPr>
            <a:spLocks noGrp="1"/>
          </p:cNvSpPr>
          <p:nvPr>
            <p:ph type="subTitle" idx="1"/>
          </p:nvPr>
        </p:nvSpPr>
        <p:spPr/>
        <p:txBody>
          <a:bodyPr/>
          <a:lstStyle/>
          <a:p>
            <a:r>
              <a:rPr lang="en-US" dirty="0" smtClean="0">
                <a:solidFill>
                  <a:schemeClr val="tx1"/>
                </a:solidFill>
              </a:rPr>
              <a:t>Tuple, Dictionary, Module(Package),I/O</a:t>
            </a:r>
            <a:r>
              <a:rPr lang="en-US" smtClean="0">
                <a:solidFill>
                  <a:schemeClr val="tx1"/>
                </a:solidFill>
              </a:rPr>
              <a:t>, Class</a:t>
            </a:r>
            <a:endParaRPr lang="en-US" dirty="0">
              <a:solidFill>
                <a:schemeClr val="tx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Python Tuple</a:t>
            </a:r>
            <a:endParaRPr lang="en-US" b="1" dirty="0"/>
          </a:p>
        </p:txBody>
      </p:sp>
      <p:sp>
        <p:nvSpPr>
          <p:cNvPr id="3" name="Content Placeholder 2"/>
          <p:cNvSpPr>
            <a:spLocks noGrp="1"/>
          </p:cNvSpPr>
          <p:nvPr>
            <p:ph idx="1"/>
          </p:nvPr>
        </p:nvSpPr>
        <p:spPr/>
        <p:txBody>
          <a:bodyPr>
            <a:normAutofit/>
          </a:bodyPr>
          <a:lstStyle/>
          <a:p>
            <a:pPr algn="just"/>
            <a:r>
              <a:rPr lang="en-US" sz="2400" dirty="0" smtClean="0"/>
              <a:t>A </a:t>
            </a:r>
            <a:r>
              <a:rPr lang="en-US" sz="2400" dirty="0" err="1" smtClean="0"/>
              <a:t>tuple</a:t>
            </a:r>
            <a:r>
              <a:rPr lang="en-US" sz="2400" dirty="0" smtClean="0"/>
              <a:t> is a sequence of immutable objects</a:t>
            </a:r>
          </a:p>
          <a:p>
            <a:pPr algn="just"/>
            <a:r>
              <a:rPr lang="en-US" sz="2400" dirty="0" smtClean="0"/>
              <a:t>The objects are enclosed within parenthesis </a:t>
            </a:r>
            <a:r>
              <a:rPr lang="en-US" sz="2400" b="1" dirty="0" smtClean="0"/>
              <a:t>( )</a:t>
            </a:r>
            <a:r>
              <a:rPr lang="en-US" sz="2400" dirty="0" smtClean="0"/>
              <a:t> and separated by comma.</a:t>
            </a:r>
          </a:p>
          <a:p>
            <a:pPr algn="just"/>
            <a:r>
              <a:rPr lang="en-US" sz="2400" dirty="0" smtClean="0"/>
              <a:t>Tuple is similar to list. </a:t>
            </a:r>
          </a:p>
          <a:p>
            <a:pPr algn="just"/>
            <a:r>
              <a:rPr lang="en-US" sz="2400" b="1" dirty="0" smtClean="0"/>
              <a:t>Tuple have immutable objects</a:t>
            </a:r>
            <a:r>
              <a:rPr lang="en-US" sz="2400" dirty="0" smtClean="0"/>
              <a:t>.</a:t>
            </a:r>
          </a:p>
          <a:p>
            <a:pPr algn="just">
              <a:buNone/>
            </a:pPr>
            <a:endParaRPr lang="en-US" sz="2400" b="1" u="sng" dirty="0" smtClean="0"/>
          </a:p>
          <a:p>
            <a:pPr algn="just">
              <a:buNone/>
            </a:pPr>
            <a:r>
              <a:rPr lang="en-US" sz="2400" b="1" u="sng" dirty="0" smtClean="0"/>
              <a:t>NOTE:</a:t>
            </a:r>
            <a:r>
              <a:rPr lang="en-US" sz="2400" b="1" dirty="0" smtClean="0"/>
              <a:t> </a:t>
            </a:r>
            <a:r>
              <a:rPr lang="en-US" sz="2400" dirty="0" smtClean="0"/>
              <a:t>If Parenthesis is not given with a sequence, it is by default treated as Tuple.</a:t>
            </a:r>
            <a:endParaRPr lang="en-US" sz="2400" dirty="0"/>
          </a:p>
        </p:txBody>
      </p:sp>
      <p:sp>
        <p:nvSpPr>
          <p:cNvPr id="4" name="Footer Placeholder 3"/>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smtClean="0"/>
              <a:t>There can be an empty Tuple also which contains no object.</a:t>
            </a:r>
          </a:p>
          <a:p>
            <a:pPr>
              <a:buNone/>
            </a:pPr>
            <a:r>
              <a:rPr lang="en-US" b="1" dirty="0" smtClean="0"/>
              <a:t>&gt;&gt;&gt;tuple1=()  </a:t>
            </a:r>
          </a:p>
          <a:p>
            <a:r>
              <a:rPr lang="en-US" dirty="0" smtClean="0"/>
              <a:t>For a single valued </a:t>
            </a:r>
            <a:r>
              <a:rPr lang="en-US" dirty="0" err="1" smtClean="0"/>
              <a:t>tuple</a:t>
            </a:r>
            <a:r>
              <a:rPr lang="en-US" dirty="0" smtClean="0"/>
              <a:t>, there must be a comma at the end of the value. </a:t>
            </a:r>
          </a:p>
          <a:p>
            <a:pPr>
              <a:buNone/>
            </a:pPr>
            <a:r>
              <a:rPr lang="en-US" b="1" dirty="0" smtClean="0"/>
              <a:t>&gt;&gt;&gt;Tuple1=(10,)  </a:t>
            </a:r>
          </a:p>
          <a:p>
            <a:r>
              <a:rPr lang="en-US" dirty="0" err="1" smtClean="0"/>
              <a:t>Tuples</a:t>
            </a:r>
            <a:r>
              <a:rPr lang="en-US" dirty="0" smtClean="0"/>
              <a:t> can also be nested.</a:t>
            </a:r>
          </a:p>
          <a:p>
            <a:pPr>
              <a:buNone/>
            </a:pPr>
            <a:r>
              <a:rPr lang="en-US" b="1" dirty="0" smtClean="0"/>
              <a:t>&gt;&gt;&gt;tupl1='a','mahesh',10.56  </a:t>
            </a:r>
          </a:p>
          <a:p>
            <a:pPr>
              <a:buNone/>
            </a:pPr>
            <a:r>
              <a:rPr lang="en-US" b="1" dirty="0" smtClean="0"/>
              <a:t>&gt;&gt;&gt;tupl2=tupl1,(10,20,30)  </a:t>
            </a:r>
          </a:p>
          <a:p>
            <a:pPr>
              <a:buNone/>
            </a:pPr>
            <a:r>
              <a:rPr lang="en-US" b="1" dirty="0" smtClean="0"/>
              <a:t>&gt;&gt;&gt;print (</a:t>
            </a:r>
            <a:r>
              <a:rPr lang="en-US" dirty="0" smtClean="0"/>
              <a:t>tupl1</a:t>
            </a:r>
            <a:r>
              <a:rPr lang="en-US" b="1" dirty="0" smtClean="0"/>
              <a:t>)                </a:t>
            </a:r>
            <a:r>
              <a:rPr lang="en-US" sz="2400" dirty="0" smtClean="0"/>
              <a:t>// ('a', '</a:t>
            </a:r>
            <a:r>
              <a:rPr lang="en-US" sz="2400" dirty="0" err="1" smtClean="0"/>
              <a:t>mahesh</a:t>
            </a:r>
            <a:r>
              <a:rPr lang="en-US" sz="2400" dirty="0" smtClean="0"/>
              <a:t>', 10.56) </a:t>
            </a:r>
            <a:r>
              <a:rPr lang="en-US" dirty="0" smtClean="0"/>
              <a:t> </a:t>
            </a:r>
            <a:endParaRPr lang="en-US" b="1" dirty="0" smtClean="0"/>
          </a:p>
          <a:p>
            <a:pPr>
              <a:buNone/>
            </a:pPr>
            <a:r>
              <a:rPr lang="en-US" b="1" dirty="0" smtClean="0"/>
              <a:t>&gt;&gt;&gt;print (</a:t>
            </a:r>
            <a:r>
              <a:rPr lang="en-US" dirty="0" smtClean="0"/>
              <a:t>tupl2</a:t>
            </a:r>
            <a:r>
              <a:rPr lang="en-US" b="1" dirty="0" smtClean="0"/>
              <a:t>)  	         </a:t>
            </a:r>
            <a:r>
              <a:rPr lang="en-US" sz="2600" dirty="0" smtClean="0"/>
              <a:t>//(('a', '</a:t>
            </a:r>
            <a:r>
              <a:rPr lang="en-US" sz="2600" dirty="0" err="1" smtClean="0"/>
              <a:t>mahesh</a:t>
            </a:r>
            <a:r>
              <a:rPr lang="en-US" sz="2600" dirty="0" smtClean="0"/>
              <a:t>', 10.56), (10, 20, 30))</a:t>
            </a:r>
            <a:endParaRPr lang="en-US" b="1" dirty="0" smtClean="0"/>
          </a:p>
        </p:txBody>
      </p:sp>
      <p:sp>
        <p:nvSpPr>
          <p:cNvPr id="4" name="Footer Placeholder 3"/>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Accessing Tuple</a:t>
            </a:r>
            <a:endParaRPr lang="en-US" dirty="0"/>
          </a:p>
        </p:txBody>
      </p:sp>
      <p:sp>
        <p:nvSpPr>
          <p:cNvPr id="3" name="Content Placeholder 2"/>
          <p:cNvSpPr>
            <a:spLocks noGrp="1"/>
          </p:cNvSpPr>
          <p:nvPr>
            <p:ph idx="1"/>
          </p:nvPr>
        </p:nvSpPr>
        <p:spPr/>
        <p:txBody>
          <a:bodyPr>
            <a:normAutofit/>
          </a:bodyPr>
          <a:lstStyle/>
          <a:p>
            <a:r>
              <a:rPr lang="en-US" sz="2800" dirty="0" smtClean="0"/>
              <a:t>Tuple can be accessed in the same way as List.</a:t>
            </a:r>
          </a:p>
          <a:p>
            <a:r>
              <a:rPr lang="en-US" sz="2800" dirty="0" smtClean="0"/>
              <a:t>Some examples are given below:</a:t>
            </a:r>
          </a:p>
          <a:p>
            <a:pPr>
              <a:buNone/>
            </a:pPr>
            <a:r>
              <a:rPr lang="en-US" sz="2400" dirty="0" smtClean="0"/>
              <a:t>&gt;&gt;&gt;data1=(1,2,3,4)  </a:t>
            </a:r>
          </a:p>
          <a:p>
            <a:pPr>
              <a:buNone/>
            </a:pPr>
            <a:r>
              <a:rPr lang="en-US" sz="2400" dirty="0" smtClean="0"/>
              <a:t>&gt;&gt;&gt;data2=('</a:t>
            </a:r>
            <a:r>
              <a:rPr lang="en-US" sz="2400" dirty="0" err="1" smtClean="0"/>
              <a:t>x','y','z</a:t>
            </a:r>
            <a:r>
              <a:rPr lang="en-US" sz="2400" dirty="0" smtClean="0"/>
              <a:t>')</a:t>
            </a:r>
            <a:r>
              <a:rPr lang="en-US" sz="2400" smtClean="0"/>
              <a:t> </a:t>
            </a:r>
            <a:endParaRPr lang="en-US" sz="2400" dirty="0" smtClean="0"/>
          </a:p>
          <a:p>
            <a:pPr>
              <a:buNone/>
            </a:pPr>
            <a:r>
              <a:rPr lang="en-US" sz="2400" b="1" dirty="0" smtClean="0"/>
              <a:t>&gt;&gt;&gt;print</a:t>
            </a:r>
            <a:r>
              <a:rPr lang="en-US" sz="2400" dirty="0" smtClean="0"/>
              <a:t> (data1[0] )</a:t>
            </a:r>
          </a:p>
          <a:p>
            <a:pPr>
              <a:buNone/>
            </a:pPr>
            <a:r>
              <a:rPr lang="en-US" sz="2400" b="1" dirty="0" smtClean="0"/>
              <a:t>&gt;&gt;&gt;print</a:t>
            </a:r>
            <a:r>
              <a:rPr lang="en-US" sz="2400" dirty="0" smtClean="0"/>
              <a:t> (data1[0:2] ) </a:t>
            </a:r>
          </a:p>
          <a:p>
            <a:pPr>
              <a:buNone/>
            </a:pPr>
            <a:r>
              <a:rPr lang="en-US" sz="2400" b="1" dirty="0" smtClean="0"/>
              <a:t>&gt;&gt;&gt;print</a:t>
            </a:r>
            <a:r>
              <a:rPr lang="en-US" sz="2400" dirty="0" smtClean="0"/>
              <a:t> (data2[-3:-1])  </a:t>
            </a:r>
          </a:p>
          <a:p>
            <a:pPr>
              <a:buNone/>
            </a:pPr>
            <a:r>
              <a:rPr lang="en-US" sz="2400" b="1" dirty="0" smtClean="0"/>
              <a:t>&gt;&gt;&gt;print</a:t>
            </a:r>
            <a:r>
              <a:rPr lang="en-US" sz="2400" dirty="0" smtClean="0"/>
              <a:t> (data1[0:] ) </a:t>
            </a:r>
          </a:p>
          <a:p>
            <a:pPr>
              <a:buNone/>
            </a:pPr>
            <a:r>
              <a:rPr lang="en-US" sz="2400" b="1" dirty="0" smtClean="0"/>
              <a:t>&gt;&gt;&gt;print</a:t>
            </a:r>
            <a:r>
              <a:rPr lang="en-US" sz="2400" dirty="0" smtClean="0"/>
              <a:t> (data2[:2])  </a:t>
            </a:r>
          </a:p>
          <a:p>
            <a:endParaRPr lang="en-US" sz="2800" dirty="0"/>
          </a:p>
        </p:txBody>
      </p:sp>
      <p:sp>
        <p:nvSpPr>
          <p:cNvPr id="4" name="Footer Placeholder 3"/>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47800"/>
            <a:ext cx="8229600" cy="1143000"/>
          </a:xfrm>
        </p:spPr>
        <p:txBody>
          <a:bodyPr>
            <a:normAutofit/>
          </a:bodyPr>
          <a:lstStyle/>
          <a:p>
            <a:r>
              <a:rPr lang="en-US" sz="2400" dirty="0" smtClean="0"/>
              <a:t>Data=(1,2,3,4,5,10,19,17)</a:t>
            </a:r>
            <a:endParaRPr lang="en-US" sz="2400" dirty="0"/>
          </a:p>
        </p:txBody>
      </p:sp>
      <p:pic>
        <p:nvPicPr>
          <p:cNvPr id="7" name="Content Placeholder 6" descr="Picture1.png"/>
          <p:cNvPicPr>
            <a:picLocks noGrp="1" noChangeAspect="1"/>
          </p:cNvPicPr>
          <p:nvPr>
            <p:ph idx="1"/>
          </p:nvPr>
        </p:nvPicPr>
        <p:blipFill>
          <a:blip r:embed="rId2"/>
          <a:stretch>
            <a:fillRect/>
          </a:stretch>
        </p:blipFill>
        <p:spPr>
          <a:xfrm>
            <a:off x="1986285" y="2362200"/>
            <a:ext cx="5171429" cy="2257143"/>
          </a:xfrm>
        </p:spPr>
      </p:pic>
      <p:sp>
        <p:nvSpPr>
          <p:cNvPr id="4" name="Footer Placeholder 3"/>
          <p:cNvSpPr>
            <a:spLocks noGrp="1"/>
          </p:cNvSpPr>
          <p:nvPr>
            <p:ph type="ftr" sz="quarter" idx="11"/>
          </p:nvPr>
        </p:nvSpPr>
        <p:spPr/>
        <p:txBody>
          <a:bodyPr/>
          <a:lstStyle/>
          <a:p>
            <a:endParaRPr lang="en-US"/>
          </a:p>
        </p:txBody>
      </p:sp>
      <p:sp>
        <p:nvSpPr>
          <p:cNvPr id="1025" name="Rectangle 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900" b="0" i="0" u="none" strike="noStrike" cap="none" normalizeH="0" baseline="0" smtClean="0">
                <a:ln>
                  <a:noFill/>
                </a:ln>
                <a:solidFill>
                  <a:srgbClr val="000000"/>
                </a:solidFill>
                <a:effectLst/>
                <a:latin typeface="Verdana" pitchFamily="34" charset="0"/>
                <a:cs typeface="Arial" pitchFamily="34" charset="0"/>
              </a:rPr>
              <a:t>Data=(1,2,3,4,5,10,19,17)</a:t>
            </a:r>
            <a:endParaRPr kumimoji="0" lang="en-US" sz="800" b="0" i="0" u="none" strike="noStrike" cap="none" normalizeH="0" baseline="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itchFamily="34" charset="0"/>
                <a:cs typeface="Arial" pitchFamily="34" charset="0"/>
              </a:rPr>
              <a:t>  </a:t>
            </a:r>
            <a:r>
              <a:rPr kumimoji="0" lang="en-US" sz="14100" b="0" i="0" u="none" strike="noStrike" cap="none" normalizeH="0" baseline="0" smtClean="0">
                <a:ln>
                  <a:noFill/>
                </a:ln>
                <a:solidFill>
                  <a:schemeClr val="tx1"/>
                </a:solidFill>
                <a:effectLst/>
                <a:latin typeface="Arial" pitchFamily="34"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Tuple Operations</a:t>
            </a:r>
            <a:endParaRPr lang="en-US" dirty="0"/>
          </a:p>
        </p:txBody>
      </p:sp>
      <p:sp>
        <p:nvSpPr>
          <p:cNvPr id="3" name="Content Placeholder 2"/>
          <p:cNvSpPr>
            <a:spLocks noGrp="1"/>
          </p:cNvSpPr>
          <p:nvPr>
            <p:ph idx="1"/>
          </p:nvPr>
        </p:nvSpPr>
        <p:spPr/>
        <p:txBody>
          <a:bodyPr>
            <a:normAutofit/>
          </a:bodyPr>
          <a:lstStyle/>
          <a:p>
            <a:pPr>
              <a:buNone/>
            </a:pPr>
            <a:r>
              <a:rPr lang="en-US" b="1" dirty="0" smtClean="0"/>
              <a:t>a) Adding Tuple:</a:t>
            </a:r>
            <a:endParaRPr lang="en-US" dirty="0" smtClean="0"/>
          </a:p>
          <a:p>
            <a:r>
              <a:rPr lang="en-US" sz="2400" dirty="0" smtClean="0"/>
              <a:t>Tuple can be added by using the concatenation operator(+) to join two </a:t>
            </a:r>
            <a:r>
              <a:rPr lang="en-US" sz="2400" dirty="0" err="1" smtClean="0"/>
              <a:t>tuples</a:t>
            </a:r>
            <a:r>
              <a:rPr lang="en-US" sz="2400" dirty="0" smtClean="0"/>
              <a:t>.</a:t>
            </a:r>
          </a:p>
          <a:p>
            <a:pPr>
              <a:buNone/>
            </a:pPr>
            <a:r>
              <a:rPr lang="en-US" sz="2400" b="1" dirty="0" err="1" smtClean="0"/>
              <a:t>eg</a:t>
            </a:r>
            <a:r>
              <a:rPr lang="en-US" sz="2400" b="1" dirty="0" smtClean="0"/>
              <a:t>:</a:t>
            </a:r>
            <a:endParaRPr lang="en-US" sz="2400" dirty="0" smtClean="0"/>
          </a:p>
          <a:p>
            <a:pPr>
              <a:buNone/>
            </a:pPr>
            <a:r>
              <a:rPr lang="en-US" sz="2400" dirty="0" smtClean="0"/>
              <a:t>&gt;&gt;&gt;data1=(1,2,3,4)  </a:t>
            </a:r>
          </a:p>
          <a:p>
            <a:pPr>
              <a:buNone/>
            </a:pPr>
            <a:r>
              <a:rPr lang="en-US" sz="2400" dirty="0" smtClean="0"/>
              <a:t>&gt;&gt;&gt;data2=('</a:t>
            </a:r>
            <a:r>
              <a:rPr lang="en-US" sz="2400" dirty="0" err="1" smtClean="0"/>
              <a:t>x','y','z</a:t>
            </a:r>
            <a:r>
              <a:rPr lang="en-US" sz="2400" dirty="0" smtClean="0"/>
              <a:t>')  </a:t>
            </a:r>
          </a:p>
          <a:p>
            <a:pPr>
              <a:buNone/>
            </a:pPr>
            <a:r>
              <a:rPr lang="en-US" sz="2400" dirty="0" smtClean="0"/>
              <a:t>&gt;&gt;&gt;data3=data1+data2  </a:t>
            </a:r>
          </a:p>
          <a:p>
            <a:pPr>
              <a:buNone/>
            </a:pPr>
            <a:r>
              <a:rPr lang="en-US" sz="2400" b="1" dirty="0" smtClean="0"/>
              <a:t>&gt;&gt;&gt;print(</a:t>
            </a:r>
            <a:r>
              <a:rPr lang="en-US" sz="2400" dirty="0" smtClean="0"/>
              <a:t> data1 </a:t>
            </a:r>
            <a:r>
              <a:rPr lang="en-US" sz="2400" b="1" dirty="0" smtClean="0"/>
              <a:t>)     // </a:t>
            </a:r>
            <a:r>
              <a:rPr lang="en-US" sz="2400" dirty="0" smtClean="0"/>
              <a:t>(1,2,3,4) </a:t>
            </a:r>
            <a:r>
              <a:rPr lang="en-US" sz="2400" b="1" dirty="0" smtClean="0"/>
              <a:t>   </a:t>
            </a:r>
          </a:p>
          <a:p>
            <a:pPr>
              <a:buNone/>
            </a:pPr>
            <a:r>
              <a:rPr lang="en-US" sz="2400" b="1" dirty="0" smtClean="0"/>
              <a:t>&gt;&gt;&gt;print(</a:t>
            </a:r>
            <a:r>
              <a:rPr lang="en-US" sz="2400" dirty="0" smtClean="0"/>
              <a:t> data2 </a:t>
            </a:r>
            <a:r>
              <a:rPr lang="en-US" sz="2400" b="1" dirty="0" smtClean="0"/>
              <a:t>)</a:t>
            </a:r>
            <a:r>
              <a:rPr lang="en-US" sz="2400" dirty="0" smtClean="0"/>
              <a:t>     // ('</a:t>
            </a:r>
            <a:r>
              <a:rPr lang="en-US" sz="2400" dirty="0" err="1" smtClean="0"/>
              <a:t>x','y','z</a:t>
            </a:r>
            <a:r>
              <a:rPr lang="en-US" sz="2400" dirty="0" smtClean="0"/>
              <a:t>')</a:t>
            </a:r>
          </a:p>
          <a:p>
            <a:pPr>
              <a:buNone/>
            </a:pPr>
            <a:r>
              <a:rPr lang="en-US" sz="2400" b="1" dirty="0" smtClean="0"/>
              <a:t>&gt;&gt;&gt;print(</a:t>
            </a:r>
            <a:r>
              <a:rPr lang="en-US" sz="2400" dirty="0" smtClean="0"/>
              <a:t> data3 </a:t>
            </a:r>
            <a:r>
              <a:rPr lang="en-US" sz="2400" b="1" dirty="0" smtClean="0"/>
              <a:t>)</a:t>
            </a:r>
            <a:r>
              <a:rPr lang="en-US" sz="2400" dirty="0" smtClean="0"/>
              <a:t>     //  (1,2,3,4, '</a:t>
            </a:r>
            <a:r>
              <a:rPr lang="en-US" sz="2400" dirty="0" err="1" smtClean="0"/>
              <a:t>x','y','z</a:t>
            </a:r>
            <a:r>
              <a:rPr lang="en-US" sz="2400" dirty="0" smtClean="0"/>
              <a:t>‘)  </a:t>
            </a:r>
          </a:p>
          <a:p>
            <a:endParaRPr lang="en-US" dirty="0" smtClean="0"/>
          </a:p>
          <a:p>
            <a:endParaRPr lang="en-US" dirty="0"/>
          </a:p>
        </p:txBody>
      </p:sp>
      <p:sp>
        <p:nvSpPr>
          <p:cNvPr id="4" name="Footer Placeholder 3"/>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None/>
            </a:pPr>
            <a:r>
              <a:rPr lang="fr-FR" sz="2400" dirty="0" smtClean="0"/>
              <a:t>&gt;&gt;&gt;tuple1=(10,20,30)  </a:t>
            </a:r>
          </a:p>
          <a:p>
            <a:pPr>
              <a:buNone/>
            </a:pPr>
            <a:r>
              <a:rPr lang="fr-FR" sz="2400" dirty="0" smtClean="0"/>
              <a:t>&gt;&gt;&gt;tuple2=(40,50,60)  </a:t>
            </a:r>
          </a:p>
          <a:p>
            <a:pPr>
              <a:buNone/>
            </a:pPr>
            <a:r>
              <a:rPr lang="fr-FR" sz="2400" b="1" dirty="0" smtClean="0"/>
              <a:t>&gt;&gt;&gt;</a:t>
            </a:r>
            <a:r>
              <a:rPr lang="fr-FR" sz="2400" b="1" dirty="0" err="1" smtClean="0"/>
              <a:t>print</a:t>
            </a:r>
            <a:r>
              <a:rPr lang="fr-FR" sz="2400" dirty="0" smtClean="0"/>
              <a:t> (tuple1*2)  </a:t>
            </a:r>
          </a:p>
          <a:p>
            <a:pPr>
              <a:buNone/>
            </a:pPr>
            <a:r>
              <a:rPr lang="fr-FR" sz="2400" b="1" dirty="0" smtClean="0"/>
              <a:t>&gt;&gt;&gt;</a:t>
            </a:r>
            <a:r>
              <a:rPr lang="fr-FR" sz="2400" b="1" dirty="0" err="1" smtClean="0"/>
              <a:t>print</a:t>
            </a:r>
            <a:r>
              <a:rPr lang="fr-FR" sz="2400" dirty="0" smtClean="0"/>
              <a:t> (tuple2*3) </a:t>
            </a:r>
          </a:p>
          <a:p>
            <a:endParaRPr lang="en-US" sz="2400" dirty="0"/>
          </a:p>
        </p:txBody>
      </p:sp>
      <p:sp>
        <p:nvSpPr>
          <p:cNvPr id="4" name="Footer Placeholder 3"/>
          <p:cNvSpPr>
            <a:spLocks noGrp="1"/>
          </p:cNvSpPr>
          <p:nvPr>
            <p:ph type="ftr" sz="quarter" idx="11"/>
          </p:nvPr>
        </p:nvSpPr>
        <p:spPr/>
        <p:txBody>
          <a:bodyPr/>
          <a:lstStyle/>
          <a:p>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pPr fontAlgn="base">
              <a:buNone/>
            </a:pPr>
            <a:r>
              <a:rPr lang="en-US" b="1" dirty="0" smtClean="0"/>
              <a:t>Deleting a Tuple</a:t>
            </a:r>
            <a:endParaRPr lang="en-US" dirty="0" smtClean="0"/>
          </a:p>
          <a:p>
            <a:pPr fontAlgn="base">
              <a:buNone/>
            </a:pPr>
            <a:r>
              <a:rPr lang="en-US" dirty="0" smtClean="0"/>
              <a:t># Code for deleting a </a:t>
            </a:r>
            <a:r>
              <a:rPr lang="en-US" dirty="0" err="1" smtClean="0"/>
              <a:t>tuple</a:t>
            </a:r>
            <a:endParaRPr lang="en-US" dirty="0" smtClean="0"/>
          </a:p>
          <a:p>
            <a:pPr lvl="1" fontAlgn="base">
              <a:buNone/>
            </a:pPr>
            <a:r>
              <a:rPr lang="en-US" dirty="0" smtClean="0"/>
              <a:t> tuple3 = ( 0, 1)</a:t>
            </a:r>
          </a:p>
          <a:p>
            <a:pPr lvl="1" fontAlgn="base">
              <a:buNone/>
            </a:pPr>
            <a:r>
              <a:rPr lang="en-US" dirty="0" smtClean="0"/>
              <a:t>del tuple3</a:t>
            </a:r>
          </a:p>
          <a:p>
            <a:pPr lvl="1" fontAlgn="base">
              <a:buNone/>
            </a:pPr>
            <a:r>
              <a:rPr lang="en-US" dirty="0" smtClean="0"/>
              <a:t>print(tuple3)</a:t>
            </a:r>
          </a:p>
          <a:p>
            <a:pPr fontAlgn="base">
              <a:buNone/>
            </a:pPr>
            <a:endParaRPr lang="en-US" b="1" dirty="0" smtClean="0"/>
          </a:p>
          <a:p>
            <a:pPr fontAlgn="base">
              <a:buNone/>
            </a:pPr>
            <a:r>
              <a:rPr lang="en-US" b="1" dirty="0" smtClean="0"/>
              <a:t>Finding Length of a Tuple</a:t>
            </a:r>
            <a:endParaRPr lang="en-US" dirty="0" smtClean="0"/>
          </a:p>
          <a:p>
            <a:pPr fontAlgn="base">
              <a:buNone/>
            </a:pPr>
            <a:r>
              <a:rPr lang="en-US" dirty="0" smtClean="0"/>
              <a:t># Code for printing the length of a </a:t>
            </a:r>
            <a:r>
              <a:rPr lang="en-US" dirty="0" err="1" smtClean="0"/>
              <a:t>tuple</a:t>
            </a:r>
            <a:endParaRPr lang="en-US" dirty="0" smtClean="0"/>
          </a:p>
          <a:p>
            <a:pPr fontAlgn="base">
              <a:buNone/>
            </a:pPr>
            <a:r>
              <a:rPr lang="en-US" dirty="0" smtClean="0"/>
              <a:t> </a:t>
            </a:r>
          </a:p>
          <a:p>
            <a:pPr lvl="1" fontAlgn="base">
              <a:buNone/>
            </a:pPr>
            <a:r>
              <a:rPr lang="en-US" dirty="0" smtClean="0"/>
              <a:t>tuple2 = ('python', 'geek')</a:t>
            </a:r>
          </a:p>
          <a:p>
            <a:pPr lvl="1" fontAlgn="base">
              <a:buNone/>
            </a:pPr>
            <a:r>
              <a:rPr lang="en-US" dirty="0" smtClean="0"/>
              <a:t>print(</a:t>
            </a:r>
            <a:r>
              <a:rPr lang="en-US" dirty="0" err="1" smtClean="0"/>
              <a:t>len</a:t>
            </a:r>
            <a:r>
              <a:rPr lang="en-US" dirty="0" smtClean="0"/>
              <a:t>(tuple2))</a:t>
            </a:r>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fontAlgn="base">
              <a:buNone/>
            </a:pPr>
            <a:r>
              <a:rPr lang="en-US" b="1" dirty="0" smtClean="0"/>
              <a:t>Converting list to a Tuple</a:t>
            </a:r>
            <a:endParaRPr lang="en-US" dirty="0" smtClean="0"/>
          </a:p>
          <a:p>
            <a:pPr fontAlgn="base">
              <a:buNone/>
            </a:pPr>
            <a:r>
              <a:rPr lang="en-US" dirty="0" smtClean="0"/>
              <a:t># </a:t>
            </a:r>
            <a:r>
              <a:rPr lang="en-US" sz="2800" dirty="0" smtClean="0"/>
              <a:t>Code for converting a list and a string into a </a:t>
            </a:r>
            <a:r>
              <a:rPr lang="en-US" sz="2800" dirty="0" err="1" smtClean="0"/>
              <a:t>tuple</a:t>
            </a:r>
            <a:endParaRPr lang="en-US" sz="2800" dirty="0" smtClean="0"/>
          </a:p>
          <a:p>
            <a:pPr lvl="1" fontAlgn="base">
              <a:buNone/>
            </a:pPr>
            <a:r>
              <a:rPr lang="en-US" sz="2400" dirty="0" smtClean="0"/>
              <a:t>list1 = [0, 1, 2]</a:t>
            </a:r>
          </a:p>
          <a:p>
            <a:pPr lvl="1" fontAlgn="base">
              <a:buNone/>
            </a:pPr>
            <a:r>
              <a:rPr lang="en-US" sz="2400" dirty="0" smtClean="0"/>
              <a:t>print(</a:t>
            </a:r>
            <a:r>
              <a:rPr lang="en-US" sz="2400" dirty="0" err="1" smtClean="0"/>
              <a:t>tuple</a:t>
            </a:r>
            <a:r>
              <a:rPr lang="en-US" sz="2400" dirty="0" smtClean="0"/>
              <a:t>(list1))</a:t>
            </a:r>
          </a:p>
          <a:p>
            <a:pPr lvl="1" fontAlgn="base">
              <a:buNone/>
            </a:pPr>
            <a:r>
              <a:rPr lang="en-US" sz="2400" dirty="0" smtClean="0"/>
              <a:t>print(</a:t>
            </a:r>
            <a:r>
              <a:rPr lang="en-US" sz="2400" dirty="0" err="1" smtClean="0"/>
              <a:t>tuple</a:t>
            </a:r>
            <a:r>
              <a:rPr lang="en-US" sz="2400" dirty="0" smtClean="0"/>
              <a:t>('python')) # string 'python'</a:t>
            </a:r>
          </a:p>
          <a:p>
            <a:pPr fontAlgn="base">
              <a:buNone/>
            </a:pPr>
            <a:r>
              <a:rPr lang="en-US" sz="2600" b="1" dirty="0" smtClean="0"/>
              <a:t>Output</a:t>
            </a:r>
          </a:p>
          <a:p>
            <a:pPr fontAlgn="base">
              <a:buNone/>
            </a:pPr>
            <a:r>
              <a:rPr lang="en-US" sz="2600" b="1" dirty="0" smtClean="0"/>
              <a:t>(0, 1, 2) </a:t>
            </a:r>
          </a:p>
          <a:p>
            <a:pPr fontAlgn="base">
              <a:buNone/>
            </a:pPr>
            <a:r>
              <a:rPr lang="en-US" sz="2600" b="1" dirty="0" smtClean="0"/>
              <a:t>('p', 'y', 't', 'h', 'o', 'n')</a:t>
            </a:r>
          </a:p>
          <a:p>
            <a:pPr algn="just" fontAlgn="base"/>
            <a:r>
              <a:rPr lang="en-US" sz="2600" dirty="0" smtClean="0"/>
              <a:t>Takes a single parameter which may be a list, string, set or even a dictionary( only keys are taken as elements) and converts them to a </a:t>
            </a:r>
            <a:r>
              <a:rPr lang="en-US" sz="2600" dirty="0" err="1" smtClean="0"/>
              <a:t>tuple</a:t>
            </a:r>
            <a:r>
              <a:rPr lang="en-US" sz="2600" dirty="0" smtClean="0"/>
              <a:t>.</a:t>
            </a:r>
            <a:endParaRPr lang="en-US" sz="26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t>Using </a:t>
            </a:r>
            <a:r>
              <a:rPr lang="en-US" sz="3600" b="1" dirty="0" err="1" smtClean="0"/>
              <a:t>cmp</a:t>
            </a:r>
            <a:r>
              <a:rPr lang="en-US" sz="3600" b="1" dirty="0" smtClean="0"/>
              <a:t>(), max() , min()</a:t>
            </a:r>
            <a:endParaRPr lang="en-US" sz="3600" dirty="0"/>
          </a:p>
        </p:txBody>
      </p:sp>
      <p:sp>
        <p:nvSpPr>
          <p:cNvPr id="3" name="Content Placeholder 2"/>
          <p:cNvSpPr>
            <a:spLocks noGrp="1"/>
          </p:cNvSpPr>
          <p:nvPr>
            <p:ph idx="1"/>
          </p:nvPr>
        </p:nvSpPr>
        <p:spPr/>
        <p:txBody>
          <a:bodyPr>
            <a:normAutofit fontScale="70000" lnSpcReduction="20000"/>
          </a:bodyPr>
          <a:lstStyle/>
          <a:p>
            <a:pPr fontAlgn="base"/>
            <a:r>
              <a:rPr lang="en-US" b="1" dirty="0" smtClean="0"/>
              <a:t># </a:t>
            </a:r>
            <a:r>
              <a:rPr lang="en-US" b="1" dirty="0" err="1" smtClean="0"/>
              <a:t>cmp</a:t>
            </a:r>
            <a:r>
              <a:rPr lang="en-US" b="1" dirty="0" smtClean="0"/>
              <a:t>() returns 0 if matched, 1 when tuple1 is longer and -1 when tuple1 is shorter</a:t>
            </a:r>
          </a:p>
          <a:p>
            <a:pPr fontAlgn="base">
              <a:buNone/>
            </a:pPr>
            <a:r>
              <a:rPr lang="en-US" dirty="0" smtClean="0"/>
              <a:t>tuple1 = ('python', 'geek')</a:t>
            </a:r>
          </a:p>
          <a:p>
            <a:pPr fontAlgn="base">
              <a:buNone/>
            </a:pPr>
            <a:r>
              <a:rPr lang="en-US" dirty="0" smtClean="0"/>
              <a:t>tuple2 = ('coder', 1)</a:t>
            </a:r>
          </a:p>
          <a:p>
            <a:pPr fontAlgn="base">
              <a:buNone/>
            </a:pPr>
            <a:r>
              <a:rPr lang="en-US" dirty="0" smtClean="0"/>
              <a:t>if (</a:t>
            </a:r>
            <a:r>
              <a:rPr lang="en-US" dirty="0" err="1" smtClean="0"/>
              <a:t>cmp</a:t>
            </a:r>
            <a:r>
              <a:rPr lang="en-US" dirty="0" smtClean="0"/>
              <a:t>(tuple1, tuple2) != 0):</a:t>
            </a:r>
          </a:p>
          <a:p>
            <a:pPr fontAlgn="base">
              <a:buNone/>
            </a:pPr>
            <a:r>
              <a:rPr lang="en-US" dirty="0" smtClean="0"/>
              <a:t>    	print('Not the same')</a:t>
            </a:r>
          </a:p>
          <a:p>
            <a:pPr fontAlgn="base">
              <a:buNone/>
            </a:pPr>
            <a:r>
              <a:rPr lang="en-US" dirty="0" smtClean="0"/>
              <a:t>else:</a:t>
            </a:r>
          </a:p>
          <a:p>
            <a:pPr fontAlgn="base">
              <a:buNone/>
            </a:pPr>
            <a:r>
              <a:rPr lang="en-US" dirty="0" smtClean="0"/>
              <a:t>    	print('Same')</a:t>
            </a:r>
          </a:p>
          <a:p>
            <a:pPr fontAlgn="base">
              <a:buNone/>
            </a:pPr>
            <a:r>
              <a:rPr lang="en-US" dirty="0" smtClean="0"/>
              <a:t>print ('Maximum element in </a:t>
            </a:r>
            <a:r>
              <a:rPr lang="en-US" dirty="0" err="1" smtClean="0"/>
              <a:t>tuples</a:t>
            </a:r>
            <a:r>
              <a:rPr lang="en-US" dirty="0" smtClean="0"/>
              <a:t> 1,2: ' + </a:t>
            </a:r>
            <a:r>
              <a:rPr lang="en-US" dirty="0" err="1" smtClean="0"/>
              <a:t>str</a:t>
            </a:r>
            <a:r>
              <a:rPr lang="en-US" dirty="0" smtClean="0"/>
              <a:t>(max(tuple1)) +  ',' +</a:t>
            </a:r>
          </a:p>
          <a:p>
            <a:pPr fontAlgn="base">
              <a:buNone/>
            </a:pPr>
            <a:r>
              <a:rPr lang="en-US" dirty="0" smtClean="0"/>
              <a:t>     	   </a:t>
            </a:r>
            <a:r>
              <a:rPr lang="en-US" dirty="0" err="1" smtClean="0"/>
              <a:t>str</a:t>
            </a:r>
            <a:r>
              <a:rPr lang="en-US" dirty="0" smtClean="0"/>
              <a:t>(max(tuple2)))</a:t>
            </a:r>
          </a:p>
          <a:p>
            <a:pPr fontAlgn="base">
              <a:buNone/>
            </a:pPr>
            <a:r>
              <a:rPr lang="en-US" dirty="0" smtClean="0"/>
              <a:t>print ('Minimum element in </a:t>
            </a:r>
            <a:r>
              <a:rPr lang="en-US" dirty="0" err="1" smtClean="0"/>
              <a:t>tuples</a:t>
            </a:r>
            <a:r>
              <a:rPr lang="en-US" dirty="0" smtClean="0"/>
              <a:t> 1,2: ' +  </a:t>
            </a:r>
            <a:r>
              <a:rPr lang="en-US" dirty="0" err="1" smtClean="0"/>
              <a:t>str</a:t>
            </a:r>
            <a:r>
              <a:rPr lang="en-US" dirty="0" smtClean="0"/>
              <a:t>(min(tuple1)) + ','  + </a:t>
            </a:r>
            <a:r>
              <a:rPr lang="en-US" dirty="0" err="1" smtClean="0"/>
              <a:t>str</a:t>
            </a:r>
            <a:r>
              <a:rPr lang="en-US" dirty="0" smtClean="0"/>
              <a:t>(min(tuple2)))</a:t>
            </a:r>
          </a:p>
          <a:p>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fontAlgn="base">
              <a:buNone/>
            </a:pPr>
            <a:r>
              <a:rPr lang="en-US" sz="2400" dirty="0" smtClean="0"/>
              <a:t>Output</a:t>
            </a:r>
          </a:p>
          <a:p>
            <a:pPr lvl="1" fontAlgn="base">
              <a:buNone/>
            </a:pPr>
            <a:r>
              <a:rPr lang="en-US" sz="2000" b="1" dirty="0" smtClean="0"/>
              <a:t>Not the same </a:t>
            </a:r>
          </a:p>
          <a:p>
            <a:pPr lvl="1" fontAlgn="base">
              <a:buNone/>
            </a:pPr>
            <a:r>
              <a:rPr lang="en-US" sz="2000" b="1" dirty="0" smtClean="0"/>
              <a:t>Maximum element in </a:t>
            </a:r>
            <a:r>
              <a:rPr lang="en-US" sz="2000" b="1" dirty="0" err="1" smtClean="0"/>
              <a:t>tuples</a:t>
            </a:r>
            <a:r>
              <a:rPr lang="en-US" sz="2000" b="1" dirty="0" smtClean="0"/>
              <a:t> 1,2: </a:t>
            </a:r>
            <a:r>
              <a:rPr lang="en-US" sz="2000" b="1" dirty="0" err="1" smtClean="0"/>
              <a:t>python,coder</a:t>
            </a:r>
            <a:r>
              <a:rPr lang="en-US" sz="2000" b="1" dirty="0" smtClean="0"/>
              <a:t> </a:t>
            </a:r>
          </a:p>
          <a:p>
            <a:pPr lvl="1" fontAlgn="base">
              <a:buNone/>
            </a:pPr>
            <a:r>
              <a:rPr lang="en-US" sz="2000" b="1" dirty="0" smtClean="0"/>
              <a:t>Minimum element in </a:t>
            </a:r>
            <a:r>
              <a:rPr lang="en-US" sz="2000" b="1" dirty="0" err="1" smtClean="0"/>
              <a:t>tuples</a:t>
            </a:r>
            <a:r>
              <a:rPr lang="en-US" sz="2000" b="1" dirty="0" smtClean="0"/>
              <a:t> 1,2: geek,1 </a:t>
            </a:r>
          </a:p>
          <a:p>
            <a:pPr fontAlgn="base"/>
            <a:endParaRPr lang="en-US" sz="2400" i="1" dirty="0" smtClean="0"/>
          </a:p>
          <a:p>
            <a:pPr fontAlgn="base"/>
            <a:r>
              <a:rPr lang="en-US" sz="2400" b="1" i="1" dirty="0" smtClean="0"/>
              <a:t>Note:</a:t>
            </a:r>
            <a:r>
              <a:rPr lang="en-US" sz="2400" i="1" dirty="0" smtClean="0"/>
              <a:t> max() and min() checks the based on ASCII values. If there are two strings in a </a:t>
            </a:r>
            <a:r>
              <a:rPr lang="en-US" sz="2400" i="1" dirty="0" err="1" smtClean="0"/>
              <a:t>tuple</a:t>
            </a:r>
            <a:r>
              <a:rPr lang="en-US" sz="2400" i="1" dirty="0" smtClean="0"/>
              <a:t>, then the first different character in the strings are checked.</a:t>
            </a:r>
            <a:endParaRPr lang="en-US" sz="2400" dirty="0" smtClean="0"/>
          </a:p>
          <a:p>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Why Use Tuple?</a:t>
            </a:r>
            <a:endParaRPr lang="en-US" sz="3600" dirty="0"/>
          </a:p>
        </p:txBody>
      </p:sp>
      <p:sp>
        <p:nvSpPr>
          <p:cNvPr id="3" name="Content Placeholder 2"/>
          <p:cNvSpPr>
            <a:spLocks noGrp="1"/>
          </p:cNvSpPr>
          <p:nvPr>
            <p:ph idx="1"/>
          </p:nvPr>
        </p:nvSpPr>
        <p:spPr/>
        <p:txBody>
          <a:bodyPr>
            <a:normAutofit/>
          </a:bodyPr>
          <a:lstStyle/>
          <a:p>
            <a:r>
              <a:rPr lang="en-US" sz="2400" dirty="0" smtClean="0"/>
              <a:t>Processing of </a:t>
            </a:r>
            <a:r>
              <a:rPr lang="en-US" sz="2400" dirty="0" err="1" smtClean="0"/>
              <a:t>Tuples</a:t>
            </a:r>
            <a:r>
              <a:rPr lang="en-US" sz="2400" dirty="0" smtClean="0"/>
              <a:t> are faster than Lists.</a:t>
            </a:r>
          </a:p>
          <a:p>
            <a:r>
              <a:rPr lang="en-US" sz="2400" dirty="0" smtClean="0"/>
              <a:t>It makes the data safe as </a:t>
            </a:r>
            <a:r>
              <a:rPr lang="en-US" sz="2400" dirty="0" err="1" smtClean="0"/>
              <a:t>Tuples</a:t>
            </a:r>
            <a:r>
              <a:rPr lang="en-US" sz="2400" dirty="0" smtClean="0"/>
              <a:t> are immutable and hence cannot be changed.</a:t>
            </a:r>
          </a:p>
          <a:p>
            <a:r>
              <a:rPr lang="en-US" sz="2400" dirty="0" err="1" smtClean="0"/>
              <a:t>Tuples</a:t>
            </a:r>
            <a:r>
              <a:rPr lang="en-US" sz="2400" dirty="0" smtClean="0"/>
              <a:t> are used for String formatting.</a:t>
            </a:r>
          </a:p>
          <a:p>
            <a:endParaRPr lang="en-US" sz="24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Dictionary in Python</a:t>
            </a:r>
            <a:endParaRPr lang="en-US" dirty="0"/>
          </a:p>
        </p:txBody>
      </p:sp>
      <p:sp>
        <p:nvSpPr>
          <p:cNvPr id="3" name="Content Placeholder 2"/>
          <p:cNvSpPr>
            <a:spLocks noGrp="1"/>
          </p:cNvSpPr>
          <p:nvPr>
            <p:ph idx="1"/>
          </p:nvPr>
        </p:nvSpPr>
        <p:spPr/>
        <p:txBody>
          <a:bodyPr>
            <a:normAutofit fontScale="92500"/>
          </a:bodyPr>
          <a:lstStyle/>
          <a:p>
            <a:pPr algn="just"/>
            <a:r>
              <a:rPr lang="en-US" sz="2400" dirty="0" smtClean="0"/>
              <a:t>In python, dictionary is similar to hash or maps in other languages. </a:t>
            </a:r>
          </a:p>
          <a:p>
            <a:pPr algn="just"/>
            <a:r>
              <a:rPr lang="en-US" sz="2400" dirty="0" smtClean="0"/>
              <a:t>It consists of key value pairs. </a:t>
            </a:r>
          </a:p>
          <a:p>
            <a:pPr algn="just"/>
            <a:r>
              <a:rPr lang="en-US" sz="2400" dirty="0" smtClean="0"/>
              <a:t>The value can be accessed by unique key in the dictionary.</a:t>
            </a:r>
          </a:p>
          <a:p>
            <a:r>
              <a:rPr lang="en-US" sz="2400" dirty="0" smtClean="0"/>
              <a:t>Dictionary is mutable i.e., value can be updated.</a:t>
            </a:r>
          </a:p>
          <a:p>
            <a:r>
              <a:rPr lang="en-US" sz="2400" dirty="0" smtClean="0"/>
              <a:t>Keys must be immutable. </a:t>
            </a:r>
          </a:p>
          <a:p>
            <a:r>
              <a:rPr lang="en-US" sz="2400" dirty="0" smtClean="0"/>
              <a:t>Value is accessed by key. </a:t>
            </a:r>
          </a:p>
          <a:p>
            <a:r>
              <a:rPr lang="en-US" sz="2400" dirty="0" smtClean="0"/>
              <a:t>Value can be updated while key cannot be changed.</a:t>
            </a:r>
          </a:p>
          <a:p>
            <a:r>
              <a:rPr lang="en-US" sz="2400" dirty="0" smtClean="0"/>
              <a:t>Dictionary is known as Associative array since the Key works as Index and they are decided by the user.</a:t>
            </a:r>
          </a:p>
          <a:p>
            <a:pPr algn="just">
              <a:buNone/>
            </a:pPr>
            <a:r>
              <a:rPr lang="en-US" sz="2400" dirty="0" smtClean="0"/>
              <a:t/>
            </a:r>
            <a:br>
              <a:rPr lang="en-US" sz="2400" dirty="0" smtClean="0"/>
            </a:br>
            <a:r>
              <a:rPr lang="en-US" sz="2400" dirty="0" smtClean="0"/>
              <a:t> </a:t>
            </a:r>
            <a:endParaRPr lang="en-US" sz="24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55000" lnSpcReduction="20000"/>
          </a:bodyPr>
          <a:lstStyle/>
          <a:p>
            <a:pPr fontAlgn="base">
              <a:buNone/>
            </a:pPr>
            <a:r>
              <a:rPr lang="en-US" b="1" dirty="0" smtClean="0"/>
              <a:t># Create a new dictionary </a:t>
            </a:r>
          </a:p>
          <a:p>
            <a:pPr fontAlgn="base"/>
            <a:r>
              <a:rPr lang="en-US" dirty="0" smtClean="0"/>
              <a:t>d = </a:t>
            </a:r>
            <a:r>
              <a:rPr lang="en-US" dirty="0" err="1" smtClean="0"/>
              <a:t>dict</a:t>
            </a:r>
            <a:r>
              <a:rPr lang="en-US" dirty="0" smtClean="0"/>
              <a:t>()       # or d = {}</a:t>
            </a:r>
          </a:p>
          <a:p>
            <a:pPr fontAlgn="base">
              <a:buNone/>
            </a:pPr>
            <a:endParaRPr lang="en-US" dirty="0" smtClean="0"/>
          </a:p>
          <a:p>
            <a:pPr fontAlgn="base">
              <a:buNone/>
            </a:pPr>
            <a:r>
              <a:rPr lang="en-US" b="1" dirty="0" smtClean="0"/>
              <a:t># Add a key - value pairs to dictionary</a:t>
            </a:r>
          </a:p>
          <a:p>
            <a:pPr fontAlgn="base"/>
            <a:r>
              <a:rPr lang="en-US" dirty="0" smtClean="0"/>
              <a:t>d['xyz'] = 123</a:t>
            </a:r>
          </a:p>
          <a:p>
            <a:pPr fontAlgn="base"/>
            <a:r>
              <a:rPr lang="en-US" dirty="0" smtClean="0"/>
              <a:t>d['</a:t>
            </a:r>
            <a:r>
              <a:rPr lang="en-US" dirty="0" err="1" smtClean="0"/>
              <a:t>abc</a:t>
            </a:r>
            <a:r>
              <a:rPr lang="en-US" dirty="0" smtClean="0"/>
              <a:t>'] = 345</a:t>
            </a:r>
          </a:p>
          <a:p>
            <a:pPr fontAlgn="base">
              <a:buNone/>
            </a:pPr>
            <a:endParaRPr lang="en-US" dirty="0" smtClean="0"/>
          </a:p>
          <a:p>
            <a:pPr fontAlgn="base">
              <a:buNone/>
            </a:pPr>
            <a:r>
              <a:rPr lang="en-US" b="1" dirty="0" smtClean="0"/>
              <a:t># print the whole dictionary</a:t>
            </a:r>
          </a:p>
          <a:p>
            <a:pPr fontAlgn="base"/>
            <a:r>
              <a:rPr lang="en-US" dirty="0" smtClean="0"/>
              <a:t>print (d)</a:t>
            </a:r>
          </a:p>
          <a:p>
            <a:pPr fontAlgn="base">
              <a:buNone/>
            </a:pPr>
            <a:endParaRPr lang="en-US" dirty="0" smtClean="0"/>
          </a:p>
          <a:p>
            <a:pPr fontAlgn="base">
              <a:buNone/>
            </a:pPr>
            <a:r>
              <a:rPr lang="en-US" b="1" dirty="0" smtClean="0"/>
              <a:t># print only the keys</a:t>
            </a:r>
          </a:p>
          <a:p>
            <a:pPr fontAlgn="base"/>
            <a:r>
              <a:rPr lang="en-US" dirty="0" smtClean="0"/>
              <a:t>print (</a:t>
            </a:r>
            <a:r>
              <a:rPr lang="en-US" dirty="0" err="1" smtClean="0"/>
              <a:t>d.keys</a:t>
            </a:r>
            <a:r>
              <a:rPr lang="en-US" dirty="0" smtClean="0"/>
              <a:t>())</a:t>
            </a:r>
          </a:p>
          <a:p>
            <a:pPr fontAlgn="base">
              <a:buNone/>
            </a:pPr>
            <a:endParaRPr lang="en-US" dirty="0" smtClean="0"/>
          </a:p>
          <a:p>
            <a:pPr fontAlgn="base">
              <a:buNone/>
            </a:pPr>
            <a:r>
              <a:rPr lang="en-US" b="1" dirty="0" smtClean="0"/>
              <a:t># print only values</a:t>
            </a:r>
          </a:p>
          <a:p>
            <a:pPr fontAlgn="base"/>
            <a:r>
              <a:rPr lang="en-US" dirty="0" smtClean="0"/>
              <a:t>print (</a:t>
            </a:r>
            <a:r>
              <a:rPr lang="en-US" dirty="0" err="1" smtClean="0"/>
              <a:t>d.values</a:t>
            </a:r>
            <a:r>
              <a:rPr lang="en-US" dirty="0" smtClean="0"/>
              <a:t>())</a:t>
            </a:r>
          </a:p>
          <a:p>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pPr fontAlgn="base">
              <a:buNone/>
            </a:pPr>
            <a:r>
              <a:rPr lang="en-US" b="1" dirty="0" smtClean="0"/>
              <a:t># iterate over dictionary </a:t>
            </a:r>
          </a:p>
          <a:p>
            <a:pPr fontAlgn="base"/>
            <a:r>
              <a:rPr lang="en-US" dirty="0" smtClean="0"/>
              <a:t>for </a:t>
            </a:r>
            <a:r>
              <a:rPr lang="en-US" dirty="0" err="1" smtClean="0"/>
              <a:t>i</a:t>
            </a:r>
            <a:r>
              <a:rPr lang="en-US" dirty="0" smtClean="0"/>
              <a:t> in d :</a:t>
            </a:r>
          </a:p>
          <a:p>
            <a:pPr lvl="1" fontAlgn="base">
              <a:buNone/>
            </a:pPr>
            <a:r>
              <a:rPr lang="en-US" dirty="0" smtClean="0"/>
              <a:t>    print "%s  %d" %(</a:t>
            </a:r>
            <a:r>
              <a:rPr lang="en-US" dirty="0" err="1" smtClean="0"/>
              <a:t>i</a:t>
            </a:r>
            <a:r>
              <a:rPr lang="en-US" dirty="0" smtClean="0"/>
              <a:t>, d[</a:t>
            </a:r>
            <a:r>
              <a:rPr lang="en-US" dirty="0" err="1" smtClean="0"/>
              <a:t>i</a:t>
            </a:r>
            <a:r>
              <a:rPr lang="en-US" dirty="0" smtClean="0"/>
              <a:t>])</a:t>
            </a:r>
          </a:p>
          <a:p>
            <a:pPr fontAlgn="base">
              <a:buNone/>
            </a:pPr>
            <a:r>
              <a:rPr lang="en-US" b="1" dirty="0" smtClean="0"/>
              <a:t> # another method of iteration</a:t>
            </a:r>
          </a:p>
          <a:p>
            <a:pPr fontAlgn="base"/>
            <a:r>
              <a:rPr lang="en-US" dirty="0" smtClean="0"/>
              <a:t>for index, value in enumerate(d):</a:t>
            </a:r>
          </a:p>
          <a:p>
            <a:pPr fontAlgn="base">
              <a:buNone/>
            </a:pPr>
            <a:r>
              <a:rPr lang="en-US" dirty="0" smtClean="0"/>
              <a:t>	        print (index, value , d[value])</a:t>
            </a:r>
          </a:p>
          <a:p>
            <a:pPr fontAlgn="base">
              <a:buNone/>
            </a:pPr>
            <a:r>
              <a:rPr lang="en-US" b="1" dirty="0" smtClean="0"/>
              <a:t># check if key exist</a:t>
            </a:r>
          </a:p>
          <a:p>
            <a:pPr fontAlgn="base"/>
            <a:r>
              <a:rPr lang="en-US" dirty="0" smtClean="0"/>
              <a:t>print ('xyz' in d)</a:t>
            </a:r>
          </a:p>
          <a:p>
            <a:pPr fontAlgn="base">
              <a:buNone/>
            </a:pPr>
            <a:endParaRPr lang="en-US" dirty="0" smtClean="0"/>
          </a:p>
          <a:p>
            <a:pPr fontAlgn="base">
              <a:buNone/>
            </a:pPr>
            <a:r>
              <a:rPr lang="en-US" b="1" dirty="0" smtClean="0"/>
              <a:t># delete the key-value pair</a:t>
            </a:r>
          </a:p>
          <a:p>
            <a:pPr fontAlgn="base"/>
            <a:r>
              <a:rPr lang="en-US" dirty="0" smtClean="0"/>
              <a:t>del d['xyz']</a:t>
            </a:r>
          </a:p>
          <a:p>
            <a:pPr fontAlgn="base">
              <a:buNone/>
            </a:pPr>
            <a:endParaRPr lang="en-US" dirty="0" smtClean="0"/>
          </a:p>
          <a:p>
            <a:pPr fontAlgn="base">
              <a:buNone/>
            </a:pPr>
            <a:r>
              <a:rPr lang="en-US" b="1" dirty="0" smtClean="0"/>
              <a:t># check again </a:t>
            </a:r>
          </a:p>
          <a:p>
            <a:pPr fontAlgn="base"/>
            <a:r>
              <a:rPr lang="en-US" dirty="0" smtClean="0"/>
              <a:t>print ("xyz" in d)</a:t>
            </a:r>
          </a:p>
          <a:p>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Output:</a:t>
            </a:r>
          </a:p>
          <a:p>
            <a:pPr>
              <a:buNone/>
            </a:pPr>
            <a:r>
              <a:rPr lang="en-US" sz="2400" dirty="0" smtClean="0"/>
              <a:t>{'xyz': 123, '</a:t>
            </a:r>
            <a:r>
              <a:rPr lang="en-US" sz="2400" dirty="0" err="1" smtClean="0"/>
              <a:t>abc</a:t>
            </a:r>
            <a:r>
              <a:rPr lang="en-US" sz="2400" dirty="0" smtClean="0"/>
              <a:t>': 345} </a:t>
            </a:r>
          </a:p>
          <a:p>
            <a:pPr>
              <a:buNone/>
            </a:pPr>
            <a:r>
              <a:rPr lang="en-US" sz="2400" dirty="0" smtClean="0"/>
              <a:t>['xyz', '</a:t>
            </a:r>
            <a:r>
              <a:rPr lang="en-US" sz="2400" dirty="0" err="1" smtClean="0"/>
              <a:t>abc</a:t>
            </a:r>
            <a:r>
              <a:rPr lang="en-US" sz="2400" dirty="0" smtClean="0"/>
              <a:t>'] </a:t>
            </a:r>
          </a:p>
          <a:p>
            <a:pPr>
              <a:buNone/>
            </a:pPr>
            <a:r>
              <a:rPr lang="en-US" sz="2400" dirty="0" smtClean="0"/>
              <a:t>[123, 345]</a:t>
            </a:r>
          </a:p>
          <a:p>
            <a:pPr>
              <a:buNone/>
            </a:pPr>
            <a:r>
              <a:rPr lang="en-US" sz="2400" dirty="0" smtClean="0"/>
              <a:t> xyz 123 </a:t>
            </a:r>
          </a:p>
          <a:p>
            <a:pPr>
              <a:buNone/>
            </a:pPr>
            <a:r>
              <a:rPr lang="en-US" sz="2400" dirty="0" err="1" smtClean="0"/>
              <a:t>abc</a:t>
            </a:r>
            <a:r>
              <a:rPr lang="en-US" sz="2400" dirty="0" smtClean="0"/>
              <a:t> 345 </a:t>
            </a:r>
          </a:p>
          <a:p>
            <a:pPr>
              <a:buNone/>
            </a:pPr>
            <a:r>
              <a:rPr lang="en-US" sz="2400" dirty="0" smtClean="0"/>
              <a:t>0 xyz 123 </a:t>
            </a:r>
          </a:p>
          <a:p>
            <a:pPr>
              <a:buNone/>
            </a:pPr>
            <a:r>
              <a:rPr lang="en-US" sz="2400" dirty="0" smtClean="0"/>
              <a:t>1 </a:t>
            </a:r>
            <a:r>
              <a:rPr lang="en-US" sz="2400" dirty="0" err="1" smtClean="0"/>
              <a:t>abc</a:t>
            </a:r>
            <a:r>
              <a:rPr lang="en-US" sz="2400" dirty="0" smtClean="0"/>
              <a:t> 345 </a:t>
            </a:r>
          </a:p>
          <a:p>
            <a:pPr>
              <a:buNone/>
            </a:pPr>
            <a:r>
              <a:rPr lang="en-US" sz="2400" dirty="0" smtClean="0"/>
              <a:t>True </a:t>
            </a:r>
          </a:p>
          <a:p>
            <a:pPr>
              <a:buNone/>
            </a:pPr>
            <a:r>
              <a:rPr lang="en-US" sz="2400" dirty="0" smtClean="0"/>
              <a:t>False</a:t>
            </a:r>
            <a:endParaRPr lang="en-US" sz="24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t>Dictionary Methods in Python</a:t>
            </a:r>
            <a:endParaRPr lang="en-US" sz="3600" b="1" dirty="0"/>
          </a:p>
        </p:txBody>
      </p:sp>
      <p:sp>
        <p:nvSpPr>
          <p:cNvPr id="3" name="Content Placeholder 2"/>
          <p:cNvSpPr>
            <a:spLocks noGrp="1"/>
          </p:cNvSpPr>
          <p:nvPr>
            <p:ph idx="1"/>
          </p:nvPr>
        </p:nvSpPr>
        <p:spPr/>
        <p:txBody>
          <a:bodyPr>
            <a:normAutofit lnSpcReduction="10000"/>
          </a:bodyPr>
          <a:lstStyle/>
          <a:p>
            <a:pPr fontAlgn="base">
              <a:buNone/>
            </a:pPr>
            <a:r>
              <a:rPr lang="en-US" sz="2400" b="1" dirty="0" smtClean="0"/>
              <a:t>1. </a:t>
            </a:r>
            <a:r>
              <a:rPr lang="en-US" sz="2400" b="1" dirty="0" err="1" smtClean="0"/>
              <a:t>str</a:t>
            </a:r>
            <a:r>
              <a:rPr lang="en-US" sz="2400" b="1" dirty="0" smtClean="0"/>
              <a:t>(</a:t>
            </a:r>
            <a:r>
              <a:rPr lang="en-US" sz="2400" b="1" dirty="0" err="1" smtClean="0"/>
              <a:t>dic</a:t>
            </a:r>
            <a:r>
              <a:rPr lang="en-US" sz="2400" b="1" dirty="0" smtClean="0"/>
              <a:t>) </a:t>
            </a:r>
            <a:r>
              <a:rPr lang="en-US" sz="2400" dirty="0" smtClean="0"/>
              <a:t>:- This method is used to </a:t>
            </a:r>
            <a:r>
              <a:rPr lang="en-US" sz="2400" b="1" dirty="0" smtClean="0"/>
              <a:t>return the string</a:t>
            </a:r>
            <a:r>
              <a:rPr lang="en-US" sz="2400" dirty="0" smtClean="0"/>
              <a:t>, denoting all the dictionary keys with their values.</a:t>
            </a:r>
          </a:p>
          <a:p>
            <a:pPr fontAlgn="base">
              <a:buNone/>
            </a:pPr>
            <a:r>
              <a:rPr lang="en-US" sz="2400" b="1" dirty="0" smtClean="0"/>
              <a:t>2. items() </a:t>
            </a:r>
            <a:r>
              <a:rPr lang="en-US" sz="2400" dirty="0" smtClean="0"/>
              <a:t>:- This method is used to</a:t>
            </a:r>
            <a:r>
              <a:rPr lang="en-US" sz="2400" b="1" dirty="0" smtClean="0"/>
              <a:t> return the list</a:t>
            </a:r>
            <a:r>
              <a:rPr lang="en-US" sz="2400" dirty="0" smtClean="0"/>
              <a:t> with all dictionary keys with values.</a:t>
            </a:r>
          </a:p>
          <a:p>
            <a:pPr fontAlgn="base">
              <a:buNone/>
            </a:pPr>
            <a:r>
              <a:rPr lang="en-US" sz="2400" dirty="0" smtClean="0"/>
              <a:t># Initializing dictionary</a:t>
            </a:r>
          </a:p>
          <a:p>
            <a:pPr fontAlgn="base"/>
            <a:r>
              <a:rPr lang="en-US" sz="2400" b="1" dirty="0" err="1" smtClean="0"/>
              <a:t>dic</a:t>
            </a:r>
            <a:r>
              <a:rPr lang="en-US" sz="2400" b="1" dirty="0" smtClean="0"/>
              <a:t> = { 'Name' : ‘RAM', 'Age' : 19 } </a:t>
            </a:r>
          </a:p>
          <a:p>
            <a:pPr fontAlgn="base">
              <a:buNone/>
            </a:pPr>
            <a:r>
              <a:rPr lang="en-US" sz="2400" dirty="0" smtClean="0"/>
              <a:t># using </a:t>
            </a:r>
            <a:r>
              <a:rPr lang="en-US" sz="2400" dirty="0" err="1" smtClean="0"/>
              <a:t>str</a:t>
            </a:r>
            <a:r>
              <a:rPr lang="en-US" sz="2400" dirty="0" smtClean="0"/>
              <a:t>() to display </a:t>
            </a:r>
            <a:r>
              <a:rPr lang="en-US" sz="2400" dirty="0" err="1" smtClean="0"/>
              <a:t>dic</a:t>
            </a:r>
            <a:r>
              <a:rPr lang="en-US" sz="2400" dirty="0" smtClean="0"/>
              <a:t> as string</a:t>
            </a:r>
          </a:p>
          <a:p>
            <a:pPr fontAlgn="base"/>
            <a:r>
              <a:rPr lang="en-US" sz="2400" b="1" dirty="0" smtClean="0"/>
              <a:t>print (</a:t>
            </a:r>
            <a:r>
              <a:rPr lang="en-US" sz="2400" b="1" dirty="0" err="1" smtClean="0"/>
              <a:t>str</a:t>
            </a:r>
            <a:r>
              <a:rPr lang="en-US" sz="2400" b="1" dirty="0" smtClean="0"/>
              <a:t>(</a:t>
            </a:r>
            <a:r>
              <a:rPr lang="en-US" sz="2400" b="1" dirty="0" err="1" smtClean="0"/>
              <a:t>dic</a:t>
            </a:r>
            <a:r>
              <a:rPr lang="en-US" sz="2400" b="1" dirty="0" smtClean="0"/>
              <a:t>))  		#’</a:t>
            </a:r>
            <a:r>
              <a:rPr lang="en-US" sz="2400" dirty="0" smtClean="0"/>
              <a:t>{'Name': ‘RAM', 'Age': 19}’</a:t>
            </a:r>
            <a:endParaRPr lang="en-US" sz="2400" b="1" dirty="0" smtClean="0"/>
          </a:p>
          <a:p>
            <a:pPr fontAlgn="base">
              <a:buNone/>
            </a:pPr>
            <a:r>
              <a:rPr lang="en-US" sz="2400" dirty="0" smtClean="0"/>
              <a:t># using </a:t>
            </a:r>
            <a:r>
              <a:rPr lang="en-US" sz="2400" dirty="0" err="1" smtClean="0"/>
              <a:t>str</a:t>
            </a:r>
            <a:r>
              <a:rPr lang="en-US" sz="2400" dirty="0" smtClean="0"/>
              <a:t>() to display </a:t>
            </a:r>
            <a:r>
              <a:rPr lang="en-US" sz="2400" dirty="0" err="1" smtClean="0"/>
              <a:t>dic</a:t>
            </a:r>
            <a:r>
              <a:rPr lang="en-US" sz="2400" dirty="0" smtClean="0"/>
              <a:t> as list</a:t>
            </a:r>
          </a:p>
          <a:p>
            <a:pPr fontAlgn="base"/>
            <a:r>
              <a:rPr lang="en-US" sz="2400" b="1" dirty="0" smtClean="0"/>
              <a:t>print (</a:t>
            </a:r>
            <a:r>
              <a:rPr lang="en-US" sz="2400" b="1" dirty="0" err="1" smtClean="0"/>
              <a:t>dic.items</a:t>
            </a:r>
            <a:r>
              <a:rPr lang="en-US" sz="2400" b="1" dirty="0" smtClean="0"/>
              <a:t>())     #</a:t>
            </a:r>
            <a:r>
              <a:rPr lang="en-US" sz="2400" dirty="0" err="1" smtClean="0"/>
              <a:t>dict_items</a:t>
            </a:r>
            <a:r>
              <a:rPr lang="en-US" sz="2400" dirty="0" smtClean="0"/>
              <a:t>([('Name', '</a:t>
            </a:r>
            <a:r>
              <a:rPr lang="en-US" sz="2400" dirty="0" err="1" smtClean="0"/>
              <a:t>Nandini</a:t>
            </a:r>
            <a:r>
              <a:rPr lang="en-US" sz="2400" dirty="0" smtClean="0"/>
              <a:t>'), ('Age', 19)])</a:t>
            </a:r>
            <a:endParaRPr lang="en-US" sz="2400" b="1" dirty="0" smtClean="0"/>
          </a:p>
          <a:p>
            <a:endParaRPr lang="en-US" sz="24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fontAlgn="base">
              <a:buNone/>
            </a:pPr>
            <a:r>
              <a:rPr lang="en-US" sz="2400" b="1" dirty="0" smtClean="0"/>
              <a:t>3. </a:t>
            </a:r>
            <a:r>
              <a:rPr lang="en-US" sz="2400" b="1" dirty="0" err="1" smtClean="0"/>
              <a:t>len</a:t>
            </a:r>
            <a:r>
              <a:rPr lang="en-US" sz="2400" b="1" dirty="0" smtClean="0"/>
              <a:t>()</a:t>
            </a:r>
            <a:r>
              <a:rPr lang="en-US" sz="2400" dirty="0" smtClean="0"/>
              <a:t> :- It returns the </a:t>
            </a:r>
            <a:r>
              <a:rPr lang="en-US" sz="2400" b="1" dirty="0" smtClean="0"/>
              <a:t>count of key entities</a:t>
            </a:r>
            <a:r>
              <a:rPr lang="en-US" sz="2400" dirty="0" smtClean="0"/>
              <a:t> of the dictionary elements.</a:t>
            </a:r>
          </a:p>
          <a:p>
            <a:pPr fontAlgn="base">
              <a:buNone/>
            </a:pPr>
            <a:r>
              <a:rPr lang="en-US" sz="2400" dirty="0" err="1" smtClean="0"/>
              <a:t>dic</a:t>
            </a:r>
            <a:r>
              <a:rPr lang="en-US" sz="2400" dirty="0" smtClean="0"/>
              <a:t> = { 'Name' : '</a:t>
            </a:r>
            <a:r>
              <a:rPr lang="en-US" sz="2400" dirty="0" err="1" smtClean="0"/>
              <a:t>Nandini</a:t>
            </a:r>
            <a:r>
              <a:rPr lang="en-US" sz="2400" dirty="0" smtClean="0"/>
              <a:t>', 'Age' : 19, 'ID' : 2541997 } </a:t>
            </a:r>
          </a:p>
          <a:p>
            <a:pPr fontAlgn="base">
              <a:buNone/>
            </a:pPr>
            <a:endParaRPr lang="en-US" sz="2400" dirty="0" smtClean="0"/>
          </a:p>
          <a:p>
            <a:pPr fontAlgn="base">
              <a:buNone/>
            </a:pPr>
            <a:r>
              <a:rPr lang="en-US" sz="2400" dirty="0" smtClean="0"/>
              <a:t># using </a:t>
            </a:r>
            <a:r>
              <a:rPr lang="en-US" sz="2400" dirty="0" err="1" smtClean="0"/>
              <a:t>len</a:t>
            </a:r>
            <a:r>
              <a:rPr lang="en-US" sz="2400" dirty="0" smtClean="0"/>
              <a:t>() to display dict. size</a:t>
            </a:r>
          </a:p>
          <a:p>
            <a:pPr fontAlgn="base"/>
            <a:r>
              <a:rPr lang="en-US" sz="2400" dirty="0" smtClean="0"/>
              <a:t>print (</a:t>
            </a:r>
            <a:r>
              <a:rPr lang="en-US" sz="2400" dirty="0" err="1" smtClean="0"/>
              <a:t>len</a:t>
            </a:r>
            <a:r>
              <a:rPr lang="en-US" sz="2400" dirty="0" smtClean="0"/>
              <a:t>(</a:t>
            </a:r>
            <a:r>
              <a:rPr lang="en-US" sz="2400" dirty="0" err="1" smtClean="0"/>
              <a:t>dic</a:t>
            </a:r>
            <a:r>
              <a:rPr lang="en-US" sz="2400" dirty="0" smtClean="0"/>
              <a:t>))                               # 3</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pPr fontAlgn="base">
              <a:buNone/>
            </a:pPr>
            <a:r>
              <a:rPr lang="en-US" b="1" dirty="0" smtClean="0"/>
              <a:t>4. copy()</a:t>
            </a:r>
            <a:r>
              <a:rPr lang="en-US" dirty="0" smtClean="0"/>
              <a:t> :- This function creates the</a:t>
            </a:r>
            <a:r>
              <a:rPr lang="en-US" b="1" dirty="0" smtClean="0"/>
              <a:t> copy of the dictionary</a:t>
            </a:r>
            <a:r>
              <a:rPr lang="en-US" dirty="0" smtClean="0"/>
              <a:t> into other dictionary.</a:t>
            </a:r>
          </a:p>
          <a:p>
            <a:pPr fontAlgn="base">
              <a:buNone/>
            </a:pPr>
            <a:r>
              <a:rPr lang="en-US" b="1" dirty="0" smtClean="0"/>
              <a:t>5. clear()</a:t>
            </a:r>
            <a:r>
              <a:rPr lang="en-US" dirty="0" smtClean="0"/>
              <a:t> :- This function is used to</a:t>
            </a:r>
            <a:r>
              <a:rPr lang="en-US" b="1" dirty="0" smtClean="0"/>
              <a:t> clear the dictionary</a:t>
            </a:r>
            <a:r>
              <a:rPr lang="en-US" dirty="0" smtClean="0"/>
              <a:t> contents.</a:t>
            </a:r>
          </a:p>
          <a:p>
            <a:pPr fontAlgn="base">
              <a:buNone/>
            </a:pPr>
            <a:r>
              <a:rPr lang="en-US" dirty="0" smtClean="0"/>
              <a:t>dic1 = { 'Name' : '</a:t>
            </a:r>
            <a:r>
              <a:rPr lang="en-US" dirty="0" err="1" smtClean="0"/>
              <a:t>Nandini</a:t>
            </a:r>
            <a:r>
              <a:rPr lang="en-US" dirty="0" smtClean="0"/>
              <a:t>', 'Age' : 19 }</a:t>
            </a:r>
          </a:p>
          <a:p>
            <a:pPr fontAlgn="base">
              <a:buNone/>
            </a:pPr>
            <a:r>
              <a:rPr lang="en-US" dirty="0" smtClean="0"/>
              <a:t>dic3 = {} </a:t>
            </a:r>
          </a:p>
          <a:p>
            <a:pPr fontAlgn="base">
              <a:buNone/>
            </a:pPr>
            <a:r>
              <a:rPr lang="en-US" dirty="0" smtClean="0"/>
              <a:t># using copy() to make shallow copy of dictionary</a:t>
            </a:r>
          </a:p>
          <a:p>
            <a:pPr fontAlgn="base"/>
            <a:r>
              <a:rPr lang="en-US" dirty="0" smtClean="0"/>
              <a:t>dic3 = dic1.copy()</a:t>
            </a:r>
          </a:p>
          <a:p>
            <a:pPr fontAlgn="base">
              <a:buNone/>
            </a:pPr>
            <a:r>
              <a:rPr lang="en-US" dirty="0" smtClean="0"/>
              <a:t># printing new dictionary</a:t>
            </a:r>
          </a:p>
          <a:p>
            <a:pPr fontAlgn="base"/>
            <a:r>
              <a:rPr lang="en-US" dirty="0" smtClean="0"/>
              <a:t>print </a:t>
            </a:r>
            <a:r>
              <a:rPr lang="en-US" smtClean="0"/>
              <a:t>(dic3)</a:t>
            </a:r>
            <a:r>
              <a:rPr lang="en-US" dirty="0" smtClean="0"/>
              <a:t>          # { 'Name' : '</a:t>
            </a:r>
            <a:r>
              <a:rPr lang="en-US" dirty="0" err="1" smtClean="0"/>
              <a:t>Nandini</a:t>
            </a:r>
            <a:r>
              <a:rPr lang="en-US" dirty="0" smtClean="0"/>
              <a:t>', 'Age' : 19 }</a:t>
            </a:r>
          </a:p>
          <a:p>
            <a:pPr fontAlgn="base">
              <a:buNone/>
            </a:pPr>
            <a:r>
              <a:rPr lang="en-US" dirty="0" smtClean="0"/>
              <a:t># clearing the dictionary</a:t>
            </a:r>
          </a:p>
          <a:p>
            <a:pPr fontAlgn="base"/>
            <a:r>
              <a:rPr lang="en-US" dirty="0" smtClean="0"/>
              <a:t>dic1.clear()    </a:t>
            </a:r>
          </a:p>
          <a:p>
            <a:pPr fontAlgn="base">
              <a:buNone/>
            </a:pPr>
            <a:r>
              <a:rPr lang="en-US" dirty="0" smtClean="0"/>
              <a:t># printing cleared dictionary</a:t>
            </a:r>
          </a:p>
          <a:p>
            <a:pPr fontAlgn="base"/>
            <a:r>
              <a:rPr lang="en-US" dirty="0" smtClean="0"/>
              <a:t>print (dic1.items())                       #  {}</a:t>
            </a:r>
          </a:p>
          <a:p>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r>
              <a:rPr lang="en-US" sz="2000" b="1" dirty="0" smtClean="0"/>
              <a:t>Deletion: del</a:t>
            </a:r>
            <a:r>
              <a:rPr lang="en-US" sz="2000" dirty="0" smtClean="0"/>
              <a:t> statement is used for performing deletion operation.</a:t>
            </a:r>
          </a:p>
          <a:p>
            <a:r>
              <a:rPr lang="en-US" sz="2000" dirty="0" smtClean="0"/>
              <a:t>An item can be deleted from a dictionary using the key.</a:t>
            </a:r>
          </a:p>
          <a:p>
            <a:pPr>
              <a:buNone/>
            </a:pPr>
            <a:r>
              <a:rPr lang="en-US" sz="2000" dirty="0" smtClean="0"/>
              <a:t>del [key] </a:t>
            </a:r>
          </a:p>
          <a:p>
            <a:r>
              <a:rPr lang="en-US" sz="2000" dirty="0" smtClean="0"/>
              <a:t>Whole of the dictionary can also be deleted using the del statement.</a:t>
            </a:r>
          </a:p>
          <a:p>
            <a:r>
              <a:rPr lang="en-US" sz="2000" dirty="0" smtClean="0"/>
              <a:t>data={100:'Ram', 101:'Suraj', 102:'Alok'} </a:t>
            </a:r>
          </a:p>
          <a:p>
            <a:r>
              <a:rPr lang="en-US" sz="2000" dirty="0" smtClean="0"/>
              <a:t>del data[102] </a:t>
            </a:r>
          </a:p>
          <a:p>
            <a:r>
              <a:rPr lang="en-US" sz="2000" dirty="0" smtClean="0"/>
              <a:t>print (data) </a:t>
            </a:r>
          </a:p>
          <a:p>
            <a:r>
              <a:rPr lang="en-US" sz="2000" dirty="0" smtClean="0"/>
              <a:t>del data </a:t>
            </a:r>
          </a:p>
          <a:p>
            <a:r>
              <a:rPr lang="en-US" sz="2000" dirty="0" smtClean="0"/>
              <a:t>print (data)      </a:t>
            </a:r>
            <a:r>
              <a:rPr lang="en-US" sz="1800" dirty="0" smtClean="0"/>
              <a:t> #will show an error since dictionary is deleted.</a:t>
            </a:r>
          </a:p>
          <a:p>
            <a:endParaRPr lang="en-US" sz="20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0000"/>
                </a:solidFill>
                <a:latin typeface="Verdana" pitchFamily="34" charset="0"/>
                <a:cs typeface="Arial" pitchFamily="34" charset="0"/>
              </a:rPr>
              <a:t>Dictionary Functions</a:t>
            </a:r>
            <a:endParaRPr lang="en-US" dirty="0"/>
          </a:p>
        </p:txBody>
      </p:sp>
      <p:graphicFrame>
        <p:nvGraphicFramePr>
          <p:cNvPr id="4" name="Content Placeholder 3"/>
          <p:cNvGraphicFramePr>
            <a:graphicFrameLocks noGrp="1"/>
          </p:cNvGraphicFramePr>
          <p:nvPr>
            <p:ph idx="1"/>
          </p:nvPr>
        </p:nvGraphicFramePr>
        <p:xfrm>
          <a:off x="809625" y="1524000"/>
          <a:ext cx="7524750" cy="2331720"/>
        </p:xfrm>
        <a:graphic>
          <a:graphicData uri="http://schemas.openxmlformats.org/drawingml/2006/table">
            <a:tbl>
              <a:tblPr/>
              <a:tblGrid>
                <a:gridCol w="3762375">
                  <a:extLst>
                    <a:ext uri="{9D8B030D-6E8A-4147-A177-3AD203B41FA5}">
                      <a16:colId xmlns:a16="http://schemas.microsoft.com/office/drawing/2014/main" xmlns="" val="20000"/>
                    </a:ext>
                  </a:extLst>
                </a:gridCol>
                <a:gridCol w="3762375">
                  <a:extLst>
                    <a:ext uri="{9D8B030D-6E8A-4147-A177-3AD203B41FA5}">
                      <a16:colId xmlns:a16="http://schemas.microsoft.com/office/drawing/2014/main" xmlns="" val="20001"/>
                    </a:ext>
                  </a:extLst>
                </a:gridCol>
              </a:tblGrid>
              <a:tr h="0">
                <a:tc>
                  <a:txBody>
                    <a:bodyPr/>
                    <a:lstStyle/>
                    <a:p>
                      <a:pPr algn="l" fontAlgn="t"/>
                      <a:r>
                        <a:rPr lang="en-US" dirty="0">
                          <a:solidFill>
                            <a:srgbClr val="000000"/>
                          </a:solidFill>
                          <a:latin typeface="times new roman"/>
                        </a:rPr>
                        <a:t>Functions</a:t>
                      </a:r>
                    </a:p>
                  </a:txBody>
                  <a:tcPr marL="114300" marR="114300" marT="114300" marB="114300">
                    <a:lnL w="9525" cap="flat" cmpd="sng" algn="ctr">
                      <a:solidFill>
                        <a:srgbClr val="C051DC"/>
                      </a:solidFill>
                      <a:prstDash val="solid"/>
                      <a:round/>
                      <a:headEnd type="none" w="med" len="med"/>
                      <a:tailEnd type="none" w="med" len="med"/>
                    </a:lnL>
                    <a:lnR w="9525" cap="flat" cmpd="sng" algn="ctr">
                      <a:solidFill>
                        <a:srgbClr val="C051DC"/>
                      </a:solidFill>
                      <a:prstDash val="solid"/>
                      <a:round/>
                      <a:headEnd type="none" w="med" len="med"/>
                      <a:tailEnd type="none" w="med" len="med"/>
                    </a:lnR>
                    <a:lnT w="9525" cap="flat" cmpd="sng" algn="ctr">
                      <a:solidFill>
                        <a:srgbClr val="C051DC"/>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a:solidFill>
                            <a:srgbClr val="000000"/>
                          </a:solidFill>
                          <a:latin typeface="times new roman"/>
                        </a:rPr>
                        <a:t>Description</a:t>
                      </a:r>
                    </a:p>
                  </a:txBody>
                  <a:tcPr marL="114300" marR="114300" marT="114300" marB="114300">
                    <a:lnL w="9525" cap="flat" cmpd="sng" algn="ctr">
                      <a:solidFill>
                        <a:srgbClr val="C051DC"/>
                      </a:solidFill>
                      <a:prstDash val="solid"/>
                      <a:round/>
                      <a:headEnd type="none" w="med" len="med"/>
                      <a:tailEnd type="none" w="med" len="med"/>
                    </a:lnL>
                    <a:lnR w="9525" cap="flat" cmpd="sng" algn="ctr">
                      <a:solidFill>
                        <a:srgbClr val="C051DC"/>
                      </a:solidFill>
                      <a:prstDash val="solid"/>
                      <a:round/>
                      <a:headEnd type="none" w="med" len="med"/>
                      <a:tailEnd type="none" w="med" len="med"/>
                    </a:lnR>
                    <a:lnT w="9525" cap="flat" cmpd="sng" algn="ctr">
                      <a:solidFill>
                        <a:srgbClr val="C051DC"/>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xmlns="" val="10000"/>
                  </a:ext>
                </a:extLst>
              </a:tr>
              <a:tr h="0">
                <a:tc>
                  <a:txBody>
                    <a:bodyPr/>
                    <a:lstStyle/>
                    <a:p>
                      <a:pPr algn="just" fontAlgn="t"/>
                      <a:r>
                        <a:rPr lang="en-US" b="0" i="0">
                          <a:solidFill>
                            <a:srgbClr val="000000"/>
                          </a:solidFill>
                          <a:latin typeface="verdana"/>
                        </a:rPr>
                        <a:t>len(dictionary)</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b="0" i="0">
                          <a:solidFill>
                            <a:srgbClr val="000000"/>
                          </a:solidFill>
                          <a:latin typeface="verdana"/>
                        </a:rPr>
                        <a:t>Gives number of items in a dictionary.</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xmlns="" val="10001"/>
                  </a:ext>
                </a:extLst>
              </a:tr>
              <a:tr h="0">
                <a:tc>
                  <a:txBody>
                    <a:bodyPr/>
                    <a:lstStyle/>
                    <a:p>
                      <a:pPr algn="just" fontAlgn="t"/>
                      <a:r>
                        <a:rPr lang="en-US" b="0" i="0">
                          <a:solidFill>
                            <a:srgbClr val="000000"/>
                          </a:solidFill>
                          <a:latin typeface="verdana"/>
                        </a:rPr>
                        <a:t>cmp(dictionary1,dictionary2)</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b="0" i="0">
                          <a:solidFill>
                            <a:srgbClr val="000000"/>
                          </a:solidFill>
                          <a:latin typeface="verdana"/>
                        </a:rPr>
                        <a:t>Compares the two dictionaries.</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xmlns="" val="10002"/>
                  </a:ext>
                </a:extLst>
              </a:tr>
              <a:tr h="0">
                <a:tc>
                  <a:txBody>
                    <a:bodyPr/>
                    <a:lstStyle/>
                    <a:p>
                      <a:pPr algn="just" fontAlgn="t"/>
                      <a:r>
                        <a:rPr lang="en-US" b="0" i="0">
                          <a:solidFill>
                            <a:srgbClr val="000000"/>
                          </a:solidFill>
                          <a:latin typeface="verdana"/>
                        </a:rPr>
                        <a:t>str(dictionary)</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b="0" i="0" dirty="0">
                          <a:solidFill>
                            <a:srgbClr val="000000"/>
                          </a:solidFill>
                          <a:latin typeface="verdana"/>
                        </a:rPr>
                        <a:t>Gives the string representation of a </a:t>
                      </a:r>
                      <a:r>
                        <a:rPr lang="en-US" b="0" i="0" dirty="0" smtClean="0">
                          <a:solidFill>
                            <a:srgbClr val="000000"/>
                          </a:solidFill>
                          <a:latin typeface="verdana"/>
                        </a:rPr>
                        <a:t>dictionary.</a:t>
                      </a:r>
                      <a:endParaRPr lang="en-US" b="0" i="0" dirty="0">
                        <a:solidFill>
                          <a:srgbClr val="000000"/>
                        </a:solidFill>
                        <a:latin typeface="verdana"/>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xmlns="" val="10003"/>
                  </a:ext>
                </a:extLst>
              </a:tr>
            </a:tbl>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b="1" dirty="0" smtClean="0">
                <a:solidFill>
                  <a:srgbClr val="000000"/>
                </a:solidFill>
                <a:latin typeface="Verdana" pitchFamily="34" charset="0"/>
                <a:cs typeface="Arial" pitchFamily="34" charset="0"/>
              </a:rPr>
              <a:t>Dictionary Methods</a:t>
            </a:r>
            <a:endParaRPr lang="en-US" dirty="0"/>
          </a:p>
        </p:txBody>
      </p:sp>
      <p:graphicFrame>
        <p:nvGraphicFramePr>
          <p:cNvPr id="4" name="Content Placeholder 3"/>
          <p:cNvGraphicFramePr>
            <a:graphicFrameLocks noGrp="1"/>
          </p:cNvGraphicFramePr>
          <p:nvPr>
            <p:ph idx="1"/>
          </p:nvPr>
        </p:nvGraphicFramePr>
        <p:xfrm>
          <a:off x="152400" y="1219200"/>
          <a:ext cx="8686800" cy="5122566"/>
        </p:xfrm>
        <a:graphic>
          <a:graphicData uri="http://schemas.openxmlformats.org/drawingml/2006/table">
            <a:tbl>
              <a:tblPr/>
              <a:tblGrid>
                <a:gridCol w="2971800">
                  <a:extLst>
                    <a:ext uri="{9D8B030D-6E8A-4147-A177-3AD203B41FA5}">
                      <a16:colId xmlns:a16="http://schemas.microsoft.com/office/drawing/2014/main" xmlns="" val="20000"/>
                    </a:ext>
                  </a:extLst>
                </a:gridCol>
                <a:gridCol w="5715000">
                  <a:extLst>
                    <a:ext uri="{9D8B030D-6E8A-4147-A177-3AD203B41FA5}">
                      <a16:colId xmlns:a16="http://schemas.microsoft.com/office/drawing/2014/main" xmlns="" val="20001"/>
                    </a:ext>
                  </a:extLst>
                </a:gridCol>
              </a:tblGrid>
              <a:tr h="301931">
                <a:tc>
                  <a:txBody>
                    <a:bodyPr/>
                    <a:lstStyle/>
                    <a:p>
                      <a:pPr algn="l" fontAlgn="t"/>
                      <a:r>
                        <a:rPr lang="en-US" sz="1600" b="1" dirty="0">
                          <a:solidFill>
                            <a:srgbClr val="000000"/>
                          </a:solidFill>
                          <a:latin typeface="times new roman"/>
                        </a:rPr>
                        <a:t>Methods</a:t>
                      </a:r>
                    </a:p>
                  </a:txBody>
                  <a:tcPr marL="57436" marR="57436" marT="57436" marB="57436">
                    <a:lnL w="9525" cap="flat" cmpd="sng" algn="ctr">
                      <a:solidFill>
                        <a:srgbClr val="F0C48F"/>
                      </a:solidFill>
                      <a:prstDash val="solid"/>
                      <a:round/>
                      <a:headEnd type="none" w="med" len="med"/>
                      <a:tailEnd type="none" w="med" len="med"/>
                    </a:lnL>
                    <a:lnR w="9525" cap="flat" cmpd="sng" algn="ctr">
                      <a:solidFill>
                        <a:srgbClr val="F0C48F"/>
                      </a:solidFill>
                      <a:prstDash val="solid"/>
                      <a:round/>
                      <a:headEnd type="none" w="med" len="med"/>
                      <a:tailEnd type="none" w="med" len="med"/>
                    </a:lnR>
                    <a:lnT w="9525" cap="flat" cmpd="sng" algn="ctr">
                      <a:solidFill>
                        <a:srgbClr val="F0C48F"/>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600" b="1" dirty="0">
                          <a:solidFill>
                            <a:srgbClr val="000000"/>
                          </a:solidFill>
                          <a:latin typeface="times new roman"/>
                        </a:rPr>
                        <a:t>Description</a:t>
                      </a:r>
                    </a:p>
                  </a:txBody>
                  <a:tcPr marL="57436" marR="57436" marT="57436" marB="57436">
                    <a:lnL w="9525" cap="flat" cmpd="sng" algn="ctr">
                      <a:solidFill>
                        <a:srgbClr val="F0C48F"/>
                      </a:solidFill>
                      <a:prstDash val="solid"/>
                      <a:round/>
                      <a:headEnd type="none" w="med" len="med"/>
                      <a:tailEnd type="none" w="med" len="med"/>
                    </a:lnL>
                    <a:lnR w="9525" cap="flat" cmpd="sng" algn="ctr">
                      <a:solidFill>
                        <a:srgbClr val="F0C48F"/>
                      </a:solidFill>
                      <a:prstDash val="solid"/>
                      <a:round/>
                      <a:headEnd type="none" w="med" len="med"/>
                      <a:tailEnd type="none" w="med" len="med"/>
                    </a:lnR>
                    <a:lnT w="9525" cap="flat" cmpd="sng" algn="ctr">
                      <a:solidFill>
                        <a:srgbClr val="F0C48F"/>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xmlns="" val="10000"/>
                  </a:ext>
                </a:extLst>
              </a:tr>
              <a:tr h="420376">
                <a:tc>
                  <a:txBody>
                    <a:bodyPr/>
                    <a:lstStyle/>
                    <a:p>
                      <a:pPr algn="just" fontAlgn="t"/>
                      <a:r>
                        <a:rPr lang="en-US" sz="1600" b="0" i="0" dirty="0">
                          <a:solidFill>
                            <a:srgbClr val="000000"/>
                          </a:solidFill>
                          <a:latin typeface="verdana"/>
                        </a:rPr>
                        <a:t>keys()</a:t>
                      </a:r>
                    </a:p>
                  </a:txBody>
                  <a:tcPr marL="38291" marR="38291" marT="38291" marB="3829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b="0" i="0" dirty="0">
                          <a:solidFill>
                            <a:srgbClr val="000000"/>
                          </a:solidFill>
                          <a:latin typeface="verdana"/>
                        </a:rPr>
                        <a:t>Return all the keys element of a dictionary.</a:t>
                      </a:r>
                    </a:p>
                  </a:txBody>
                  <a:tcPr marL="38291" marR="38291" marT="38291" marB="3829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xmlns="" val="10001"/>
                  </a:ext>
                </a:extLst>
              </a:tr>
              <a:tr h="420376">
                <a:tc>
                  <a:txBody>
                    <a:bodyPr/>
                    <a:lstStyle/>
                    <a:p>
                      <a:pPr algn="just" fontAlgn="t"/>
                      <a:r>
                        <a:rPr lang="en-US" sz="1600" b="0" i="0" dirty="0">
                          <a:solidFill>
                            <a:srgbClr val="000000"/>
                          </a:solidFill>
                          <a:latin typeface="verdana"/>
                        </a:rPr>
                        <a:t>values()</a:t>
                      </a:r>
                    </a:p>
                  </a:txBody>
                  <a:tcPr marL="38291" marR="38291" marT="38291" marB="3829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b="0" i="0" dirty="0">
                          <a:solidFill>
                            <a:srgbClr val="000000"/>
                          </a:solidFill>
                          <a:latin typeface="verdana"/>
                        </a:rPr>
                        <a:t>Return all the values element of a dictionary.</a:t>
                      </a:r>
                    </a:p>
                  </a:txBody>
                  <a:tcPr marL="38291" marR="38291" marT="38291" marB="3829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xmlns="" val="10002"/>
                  </a:ext>
                </a:extLst>
              </a:tr>
              <a:tr h="420376">
                <a:tc>
                  <a:txBody>
                    <a:bodyPr/>
                    <a:lstStyle/>
                    <a:p>
                      <a:pPr algn="just" fontAlgn="t"/>
                      <a:r>
                        <a:rPr lang="en-US" sz="1600" b="0" i="0">
                          <a:solidFill>
                            <a:srgbClr val="000000"/>
                          </a:solidFill>
                          <a:latin typeface="verdana"/>
                        </a:rPr>
                        <a:t>items()</a:t>
                      </a:r>
                    </a:p>
                  </a:txBody>
                  <a:tcPr marL="38291" marR="38291" marT="38291" marB="3829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b="0" i="0" dirty="0">
                          <a:solidFill>
                            <a:srgbClr val="000000"/>
                          </a:solidFill>
                          <a:latin typeface="verdana"/>
                        </a:rPr>
                        <a:t>Return all the items(key-value pair) of a dictionary.</a:t>
                      </a:r>
                    </a:p>
                  </a:txBody>
                  <a:tcPr marL="38291" marR="38291" marT="38291" marB="3829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xmlns="" val="10003"/>
                  </a:ext>
                </a:extLst>
              </a:tr>
              <a:tr h="420376">
                <a:tc>
                  <a:txBody>
                    <a:bodyPr/>
                    <a:lstStyle/>
                    <a:p>
                      <a:pPr algn="just" fontAlgn="t"/>
                      <a:r>
                        <a:rPr lang="en-US" sz="1600" b="0" i="0">
                          <a:solidFill>
                            <a:srgbClr val="000000"/>
                          </a:solidFill>
                          <a:latin typeface="verdana"/>
                        </a:rPr>
                        <a:t>update(dictionary2)</a:t>
                      </a:r>
                    </a:p>
                  </a:txBody>
                  <a:tcPr marL="38291" marR="38291" marT="38291" marB="3829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b="0" i="0" dirty="0">
                          <a:solidFill>
                            <a:srgbClr val="000000"/>
                          </a:solidFill>
                          <a:latin typeface="verdana"/>
                        </a:rPr>
                        <a:t>It is used to add items of dictionary2 to first dictionary.</a:t>
                      </a:r>
                    </a:p>
                  </a:txBody>
                  <a:tcPr marL="38291" marR="38291" marT="38291" marB="3829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xmlns="" val="10004"/>
                  </a:ext>
                </a:extLst>
              </a:tr>
              <a:tr h="573359">
                <a:tc>
                  <a:txBody>
                    <a:bodyPr/>
                    <a:lstStyle/>
                    <a:p>
                      <a:pPr algn="just" fontAlgn="t"/>
                      <a:r>
                        <a:rPr lang="en-US" sz="1600" b="0" i="0">
                          <a:solidFill>
                            <a:srgbClr val="000000"/>
                          </a:solidFill>
                          <a:latin typeface="verdana"/>
                        </a:rPr>
                        <a:t>clear()</a:t>
                      </a:r>
                    </a:p>
                  </a:txBody>
                  <a:tcPr marL="38291" marR="38291" marT="38291" marB="3829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b="0" i="0" dirty="0">
                          <a:solidFill>
                            <a:srgbClr val="000000"/>
                          </a:solidFill>
                          <a:latin typeface="verdana"/>
                        </a:rPr>
                        <a:t>It is used to remove all items of a dictionary. It returns an empty dictionary.</a:t>
                      </a:r>
                    </a:p>
                  </a:txBody>
                  <a:tcPr marL="38291" marR="38291" marT="38291" marB="3829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xmlns="" val="10005"/>
                  </a:ext>
                </a:extLst>
              </a:tr>
              <a:tr h="1218387">
                <a:tc>
                  <a:txBody>
                    <a:bodyPr/>
                    <a:lstStyle/>
                    <a:p>
                      <a:pPr algn="just" fontAlgn="t"/>
                      <a:r>
                        <a:rPr lang="en-US" sz="1600" b="0" i="0">
                          <a:solidFill>
                            <a:srgbClr val="000000"/>
                          </a:solidFill>
                          <a:latin typeface="verdana"/>
                        </a:rPr>
                        <a:t>fromkeys(sequence,value1)/ fromkeys(sequence)</a:t>
                      </a:r>
                    </a:p>
                  </a:txBody>
                  <a:tcPr marL="38291" marR="38291" marT="38291" marB="3829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b="0" i="0" dirty="0">
                          <a:solidFill>
                            <a:srgbClr val="000000"/>
                          </a:solidFill>
                          <a:latin typeface="verdana"/>
                        </a:rPr>
                        <a:t>It is used to create a new dictionary from the sequence where sequence elements forms the key and all keys share the values ?value1?. In case value1 is not give, it set the values of keys to be none.</a:t>
                      </a:r>
                    </a:p>
                  </a:txBody>
                  <a:tcPr marL="38291" marR="38291" marT="38291" marB="3829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xmlns="" val="10006"/>
                  </a:ext>
                </a:extLst>
              </a:tr>
              <a:tr h="573359">
                <a:tc>
                  <a:txBody>
                    <a:bodyPr/>
                    <a:lstStyle/>
                    <a:p>
                      <a:pPr algn="just" fontAlgn="t"/>
                      <a:r>
                        <a:rPr lang="en-US" sz="1600" b="0" i="0" dirty="0" err="1">
                          <a:solidFill>
                            <a:srgbClr val="000000"/>
                          </a:solidFill>
                          <a:latin typeface="verdana"/>
                        </a:rPr>
                        <a:t>has_key</a:t>
                      </a:r>
                      <a:r>
                        <a:rPr lang="en-US" sz="1600" b="0" i="0" dirty="0">
                          <a:solidFill>
                            <a:srgbClr val="000000"/>
                          </a:solidFill>
                          <a:latin typeface="verdana"/>
                        </a:rPr>
                        <a:t>(key)</a:t>
                      </a:r>
                    </a:p>
                  </a:txBody>
                  <a:tcPr marL="38291" marR="38291" marT="38291" marB="3829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600" b="0" i="0" dirty="0">
                          <a:solidFill>
                            <a:srgbClr val="000000"/>
                          </a:solidFill>
                          <a:latin typeface="verdana"/>
                        </a:rPr>
                        <a:t>It returns a </a:t>
                      </a:r>
                      <a:r>
                        <a:rPr lang="en-US" sz="1600" b="0" i="0" dirty="0" err="1">
                          <a:solidFill>
                            <a:srgbClr val="000000"/>
                          </a:solidFill>
                          <a:latin typeface="verdana"/>
                        </a:rPr>
                        <a:t>boolean</a:t>
                      </a:r>
                      <a:r>
                        <a:rPr lang="en-US" sz="1600" b="0" i="0" dirty="0">
                          <a:solidFill>
                            <a:srgbClr val="000000"/>
                          </a:solidFill>
                          <a:latin typeface="verdana"/>
                        </a:rPr>
                        <a:t> value. True in case if key is present in the dictionary ,else false.</a:t>
                      </a:r>
                    </a:p>
                  </a:txBody>
                  <a:tcPr marL="38291" marR="38291" marT="38291" marB="3829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xmlns="" val="10007"/>
                  </a:ext>
                </a:extLst>
              </a:tr>
              <a:tr h="573359">
                <a:tc>
                  <a:txBody>
                    <a:bodyPr/>
                    <a:lstStyle/>
                    <a:p>
                      <a:pPr algn="just" fontAlgn="t"/>
                      <a:r>
                        <a:rPr lang="en-US" sz="1600" b="0" i="0">
                          <a:solidFill>
                            <a:srgbClr val="000000"/>
                          </a:solidFill>
                          <a:latin typeface="verdana"/>
                        </a:rPr>
                        <a:t>get(key)</a:t>
                      </a:r>
                    </a:p>
                  </a:txBody>
                  <a:tcPr marL="38291" marR="38291" marT="38291" marB="3829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600" b="0" i="0" dirty="0">
                          <a:solidFill>
                            <a:srgbClr val="000000"/>
                          </a:solidFill>
                          <a:latin typeface="verdana"/>
                        </a:rPr>
                        <a:t>Returns the value of the given key. If key is not present it returns none.</a:t>
                      </a:r>
                    </a:p>
                  </a:txBody>
                  <a:tcPr marL="38291" marR="38291" marT="38291" marB="38291">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xmlns="" val="10008"/>
                  </a:ext>
                </a:extLst>
              </a:tr>
            </a:tbl>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marL="514350" indent="-514350">
              <a:buNone/>
            </a:pPr>
            <a:r>
              <a:rPr lang="en-US" dirty="0" smtClean="0"/>
              <a:t>&gt;&gt;&gt;data1={100:'Ram', 101:'Suraj', 102:'Alok'} </a:t>
            </a:r>
          </a:p>
          <a:p>
            <a:pPr>
              <a:buNone/>
            </a:pPr>
            <a:endParaRPr lang="en-US" dirty="0" smtClean="0"/>
          </a:p>
          <a:p>
            <a:pPr>
              <a:buNone/>
            </a:pPr>
            <a:r>
              <a:rPr lang="en-US" dirty="0" smtClean="0"/>
              <a:t>&gt;&gt;&gt;print (data1.keys() )</a:t>
            </a:r>
          </a:p>
          <a:p>
            <a:pPr>
              <a:buNone/>
            </a:pPr>
            <a:endParaRPr lang="en-US" sz="2600" b="1" dirty="0" smtClean="0"/>
          </a:p>
          <a:p>
            <a:pPr>
              <a:buNone/>
            </a:pPr>
            <a:r>
              <a:rPr lang="en-US" sz="2600" b="1" dirty="0" smtClean="0"/>
              <a:t>Output:</a:t>
            </a:r>
            <a:endParaRPr lang="en-US" sz="2600" dirty="0" smtClean="0"/>
          </a:p>
          <a:p>
            <a:pPr>
              <a:buNone/>
            </a:pPr>
            <a:r>
              <a:rPr lang="en-US" sz="2600" dirty="0" smtClean="0"/>
              <a:t>[100, 101, 102]</a:t>
            </a:r>
          </a:p>
          <a:p>
            <a:pPr>
              <a:buNone/>
            </a:pPr>
            <a:endParaRPr lang="en-US" dirty="0" smtClean="0"/>
          </a:p>
          <a:p>
            <a:pPr>
              <a:buNone/>
            </a:pPr>
            <a:r>
              <a:rPr lang="en-US" dirty="0" smtClean="0"/>
              <a:t>&gt;&gt;&gt;print data1.values() </a:t>
            </a:r>
          </a:p>
          <a:p>
            <a:pPr>
              <a:buNone/>
            </a:pPr>
            <a:r>
              <a:rPr lang="en-US" sz="2600" b="1" dirty="0" smtClean="0"/>
              <a:t>Output:</a:t>
            </a:r>
            <a:endParaRPr lang="en-US" sz="2600" dirty="0" smtClean="0"/>
          </a:p>
          <a:p>
            <a:pPr>
              <a:buNone/>
            </a:pPr>
            <a:r>
              <a:rPr lang="en-US" sz="2600" dirty="0" smtClean="0"/>
              <a:t>['Ram', '</a:t>
            </a:r>
            <a:r>
              <a:rPr lang="en-US" sz="2600" dirty="0" err="1" smtClean="0"/>
              <a:t>Suraj</a:t>
            </a:r>
            <a:r>
              <a:rPr lang="en-US" sz="2600" dirty="0" smtClean="0"/>
              <a:t>', '</a:t>
            </a:r>
            <a:r>
              <a:rPr lang="en-US" sz="2600" dirty="0" err="1" smtClean="0"/>
              <a:t>Alok</a:t>
            </a:r>
            <a:r>
              <a:rPr lang="en-US" sz="2600" dirty="0" smtClean="0"/>
              <a:t>‘]</a:t>
            </a:r>
          </a:p>
          <a:p>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pPr>
              <a:buNone/>
            </a:pPr>
            <a:r>
              <a:rPr lang="en-US" sz="2800" dirty="0" smtClean="0"/>
              <a:t>&gt;&gt;&gt;print (data1.items()) </a:t>
            </a:r>
          </a:p>
          <a:p>
            <a:pPr>
              <a:buNone/>
            </a:pPr>
            <a:r>
              <a:rPr lang="en-US" sz="2400" b="1" dirty="0" smtClean="0"/>
              <a:t>Output:</a:t>
            </a:r>
            <a:endParaRPr lang="en-US" sz="2400" dirty="0" smtClean="0"/>
          </a:p>
          <a:p>
            <a:pPr>
              <a:buNone/>
            </a:pPr>
            <a:r>
              <a:rPr lang="en-US" sz="2400" dirty="0" smtClean="0"/>
              <a:t>[(100, 'Ram'), (101, '</a:t>
            </a:r>
            <a:r>
              <a:rPr lang="en-US" sz="2400" dirty="0" err="1" smtClean="0"/>
              <a:t>Suraj</a:t>
            </a:r>
            <a:r>
              <a:rPr lang="en-US" sz="2400" dirty="0" smtClean="0"/>
              <a:t>'), (102, '</a:t>
            </a:r>
            <a:r>
              <a:rPr lang="en-US" sz="2400" dirty="0" err="1" smtClean="0"/>
              <a:t>Alok</a:t>
            </a:r>
            <a:r>
              <a:rPr lang="en-US" sz="2400" dirty="0" smtClean="0"/>
              <a:t>')]</a:t>
            </a:r>
          </a:p>
          <a:p>
            <a:pPr>
              <a:buNone/>
            </a:pPr>
            <a:endParaRPr lang="en-US" dirty="0" smtClean="0"/>
          </a:p>
          <a:p>
            <a:pPr>
              <a:buNone/>
            </a:pPr>
            <a:r>
              <a:rPr lang="en-US" dirty="0" smtClean="0"/>
              <a:t>&gt;&gt;&gt;data1={100:'Ram', 101:'Suraj', 102:'Alok'}</a:t>
            </a:r>
          </a:p>
          <a:p>
            <a:pPr>
              <a:buNone/>
            </a:pPr>
            <a:r>
              <a:rPr lang="en-US" dirty="0" smtClean="0"/>
              <a:t>&gt;&gt;&gt;data2={103:'Sanjay'} </a:t>
            </a:r>
          </a:p>
          <a:p>
            <a:pPr>
              <a:buNone/>
            </a:pPr>
            <a:r>
              <a:rPr lang="en-US" dirty="0" smtClean="0"/>
              <a:t>&gt;&gt;&gt;data1.update(data2) </a:t>
            </a:r>
          </a:p>
          <a:p>
            <a:pPr>
              <a:buNone/>
            </a:pPr>
            <a:r>
              <a:rPr lang="en-US" dirty="0" smtClean="0"/>
              <a:t>&gt;&gt;&gt;print (data1) </a:t>
            </a:r>
          </a:p>
          <a:p>
            <a:pPr>
              <a:buNone/>
            </a:pPr>
            <a:r>
              <a:rPr lang="en-US" dirty="0" smtClean="0"/>
              <a:t>&gt;&gt;&gt;print (data2) </a:t>
            </a:r>
          </a:p>
          <a:p>
            <a:pPr>
              <a:buNone/>
            </a:pPr>
            <a:r>
              <a:rPr lang="en-US" b="1" dirty="0" smtClean="0"/>
              <a:t>Output:</a:t>
            </a:r>
            <a:endParaRPr lang="en-US" dirty="0" smtClean="0"/>
          </a:p>
          <a:p>
            <a:pPr>
              <a:buNone/>
            </a:pPr>
            <a:r>
              <a:rPr lang="en-US" sz="3100" dirty="0" smtClean="0"/>
              <a:t>{100: 'Ram', 101: '</a:t>
            </a:r>
            <a:r>
              <a:rPr lang="en-US" sz="3100" dirty="0" err="1" smtClean="0"/>
              <a:t>Suraj</a:t>
            </a:r>
            <a:r>
              <a:rPr lang="en-US" sz="3100" dirty="0" smtClean="0"/>
              <a:t>', 102: '</a:t>
            </a:r>
            <a:r>
              <a:rPr lang="en-US" sz="3100" dirty="0" err="1" smtClean="0"/>
              <a:t>Alok</a:t>
            </a:r>
            <a:r>
              <a:rPr lang="en-US" sz="3100" dirty="0" smtClean="0"/>
              <a:t>', 103: 'Sanjay'} </a:t>
            </a:r>
          </a:p>
          <a:p>
            <a:pPr>
              <a:buNone/>
            </a:pPr>
            <a:r>
              <a:rPr lang="en-US" sz="3100" dirty="0" smtClean="0"/>
              <a:t>{103: 'Sanjay'}</a:t>
            </a:r>
          </a:p>
          <a:p>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lvl="1">
              <a:buFont typeface="Wingdings" pitchFamily="2" charset="2"/>
              <a:buChar char="Ø"/>
            </a:pPr>
            <a:r>
              <a:rPr lang="en-US" dirty="0" smtClean="0"/>
              <a:t>sequence=('Id' , 'Number' , 'Email') </a:t>
            </a:r>
          </a:p>
          <a:p>
            <a:pPr lvl="1">
              <a:buFont typeface="Wingdings" pitchFamily="2" charset="2"/>
              <a:buChar char="Ø"/>
            </a:pPr>
            <a:r>
              <a:rPr lang="en-US" dirty="0" smtClean="0"/>
              <a:t>data={} </a:t>
            </a:r>
          </a:p>
          <a:p>
            <a:pPr lvl="1">
              <a:buFont typeface="Wingdings" pitchFamily="2" charset="2"/>
              <a:buChar char="Ø"/>
            </a:pPr>
            <a:r>
              <a:rPr lang="en-US" dirty="0" smtClean="0"/>
              <a:t>data1={} </a:t>
            </a:r>
          </a:p>
          <a:p>
            <a:pPr lvl="1">
              <a:buFont typeface="Wingdings" pitchFamily="2" charset="2"/>
              <a:buChar char="Ø"/>
            </a:pPr>
            <a:r>
              <a:rPr lang="en-US" dirty="0" smtClean="0"/>
              <a:t>data=</a:t>
            </a:r>
            <a:r>
              <a:rPr lang="en-US" dirty="0" err="1" smtClean="0"/>
              <a:t>data.fromkeys</a:t>
            </a:r>
            <a:r>
              <a:rPr lang="en-US" dirty="0" smtClean="0"/>
              <a:t>(sequence) </a:t>
            </a:r>
          </a:p>
          <a:p>
            <a:pPr lvl="1">
              <a:buFont typeface="Wingdings" pitchFamily="2" charset="2"/>
              <a:buChar char="Ø"/>
            </a:pPr>
            <a:r>
              <a:rPr lang="en-US" dirty="0" smtClean="0"/>
              <a:t>print (data)</a:t>
            </a:r>
          </a:p>
          <a:p>
            <a:pPr lvl="1">
              <a:buFont typeface="Wingdings" pitchFamily="2" charset="2"/>
              <a:buChar char="Ø"/>
            </a:pPr>
            <a:r>
              <a:rPr lang="en-US" dirty="0" smtClean="0"/>
              <a:t>data1=data1.fromkeys(sequence,100) </a:t>
            </a:r>
          </a:p>
          <a:p>
            <a:pPr lvl="1">
              <a:buFont typeface="Wingdings" pitchFamily="2" charset="2"/>
              <a:buChar char="Ø"/>
            </a:pPr>
            <a:r>
              <a:rPr lang="en-US" dirty="0" smtClean="0"/>
              <a:t>print (data1) </a:t>
            </a:r>
          </a:p>
          <a:p>
            <a:r>
              <a:rPr lang="en-US" b="1" dirty="0" smtClean="0"/>
              <a:t>Output:</a:t>
            </a:r>
            <a:endParaRPr lang="en-US" dirty="0" smtClean="0"/>
          </a:p>
          <a:p>
            <a:pPr>
              <a:buNone/>
            </a:pPr>
            <a:r>
              <a:rPr lang="en-US" dirty="0" smtClean="0"/>
              <a:t>{'Email': None, 'Id': None, 'Number': None} </a:t>
            </a:r>
          </a:p>
          <a:p>
            <a:pPr>
              <a:buNone/>
            </a:pPr>
            <a:r>
              <a:rPr lang="en-US" dirty="0" smtClean="0"/>
              <a:t>{'Email': 100, 'Id': 100, 'Number': 100}</a:t>
            </a:r>
          </a:p>
          <a:p>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1">
              <a:buFont typeface="Wingdings" pitchFamily="2" charset="2"/>
              <a:buChar char="Ø"/>
            </a:pPr>
            <a:r>
              <a:rPr lang="en-US" dirty="0" smtClean="0"/>
              <a:t>data={'Id':100 , '</a:t>
            </a:r>
            <a:r>
              <a:rPr lang="en-US" dirty="0" err="1" smtClean="0"/>
              <a:t>Name':'Aakash</a:t>
            </a:r>
            <a:r>
              <a:rPr lang="en-US" dirty="0" smtClean="0"/>
              <a:t>' , 'Age':23} </a:t>
            </a:r>
          </a:p>
          <a:p>
            <a:pPr lvl="1">
              <a:buFont typeface="Wingdings" pitchFamily="2" charset="2"/>
              <a:buChar char="Ø"/>
            </a:pPr>
            <a:r>
              <a:rPr lang="en-US" dirty="0" smtClean="0"/>
              <a:t>print (</a:t>
            </a:r>
            <a:r>
              <a:rPr lang="en-US" dirty="0" err="1" smtClean="0"/>
              <a:t>data.has_key</a:t>
            </a:r>
            <a:r>
              <a:rPr lang="en-US" dirty="0" smtClean="0"/>
              <a:t>('Age'))</a:t>
            </a:r>
          </a:p>
          <a:p>
            <a:pPr lvl="1">
              <a:buFont typeface="Wingdings" pitchFamily="2" charset="2"/>
              <a:buChar char="Ø"/>
            </a:pPr>
            <a:r>
              <a:rPr lang="en-US" dirty="0" smtClean="0"/>
              <a:t>print (</a:t>
            </a:r>
            <a:r>
              <a:rPr lang="en-US" dirty="0" err="1" smtClean="0"/>
              <a:t>data.has_key</a:t>
            </a:r>
            <a:r>
              <a:rPr lang="en-US" dirty="0" smtClean="0"/>
              <a:t>('Email')) </a:t>
            </a:r>
          </a:p>
          <a:p>
            <a:r>
              <a:rPr lang="en-US" sz="2800" b="1" dirty="0" smtClean="0"/>
              <a:t>Output:</a:t>
            </a:r>
            <a:endParaRPr lang="en-US" sz="2800" dirty="0" smtClean="0"/>
          </a:p>
          <a:p>
            <a:pPr>
              <a:buNone/>
            </a:pPr>
            <a:r>
              <a:rPr lang="en-US" sz="2800" dirty="0" smtClean="0"/>
              <a:t>True </a:t>
            </a:r>
          </a:p>
          <a:p>
            <a:pPr>
              <a:buNone/>
            </a:pPr>
            <a:r>
              <a:rPr lang="en-US" sz="2800" dirty="0" smtClean="0"/>
              <a:t>False</a:t>
            </a:r>
          </a:p>
          <a:p>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1">
              <a:buFont typeface="Wingdings" pitchFamily="2" charset="2"/>
              <a:buChar char="Ø"/>
            </a:pPr>
            <a:r>
              <a:rPr lang="en-US" dirty="0" smtClean="0"/>
              <a:t>data={'Id':100 , '</a:t>
            </a:r>
            <a:r>
              <a:rPr lang="en-US" dirty="0" err="1" smtClean="0"/>
              <a:t>Name':'Aakash</a:t>
            </a:r>
            <a:r>
              <a:rPr lang="en-US" dirty="0" smtClean="0"/>
              <a:t>' , 'Age':23} </a:t>
            </a:r>
          </a:p>
          <a:p>
            <a:pPr lvl="1">
              <a:buFont typeface="Wingdings" pitchFamily="2" charset="2"/>
              <a:buChar char="Ø"/>
            </a:pPr>
            <a:r>
              <a:rPr lang="en-US" dirty="0" smtClean="0"/>
              <a:t>print (</a:t>
            </a:r>
            <a:r>
              <a:rPr lang="en-US" dirty="0" err="1" smtClean="0"/>
              <a:t>data.get</a:t>
            </a:r>
            <a:r>
              <a:rPr lang="en-US" dirty="0" smtClean="0"/>
              <a:t>('Age')) </a:t>
            </a:r>
          </a:p>
          <a:p>
            <a:pPr lvl="1">
              <a:buFont typeface="Wingdings" pitchFamily="2" charset="2"/>
              <a:buChar char="Ø"/>
            </a:pPr>
            <a:r>
              <a:rPr lang="en-US" dirty="0" smtClean="0"/>
              <a:t>print (</a:t>
            </a:r>
            <a:r>
              <a:rPr lang="en-US" dirty="0" err="1" smtClean="0"/>
              <a:t>data.get</a:t>
            </a:r>
            <a:r>
              <a:rPr lang="en-US" dirty="0" smtClean="0"/>
              <a:t>('Email') </a:t>
            </a:r>
          </a:p>
          <a:p>
            <a:pPr>
              <a:buNone/>
            </a:pPr>
            <a:r>
              <a:rPr lang="en-US" sz="2400" b="1" dirty="0" smtClean="0"/>
              <a:t>Output:</a:t>
            </a:r>
            <a:endParaRPr lang="en-US" sz="2400" dirty="0" smtClean="0"/>
          </a:p>
          <a:p>
            <a:pPr>
              <a:buNone/>
            </a:pPr>
            <a:r>
              <a:rPr lang="en-US" sz="2400" dirty="0" smtClean="0"/>
              <a:t>23 </a:t>
            </a:r>
          </a:p>
          <a:p>
            <a:pPr>
              <a:buNone/>
            </a:pPr>
            <a:r>
              <a:rPr lang="en-US" sz="2400" dirty="0" smtClean="0"/>
              <a:t>None</a:t>
            </a:r>
          </a:p>
          <a:p>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77500" lnSpcReduction="20000"/>
          </a:bodyPr>
          <a:lstStyle/>
          <a:p>
            <a:pPr>
              <a:buFont typeface="Wingdings" pitchFamily="2" charset="2"/>
              <a:buChar char="Ø"/>
            </a:pPr>
            <a:r>
              <a:rPr lang="en-US" sz="2600" dirty="0" smtClean="0"/>
              <a:t>d=</a:t>
            </a:r>
            <a:r>
              <a:rPr lang="en-US" sz="2600" b="1" dirty="0" smtClean="0"/>
              <a:t>{</a:t>
            </a:r>
            <a:r>
              <a:rPr lang="en-US" sz="2600" b="1" dirty="0" smtClean="0">
                <a:solidFill>
                  <a:srgbClr val="FF0000"/>
                </a:solidFill>
              </a:rPr>
              <a:t>int(</a:t>
            </a:r>
            <a:r>
              <a:rPr lang="en-US" sz="2600" dirty="0" smtClean="0">
                <a:solidFill>
                  <a:srgbClr val="FF0000"/>
                </a:solidFill>
              </a:rPr>
              <a:t>x</a:t>
            </a:r>
            <a:r>
              <a:rPr lang="en-US" sz="2600" b="1" dirty="0" smtClean="0">
                <a:solidFill>
                  <a:srgbClr val="FF0000"/>
                </a:solidFill>
              </a:rPr>
              <a:t>)</a:t>
            </a:r>
            <a:r>
              <a:rPr lang="en-US" sz="2600" b="1" dirty="0" smtClean="0"/>
              <a:t>:</a:t>
            </a:r>
            <a:r>
              <a:rPr lang="en-US" sz="2600" b="1" dirty="0" smtClean="0">
                <a:solidFill>
                  <a:srgbClr val="7030A0"/>
                </a:solidFill>
              </a:rPr>
              <a:t>z</a:t>
            </a:r>
            <a:r>
              <a:rPr lang="en-US" sz="2600" dirty="0" smtClean="0"/>
              <a:t> </a:t>
            </a:r>
            <a:r>
              <a:rPr lang="en-US" sz="2600" b="1" dirty="0" smtClean="0">
                <a:solidFill>
                  <a:srgbClr val="FF0000"/>
                </a:solidFill>
              </a:rPr>
              <a:t>for</a:t>
            </a:r>
            <a:r>
              <a:rPr lang="en-US" sz="2600" dirty="0" smtClean="0">
                <a:solidFill>
                  <a:srgbClr val="FF0000"/>
                </a:solidFill>
              </a:rPr>
              <a:t> x </a:t>
            </a:r>
            <a:r>
              <a:rPr lang="en-US" sz="2600" b="1" dirty="0" smtClean="0">
                <a:solidFill>
                  <a:srgbClr val="FF0000"/>
                </a:solidFill>
              </a:rPr>
              <a:t>in input(</a:t>
            </a:r>
            <a:r>
              <a:rPr lang="en-US" sz="2600" dirty="0" smtClean="0">
                <a:solidFill>
                  <a:srgbClr val="FF0000"/>
                </a:solidFill>
              </a:rPr>
              <a:t>'keys '</a:t>
            </a:r>
            <a:r>
              <a:rPr lang="en-US" sz="2600" b="1" dirty="0" smtClean="0">
                <a:solidFill>
                  <a:srgbClr val="FF0000"/>
                </a:solidFill>
              </a:rPr>
              <a:t>).split()</a:t>
            </a:r>
            <a:r>
              <a:rPr lang="en-US" sz="2600" b="1" dirty="0" smtClean="0"/>
              <a:t> </a:t>
            </a:r>
            <a:r>
              <a:rPr lang="en-US" sz="2600" b="1" dirty="0" smtClean="0">
                <a:solidFill>
                  <a:srgbClr val="7030A0"/>
                </a:solidFill>
              </a:rPr>
              <a:t>for </a:t>
            </a:r>
            <a:r>
              <a:rPr lang="en-US" sz="2600" dirty="0" smtClean="0">
                <a:solidFill>
                  <a:srgbClr val="7030A0"/>
                </a:solidFill>
              </a:rPr>
              <a:t>z</a:t>
            </a:r>
            <a:r>
              <a:rPr lang="en-US" sz="2600" b="1" dirty="0" smtClean="0">
                <a:solidFill>
                  <a:srgbClr val="7030A0"/>
                </a:solidFill>
              </a:rPr>
              <a:t> in input('</a:t>
            </a:r>
            <a:r>
              <a:rPr lang="en-US" sz="2600" dirty="0" smtClean="0">
                <a:solidFill>
                  <a:srgbClr val="7030A0"/>
                </a:solidFill>
              </a:rPr>
              <a:t>values</a:t>
            </a:r>
            <a:r>
              <a:rPr lang="en-US" sz="2600" b="1" dirty="0" smtClean="0">
                <a:solidFill>
                  <a:srgbClr val="7030A0"/>
                </a:solidFill>
              </a:rPr>
              <a:t> ').split()</a:t>
            </a:r>
            <a:r>
              <a:rPr lang="en-US" sz="2600" b="1" dirty="0" smtClean="0"/>
              <a:t>}</a:t>
            </a:r>
          </a:p>
          <a:p>
            <a:pPr>
              <a:buFont typeface="Wingdings" pitchFamily="2" charset="2"/>
              <a:buChar char="Ø"/>
            </a:pPr>
            <a:r>
              <a:rPr lang="en-US" dirty="0" smtClean="0"/>
              <a:t>keys 1 2 3 4 5 6</a:t>
            </a:r>
          </a:p>
          <a:p>
            <a:pPr>
              <a:buFont typeface="Wingdings" pitchFamily="2" charset="2"/>
              <a:buChar char="Ø"/>
            </a:pPr>
            <a:r>
              <a:rPr lang="en-US" dirty="0" smtClean="0"/>
              <a:t>values a</a:t>
            </a:r>
          </a:p>
          <a:p>
            <a:pPr>
              <a:buFont typeface="Wingdings" pitchFamily="2" charset="2"/>
              <a:buChar char="Ø"/>
            </a:pPr>
            <a:r>
              <a:rPr lang="en-US" dirty="0" smtClean="0"/>
              <a:t>values b</a:t>
            </a:r>
          </a:p>
          <a:p>
            <a:pPr>
              <a:buFont typeface="Wingdings" pitchFamily="2" charset="2"/>
              <a:buChar char="Ø"/>
            </a:pPr>
            <a:r>
              <a:rPr lang="en-US" dirty="0" smtClean="0"/>
              <a:t>values c</a:t>
            </a:r>
          </a:p>
          <a:p>
            <a:pPr>
              <a:buFont typeface="Wingdings" pitchFamily="2" charset="2"/>
              <a:buChar char="Ø"/>
            </a:pPr>
            <a:r>
              <a:rPr lang="en-US" dirty="0" smtClean="0"/>
              <a:t>values d</a:t>
            </a:r>
          </a:p>
          <a:p>
            <a:pPr>
              <a:buFont typeface="Wingdings" pitchFamily="2" charset="2"/>
              <a:buChar char="Ø"/>
            </a:pPr>
            <a:r>
              <a:rPr lang="en-US" dirty="0" smtClean="0"/>
              <a:t>values e</a:t>
            </a:r>
          </a:p>
          <a:p>
            <a:pPr>
              <a:buFont typeface="Wingdings" pitchFamily="2" charset="2"/>
              <a:buChar char="Ø"/>
            </a:pPr>
            <a:r>
              <a:rPr lang="en-US" dirty="0" smtClean="0"/>
              <a:t>values f</a:t>
            </a:r>
          </a:p>
          <a:p>
            <a:endParaRPr lang="en-US" dirty="0" smtClean="0"/>
          </a:p>
          <a:p>
            <a:pPr>
              <a:buNone/>
            </a:pPr>
            <a:r>
              <a:rPr lang="en-US" dirty="0" smtClean="0"/>
              <a:t>print(d)</a:t>
            </a:r>
          </a:p>
          <a:p>
            <a:pPr>
              <a:buNone/>
            </a:pPr>
            <a:r>
              <a:rPr lang="en-US" dirty="0" smtClean="0"/>
              <a:t> {1: 'a', 2: 'b', 3: 'c', 4: 'd', 5: 'e', 6: 'f'}</a:t>
            </a:r>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Python Modules</a:t>
            </a:r>
            <a:endParaRPr lang="en-US" b="1" dirty="0"/>
          </a:p>
        </p:txBody>
      </p:sp>
      <p:sp>
        <p:nvSpPr>
          <p:cNvPr id="3" name="Content Placeholder 2"/>
          <p:cNvSpPr>
            <a:spLocks noGrp="1"/>
          </p:cNvSpPr>
          <p:nvPr>
            <p:ph idx="1"/>
          </p:nvPr>
        </p:nvSpPr>
        <p:spPr/>
        <p:txBody>
          <a:bodyPr>
            <a:normAutofit/>
          </a:bodyPr>
          <a:lstStyle/>
          <a:p>
            <a:pPr algn="just"/>
            <a:r>
              <a:rPr lang="en-US" sz="2400" dirty="0" smtClean="0"/>
              <a:t>Modules refer to a file containing Python statements and definitions.</a:t>
            </a:r>
          </a:p>
          <a:p>
            <a:pPr algn="just"/>
            <a:r>
              <a:rPr lang="en-US" sz="2400" dirty="0" smtClean="0"/>
              <a:t>A file containing Python code, for e.g.: example.py, is called a module and its module name would be example.</a:t>
            </a:r>
          </a:p>
          <a:p>
            <a:pPr algn="just"/>
            <a:r>
              <a:rPr lang="en-US" sz="2400" dirty="0" smtClean="0"/>
              <a:t>We use modules to break down large programs into small manageable and organized files. </a:t>
            </a:r>
          </a:p>
          <a:p>
            <a:pPr algn="just"/>
            <a:r>
              <a:rPr lang="en-US" sz="2400" dirty="0" smtClean="0"/>
              <a:t>Furthermore, modules provide reusability of code.</a:t>
            </a:r>
          </a:p>
          <a:p>
            <a:pPr algn="just"/>
            <a:r>
              <a:rPr lang="en-US" sz="2400" dirty="0" smtClean="0"/>
              <a:t>We can define our most used functions in a module and import it, instead of copying their definitions into different programs.</a:t>
            </a:r>
          </a:p>
          <a:p>
            <a:pPr algn="just"/>
            <a:endParaRPr lang="en-US" sz="240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sz="2800" dirty="0" smtClean="0"/>
              <a:t># Python Module example(example.py) </a:t>
            </a:r>
            <a:endParaRPr lang="en-US" dirty="0" smtClean="0"/>
          </a:p>
          <a:p>
            <a:pPr>
              <a:buNone/>
            </a:pPr>
            <a:r>
              <a:rPr lang="en-US" sz="2400" dirty="0" smtClean="0"/>
              <a:t>def add(a, b): </a:t>
            </a:r>
          </a:p>
          <a:p>
            <a:pPr>
              <a:buNone/>
            </a:pPr>
            <a:r>
              <a:rPr lang="en-US" sz="1800" dirty="0" smtClean="0"/>
              <a:t>		"""This program adds two numbers and return the result""" </a:t>
            </a:r>
          </a:p>
          <a:p>
            <a:pPr>
              <a:buNone/>
            </a:pPr>
            <a:r>
              <a:rPr lang="en-US" sz="2400" dirty="0" smtClean="0"/>
              <a:t>		result = a + b </a:t>
            </a:r>
          </a:p>
          <a:p>
            <a:pPr>
              <a:buNone/>
            </a:pPr>
            <a:r>
              <a:rPr lang="en-US" sz="2400" dirty="0" smtClean="0"/>
              <a:t>		return result</a:t>
            </a:r>
          </a:p>
          <a:p>
            <a:pPr>
              <a:buNone/>
            </a:pPr>
            <a:endParaRPr lang="en-US" sz="2400" dirty="0" smtClean="0"/>
          </a:p>
          <a:p>
            <a:pPr>
              <a:buNone/>
            </a:pPr>
            <a:r>
              <a:rPr lang="en-US" sz="2400" dirty="0" smtClean="0"/>
              <a:t>	Here, we have defined a function add() inside a module named example(</a:t>
            </a:r>
            <a:r>
              <a:rPr lang="en-US" sz="2400" dirty="0" smtClean="0">
                <a:solidFill>
                  <a:srgbClr val="FF0000"/>
                </a:solidFill>
              </a:rPr>
              <a:t>SAVE THE FILE WITH </a:t>
            </a:r>
            <a:r>
              <a:rPr lang="en-US" sz="2400" b="1" dirty="0" smtClean="0">
                <a:solidFill>
                  <a:srgbClr val="FF0000"/>
                </a:solidFill>
              </a:rPr>
              <a:t>example.py</a:t>
            </a:r>
            <a:r>
              <a:rPr lang="en-US" sz="2400" dirty="0" smtClean="0"/>
              <a:t>) </a:t>
            </a:r>
            <a:endParaRPr lang="en-US" sz="240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How to import modules in Python?</a:t>
            </a:r>
            <a:endParaRPr lang="en-US" dirty="0"/>
          </a:p>
        </p:txBody>
      </p:sp>
      <p:sp>
        <p:nvSpPr>
          <p:cNvPr id="3" name="Content Placeholder 2"/>
          <p:cNvSpPr>
            <a:spLocks noGrp="1"/>
          </p:cNvSpPr>
          <p:nvPr>
            <p:ph idx="1"/>
          </p:nvPr>
        </p:nvSpPr>
        <p:spPr/>
        <p:txBody>
          <a:bodyPr>
            <a:normAutofit/>
          </a:bodyPr>
          <a:lstStyle/>
          <a:p>
            <a:pPr algn="just"/>
            <a:r>
              <a:rPr lang="en-US" sz="2400" dirty="0" smtClean="0"/>
              <a:t>We can import the definitions inside a module to another module or the interactive interpreter in Python.</a:t>
            </a:r>
          </a:p>
          <a:p>
            <a:pPr algn="just">
              <a:buNone/>
            </a:pPr>
            <a:r>
              <a:rPr lang="en-US" sz="2800" dirty="0" smtClean="0"/>
              <a:t>&gt;&gt;&gt; </a:t>
            </a:r>
            <a:r>
              <a:rPr lang="en-US" sz="2800" b="1" dirty="0" smtClean="0"/>
              <a:t>import</a:t>
            </a:r>
            <a:r>
              <a:rPr lang="en-US" sz="2800" dirty="0" smtClean="0"/>
              <a:t> example</a:t>
            </a:r>
          </a:p>
          <a:p>
            <a:pPr algn="just">
              <a:buNone/>
            </a:pPr>
            <a:r>
              <a:rPr lang="en-US" sz="2800" dirty="0" smtClean="0"/>
              <a:t>&gt;&gt;&gt; </a:t>
            </a:r>
            <a:r>
              <a:rPr lang="en-US" sz="2800" dirty="0" err="1" smtClean="0"/>
              <a:t>example.add</a:t>
            </a:r>
            <a:r>
              <a:rPr lang="en-US" sz="2800" dirty="0" smtClean="0"/>
              <a:t>(4,5.5) </a:t>
            </a:r>
          </a:p>
          <a:p>
            <a:pPr algn="just">
              <a:buNone/>
            </a:pPr>
            <a:r>
              <a:rPr lang="en-US" sz="2800" dirty="0" smtClean="0"/>
              <a:t>9.5</a:t>
            </a:r>
            <a:endParaRPr lang="en-US" sz="280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12838"/>
            <a:ext cx="8229600" cy="1935162"/>
          </a:xfrm>
        </p:spPr>
        <p:txBody>
          <a:bodyPr>
            <a:noAutofit/>
          </a:bodyPr>
          <a:lstStyle/>
          <a:p>
            <a:pPr algn="l"/>
            <a:r>
              <a:rPr lang="en-US" sz="2400" b="1" dirty="0" smtClean="0"/>
              <a:t>1. Python import statement</a:t>
            </a:r>
            <a:br>
              <a:rPr lang="en-US" sz="2400" b="1" dirty="0" smtClean="0"/>
            </a:br>
            <a:r>
              <a:rPr lang="en-US" sz="2400" dirty="0" smtClean="0"/>
              <a:t>We can import a module using import statement and access the definitions inside it using the dot operator.</a:t>
            </a:r>
            <a:br>
              <a:rPr lang="en-US" sz="2400" dirty="0" smtClean="0"/>
            </a:br>
            <a:r>
              <a:rPr lang="en-US" sz="2400" dirty="0" smtClean="0"/>
              <a:t/>
            </a:r>
            <a:br>
              <a:rPr lang="en-US" sz="2400" dirty="0" smtClean="0"/>
            </a:br>
            <a:endParaRPr lang="en-US" sz="2400" dirty="0"/>
          </a:p>
        </p:txBody>
      </p:sp>
      <p:sp>
        <p:nvSpPr>
          <p:cNvPr id="3" name="Content Placeholder 2"/>
          <p:cNvSpPr>
            <a:spLocks noGrp="1"/>
          </p:cNvSpPr>
          <p:nvPr>
            <p:ph idx="1"/>
          </p:nvPr>
        </p:nvSpPr>
        <p:spPr>
          <a:xfrm>
            <a:off x="457200" y="3124200"/>
            <a:ext cx="8229600" cy="3001963"/>
          </a:xfrm>
        </p:spPr>
        <p:txBody>
          <a:bodyPr>
            <a:normAutofit fontScale="92500" lnSpcReduction="10000"/>
          </a:bodyPr>
          <a:lstStyle/>
          <a:p>
            <a:pPr>
              <a:buNone/>
            </a:pPr>
            <a:r>
              <a:rPr lang="en-US" sz="2400" dirty="0" smtClean="0"/>
              <a:t># import statement example</a:t>
            </a:r>
          </a:p>
          <a:p>
            <a:pPr>
              <a:buNone/>
            </a:pPr>
            <a:r>
              <a:rPr lang="en-US" sz="2400" dirty="0" smtClean="0"/>
              <a:t># to import standard module math</a:t>
            </a:r>
          </a:p>
          <a:p>
            <a:pPr>
              <a:buNone/>
            </a:pPr>
            <a:r>
              <a:rPr lang="en-US" b="1" dirty="0" smtClean="0"/>
              <a:t>&gt;&gt;&gt;import</a:t>
            </a:r>
            <a:r>
              <a:rPr lang="en-US" dirty="0" smtClean="0"/>
              <a:t> math</a:t>
            </a:r>
          </a:p>
          <a:p>
            <a:pPr>
              <a:buNone/>
            </a:pPr>
            <a:r>
              <a:rPr lang="en-US" b="1" dirty="0" smtClean="0"/>
              <a:t>&gt;&gt;&gt;print(</a:t>
            </a:r>
            <a:r>
              <a:rPr lang="en-US" dirty="0" smtClean="0"/>
              <a:t>"The value of pi is", </a:t>
            </a:r>
            <a:r>
              <a:rPr lang="en-US" b="1" dirty="0" err="1" smtClean="0"/>
              <a:t>math.pi</a:t>
            </a:r>
            <a:r>
              <a:rPr lang="en-US" dirty="0" smtClean="0"/>
              <a:t>)</a:t>
            </a:r>
          </a:p>
          <a:p>
            <a:pPr>
              <a:buNone/>
            </a:pPr>
            <a:endParaRPr lang="en-US" sz="2400" dirty="0" smtClean="0"/>
          </a:p>
          <a:p>
            <a:pPr>
              <a:buNone/>
            </a:pPr>
            <a:endParaRPr lang="en-US" sz="2400" dirty="0" smtClean="0"/>
          </a:p>
          <a:p>
            <a:pPr>
              <a:buNone/>
            </a:pPr>
            <a:r>
              <a:rPr lang="en-US" sz="2400" dirty="0" smtClean="0"/>
              <a:t>The value of pi is 3.141592653589793</a:t>
            </a:r>
            <a:endParaRPr lang="en-US" sz="240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19200"/>
            <a:ext cx="8229600" cy="1143000"/>
          </a:xfrm>
        </p:spPr>
        <p:txBody>
          <a:bodyPr>
            <a:noAutofit/>
          </a:bodyPr>
          <a:lstStyle/>
          <a:p>
            <a:pPr algn="l"/>
            <a:r>
              <a:rPr lang="en-US" sz="2400" b="1" dirty="0" smtClean="0"/>
              <a:t>2. Import with renaming</a:t>
            </a:r>
            <a:br>
              <a:rPr lang="en-US" sz="2400" b="1" dirty="0" smtClean="0"/>
            </a:br>
            <a:r>
              <a:rPr lang="en-US" sz="2400" dirty="0" smtClean="0"/>
              <a:t>We can import a module by renaming it as follows.</a:t>
            </a:r>
            <a:br>
              <a:rPr lang="en-US" sz="2400" dirty="0" smtClean="0"/>
            </a:br>
            <a:endParaRPr lang="en-US" sz="2400" dirty="0"/>
          </a:p>
        </p:txBody>
      </p:sp>
      <p:sp>
        <p:nvSpPr>
          <p:cNvPr id="3" name="Content Placeholder 2"/>
          <p:cNvSpPr>
            <a:spLocks noGrp="1"/>
          </p:cNvSpPr>
          <p:nvPr>
            <p:ph idx="1"/>
          </p:nvPr>
        </p:nvSpPr>
        <p:spPr>
          <a:xfrm>
            <a:off x="457200" y="2408237"/>
            <a:ext cx="8229600" cy="2392363"/>
          </a:xfrm>
        </p:spPr>
        <p:txBody>
          <a:bodyPr>
            <a:normAutofit/>
          </a:bodyPr>
          <a:lstStyle/>
          <a:p>
            <a:pPr>
              <a:buNone/>
            </a:pPr>
            <a:r>
              <a:rPr lang="en-US" sz="2800" dirty="0" smtClean="0"/>
              <a:t>&gt;&gt;&gt;# import module by renaming it</a:t>
            </a:r>
          </a:p>
          <a:p>
            <a:pPr>
              <a:buNone/>
            </a:pPr>
            <a:r>
              <a:rPr lang="en-US" sz="2800" dirty="0" smtClean="0"/>
              <a:t>&gt;&gt;&gt;</a:t>
            </a:r>
            <a:r>
              <a:rPr lang="en-US" sz="2800" b="1" dirty="0" smtClean="0"/>
              <a:t>import</a:t>
            </a:r>
            <a:r>
              <a:rPr lang="en-US" sz="2800" dirty="0" smtClean="0"/>
              <a:t> math </a:t>
            </a:r>
            <a:r>
              <a:rPr lang="en-US" sz="2800" b="1" dirty="0" smtClean="0"/>
              <a:t>as</a:t>
            </a:r>
            <a:r>
              <a:rPr lang="en-US" sz="2800" dirty="0" smtClean="0"/>
              <a:t> m</a:t>
            </a:r>
          </a:p>
          <a:p>
            <a:pPr>
              <a:buNone/>
            </a:pPr>
            <a:r>
              <a:rPr lang="en-US" sz="2800" dirty="0" smtClean="0"/>
              <a:t>&gt;&gt;&gt;print("The value of pi is", </a:t>
            </a:r>
            <a:r>
              <a:rPr lang="en-US" sz="2800" dirty="0" err="1" smtClean="0"/>
              <a:t>m.pi</a:t>
            </a:r>
            <a:r>
              <a:rPr lang="en-US" sz="2800" dirty="0" smtClean="0"/>
              <a:t>)</a:t>
            </a:r>
            <a:endParaRPr lang="en-US" sz="2800"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95400"/>
            <a:ext cx="8229600" cy="1371600"/>
          </a:xfrm>
        </p:spPr>
        <p:txBody>
          <a:bodyPr>
            <a:noAutofit/>
          </a:bodyPr>
          <a:lstStyle/>
          <a:p>
            <a:pPr algn="l"/>
            <a:r>
              <a:rPr lang="en-US" sz="2400" b="1" dirty="0" smtClean="0"/>
              <a:t>3. Python from...import statement</a:t>
            </a:r>
            <a:br>
              <a:rPr lang="en-US" sz="2400" b="1" dirty="0" smtClean="0"/>
            </a:br>
            <a:r>
              <a:rPr lang="en-US" sz="2400" dirty="0" smtClean="0"/>
              <a:t>We can import specific names form a module without importing the module as a whole.</a:t>
            </a:r>
            <a:br>
              <a:rPr lang="en-US" sz="2400" dirty="0" smtClean="0"/>
            </a:br>
            <a:endParaRPr lang="en-US" sz="2400" dirty="0"/>
          </a:p>
        </p:txBody>
      </p:sp>
      <p:sp>
        <p:nvSpPr>
          <p:cNvPr id="3" name="Content Placeholder 2"/>
          <p:cNvSpPr>
            <a:spLocks noGrp="1"/>
          </p:cNvSpPr>
          <p:nvPr>
            <p:ph idx="1"/>
          </p:nvPr>
        </p:nvSpPr>
        <p:spPr>
          <a:xfrm>
            <a:off x="457200" y="3124200"/>
            <a:ext cx="8229600" cy="3001963"/>
          </a:xfrm>
        </p:spPr>
        <p:txBody>
          <a:bodyPr>
            <a:normAutofit/>
          </a:bodyPr>
          <a:lstStyle/>
          <a:p>
            <a:pPr>
              <a:buNone/>
            </a:pPr>
            <a:r>
              <a:rPr lang="en-US" sz="2800" dirty="0" smtClean="0"/>
              <a:t>&gt;&gt;&gt;# import only pi from math module</a:t>
            </a:r>
          </a:p>
          <a:p>
            <a:pPr>
              <a:buNone/>
            </a:pPr>
            <a:r>
              <a:rPr lang="en-US" sz="2800" dirty="0" smtClean="0"/>
              <a:t>&gt;&gt;&gt;</a:t>
            </a:r>
            <a:r>
              <a:rPr lang="en-US" sz="2800" b="1" dirty="0" smtClean="0"/>
              <a:t>from</a:t>
            </a:r>
            <a:r>
              <a:rPr lang="en-US" sz="2800" dirty="0" smtClean="0"/>
              <a:t> math </a:t>
            </a:r>
            <a:r>
              <a:rPr lang="en-US" sz="2800" b="1" dirty="0" smtClean="0"/>
              <a:t>import</a:t>
            </a:r>
            <a:r>
              <a:rPr lang="en-US" sz="2800" dirty="0" smtClean="0"/>
              <a:t> pi</a:t>
            </a:r>
          </a:p>
          <a:p>
            <a:pPr>
              <a:buNone/>
            </a:pPr>
            <a:r>
              <a:rPr lang="en-US" sz="2800" dirty="0" smtClean="0"/>
              <a:t>&gt;&gt;&gt;print("The value of pi is", pi)</a:t>
            </a:r>
            <a:endParaRPr lang="en-US" sz="2800"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None/>
            </a:pPr>
            <a:r>
              <a:rPr lang="en-US" sz="2800" dirty="0" smtClean="0"/>
              <a:t>&gt;&gt;&gt; </a:t>
            </a:r>
            <a:r>
              <a:rPr lang="en-US" sz="2800" b="1" dirty="0" smtClean="0"/>
              <a:t>from</a:t>
            </a:r>
            <a:r>
              <a:rPr lang="en-US" sz="2800" dirty="0" smtClean="0"/>
              <a:t> math </a:t>
            </a:r>
            <a:r>
              <a:rPr lang="en-US" sz="2800" b="1" dirty="0" smtClean="0"/>
              <a:t>import</a:t>
            </a:r>
            <a:r>
              <a:rPr lang="en-US" sz="2800" dirty="0" smtClean="0"/>
              <a:t> pi, e </a:t>
            </a:r>
          </a:p>
          <a:p>
            <a:pPr>
              <a:buNone/>
            </a:pPr>
            <a:r>
              <a:rPr lang="en-US" sz="2800" dirty="0" smtClean="0"/>
              <a:t>&gt;&gt;&gt; pi 3.141592653589793 </a:t>
            </a:r>
          </a:p>
          <a:p>
            <a:pPr>
              <a:buNone/>
            </a:pPr>
            <a:r>
              <a:rPr lang="en-US" sz="2800" dirty="0" smtClean="0"/>
              <a:t>&gt;&gt;&gt; e 2.718281828459045</a:t>
            </a:r>
            <a:endParaRPr lang="en-US" sz="2800"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71600"/>
            <a:ext cx="8229600" cy="1752600"/>
          </a:xfrm>
        </p:spPr>
        <p:txBody>
          <a:bodyPr>
            <a:noAutofit/>
          </a:bodyPr>
          <a:lstStyle/>
          <a:p>
            <a:pPr algn="l"/>
            <a:r>
              <a:rPr lang="en-US" sz="2400" b="1" dirty="0" smtClean="0"/>
              <a:t>4. Import all names</a:t>
            </a:r>
            <a:br>
              <a:rPr lang="en-US" sz="2400" b="1" dirty="0" smtClean="0"/>
            </a:br>
            <a:r>
              <a:rPr lang="en-US" sz="2400" dirty="0" smtClean="0"/>
              <a:t>We can import all names(definitions) form a module using the following construct.</a:t>
            </a:r>
            <a:br>
              <a:rPr lang="en-US" sz="2400" dirty="0" smtClean="0"/>
            </a:br>
            <a:endParaRPr lang="en-US" sz="2400" dirty="0"/>
          </a:p>
        </p:txBody>
      </p:sp>
      <p:sp>
        <p:nvSpPr>
          <p:cNvPr id="3" name="Content Placeholder 2"/>
          <p:cNvSpPr>
            <a:spLocks noGrp="1"/>
          </p:cNvSpPr>
          <p:nvPr>
            <p:ph idx="1"/>
          </p:nvPr>
        </p:nvSpPr>
        <p:spPr>
          <a:xfrm>
            <a:off x="457200" y="3581400"/>
            <a:ext cx="8229600" cy="2544763"/>
          </a:xfrm>
        </p:spPr>
        <p:txBody>
          <a:bodyPr>
            <a:normAutofit/>
          </a:bodyPr>
          <a:lstStyle/>
          <a:p>
            <a:pPr>
              <a:buNone/>
            </a:pPr>
            <a:r>
              <a:rPr lang="en-US" sz="2800" dirty="0" smtClean="0"/>
              <a:t>&gt;&gt;&gt;# import all names form</a:t>
            </a:r>
          </a:p>
          <a:p>
            <a:pPr>
              <a:buNone/>
            </a:pPr>
            <a:r>
              <a:rPr lang="en-US" sz="2800" dirty="0" smtClean="0"/>
              <a:t>&gt;&gt;&gt;# the standard module math</a:t>
            </a:r>
          </a:p>
          <a:p>
            <a:pPr>
              <a:buNone/>
            </a:pPr>
            <a:r>
              <a:rPr lang="en-US" sz="2800" dirty="0" smtClean="0"/>
              <a:t>&gt;&gt;&gt;from math import *</a:t>
            </a:r>
          </a:p>
          <a:p>
            <a:pPr>
              <a:buNone/>
            </a:pPr>
            <a:r>
              <a:rPr lang="en-US" sz="2800" dirty="0" smtClean="0"/>
              <a:t>&gt;&gt;&gt;print("The value of pi is", pi)</a:t>
            </a:r>
            <a:endParaRPr lang="en-US" sz="2800"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Reloading a module</a:t>
            </a:r>
            <a:endParaRPr lang="en-US" dirty="0"/>
          </a:p>
        </p:txBody>
      </p:sp>
      <p:sp>
        <p:nvSpPr>
          <p:cNvPr id="3" name="Content Placeholder 2"/>
          <p:cNvSpPr>
            <a:spLocks noGrp="1"/>
          </p:cNvSpPr>
          <p:nvPr>
            <p:ph idx="1"/>
          </p:nvPr>
        </p:nvSpPr>
        <p:spPr/>
        <p:txBody>
          <a:bodyPr>
            <a:noAutofit/>
          </a:bodyPr>
          <a:lstStyle/>
          <a:p>
            <a:r>
              <a:rPr lang="en-US" sz="2400" dirty="0" smtClean="0"/>
              <a:t>The Python interpreter imports a module only once during a session. </a:t>
            </a:r>
          </a:p>
          <a:p>
            <a:r>
              <a:rPr lang="en-US" sz="2400" dirty="0" smtClean="0"/>
              <a:t>Suppose we have the following code in a module named </a:t>
            </a:r>
            <a:r>
              <a:rPr lang="en-US" sz="2400" dirty="0" err="1" smtClean="0"/>
              <a:t>my_module</a:t>
            </a:r>
            <a:r>
              <a:rPr lang="en-US" sz="2400" dirty="0" smtClean="0"/>
              <a:t>.</a:t>
            </a:r>
          </a:p>
          <a:p>
            <a:pPr lvl="1">
              <a:buNone/>
            </a:pPr>
            <a:r>
              <a:rPr lang="en-US" sz="2000" dirty="0" smtClean="0"/>
              <a:t>&gt;&gt;&gt;# This module shows the effect of multiple imports and reload </a:t>
            </a:r>
          </a:p>
          <a:p>
            <a:pPr lvl="1">
              <a:buNone/>
            </a:pPr>
            <a:r>
              <a:rPr lang="en-US" sz="2000" dirty="0" smtClean="0"/>
              <a:t>&gt;&gt;&gt;print("This code got executed")</a:t>
            </a:r>
          </a:p>
          <a:p>
            <a:pPr>
              <a:buNone/>
            </a:pPr>
            <a:r>
              <a:rPr lang="en-US" sz="2400" dirty="0" smtClean="0"/>
              <a:t>Now we see the effect of multiple imports.</a:t>
            </a:r>
          </a:p>
          <a:p>
            <a:pPr>
              <a:buNone/>
            </a:pPr>
            <a:r>
              <a:rPr lang="en-US" sz="2400" dirty="0" smtClean="0"/>
              <a:t>&gt;&gt;&gt; import </a:t>
            </a:r>
            <a:r>
              <a:rPr lang="en-US" sz="2400" dirty="0" err="1" smtClean="0"/>
              <a:t>my_module</a:t>
            </a:r>
            <a:r>
              <a:rPr lang="en-US" sz="2400" dirty="0" smtClean="0"/>
              <a:t> </a:t>
            </a:r>
          </a:p>
          <a:p>
            <a:pPr>
              <a:buNone/>
            </a:pPr>
            <a:r>
              <a:rPr lang="en-US" sz="2400" dirty="0" smtClean="0"/>
              <a:t>This code got executed </a:t>
            </a:r>
          </a:p>
          <a:p>
            <a:pPr>
              <a:buNone/>
            </a:pPr>
            <a:r>
              <a:rPr lang="en-US" sz="2400" dirty="0" smtClean="0"/>
              <a:t>&gt;&gt;&gt; import </a:t>
            </a:r>
            <a:r>
              <a:rPr lang="en-US" sz="2400" dirty="0" err="1" smtClean="0"/>
              <a:t>my_module</a:t>
            </a:r>
            <a:r>
              <a:rPr lang="en-US" sz="2400" dirty="0" smtClean="0"/>
              <a:t> </a:t>
            </a:r>
          </a:p>
          <a:p>
            <a:pPr>
              <a:buNone/>
            </a:pPr>
            <a:r>
              <a:rPr lang="en-US" sz="2400" dirty="0" smtClean="0"/>
              <a:t>&gt;&gt;&gt; import </a:t>
            </a:r>
            <a:r>
              <a:rPr lang="en-US" sz="2400" dirty="0" err="1" smtClean="0"/>
              <a:t>my_module</a:t>
            </a:r>
            <a:endParaRPr lang="en-US" sz="2400"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dirty="0" smtClean="0"/>
              <a:t>Now if our module changed during the course of the program, we would have to reload it.</a:t>
            </a:r>
          </a:p>
          <a:p>
            <a:r>
              <a:rPr lang="en-US" dirty="0" smtClean="0"/>
              <a:t>One way to do this is to restart the interpreter. </a:t>
            </a:r>
          </a:p>
          <a:p>
            <a:r>
              <a:rPr lang="en-US" dirty="0" smtClean="0"/>
              <a:t>Python provides a neat way of doing this. </a:t>
            </a:r>
          </a:p>
          <a:p>
            <a:r>
              <a:rPr lang="en-US" dirty="0" smtClean="0"/>
              <a:t>We can use the reload() function inside the imp module to reload a module. </a:t>
            </a:r>
          </a:p>
          <a:p>
            <a:pPr>
              <a:buNone/>
            </a:pPr>
            <a:r>
              <a:rPr lang="en-US" b="1" dirty="0" smtClean="0"/>
              <a:t>&gt;&gt;&gt; import imp </a:t>
            </a:r>
          </a:p>
          <a:p>
            <a:pPr>
              <a:buNone/>
            </a:pPr>
            <a:r>
              <a:rPr lang="en-US" dirty="0" smtClean="0"/>
              <a:t>&gt;&gt;&gt; import </a:t>
            </a:r>
            <a:r>
              <a:rPr lang="en-US" dirty="0" err="1" smtClean="0"/>
              <a:t>my_module</a:t>
            </a:r>
            <a:r>
              <a:rPr lang="en-US" dirty="0" smtClean="0"/>
              <a:t> </a:t>
            </a:r>
          </a:p>
          <a:p>
            <a:pPr>
              <a:buNone/>
            </a:pPr>
            <a:r>
              <a:rPr lang="en-US" dirty="0" smtClean="0"/>
              <a:t>This code got executed </a:t>
            </a:r>
          </a:p>
          <a:p>
            <a:pPr>
              <a:buNone/>
            </a:pPr>
            <a:r>
              <a:rPr lang="en-US" dirty="0" smtClean="0"/>
              <a:t>&gt;&gt;&gt; import </a:t>
            </a:r>
            <a:r>
              <a:rPr lang="en-US" dirty="0" err="1" smtClean="0"/>
              <a:t>my_module</a:t>
            </a:r>
            <a:r>
              <a:rPr lang="en-US" dirty="0" smtClean="0"/>
              <a:t> </a:t>
            </a:r>
          </a:p>
          <a:p>
            <a:pPr>
              <a:buNone/>
            </a:pPr>
            <a:r>
              <a:rPr lang="en-US" dirty="0" smtClean="0"/>
              <a:t>&gt;&gt;&gt;</a:t>
            </a:r>
            <a:r>
              <a:rPr lang="en-US" b="1" dirty="0" smtClean="0"/>
              <a:t> </a:t>
            </a:r>
            <a:r>
              <a:rPr lang="en-US" b="1" dirty="0" err="1" smtClean="0"/>
              <a:t>imp.reload</a:t>
            </a:r>
            <a:r>
              <a:rPr lang="en-US" dirty="0" smtClean="0"/>
              <a:t>(</a:t>
            </a:r>
            <a:r>
              <a:rPr lang="en-US" dirty="0" err="1" smtClean="0"/>
              <a:t>my_module</a:t>
            </a:r>
            <a:r>
              <a:rPr lang="en-US" dirty="0" smtClean="0"/>
              <a:t>) </a:t>
            </a:r>
          </a:p>
          <a:p>
            <a:pPr>
              <a:buNone/>
            </a:pPr>
            <a:r>
              <a:rPr lang="en-US" dirty="0" smtClean="0"/>
              <a:t>This code got executed &lt;module '</a:t>
            </a:r>
            <a:r>
              <a:rPr lang="en-US" dirty="0" err="1" smtClean="0"/>
              <a:t>my_module</a:t>
            </a:r>
            <a:r>
              <a:rPr lang="en-US" dirty="0" smtClean="0"/>
              <a:t>' from '.\\my_module.py'&gt;</a:t>
            </a:r>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Python Package</a:t>
            </a:r>
            <a:endParaRPr lang="en-US" b="1" dirty="0"/>
          </a:p>
        </p:txBody>
      </p:sp>
      <p:sp>
        <p:nvSpPr>
          <p:cNvPr id="3" name="Content Placeholder 2"/>
          <p:cNvSpPr>
            <a:spLocks noGrp="1"/>
          </p:cNvSpPr>
          <p:nvPr>
            <p:ph idx="1"/>
          </p:nvPr>
        </p:nvSpPr>
        <p:spPr/>
        <p:txBody>
          <a:bodyPr>
            <a:normAutofit fontScale="77500" lnSpcReduction="20000"/>
          </a:bodyPr>
          <a:lstStyle/>
          <a:p>
            <a:r>
              <a:rPr lang="en-US" dirty="0" smtClean="0"/>
              <a:t>We don't usually store all of our files in our computer in the same location. </a:t>
            </a:r>
          </a:p>
          <a:p>
            <a:r>
              <a:rPr lang="en-US" dirty="0" smtClean="0"/>
              <a:t>We use a well-organized hierarchy of directories for easier access.</a:t>
            </a:r>
          </a:p>
          <a:p>
            <a:r>
              <a:rPr lang="en-US" dirty="0" smtClean="0"/>
              <a:t>Similar files are kept in the same directory, for example, we may keep all the songs in the "music" directory. </a:t>
            </a:r>
          </a:p>
          <a:p>
            <a:r>
              <a:rPr lang="en-US" dirty="0" smtClean="0"/>
              <a:t>Analogous to this, Python has </a:t>
            </a:r>
            <a:r>
              <a:rPr lang="en-US" b="1" dirty="0" smtClean="0"/>
              <a:t>packages for directories</a:t>
            </a:r>
            <a:r>
              <a:rPr lang="en-US" dirty="0" smtClean="0"/>
              <a:t> and </a:t>
            </a:r>
            <a:r>
              <a:rPr lang="en-US" b="1" dirty="0" smtClean="0"/>
              <a:t>modules for files</a:t>
            </a:r>
            <a:r>
              <a:rPr lang="en-US" dirty="0" smtClean="0"/>
              <a:t>.</a:t>
            </a:r>
          </a:p>
          <a:p>
            <a:r>
              <a:rPr lang="en-US" dirty="0" smtClean="0"/>
              <a:t>As our application program grows larger in size with a lot of modules, we place similar modules in one package and different modules in different packages. </a:t>
            </a:r>
          </a:p>
          <a:p>
            <a:r>
              <a:rPr lang="en-US" dirty="0" smtClean="0"/>
              <a:t>This makes a project (program) easy to manage and conceptually clear.</a:t>
            </a:r>
          </a:p>
          <a:p>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400" dirty="0" smtClean="0"/>
              <a:t>Similar, as a directory can contain sub-directories and files, a Python package can have sub-packages and modules.</a:t>
            </a:r>
          </a:p>
          <a:p>
            <a:r>
              <a:rPr lang="en-US" sz="2400" dirty="0" smtClean="0"/>
              <a:t>A directory must contain a file named </a:t>
            </a:r>
            <a:r>
              <a:rPr lang="en-US" sz="2400" b="1" dirty="0" smtClean="0"/>
              <a:t>__</a:t>
            </a:r>
            <a:r>
              <a:rPr lang="en-US" sz="2400" b="1" dirty="0" err="1" smtClean="0"/>
              <a:t>init__.py</a:t>
            </a:r>
            <a:r>
              <a:rPr lang="en-US" sz="2400" dirty="0" smtClean="0"/>
              <a:t> in order for Python to consider it as a package. </a:t>
            </a:r>
          </a:p>
          <a:p>
            <a:r>
              <a:rPr lang="en-US" sz="2400" dirty="0" smtClean="0"/>
              <a:t>This file can be left empty but we generally place the initialization code for that package in this file.</a:t>
            </a:r>
          </a:p>
          <a:p>
            <a:endParaRPr lang="en-US" sz="2400"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6" name="Picture 2" descr="D:\2017-18\PackageModuleStructure.jpg"/>
          <p:cNvPicPr>
            <a:picLocks noChangeAspect="1" noChangeArrowheads="1"/>
          </p:cNvPicPr>
          <p:nvPr/>
        </p:nvPicPr>
        <p:blipFill>
          <a:blip r:embed="rId2"/>
          <a:srcRect/>
          <a:stretch>
            <a:fillRect/>
          </a:stretch>
        </p:blipFill>
        <p:spPr bwMode="auto">
          <a:xfrm>
            <a:off x="1600200" y="1600200"/>
            <a:ext cx="4933950" cy="4267200"/>
          </a:xfrm>
          <a:prstGeom prst="rect">
            <a:avLst/>
          </a:prstGeom>
          <a:noFill/>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Importing module from a package</a:t>
            </a:r>
            <a:endParaRPr lang="en-US" dirty="0"/>
          </a:p>
        </p:txBody>
      </p:sp>
      <p:sp>
        <p:nvSpPr>
          <p:cNvPr id="3" name="Content Placeholder 2"/>
          <p:cNvSpPr>
            <a:spLocks noGrp="1"/>
          </p:cNvSpPr>
          <p:nvPr>
            <p:ph idx="1"/>
          </p:nvPr>
        </p:nvSpPr>
        <p:spPr>
          <a:xfrm>
            <a:off x="457200" y="1524000"/>
            <a:ext cx="8229600" cy="4525963"/>
          </a:xfrm>
        </p:spPr>
        <p:txBody>
          <a:bodyPr>
            <a:normAutofit/>
          </a:bodyPr>
          <a:lstStyle/>
          <a:p>
            <a:r>
              <a:rPr lang="en-US" sz="2400" dirty="0" smtClean="0"/>
              <a:t>We can import modules from packages using the dot (.) operator.</a:t>
            </a:r>
          </a:p>
          <a:p>
            <a:r>
              <a:rPr lang="en-US" sz="2400" dirty="0" smtClean="0"/>
              <a:t>For example to import the start module in the above example</a:t>
            </a:r>
          </a:p>
          <a:p>
            <a:r>
              <a:rPr lang="en-US" sz="2400" dirty="0" smtClean="0"/>
              <a:t>And if this module contains function named </a:t>
            </a:r>
            <a:r>
              <a:rPr lang="en-US" sz="2400" dirty="0" err="1" smtClean="0"/>
              <a:t>select_difficulty</a:t>
            </a:r>
            <a:r>
              <a:rPr lang="en-US" sz="2400" dirty="0" smtClean="0"/>
              <a:t>()</a:t>
            </a:r>
          </a:p>
          <a:p>
            <a:pPr>
              <a:buNone/>
            </a:pPr>
            <a:r>
              <a:rPr lang="en-US" sz="2800" b="1" dirty="0" smtClean="0"/>
              <a:t>&gt;&gt;&gt;import </a:t>
            </a:r>
            <a:r>
              <a:rPr lang="en-US" sz="2800" b="1" dirty="0" err="1" smtClean="0"/>
              <a:t>Game.Level.start</a:t>
            </a:r>
            <a:endParaRPr lang="en-US" sz="2800" b="1" dirty="0" smtClean="0"/>
          </a:p>
          <a:p>
            <a:pPr>
              <a:buNone/>
            </a:pPr>
            <a:r>
              <a:rPr lang="en-US" sz="2800" b="1" dirty="0" smtClean="0"/>
              <a:t>&gt;&gt;&gt;</a:t>
            </a:r>
            <a:r>
              <a:rPr lang="en-US" sz="2800" b="1" dirty="0" err="1" smtClean="0"/>
              <a:t>Game.Level.start.select_difficulty</a:t>
            </a:r>
            <a:r>
              <a:rPr lang="en-US" sz="2800" b="1" dirty="0" smtClean="0"/>
              <a:t>()</a:t>
            </a:r>
          </a:p>
          <a:p>
            <a:pPr>
              <a:buNone/>
            </a:pPr>
            <a:r>
              <a:rPr lang="en-US" sz="2800" b="1" dirty="0" smtClean="0"/>
              <a:t>				OR</a:t>
            </a:r>
          </a:p>
          <a:p>
            <a:pPr>
              <a:buNone/>
            </a:pPr>
            <a:r>
              <a:rPr lang="en-US" sz="2800" b="1" dirty="0" smtClean="0"/>
              <a:t>&gt;&gt;&gt;from </a:t>
            </a:r>
            <a:r>
              <a:rPr lang="en-US" sz="2800" b="1" dirty="0" err="1" smtClean="0"/>
              <a:t>Game.Level</a:t>
            </a:r>
            <a:r>
              <a:rPr lang="en-US" sz="2800" b="1" dirty="0" smtClean="0"/>
              <a:t> import start</a:t>
            </a:r>
          </a:p>
          <a:p>
            <a:pPr>
              <a:buNone/>
            </a:pPr>
            <a:r>
              <a:rPr lang="en-US" sz="2800" b="1" dirty="0" smtClean="0"/>
              <a:t>&gt;&gt;&gt;</a:t>
            </a:r>
            <a:r>
              <a:rPr lang="en-US" sz="2800" b="1" dirty="0" err="1" smtClean="0"/>
              <a:t>start.select_difficulty</a:t>
            </a:r>
            <a:r>
              <a:rPr lang="en-US" sz="2800" b="1" dirty="0" smtClean="0"/>
              <a:t>()</a:t>
            </a:r>
            <a:endParaRPr lang="en-US" sz="2800" b="1"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050" name="Picture 2" descr="D:\2017-18\Python\PYTHON ALL\PACKAGE.png"/>
          <p:cNvPicPr>
            <a:picLocks noChangeAspect="1" noChangeArrowheads="1"/>
          </p:cNvPicPr>
          <p:nvPr/>
        </p:nvPicPr>
        <p:blipFill>
          <a:blip r:embed="rId2"/>
          <a:srcRect/>
          <a:stretch>
            <a:fillRect/>
          </a:stretch>
        </p:blipFill>
        <p:spPr bwMode="auto">
          <a:xfrm>
            <a:off x="-1933575" y="-228600"/>
            <a:ext cx="13011150" cy="7315200"/>
          </a:xfrm>
          <a:prstGeom prst="rect">
            <a:avLst/>
          </a:prstGeom>
          <a:noFill/>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descr="Package 3.png"/>
          <p:cNvPicPr>
            <a:picLocks noGrp="1" noChangeAspect="1"/>
          </p:cNvPicPr>
          <p:nvPr>
            <p:ph idx="1"/>
          </p:nvPr>
        </p:nvPicPr>
        <p:blipFill>
          <a:blip r:embed="rId2"/>
          <a:stretch>
            <a:fillRect/>
          </a:stretch>
        </p:blipFill>
        <p:spPr>
          <a:xfrm>
            <a:off x="457200" y="1219200"/>
            <a:ext cx="8229600" cy="5410200"/>
          </a:xfr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Python I/O</a:t>
            </a:r>
            <a:endParaRPr lang="en-US" b="1" dirty="0"/>
          </a:p>
        </p:txBody>
      </p:sp>
      <p:sp>
        <p:nvSpPr>
          <p:cNvPr id="3" name="Content Placeholder 2"/>
          <p:cNvSpPr>
            <a:spLocks noGrp="1"/>
          </p:cNvSpPr>
          <p:nvPr>
            <p:ph idx="1"/>
          </p:nvPr>
        </p:nvSpPr>
        <p:spPr/>
        <p:txBody>
          <a:bodyPr>
            <a:normAutofit/>
          </a:bodyPr>
          <a:lstStyle/>
          <a:p>
            <a:r>
              <a:rPr lang="en-US" sz="2400" dirty="0" smtClean="0"/>
              <a:t>The actual syntax of the print() function is</a:t>
            </a:r>
          </a:p>
          <a:p>
            <a:pPr>
              <a:buNone/>
            </a:pPr>
            <a:r>
              <a:rPr lang="en-US" sz="2400" b="1" dirty="0" smtClean="0"/>
              <a:t>&gt;&gt;&gt;print(*objects, sep=' ', end='\n', file=</a:t>
            </a:r>
            <a:r>
              <a:rPr lang="en-US" sz="2400" b="1" dirty="0" err="1" smtClean="0"/>
              <a:t>sys.stdout</a:t>
            </a:r>
            <a:r>
              <a:rPr lang="en-US" sz="2400" b="1" dirty="0" smtClean="0"/>
              <a:t>, flush=False) </a:t>
            </a:r>
          </a:p>
          <a:p>
            <a:r>
              <a:rPr lang="en-US" sz="2400" dirty="0" smtClean="0"/>
              <a:t>Here, </a:t>
            </a:r>
            <a:r>
              <a:rPr lang="en-US" sz="2400" b="1" dirty="0" smtClean="0"/>
              <a:t>objects</a:t>
            </a:r>
            <a:r>
              <a:rPr lang="en-US" sz="2400" dirty="0" smtClean="0"/>
              <a:t> is the value(s) to be printed.</a:t>
            </a:r>
          </a:p>
          <a:p>
            <a:r>
              <a:rPr lang="en-US" sz="2400" dirty="0" smtClean="0"/>
              <a:t>The </a:t>
            </a:r>
            <a:r>
              <a:rPr lang="en-US" sz="2400" b="1" dirty="0" smtClean="0"/>
              <a:t>sep</a:t>
            </a:r>
            <a:r>
              <a:rPr lang="en-US" sz="2400" dirty="0" smtClean="0"/>
              <a:t> separator is used between the values. </a:t>
            </a:r>
          </a:p>
          <a:p>
            <a:r>
              <a:rPr lang="en-US" sz="2400" dirty="0" smtClean="0"/>
              <a:t>It defaults into a space character.</a:t>
            </a:r>
          </a:p>
          <a:p>
            <a:r>
              <a:rPr lang="en-US" sz="2400" dirty="0" smtClean="0"/>
              <a:t>After all values are printed, end is printed. </a:t>
            </a:r>
          </a:p>
          <a:p>
            <a:r>
              <a:rPr lang="en-US" sz="2400" dirty="0" smtClean="0"/>
              <a:t>It defaults into a new line.</a:t>
            </a:r>
          </a:p>
          <a:p>
            <a:r>
              <a:rPr lang="en-US" sz="2400" dirty="0" smtClean="0"/>
              <a:t>The </a:t>
            </a:r>
            <a:r>
              <a:rPr lang="en-US" sz="2400" b="1" dirty="0" smtClean="0"/>
              <a:t>file is the object</a:t>
            </a:r>
            <a:r>
              <a:rPr lang="en-US" sz="2400" dirty="0" smtClean="0"/>
              <a:t> where the values are printed and its default value is </a:t>
            </a:r>
            <a:r>
              <a:rPr lang="en-US" sz="2400" dirty="0" err="1" smtClean="0"/>
              <a:t>sys.stdout</a:t>
            </a:r>
            <a:r>
              <a:rPr lang="en-US" sz="2400" dirty="0" smtClean="0"/>
              <a:t>(screen).</a:t>
            </a:r>
          </a:p>
          <a:p>
            <a:r>
              <a:rPr lang="en-US" sz="2400" dirty="0" smtClean="0"/>
              <a:t>flush is False. The stream is not forcibly flushed.</a:t>
            </a:r>
          </a:p>
          <a:p>
            <a:endParaRPr lang="en-US" sz="2400" dirty="0" smtClean="0"/>
          </a:p>
          <a:p>
            <a:endParaRPr lang="en-US" sz="2400"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b="1" dirty="0" smtClean="0"/>
              <a:t>&gt;&gt;&gt;print(1,2,3,4)</a:t>
            </a:r>
          </a:p>
          <a:p>
            <a:pPr>
              <a:buNone/>
            </a:pPr>
            <a:r>
              <a:rPr lang="en-US" sz="2800" dirty="0" smtClean="0"/>
              <a:t>1 2 3 4</a:t>
            </a:r>
          </a:p>
          <a:p>
            <a:pPr>
              <a:buNone/>
            </a:pPr>
            <a:r>
              <a:rPr lang="en-US" b="1" dirty="0" smtClean="0"/>
              <a:t>&gt;&gt;&gt;</a:t>
            </a:r>
            <a:r>
              <a:rPr lang="en-US" dirty="0" smtClean="0"/>
              <a:t>print(1,2,3,4,</a:t>
            </a:r>
            <a:r>
              <a:rPr lang="en-US" b="1" dirty="0" smtClean="0"/>
              <a:t>sep='*'</a:t>
            </a:r>
            <a:r>
              <a:rPr lang="en-US" dirty="0" smtClean="0"/>
              <a:t>)</a:t>
            </a:r>
          </a:p>
          <a:p>
            <a:pPr>
              <a:buNone/>
            </a:pPr>
            <a:r>
              <a:rPr lang="en-US" sz="2800" dirty="0" smtClean="0"/>
              <a:t>1*2*3*4</a:t>
            </a:r>
          </a:p>
          <a:p>
            <a:pPr>
              <a:buNone/>
            </a:pPr>
            <a:r>
              <a:rPr lang="en-US" b="1" dirty="0" smtClean="0"/>
              <a:t>&gt;&gt;&gt;</a:t>
            </a:r>
            <a:r>
              <a:rPr lang="en-US" dirty="0" smtClean="0"/>
              <a:t>print(1,2,3,4,</a:t>
            </a:r>
            <a:r>
              <a:rPr lang="en-US" b="1" dirty="0" smtClean="0"/>
              <a:t>sep='#',end='&amp;'</a:t>
            </a:r>
            <a:r>
              <a:rPr lang="en-US" dirty="0" smtClean="0"/>
              <a:t>)</a:t>
            </a:r>
          </a:p>
          <a:p>
            <a:pPr>
              <a:buNone/>
            </a:pPr>
            <a:r>
              <a:rPr lang="en-US" sz="2800" dirty="0" smtClean="0"/>
              <a:t>1#2#3#4&amp;</a:t>
            </a:r>
            <a:endParaRPr lang="en-US"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None/>
            </a:pPr>
            <a:r>
              <a:rPr lang="en-US" sz="2400" dirty="0" smtClean="0"/>
              <a:t>&gt;&gt;&gt;A = open("</a:t>
            </a:r>
            <a:r>
              <a:rPr lang="en-US" sz="2400" dirty="0" err="1" smtClean="0"/>
              <a:t>data.txt","w</a:t>
            </a:r>
            <a:r>
              <a:rPr lang="en-US" sz="2400" dirty="0" smtClean="0"/>
              <a:t>") </a:t>
            </a:r>
          </a:p>
          <a:p>
            <a:pPr>
              <a:buNone/>
            </a:pPr>
            <a:r>
              <a:rPr lang="en-US" sz="2400" dirty="0" smtClean="0"/>
              <a:t>&gt;&gt;&gt; print(“Lets! Dive into the World of Python", file=A) </a:t>
            </a:r>
          </a:p>
          <a:p>
            <a:pPr>
              <a:buNone/>
            </a:pPr>
            <a:r>
              <a:rPr lang="en-US" sz="2400" dirty="0" smtClean="0"/>
              <a:t>&gt;&gt;&gt; </a:t>
            </a:r>
            <a:r>
              <a:rPr lang="en-US" sz="2400" dirty="0" err="1" smtClean="0"/>
              <a:t>A.close</a:t>
            </a:r>
            <a:r>
              <a:rPr lang="en-US" sz="2400" dirty="0" smtClean="0"/>
              <a:t>()</a:t>
            </a:r>
          </a:p>
          <a:p>
            <a:pPr>
              <a:buNone/>
            </a:pPr>
            <a:endParaRPr lang="en-US" sz="2400" dirty="0" smtClean="0"/>
          </a:p>
          <a:p>
            <a:r>
              <a:rPr lang="en-US" sz="2400" dirty="0" smtClean="0"/>
              <a:t>	We can see that we don't get any output in the 	interactive shell. </a:t>
            </a:r>
          </a:p>
          <a:p>
            <a:r>
              <a:rPr lang="en-US" sz="2400" dirty="0" smtClean="0"/>
              <a:t>	The output is sent to the file "data.txt".</a:t>
            </a:r>
            <a:endParaRPr lang="en-US" sz="2400"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Python Input</a:t>
            </a:r>
            <a:endParaRPr lang="en-US" dirty="0"/>
          </a:p>
        </p:txBody>
      </p:sp>
      <p:sp>
        <p:nvSpPr>
          <p:cNvPr id="3" name="Content Placeholder 2"/>
          <p:cNvSpPr>
            <a:spLocks noGrp="1"/>
          </p:cNvSpPr>
          <p:nvPr>
            <p:ph idx="1"/>
          </p:nvPr>
        </p:nvSpPr>
        <p:spPr/>
        <p:txBody>
          <a:bodyPr>
            <a:normAutofit/>
          </a:bodyPr>
          <a:lstStyle/>
          <a:p>
            <a:r>
              <a:rPr lang="en-US" sz="2400" dirty="0" smtClean="0"/>
              <a:t>The syntax for input() is</a:t>
            </a:r>
          </a:p>
          <a:p>
            <a:pPr>
              <a:buNone/>
            </a:pPr>
            <a:r>
              <a:rPr lang="en-US" sz="2400" dirty="0" smtClean="0"/>
              <a:t>&gt;&gt;&gt;input([prompt])</a:t>
            </a:r>
          </a:p>
          <a:p>
            <a:r>
              <a:rPr lang="en-US" sz="2400" dirty="0" smtClean="0"/>
              <a:t>P</a:t>
            </a:r>
            <a:r>
              <a:rPr lang="en-US" sz="2400" smtClean="0"/>
              <a:t>rompt</a:t>
            </a:r>
            <a:r>
              <a:rPr lang="en-US" sz="2400" dirty="0" smtClean="0"/>
              <a:t> is the string we wish to display on the screen. </a:t>
            </a:r>
            <a:endParaRPr lang="en-US" sz="2400" smtClean="0"/>
          </a:p>
          <a:p>
            <a:r>
              <a:rPr lang="en-US" sz="2400" dirty="0" smtClean="0"/>
              <a:t>It is optional.</a:t>
            </a:r>
            <a:endParaRPr lang="en-US" sz="2400" b="1"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File Handling</a:t>
            </a:r>
            <a:endParaRPr lang="en-US" b="1" dirty="0"/>
          </a:p>
        </p:txBody>
      </p:sp>
      <p:sp>
        <p:nvSpPr>
          <p:cNvPr id="3" name="Content Placeholder 2"/>
          <p:cNvSpPr>
            <a:spLocks noGrp="1"/>
          </p:cNvSpPr>
          <p:nvPr>
            <p:ph idx="1"/>
          </p:nvPr>
        </p:nvSpPr>
        <p:spPr/>
        <p:txBody>
          <a:bodyPr>
            <a:normAutofit fontScale="77500" lnSpcReduction="20000"/>
          </a:bodyPr>
          <a:lstStyle/>
          <a:p>
            <a:r>
              <a:rPr lang="en-US" sz="3100" dirty="0" smtClean="0"/>
              <a:t>File is a named location on disk to store related information. </a:t>
            </a:r>
          </a:p>
          <a:p>
            <a:r>
              <a:rPr lang="en-US" sz="3100" dirty="0" smtClean="0"/>
              <a:t>It is used to permanently store data in a non-volatile memory (e.g. hard disk).</a:t>
            </a:r>
          </a:p>
          <a:p>
            <a:r>
              <a:rPr lang="en-US" sz="3100" dirty="0" smtClean="0"/>
              <a:t>When we want to read from or write to a file we need to open it first. </a:t>
            </a:r>
          </a:p>
          <a:p>
            <a:r>
              <a:rPr lang="en-US" sz="3100" dirty="0" smtClean="0"/>
              <a:t>When we are done, it needs to be closed, so that resources that are tied with the file are freed.</a:t>
            </a:r>
          </a:p>
          <a:p>
            <a:r>
              <a:rPr lang="en-US" sz="3100" dirty="0" smtClean="0"/>
              <a:t>File operation takes place in the following order.</a:t>
            </a:r>
          </a:p>
          <a:p>
            <a:pPr lvl="1"/>
            <a:r>
              <a:rPr lang="en-US" dirty="0" smtClean="0"/>
              <a:t>Open a file</a:t>
            </a:r>
          </a:p>
          <a:p>
            <a:pPr lvl="1"/>
            <a:r>
              <a:rPr lang="en-US" dirty="0" smtClean="0"/>
              <a:t>Read or write (perform operation)</a:t>
            </a:r>
          </a:p>
          <a:p>
            <a:pPr lvl="1"/>
            <a:r>
              <a:rPr lang="en-US" dirty="0" smtClean="0"/>
              <a:t>Close the file</a:t>
            </a:r>
            <a:br>
              <a:rPr lang="en-US" dirty="0" smtClean="0"/>
            </a:br>
            <a:endParaRPr lang="en-US"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open()</a:t>
            </a:r>
            <a:endParaRPr lang="en-US" b="1" dirty="0"/>
          </a:p>
        </p:txBody>
      </p:sp>
      <p:sp>
        <p:nvSpPr>
          <p:cNvPr id="3" name="Content Placeholder 2"/>
          <p:cNvSpPr>
            <a:spLocks noGrp="1"/>
          </p:cNvSpPr>
          <p:nvPr>
            <p:ph idx="1"/>
          </p:nvPr>
        </p:nvSpPr>
        <p:spPr/>
        <p:txBody>
          <a:bodyPr>
            <a:normAutofit/>
          </a:bodyPr>
          <a:lstStyle/>
          <a:p>
            <a:r>
              <a:rPr lang="en-US" sz="2400" dirty="0" smtClean="0"/>
              <a:t>Before you can read or write a file, you have to open it using Python's built-in open() function. </a:t>
            </a:r>
          </a:p>
          <a:p>
            <a:r>
              <a:rPr lang="en-US" sz="2400" dirty="0" smtClean="0"/>
              <a:t>This function creates a </a:t>
            </a:r>
            <a:r>
              <a:rPr lang="en-US" sz="2400" b="1" dirty="0" smtClean="0"/>
              <a:t>file</a:t>
            </a:r>
            <a:r>
              <a:rPr lang="en-US" sz="2400" dirty="0" smtClean="0"/>
              <a:t> object, which would be utilized to call other support methods associated with it.</a:t>
            </a:r>
          </a:p>
          <a:p>
            <a:pPr>
              <a:buNone/>
            </a:pPr>
            <a:r>
              <a:rPr lang="en-US" sz="2400" dirty="0" smtClean="0"/>
              <a:t>Syntax</a:t>
            </a:r>
          </a:p>
          <a:p>
            <a:pPr>
              <a:buNone/>
            </a:pPr>
            <a:endParaRPr lang="en-US" sz="2400" dirty="0" smtClean="0"/>
          </a:p>
          <a:p>
            <a:pPr>
              <a:buNone/>
            </a:pPr>
            <a:r>
              <a:rPr lang="en-US" sz="2400" dirty="0" smtClean="0"/>
              <a:t>file object = </a:t>
            </a:r>
            <a:r>
              <a:rPr lang="en-US" sz="2400" b="1" dirty="0" smtClean="0"/>
              <a:t>open(</a:t>
            </a:r>
            <a:r>
              <a:rPr lang="en-US" sz="2400" dirty="0" err="1" smtClean="0"/>
              <a:t>file_name</a:t>
            </a:r>
            <a:r>
              <a:rPr lang="en-US" sz="2400" dirty="0" smtClean="0"/>
              <a:t> [, </a:t>
            </a:r>
            <a:r>
              <a:rPr lang="en-US" sz="2400" dirty="0" err="1" smtClean="0"/>
              <a:t>access_mode</a:t>
            </a:r>
            <a:r>
              <a:rPr lang="en-US" sz="2400" dirty="0" smtClean="0"/>
              <a:t>][, buffering]</a:t>
            </a:r>
            <a:r>
              <a:rPr lang="en-US" sz="2400" b="1" dirty="0" smtClean="0"/>
              <a:t>)</a:t>
            </a:r>
            <a:endParaRPr lang="en-US" sz="2400" b="1"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None/>
            </a:pPr>
            <a:r>
              <a:rPr lang="en-US" b="1" dirty="0" err="1" smtClean="0"/>
              <a:t>file_name</a:t>
            </a:r>
            <a:r>
              <a:rPr lang="en-US" dirty="0" smtClean="0"/>
              <a:t> </a:t>
            </a:r>
          </a:p>
          <a:p>
            <a:r>
              <a:rPr lang="en-US" sz="2400" dirty="0" smtClean="0"/>
              <a:t>The </a:t>
            </a:r>
            <a:r>
              <a:rPr lang="en-US" sz="2400" dirty="0" err="1" smtClean="0"/>
              <a:t>file_name</a:t>
            </a:r>
            <a:r>
              <a:rPr lang="en-US" sz="2400" dirty="0" smtClean="0"/>
              <a:t> argument is a string value that contains the name of the file that you want to access.</a:t>
            </a:r>
          </a:p>
          <a:p>
            <a:endParaRPr lang="en-US" b="1" dirty="0" smtClean="0"/>
          </a:p>
          <a:p>
            <a:endParaRPr lang="en-US"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Access modes of a file</a:t>
            </a:r>
            <a:endParaRPr lang="en-US" dirty="0"/>
          </a:p>
        </p:txBody>
      </p:sp>
      <p:sp>
        <p:nvSpPr>
          <p:cNvPr id="3" name="Content Placeholder 2"/>
          <p:cNvSpPr>
            <a:spLocks noGrp="1"/>
          </p:cNvSpPr>
          <p:nvPr>
            <p:ph idx="1"/>
          </p:nvPr>
        </p:nvSpPr>
        <p:spPr/>
        <p:txBody>
          <a:bodyPr>
            <a:normAutofit/>
          </a:bodyPr>
          <a:lstStyle/>
          <a:p>
            <a:pPr algn="just"/>
            <a:r>
              <a:rPr lang="en-US" sz="2400" b="1" dirty="0" err="1" smtClean="0"/>
              <a:t>access_mode</a:t>
            </a:r>
            <a:r>
              <a:rPr lang="en-US" sz="2400" dirty="0" smtClean="0"/>
              <a:t> − The </a:t>
            </a:r>
            <a:r>
              <a:rPr lang="en-US" sz="2400" dirty="0" err="1" smtClean="0"/>
              <a:t>access_mode</a:t>
            </a:r>
            <a:r>
              <a:rPr lang="en-US" sz="2400" dirty="0" smtClean="0"/>
              <a:t> determines the mode in which the file has to be opened, i.e., read, write, append, etc. The default file access mode is read (r).</a:t>
            </a:r>
          </a:p>
          <a:p>
            <a:pPr fontAlgn="t">
              <a:buNone/>
            </a:pPr>
            <a:r>
              <a:rPr lang="en-US" b="1" dirty="0" smtClean="0"/>
              <a:t>r </a:t>
            </a:r>
            <a:endParaRPr lang="en-US" sz="2400" b="1" dirty="0" smtClean="0"/>
          </a:p>
          <a:p>
            <a:pPr lvl="1" fontAlgn="t"/>
            <a:r>
              <a:rPr lang="en-US" sz="2000" dirty="0" smtClean="0"/>
              <a:t>Opens a file for reading only. </a:t>
            </a:r>
          </a:p>
          <a:p>
            <a:pPr lvl="1" fontAlgn="t"/>
            <a:r>
              <a:rPr lang="en-US" sz="2000" dirty="0" smtClean="0"/>
              <a:t>The file pointer is placed at the beginning of the file. </a:t>
            </a:r>
          </a:p>
          <a:p>
            <a:pPr lvl="1" fontAlgn="t"/>
            <a:r>
              <a:rPr lang="en-US" sz="2000" dirty="0" smtClean="0"/>
              <a:t>This is the default mode.</a:t>
            </a:r>
          </a:p>
          <a:p>
            <a:pPr fontAlgn="t">
              <a:buNone/>
            </a:pPr>
            <a:r>
              <a:rPr lang="en-US" b="1" dirty="0" err="1" smtClean="0"/>
              <a:t>rb</a:t>
            </a:r>
            <a:r>
              <a:rPr lang="en-US" sz="2400" b="1" dirty="0" smtClean="0"/>
              <a:t>  </a:t>
            </a:r>
          </a:p>
          <a:p>
            <a:pPr lvl="1" fontAlgn="t"/>
            <a:r>
              <a:rPr lang="en-US" sz="2000" dirty="0" smtClean="0"/>
              <a:t>Opens a file for reading only in binary format. </a:t>
            </a:r>
          </a:p>
          <a:p>
            <a:endParaRPr lang="en-US" sz="2400"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fontAlgn="t">
              <a:buNone/>
            </a:pPr>
            <a:r>
              <a:rPr lang="en-US" b="1" dirty="0" smtClean="0"/>
              <a:t>r+  </a:t>
            </a:r>
          </a:p>
          <a:p>
            <a:pPr lvl="1" fontAlgn="t"/>
            <a:r>
              <a:rPr lang="en-US" sz="2400" dirty="0" smtClean="0"/>
              <a:t>Opens a file for both reading and writing. </a:t>
            </a:r>
          </a:p>
          <a:p>
            <a:pPr lvl="1" fontAlgn="t"/>
            <a:r>
              <a:rPr lang="en-US" sz="2400" dirty="0" smtClean="0"/>
              <a:t>The file pointer placed at the beginning of the file.(</a:t>
            </a:r>
            <a:r>
              <a:rPr lang="en-US" sz="2400" b="1" dirty="0" smtClean="0"/>
              <a:t>file must exist</a:t>
            </a:r>
            <a:r>
              <a:rPr lang="en-US" sz="2400" dirty="0" smtClean="0"/>
              <a:t>)</a:t>
            </a:r>
          </a:p>
          <a:p>
            <a:pPr fontAlgn="t">
              <a:buNone/>
            </a:pPr>
            <a:r>
              <a:rPr lang="en-US" b="1" dirty="0" err="1" smtClean="0"/>
              <a:t>rb</a:t>
            </a:r>
            <a:r>
              <a:rPr lang="en-US" b="1" dirty="0" smtClean="0"/>
              <a:t>+ </a:t>
            </a:r>
          </a:p>
          <a:p>
            <a:pPr lvl="1" fontAlgn="t"/>
            <a:r>
              <a:rPr lang="en-US" sz="2400" dirty="0" smtClean="0"/>
              <a:t>Opens a file for both reading and writing in binary format. </a:t>
            </a:r>
          </a:p>
          <a:p>
            <a:pPr lvl="1" fontAlgn="t"/>
            <a:r>
              <a:rPr lang="en-US" sz="2400" dirty="0" smtClean="0"/>
              <a:t>The file pointer placed at the beginning of the file.</a:t>
            </a:r>
          </a:p>
          <a:p>
            <a:endParaRPr lang="en-US"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fontAlgn="t">
              <a:buNone/>
            </a:pPr>
            <a:r>
              <a:rPr lang="en-US" b="1" dirty="0" smtClean="0"/>
              <a:t>w</a:t>
            </a:r>
            <a:r>
              <a:rPr lang="en-US" sz="2400" b="1" dirty="0" smtClean="0"/>
              <a:t>  </a:t>
            </a:r>
          </a:p>
          <a:p>
            <a:pPr lvl="1" algn="just" fontAlgn="t"/>
            <a:r>
              <a:rPr lang="en-US" sz="2000" dirty="0" smtClean="0"/>
              <a:t>Opens a file for writing only. </a:t>
            </a:r>
          </a:p>
          <a:p>
            <a:pPr lvl="1" algn="just" fontAlgn="t"/>
            <a:r>
              <a:rPr lang="en-US" sz="2000" dirty="0" smtClean="0"/>
              <a:t>Overwrites the file if the file exists. </a:t>
            </a:r>
          </a:p>
          <a:p>
            <a:pPr lvl="1" algn="just" fontAlgn="t"/>
            <a:r>
              <a:rPr lang="en-US" sz="2000" dirty="0" smtClean="0"/>
              <a:t>If the file does not exist, creates a new file for writing.</a:t>
            </a:r>
          </a:p>
          <a:p>
            <a:pPr algn="just" fontAlgn="t">
              <a:buNone/>
            </a:pPr>
            <a:r>
              <a:rPr lang="en-US" b="1" dirty="0" err="1" smtClean="0"/>
              <a:t>wb</a:t>
            </a:r>
            <a:r>
              <a:rPr lang="en-US" sz="2400" b="1" dirty="0" smtClean="0"/>
              <a:t> </a:t>
            </a:r>
          </a:p>
          <a:p>
            <a:pPr lvl="1" algn="just" fontAlgn="t"/>
            <a:r>
              <a:rPr lang="en-US" sz="2000" dirty="0" smtClean="0"/>
              <a:t>Opens a file for writing only in binary format. </a:t>
            </a:r>
          </a:p>
          <a:p>
            <a:pPr lvl="1" algn="just" fontAlgn="t"/>
            <a:r>
              <a:rPr lang="en-US" sz="2000" dirty="0" smtClean="0"/>
              <a:t>Overwrites the file if the file exists. </a:t>
            </a:r>
          </a:p>
          <a:p>
            <a:pPr lvl="1" algn="just" fontAlgn="t"/>
            <a:r>
              <a:rPr lang="en-US" sz="2000" dirty="0" smtClean="0"/>
              <a:t>If the file does not exist, creates a new file for writing.</a:t>
            </a:r>
          </a:p>
          <a:p>
            <a:pPr algn="just"/>
            <a:endParaRPr lang="en-US" sz="2400"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algn="just" fontAlgn="t">
              <a:buNone/>
            </a:pPr>
            <a:r>
              <a:rPr lang="en-US" b="1" dirty="0" smtClean="0"/>
              <a:t>w+ </a:t>
            </a:r>
          </a:p>
          <a:p>
            <a:pPr lvl="1" algn="just" fontAlgn="t"/>
            <a:r>
              <a:rPr lang="en-US" sz="2400" dirty="0" smtClean="0"/>
              <a:t>Opens a file for both writing and reading. </a:t>
            </a:r>
          </a:p>
          <a:p>
            <a:pPr lvl="1" algn="just" fontAlgn="t"/>
            <a:r>
              <a:rPr lang="en-US" sz="2400" dirty="0" smtClean="0"/>
              <a:t>Overwrites the existing file if the file exists. </a:t>
            </a:r>
          </a:p>
          <a:p>
            <a:pPr lvl="1" algn="just" fontAlgn="t"/>
            <a:r>
              <a:rPr lang="en-US" sz="2400" dirty="0" smtClean="0"/>
              <a:t>If the file does not exist, creates a new file for reading and writing.</a:t>
            </a:r>
          </a:p>
          <a:p>
            <a:pPr algn="just" fontAlgn="t">
              <a:buNone/>
            </a:pPr>
            <a:r>
              <a:rPr lang="en-US" b="1" dirty="0" err="1" smtClean="0"/>
              <a:t>wb</a:t>
            </a:r>
            <a:r>
              <a:rPr lang="en-US" b="1" dirty="0" smtClean="0"/>
              <a:t>+ </a:t>
            </a:r>
          </a:p>
          <a:p>
            <a:pPr lvl="1" algn="just" fontAlgn="t"/>
            <a:r>
              <a:rPr lang="en-US" sz="2600" dirty="0" smtClean="0"/>
              <a:t>Opens a file for both writing and reading in binary format. </a:t>
            </a:r>
          </a:p>
          <a:p>
            <a:pPr lvl="1" algn="just" fontAlgn="t"/>
            <a:r>
              <a:rPr lang="en-US" sz="2600" dirty="0" smtClean="0"/>
              <a:t>Overwrites the existing file if the file exists. </a:t>
            </a:r>
          </a:p>
          <a:p>
            <a:pPr lvl="1" algn="just" fontAlgn="t"/>
            <a:r>
              <a:rPr lang="en-US" sz="2600" dirty="0" smtClean="0"/>
              <a:t>If the file does not exist, creates a new file for reading and writing.</a:t>
            </a:r>
          </a:p>
          <a:p>
            <a:endParaRPr lang="en-US"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pPr fontAlgn="t">
              <a:buNone/>
            </a:pPr>
            <a:r>
              <a:rPr lang="en-US" b="1" dirty="0" smtClean="0"/>
              <a:t>a </a:t>
            </a:r>
          </a:p>
          <a:p>
            <a:pPr lvl="1" fontAlgn="t"/>
            <a:r>
              <a:rPr lang="en-US" dirty="0" smtClean="0"/>
              <a:t>Opens a file for appending. </a:t>
            </a:r>
          </a:p>
          <a:p>
            <a:pPr lvl="1" fontAlgn="t"/>
            <a:r>
              <a:rPr lang="en-US" dirty="0" smtClean="0"/>
              <a:t>The file pointer is at the end of the file if the file exists. </a:t>
            </a:r>
          </a:p>
          <a:p>
            <a:pPr lvl="1" fontAlgn="t"/>
            <a:r>
              <a:rPr lang="en-US" dirty="0" smtClean="0"/>
              <a:t>That is, the file is in the append mode. </a:t>
            </a:r>
          </a:p>
          <a:p>
            <a:pPr lvl="1" fontAlgn="t"/>
            <a:r>
              <a:rPr lang="en-US" dirty="0" smtClean="0"/>
              <a:t>If the file does not exist, it creates a new file for writing.</a:t>
            </a:r>
          </a:p>
          <a:p>
            <a:pPr fontAlgn="t">
              <a:buNone/>
            </a:pPr>
            <a:r>
              <a:rPr lang="en-US" b="1" dirty="0" err="1" smtClean="0"/>
              <a:t>ab</a:t>
            </a:r>
            <a:r>
              <a:rPr lang="en-US" b="1" dirty="0" smtClean="0"/>
              <a:t> </a:t>
            </a:r>
          </a:p>
          <a:p>
            <a:pPr lvl="1" fontAlgn="t"/>
            <a:r>
              <a:rPr lang="en-US" dirty="0" smtClean="0"/>
              <a:t>Opens a file for appending in binary format. </a:t>
            </a:r>
          </a:p>
          <a:p>
            <a:pPr lvl="1" fontAlgn="t"/>
            <a:r>
              <a:rPr lang="en-US" dirty="0" smtClean="0"/>
              <a:t>The file pointer is at the end of the file if the file exists.</a:t>
            </a:r>
          </a:p>
          <a:p>
            <a:pPr lvl="1" fontAlgn="t"/>
            <a:r>
              <a:rPr lang="en-US" dirty="0" smtClean="0"/>
              <a:t>That is, the file is in the append mode. </a:t>
            </a:r>
          </a:p>
          <a:p>
            <a:pPr lvl="1" fontAlgn="t"/>
            <a:r>
              <a:rPr lang="en-US" dirty="0" smtClean="0"/>
              <a:t>If the file does not exist, it creates a new file for writing.</a:t>
            </a:r>
          </a:p>
          <a:p>
            <a:pPr>
              <a:buNone/>
            </a:pPr>
            <a:endParaRPr lang="en-US"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pPr fontAlgn="t">
              <a:buNone/>
            </a:pPr>
            <a:r>
              <a:rPr lang="en-US" b="1" dirty="0" smtClean="0"/>
              <a:t>a+ </a:t>
            </a:r>
          </a:p>
          <a:p>
            <a:pPr lvl="1" fontAlgn="t"/>
            <a:r>
              <a:rPr lang="en-US" dirty="0" smtClean="0"/>
              <a:t>Opens a file for both appending and reading. </a:t>
            </a:r>
          </a:p>
          <a:p>
            <a:pPr lvl="1" fontAlgn="t"/>
            <a:r>
              <a:rPr lang="en-US" dirty="0" smtClean="0"/>
              <a:t>The file pointer is at the end of the file if the file exists. </a:t>
            </a:r>
          </a:p>
          <a:p>
            <a:pPr lvl="1" fontAlgn="t"/>
            <a:r>
              <a:rPr lang="en-US" dirty="0" smtClean="0"/>
              <a:t>The file opens in the append mode. </a:t>
            </a:r>
          </a:p>
          <a:p>
            <a:pPr lvl="1" fontAlgn="t"/>
            <a:r>
              <a:rPr lang="en-US" dirty="0" smtClean="0"/>
              <a:t>If the file does not exist, it creates a new file for reading and writing.</a:t>
            </a:r>
          </a:p>
          <a:p>
            <a:pPr fontAlgn="t">
              <a:buNone/>
            </a:pPr>
            <a:r>
              <a:rPr lang="en-US" b="1" dirty="0" err="1" smtClean="0"/>
              <a:t>ab</a:t>
            </a:r>
            <a:r>
              <a:rPr lang="en-US" b="1" dirty="0" smtClean="0"/>
              <a:t>+ </a:t>
            </a:r>
          </a:p>
          <a:p>
            <a:pPr lvl="1" fontAlgn="t"/>
            <a:r>
              <a:rPr lang="en-US" dirty="0" smtClean="0"/>
              <a:t>Opens a file for both appending and reading in binary format. </a:t>
            </a:r>
          </a:p>
          <a:p>
            <a:pPr lvl="1" fontAlgn="t"/>
            <a:r>
              <a:rPr lang="en-US" dirty="0" smtClean="0"/>
              <a:t>The file pointer is at the end of the file if the file exists. </a:t>
            </a:r>
          </a:p>
          <a:p>
            <a:pPr lvl="1" fontAlgn="t"/>
            <a:r>
              <a:rPr lang="en-US" dirty="0" smtClean="0"/>
              <a:t>The file opens in the append mode. </a:t>
            </a:r>
          </a:p>
          <a:p>
            <a:pPr lvl="1" fontAlgn="t"/>
            <a:r>
              <a:rPr lang="en-US" dirty="0" smtClean="0"/>
              <a:t>If the file does not exist, it creates a new file for reading and writing.</a:t>
            </a:r>
          </a:p>
          <a:p>
            <a:endParaRPr lang="en-US"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en-US" sz="2400" b="1" dirty="0" smtClean="0"/>
              <a:t>buffering</a:t>
            </a:r>
            <a:r>
              <a:rPr lang="en-US" sz="2400" dirty="0" smtClean="0"/>
              <a:t> − If the buffering value is set to 0, no buffering takes place. </a:t>
            </a:r>
          </a:p>
          <a:p>
            <a:pPr algn="just"/>
            <a:r>
              <a:rPr lang="en-US" sz="2400" dirty="0" smtClean="0"/>
              <a:t>If the buffering value is 1, line buffering is performed while accessing a file. </a:t>
            </a:r>
          </a:p>
          <a:p>
            <a:pPr algn="just"/>
            <a:r>
              <a:rPr lang="en-US" sz="2400" dirty="0" smtClean="0"/>
              <a:t>If you specify the buffering value as an integer greater than 1, then buffering action is performed with the indicated buffer size. </a:t>
            </a:r>
          </a:p>
          <a:p>
            <a:pPr algn="just"/>
            <a:r>
              <a:rPr lang="en-US" sz="2400" dirty="0" smtClean="0"/>
              <a:t>If negative, the buffer size is the system default(default behavior).</a:t>
            </a:r>
          </a:p>
          <a:p>
            <a:endParaRPr lang="en-US" sz="2400"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How to open a file?</a:t>
            </a:r>
            <a:endParaRPr lang="en-US" dirty="0"/>
          </a:p>
        </p:txBody>
      </p:sp>
      <p:sp>
        <p:nvSpPr>
          <p:cNvPr id="3" name="Content Placeholder 2"/>
          <p:cNvSpPr>
            <a:spLocks noGrp="1"/>
          </p:cNvSpPr>
          <p:nvPr>
            <p:ph idx="1"/>
          </p:nvPr>
        </p:nvSpPr>
        <p:spPr/>
        <p:txBody>
          <a:bodyPr>
            <a:normAutofit/>
          </a:bodyPr>
          <a:lstStyle/>
          <a:p>
            <a:r>
              <a:rPr lang="en-US" sz="2400" dirty="0" smtClean="0"/>
              <a:t>Python has a built-in function open() to open a file. </a:t>
            </a:r>
          </a:p>
          <a:p>
            <a:r>
              <a:rPr lang="en-US" sz="2400" dirty="0" smtClean="0"/>
              <a:t>This function returns a file object, also called a handle, as it is used to read or modify the file accordingly.</a:t>
            </a:r>
          </a:p>
          <a:p>
            <a:pPr>
              <a:buNone/>
            </a:pPr>
            <a:r>
              <a:rPr lang="en-US" dirty="0" smtClean="0"/>
              <a:t>&gt;&gt;&gt; f = open("test.txt") </a:t>
            </a:r>
          </a:p>
          <a:p>
            <a:pPr>
              <a:buNone/>
            </a:pPr>
            <a:r>
              <a:rPr lang="en-US" sz="2600" dirty="0" smtClean="0"/>
              <a:t># open file in current directory </a:t>
            </a:r>
          </a:p>
          <a:p>
            <a:pPr>
              <a:buNone/>
            </a:pPr>
            <a:r>
              <a:rPr lang="en-US" dirty="0" smtClean="0"/>
              <a:t>&gt;&gt;&gt; f = open("C:/Python33/README.txt") </a:t>
            </a:r>
          </a:p>
          <a:p>
            <a:pPr>
              <a:buNone/>
            </a:pPr>
            <a:r>
              <a:rPr lang="en-US" sz="2800" dirty="0" smtClean="0"/>
              <a:t># specifying full path</a:t>
            </a:r>
          </a:p>
          <a:p>
            <a:endParaRPr lang="en-US"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The file Object Attributes</a:t>
            </a:r>
            <a:endParaRPr lang="en-US" dirty="0"/>
          </a:p>
        </p:txBody>
      </p:sp>
      <p:sp>
        <p:nvSpPr>
          <p:cNvPr id="3" name="Content Placeholder 2"/>
          <p:cNvSpPr>
            <a:spLocks noGrp="1"/>
          </p:cNvSpPr>
          <p:nvPr>
            <p:ph idx="1"/>
          </p:nvPr>
        </p:nvSpPr>
        <p:spPr/>
        <p:txBody>
          <a:bodyPr>
            <a:normAutofit/>
          </a:bodyPr>
          <a:lstStyle/>
          <a:p>
            <a:r>
              <a:rPr lang="en-US" sz="2800" dirty="0" smtClean="0"/>
              <a:t>Once a file is opened and you have one </a:t>
            </a:r>
            <a:r>
              <a:rPr lang="en-US" sz="2800" i="1" dirty="0" smtClean="0"/>
              <a:t>file</a:t>
            </a:r>
            <a:r>
              <a:rPr lang="en-US" sz="2800" dirty="0" smtClean="0"/>
              <a:t> object, you can get various information related to that file.</a:t>
            </a:r>
          </a:p>
          <a:p>
            <a:pPr fontAlgn="t"/>
            <a:endParaRPr lang="en-US" sz="2800" b="1" dirty="0" smtClean="0"/>
          </a:p>
          <a:p>
            <a:pPr lvl="1" fontAlgn="t"/>
            <a:r>
              <a:rPr lang="en-US" sz="2400" b="1" dirty="0" err="1" smtClean="0"/>
              <a:t>file.closed</a:t>
            </a:r>
            <a:r>
              <a:rPr lang="en-US" sz="2400" b="1" dirty="0" smtClean="0"/>
              <a:t>  </a:t>
            </a:r>
            <a:r>
              <a:rPr lang="en-US" sz="2400" dirty="0" smtClean="0"/>
              <a:t>Returns true if file is closed, false otherwise.</a:t>
            </a:r>
          </a:p>
          <a:p>
            <a:pPr lvl="1" fontAlgn="t"/>
            <a:r>
              <a:rPr lang="en-US" sz="2400" b="1" dirty="0" err="1" smtClean="0"/>
              <a:t>file.mode</a:t>
            </a:r>
            <a:r>
              <a:rPr lang="en-US" sz="2400" b="1" dirty="0" smtClean="0"/>
              <a:t> </a:t>
            </a:r>
            <a:r>
              <a:rPr lang="en-US" sz="2400" dirty="0" smtClean="0"/>
              <a:t>Returns access mode with which file was opened.</a:t>
            </a:r>
          </a:p>
          <a:p>
            <a:pPr lvl="1" fontAlgn="t"/>
            <a:r>
              <a:rPr lang="en-US" sz="2400" b="1" dirty="0" smtClean="0"/>
              <a:t>file.name </a:t>
            </a:r>
            <a:r>
              <a:rPr lang="en-US" sz="2400" dirty="0" smtClean="0"/>
              <a:t>Returns name of the file.</a:t>
            </a:r>
          </a:p>
          <a:p>
            <a:endParaRPr lang="en-US" sz="2800"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a:buNone/>
            </a:pPr>
            <a:r>
              <a:rPr lang="en-US" dirty="0" smtClean="0"/>
              <a:t># Open a file </a:t>
            </a:r>
          </a:p>
          <a:p>
            <a:pPr lvl="1">
              <a:buNone/>
            </a:pPr>
            <a:r>
              <a:rPr lang="en-US" dirty="0" smtClean="0"/>
              <a:t>&gt;&gt;&gt;</a:t>
            </a:r>
            <a:r>
              <a:rPr lang="en-US" dirty="0" err="1" smtClean="0"/>
              <a:t>fo</a:t>
            </a:r>
            <a:r>
              <a:rPr lang="en-US" dirty="0" smtClean="0"/>
              <a:t> = open("foo.txt", "</a:t>
            </a:r>
            <a:r>
              <a:rPr lang="en-US" dirty="0" err="1" smtClean="0"/>
              <a:t>wb</a:t>
            </a:r>
            <a:r>
              <a:rPr lang="en-US" dirty="0" smtClean="0"/>
              <a:t>") </a:t>
            </a:r>
          </a:p>
          <a:p>
            <a:pPr lvl="1">
              <a:buNone/>
            </a:pPr>
            <a:r>
              <a:rPr lang="en-US" dirty="0" smtClean="0"/>
              <a:t>&gt;&gt;&gt;print ("Name of the file: ", fo.name) </a:t>
            </a:r>
          </a:p>
          <a:p>
            <a:pPr lvl="1">
              <a:buNone/>
            </a:pPr>
            <a:r>
              <a:rPr lang="en-US" dirty="0" smtClean="0"/>
              <a:t>&gt;&gt;&gt;print ("Closed or not : ", </a:t>
            </a:r>
            <a:r>
              <a:rPr lang="en-US" dirty="0" err="1" smtClean="0"/>
              <a:t>fo.closed</a:t>
            </a:r>
            <a:r>
              <a:rPr lang="en-US" dirty="0" smtClean="0"/>
              <a:t>) </a:t>
            </a:r>
          </a:p>
          <a:p>
            <a:pPr lvl="1">
              <a:buNone/>
            </a:pPr>
            <a:r>
              <a:rPr lang="en-US" dirty="0" smtClean="0"/>
              <a:t>&gt;&gt;&gt;print ("Opening mode : ", </a:t>
            </a:r>
            <a:r>
              <a:rPr lang="en-US" dirty="0" err="1" smtClean="0"/>
              <a:t>fo.mode</a:t>
            </a:r>
            <a:r>
              <a:rPr lang="en-US" dirty="0" smtClean="0"/>
              <a:t>) </a:t>
            </a:r>
          </a:p>
          <a:p>
            <a:pPr lvl="1">
              <a:buNone/>
            </a:pPr>
            <a:r>
              <a:rPr lang="en-US" dirty="0" smtClean="0"/>
              <a:t>&gt;&gt;&gt;</a:t>
            </a:r>
            <a:r>
              <a:rPr lang="en-US" dirty="0" err="1" smtClean="0"/>
              <a:t>fo.close</a:t>
            </a:r>
            <a:r>
              <a:rPr lang="en-US" dirty="0" smtClean="0"/>
              <a:t>()</a:t>
            </a:r>
          </a:p>
          <a:p>
            <a:pPr>
              <a:buNone/>
            </a:pPr>
            <a:r>
              <a:rPr lang="en-US" sz="2200" dirty="0" smtClean="0"/>
              <a:t>This produces the following result −</a:t>
            </a:r>
          </a:p>
          <a:p>
            <a:pPr lvl="1"/>
            <a:r>
              <a:rPr lang="en-US" sz="1900" dirty="0" smtClean="0"/>
              <a:t>Name of the file: foo.txt </a:t>
            </a:r>
          </a:p>
          <a:p>
            <a:pPr lvl="1"/>
            <a:r>
              <a:rPr lang="en-US" sz="1900" dirty="0" smtClean="0"/>
              <a:t>Closed or not : False </a:t>
            </a:r>
          </a:p>
          <a:p>
            <a:pPr lvl="1"/>
            <a:r>
              <a:rPr lang="en-US" sz="1900" dirty="0" smtClean="0"/>
              <a:t>Opening mode : </a:t>
            </a:r>
            <a:r>
              <a:rPr lang="en-US" sz="1900" dirty="0" err="1" smtClean="0"/>
              <a:t>wb</a:t>
            </a:r>
            <a:r>
              <a:rPr lang="en-US" sz="1900" dirty="0" smtClean="0"/>
              <a:t> </a:t>
            </a:r>
            <a:br>
              <a:rPr lang="en-US" sz="1900" dirty="0" smtClean="0"/>
            </a:br>
            <a:endParaRPr lang="en-US" sz="1900"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The close() Method</a:t>
            </a:r>
            <a:endParaRPr lang="en-US" dirty="0"/>
          </a:p>
        </p:txBody>
      </p:sp>
      <p:sp>
        <p:nvSpPr>
          <p:cNvPr id="3" name="Content Placeholder 2"/>
          <p:cNvSpPr>
            <a:spLocks noGrp="1"/>
          </p:cNvSpPr>
          <p:nvPr>
            <p:ph idx="1"/>
          </p:nvPr>
        </p:nvSpPr>
        <p:spPr/>
        <p:txBody>
          <a:bodyPr>
            <a:normAutofit/>
          </a:bodyPr>
          <a:lstStyle/>
          <a:p>
            <a:pPr algn="just"/>
            <a:r>
              <a:rPr lang="en-US" sz="2400" dirty="0" smtClean="0"/>
              <a:t>It flushes any unwritten information and closes the file object, after which no more writing can be done.</a:t>
            </a:r>
          </a:p>
          <a:p>
            <a:pPr algn="just"/>
            <a:r>
              <a:rPr lang="en-US" sz="2400" dirty="0" smtClean="0"/>
              <a:t>Python automatically closes a file when the reference object of a file is reassigned to another file. </a:t>
            </a:r>
          </a:p>
          <a:p>
            <a:pPr algn="just"/>
            <a:r>
              <a:rPr lang="en-US" sz="2400" dirty="0" smtClean="0"/>
              <a:t>It is a good practice to use the close() method to close a file.</a:t>
            </a:r>
          </a:p>
          <a:p>
            <a:pPr>
              <a:buNone/>
            </a:pPr>
            <a:endParaRPr lang="en-US" sz="2400" b="1" dirty="0" smtClean="0"/>
          </a:p>
          <a:p>
            <a:pPr>
              <a:buNone/>
            </a:pPr>
            <a:r>
              <a:rPr lang="en-US" sz="2400" b="1" dirty="0" smtClean="0"/>
              <a:t>&gt;&gt;&gt;</a:t>
            </a:r>
            <a:r>
              <a:rPr lang="en-US" sz="2400" b="1" dirty="0" err="1" smtClean="0"/>
              <a:t>fileObject.close</a:t>
            </a:r>
            <a:r>
              <a:rPr lang="en-US" sz="2400" b="1" dirty="0" smtClean="0"/>
              <a:t>()</a:t>
            </a:r>
          </a:p>
          <a:p>
            <a:endParaRPr lang="en-US" sz="2400" dirty="0"/>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Reading and Writing Files</a:t>
            </a:r>
            <a:endParaRPr lang="en-US" b="1" dirty="0"/>
          </a:p>
        </p:txBody>
      </p:sp>
      <p:sp>
        <p:nvSpPr>
          <p:cNvPr id="3" name="Content Placeholder 2"/>
          <p:cNvSpPr>
            <a:spLocks noGrp="1"/>
          </p:cNvSpPr>
          <p:nvPr>
            <p:ph idx="1"/>
          </p:nvPr>
        </p:nvSpPr>
        <p:spPr/>
        <p:txBody>
          <a:bodyPr>
            <a:noAutofit/>
          </a:bodyPr>
          <a:lstStyle/>
          <a:p>
            <a:pPr>
              <a:buNone/>
            </a:pPr>
            <a:r>
              <a:rPr lang="en-US" sz="2400" b="1" dirty="0" smtClean="0"/>
              <a:t>The write() Method</a:t>
            </a:r>
          </a:p>
          <a:p>
            <a:r>
              <a:rPr lang="en-US" sz="2400" dirty="0" smtClean="0"/>
              <a:t>The </a:t>
            </a:r>
            <a:r>
              <a:rPr lang="en-US" sz="2400" b="1" dirty="0" smtClean="0"/>
              <a:t>write()</a:t>
            </a:r>
            <a:r>
              <a:rPr lang="en-US" sz="2400" dirty="0" smtClean="0"/>
              <a:t> method writes any string to an open file. </a:t>
            </a:r>
          </a:p>
          <a:p>
            <a:r>
              <a:rPr lang="en-US" sz="2400" dirty="0" smtClean="0"/>
              <a:t>The write() method does not add a newline character ('\n') to the end of the string</a:t>
            </a:r>
          </a:p>
          <a:p>
            <a:pPr>
              <a:buNone/>
            </a:pPr>
            <a:endParaRPr lang="en-US" sz="2400" dirty="0" smtClean="0"/>
          </a:p>
          <a:p>
            <a:pPr>
              <a:buNone/>
            </a:pPr>
            <a:r>
              <a:rPr lang="en-US" sz="2400" dirty="0" smtClean="0"/>
              <a:t>Syntax</a:t>
            </a:r>
          </a:p>
          <a:p>
            <a:pPr>
              <a:buNone/>
            </a:pPr>
            <a:r>
              <a:rPr lang="en-US" sz="2400" dirty="0" smtClean="0"/>
              <a:t>&gt;&gt;&gt;</a:t>
            </a:r>
            <a:r>
              <a:rPr lang="en-US" sz="2400" dirty="0" err="1" smtClean="0"/>
              <a:t>fileObject.write</a:t>
            </a:r>
            <a:r>
              <a:rPr lang="en-US" sz="2400" dirty="0" smtClean="0"/>
              <a:t>(string);</a:t>
            </a:r>
          </a:p>
          <a:p>
            <a:r>
              <a:rPr lang="en-US" sz="2400" dirty="0" smtClean="0"/>
              <a:t>Here, passed parameter is the content to be written into the opened file.</a:t>
            </a:r>
          </a:p>
          <a:p>
            <a:endParaRPr lang="en-US" sz="2400"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None/>
            </a:pPr>
            <a:r>
              <a:rPr lang="en-US" sz="2000" dirty="0" smtClean="0"/>
              <a:t># Open a file </a:t>
            </a:r>
          </a:p>
          <a:p>
            <a:pPr>
              <a:buNone/>
            </a:pPr>
            <a:r>
              <a:rPr lang="en-US" sz="2400" dirty="0" smtClean="0"/>
              <a:t>&gt;&gt;&gt;</a:t>
            </a:r>
            <a:r>
              <a:rPr lang="en-US" sz="2400" dirty="0" err="1" smtClean="0"/>
              <a:t>fo</a:t>
            </a:r>
            <a:r>
              <a:rPr lang="en-US" sz="2400" dirty="0" smtClean="0"/>
              <a:t> = open("foo.txt", "w") </a:t>
            </a:r>
          </a:p>
          <a:p>
            <a:pPr>
              <a:buNone/>
            </a:pPr>
            <a:r>
              <a:rPr lang="en-US" sz="2400" dirty="0" smtClean="0"/>
              <a:t>&gt;&gt;&gt;</a:t>
            </a:r>
            <a:r>
              <a:rPr lang="en-US" sz="2400" dirty="0" err="1" smtClean="0"/>
              <a:t>fo.write</a:t>
            </a:r>
            <a:r>
              <a:rPr lang="en-US" sz="2400" dirty="0" smtClean="0"/>
              <a:t>( "Python is a great language.\</a:t>
            </a:r>
            <a:r>
              <a:rPr lang="en-US" sz="2400" dirty="0" err="1" smtClean="0"/>
              <a:t>nYeah</a:t>
            </a:r>
            <a:r>
              <a:rPr lang="en-US" sz="2400" dirty="0" smtClean="0"/>
              <a:t> its great!!\n") </a:t>
            </a:r>
          </a:p>
          <a:p>
            <a:pPr>
              <a:buNone/>
            </a:pPr>
            <a:r>
              <a:rPr lang="en-US" sz="2000" dirty="0" smtClean="0"/>
              <a:t># Close </a:t>
            </a:r>
            <a:r>
              <a:rPr lang="en-US" sz="2000" dirty="0" err="1" smtClean="0"/>
              <a:t>opend</a:t>
            </a:r>
            <a:r>
              <a:rPr lang="en-US" sz="2000" dirty="0" smtClean="0"/>
              <a:t> file</a:t>
            </a:r>
          </a:p>
          <a:p>
            <a:pPr>
              <a:buNone/>
            </a:pPr>
            <a:r>
              <a:rPr lang="en-US" sz="2400" dirty="0" smtClean="0"/>
              <a:t> &gt;&gt;&gt;</a:t>
            </a:r>
            <a:r>
              <a:rPr lang="en-US" sz="2400" dirty="0" err="1" smtClean="0"/>
              <a:t>fo.close</a:t>
            </a:r>
            <a:r>
              <a:rPr lang="en-US" sz="2400" dirty="0" smtClean="0"/>
              <a:t>()</a:t>
            </a:r>
            <a:endParaRPr lang="en-US" sz="2400"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The read() Method</a:t>
            </a:r>
            <a:endParaRPr lang="en-US" dirty="0"/>
          </a:p>
        </p:txBody>
      </p:sp>
      <p:sp>
        <p:nvSpPr>
          <p:cNvPr id="3" name="Content Placeholder 2"/>
          <p:cNvSpPr>
            <a:spLocks noGrp="1"/>
          </p:cNvSpPr>
          <p:nvPr>
            <p:ph idx="1"/>
          </p:nvPr>
        </p:nvSpPr>
        <p:spPr/>
        <p:txBody>
          <a:bodyPr>
            <a:normAutofit/>
          </a:bodyPr>
          <a:lstStyle/>
          <a:p>
            <a:r>
              <a:rPr lang="en-US" sz="2400" dirty="0" smtClean="0"/>
              <a:t>The </a:t>
            </a:r>
            <a:r>
              <a:rPr lang="en-US" sz="2400" b="1" dirty="0" smtClean="0"/>
              <a:t>read()</a:t>
            </a:r>
            <a:r>
              <a:rPr lang="en-US" sz="2400" dirty="0" smtClean="0"/>
              <a:t> method reads a string from an open file. </a:t>
            </a:r>
          </a:p>
          <a:p>
            <a:pPr>
              <a:buNone/>
            </a:pPr>
            <a:endParaRPr lang="en-US" sz="2400" dirty="0" smtClean="0"/>
          </a:p>
          <a:p>
            <a:pPr>
              <a:buNone/>
            </a:pPr>
            <a:r>
              <a:rPr lang="en-US" sz="2400" dirty="0" smtClean="0"/>
              <a:t>Syntax</a:t>
            </a:r>
          </a:p>
          <a:p>
            <a:pPr>
              <a:buNone/>
            </a:pPr>
            <a:r>
              <a:rPr lang="en-US" sz="2400" dirty="0" smtClean="0"/>
              <a:t>&gt;&gt;&gt;</a:t>
            </a:r>
            <a:r>
              <a:rPr lang="en-US" sz="2400" dirty="0" err="1" smtClean="0"/>
              <a:t>fileObject.read</a:t>
            </a:r>
            <a:r>
              <a:rPr lang="en-US" sz="2400" dirty="0" smtClean="0"/>
              <a:t>([count])</a:t>
            </a:r>
          </a:p>
          <a:p>
            <a:r>
              <a:rPr lang="en-US" sz="2400" dirty="0" smtClean="0"/>
              <a:t>Here, passed parameter is the number of bytes to be read from the opened file. </a:t>
            </a:r>
          </a:p>
          <a:p>
            <a:r>
              <a:rPr lang="en-US" sz="2400" dirty="0" smtClean="0"/>
              <a:t>This method starts reading from the beginning of the file and </a:t>
            </a:r>
          </a:p>
          <a:p>
            <a:r>
              <a:rPr lang="en-US" sz="2400" dirty="0" smtClean="0"/>
              <a:t>if </a:t>
            </a:r>
            <a:r>
              <a:rPr lang="en-US" sz="2400" i="1" dirty="0" smtClean="0"/>
              <a:t>count</a:t>
            </a:r>
            <a:r>
              <a:rPr lang="en-US" sz="2400" dirty="0" smtClean="0"/>
              <a:t> is missing, then it tries to read as much as possible, maybe until the end of file.</a:t>
            </a:r>
          </a:p>
          <a:p>
            <a:endParaRPr lang="en-US" sz="2400"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readline</a:t>
            </a:r>
            <a:r>
              <a:rPr lang="en-US" dirty="0" smtClean="0"/>
              <a:t>()</a:t>
            </a:r>
            <a:endParaRPr lang="en-US" dirty="0"/>
          </a:p>
        </p:txBody>
      </p:sp>
      <p:sp>
        <p:nvSpPr>
          <p:cNvPr id="3" name="Content Placeholder 2"/>
          <p:cNvSpPr>
            <a:spLocks noGrp="1"/>
          </p:cNvSpPr>
          <p:nvPr>
            <p:ph idx="1"/>
          </p:nvPr>
        </p:nvSpPr>
        <p:spPr/>
        <p:txBody>
          <a:bodyPr>
            <a:normAutofit/>
          </a:bodyPr>
          <a:lstStyle/>
          <a:p>
            <a:r>
              <a:rPr lang="en-US" sz="2400" dirty="0" err="1" smtClean="0"/>
              <a:t>readline</a:t>
            </a:r>
            <a:r>
              <a:rPr lang="en-US" sz="2400" dirty="0" smtClean="0"/>
              <a:t>() can help you to read one line each time from the file.</a:t>
            </a:r>
          </a:p>
          <a:p>
            <a:pPr>
              <a:buNone/>
            </a:pPr>
            <a:r>
              <a:rPr lang="en-US" sz="2800" b="1" dirty="0" smtClean="0"/>
              <a:t>&gt;&gt;&gt; </a:t>
            </a:r>
            <a:r>
              <a:rPr lang="en-US" sz="2800" dirty="0" err="1" smtClean="0"/>
              <a:t>fobj</a:t>
            </a:r>
            <a:r>
              <a:rPr lang="en-US" sz="2800" dirty="0" smtClean="0"/>
              <a:t> = open("sample.txt") </a:t>
            </a:r>
          </a:p>
          <a:p>
            <a:pPr>
              <a:buNone/>
            </a:pPr>
            <a:r>
              <a:rPr lang="en-US" sz="2800" b="1" dirty="0" smtClean="0"/>
              <a:t>&gt;&gt;&gt; </a:t>
            </a:r>
            <a:r>
              <a:rPr lang="en-US" sz="2800" dirty="0" err="1" smtClean="0"/>
              <a:t>fobj.readline</a:t>
            </a:r>
            <a:r>
              <a:rPr lang="en-US" sz="2800" dirty="0" smtClean="0"/>
              <a:t>()</a:t>
            </a:r>
          </a:p>
          <a:p>
            <a:r>
              <a:rPr lang="en-US" sz="2400" dirty="0" smtClean="0"/>
              <a:t>To read all the lines in a list we use </a:t>
            </a:r>
            <a:r>
              <a:rPr lang="en-US" sz="2400" i="1" dirty="0" err="1" smtClean="0"/>
              <a:t>readlines</a:t>
            </a:r>
            <a:r>
              <a:rPr lang="en-US" sz="2400" i="1" dirty="0" smtClean="0"/>
              <a:t>()</a:t>
            </a:r>
            <a:r>
              <a:rPr lang="en-US" sz="2400" dirty="0" smtClean="0"/>
              <a:t> method.</a:t>
            </a:r>
          </a:p>
          <a:p>
            <a:pPr>
              <a:buNone/>
            </a:pPr>
            <a:r>
              <a:rPr lang="en-US" sz="2800" b="1" dirty="0" smtClean="0"/>
              <a:t>&gt;&gt;&gt; </a:t>
            </a:r>
            <a:r>
              <a:rPr lang="en-US" sz="2800" dirty="0" err="1" smtClean="0"/>
              <a:t>fobj</a:t>
            </a:r>
            <a:r>
              <a:rPr lang="en-US" sz="2800" dirty="0" smtClean="0"/>
              <a:t> = open("sample.txt") </a:t>
            </a:r>
          </a:p>
          <a:p>
            <a:pPr>
              <a:buNone/>
            </a:pPr>
            <a:r>
              <a:rPr lang="en-US" sz="2800" b="1" dirty="0" smtClean="0"/>
              <a:t>&gt;&gt;&gt; </a:t>
            </a:r>
            <a:r>
              <a:rPr lang="en-US" sz="2800" dirty="0" err="1" smtClean="0"/>
              <a:t>fobj.readlines</a:t>
            </a:r>
            <a:r>
              <a:rPr lang="en-US" sz="2800" dirty="0" smtClean="0"/>
              <a:t>()</a:t>
            </a:r>
            <a:endParaRPr lang="en-US" sz="2800"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None/>
            </a:pPr>
            <a:r>
              <a:rPr lang="en-US" sz="2400" dirty="0" smtClean="0"/>
              <a:t># Open a file </a:t>
            </a:r>
          </a:p>
          <a:p>
            <a:pPr>
              <a:buNone/>
            </a:pPr>
            <a:r>
              <a:rPr lang="en-US" sz="2400" dirty="0" smtClean="0"/>
              <a:t>&gt;&gt;&gt;</a:t>
            </a:r>
            <a:r>
              <a:rPr lang="en-US" sz="2400" dirty="0" err="1" smtClean="0"/>
              <a:t>fo</a:t>
            </a:r>
            <a:r>
              <a:rPr lang="en-US" sz="2400" dirty="0" smtClean="0"/>
              <a:t> = open("foo.txt", "r+") </a:t>
            </a:r>
          </a:p>
          <a:p>
            <a:pPr>
              <a:buNone/>
            </a:pPr>
            <a:r>
              <a:rPr lang="en-US" sz="2400" dirty="0" smtClean="0"/>
              <a:t>&gt;&gt;&gt;</a:t>
            </a:r>
            <a:r>
              <a:rPr lang="en-US" sz="2400" dirty="0" err="1" smtClean="0"/>
              <a:t>str</a:t>
            </a:r>
            <a:r>
              <a:rPr lang="en-US" sz="2400" dirty="0" smtClean="0"/>
              <a:t> = </a:t>
            </a:r>
            <a:r>
              <a:rPr lang="en-US" sz="2400" dirty="0" err="1" smtClean="0"/>
              <a:t>fo.read</a:t>
            </a:r>
            <a:r>
              <a:rPr lang="en-US" sz="2400" dirty="0" smtClean="0"/>
              <a:t>(10) </a:t>
            </a:r>
          </a:p>
          <a:p>
            <a:pPr>
              <a:buNone/>
            </a:pPr>
            <a:r>
              <a:rPr lang="en-US" sz="2400" dirty="0" smtClean="0"/>
              <a:t>&gt;&gt;&gt;print ("Read String is : ", </a:t>
            </a:r>
            <a:r>
              <a:rPr lang="en-US" sz="2400" dirty="0" err="1" smtClean="0"/>
              <a:t>str</a:t>
            </a:r>
            <a:r>
              <a:rPr lang="en-US" sz="2400" dirty="0" smtClean="0"/>
              <a:t>) </a:t>
            </a:r>
          </a:p>
          <a:p>
            <a:pPr>
              <a:buNone/>
            </a:pPr>
            <a:r>
              <a:rPr lang="en-US" sz="2400" dirty="0" smtClean="0"/>
              <a:t># Close opened file </a:t>
            </a:r>
          </a:p>
          <a:p>
            <a:pPr>
              <a:buNone/>
            </a:pPr>
            <a:r>
              <a:rPr lang="en-US" sz="2400" dirty="0" smtClean="0"/>
              <a:t>&gt;&gt;&gt;</a:t>
            </a:r>
            <a:r>
              <a:rPr lang="en-US" sz="2400" dirty="0" err="1" smtClean="0"/>
              <a:t>fo.close</a:t>
            </a:r>
            <a:r>
              <a:rPr lang="en-US" sz="2400" dirty="0" smtClean="0"/>
              <a:t>()</a:t>
            </a:r>
          </a:p>
          <a:p>
            <a:pPr>
              <a:buNone/>
            </a:pPr>
            <a:endParaRPr lang="en-US" sz="2400" dirty="0" smtClean="0"/>
          </a:p>
          <a:p>
            <a:pPr>
              <a:buNone/>
            </a:pPr>
            <a:r>
              <a:rPr lang="en-US" sz="2400" b="1" dirty="0" smtClean="0"/>
              <a:t>Output:</a:t>
            </a:r>
          </a:p>
          <a:p>
            <a:pPr>
              <a:buNone/>
            </a:pPr>
            <a:r>
              <a:rPr lang="en-US" sz="2400" dirty="0" smtClean="0"/>
              <a:t>Read String is : Python is</a:t>
            </a:r>
            <a:endParaRPr lang="en-US" sz="2400"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File Positions</a:t>
            </a:r>
            <a:endParaRPr lang="en-US" b="1" dirty="0"/>
          </a:p>
        </p:txBody>
      </p:sp>
      <p:sp>
        <p:nvSpPr>
          <p:cNvPr id="3" name="Content Placeholder 2"/>
          <p:cNvSpPr>
            <a:spLocks noGrp="1"/>
          </p:cNvSpPr>
          <p:nvPr>
            <p:ph idx="1"/>
          </p:nvPr>
        </p:nvSpPr>
        <p:spPr/>
        <p:txBody>
          <a:bodyPr>
            <a:normAutofit/>
          </a:bodyPr>
          <a:lstStyle/>
          <a:p>
            <a:r>
              <a:rPr lang="en-US" sz="2400" dirty="0" smtClean="0"/>
              <a:t>The </a:t>
            </a:r>
            <a:r>
              <a:rPr lang="en-US" b="1" i="1" dirty="0" smtClean="0"/>
              <a:t>tell()</a:t>
            </a:r>
            <a:r>
              <a:rPr lang="en-US" sz="2400" dirty="0" smtClean="0"/>
              <a:t> method tells you the current position within the file; </a:t>
            </a:r>
          </a:p>
          <a:p>
            <a:r>
              <a:rPr lang="en-US" sz="2400" dirty="0" smtClean="0"/>
              <a:t>in other words, the next read or write will occur at that many bytes from the beginning of the file.</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pPr>
              <a:buNone/>
            </a:pPr>
            <a:r>
              <a:rPr lang="en-US" sz="4600" b="1" i="1" dirty="0" smtClean="0"/>
              <a:t>seek(offset[, from])</a:t>
            </a:r>
            <a:r>
              <a:rPr lang="en-US" dirty="0" smtClean="0"/>
              <a:t> </a:t>
            </a:r>
          </a:p>
          <a:p>
            <a:r>
              <a:rPr lang="en-US" sz="3400" dirty="0" smtClean="0"/>
              <a:t>This method changes the current file position. </a:t>
            </a:r>
          </a:p>
          <a:p>
            <a:r>
              <a:rPr lang="en-US" sz="3400" dirty="0" smtClean="0"/>
              <a:t>The </a:t>
            </a:r>
            <a:r>
              <a:rPr lang="en-US" sz="3400" b="1" dirty="0" smtClean="0"/>
              <a:t>offset </a:t>
            </a:r>
            <a:r>
              <a:rPr lang="en-US" sz="3400" dirty="0" smtClean="0"/>
              <a:t>argument indicates the number of bytes to be moved.</a:t>
            </a:r>
          </a:p>
          <a:p>
            <a:r>
              <a:rPr lang="en-US" sz="3400" dirty="0" smtClean="0"/>
              <a:t>The </a:t>
            </a:r>
            <a:r>
              <a:rPr lang="en-US" sz="3400" b="1" dirty="0" smtClean="0"/>
              <a:t>from</a:t>
            </a:r>
            <a:r>
              <a:rPr lang="en-US" sz="3400" dirty="0" smtClean="0"/>
              <a:t> argument specifies the reference position from where the bytes are to be moved.</a:t>
            </a:r>
          </a:p>
          <a:p>
            <a:r>
              <a:rPr lang="en-US" sz="3400" dirty="0" smtClean="0"/>
              <a:t>If </a:t>
            </a:r>
            <a:r>
              <a:rPr lang="en-US" sz="3400" i="1" dirty="0" smtClean="0"/>
              <a:t>from</a:t>
            </a:r>
            <a:r>
              <a:rPr lang="en-US" sz="3400" dirty="0" smtClean="0"/>
              <a:t> is set to 0, the beginning of the file is used as the reference position. </a:t>
            </a:r>
          </a:p>
          <a:p>
            <a:r>
              <a:rPr lang="en-US" sz="3400" dirty="0" smtClean="0"/>
              <a:t>If it is set to 1, the current position is used as the reference position. </a:t>
            </a:r>
          </a:p>
          <a:p>
            <a:r>
              <a:rPr lang="en-US" sz="3400" dirty="0" smtClean="0"/>
              <a:t>If it is set to 2 then the end of the file would be taken as the reference position.</a:t>
            </a:r>
            <a:br>
              <a:rPr lang="en-US" sz="3400" dirty="0" smtClean="0"/>
            </a:br>
            <a:endParaRPr lang="en-US" sz="3400" dirty="0" smtClean="0"/>
          </a:p>
          <a:p>
            <a:endParaRPr lang="en-US" dirty="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pPr>
              <a:buFont typeface="Wingdings" pitchFamily="2" charset="2"/>
              <a:buChar char="Ø"/>
            </a:pPr>
            <a:r>
              <a:rPr lang="en-US" sz="2900" dirty="0" smtClean="0"/>
              <a:t># Open a file </a:t>
            </a:r>
          </a:p>
          <a:p>
            <a:pPr>
              <a:buFont typeface="Wingdings" pitchFamily="2" charset="2"/>
              <a:buChar char="Ø"/>
            </a:pPr>
            <a:r>
              <a:rPr lang="en-US" b="1" dirty="0" err="1" smtClean="0"/>
              <a:t>fo</a:t>
            </a:r>
            <a:r>
              <a:rPr lang="en-US" b="1" dirty="0" smtClean="0"/>
              <a:t> = open("foo.txt", "r+") </a:t>
            </a:r>
          </a:p>
          <a:p>
            <a:pPr>
              <a:buFont typeface="Wingdings" pitchFamily="2" charset="2"/>
              <a:buChar char="Ø"/>
            </a:pPr>
            <a:r>
              <a:rPr lang="en-US" b="1" dirty="0" err="1" smtClean="0"/>
              <a:t>str</a:t>
            </a:r>
            <a:r>
              <a:rPr lang="en-US" b="1" dirty="0" smtClean="0"/>
              <a:t> = </a:t>
            </a:r>
            <a:r>
              <a:rPr lang="en-US" b="1" dirty="0" err="1" smtClean="0"/>
              <a:t>fo.read</a:t>
            </a:r>
            <a:r>
              <a:rPr lang="en-US" b="1" dirty="0" smtClean="0"/>
              <a:t>(10) </a:t>
            </a:r>
          </a:p>
          <a:p>
            <a:pPr>
              <a:buFont typeface="Wingdings" pitchFamily="2" charset="2"/>
              <a:buChar char="Ø"/>
            </a:pPr>
            <a:r>
              <a:rPr lang="en-US" b="1" dirty="0" smtClean="0"/>
              <a:t>print ("Read String is : ", </a:t>
            </a:r>
            <a:r>
              <a:rPr lang="en-US" b="1" dirty="0" err="1" smtClean="0"/>
              <a:t>str</a:t>
            </a:r>
            <a:r>
              <a:rPr lang="en-US" b="1" dirty="0" smtClean="0"/>
              <a:t>) </a:t>
            </a:r>
          </a:p>
          <a:p>
            <a:pPr>
              <a:buFont typeface="Wingdings" pitchFamily="2" charset="2"/>
              <a:buChar char="Ø"/>
            </a:pPr>
            <a:r>
              <a:rPr lang="en-US" sz="2900" dirty="0" smtClean="0"/>
              <a:t># Check current position </a:t>
            </a:r>
          </a:p>
          <a:p>
            <a:pPr>
              <a:buFont typeface="Wingdings" pitchFamily="2" charset="2"/>
              <a:buChar char="Ø"/>
            </a:pPr>
            <a:r>
              <a:rPr lang="en-US" b="1" dirty="0" smtClean="0"/>
              <a:t>position = </a:t>
            </a:r>
            <a:r>
              <a:rPr lang="en-US" b="1" dirty="0" err="1" smtClean="0"/>
              <a:t>fo.tell</a:t>
            </a:r>
            <a:r>
              <a:rPr lang="en-US" b="1" dirty="0" smtClean="0"/>
              <a:t>() </a:t>
            </a:r>
          </a:p>
          <a:p>
            <a:pPr>
              <a:buFont typeface="Wingdings" pitchFamily="2" charset="2"/>
              <a:buChar char="Ø"/>
            </a:pPr>
            <a:r>
              <a:rPr lang="en-US" b="1" dirty="0" smtClean="0"/>
              <a:t>print ("Current file position : ", position) </a:t>
            </a:r>
          </a:p>
          <a:p>
            <a:pPr>
              <a:buFont typeface="Wingdings" pitchFamily="2" charset="2"/>
              <a:buChar char="Ø"/>
            </a:pPr>
            <a:r>
              <a:rPr lang="en-US" sz="2900" dirty="0" smtClean="0"/>
              <a:t># Reposition pointer at the beginning once again </a:t>
            </a:r>
          </a:p>
          <a:p>
            <a:pPr>
              <a:buFont typeface="Wingdings" pitchFamily="2" charset="2"/>
              <a:buChar char="Ø"/>
            </a:pPr>
            <a:r>
              <a:rPr lang="en-US" b="1" dirty="0" smtClean="0"/>
              <a:t>position = </a:t>
            </a:r>
            <a:r>
              <a:rPr lang="en-US" b="1" dirty="0" err="1" smtClean="0"/>
              <a:t>fo.seek</a:t>
            </a:r>
            <a:r>
              <a:rPr lang="en-US" b="1" dirty="0" smtClean="0"/>
              <a:t>(0, 0) </a:t>
            </a:r>
          </a:p>
          <a:p>
            <a:pPr>
              <a:buFont typeface="Wingdings" pitchFamily="2" charset="2"/>
              <a:buChar char="Ø"/>
            </a:pPr>
            <a:r>
              <a:rPr lang="en-US" b="1" dirty="0" err="1" smtClean="0"/>
              <a:t>str</a:t>
            </a:r>
            <a:r>
              <a:rPr lang="en-US" b="1" dirty="0" smtClean="0"/>
              <a:t> = </a:t>
            </a:r>
            <a:r>
              <a:rPr lang="en-US" b="1" dirty="0" err="1" smtClean="0"/>
              <a:t>fo.read</a:t>
            </a:r>
            <a:r>
              <a:rPr lang="en-US" b="1" dirty="0" smtClean="0"/>
              <a:t>(10) </a:t>
            </a:r>
          </a:p>
          <a:p>
            <a:pPr>
              <a:buFont typeface="Wingdings" pitchFamily="2" charset="2"/>
              <a:buChar char="Ø"/>
            </a:pPr>
            <a:r>
              <a:rPr lang="en-US" b="1" dirty="0" smtClean="0"/>
              <a:t>print ("Again read String is : ", </a:t>
            </a:r>
            <a:r>
              <a:rPr lang="en-US" b="1" dirty="0" err="1" smtClean="0"/>
              <a:t>str</a:t>
            </a:r>
            <a:r>
              <a:rPr lang="en-US" b="1" dirty="0" smtClean="0"/>
              <a:t>) </a:t>
            </a:r>
          </a:p>
          <a:p>
            <a:pPr>
              <a:buFont typeface="Wingdings" pitchFamily="2" charset="2"/>
              <a:buChar char="Ø"/>
            </a:pPr>
            <a:r>
              <a:rPr lang="en-US" sz="2900" dirty="0" smtClean="0"/>
              <a:t># Close opened file </a:t>
            </a:r>
          </a:p>
          <a:p>
            <a:pPr>
              <a:buFont typeface="Wingdings" pitchFamily="2" charset="2"/>
              <a:buChar char="Ø"/>
            </a:pPr>
            <a:r>
              <a:rPr lang="en-US" b="1" dirty="0" err="1" smtClean="0"/>
              <a:t>fo.close</a:t>
            </a:r>
            <a:r>
              <a:rPr lang="en-US" b="1" dirty="0" smtClean="0"/>
              <a:t>()</a:t>
            </a:r>
            <a:endParaRPr lang="en-US" b="1" dirty="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400" dirty="0" smtClean="0"/>
              <a:t>We can read a file line-by-line using a for loop. </a:t>
            </a:r>
          </a:p>
          <a:p>
            <a:r>
              <a:rPr lang="en-US" sz="2400" dirty="0" smtClean="0"/>
              <a:t>This is both efficient and fast.</a:t>
            </a:r>
          </a:p>
          <a:p>
            <a:pPr>
              <a:buNone/>
            </a:pPr>
            <a:r>
              <a:rPr lang="en-US" dirty="0" smtClean="0"/>
              <a:t>&gt;&gt;&gt; for line in f:</a:t>
            </a:r>
          </a:p>
          <a:p>
            <a:pPr>
              <a:buNone/>
            </a:pPr>
            <a:r>
              <a:rPr lang="en-US" dirty="0" smtClean="0"/>
              <a:t> 			print(line, end = '') </a:t>
            </a:r>
          </a:p>
          <a:p>
            <a:pPr>
              <a:buNone/>
            </a:pPr>
            <a:endParaRPr lang="en-US" dirty="0" smtClean="0"/>
          </a:p>
          <a:p>
            <a:pPr>
              <a:buNone/>
            </a:pPr>
            <a:r>
              <a:rPr lang="en-US" sz="2400" dirty="0" smtClean="0"/>
              <a:t>This is my </a:t>
            </a:r>
          </a:p>
          <a:p>
            <a:pPr>
              <a:buNone/>
            </a:pPr>
            <a:r>
              <a:rPr lang="en-US" sz="2400" dirty="0" smtClean="0"/>
              <a:t>first file </a:t>
            </a:r>
          </a:p>
          <a:p>
            <a:pPr>
              <a:buNone/>
            </a:pPr>
            <a:r>
              <a:rPr lang="en-US" sz="2400" dirty="0" smtClean="0"/>
              <a:t>This file contains three lines</a:t>
            </a:r>
            <a:endParaRPr lang="en-US" sz="2400" dirty="0"/>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How to write to File Using Python?</a:t>
            </a:r>
            <a:endParaRPr lang="en-US" dirty="0"/>
          </a:p>
        </p:txBody>
      </p:sp>
      <p:sp>
        <p:nvSpPr>
          <p:cNvPr id="3" name="Content Placeholder 2"/>
          <p:cNvSpPr>
            <a:spLocks noGrp="1"/>
          </p:cNvSpPr>
          <p:nvPr>
            <p:ph idx="1"/>
          </p:nvPr>
        </p:nvSpPr>
        <p:spPr/>
        <p:txBody>
          <a:bodyPr>
            <a:normAutofit/>
          </a:bodyPr>
          <a:lstStyle/>
          <a:p>
            <a:r>
              <a:rPr lang="en-US" sz="2400" dirty="0" smtClean="0"/>
              <a:t>In order to write into a file in Python, we need to open it in write 'w‘ or append 'a‘. </a:t>
            </a:r>
          </a:p>
          <a:p>
            <a:r>
              <a:rPr lang="en-US" sz="2400" dirty="0" smtClean="0"/>
              <a:t>We need to be careful with the 'w' mode as it will overwrite into the file if it already exists. All previous data are erased.</a:t>
            </a:r>
          </a:p>
          <a:p>
            <a:r>
              <a:rPr lang="en-US" sz="2400" dirty="0" smtClean="0"/>
              <a:t>Writing a string is done using write() method. </a:t>
            </a:r>
          </a:p>
          <a:p>
            <a:r>
              <a:rPr lang="en-US" sz="2400" dirty="0" smtClean="0"/>
              <a:t>This method returns the number of characters written to the file.</a:t>
            </a:r>
          </a:p>
          <a:p>
            <a:endParaRPr lang="en-US" sz="2400" dirty="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Using the with statement</a:t>
            </a:r>
            <a:endParaRPr lang="en-US" dirty="0"/>
          </a:p>
        </p:txBody>
      </p:sp>
      <p:sp>
        <p:nvSpPr>
          <p:cNvPr id="3" name="Content Placeholder 2"/>
          <p:cNvSpPr>
            <a:spLocks noGrp="1"/>
          </p:cNvSpPr>
          <p:nvPr>
            <p:ph idx="1"/>
          </p:nvPr>
        </p:nvSpPr>
        <p:spPr/>
        <p:txBody>
          <a:bodyPr>
            <a:normAutofit/>
          </a:bodyPr>
          <a:lstStyle/>
          <a:p>
            <a:pPr algn="just"/>
            <a:r>
              <a:rPr lang="en-US" sz="2400" dirty="0" smtClean="0"/>
              <a:t>In real life scenarios we should try to use </a:t>
            </a:r>
            <a:r>
              <a:rPr lang="en-US" sz="2400" b="1" i="1" dirty="0" smtClean="0"/>
              <a:t>with</a:t>
            </a:r>
            <a:r>
              <a:rPr lang="en-US" sz="2400" dirty="0" smtClean="0"/>
              <a:t> statement. </a:t>
            </a:r>
          </a:p>
          <a:p>
            <a:pPr algn="just"/>
            <a:r>
              <a:rPr lang="en-US" sz="2400" dirty="0" smtClean="0"/>
              <a:t>It will take care of closing the file for you.</a:t>
            </a:r>
          </a:p>
          <a:p>
            <a:pPr algn="just">
              <a:buNone/>
            </a:pPr>
            <a:r>
              <a:rPr lang="en-US" sz="2400" b="1" dirty="0" smtClean="0"/>
              <a:t>&gt;&gt;&gt; with</a:t>
            </a:r>
            <a:r>
              <a:rPr lang="en-US" sz="2400" dirty="0" smtClean="0"/>
              <a:t> open(‘filename.txt') </a:t>
            </a:r>
            <a:r>
              <a:rPr lang="en-US" sz="2400" b="1" dirty="0" smtClean="0"/>
              <a:t>as</a:t>
            </a:r>
            <a:r>
              <a:rPr lang="en-US" sz="2400" dirty="0" smtClean="0"/>
              <a:t> </a:t>
            </a:r>
            <a:r>
              <a:rPr lang="en-US" sz="2400" dirty="0" err="1" smtClean="0"/>
              <a:t>fobj</a:t>
            </a:r>
            <a:r>
              <a:rPr lang="en-US" sz="2400" dirty="0" smtClean="0"/>
              <a:t>: </a:t>
            </a:r>
          </a:p>
          <a:p>
            <a:pPr algn="just">
              <a:buNone/>
            </a:pPr>
            <a:r>
              <a:rPr lang="en-US" sz="2400" b="1" dirty="0" smtClean="0"/>
              <a:t>		for</a:t>
            </a:r>
            <a:r>
              <a:rPr lang="en-US" sz="2400" dirty="0" smtClean="0"/>
              <a:t> line </a:t>
            </a:r>
            <a:r>
              <a:rPr lang="en-US" sz="2400" b="1" dirty="0" smtClean="0"/>
              <a:t>in</a:t>
            </a:r>
            <a:r>
              <a:rPr lang="en-US" sz="2400" dirty="0" smtClean="0"/>
              <a:t> </a:t>
            </a:r>
            <a:r>
              <a:rPr lang="en-US" sz="2400" dirty="0" err="1" smtClean="0"/>
              <a:t>fobj</a:t>
            </a:r>
            <a:r>
              <a:rPr lang="en-US" sz="2400" dirty="0" smtClean="0"/>
              <a:t>: </a:t>
            </a:r>
          </a:p>
          <a:p>
            <a:pPr algn="just">
              <a:buNone/>
            </a:pPr>
            <a:r>
              <a:rPr lang="en-US" sz="2400" b="1" dirty="0" smtClean="0"/>
              <a:t>			</a:t>
            </a:r>
            <a:r>
              <a:rPr lang="en-US" sz="2400" dirty="0" smtClean="0"/>
              <a:t>print (line)</a:t>
            </a:r>
          </a:p>
          <a:p>
            <a:pPr algn="just"/>
            <a:endParaRPr lang="en-US" sz="2400" dirty="0"/>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None/>
            </a:pPr>
            <a:r>
              <a:rPr lang="en-US" sz="2800" b="1" dirty="0" smtClean="0"/>
              <a:t>&gt;&gt;&gt;with open("</a:t>
            </a:r>
            <a:r>
              <a:rPr lang="en-US" sz="2800" dirty="0" err="1" smtClean="0"/>
              <a:t>test.txt</a:t>
            </a:r>
            <a:r>
              <a:rPr lang="en-US" sz="2800" b="1" dirty="0" err="1" smtClean="0"/>
              <a:t>",'w',encoding</a:t>
            </a:r>
            <a:r>
              <a:rPr lang="en-US" sz="2800" b="1" dirty="0" smtClean="0"/>
              <a:t> = 'utf-8') as f: 	</a:t>
            </a:r>
            <a:r>
              <a:rPr lang="en-US" sz="2800" b="1" dirty="0" err="1" smtClean="0"/>
              <a:t>f.write</a:t>
            </a:r>
            <a:r>
              <a:rPr lang="en-US" sz="2800" b="1" dirty="0" smtClean="0"/>
              <a:t>("</a:t>
            </a:r>
            <a:r>
              <a:rPr lang="en-US" sz="2800" dirty="0" smtClean="0"/>
              <a:t>my first file\n</a:t>
            </a:r>
            <a:r>
              <a:rPr lang="en-US" sz="2800" b="1" dirty="0" smtClean="0"/>
              <a:t>") </a:t>
            </a:r>
          </a:p>
          <a:p>
            <a:pPr>
              <a:buNone/>
            </a:pPr>
            <a:r>
              <a:rPr lang="en-US" sz="2800" b="1" dirty="0" smtClean="0"/>
              <a:t>		</a:t>
            </a:r>
            <a:r>
              <a:rPr lang="en-US" sz="2800" b="1" dirty="0" err="1" smtClean="0"/>
              <a:t>f.write</a:t>
            </a:r>
            <a:r>
              <a:rPr lang="en-US" sz="2800" b="1" dirty="0" smtClean="0"/>
              <a:t>("</a:t>
            </a:r>
            <a:r>
              <a:rPr lang="en-US" sz="2800" dirty="0" smtClean="0"/>
              <a:t>This file\n\n</a:t>
            </a:r>
            <a:r>
              <a:rPr lang="en-US" sz="2800" b="1" dirty="0" smtClean="0"/>
              <a:t>") </a:t>
            </a:r>
          </a:p>
          <a:p>
            <a:pPr>
              <a:buNone/>
            </a:pPr>
            <a:r>
              <a:rPr lang="en-US" sz="2800" b="1" dirty="0" smtClean="0"/>
              <a:t>		</a:t>
            </a:r>
            <a:r>
              <a:rPr lang="en-US" sz="2800" b="1" dirty="0" err="1" smtClean="0"/>
              <a:t>f.write</a:t>
            </a:r>
            <a:r>
              <a:rPr lang="en-US" sz="2800" b="1" dirty="0" smtClean="0"/>
              <a:t>("</a:t>
            </a:r>
            <a:r>
              <a:rPr lang="en-US" sz="2800" dirty="0" smtClean="0"/>
              <a:t>contains three lines\n</a:t>
            </a:r>
            <a:r>
              <a:rPr lang="en-US" sz="2800" b="1" dirty="0" smtClean="0"/>
              <a:t>")</a:t>
            </a:r>
            <a:endParaRPr lang="en-US" sz="2800" b="1" dirty="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en-US" sz="2400" dirty="0" smtClean="0"/>
              <a:t>we can use </a:t>
            </a:r>
            <a:r>
              <a:rPr lang="en-US" sz="2400" dirty="0" err="1" smtClean="0"/>
              <a:t>readline</a:t>
            </a:r>
            <a:r>
              <a:rPr lang="en-US" sz="2400" dirty="0" smtClean="0"/>
              <a:t>() method to read individual lines of a file. </a:t>
            </a:r>
          </a:p>
          <a:p>
            <a:pPr algn="just"/>
            <a:r>
              <a:rPr lang="en-US" sz="2400" dirty="0" smtClean="0"/>
              <a:t>This method reads a file till the newline, including the newline character.</a:t>
            </a:r>
          </a:p>
          <a:p>
            <a:pPr algn="just">
              <a:buNone/>
            </a:pPr>
            <a:r>
              <a:rPr lang="en-US" sz="2400" dirty="0" smtClean="0"/>
              <a:t>&gt;&gt;&gt; </a:t>
            </a:r>
            <a:r>
              <a:rPr lang="en-US" sz="2400" dirty="0" err="1" smtClean="0"/>
              <a:t>f.readline</a:t>
            </a:r>
            <a:r>
              <a:rPr lang="en-US" sz="2400" dirty="0" smtClean="0"/>
              <a:t>() </a:t>
            </a:r>
          </a:p>
          <a:p>
            <a:pPr algn="just">
              <a:buNone/>
            </a:pPr>
            <a:r>
              <a:rPr lang="en-US" sz="2400" dirty="0" smtClean="0"/>
              <a:t>'This is my first file\n' </a:t>
            </a:r>
          </a:p>
          <a:p>
            <a:pPr algn="just">
              <a:buNone/>
            </a:pPr>
            <a:r>
              <a:rPr lang="en-US" sz="2400" dirty="0" smtClean="0"/>
              <a:t>&gt;&gt;&gt; </a:t>
            </a:r>
            <a:r>
              <a:rPr lang="en-US" sz="2400" dirty="0" err="1" smtClean="0"/>
              <a:t>f.readline</a:t>
            </a:r>
            <a:r>
              <a:rPr lang="en-US" sz="2400" dirty="0" smtClean="0"/>
              <a:t>() </a:t>
            </a:r>
          </a:p>
          <a:p>
            <a:pPr algn="just">
              <a:buNone/>
            </a:pPr>
            <a:r>
              <a:rPr lang="en-US" sz="2400" dirty="0" smtClean="0"/>
              <a:t>'This file\n' </a:t>
            </a:r>
          </a:p>
          <a:p>
            <a:pPr algn="just">
              <a:buNone/>
            </a:pPr>
            <a:r>
              <a:rPr lang="en-US" sz="2400" dirty="0" smtClean="0"/>
              <a:t>&gt;&gt;&gt; </a:t>
            </a:r>
            <a:r>
              <a:rPr lang="en-US" sz="2400" dirty="0" err="1" smtClean="0"/>
              <a:t>f.readline</a:t>
            </a:r>
            <a:r>
              <a:rPr lang="en-US" sz="2400" dirty="0" smtClean="0"/>
              <a:t>() </a:t>
            </a:r>
          </a:p>
          <a:p>
            <a:pPr algn="just">
              <a:buNone/>
            </a:pPr>
            <a:r>
              <a:rPr lang="en-US" sz="2400" dirty="0" smtClean="0"/>
              <a:t>'contains three lines\n' </a:t>
            </a:r>
          </a:p>
          <a:p>
            <a:pPr algn="just">
              <a:buNone/>
            </a:pPr>
            <a:r>
              <a:rPr lang="en-US" sz="2400" dirty="0" smtClean="0"/>
              <a:t>&gt;&gt;&gt; </a:t>
            </a:r>
            <a:r>
              <a:rPr lang="en-US" sz="2400" dirty="0" err="1" smtClean="0"/>
              <a:t>f.readline</a:t>
            </a:r>
            <a:r>
              <a:rPr lang="en-US" sz="2400" dirty="0" smtClean="0"/>
              <a:t>() ''</a:t>
            </a:r>
            <a:endParaRPr lang="en-US" sz="2400" dirty="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400" dirty="0" smtClean="0"/>
              <a:t>the </a:t>
            </a:r>
            <a:r>
              <a:rPr lang="en-US" sz="2400" dirty="0" err="1" smtClean="0"/>
              <a:t>readlines</a:t>
            </a:r>
            <a:r>
              <a:rPr lang="en-US" sz="2400" dirty="0" smtClean="0"/>
              <a:t>() method returns a list of remaining lines of the entire file. </a:t>
            </a:r>
          </a:p>
          <a:p>
            <a:r>
              <a:rPr lang="en-US" sz="2400" dirty="0" smtClean="0"/>
              <a:t>All these reading method return empty values when end of file (EOF) is reached.</a:t>
            </a:r>
          </a:p>
          <a:p>
            <a:pPr>
              <a:buNone/>
            </a:pPr>
            <a:r>
              <a:rPr lang="en-US" sz="2400" dirty="0" smtClean="0"/>
              <a:t>&gt;&gt;&gt; </a:t>
            </a:r>
            <a:r>
              <a:rPr lang="en-US" sz="2400" dirty="0" err="1" smtClean="0"/>
              <a:t>f.readlines</a:t>
            </a:r>
            <a:r>
              <a:rPr lang="en-US" sz="2400" dirty="0" smtClean="0"/>
              <a:t>() </a:t>
            </a:r>
          </a:p>
          <a:p>
            <a:pPr>
              <a:buNone/>
            </a:pPr>
            <a:r>
              <a:rPr lang="en-US" sz="2400" dirty="0" smtClean="0"/>
              <a:t>['This is my first file\n', 'This file\n', 'contains three lines\n']</a:t>
            </a:r>
            <a:endParaRPr lang="en-US" sz="2400" dirty="0"/>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None/>
            </a:pPr>
            <a:r>
              <a:rPr lang="en-US" sz="2400" dirty="0" smtClean="0"/>
              <a:t>with open("</a:t>
            </a:r>
            <a:r>
              <a:rPr lang="en-US" sz="2400" dirty="0" err="1" smtClean="0"/>
              <a:t>name.txt","r</a:t>
            </a:r>
            <a:r>
              <a:rPr lang="en-US" sz="2400" dirty="0" smtClean="0"/>
              <a:t>") as </a:t>
            </a:r>
            <a:r>
              <a:rPr lang="en-US" sz="2400" dirty="0" err="1" smtClean="0"/>
              <a:t>namefile</a:t>
            </a:r>
            <a:r>
              <a:rPr lang="en-US" sz="2400" dirty="0" smtClean="0"/>
              <a:t>:</a:t>
            </a:r>
          </a:p>
          <a:p>
            <a:pPr>
              <a:buNone/>
            </a:pPr>
            <a:r>
              <a:rPr lang="en-US" sz="2400" dirty="0" smtClean="0"/>
              <a:t>       with open("</a:t>
            </a:r>
            <a:r>
              <a:rPr lang="en-US" sz="2400" dirty="0" err="1" smtClean="0"/>
              <a:t>Message.txt","r</a:t>
            </a:r>
            <a:r>
              <a:rPr lang="en-US" sz="2400" dirty="0" smtClean="0"/>
              <a:t>") as </a:t>
            </a:r>
            <a:r>
              <a:rPr lang="en-US" sz="2400" dirty="0" err="1" smtClean="0"/>
              <a:t>messagefile</a:t>
            </a:r>
            <a:r>
              <a:rPr lang="en-US" sz="2400" dirty="0" smtClean="0"/>
              <a:t>:</a:t>
            </a:r>
          </a:p>
          <a:p>
            <a:pPr>
              <a:buNone/>
            </a:pPr>
            <a:r>
              <a:rPr lang="en-US" sz="2400" dirty="0" smtClean="0"/>
              <a:t>               text=</a:t>
            </a:r>
            <a:r>
              <a:rPr lang="en-US" sz="2400" dirty="0" err="1" smtClean="0"/>
              <a:t>messagefile.read</a:t>
            </a:r>
            <a:r>
              <a:rPr lang="en-US" sz="2400" dirty="0" smtClean="0"/>
              <a:t>()</a:t>
            </a:r>
          </a:p>
          <a:p>
            <a:pPr>
              <a:buNone/>
            </a:pPr>
            <a:r>
              <a:rPr lang="en-US" sz="2400" dirty="0" smtClean="0"/>
              <a:t>               for name in </a:t>
            </a:r>
            <a:r>
              <a:rPr lang="en-US" sz="2400" dirty="0" err="1" smtClean="0"/>
              <a:t>namefile</a:t>
            </a:r>
            <a:r>
              <a:rPr lang="en-US" sz="2400" dirty="0" smtClean="0"/>
              <a:t>:</a:t>
            </a:r>
          </a:p>
          <a:p>
            <a:pPr>
              <a:buNone/>
            </a:pPr>
            <a:r>
              <a:rPr lang="en-US" sz="2400" dirty="0" smtClean="0"/>
              <a:t>                       mail="Dear Mr."+</a:t>
            </a:r>
            <a:r>
              <a:rPr lang="en-US" sz="2400" dirty="0" err="1" smtClean="0"/>
              <a:t>name+text</a:t>
            </a:r>
            <a:endParaRPr lang="en-US" sz="2400" dirty="0" smtClean="0"/>
          </a:p>
          <a:p>
            <a:pPr>
              <a:buNone/>
            </a:pPr>
            <a:r>
              <a:rPr lang="en-US" sz="2400" dirty="0" smtClean="0"/>
              <a:t>                       with open(</a:t>
            </a:r>
            <a:r>
              <a:rPr lang="en-US" sz="2400" dirty="0" err="1" smtClean="0"/>
              <a:t>name.strip</a:t>
            </a:r>
            <a:r>
              <a:rPr lang="en-US" sz="2400" dirty="0" smtClean="0"/>
              <a:t>()+".</a:t>
            </a:r>
            <a:r>
              <a:rPr lang="en-US" sz="2400" dirty="0" err="1" smtClean="0"/>
              <a:t>txt",'w</a:t>
            </a:r>
            <a:r>
              <a:rPr lang="en-US" sz="2400" dirty="0" smtClean="0"/>
              <a:t>') as </a:t>
            </a:r>
            <a:r>
              <a:rPr lang="en-US" sz="2400" dirty="0" err="1" smtClean="0"/>
              <a:t>mailfile</a:t>
            </a:r>
            <a:r>
              <a:rPr lang="en-US" sz="2400" dirty="0" smtClean="0"/>
              <a:t>:</a:t>
            </a:r>
          </a:p>
          <a:p>
            <a:pPr>
              <a:buNone/>
            </a:pPr>
            <a:r>
              <a:rPr lang="en-US" sz="2400" smtClean="0"/>
              <a:t>                                 mailfile.write</a:t>
            </a:r>
            <a:r>
              <a:rPr lang="en-US" sz="2400" dirty="0" smtClean="0"/>
              <a:t>(mail)</a:t>
            </a:r>
            <a:endParaRPr lang="en-US" sz="2400" dirty="0"/>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Python Classes</a:t>
            </a:r>
            <a:endParaRPr lang="en-US" b="1" dirty="0"/>
          </a:p>
        </p:txBody>
      </p:sp>
      <p:sp>
        <p:nvSpPr>
          <p:cNvPr id="3" name="Content Placeholder 2"/>
          <p:cNvSpPr>
            <a:spLocks noGrp="1"/>
          </p:cNvSpPr>
          <p:nvPr>
            <p:ph idx="1"/>
          </p:nvPr>
        </p:nvSpPr>
        <p:spPr/>
        <p:txBody>
          <a:bodyPr>
            <a:normAutofit/>
          </a:bodyPr>
          <a:lstStyle/>
          <a:p>
            <a:pPr>
              <a:buNone/>
            </a:pPr>
            <a:r>
              <a:rPr lang="en-US" sz="2400" dirty="0" smtClean="0"/>
              <a:t>A </a:t>
            </a:r>
            <a:r>
              <a:rPr lang="en-US" sz="2400" b="1" dirty="0" smtClean="0"/>
              <a:t>class is a Python object</a:t>
            </a:r>
            <a:r>
              <a:rPr lang="en-US" sz="2400" dirty="0" smtClean="0"/>
              <a:t> with several characteristics:</a:t>
            </a:r>
          </a:p>
          <a:p>
            <a:r>
              <a:rPr lang="en-US" sz="2400" dirty="0" smtClean="0"/>
              <a:t>You can call a </a:t>
            </a:r>
            <a:r>
              <a:rPr lang="en-US" sz="2400" b="1" dirty="0" smtClean="0"/>
              <a:t>class object</a:t>
            </a:r>
            <a:r>
              <a:rPr lang="en-US" sz="2400" dirty="0" smtClean="0"/>
              <a:t> as if it were a function. </a:t>
            </a:r>
          </a:p>
          <a:p>
            <a:r>
              <a:rPr lang="en-US" sz="2400" dirty="0" smtClean="0"/>
              <a:t>The </a:t>
            </a:r>
            <a:r>
              <a:rPr lang="en-US" sz="2400" b="1" dirty="0" smtClean="0"/>
              <a:t>call returns another object</a:t>
            </a:r>
            <a:r>
              <a:rPr lang="en-US" sz="2400" dirty="0" smtClean="0"/>
              <a:t>, </a:t>
            </a:r>
            <a:r>
              <a:rPr lang="en-US" sz="2400" b="1" dirty="0" smtClean="0"/>
              <a:t>known as an instance of the class</a:t>
            </a:r>
            <a:r>
              <a:rPr lang="en-US" sz="2400" dirty="0" smtClean="0"/>
              <a:t>; </a:t>
            </a:r>
          </a:p>
          <a:p>
            <a:endParaRPr lang="en-US" sz="2400" dirty="0" smtClean="0"/>
          </a:p>
          <a:p>
            <a:r>
              <a:rPr lang="en-US" sz="2400" dirty="0" smtClean="0"/>
              <a:t>The class is also known as the </a:t>
            </a:r>
            <a:r>
              <a:rPr lang="en-US" sz="2400" b="1" dirty="0" smtClean="0">
                <a:solidFill>
                  <a:srgbClr val="FF0000"/>
                </a:solidFill>
              </a:rPr>
              <a:t>type of the instance</a:t>
            </a:r>
            <a:r>
              <a:rPr lang="en-US" sz="2400" dirty="0" smtClean="0"/>
              <a:t>.</a:t>
            </a:r>
          </a:p>
          <a:p>
            <a:r>
              <a:rPr lang="en-US" sz="2400" dirty="0" smtClean="0"/>
              <a:t>A class has arbitrarily named attributes that you can bind and reference.</a:t>
            </a:r>
          </a:p>
          <a:p>
            <a:r>
              <a:rPr lang="en-US" sz="2400" dirty="0" smtClean="0"/>
              <a:t>The values of class attributes can be descriptors (including functions), or normal data objects.</a:t>
            </a: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400" dirty="0" smtClean="0"/>
              <a:t>Class attributes bound to functions are also known as methods of the class.</a:t>
            </a:r>
          </a:p>
          <a:p>
            <a:r>
              <a:rPr lang="en-US" sz="2400" dirty="0" smtClean="0"/>
              <a:t>A method can have a special Python-defined name with two leading and two trailing underscores. </a:t>
            </a:r>
          </a:p>
          <a:p>
            <a:r>
              <a:rPr lang="en-US" sz="2400" dirty="0" smtClean="0"/>
              <a:t>Python implicitly invokes such special methods, if a class supplies them, when various kinds of operations take place on instances of that class.</a:t>
            </a:r>
          </a:p>
          <a:p>
            <a:endParaRPr lang="en-US" sz="2400" dirty="0"/>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smtClean="0"/>
              <a:t>In Python, classes are objects (values) and are handled like other objects. </a:t>
            </a:r>
          </a:p>
          <a:p>
            <a:r>
              <a:rPr lang="en-US" dirty="0" smtClean="0"/>
              <a:t>Thus, you can pass a class as an argument in a call to a function. </a:t>
            </a:r>
          </a:p>
          <a:p>
            <a:r>
              <a:rPr lang="en-US" dirty="0" smtClean="0"/>
              <a:t>Similarly, a function can return a class as the result of a call. </a:t>
            </a:r>
          </a:p>
          <a:p>
            <a:r>
              <a:rPr lang="en-US" dirty="0" smtClean="0"/>
              <a:t>A class, just like any other object, can be bound to a variable (local or global), an item in a container, or an attribute of an object. </a:t>
            </a:r>
          </a:p>
          <a:p>
            <a:r>
              <a:rPr lang="en-US" dirty="0" smtClean="0"/>
              <a:t>Classes can also be keys into a dictionary. </a:t>
            </a:r>
          </a:p>
          <a:p>
            <a:r>
              <a:rPr lang="en-US" dirty="0" smtClean="0"/>
              <a:t>The fact that classes are ordinary objects in Python is often expressed by saying that classes are first-class objects.</a:t>
            </a:r>
            <a:endParaRPr lang="en-US" dirty="0"/>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class Statement</a:t>
            </a:r>
            <a:endParaRPr lang="en-US" dirty="0"/>
          </a:p>
        </p:txBody>
      </p:sp>
      <p:sp>
        <p:nvSpPr>
          <p:cNvPr id="3" name="Content Placeholder 2"/>
          <p:cNvSpPr>
            <a:spLocks noGrp="1"/>
          </p:cNvSpPr>
          <p:nvPr>
            <p:ph idx="1"/>
          </p:nvPr>
        </p:nvSpPr>
        <p:spPr/>
        <p:txBody>
          <a:bodyPr>
            <a:normAutofit/>
          </a:bodyPr>
          <a:lstStyle/>
          <a:p>
            <a:r>
              <a:rPr lang="en-US" sz="2400" dirty="0" smtClean="0"/>
              <a:t>The class statement is the most common way to create a class object. </a:t>
            </a:r>
          </a:p>
          <a:p>
            <a:pPr>
              <a:buNone/>
            </a:pPr>
            <a:r>
              <a:rPr lang="en-US" sz="2800" b="1" dirty="0" smtClean="0">
                <a:latin typeface="Arial Black" pitchFamily="34" charset="0"/>
              </a:rPr>
              <a:t>class</a:t>
            </a:r>
            <a:r>
              <a:rPr lang="en-US" sz="2800" dirty="0" smtClean="0">
                <a:latin typeface="Arial Black" pitchFamily="34" charset="0"/>
              </a:rPr>
              <a:t> </a:t>
            </a:r>
            <a:r>
              <a:rPr lang="en-US" sz="2800" dirty="0" err="1" smtClean="0">
                <a:latin typeface="Arial Black" pitchFamily="34" charset="0"/>
              </a:rPr>
              <a:t>classname</a:t>
            </a:r>
            <a:r>
              <a:rPr lang="en-US" sz="2800" dirty="0" smtClean="0">
                <a:solidFill>
                  <a:srgbClr val="FF0000"/>
                </a:solidFill>
                <a:latin typeface="Arial Black" pitchFamily="34" charset="0"/>
              </a:rPr>
              <a:t>(base-classes)</a:t>
            </a:r>
            <a:r>
              <a:rPr lang="en-US" sz="2800" dirty="0" smtClean="0">
                <a:latin typeface="Arial Black" pitchFamily="34" charset="0"/>
              </a:rPr>
              <a:t>:</a:t>
            </a:r>
          </a:p>
          <a:p>
            <a:pPr>
              <a:buNone/>
            </a:pPr>
            <a:r>
              <a:rPr lang="en-US" sz="2800" dirty="0" smtClean="0">
                <a:latin typeface="Arial Black" pitchFamily="34" charset="0"/>
              </a:rPr>
              <a:t>		statement(s)</a:t>
            </a:r>
          </a:p>
          <a:p>
            <a:r>
              <a:rPr lang="en-US" sz="2400" dirty="0" err="1" smtClean="0"/>
              <a:t>classname</a:t>
            </a:r>
            <a:r>
              <a:rPr lang="en-US" sz="2400" dirty="0" smtClean="0"/>
              <a:t> is an identifier. </a:t>
            </a:r>
          </a:p>
          <a:p>
            <a:r>
              <a:rPr lang="en-US" sz="2400" dirty="0" smtClean="0"/>
              <a:t>It is a variable that gets bound to the class object after the class statement finishes executing.</a:t>
            </a:r>
          </a:p>
          <a:p>
            <a:endParaRPr lang="en-US" sz="2400" dirty="0"/>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Class Body</a:t>
            </a:r>
            <a:endParaRPr lang="en-US" dirty="0"/>
          </a:p>
        </p:txBody>
      </p:sp>
      <p:sp>
        <p:nvSpPr>
          <p:cNvPr id="3" name="Content Placeholder 2"/>
          <p:cNvSpPr>
            <a:spLocks noGrp="1"/>
          </p:cNvSpPr>
          <p:nvPr>
            <p:ph idx="1"/>
          </p:nvPr>
        </p:nvSpPr>
        <p:spPr/>
        <p:txBody>
          <a:bodyPr>
            <a:normAutofit/>
          </a:bodyPr>
          <a:lstStyle/>
          <a:p>
            <a:r>
              <a:rPr lang="en-US" sz="2400" dirty="0" smtClean="0"/>
              <a:t>The body of a class is where you normally specify the attributes of the class; </a:t>
            </a:r>
          </a:p>
          <a:p>
            <a:r>
              <a:rPr lang="en-US" sz="2400" dirty="0" smtClean="0"/>
              <a:t>These attributes can be descriptor objects (including functions) or </a:t>
            </a:r>
          </a:p>
          <a:p>
            <a:r>
              <a:rPr lang="en-US" sz="2400" dirty="0" smtClean="0"/>
              <a:t>Normal data objects of any type (an attribute of a class can also be another class).</a:t>
            </a:r>
            <a:endParaRPr lang="en-US" sz="2400" dirty="0"/>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t>Object Oriented Programming in Python</a:t>
            </a:r>
            <a:endParaRPr lang="en-US" sz="3200" b="1" dirty="0"/>
          </a:p>
        </p:txBody>
      </p:sp>
      <p:sp>
        <p:nvSpPr>
          <p:cNvPr id="3" name="Content Placeholder 2"/>
          <p:cNvSpPr>
            <a:spLocks noGrp="1"/>
          </p:cNvSpPr>
          <p:nvPr>
            <p:ph idx="1"/>
          </p:nvPr>
        </p:nvSpPr>
        <p:spPr/>
        <p:txBody>
          <a:bodyPr>
            <a:normAutofit fontScale="70000" lnSpcReduction="20000"/>
          </a:bodyPr>
          <a:lstStyle/>
          <a:p>
            <a:pPr>
              <a:buNone/>
            </a:pPr>
            <a:r>
              <a:rPr lang="en-US" sz="3400" b="1" u="sng" dirty="0" smtClean="0"/>
              <a:t>Creating Classes:</a:t>
            </a:r>
          </a:p>
          <a:p>
            <a:r>
              <a:rPr lang="en-US" dirty="0" smtClean="0"/>
              <a:t>The class statement creates a new class definition. </a:t>
            </a:r>
          </a:p>
          <a:p>
            <a:pPr>
              <a:buNone/>
            </a:pPr>
            <a:endParaRPr lang="en-US" b="1" dirty="0" smtClean="0"/>
          </a:p>
          <a:p>
            <a:pPr>
              <a:buNone/>
            </a:pPr>
            <a:r>
              <a:rPr lang="en-US" b="1" dirty="0" smtClean="0"/>
              <a:t>class</a:t>
            </a:r>
            <a:r>
              <a:rPr lang="en-US" dirty="0" smtClean="0"/>
              <a:t> </a:t>
            </a:r>
            <a:r>
              <a:rPr lang="en-US" dirty="0" err="1" smtClean="0"/>
              <a:t>ClassName</a:t>
            </a:r>
            <a:r>
              <a:rPr lang="en-US" dirty="0" smtClean="0"/>
              <a:t>: </a:t>
            </a:r>
          </a:p>
          <a:p>
            <a:pPr lvl="1">
              <a:buNone/>
            </a:pPr>
            <a:r>
              <a:rPr lang="en-US" dirty="0" smtClean="0"/>
              <a:t>   ```Optional class documentation string``` </a:t>
            </a:r>
          </a:p>
          <a:p>
            <a:pPr lvl="1">
              <a:buNone/>
            </a:pPr>
            <a:r>
              <a:rPr lang="en-US" dirty="0" smtClean="0"/>
              <a:t>   </a:t>
            </a:r>
            <a:r>
              <a:rPr lang="en-US" dirty="0" err="1" smtClean="0"/>
              <a:t>class_suite</a:t>
            </a:r>
            <a:r>
              <a:rPr lang="en-US" dirty="0" smtClean="0"/>
              <a:t> </a:t>
            </a:r>
          </a:p>
          <a:p>
            <a:pPr>
              <a:buNone/>
            </a:pPr>
            <a:endParaRPr lang="en-US" dirty="0" smtClean="0"/>
          </a:p>
          <a:p>
            <a:r>
              <a:rPr lang="en-US" dirty="0" smtClean="0"/>
              <a:t>The class has a documentation string, which can be accessed </a:t>
            </a:r>
          </a:p>
          <a:p>
            <a:pPr>
              <a:buNone/>
            </a:pPr>
            <a:r>
              <a:rPr lang="en-US" dirty="0" smtClean="0"/>
              <a:t>	via </a:t>
            </a:r>
            <a:r>
              <a:rPr lang="en-US" b="1" dirty="0" err="1" smtClean="0"/>
              <a:t>ClassName.__doc</a:t>
            </a:r>
            <a:r>
              <a:rPr lang="en-US" b="1" dirty="0" smtClean="0"/>
              <a:t>__</a:t>
            </a:r>
            <a:r>
              <a:rPr lang="en-US" dirty="0" smtClean="0"/>
              <a:t> </a:t>
            </a:r>
          </a:p>
          <a:p>
            <a:pPr>
              <a:buNone/>
            </a:pPr>
            <a:r>
              <a:rPr lang="en-US" dirty="0" smtClean="0"/>
              <a:t> </a:t>
            </a:r>
          </a:p>
          <a:p>
            <a:r>
              <a:rPr lang="en-US" dirty="0" smtClean="0"/>
              <a:t>  The </a:t>
            </a:r>
            <a:r>
              <a:rPr lang="en-US" dirty="0" err="1" smtClean="0"/>
              <a:t>class_suite</a:t>
            </a:r>
            <a:r>
              <a:rPr lang="en-US" dirty="0" smtClean="0"/>
              <a:t> consists of all the component statements defining class members, data attributes and functions.  </a:t>
            </a:r>
            <a:endParaRPr lang="en-US" dirty="0"/>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a:buNone/>
            </a:pPr>
            <a:r>
              <a:rPr lang="en-US" dirty="0" smtClean="0"/>
              <a:t>&gt;&gt;&gt;class test:</a:t>
            </a:r>
          </a:p>
          <a:p>
            <a:pPr>
              <a:buNone/>
            </a:pPr>
            <a:r>
              <a:rPr lang="en-US" dirty="0" smtClean="0"/>
              <a:t>            def show(self):</a:t>
            </a:r>
          </a:p>
          <a:p>
            <a:pPr>
              <a:buNone/>
            </a:pPr>
            <a:r>
              <a:rPr lang="en-US" dirty="0" smtClean="0"/>
              <a:t>                     print("SHOW METHOD")</a:t>
            </a:r>
          </a:p>
          <a:p>
            <a:pPr>
              <a:buNone/>
            </a:pPr>
            <a:endParaRPr lang="en-US" dirty="0" smtClean="0"/>
          </a:p>
          <a:p>
            <a:pPr>
              <a:buNone/>
            </a:pPr>
            <a:endParaRPr lang="en-US" dirty="0" smtClean="0"/>
          </a:p>
          <a:p>
            <a:pPr>
              <a:buNone/>
            </a:pPr>
            <a:r>
              <a:rPr lang="en-US" dirty="0" smtClean="0"/>
              <a:t>&gt;&gt;&gt;a=test()</a:t>
            </a:r>
          </a:p>
          <a:p>
            <a:pPr>
              <a:buNone/>
            </a:pPr>
            <a:r>
              <a:rPr lang="en-US" dirty="0" smtClean="0"/>
              <a:t>&gt;&gt;&gt;</a:t>
            </a:r>
            <a:r>
              <a:rPr lang="en-US" dirty="0" err="1" smtClean="0"/>
              <a:t>a.show</a:t>
            </a:r>
            <a:r>
              <a:rPr lang="en-US" dirty="0" smtClean="0"/>
              <a:t>()</a:t>
            </a:r>
          </a:p>
          <a:p>
            <a:pPr>
              <a:buNone/>
            </a:pPr>
            <a:r>
              <a:rPr lang="en-US" sz="2600" dirty="0" smtClean="0"/>
              <a:t>Output:</a:t>
            </a:r>
          </a:p>
          <a:p>
            <a:pPr>
              <a:buNone/>
            </a:pPr>
            <a:r>
              <a:rPr lang="en-US" sz="2600" dirty="0" smtClean="0"/>
              <a:t>SHOW METHOD</a:t>
            </a:r>
          </a:p>
          <a:p>
            <a:pPr>
              <a:buNone/>
            </a:pPr>
            <a:endParaRPr lang="en-US" dirty="0"/>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pPr>
              <a:buNone/>
            </a:pPr>
            <a:r>
              <a:rPr lang="en-US" dirty="0" smtClean="0"/>
              <a:t>In [1]: </a:t>
            </a:r>
            <a:r>
              <a:rPr lang="en-US" b="1" dirty="0" smtClean="0"/>
              <a:t>class</a:t>
            </a:r>
            <a:r>
              <a:rPr lang="en-US" dirty="0" smtClean="0"/>
              <a:t> test:</a:t>
            </a:r>
          </a:p>
          <a:p>
            <a:pPr>
              <a:buNone/>
            </a:pPr>
            <a:r>
              <a:rPr lang="en-US" dirty="0" smtClean="0"/>
              <a:t>   ...:     	</a:t>
            </a:r>
            <a:r>
              <a:rPr lang="en-US" b="1" dirty="0" smtClean="0"/>
              <a:t>def</a:t>
            </a:r>
            <a:r>
              <a:rPr lang="en-US" dirty="0" smtClean="0"/>
              <a:t> </a:t>
            </a:r>
            <a:r>
              <a:rPr lang="en-US" b="1" dirty="0" smtClean="0"/>
              <a:t>show()</a:t>
            </a:r>
            <a:r>
              <a:rPr lang="en-US" dirty="0" smtClean="0"/>
              <a:t>:</a:t>
            </a:r>
          </a:p>
          <a:p>
            <a:pPr>
              <a:buNone/>
            </a:pPr>
            <a:r>
              <a:rPr lang="en-US" dirty="0" smtClean="0"/>
              <a:t>   ...:         	print("Message")</a:t>
            </a:r>
          </a:p>
          <a:p>
            <a:pPr>
              <a:buNone/>
            </a:pPr>
            <a:r>
              <a:rPr lang="en-US" dirty="0" smtClean="0"/>
              <a:t>   ...:</a:t>
            </a:r>
          </a:p>
          <a:p>
            <a:pPr>
              <a:buNone/>
            </a:pPr>
            <a:endParaRPr lang="en-US" dirty="0" smtClean="0"/>
          </a:p>
          <a:p>
            <a:pPr>
              <a:buNone/>
            </a:pPr>
            <a:r>
              <a:rPr lang="en-US" dirty="0" smtClean="0"/>
              <a:t>In [2]: a=test()</a:t>
            </a:r>
          </a:p>
          <a:p>
            <a:pPr>
              <a:buNone/>
            </a:pPr>
            <a:r>
              <a:rPr lang="en-US" dirty="0" smtClean="0"/>
              <a:t>In [3]: </a:t>
            </a:r>
            <a:r>
              <a:rPr lang="en-US" dirty="0" err="1" smtClean="0"/>
              <a:t>a.show</a:t>
            </a:r>
            <a:r>
              <a:rPr lang="en-US" dirty="0" smtClean="0"/>
              <a:t>()               </a:t>
            </a:r>
            <a:r>
              <a:rPr lang="en-US" b="1" dirty="0" smtClean="0">
                <a:solidFill>
                  <a:srgbClr val="FF0000"/>
                </a:solidFill>
              </a:rPr>
              <a:t>## </a:t>
            </a:r>
            <a:r>
              <a:rPr lang="en-US" b="1" dirty="0" err="1" smtClean="0">
                <a:solidFill>
                  <a:srgbClr val="FF0000"/>
                </a:solidFill>
              </a:rPr>
              <a:t>test.show</a:t>
            </a:r>
            <a:r>
              <a:rPr lang="en-US" b="1" dirty="0" smtClean="0">
                <a:solidFill>
                  <a:srgbClr val="FF0000"/>
                </a:solidFill>
              </a:rPr>
              <a:t>(a)</a:t>
            </a:r>
          </a:p>
          <a:p>
            <a:pPr>
              <a:buNone/>
            </a:pPr>
            <a:r>
              <a:rPr lang="en-US" dirty="0" smtClean="0"/>
              <a:t>---------------------------------------------------------------------------</a:t>
            </a:r>
          </a:p>
          <a:p>
            <a:pPr>
              <a:buNone/>
            </a:pPr>
            <a:r>
              <a:rPr lang="en-US" dirty="0" err="1" smtClean="0"/>
              <a:t>TypeError</a:t>
            </a:r>
            <a:r>
              <a:rPr lang="en-US" dirty="0" smtClean="0"/>
              <a:t>                                 </a:t>
            </a:r>
            <a:r>
              <a:rPr lang="en-US" dirty="0" err="1" smtClean="0"/>
              <a:t>Traceback</a:t>
            </a:r>
            <a:r>
              <a:rPr lang="en-US" dirty="0" smtClean="0"/>
              <a:t> (most recent call last)</a:t>
            </a:r>
          </a:p>
          <a:p>
            <a:pPr>
              <a:buNone/>
            </a:pPr>
            <a:r>
              <a:rPr lang="en-US" dirty="0" smtClean="0"/>
              <a:t>&lt;ipython-input-3-276f7237b96c&gt; in &lt;module&gt;()</a:t>
            </a:r>
          </a:p>
          <a:p>
            <a:pPr>
              <a:buNone/>
            </a:pPr>
            <a:r>
              <a:rPr lang="en-US" dirty="0" smtClean="0"/>
              <a:t>----&gt; 1 </a:t>
            </a:r>
            <a:r>
              <a:rPr lang="en-US" dirty="0" err="1" smtClean="0"/>
              <a:t>a.show</a:t>
            </a:r>
            <a:r>
              <a:rPr lang="en-US" dirty="0" smtClean="0"/>
              <a:t>()</a:t>
            </a:r>
          </a:p>
          <a:p>
            <a:pPr>
              <a:buNone/>
            </a:pPr>
            <a:endParaRPr lang="en-US" dirty="0" smtClean="0"/>
          </a:p>
          <a:p>
            <a:pPr>
              <a:buNone/>
            </a:pPr>
            <a:r>
              <a:rPr lang="en-US" dirty="0" err="1" smtClean="0"/>
              <a:t>TypeError</a:t>
            </a:r>
            <a:r>
              <a:rPr lang="en-US" dirty="0" smtClean="0"/>
              <a:t>: </a:t>
            </a:r>
            <a:r>
              <a:rPr lang="en-US" b="1" dirty="0" smtClean="0"/>
              <a:t>show() takes 0 positional arguments but 1 was given</a:t>
            </a:r>
            <a:endParaRPr lang="en-US" b="1" dirty="0"/>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self in Python…???</a:t>
            </a:r>
            <a:endParaRPr lang="en-US" b="1" dirty="0"/>
          </a:p>
        </p:txBody>
      </p:sp>
      <p:sp>
        <p:nvSpPr>
          <p:cNvPr id="3" name="Content Placeholder 2"/>
          <p:cNvSpPr>
            <a:spLocks noGrp="1"/>
          </p:cNvSpPr>
          <p:nvPr>
            <p:ph idx="1"/>
          </p:nvPr>
        </p:nvSpPr>
        <p:spPr/>
        <p:txBody>
          <a:bodyPr/>
          <a:lstStyle/>
          <a:p>
            <a:pPr>
              <a:buNone/>
            </a:pPr>
            <a:r>
              <a:rPr lang="en-US" b="1" dirty="0" smtClean="0"/>
              <a:t>class</a:t>
            </a:r>
            <a:r>
              <a:rPr lang="en-US" dirty="0" smtClean="0"/>
              <a:t> </a:t>
            </a:r>
            <a:r>
              <a:rPr lang="en-US" b="1" dirty="0" smtClean="0"/>
              <a:t>Point</a:t>
            </a:r>
            <a:r>
              <a:rPr lang="en-US" dirty="0" smtClean="0"/>
              <a:t>(object): </a:t>
            </a:r>
          </a:p>
          <a:p>
            <a:pPr>
              <a:buNone/>
            </a:pPr>
            <a:r>
              <a:rPr lang="en-US" dirty="0" smtClean="0"/>
              <a:t>		</a:t>
            </a:r>
            <a:r>
              <a:rPr lang="en-US" b="1" dirty="0" smtClean="0"/>
              <a:t>def</a:t>
            </a:r>
            <a:r>
              <a:rPr lang="en-US" dirty="0" smtClean="0"/>
              <a:t> </a:t>
            </a:r>
            <a:r>
              <a:rPr lang="en-US" b="1" dirty="0" smtClean="0"/>
              <a:t>__init__</a:t>
            </a:r>
            <a:r>
              <a:rPr lang="en-US" dirty="0" smtClean="0"/>
              <a:t>(</a:t>
            </a:r>
            <a:r>
              <a:rPr lang="en-US" b="1" dirty="0" err="1" smtClean="0"/>
              <a:t>self</a:t>
            </a:r>
            <a:r>
              <a:rPr lang="en-US" dirty="0" err="1" smtClean="0"/>
              <a:t>,x</a:t>
            </a:r>
            <a:r>
              <a:rPr lang="en-US" dirty="0" smtClean="0"/>
              <a:t> = 0,y = 0): </a:t>
            </a:r>
          </a:p>
          <a:p>
            <a:pPr>
              <a:buNone/>
            </a:pPr>
            <a:r>
              <a:rPr lang="en-US" dirty="0" smtClean="0"/>
              <a:t>			</a:t>
            </a:r>
            <a:r>
              <a:rPr lang="en-US" b="1" dirty="0" err="1" smtClean="0"/>
              <a:t>self.</a:t>
            </a:r>
            <a:r>
              <a:rPr lang="en-US" dirty="0" err="1" smtClean="0"/>
              <a:t>x</a:t>
            </a:r>
            <a:r>
              <a:rPr lang="en-US" dirty="0" smtClean="0"/>
              <a:t> = x </a:t>
            </a:r>
          </a:p>
          <a:p>
            <a:pPr>
              <a:buNone/>
            </a:pPr>
            <a:r>
              <a:rPr lang="en-US" dirty="0" smtClean="0"/>
              <a:t>			</a:t>
            </a:r>
            <a:r>
              <a:rPr lang="en-US" b="1" dirty="0" err="1" smtClean="0"/>
              <a:t>self.</a:t>
            </a:r>
            <a:r>
              <a:rPr lang="en-US" dirty="0" err="1" smtClean="0"/>
              <a:t>y</a:t>
            </a:r>
            <a:r>
              <a:rPr lang="en-US" dirty="0" smtClean="0"/>
              <a:t> = y </a:t>
            </a:r>
          </a:p>
          <a:p>
            <a:pPr>
              <a:buNone/>
            </a:pPr>
            <a:r>
              <a:rPr lang="en-US" dirty="0" smtClean="0"/>
              <a:t>		</a:t>
            </a:r>
            <a:r>
              <a:rPr lang="en-US" b="1" dirty="0" smtClean="0"/>
              <a:t>def</a:t>
            </a:r>
            <a:r>
              <a:rPr lang="en-US" dirty="0" smtClean="0"/>
              <a:t> distance(</a:t>
            </a:r>
            <a:r>
              <a:rPr lang="en-US" b="1" dirty="0" smtClean="0"/>
              <a:t>self</a:t>
            </a:r>
            <a:r>
              <a:rPr lang="en-US" dirty="0" smtClean="0"/>
              <a:t>): </a:t>
            </a:r>
          </a:p>
          <a:p>
            <a:pPr>
              <a:buNone/>
            </a:pPr>
            <a:r>
              <a:rPr lang="en-US" dirty="0" smtClean="0"/>
              <a:t>			</a:t>
            </a:r>
            <a:r>
              <a:rPr lang="en-US" sz="2800" dirty="0" smtClean="0"/>
              <a:t>"""Find distance from origin"""</a:t>
            </a:r>
            <a:r>
              <a:rPr lang="en-US" dirty="0" smtClean="0"/>
              <a:t> 				return </a:t>
            </a:r>
            <a:r>
              <a:rPr lang="en-US" sz="2800" dirty="0" smtClean="0"/>
              <a:t>(</a:t>
            </a:r>
            <a:r>
              <a:rPr lang="en-US" sz="2800" dirty="0" err="1" smtClean="0"/>
              <a:t>self.x</a:t>
            </a:r>
            <a:r>
              <a:rPr lang="en-US" sz="2800" dirty="0" smtClean="0"/>
              <a:t>**2 + </a:t>
            </a:r>
            <a:r>
              <a:rPr lang="en-US" sz="2800" dirty="0" err="1" smtClean="0"/>
              <a:t>self.y</a:t>
            </a:r>
            <a:r>
              <a:rPr lang="en-US" sz="2800" dirty="0" smtClean="0"/>
              <a:t>**2) ** 0.5</a:t>
            </a:r>
            <a:endParaRPr lang="en-US" sz="2800" dirty="0"/>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r>
              <a:rPr lang="en-US" dirty="0" smtClean="0"/>
              <a:t>Let us now instantiate this class and find the distance.</a:t>
            </a:r>
          </a:p>
          <a:p>
            <a:pPr>
              <a:buNone/>
            </a:pPr>
            <a:r>
              <a:rPr lang="en-US" dirty="0" smtClean="0"/>
              <a:t>&gt;&gt;&gt; p1 = </a:t>
            </a:r>
            <a:r>
              <a:rPr lang="en-US" b="1" dirty="0" smtClean="0"/>
              <a:t>Point(</a:t>
            </a:r>
            <a:r>
              <a:rPr lang="en-US" dirty="0" smtClean="0"/>
              <a:t>6,8</a:t>
            </a:r>
            <a:r>
              <a:rPr lang="en-US" b="1" dirty="0" smtClean="0"/>
              <a:t>)</a:t>
            </a:r>
            <a:r>
              <a:rPr lang="en-US" dirty="0" smtClean="0"/>
              <a:t> </a:t>
            </a:r>
          </a:p>
          <a:p>
            <a:pPr>
              <a:buNone/>
            </a:pPr>
            <a:r>
              <a:rPr lang="en-US" dirty="0" smtClean="0"/>
              <a:t>&gt;&gt;&gt; p1.distance() </a:t>
            </a:r>
          </a:p>
          <a:p>
            <a:pPr>
              <a:buNone/>
            </a:pPr>
            <a:r>
              <a:rPr lang="en-US" dirty="0" smtClean="0"/>
              <a:t>10.0</a:t>
            </a:r>
          </a:p>
          <a:p>
            <a:r>
              <a:rPr lang="en-US" dirty="0" smtClean="0"/>
              <a:t>In the above example, __init__() defines three parameters but we just passed two (6 and 8). </a:t>
            </a:r>
          </a:p>
          <a:p>
            <a:r>
              <a:rPr lang="en-US" dirty="0" smtClean="0"/>
              <a:t>Similarly distance() requires one but zero arguments were passed. </a:t>
            </a:r>
          </a:p>
          <a:p>
            <a:r>
              <a:rPr lang="en-US" b="1" dirty="0" smtClean="0"/>
              <a:t>Why is Python not complaining about this argument number mismatch?</a:t>
            </a:r>
            <a:endParaRPr lang="en-US" b="1" dirty="0"/>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What Happens Internally?</a:t>
            </a:r>
            <a:endParaRPr lang="en-US" dirty="0"/>
          </a:p>
        </p:txBody>
      </p:sp>
      <p:sp>
        <p:nvSpPr>
          <p:cNvPr id="3" name="Content Placeholder 2"/>
          <p:cNvSpPr>
            <a:spLocks noGrp="1"/>
          </p:cNvSpPr>
          <p:nvPr>
            <p:ph idx="1"/>
          </p:nvPr>
        </p:nvSpPr>
        <p:spPr/>
        <p:txBody>
          <a:bodyPr/>
          <a:lstStyle/>
          <a:p>
            <a:r>
              <a:rPr lang="en-US" b="1" dirty="0" err="1" smtClean="0"/>
              <a:t>Point.distance</a:t>
            </a:r>
            <a:r>
              <a:rPr lang="en-US" dirty="0" smtClean="0"/>
              <a:t> and </a:t>
            </a:r>
            <a:r>
              <a:rPr lang="en-US" b="1" dirty="0" smtClean="0"/>
              <a:t>p1.distance</a:t>
            </a:r>
            <a:r>
              <a:rPr lang="en-US" dirty="0" smtClean="0"/>
              <a:t> in the above example are a bit different.</a:t>
            </a:r>
          </a:p>
          <a:p>
            <a:pPr>
              <a:buNone/>
            </a:pPr>
            <a:r>
              <a:rPr lang="en-US" b="1" dirty="0" smtClean="0"/>
              <a:t>&gt;&gt;&gt; type(</a:t>
            </a:r>
            <a:r>
              <a:rPr lang="en-US" b="1" dirty="0" err="1" smtClean="0"/>
              <a:t>Point.distance</a:t>
            </a:r>
            <a:r>
              <a:rPr lang="en-US" b="1" dirty="0" smtClean="0"/>
              <a:t>) </a:t>
            </a:r>
          </a:p>
          <a:p>
            <a:pPr>
              <a:buNone/>
            </a:pPr>
            <a:r>
              <a:rPr lang="en-US" dirty="0" smtClean="0"/>
              <a:t>&lt;class </a:t>
            </a:r>
            <a:r>
              <a:rPr lang="en-US" b="1" dirty="0" smtClean="0"/>
              <a:t>'function'</a:t>
            </a:r>
            <a:r>
              <a:rPr lang="en-US" dirty="0" smtClean="0"/>
              <a:t>&gt; </a:t>
            </a:r>
          </a:p>
          <a:p>
            <a:pPr>
              <a:buNone/>
            </a:pPr>
            <a:r>
              <a:rPr lang="en-US" b="1" dirty="0" smtClean="0"/>
              <a:t>&gt;&gt;&gt; type(p1.distance) </a:t>
            </a:r>
          </a:p>
          <a:p>
            <a:pPr>
              <a:buNone/>
            </a:pPr>
            <a:r>
              <a:rPr lang="en-US" dirty="0" smtClean="0"/>
              <a:t>&lt;class </a:t>
            </a:r>
            <a:r>
              <a:rPr lang="en-US" b="1" dirty="0" smtClean="0"/>
              <a:t>'method'</a:t>
            </a:r>
            <a:r>
              <a:rPr lang="en-US" dirty="0" smtClean="0"/>
              <a:t>&gt;</a:t>
            </a:r>
            <a:endParaRPr lang="en-US" dirty="0"/>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pPr algn="just"/>
            <a:r>
              <a:rPr lang="en-US" dirty="0" smtClean="0"/>
              <a:t>A peculiar thing about </a:t>
            </a:r>
            <a:r>
              <a:rPr lang="en-US" b="1" dirty="0" smtClean="0"/>
              <a:t>methods (in Python)</a:t>
            </a:r>
            <a:r>
              <a:rPr lang="en-US" dirty="0" smtClean="0"/>
              <a:t> is that the </a:t>
            </a:r>
            <a:r>
              <a:rPr lang="en-US" b="1" dirty="0" smtClean="0">
                <a:solidFill>
                  <a:srgbClr val="FF0000"/>
                </a:solidFill>
              </a:rPr>
              <a:t>object itself is passed on as the first argument</a:t>
            </a:r>
            <a:r>
              <a:rPr lang="en-US" dirty="0" smtClean="0"/>
              <a:t> to the corresponding function……………</a:t>
            </a:r>
            <a:r>
              <a:rPr lang="en-US" b="1" dirty="0" smtClean="0"/>
              <a:t>IMPLICIT</a:t>
            </a:r>
            <a:r>
              <a:rPr lang="en-US" dirty="0" smtClean="0"/>
              <a:t>      </a:t>
            </a:r>
          </a:p>
          <a:p>
            <a:pPr algn="just"/>
            <a:r>
              <a:rPr lang="en-US" dirty="0" smtClean="0"/>
              <a:t>the method call </a:t>
            </a:r>
            <a:r>
              <a:rPr lang="en-US" b="1" dirty="0" smtClean="0">
                <a:solidFill>
                  <a:srgbClr val="FF0000"/>
                </a:solidFill>
              </a:rPr>
              <a:t>p1.distance()</a:t>
            </a:r>
            <a:r>
              <a:rPr lang="en-US" dirty="0" smtClean="0"/>
              <a:t> is actually equivalent to </a:t>
            </a:r>
            <a:r>
              <a:rPr lang="en-US" b="1" dirty="0" err="1" smtClean="0">
                <a:solidFill>
                  <a:srgbClr val="FF0000"/>
                </a:solidFill>
              </a:rPr>
              <a:t>Point.distance</a:t>
            </a:r>
            <a:r>
              <a:rPr lang="en-US" b="1" dirty="0" smtClean="0">
                <a:solidFill>
                  <a:srgbClr val="FF0000"/>
                </a:solidFill>
              </a:rPr>
              <a:t>(p1)</a:t>
            </a:r>
            <a:r>
              <a:rPr lang="en-US" dirty="0" smtClean="0"/>
              <a:t>. </a:t>
            </a:r>
          </a:p>
          <a:p>
            <a:pPr algn="just"/>
            <a:r>
              <a:rPr lang="en-US" dirty="0" smtClean="0"/>
              <a:t>Generally, when we call a method with some arguments, the corresponding class function is called by placing the method's object before the first argument. </a:t>
            </a:r>
          </a:p>
          <a:p>
            <a:pPr algn="just"/>
            <a:r>
              <a:rPr lang="en-US" dirty="0" smtClean="0"/>
              <a:t>So, anything like </a:t>
            </a:r>
            <a:r>
              <a:rPr lang="en-US" b="1" dirty="0" err="1" smtClean="0"/>
              <a:t>obj.meth</a:t>
            </a:r>
            <a:r>
              <a:rPr lang="en-US" b="1" dirty="0" smtClean="0"/>
              <a:t>(</a:t>
            </a:r>
            <a:r>
              <a:rPr lang="en-US" b="1" dirty="0" err="1" smtClean="0"/>
              <a:t>args</a:t>
            </a:r>
            <a:r>
              <a:rPr lang="en-US" b="1" dirty="0" smtClean="0"/>
              <a:t>)</a:t>
            </a:r>
            <a:r>
              <a:rPr lang="en-US" dirty="0" smtClean="0"/>
              <a:t> becomes </a:t>
            </a:r>
            <a:r>
              <a:rPr lang="en-US" b="1" dirty="0" err="1" smtClean="0"/>
              <a:t>Class.meth</a:t>
            </a:r>
            <a:r>
              <a:rPr lang="en-US" b="1" dirty="0" smtClean="0"/>
              <a:t>(</a:t>
            </a:r>
            <a:r>
              <a:rPr lang="en-US" b="1" dirty="0" err="1" smtClean="0"/>
              <a:t>obj</a:t>
            </a:r>
            <a:r>
              <a:rPr lang="en-US" b="1" dirty="0" smtClean="0"/>
              <a:t>, </a:t>
            </a:r>
            <a:r>
              <a:rPr lang="en-US" b="1" dirty="0" err="1" smtClean="0"/>
              <a:t>args</a:t>
            </a:r>
            <a:r>
              <a:rPr lang="en-US" b="1" dirty="0" smtClean="0"/>
              <a:t>)</a:t>
            </a:r>
            <a:r>
              <a:rPr lang="en-US" dirty="0" smtClean="0"/>
              <a:t>. </a:t>
            </a:r>
          </a:p>
          <a:p>
            <a:pPr algn="just"/>
            <a:r>
              <a:rPr lang="en-US" dirty="0" smtClean="0"/>
              <a:t>The calling process is automatic while the </a:t>
            </a:r>
            <a:r>
              <a:rPr lang="en-US" b="1" dirty="0" smtClean="0">
                <a:solidFill>
                  <a:srgbClr val="FF0000"/>
                </a:solidFill>
              </a:rPr>
              <a:t>receiving process is not (its explicit)</a:t>
            </a:r>
            <a:r>
              <a:rPr lang="en-US" dirty="0" smtClean="0"/>
              <a:t>.</a:t>
            </a:r>
            <a:endParaRPr lang="en-US" dirty="0"/>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pPr>
              <a:buNone/>
            </a:pPr>
            <a:r>
              <a:rPr lang="en-US" b="1" dirty="0" smtClean="0"/>
              <a:t>class</a:t>
            </a:r>
            <a:r>
              <a:rPr lang="en-US" dirty="0" smtClean="0"/>
              <a:t> student:</a:t>
            </a:r>
          </a:p>
          <a:p>
            <a:pPr lvl="1">
              <a:buNone/>
            </a:pPr>
            <a:r>
              <a:rPr lang="en-US" dirty="0" smtClean="0"/>
              <a:t>    </a:t>
            </a:r>
            <a:r>
              <a:rPr lang="en-US" b="1" dirty="0" smtClean="0">
                <a:solidFill>
                  <a:srgbClr val="FF0000"/>
                </a:solidFill>
              </a:rPr>
              <a:t>count=0                                            # class variable</a:t>
            </a:r>
          </a:p>
          <a:p>
            <a:pPr lvl="1">
              <a:buNone/>
            </a:pPr>
            <a:r>
              <a:rPr lang="en-US" dirty="0" smtClean="0"/>
              <a:t>    </a:t>
            </a:r>
            <a:r>
              <a:rPr lang="en-US" b="1" dirty="0" smtClean="0"/>
              <a:t>def __init__(self</a:t>
            </a:r>
            <a:r>
              <a:rPr lang="en-US" dirty="0" smtClean="0"/>
              <a:t>, </a:t>
            </a:r>
            <a:r>
              <a:rPr lang="en-US" dirty="0" err="1" smtClean="0"/>
              <a:t>na</a:t>
            </a:r>
            <a:r>
              <a:rPr lang="en-US" dirty="0" smtClean="0"/>
              <a:t>, ma</a:t>
            </a:r>
            <a:r>
              <a:rPr lang="en-US" b="1" dirty="0" smtClean="0"/>
              <a:t>):</a:t>
            </a:r>
          </a:p>
          <a:p>
            <a:pPr lvl="1">
              <a:buNone/>
            </a:pPr>
            <a:r>
              <a:rPr lang="en-US" dirty="0" smtClean="0"/>
              <a:t>        print("Constructor invoked")</a:t>
            </a:r>
          </a:p>
          <a:p>
            <a:pPr lvl="1">
              <a:buNone/>
            </a:pPr>
            <a:r>
              <a:rPr lang="en-US" dirty="0" smtClean="0"/>
              <a:t>        self.name=</a:t>
            </a:r>
            <a:r>
              <a:rPr lang="en-US" dirty="0" err="1" smtClean="0"/>
              <a:t>na</a:t>
            </a:r>
            <a:endParaRPr lang="en-US" dirty="0" smtClean="0"/>
          </a:p>
          <a:p>
            <a:pPr lvl="1">
              <a:buNone/>
            </a:pPr>
            <a:r>
              <a:rPr lang="en-US" dirty="0" smtClean="0"/>
              <a:t>        </a:t>
            </a:r>
            <a:r>
              <a:rPr lang="en-US" dirty="0" err="1" smtClean="0"/>
              <a:t>self.marks</a:t>
            </a:r>
            <a:r>
              <a:rPr lang="en-US" dirty="0" smtClean="0"/>
              <a:t>=ma</a:t>
            </a:r>
          </a:p>
          <a:p>
            <a:pPr lvl="1">
              <a:buNone/>
            </a:pPr>
            <a:r>
              <a:rPr lang="en-US" dirty="0" smtClean="0"/>
              <a:t>        </a:t>
            </a:r>
            <a:r>
              <a:rPr lang="en-US" b="1" dirty="0" err="1" smtClean="0">
                <a:solidFill>
                  <a:srgbClr val="FF0000"/>
                </a:solidFill>
              </a:rPr>
              <a:t>student.count</a:t>
            </a:r>
            <a:r>
              <a:rPr lang="en-US" b="1" dirty="0" smtClean="0">
                <a:solidFill>
                  <a:srgbClr val="FF0000"/>
                </a:solidFill>
              </a:rPr>
              <a:t>=student.count+1</a:t>
            </a:r>
          </a:p>
          <a:p>
            <a:pPr lvl="1">
              <a:buNone/>
            </a:pPr>
            <a:r>
              <a:rPr lang="en-US" dirty="0" smtClean="0"/>
              <a:t>    </a:t>
            </a:r>
            <a:r>
              <a:rPr lang="en-US" b="1" dirty="0" smtClean="0"/>
              <a:t>def</a:t>
            </a:r>
            <a:r>
              <a:rPr lang="en-US" dirty="0" smtClean="0"/>
              <a:t> display(</a:t>
            </a:r>
            <a:r>
              <a:rPr lang="en-US" b="1" dirty="0" smtClean="0"/>
              <a:t>self</a:t>
            </a:r>
            <a:r>
              <a:rPr lang="en-US" dirty="0" smtClean="0"/>
              <a:t>):</a:t>
            </a:r>
          </a:p>
          <a:p>
            <a:pPr lvl="1">
              <a:buNone/>
            </a:pPr>
            <a:r>
              <a:rPr lang="en-US" dirty="0" smtClean="0"/>
              <a:t>        print("NAME ",self.name)</a:t>
            </a:r>
          </a:p>
          <a:p>
            <a:pPr lvl="1">
              <a:buNone/>
            </a:pPr>
            <a:r>
              <a:rPr lang="en-US" dirty="0" smtClean="0"/>
              <a:t>        print("MARKS ",</a:t>
            </a:r>
            <a:r>
              <a:rPr lang="en-US" dirty="0" err="1" smtClean="0"/>
              <a:t>self.marks</a:t>
            </a:r>
            <a:r>
              <a:rPr lang="en-US" dirty="0" smtClean="0"/>
              <a:t>)</a:t>
            </a:r>
          </a:p>
          <a:p>
            <a:pPr lvl="1">
              <a:buNone/>
            </a:pPr>
            <a:r>
              <a:rPr lang="en-US" dirty="0" smtClean="0"/>
              <a:t>    </a:t>
            </a:r>
            <a:r>
              <a:rPr lang="en-US" b="1" dirty="0" smtClean="0"/>
              <a:t>def</a:t>
            </a:r>
            <a:r>
              <a:rPr lang="en-US" dirty="0" smtClean="0"/>
              <a:t> total(</a:t>
            </a:r>
            <a:r>
              <a:rPr lang="en-US" b="1" dirty="0" smtClean="0"/>
              <a:t>self</a:t>
            </a:r>
            <a:r>
              <a:rPr lang="en-US" dirty="0" smtClean="0"/>
              <a:t>):</a:t>
            </a:r>
          </a:p>
          <a:p>
            <a:pPr lvl="1">
              <a:buNone/>
            </a:pPr>
            <a:r>
              <a:rPr lang="en-US" dirty="0" smtClean="0"/>
              <a:t>        print("Total students ",</a:t>
            </a:r>
            <a:r>
              <a:rPr lang="en-US" dirty="0" err="1" smtClean="0"/>
              <a:t>student.count</a:t>
            </a:r>
            <a:r>
              <a:rPr lang="en-US" dirty="0" smtClean="0"/>
              <a:t>)</a:t>
            </a:r>
            <a:endParaRPr lang="en-US" dirty="0"/>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pPr>
              <a:buNone/>
            </a:pPr>
            <a:r>
              <a:rPr lang="en-US" dirty="0" smtClean="0"/>
              <a:t>a=student("abc",99)         #Constructor invoked</a:t>
            </a:r>
          </a:p>
          <a:p>
            <a:pPr>
              <a:buNone/>
            </a:pPr>
            <a:r>
              <a:rPr lang="en-US" dirty="0" smtClean="0"/>
              <a:t>b=student("xyz",88)         #Constructor invoked</a:t>
            </a:r>
          </a:p>
          <a:p>
            <a:endParaRPr lang="en-US" dirty="0" smtClean="0"/>
          </a:p>
          <a:p>
            <a:pPr>
              <a:buNone/>
            </a:pPr>
            <a:r>
              <a:rPr lang="en-US" dirty="0" err="1" smtClean="0"/>
              <a:t>a.display</a:t>
            </a:r>
            <a:r>
              <a:rPr lang="en-US" dirty="0" smtClean="0"/>
              <a:t>()                          #NAME  </a:t>
            </a:r>
            <a:r>
              <a:rPr lang="en-US" dirty="0" err="1" smtClean="0"/>
              <a:t>abc</a:t>
            </a:r>
            <a:endParaRPr lang="en-US" dirty="0" smtClean="0"/>
          </a:p>
          <a:p>
            <a:pPr>
              <a:buNone/>
            </a:pPr>
            <a:r>
              <a:rPr lang="en-US" dirty="0" smtClean="0"/>
              <a:t>			               #MARKS  99</a:t>
            </a:r>
          </a:p>
          <a:p>
            <a:endParaRPr lang="en-US" dirty="0" smtClean="0"/>
          </a:p>
          <a:p>
            <a:pPr>
              <a:buNone/>
            </a:pPr>
            <a:r>
              <a:rPr lang="en-US" dirty="0" err="1" smtClean="0"/>
              <a:t>b.display</a:t>
            </a:r>
            <a:r>
              <a:rPr lang="en-US" dirty="0" smtClean="0"/>
              <a:t>()		#NAME  xyz</a:t>
            </a:r>
          </a:p>
          <a:p>
            <a:pPr>
              <a:buNone/>
            </a:pPr>
            <a:r>
              <a:rPr lang="en-US" dirty="0" smtClean="0"/>
              <a:t>				#MARKS  88</a:t>
            </a:r>
          </a:p>
          <a:p>
            <a:endParaRPr lang="en-US" dirty="0" smtClean="0"/>
          </a:p>
          <a:p>
            <a:pPr>
              <a:buNone/>
            </a:pPr>
            <a:r>
              <a:rPr lang="en-US" dirty="0" err="1" smtClean="0"/>
              <a:t>student.count</a:t>
            </a:r>
            <a:r>
              <a:rPr lang="en-US" dirty="0" smtClean="0"/>
              <a:t>                   # 2</a:t>
            </a:r>
          </a:p>
          <a:p>
            <a:pPr>
              <a:buNone/>
            </a:pPr>
            <a:r>
              <a:rPr lang="en-US" dirty="0" err="1" smtClean="0"/>
              <a:t>a.count</a:t>
            </a:r>
            <a:r>
              <a:rPr lang="en-US" dirty="0" smtClean="0"/>
              <a:t>			# 2</a:t>
            </a:r>
          </a:p>
          <a:p>
            <a:pPr>
              <a:buNone/>
            </a:pPr>
            <a:r>
              <a:rPr lang="en-US" dirty="0" err="1" smtClean="0"/>
              <a:t>b.Count</a:t>
            </a:r>
            <a:r>
              <a:rPr lang="en-US" dirty="0" smtClean="0"/>
              <a:t>			# 2</a:t>
            </a:r>
            <a:endParaRPr lang="en-US" dirty="0"/>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pPr algn="just"/>
            <a:r>
              <a:rPr lang="en-US" sz="2400" dirty="0" smtClean="0"/>
              <a:t>The variable count is a</a:t>
            </a:r>
            <a:r>
              <a:rPr lang="en-US" sz="2400" b="1" dirty="0" smtClean="0"/>
              <a:t> class variable</a:t>
            </a:r>
            <a:r>
              <a:rPr lang="en-US" sz="2400" dirty="0" smtClean="0"/>
              <a:t> </a:t>
            </a:r>
            <a:r>
              <a:rPr lang="en-US" sz="2400" b="1" dirty="0" smtClean="0"/>
              <a:t>whose value is shared among all  the instances of  the class</a:t>
            </a:r>
            <a:r>
              <a:rPr lang="en-US" sz="2400" dirty="0" smtClean="0"/>
              <a:t>. </a:t>
            </a:r>
          </a:p>
          <a:p>
            <a:pPr algn="just"/>
            <a:r>
              <a:rPr lang="en-US" sz="2400" dirty="0" smtClean="0"/>
              <a:t>This can be accessed as  </a:t>
            </a:r>
            <a:r>
              <a:rPr lang="en-US" sz="2400" b="1" dirty="0" err="1" smtClean="0"/>
              <a:t>student.count</a:t>
            </a:r>
            <a:r>
              <a:rPr lang="en-US" sz="2400" dirty="0" smtClean="0"/>
              <a:t> from inside the class or outside the class. </a:t>
            </a:r>
          </a:p>
          <a:p>
            <a:pPr algn="just"/>
            <a:r>
              <a:rPr lang="en-US" sz="2400" dirty="0" smtClean="0"/>
              <a:t>The first method  </a:t>
            </a:r>
            <a:r>
              <a:rPr lang="en-US" sz="2400" b="1" dirty="0" smtClean="0"/>
              <a:t>__init__()</a:t>
            </a:r>
            <a:r>
              <a:rPr lang="en-US" sz="2400" dirty="0" smtClean="0"/>
              <a:t> is a special method, which is called initialization method that Python calls when you create a new instance of this class. </a:t>
            </a:r>
          </a:p>
          <a:p>
            <a:pPr algn="just">
              <a:buNone/>
            </a:pPr>
            <a:r>
              <a:rPr lang="en-US" sz="2400" dirty="0" smtClean="0"/>
              <a:t> </a:t>
            </a:r>
            <a:endParaRPr lang="en-US" sz="2400" dirty="0"/>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smtClean="0"/>
              <a:t>class test:</a:t>
            </a:r>
          </a:p>
          <a:p>
            <a:r>
              <a:rPr lang="en-US" dirty="0" smtClean="0"/>
              <a:t>    	</a:t>
            </a:r>
            <a:r>
              <a:rPr lang="en-US" dirty="0" err="1" smtClean="0"/>
              <a:t>var</a:t>
            </a:r>
            <a:r>
              <a:rPr lang="en-US" dirty="0" smtClean="0"/>
              <a:t>="</a:t>
            </a:r>
            <a:r>
              <a:rPr lang="en-US" dirty="0" err="1" smtClean="0"/>
              <a:t>aa</a:t>
            </a:r>
            <a:r>
              <a:rPr lang="en-US" dirty="0" smtClean="0"/>
              <a:t>"</a:t>
            </a:r>
          </a:p>
          <a:p>
            <a:r>
              <a:rPr lang="en-US" dirty="0" smtClean="0"/>
              <a:t>    	def fun(</a:t>
            </a:r>
            <a:r>
              <a:rPr lang="en-US" dirty="0" err="1" smtClean="0"/>
              <a:t>self,str</a:t>
            </a:r>
            <a:r>
              <a:rPr lang="en-US" dirty="0" smtClean="0"/>
              <a:t>):</a:t>
            </a:r>
          </a:p>
          <a:p>
            <a:r>
              <a:rPr lang="en-US" dirty="0" smtClean="0"/>
              <a:t>    	            print("something")</a:t>
            </a:r>
          </a:p>
          <a:p>
            <a:r>
              <a:rPr lang="en-US" dirty="0" smtClean="0"/>
              <a:t>    	            self.var=</a:t>
            </a:r>
            <a:r>
              <a:rPr lang="en-US" dirty="0" err="1" smtClean="0"/>
              <a:t>self.var+str</a:t>
            </a:r>
            <a:endParaRPr lang="en-US" dirty="0" smtClean="0"/>
          </a:p>
          <a:p>
            <a:r>
              <a:rPr lang="en-US" dirty="0" smtClean="0"/>
              <a:t>a=test()</a:t>
            </a:r>
          </a:p>
          <a:p>
            <a:r>
              <a:rPr lang="en-US" dirty="0" smtClean="0"/>
              <a:t>b=test()</a:t>
            </a:r>
          </a:p>
          <a:p>
            <a:r>
              <a:rPr lang="en-US" dirty="0" smtClean="0"/>
              <a:t>a.fun("</a:t>
            </a:r>
            <a:r>
              <a:rPr lang="en-US" dirty="0" err="1" smtClean="0"/>
              <a:t>zz</a:t>
            </a:r>
            <a:r>
              <a:rPr lang="en-US" dirty="0" smtClean="0"/>
              <a:t>")                                         #something</a:t>
            </a:r>
          </a:p>
          <a:p>
            <a:r>
              <a:rPr lang="en-US" dirty="0" smtClean="0"/>
              <a:t>print(a.var)                                        # '</a:t>
            </a:r>
            <a:r>
              <a:rPr lang="en-US" dirty="0" err="1" smtClean="0"/>
              <a:t>aazz</a:t>
            </a:r>
            <a:r>
              <a:rPr lang="en-US" dirty="0" smtClean="0"/>
              <a:t>‘</a:t>
            </a:r>
          </a:p>
          <a:p>
            <a:r>
              <a:rPr lang="en-US" dirty="0" smtClean="0"/>
              <a:t>print(b.var)                                       # '</a:t>
            </a:r>
            <a:r>
              <a:rPr lang="en-US" dirty="0" err="1" smtClean="0"/>
              <a:t>aa</a:t>
            </a:r>
            <a:r>
              <a:rPr lang="en-US" dirty="0" smtClean="0"/>
              <a:t>'</a:t>
            </a:r>
            <a:endParaRPr lang="en-US" dirty="0"/>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pPr>
              <a:buNone/>
            </a:pPr>
            <a:r>
              <a:rPr lang="en-US" dirty="0" smtClean="0"/>
              <a:t>class test:</a:t>
            </a:r>
          </a:p>
          <a:p>
            <a:pPr>
              <a:buNone/>
            </a:pPr>
            <a:r>
              <a:rPr lang="en-US" dirty="0" smtClean="0"/>
              <a:t>             </a:t>
            </a:r>
            <a:r>
              <a:rPr lang="en-US" dirty="0" err="1" smtClean="0"/>
              <a:t>var</a:t>
            </a:r>
            <a:r>
              <a:rPr lang="en-US" dirty="0" smtClean="0"/>
              <a:t>="</a:t>
            </a:r>
            <a:r>
              <a:rPr lang="en-US" dirty="0" err="1" smtClean="0"/>
              <a:t>aa</a:t>
            </a:r>
            <a:r>
              <a:rPr lang="en-US" dirty="0" smtClean="0"/>
              <a:t>"</a:t>
            </a:r>
          </a:p>
          <a:p>
            <a:pPr>
              <a:buNone/>
            </a:pPr>
            <a:r>
              <a:rPr lang="en-US" dirty="0" smtClean="0"/>
              <a:t>             def fun(</a:t>
            </a:r>
            <a:r>
              <a:rPr lang="en-US" dirty="0" err="1" smtClean="0"/>
              <a:t>self,str</a:t>
            </a:r>
            <a:r>
              <a:rPr lang="en-US" dirty="0" smtClean="0"/>
              <a:t>):</a:t>
            </a:r>
          </a:p>
          <a:p>
            <a:pPr>
              <a:buNone/>
            </a:pPr>
            <a:r>
              <a:rPr lang="en-US" dirty="0" smtClean="0"/>
              <a:t>                         print("something")</a:t>
            </a:r>
          </a:p>
          <a:p>
            <a:pPr>
              <a:buNone/>
            </a:pPr>
            <a:r>
              <a:rPr lang="en-US" dirty="0" smtClean="0"/>
              <a:t>                         self.var=</a:t>
            </a:r>
            <a:r>
              <a:rPr lang="en-US" dirty="0" err="1" smtClean="0"/>
              <a:t>self.var+str</a:t>
            </a:r>
            <a:endParaRPr lang="en-US" dirty="0" smtClean="0"/>
          </a:p>
          <a:p>
            <a:pPr>
              <a:buNone/>
            </a:pPr>
            <a:r>
              <a:rPr lang="en-US" dirty="0" smtClean="0"/>
              <a:t>                          test.var=</a:t>
            </a:r>
            <a:r>
              <a:rPr lang="en-US" dirty="0" err="1" smtClean="0"/>
              <a:t>test.var+str+str</a:t>
            </a:r>
            <a:endParaRPr lang="en-US" dirty="0" smtClean="0"/>
          </a:p>
          <a:p>
            <a:endParaRPr lang="en-US" dirty="0" smtClean="0"/>
          </a:p>
          <a:p>
            <a:r>
              <a:rPr lang="en-US" dirty="0" smtClean="0"/>
              <a:t>c=test()     </a:t>
            </a:r>
          </a:p>
          <a:p>
            <a:r>
              <a:rPr lang="en-US" dirty="0" smtClean="0"/>
              <a:t>d=test()</a:t>
            </a:r>
          </a:p>
          <a:p>
            <a:r>
              <a:rPr lang="en-US" dirty="0" smtClean="0"/>
              <a:t>c.var                                      '</a:t>
            </a:r>
            <a:r>
              <a:rPr lang="en-US" dirty="0" err="1" smtClean="0"/>
              <a:t>aa</a:t>
            </a:r>
            <a:r>
              <a:rPr lang="en-US" dirty="0" smtClean="0"/>
              <a:t>'</a:t>
            </a:r>
          </a:p>
          <a:p>
            <a:r>
              <a:rPr lang="en-US" dirty="0" smtClean="0"/>
              <a:t>d.var                                      '</a:t>
            </a:r>
            <a:r>
              <a:rPr lang="en-US" dirty="0" err="1" smtClean="0"/>
              <a:t>aa</a:t>
            </a:r>
            <a:r>
              <a:rPr lang="en-US" dirty="0" smtClean="0"/>
              <a:t>'</a:t>
            </a:r>
          </a:p>
          <a:p>
            <a:r>
              <a:rPr lang="en-US" dirty="0" smtClean="0"/>
              <a:t>c.fun("</a:t>
            </a:r>
            <a:r>
              <a:rPr lang="en-US" dirty="0" err="1" smtClean="0"/>
              <a:t>zzz</a:t>
            </a:r>
            <a:r>
              <a:rPr lang="en-US" dirty="0" smtClean="0"/>
              <a:t>“)</a:t>
            </a:r>
          </a:p>
          <a:p>
            <a:r>
              <a:rPr lang="en-US" dirty="0" smtClean="0"/>
              <a:t>c.var                                       '</a:t>
            </a:r>
            <a:r>
              <a:rPr lang="en-US" dirty="0" err="1" smtClean="0"/>
              <a:t>aazzz</a:t>
            </a:r>
            <a:r>
              <a:rPr lang="en-US" dirty="0" smtClean="0"/>
              <a:t>'</a:t>
            </a:r>
          </a:p>
          <a:p>
            <a:r>
              <a:rPr lang="en-US" dirty="0" smtClean="0"/>
              <a:t>d.var                                       '</a:t>
            </a:r>
            <a:r>
              <a:rPr lang="en-US" dirty="0" err="1" smtClean="0"/>
              <a:t>aazzzzzz</a:t>
            </a:r>
            <a:r>
              <a:rPr lang="en-US" dirty="0" smtClean="0"/>
              <a:t>'</a:t>
            </a:r>
            <a:endParaRPr lang="en-US" dirty="0"/>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400" dirty="0" smtClean="0"/>
              <a:t>You declare other class methods like normal functions with the exception that the first argument to each method is self. </a:t>
            </a:r>
          </a:p>
          <a:p>
            <a:r>
              <a:rPr lang="en-US" sz="2400" dirty="0" smtClean="0"/>
              <a:t>Python adds the self argument to the list for you; you do not need to include it when you call the methods.</a:t>
            </a:r>
          </a:p>
          <a:p>
            <a:endParaRPr lang="en-US" sz="2400" dirty="0"/>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Creating Instance Objects</a:t>
            </a:r>
            <a:endParaRPr lang="en-US" dirty="0"/>
          </a:p>
        </p:txBody>
      </p:sp>
      <p:sp>
        <p:nvSpPr>
          <p:cNvPr id="3" name="Content Placeholder 2"/>
          <p:cNvSpPr>
            <a:spLocks noGrp="1"/>
          </p:cNvSpPr>
          <p:nvPr>
            <p:ph idx="1"/>
          </p:nvPr>
        </p:nvSpPr>
        <p:spPr/>
        <p:txBody>
          <a:bodyPr>
            <a:noAutofit/>
          </a:bodyPr>
          <a:lstStyle/>
          <a:p>
            <a:r>
              <a:rPr lang="en-US" sz="2400" dirty="0" smtClean="0"/>
              <a:t>To create instances of a class, you call the class using class name and pass in whatever arguments its __init__ method accepts. </a:t>
            </a: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Accessing Attributes</a:t>
            </a:r>
            <a:endParaRPr lang="en-US" dirty="0"/>
          </a:p>
        </p:txBody>
      </p:sp>
      <p:sp>
        <p:nvSpPr>
          <p:cNvPr id="3" name="Content Placeholder 2"/>
          <p:cNvSpPr>
            <a:spLocks noGrp="1"/>
          </p:cNvSpPr>
          <p:nvPr>
            <p:ph idx="1"/>
          </p:nvPr>
        </p:nvSpPr>
        <p:spPr/>
        <p:txBody>
          <a:bodyPr>
            <a:normAutofit/>
          </a:bodyPr>
          <a:lstStyle/>
          <a:p>
            <a:pPr algn="just"/>
            <a:r>
              <a:rPr lang="en-US" sz="2400" dirty="0" smtClean="0"/>
              <a:t>Instead of using the normal statements to access attributes, you can use the following functions- </a:t>
            </a:r>
          </a:p>
          <a:p>
            <a:pPr algn="just"/>
            <a:r>
              <a:rPr lang="en-US" sz="2400" dirty="0" smtClean="0"/>
              <a:t>You access the object's attributes using the dot operator with object. </a:t>
            </a:r>
          </a:p>
          <a:p>
            <a:pPr algn="just"/>
            <a:r>
              <a:rPr lang="en-US" sz="2400" dirty="0" smtClean="0"/>
              <a:t>Class variable would be accessed using class name.</a:t>
            </a:r>
            <a:endParaRPr lang="en-US" sz="2400" dirty="0"/>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55000" lnSpcReduction="20000"/>
          </a:bodyPr>
          <a:lstStyle/>
          <a:p>
            <a:pPr>
              <a:buNone/>
            </a:pPr>
            <a:r>
              <a:rPr lang="en-US" dirty="0" smtClean="0"/>
              <a:t>class Point: </a:t>
            </a:r>
          </a:p>
          <a:p>
            <a:pPr>
              <a:buNone/>
            </a:pPr>
            <a:r>
              <a:rPr lang="en-US" dirty="0" smtClean="0"/>
              <a:t>   	def __init__( self, x=0, y=0): </a:t>
            </a:r>
          </a:p>
          <a:p>
            <a:pPr>
              <a:buNone/>
            </a:pPr>
            <a:r>
              <a:rPr lang="en-US" dirty="0" smtClean="0"/>
              <a:t>     	 	</a:t>
            </a:r>
            <a:r>
              <a:rPr lang="en-US" dirty="0" err="1" smtClean="0"/>
              <a:t>self.x</a:t>
            </a:r>
            <a:r>
              <a:rPr lang="en-US" dirty="0" smtClean="0"/>
              <a:t> = x </a:t>
            </a:r>
          </a:p>
          <a:p>
            <a:pPr>
              <a:buNone/>
            </a:pPr>
            <a:r>
              <a:rPr lang="en-US" dirty="0" smtClean="0"/>
              <a:t>      		</a:t>
            </a:r>
            <a:r>
              <a:rPr lang="en-US" dirty="0" err="1" smtClean="0"/>
              <a:t>self.y</a:t>
            </a:r>
            <a:r>
              <a:rPr lang="en-US" dirty="0" smtClean="0"/>
              <a:t> = y </a:t>
            </a:r>
          </a:p>
          <a:p>
            <a:pPr>
              <a:buNone/>
            </a:pPr>
            <a:r>
              <a:rPr lang="en-US" dirty="0" smtClean="0"/>
              <a:t>   	def __del__(self): </a:t>
            </a:r>
          </a:p>
          <a:p>
            <a:pPr>
              <a:buNone/>
            </a:pPr>
            <a:r>
              <a:rPr lang="en-US" dirty="0" smtClean="0"/>
              <a:t>     	 	</a:t>
            </a:r>
            <a:r>
              <a:rPr lang="en-US" dirty="0" err="1" smtClean="0"/>
              <a:t>class_name</a:t>
            </a:r>
            <a:r>
              <a:rPr lang="en-US" dirty="0" smtClean="0"/>
              <a:t> = </a:t>
            </a:r>
            <a:r>
              <a:rPr lang="en-US" dirty="0" err="1" smtClean="0"/>
              <a:t>self.__class__.__name</a:t>
            </a:r>
            <a:r>
              <a:rPr lang="en-US" dirty="0" smtClean="0"/>
              <a:t>__ </a:t>
            </a:r>
          </a:p>
          <a:p>
            <a:pPr>
              <a:buNone/>
            </a:pPr>
            <a:r>
              <a:rPr lang="en-US" dirty="0" smtClean="0"/>
              <a:t>      		print (</a:t>
            </a:r>
            <a:r>
              <a:rPr lang="en-US" dirty="0" err="1" smtClean="0"/>
              <a:t>class_name</a:t>
            </a:r>
            <a:r>
              <a:rPr lang="en-US" dirty="0" smtClean="0"/>
              <a:t>, "destroyed") </a:t>
            </a:r>
          </a:p>
          <a:p>
            <a:pPr>
              <a:buNone/>
            </a:pPr>
            <a:r>
              <a:rPr lang="en-US" dirty="0" smtClean="0"/>
              <a:t> </a:t>
            </a:r>
          </a:p>
          <a:p>
            <a:pPr>
              <a:buNone/>
            </a:pPr>
            <a:r>
              <a:rPr lang="en-US" dirty="0" smtClean="0"/>
              <a:t>pt1 = Point() </a:t>
            </a:r>
          </a:p>
          <a:p>
            <a:pPr>
              <a:buNone/>
            </a:pPr>
            <a:r>
              <a:rPr lang="en-US" dirty="0" smtClean="0"/>
              <a:t>pt2 = pt1 </a:t>
            </a:r>
          </a:p>
          <a:p>
            <a:pPr>
              <a:buNone/>
            </a:pPr>
            <a:r>
              <a:rPr lang="en-US" dirty="0" smtClean="0"/>
              <a:t>pt3 = pt1</a:t>
            </a:r>
          </a:p>
          <a:p>
            <a:pPr>
              <a:buNone/>
            </a:pPr>
            <a:r>
              <a:rPr lang="en-US" dirty="0" smtClean="0"/>
              <a:t>print (id(pt1), id(pt2), id(pt3)            # prints the ids of the </a:t>
            </a:r>
            <a:r>
              <a:rPr lang="en-US" dirty="0" err="1" smtClean="0"/>
              <a:t>obejcts</a:t>
            </a:r>
            <a:r>
              <a:rPr lang="en-US" dirty="0" smtClean="0"/>
              <a:t>) </a:t>
            </a:r>
          </a:p>
          <a:p>
            <a:pPr>
              <a:buNone/>
            </a:pPr>
            <a:r>
              <a:rPr lang="en-US" dirty="0" smtClean="0"/>
              <a:t>del pt1 </a:t>
            </a:r>
          </a:p>
          <a:p>
            <a:pPr>
              <a:buNone/>
            </a:pPr>
            <a:r>
              <a:rPr lang="en-US" dirty="0" smtClean="0"/>
              <a:t>del pt2 </a:t>
            </a:r>
          </a:p>
          <a:p>
            <a:pPr>
              <a:buNone/>
            </a:pPr>
            <a:r>
              <a:rPr lang="en-US" dirty="0" smtClean="0"/>
              <a:t>del pt3 </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None/>
            </a:pPr>
            <a:r>
              <a:rPr lang="en-US" sz="2400" dirty="0" smtClean="0"/>
              <a:t>When the above code is executed, it produces the following result- </a:t>
            </a:r>
          </a:p>
          <a:p>
            <a:pPr>
              <a:buNone/>
            </a:pPr>
            <a:r>
              <a:rPr lang="en-US" sz="2400" dirty="0" smtClean="0"/>
              <a:t>3083401324 3083401324 3083401324 </a:t>
            </a:r>
          </a:p>
          <a:p>
            <a:pPr>
              <a:buNone/>
            </a:pPr>
            <a:r>
              <a:rPr lang="en-US" sz="2400" dirty="0" smtClean="0"/>
              <a:t>Point destroyed</a:t>
            </a:r>
          </a:p>
          <a:p>
            <a:endParaRPr lang="en-US" sz="2400" dirty="0"/>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 Inheritance </a:t>
            </a:r>
            <a:endParaRPr lang="en-US" dirty="0"/>
          </a:p>
        </p:txBody>
      </p:sp>
      <p:sp>
        <p:nvSpPr>
          <p:cNvPr id="3" name="Content Placeholder 2"/>
          <p:cNvSpPr>
            <a:spLocks noGrp="1"/>
          </p:cNvSpPr>
          <p:nvPr>
            <p:ph idx="1"/>
          </p:nvPr>
        </p:nvSpPr>
        <p:spPr/>
        <p:txBody>
          <a:bodyPr>
            <a:normAutofit lnSpcReduction="10000"/>
          </a:bodyPr>
          <a:lstStyle/>
          <a:p>
            <a:pPr algn="just"/>
            <a:r>
              <a:rPr lang="en-US" sz="2400" dirty="0" smtClean="0"/>
              <a:t>It refers to defining a new class with little or no modification to an existing class. </a:t>
            </a:r>
          </a:p>
          <a:p>
            <a:pPr algn="just"/>
            <a:r>
              <a:rPr lang="en-US" sz="2400" dirty="0" smtClean="0"/>
              <a:t>The new class is called </a:t>
            </a:r>
            <a:r>
              <a:rPr lang="en-US" sz="2400" b="1" dirty="0" smtClean="0"/>
              <a:t>derived (or child) class</a:t>
            </a:r>
            <a:r>
              <a:rPr lang="en-US" sz="2400" dirty="0" smtClean="0"/>
              <a:t> and the one from which it inherits is called the </a:t>
            </a:r>
            <a:r>
              <a:rPr lang="en-US" sz="2400" b="1" dirty="0" smtClean="0"/>
              <a:t>base (or parent) class</a:t>
            </a:r>
            <a:r>
              <a:rPr lang="en-US" sz="2400" dirty="0" smtClean="0"/>
              <a:t>.</a:t>
            </a:r>
          </a:p>
          <a:p>
            <a:pPr algn="just"/>
            <a:endParaRPr lang="en-US" sz="2400" dirty="0" smtClean="0"/>
          </a:p>
          <a:p>
            <a:pPr algn="just">
              <a:buNone/>
            </a:pPr>
            <a:r>
              <a:rPr lang="en-US" sz="2400" dirty="0" smtClean="0"/>
              <a:t>class </a:t>
            </a:r>
            <a:r>
              <a:rPr lang="en-US" sz="2400" dirty="0" err="1" smtClean="0"/>
              <a:t>BaseClass</a:t>
            </a:r>
            <a:r>
              <a:rPr lang="en-US" sz="2400" dirty="0" smtClean="0"/>
              <a:t>: </a:t>
            </a:r>
          </a:p>
          <a:p>
            <a:pPr lvl="1" algn="just">
              <a:buNone/>
            </a:pPr>
            <a:r>
              <a:rPr lang="en-US" sz="2000" dirty="0" smtClean="0"/>
              <a:t>Body of base class </a:t>
            </a:r>
            <a:r>
              <a:rPr lang="en-US" sz="2000" dirty="0" err="1" smtClean="0"/>
              <a:t>class</a:t>
            </a:r>
            <a:r>
              <a:rPr lang="en-US" sz="2000" dirty="0" smtClean="0"/>
              <a:t> </a:t>
            </a:r>
          </a:p>
          <a:p>
            <a:pPr algn="just">
              <a:buNone/>
            </a:pPr>
            <a:endParaRPr lang="en-US" sz="2400" dirty="0" smtClean="0"/>
          </a:p>
          <a:p>
            <a:pPr algn="just">
              <a:buNone/>
            </a:pPr>
            <a:r>
              <a:rPr lang="en-US" sz="2400" dirty="0" smtClean="0"/>
              <a:t>class </a:t>
            </a:r>
            <a:r>
              <a:rPr lang="en-US" sz="2400" dirty="0" err="1" smtClean="0"/>
              <a:t>DerivedClass</a:t>
            </a:r>
            <a:r>
              <a:rPr lang="en-US" sz="2400" dirty="0" smtClean="0"/>
              <a:t>(</a:t>
            </a:r>
            <a:r>
              <a:rPr lang="en-US" sz="2400" dirty="0" err="1" smtClean="0"/>
              <a:t>BaseClass</a:t>
            </a:r>
            <a:r>
              <a:rPr lang="en-US" sz="2400" dirty="0" smtClean="0"/>
              <a:t>): </a:t>
            </a:r>
          </a:p>
          <a:p>
            <a:pPr lvl="1" algn="just">
              <a:buNone/>
            </a:pPr>
            <a:r>
              <a:rPr lang="en-US" sz="2000" dirty="0" smtClean="0"/>
              <a:t> Body of derived class</a:t>
            </a:r>
          </a:p>
          <a:p>
            <a:pPr lvl="1" algn="just">
              <a:buNone/>
            </a:pPr>
            <a:r>
              <a:rPr lang="en-US" sz="2000"/>
              <a:t>https://pythonlobby.com/inheritance-and-types-of-inheritance-in-python-programming/</a:t>
            </a:r>
            <a:endParaRPr lang="en-US" sz="2000" dirty="0"/>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None/>
            </a:pPr>
            <a:r>
              <a:rPr lang="en-US" sz="2400" dirty="0" smtClean="0"/>
              <a:t>class polygon:</a:t>
            </a:r>
          </a:p>
          <a:p>
            <a:pPr>
              <a:buNone/>
            </a:pPr>
            <a:r>
              <a:rPr lang="en-US" sz="2400" dirty="0" smtClean="0"/>
              <a:t>         def __init__(self, sides):</a:t>
            </a:r>
          </a:p>
          <a:p>
            <a:pPr>
              <a:buNone/>
            </a:pPr>
            <a:r>
              <a:rPr lang="en-US" sz="2400" dirty="0" smtClean="0"/>
              <a:t>                 </a:t>
            </a:r>
            <a:r>
              <a:rPr lang="en-US" sz="2400" dirty="0" err="1" smtClean="0"/>
              <a:t>self.n</a:t>
            </a:r>
            <a:r>
              <a:rPr lang="en-US" sz="2400" dirty="0" smtClean="0"/>
              <a:t>=sides</a:t>
            </a:r>
          </a:p>
          <a:p>
            <a:pPr>
              <a:buNone/>
            </a:pPr>
            <a:r>
              <a:rPr lang="en-US" sz="2400" dirty="0" smtClean="0"/>
              <a:t>                 </a:t>
            </a:r>
            <a:r>
              <a:rPr lang="en-US" sz="2400" dirty="0" err="1" smtClean="0"/>
              <a:t>self.s</a:t>
            </a:r>
            <a:r>
              <a:rPr lang="en-US" sz="2400" dirty="0" smtClean="0"/>
              <a:t>=[int(input("Enter side ")) for </a:t>
            </a:r>
            <a:r>
              <a:rPr lang="en-US" sz="2400" dirty="0" err="1" smtClean="0"/>
              <a:t>i</a:t>
            </a:r>
            <a:r>
              <a:rPr lang="en-US" sz="2400" dirty="0" smtClean="0"/>
              <a:t> in range(</a:t>
            </a:r>
            <a:r>
              <a:rPr lang="en-US" sz="2400" dirty="0" err="1" smtClean="0"/>
              <a:t>self.n</a:t>
            </a:r>
            <a:r>
              <a:rPr lang="en-US" sz="2400" dirty="0" smtClean="0"/>
              <a:t>)]</a:t>
            </a:r>
          </a:p>
          <a:p>
            <a:pPr>
              <a:buNone/>
            </a:pPr>
            <a:r>
              <a:rPr lang="en-US" sz="2400" dirty="0" smtClean="0"/>
              <a:t>        def display(self):</a:t>
            </a:r>
          </a:p>
          <a:p>
            <a:pPr>
              <a:buNone/>
            </a:pPr>
            <a:r>
              <a:rPr lang="en-US" sz="2400" dirty="0" smtClean="0"/>
              <a:t>                 for </a:t>
            </a:r>
            <a:r>
              <a:rPr lang="en-US" sz="2400" dirty="0" err="1" smtClean="0"/>
              <a:t>i</a:t>
            </a:r>
            <a:r>
              <a:rPr lang="en-US" sz="2400" dirty="0" smtClean="0"/>
              <a:t> in range(</a:t>
            </a:r>
            <a:r>
              <a:rPr lang="en-US" sz="2400" dirty="0" err="1" smtClean="0"/>
              <a:t>self.n</a:t>
            </a:r>
            <a:r>
              <a:rPr lang="en-US" sz="2400" dirty="0" smtClean="0"/>
              <a:t>):</a:t>
            </a:r>
          </a:p>
          <a:p>
            <a:pPr>
              <a:buNone/>
            </a:pPr>
            <a:r>
              <a:rPr lang="en-US" sz="2400" dirty="0" smtClean="0"/>
              <a:t>                 print(</a:t>
            </a:r>
            <a:r>
              <a:rPr lang="en-US" sz="2400" dirty="0" err="1" smtClean="0"/>
              <a:t>self.s</a:t>
            </a:r>
            <a:r>
              <a:rPr lang="en-US" sz="2400" dirty="0" smtClean="0"/>
              <a:t>[</a:t>
            </a:r>
            <a:r>
              <a:rPr lang="en-US" sz="2400" dirty="0" err="1" smtClean="0"/>
              <a:t>i</a:t>
            </a:r>
            <a:r>
              <a:rPr lang="en-US" sz="2400" dirty="0" smtClean="0"/>
              <a:t>])</a:t>
            </a:r>
            <a:endParaRPr lang="en-US" sz="2400" dirty="0"/>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None/>
            </a:pPr>
            <a:r>
              <a:rPr lang="en-US" dirty="0" smtClean="0"/>
              <a:t>a=polygon(3)</a:t>
            </a:r>
          </a:p>
          <a:p>
            <a:pPr>
              <a:buNone/>
            </a:pPr>
            <a:r>
              <a:rPr lang="en-US" sz="2200" dirty="0" smtClean="0"/>
              <a:t>Enter side 12</a:t>
            </a:r>
          </a:p>
          <a:p>
            <a:pPr>
              <a:buNone/>
            </a:pPr>
            <a:r>
              <a:rPr lang="en-US" sz="2200" dirty="0" smtClean="0"/>
              <a:t>Enter side 34</a:t>
            </a:r>
          </a:p>
          <a:p>
            <a:pPr>
              <a:buNone/>
            </a:pPr>
            <a:r>
              <a:rPr lang="en-US" sz="2200" dirty="0" smtClean="0"/>
              <a:t>Enter side 45</a:t>
            </a:r>
          </a:p>
          <a:p>
            <a:pPr>
              <a:buNone/>
            </a:pPr>
            <a:endParaRPr lang="en-US" dirty="0" smtClean="0"/>
          </a:p>
          <a:p>
            <a:pPr>
              <a:buNone/>
            </a:pPr>
            <a:r>
              <a:rPr lang="en-US" dirty="0" err="1" smtClean="0"/>
              <a:t>a.display</a:t>
            </a:r>
            <a:r>
              <a:rPr lang="en-US" dirty="0" smtClean="0"/>
              <a:t>()</a:t>
            </a:r>
          </a:p>
          <a:p>
            <a:pPr>
              <a:buNone/>
            </a:pPr>
            <a:r>
              <a:rPr lang="en-US" sz="2000" dirty="0" smtClean="0"/>
              <a:t>12</a:t>
            </a:r>
          </a:p>
          <a:p>
            <a:pPr>
              <a:buNone/>
            </a:pPr>
            <a:r>
              <a:rPr lang="en-US" sz="2000" dirty="0" smtClean="0"/>
              <a:t>34</a:t>
            </a:r>
          </a:p>
          <a:p>
            <a:pPr>
              <a:buNone/>
            </a:pPr>
            <a:r>
              <a:rPr lang="en-US" sz="2000" dirty="0" smtClean="0"/>
              <a:t>45</a:t>
            </a:r>
            <a:endParaRPr lang="en-US" sz="2000" dirty="0"/>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pPr>
              <a:buNone/>
            </a:pPr>
            <a:r>
              <a:rPr lang="en-US" dirty="0" smtClean="0"/>
              <a:t>class triangle(polygon):</a:t>
            </a:r>
          </a:p>
          <a:p>
            <a:pPr>
              <a:buNone/>
            </a:pPr>
            <a:r>
              <a:rPr lang="en-US" dirty="0" smtClean="0"/>
              <a:t>         def __init__(self):</a:t>
            </a:r>
          </a:p>
          <a:p>
            <a:pPr>
              <a:buNone/>
            </a:pPr>
            <a:r>
              <a:rPr lang="en-US" dirty="0" smtClean="0"/>
              <a:t>                     </a:t>
            </a:r>
            <a:r>
              <a:rPr lang="en-US" dirty="0" err="1" smtClean="0"/>
              <a:t>polygon.__init</a:t>
            </a:r>
            <a:r>
              <a:rPr lang="en-US" dirty="0" smtClean="0"/>
              <a:t>__(self, 3)              #super().__init__(3)</a:t>
            </a:r>
          </a:p>
          <a:p>
            <a:pPr>
              <a:buNone/>
            </a:pPr>
            <a:r>
              <a:rPr lang="en-US" dirty="0" smtClean="0"/>
              <a:t>         def area(self):</a:t>
            </a:r>
          </a:p>
          <a:p>
            <a:pPr>
              <a:buNone/>
            </a:pPr>
            <a:r>
              <a:rPr lang="en-US" dirty="0" smtClean="0"/>
              <a:t>                     </a:t>
            </a:r>
            <a:r>
              <a:rPr lang="en-US" dirty="0" err="1" smtClean="0"/>
              <a:t>a,b,c</a:t>
            </a:r>
            <a:r>
              <a:rPr lang="en-US" dirty="0" smtClean="0"/>
              <a:t>=</a:t>
            </a:r>
            <a:r>
              <a:rPr lang="en-US" dirty="0" err="1" smtClean="0"/>
              <a:t>self.s</a:t>
            </a:r>
            <a:endParaRPr lang="en-US" dirty="0" smtClean="0"/>
          </a:p>
          <a:p>
            <a:pPr>
              <a:buNone/>
            </a:pPr>
            <a:r>
              <a:rPr lang="en-US" dirty="0" smtClean="0"/>
              <a:t>                     S=(</a:t>
            </a:r>
            <a:r>
              <a:rPr lang="en-US" dirty="0" err="1" smtClean="0"/>
              <a:t>a+b+c</a:t>
            </a:r>
            <a:r>
              <a:rPr lang="en-US" dirty="0" smtClean="0"/>
              <a:t>)/2</a:t>
            </a:r>
          </a:p>
          <a:p>
            <a:pPr>
              <a:buNone/>
            </a:pPr>
            <a:r>
              <a:rPr lang="en-US" dirty="0" smtClean="0"/>
              <a:t>                     </a:t>
            </a:r>
            <a:r>
              <a:rPr lang="en-US" dirty="0" err="1" smtClean="0"/>
              <a:t>ar</a:t>
            </a:r>
            <a:r>
              <a:rPr lang="en-US" dirty="0" smtClean="0"/>
              <a:t>=(S*(S-a)*(S-b)*(S-c))**0.5</a:t>
            </a:r>
          </a:p>
          <a:p>
            <a:pPr>
              <a:buNone/>
            </a:pPr>
            <a:r>
              <a:rPr lang="en-US" dirty="0" smtClean="0"/>
              <a:t>                     print(</a:t>
            </a:r>
            <a:r>
              <a:rPr lang="en-US" dirty="0" err="1" smtClean="0"/>
              <a:t>ar</a:t>
            </a:r>
            <a:r>
              <a:rPr lang="en-US" dirty="0" smtClean="0"/>
              <a:t>)</a:t>
            </a:r>
          </a:p>
          <a:p>
            <a:endParaRPr lang="en-US" dirty="0" smtClean="0"/>
          </a:p>
          <a:p>
            <a:pPr>
              <a:buNone/>
            </a:pPr>
            <a:r>
              <a:rPr lang="en-US" dirty="0" smtClean="0"/>
              <a:t>t=triangle()</a:t>
            </a:r>
          </a:p>
          <a:p>
            <a:pPr lvl="1"/>
            <a:r>
              <a:rPr lang="en-US" dirty="0" smtClean="0"/>
              <a:t>Enter side 11</a:t>
            </a:r>
          </a:p>
          <a:p>
            <a:pPr lvl="1"/>
            <a:r>
              <a:rPr lang="en-US" dirty="0" smtClean="0"/>
              <a:t>Enter side 223</a:t>
            </a:r>
          </a:p>
          <a:p>
            <a:pPr lvl="1"/>
            <a:r>
              <a:rPr lang="en-US" dirty="0" smtClean="0"/>
              <a:t>Enter side 122</a:t>
            </a:r>
          </a:p>
          <a:p>
            <a:pPr>
              <a:buNone/>
            </a:pPr>
            <a:r>
              <a:rPr lang="en-US" dirty="0" err="1" smtClean="0"/>
              <a:t>t.area</a:t>
            </a:r>
            <a:r>
              <a:rPr lang="en-US" dirty="0" smtClean="0"/>
              <a:t>()</a:t>
            </a:r>
            <a:endParaRPr lang="en-US" dirty="0"/>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2743200" cy="4525963"/>
          </a:xfrm>
          <a:noFill/>
          <a:ln>
            <a:solidFill>
              <a:schemeClr val="tx1"/>
            </a:solidFill>
          </a:ln>
        </p:spPr>
        <p:txBody>
          <a:bodyPr>
            <a:normAutofit fontScale="55000" lnSpcReduction="20000"/>
          </a:bodyPr>
          <a:lstStyle/>
          <a:p>
            <a:r>
              <a:rPr lang="en-US" dirty="0" smtClean="0"/>
              <a:t>class A:</a:t>
            </a:r>
          </a:p>
          <a:p>
            <a:r>
              <a:rPr lang="en-US" dirty="0" smtClean="0"/>
              <a:t>    def fun(self):</a:t>
            </a:r>
          </a:p>
          <a:p>
            <a:r>
              <a:rPr lang="en-US" dirty="0" smtClean="0"/>
              <a:t>        print("A")</a:t>
            </a:r>
          </a:p>
          <a:p>
            <a:endParaRPr lang="en-US" dirty="0" smtClean="0"/>
          </a:p>
          <a:p>
            <a:endParaRPr lang="en-US" dirty="0" smtClean="0"/>
          </a:p>
          <a:p>
            <a:r>
              <a:rPr lang="en-US" dirty="0" smtClean="0"/>
              <a:t>class B(A):</a:t>
            </a:r>
          </a:p>
          <a:p>
            <a:r>
              <a:rPr lang="en-US" dirty="0" smtClean="0"/>
              <a:t>    def fun(self):</a:t>
            </a:r>
          </a:p>
          <a:p>
            <a:r>
              <a:rPr lang="en-US" dirty="0" smtClean="0"/>
              <a:t>        super().fun()</a:t>
            </a:r>
          </a:p>
          <a:p>
            <a:r>
              <a:rPr lang="en-US" dirty="0" smtClean="0"/>
              <a:t>        print("B")</a:t>
            </a:r>
          </a:p>
          <a:p>
            <a:endParaRPr lang="en-US" dirty="0" smtClean="0"/>
          </a:p>
          <a:p>
            <a:endParaRPr lang="en-US" dirty="0" smtClean="0"/>
          </a:p>
          <a:p>
            <a:r>
              <a:rPr lang="en-US" dirty="0" smtClean="0"/>
              <a:t>class C(A):</a:t>
            </a:r>
          </a:p>
          <a:p>
            <a:r>
              <a:rPr lang="en-US" dirty="0" smtClean="0"/>
              <a:t>    def fun(self):</a:t>
            </a:r>
          </a:p>
          <a:p>
            <a:r>
              <a:rPr lang="en-US" dirty="0" smtClean="0"/>
              <a:t>        super().fun()</a:t>
            </a:r>
          </a:p>
          <a:p>
            <a:r>
              <a:rPr lang="en-US" dirty="0" smtClean="0"/>
              <a:t>        print("C")</a:t>
            </a:r>
            <a:endParaRPr lang="en-US" dirty="0"/>
          </a:p>
        </p:txBody>
      </p:sp>
      <p:sp>
        <p:nvSpPr>
          <p:cNvPr id="4" name="Content Placeholder 2"/>
          <p:cNvSpPr txBox="1">
            <a:spLocks/>
          </p:cNvSpPr>
          <p:nvPr/>
        </p:nvSpPr>
        <p:spPr>
          <a:xfrm>
            <a:off x="4343400" y="1600200"/>
            <a:ext cx="4419600" cy="5029200"/>
          </a:xfrm>
          <a:prstGeom prst="rect">
            <a:avLst/>
          </a:prstGeom>
          <a:noFill/>
          <a:ln>
            <a:solidFill>
              <a:schemeClr val="tx1"/>
            </a:solidFill>
          </a:ln>
        </p:spPr>
        <p:txBody>
          <a:bodyPr vert="horz" lIns="91440" tIns="45720" rIns="91440" bIns="45720" rtlCol="0">
            <a:noAutofit/>
          </a:bodyPr>
          <a:lstStyle/>
          <a:p>
            <a:pPr marL="342900" lvl="0" indent="-342900">
              <a:spcBef>
                <a:spcPct val="20000"/>
              </a:spcBef>
              <a:buFont typeface="Arial" pitchFamily="34" charset="0"/>
              <a:buChar char="•"/>
            </a:pPr>
            <a:r>
              <a:rPr lang="en-US" sz="2400" dirty="0" smtClean="0"/>
              <a:t>class D(B,C):</a:t>
            </a:r>
          </a:p>
          <a:p>
            <a:pPr marL="342900" lvl="0" indent="-342900">
              <a:spcBef>
                <a:spcPct val="20000"/>
              </a:spcBef>
              <a:buFont typeface="Arial" pitchFamily="34" charset="0"/>
              <a:buChar char="•"/>
            </a:pPr>
            <a:r>
              <a:rPr lang="en-US" sz="2400" dirty="0" smtClean="0"/>
              <a:t>      def fun(self):</a:t>
            </a:r>
          </a:p>
          <a:p>
            <a:pPr marL="342900" lvl="0" indent="-342900">
              <a:spcBef>
                <a:spcPct val="20000"/>
              </a:spcBef>
              <a:buFont typeface="Arial" pitchFamily="34" charset="0"/>
              <a:buChar char="•"/>
            </a:pPr>
            <a:r>
              <a:rPr lang="en-US" sz="2400" dirty="0" smtClean="0"/>
              <a:t>                super().fun()</a:t>
            </a:r>
          </a:p>
          <a:p>
            <a:pPr marL="342900" lvl="0" indent="-342900">
              <a:spcBef>
                <a:spcPct val="20000"/>
              </a:spcBef>
              <a:buFont typeface="Arial" pitchFamily="34" charset="0"/>
              <a:buChar char="•"/>
            </a:pPr>
            <a:r>
              <a:rPr lang="en-US" sz="2400" dirty="0" smtClean="0"/>
              <a:t>                print("D")</a:t>
            </a:r>
          </a:p>
          <a:p>
            <a:pPr marL="342900" lvl="0" indent="-342900">
              <a:spcBef>
                <a:spcPct val="20000"/>
              </a:spcBef>
              <a:buFont typeface="Arial" pitchFamily="34" charset="0"/>
              <a:buChar char="•"/>
            </a:pPr>
            <a:endParaRPr lang="en-US" sz="2400" dirty="0" smtClean="0"/>
          </a:p>
          <a:p>
            <a:pPr marL="342900" lvl="0" indent="-342900">
              <a:spcBef>
                <a:spcPct val="20000"/>
              </a:spcBef>
              <a:buFont typeface="Arial" pitchFamily="34" charset="0"/>
              <a:buChar char="•"/>
            </a:pPr>
            <a:endParaRPr lang="en-US" sz="2400" dirty="0" smtClean="0"/>
          </a:p>
          <a:p>
            <a:pPr marL="342900" lvl="0" indent="-342900">
              <a:spcBef>
                <a:spcPct val="20000"/>
              </a:spcBef>
              <a:buFont typeface="Arial" pitchFamily="34" charset="0"/>
              <a:buChar char="•"/>
            </a:pPr>
            <a:r>
              <a:rPr lang="en-US" sz="2400" dirty="0" smtClean="0"/>
              <a:t>d=D()</a:t>
            </a:r>
          </a:p>
          <a:p>
            <a:pPr marL="342900" lvl="0" indent="-342900">
              <a:spcBef>
                <a:spcPct val="20000"/>
              </a:spcBef>
              <a:buFont typeface="Arial" pitchFamily="34" charset="0"/>
              <a:buChar char="•"/>
            </a:pPr>
            <a:r>
              <a:rPr lang="en-US" sz="2400" dirty="0" smtClean="0"/>
              <a:t>d.fun()</a:t>
            </a:r>
          </a:p>
          <a:p>
            <a:pPr marL="342900" lvl="0" indent="-342900">
              <a:spcBef>
                <a:spcPct val="20000"/>
              </a:spcBef>
              <a:buFont typeface="Arial" pitchFamily="34" charset="0"/>
              <a:buChar char="•"/>
            </a:pPr>
            <a:r>
              <a:rPr kumimoji="0" lang="en-US" sz="1600" b="1" i="0" u="sng" strike="noStrike" kern="1200" cap="none" spc="0" normalizeH="0" baseline="0" noProof="0" dirty="0" smtClean="0">
                <a:ln>
                  <a:noFill/>
                </a:ln>
                <a:solidFill>
                  <a:schemeClr val="tx1"/>
                </a:solidFill>
                <a:effectLst/>
                <a:uLnTx/>
                <a:uFillTx/>
                <a:latin typeface="+mn-lt"/>
                <a:ea typeface="+mn-ea"/>
                <a:cs typeface="+mn-cs"/>
              </a:rPr>
              <a:t>OUTPUT:</a:t>
            </a:r>
          </a:p>
          <a:p>
            <a:pPr marL="342900" lvl="0" indent="-342900">
              <a:spcBef>
                <a:spcPct val="20000"/>
              </a:spcBef>
            </a:pPr>
            <a:r>
              <a:rPr lang="en-US" sz="1600" b="1" dirty="0" smtClean="0"/>
              <a:t>A</a:t>
            </a:r>
          </a:p>
          <a:p>
            <a:pPr marL="342900" lvl="0" indent="-342900">
              <a:spcBef>
                <a:spcPct val="20000"/>
              </a:spcBef>
            </a:pPr>
            <a:r>
              <a:rPr kumimoji="0" lang="en-US" sz="1600" b="1" i="0" strike="noStrike" kern="1200" cap="none" spc="0" normalizeH="0" baseline="0" noProof="0" dirty="0" smtClean="0">
                <a:ln>
                  <a:noFill/>
                </a:ln>
                <a:solidFill>
                  <a:schemeClr val="tx1"/>
                </a:solidFill>
                <a:effectLst/>
                <a:uLnTx/>
                <a:uFillTx/>
                <a:latin typeface="+mn-lt"/>
                <a:ea typeface="+mn-ea"/>
                <a:cs typeface="+mn-cs"/>
              </a:rPr>
              <a:t>B</a:t>
            </a:r>
          </a:p>
          <a:p>
            <a:pPr marL="342900" lvl="0" indent="-342900">
              <a:spcBef>
                <a:spcPct val="20000"/>
              </a:spcBef>
            </a:pPr>
            <a:r>
              <a:rPr lang="en-US" sz="1600" b="1" dirty="0" smtClean="0"/>
              <a:t>C</a:t>
            </a:r>
          </a:p>
          <a:p>
            <a:pPr marL="342900" lvl="0" indent="-342900">
              <a:spcBef>
                <a:spcPct val="20000"/>
              </a:spcBef>
            </a:pPr>
            <a:r>
              <a:rPr lang="en-US" sz="1600" b="1" dirty="0" smtClean="0"/>
              <a:t>D</a:t>
            </a:r>
            <a:endParaRPr kumimoji="0" lang="en-US" sz="1600" b="1" i="0"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15822</TotalTime>
  <Words>3591</Words>
  <Application>Microsoft Office PowerPoint</Application>
  <PresentationFormat>On-screen Show (4:3)</PresentationFormat>
  <Paragraphs>796</Paragraphs>
  <Slides>104</Slides>
  <Notes>0</Notes>
  <HiddenSlides>0</HiddenSlides>
  <MMClips>0</MMClips>
  <ScaleCrop>false</ScaleCrop>
  <HeadingPairs>
    <vt:vector size="4" baseType="variant">
      <vt:variant>
        <vt:lpstr>Theme</vt:lpstr>
      </vt:variant>
      <vt:variant>
        <vt:i4>1</vt:i4>
      </vt:variant>
      <vt:variant>
        <vt:lpstr>Slide Titles</vt:lpstr>
      </vt:variant>
      <vt:variant>
        <vt:i4>104</vt:i4>
      </vt:variant>
    </vt:vector>
  </HeadingPairs>
  <TitlesOfParts>
    <vt:vector size="105" baseType="lpstr">
      <vt:lpstr>Office Theme</vt:lpstr>
      <vt:lpstr>Python Module II </vt:lpstr>
      <vt:lpstr>Python Tuple</vt:lpstr>
      <vt:lpstr>PowerPoint Presentation</vt:lpstr>
      <vt:lpstr>Accessing Tuple</vt:lpstr>
      <vt:lpstr>Data=(1,2,3,4,5,10,19,17)</vt:lpstr>
      <vt:lpstr>Tuple Operations</vt:lpstr>
      <vt:lpstr>PowerPoint Presentation</vt:lpstr>
      <vt:lpstr>PowerPoint Presentation</vt:lpstr>
      <vt:lpstr>PowerPoint Presentation</vt:lpstr>
      <vt:lpstr>Using cmp(), max() , min()</vt:lpstr>
      <vt:lpstr>PowerPoint Presentation</vt:lpstr>
      <vt:lpstr>Why Use Tuple?</vt:lpstr>
      <vt:lpstr>Dictionary in Python</vt:lpstr>
      <vt:lpstr>PowerPoint Presentation</vt:lpstr>
      <vt:lpstr>PowerPoint Presentation</vt:lpstr>
      <vt:lpstr>PowerPoint Presentation</vt:lpstr>
      <vt:lpstr>Dictionary Methods in Python</vt:lpstr>
      <vt:lpstr>PowerPoint Presentation</vt:lpstr>
      <vt:lpstr>PowerPoint Presentation</vt:lpstr>
      <vt:lpstr>PowerPoint Presentation</vt:lpstr>
      <vt:lpstr>Dictionary Functions</vt:lpstr>
      <vt:lpstr>Dictionary Methods</vt:lpstr>
      <vt:lpstr>PowerPoint Presentation</vt:lpstr>
      <vt:lpstr>PowerPoint Presentation</vt:lpstr>
      <vt:lpstr>PowerPoint Presentation</vt:lpstr>
      <vt:lpstr>PowerPoint Presentation</vt:lpstr>
      <vt:lpstr>PowerPoint Presentation</vt:lpstr>
      <vt:lpstr>PowerPoint Presentation</vt:lpstr>
      <vt:lpstr>Python Modules</vt:lpstr>
      <vt:lpstr>PowerPoint Presentation</vt:lpstr>
      <vt:lpstr>How to import modules in Python?</vt:lpstr>
      <vt:lpstr>1. Python import statement We can import a module using import statement and access the definitions inside it using the dot operator.  </vt:lpstr>
      <vt:lpstr>2. Import with renaming We can import a module by renaming it as follows. </vt:lpstr>
      <vt:lpstr>3. Python from...import statement We can import specific names form a module without importing the module as a whole. </vt:lpstr>
      <vt:lpstr>PowerPoint Presentation</vt:lpstr>
      <vt:lpstr>4. Import all names We can import all names(definitions) form a module using the following construct. </vt:lpstr>
      <vt:lpstr>Reloading a module</vt:lpstr>
      <vt:lpstr>PowerPoint Presentation</vt:lpstr>
      <vt:lpstr>Python Package</vt:lpstr>
      <vt:lpstr>PowerPoint Presentation</vt:lpstr>
      <vt:lpstr>PowerPoint Presentation</vt:lpstr>
      <vt:lpstr>Importing module from a package</vt:lpstr>
      <vt:lpstr>PowerPoint Presentation</vt:lpstr>
      <vt:lpstr>PowerPoint Presentation</vt:lpstr>
      <vt:lpstr>Python I/O</vt:lpstr>
      <vt:lpstr>PowerPoint Presentation</vt:lpstr>
      <vt:lpstr>PowerPoint Presentation</vt:lpstr>
      <vt:lpstr>Python Input</vt:lpstr>
      <vt:lpstr>File Handling</vt:lpstr>
      <vt:lpstr>open()</vt:lpstr>
      <vt:lpstr>PowerPoint Presentation</vt:lpstr>
      <vt:lpstr>Access modes of a file</vt:lpstr>
      <vt:lpstr>PowerPoint Presentation</vt:lpstr>
      <vt:lpstr>PowerPoint Presentation</vt:lpstr>
      <vt:lpstr>PowerPoint Presentation</vt:lpstr>
      <vt:lpstr>PowerPoint Presentation</vt:lpstr>
      <vt:lpstr>PowerPoint Presentation</vt:lpstr>
      <vt:lpstr>PowerPoint Presentation</vt:lpstr>
      <vt:lpstr>How to open a file?</vt:lpstr>
      <vt:lpstr>The file Object Attributes</vt:lpstr>
      <vt:lpstr>PowerPoint Presentation</vt:lpstr>
      <vt:lpstr>The close() Method</vt:lpstr>
      <vt:lpstr>Reading and Writing Files</vt:lpstr>
      <vt:lpstr>PowerPoint Presentation</vt:lpstr>
      <vt:lpstr>The read() Method</vt:lpstr>
      <vt:lpstr>readline()</vt:lpstr>
      <vt:lpstr>PowerPoint Presentation</vt:lpstr>
      <vt:lpstr>File Positions</vt:lpstr>
      <vt:lpstr>PowerPoint Presentation</vt:lpstr>
      <vt:lpstr>PowerPoint Presentation</vt:lpstr>
      <vt:lpstr>PowerPoint Presentation</vt:lpstr>
      <vt:lpstr>How to write to File Using Python?</vt:lpstr>
      <vt:lpstr>Using the with statement</vt:lpstr>
      <vt:lpstr>PowerPoint Presentation</vt:lpstr>
      <vt:lpstr>PowerPoint Presentation</vt:lpstr>
      <vt:lpstr>PowerPoint Presentation</vt:lpstr>
      <vt:lpstr>PowerPoint Presentation</vt:lpstr>
      <vt:lpstr>Python Classes</vt:lpstr>
      <vt:lpstr>PowerPoint Presentation</vt:lpstr>
      <vt:lpstr>PowerPoint Presentation</vt:lpstr>
      <vt:lpstr>The class Statement</vt:lpstr>
      <vt:lpstr>The Class Body</vt:lpstr>
      <vt:lpstr>Object Oriented Programming in Python</vt:lpstr>
      <vt:lpstr>PowerPoint Presentation</vt:lpstr>
      <vt:lpstr>PowerPoint Presentation</vt:lpstr>
      <vt:lpstr>self in Python…???</vt:lpstr>
      <vt:lpstr>PowerPoint Presentation</vt:lpstr>
      <vt:lpstr>What Happens Internally?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Creating Instance Objects</vt:lpstr>
      <vt:lpstr>Accessing Attributes</vt:lpstr>
      <vt:lpstr>PowerPoint Presentation</vt:lpstr>
      <vt:lpstr>PowerPoint Presentation</vt:lpstr>
      <vt:lpstr>Class Inheritance </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Module II BCA3005</dc:title>
  <dc:creator>atul</dc:creator>
  <cp:lastModifiedBy>HP</cp:lastModifiedBy>
  <cp:revision>49</cp:revision>
  <dcterms:created xsi:type="dcterms:W3CDTF">2006-08-16T00:00:00Z</dcterms:created>
  <dcterms:modified xsi:type="dcterms:W3CDTF">2023-12-06T17:24:18Z</dcterms:modified>
</cp:coreProperties>
</file>