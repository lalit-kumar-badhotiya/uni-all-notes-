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4745" y="478358"/>
            <a:ext cx="179450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850" y="1390650"/>
            <a:ext cx="8629650" cy="333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54502" y="6465214"/>
            <a:ext cx="263461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77923" y="2574035"/>
            <a:ext cx="6356604" cy="11536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4500" y="1587436"/>
            <a:ext cx="8255000" cy="4551680"/>
            <a:chOff x="444500" y="1587436"/>
            <a:chExt cx="8255000" cy="4551680"/>
          </a:xfrm>
        </p:grpSpPr>
        <p:sp>
          <p:nvSpPr>
            <p:cNvPr id="3" name="object 3"/>
            <p:cNvSpPr/>
            <p:nvPr/>
          </p:nvSpPr>
          <p:spPr>
            <a:xfrm>
              <a:off x="457200" y="1600136"/>
              <a:ext cx="8229600" cy="4526280"/>
            </a:xfrm>
            <a:custGeom>
              <a:avLst/>
              <a:gdLst/>
              <a:ahLst/>
              <a:cxnLst/>
              <a:rect l="l" t="t" r="r" b="b"/>
              <a:pathLst>
                <a:path w="8229600" h="4526280">
                  <a:moveTo>
                    <a:pt x="8229600" y="0"/>
                  </a:moveTo>
                  <a:lnTo>
                    <a:pt x="0" y="0"/>
                  </a:lnTo>
                  <a:lnTo>
                    <a:pt x="0" y="4526026"/>
                  </a:lnTo>
                  <a:lnTo>
                    <a:pt x="8229600" y="4526026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200" y="1600136"/>
              <a:ext cx="8229600" cy="4526280"/>
            </a:xfrm>
            <a:custGeom>
              <a:avLst/>
              <a:gdLst/>
              <a:ahLst/>
              <a:cxnLst/>
              <a:rect l="l" t="t" r="r" b="b"/>
              <a:pathLst>
                <a:path w="8229600" h="4526280">
                  <a:moveTo>
                    <a:pt x="0" y="4526026"/>
                  </a:moveTo>
                  <a:lnTo>
                    <a:pt x="8229600" y="4526026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4526026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5693" y="2418714"/>
            <a:ext cx="8059420" cy="20262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065" marR="5080" indent="-1905" algn="ctr">
              <a:lnSpc>
                <a:spcPct val="99100"/>
              </a:lnSpc>
              <a:spcBef>
                <a:spcPts val="150"/>
              </a:spcBef>
              <a:tabLst>
                <a:tab pos="2030095" algn="l"/>
              </a:tabLst>
            </a:pPr>
            <a:r>
              <a:rPr dirty="0">
                <a:latin typeface="Times New Roman"/>
                <a:cs typeface="Times New Roman"/>
              </a:rPr>
              <a:t>Strings:	string slices, </a:t>
            </a:r>
            <a:r>
              <a:rPr spc="-25" dirty="0">
                <a:latin typeface="Times New Roman"/>
                <a:cs typeface="Times New Roman"/>
              </a:rPr>
              <a:t>immutability,  </a:t>
            </a:r>
            <a:r>
              <a:rPr dirty="0">
                <a:latin typeface="Times New Roman"/>
                <a:cs typeface="Times New Roman"/>
              </a:rPr>
              <a:t>string functions and methods,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string  module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9885" y="478358"/>
            <a:ext cx="1826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St</a:t>
            </a:r>
            <a:r>
              <a:rPr spc="60" dirty="0"/>
              <a:t>r</a:t>
            </a:r>
            <a:r>
              <a:rPr spc="229" dirty="0"/>
              <a:t>ings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2932"/>
            <a:ext cx="7441565" cy="45256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String is a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sequence of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characters.</a:t>
            </a:r>
            <a:endParaRPr sz="3200">
              <a:latin typeface="Times New Roman"/>
              <a:cs typeface="Times New Roman"/>
            </a:endParaRPr>
          </a:p>
          <a:p>
            <a:pPr marL="355600" marR="53340" indent="-342900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Times New Roman"/>
                <a:cs typeface="Times New Roman"/>
              </a:rPr>
              <a:t>String </a:t>
            </a:r>
            <a:r>
              <a:rPr sz="3200" dirty="0">
                <a:latin typeface="Times New Roman"/>
                <a:cs typeface="Times New Roman"/>
              </a:rPr>
              <a:t>may contain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alphabets, numbers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and  special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characters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Usually strings are enclosed within a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single  quotes and double</a:t>
            </a:r>
            <a:r>
              <a:rPr sz="32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quotes</a:t>
            </a:r>
            <a:r>
              <a:rPr sz="3200" spc="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Strings is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immutable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nature.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Example</a:t>
            </a:r>
            <a:r>
              <a:rPr sz="320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  <a:p>
            <a:pPr marL="927100" marR="4284345">
              <a:lnSpc>
                <a:spcPct val="110000"/>
              </a:lnSpc>
              <a:spcBef>
                <a:spcPts val="5"/>
              </a:spcBef>
            </a:pPr>
            <a:r>
              <a:rPr sz="2800" spc="-45" dirty="0">
                <a:latin typeface="Times New Roman"/>
                <a:cs typeface="Times New Roman"/>
              </a:rPr>
              <a:t>a=„hello </a:t>
            </a:r>
            <a:r>
              <a:rPr sz="2800" spc="-320" dirty="0">
                <a:latin typeface="Times New Roman"/>
                <a:cs typeface="Times New Roman"/>
              </a:rPr>
              <a:t>world‟  </a:t>
            </a:r>
            <a:r>
              <a:rPr sz="2800" dirty="0">
                <a:latin typeface="Times New Roman"/>
                <a:cs typeface="Times New Roman"/>
              </a:rPr>
              <a:t>b=“Python”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8492" y="478358"/>
            <a:ext cx="5829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40" dirty="0"/>
              <a:t>Inbuilt </a:t>
            </a:r>
            <a:r>
              <a:rPr spc="114" dirty="0"/>
              <a:t>String</a:t>
            </a:r>
            <a:r>
              <a:rPr spc="-535" dirty="0"/>
              <a:t> </a:t>
            </a:r>
            <a:r>
              <a:rPr spc="10" dirty="0"/>
              <a:t>functions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31140" y="1522895"/>
            <a:ext cx="8522335" cy="42697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  <a:tab pos="4396105" algn="l"/>
              </a:tabLst>
            </a:pPr>
            <a:r>
              <a:rPr sz="3200" dirty="0">
                <a:latin typeface="Times New Roman"/>
                <a:cs typeface="Times New Roman"/>
              </a:rPr>
              <a:t>Python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mainly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contains	3 inbuilt string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functions.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They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</a:t>
            </a:r>
            <a:endParaRPr sz="32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len()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max()</a:t>
            </a:r>
            <a:endParaRPr sz="280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min()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len()</a:t>
            </a:r>
            <a:r>
              <a:rPr sz="2800" spc="-5" dirty="0">
                <a:latin typeface="Times New Roman"/>
                <a:cs typeface="Times New Roman"/>
              </a:rPr>
              <a:t>- </a:t>
            </a:r>
            <a:r>
              <a:rPr sz="2800" dirty="0">
                <a:latin typeface="Times New Roman"/>
                <a:cs typeface="Times New Roman"/>
              </a:rPr>
              <a:t>Find out the </a:t>
            </a:r>
            <a:r>
              <a:rPr sz="2800" spc="-5" dirty="0">
                <a:latin typeface="Times New Roman"/>
                <a:cs typeface="Times New Roman"/>
              </a:rPr>
              <a:t>length of characters 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min()</a:t>
            </a:r>
            <a:r>
              <a:rPr sz="2800" spc="-5" dirty="0">
                <a:latin typeface="Times New Roman"/>
                <a:cs typeface="Times New Roman"/>
              </a:rPr>
              <a:t>- Smallest value in a </a:t>
            </a:r>
            <a:r>
              <a:rPr sz="2800" dirty="0">
                <a:latin typeface="Times New Roman"/>
                <a:cs typeface="Times New Roman"/>
              </a:rPr>
              <a:t>string </a:t>
            </a:r>
            <a:r>
              <a:rPr sz="2800" spc="-5" dirty="0">
                <a:latin typeface="Times New Roman"/>
                <a:cs typeface="Times New Roman"/>
              </a:rPr>
              <a:t>based on ASCII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max()</a:t>
            </a:r>
            <a:r>
              <a:rPr sz="2800" spc="-5" dirty="0">
                <a:latin typeface="Times New Roman"/>
                <a:cs typeface="Times New Roman"/>
              </a:rPr>
              <a:t>- </a:t>
            </a:r>
            <a:r>
              <a:rPr sz="2800" spc="-10" dirty="0">
                <a:latin typeface="Times New Roman"/>
                <a:cs typeface="Times New Roman"/>
              </a:rPr>
              <a:t>Largest </a:t>
            </a:r>
            <a:r>
              <a:rPr sz="2800" spc="-5" dirty="0">
                <a:latin typeface="Times New Roman"/>
                <a:cs typeface="Times New Roman"/>
              </a:rPr>
              <a:t>value in a </a:t>
            </a:r>
            <a:r>
              <a:rPr sz="2800" dirty="0">
                <a:latin typeface="Times New Roman"/>
                <a:cs typeface="Times New Roman"/>
              </a:rPr>
              <a:t>string </a:t>
            </a:r>
            <a:r>
              <a:rPr sz="2800" spc="-5" dirty="0">
                <a:latin typeface="Times New Roman"/>
                <a:cs typeface="Times New Roman"/>
              </a:rPr>
              <a:t>based </a:t>
            </a:r>
            <a:r>
              <a:rPr sz="2800" dirty="0">
                <a:latin typeface="Times New Roman"/>
                <a:cs typeface="Times New Roman"/>
              </a:rPr>
              <a:t>on </a:t>
            </a:r>
            <a:r>
              <a:rPr sz="2800" spc="-5" dirty="0">
                <a:latin typeface="Times New Roman"/>
                <a:cs typeface="Times New Roman"/>
              </a:rPr>
              <a:t>ASCII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values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8022" y="269189"/>
            <a:ext cx="4468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08960" algn="l"/>
              </a:tabLst>
            </a:pPr>
            <a:r>
              <a:rPr sz="3600" spc="75" dirty="0"/>
              <a:t>What</a:t>
            </a:r>
            <a:r>
              <a:rPr sz="3600" spc="-185" dirty="0"/>
              <a:t> </a:t>
            </a:r>
            <a:r>
              <a:rPr sz="3600" spc="105" dirty="0"/>
              <a:t>is</a:t>
            </a:r>
            <a:r>
              <a:rPr sz="3600" spc="-185" dirty="0"/>
              <a:t> </a:t>
            </a:r>
            <a:r>
              <a:rPr sz="3600" spc="370" dirty="0"/>
              <a:t>A</a:t>
            </a:r>
            <a:r>
              <a:rPr sz="3600" spc="250" dirty="0"/>
              <a:t>SCII</a:t>
            </a:r>
            <a:r>
              <a:rPr sz="3600" dirty="0"/>
              <a:t>	</a:t>
            </a:r>
            <a:r>
              <a:rPr sz="3600" spc="120" dirty="0"/>
              <a:t>v</a:t>
            </a:r>
            <a:r>
              <a:rPr sz="3600" spc="70" dirty="0"/>
              <a:t>alues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0" y="406654"/>
            <a:ext cx="9144000" cy="6390640"/>
            <a:chOff x="0" y="406654"/>
            <a:chExt cx="9144000" cy="6390640"/>
          </a:xfrm>
        </p:grpSpPr>
        <p:sp>
          <p:nvSpPr>
            <p:cNvPr id="4" name="object 4"/>
            <p:cNvSpPr/>
            <p:nvPr/>
          </p:nvSpPr>
          <p:spPr>
            <a:xfrm>
              <a:off x="5577840" y="406654"/>
              <a:ext cx="3566160" cy="63903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43000"/>
              <a:ext cx="5588000" cy="41910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077" y="511886"/>
            <a:ext cx="82327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55" dirty="0"/>
              <a:t>Example</a:t>
            </a:r>
            <a:r>
              <a:rPr sz="4000" spc="-220" dirty="0"/>
              <a:t> </a:t>
            </a:r>
            <a:r>
              <a:rPr sz="4000" spc="5" dirty="0"/>
              <a:t>for</a:t>
            </a:r>
            <a:r>
              <a:rPr sz="4000" spc="-229" dirty="0"/>
              <a:t> </a:t>
            </a:r>
            <a:r>
              <a:rPr sz="4000" spc="30" dirty="0"/>
              <a:t>Inbuilt</a:t>
            </a:r>
            <a:r>
              <a:rPr sz="4000" spc="-215" dirty="0"/>
              <a:t> </a:t>
            </a:r>
            <a:r>
              <a:rPr sz="4000" spc="105" dirty="0"/>
              <a:t>string</a:t>
            </a:r>
            <a:r>
              <a:rPr sz="4000" spc="-215" dirty="0"/>
              <a:t> </a:t>
            </a:r>
            <a:r>
              <a:rPr sz="4000" spc="5" dirty="0"/>
              <a:t>functions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1535391"/>
            <a:ext cx="8883650" cy="3525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42104">
              <a:lnSpc>
                <a:spcPct val="12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name=input("Enter </a:t>
            </a:r>
            <a:r>
              <a:rPr sz="2800" spc="-70" dirty="0">
                <a:latin typeface="Times New Roman"/>
                <a:cs typeface="Times New Roman"/>
              </a:rPr>
              <a:t>Your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name:")  </a:t>
            </a:r>
            <a:r>
              <a:rPr sz="2800" spc="-15" dirty="0">
                <a:latin typeface="Times New Roman"/>
                <a:cs typeface="Times New Roman"/>
              </a:rPr>
              <a:t>print("Welcome",name)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 marL="12700" marR="1344295">
              <a:lnSpc>
                <a:spcPct val="110000"/>
              </a:lnSpc>
            </a:pPr>
            <a:r>
              <a:rPr sz="2800" spc="-5" dirty="0">
                <a:latin typeface="Times New Roman"/>
                <a:cs typeface="Times New Roman"/>
              </a:rPr>
              <a:t>print("Length of </a:t>
            </a:r>
            <a:r>
              <a:rPr sz="2800" dirty="0">
                <a:latin typeface="Times New Roman"/>
                <a:cs typeface="Times New Roman"/>
              </a:rPr>
              <a:t>your </a:t>
            </a:r>
            <a:r>
              <a:rPr sz="2800" spc="-5" dirty="0">
                <a:latin typeface="Times New Roman"/>
                <a:cs typeface="Times New Roman"/>
              </a:rPr>
              <a:t>name:",len(name))  print("Maximum value of chararacter in your name",  max(name))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imes New Roman"/>
                <a:cs typeface="Times New Roman"/>
              </a:rPr>
              <a:t>print("Minimum value of character in </a:t>
            </a:r>
            <a:r>
              <a:rPr sz="2800" dirty="0">
                <a:latin typeface="Times New Roman"/>
                <a:cs typeface="Times New Roman"/>
              </a:rPr>
              <a:t>your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name",min(name))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7005" y="478358"/>
            <a:ext cx="2192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OUTP</a:t>
            </a:r>
            <a:r>
              <a:rPr spc="160" dirty="0"/>
              <a:t>U</a:t>
            </a:r>
            <a:r>
              <a:rPr spc="-30" dirty="0"/>
              <a:t>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767016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9418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Enter </a:t>
            </a:r>
            <a:r>
              <a:rPr sz="3200" spc="-80" dirty="0">
                <a:latin typeface="Times New Roman"/>
                <a:cs typeface="Times New Roman"/>
              </a:rPr>
              <a:t>Your</a:t>
            </a:r>
            <a:r>
              <a:rPr sz="3200" spc="-1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name:PRABHAKARAN  </a:t>
            </a:r>
            <a:r>
              <a:rPr sz="3200" spc="-35" dirty="0">
                <a:latin typeface="Times New Roman"/>
                <a:cs typeface="Times New Roman"/>
              </a:rPr>
              <a:t>Welcome </a:t>
            </a:r>
            <a:r>
              <a:rPr sz="3200" dirty="0">
                <a:latin typeface="Times New Roman"/>
                <a:cs typeface="Times New Roman"/>
              </a:rPr>
              <a:t>PRABHAKARAN  Length of your name: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60" dirty="0">
                <a:latin typeface="Times New Roman"/>
                <a:cs typeface="Times New Roman"/>
              </a:rPr>
              <a:t>11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3200" dirty="0">
                <a:latin typeface="Times New Roman"/>
                <a:cs typeface="Times New Roman"/>
              </a:rPr>
              <a:t>Maximum value of chararacter in your name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  Minimum value of character in your name</a:t>
            </a:r>
            <a:r>
              <a:rPr sz="3200" spc="-3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4025" y="466166"/>
            <a:ext cx="5702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/>
              <a:t>Strings</a:t>
            </a:r>
            <a:r>
              <a:rPr spc="-325" dirty="0"/>
              <a:t> </a:t>
            </a:r>
            <a:r>
              <a:rPr spc="70" dirty="0"/>
              <a:t>Concatenation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7701915" cy="4123054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+ operator </a:t>
            </a:r>
            <a:r>
              <a:rPr sz="3200" dirty="0">
                <a:latin typeface="Times New Roman"/>
                <a:cs typeface="Times New Roman"/>
              </a:rPr>
              <a:t>used for string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concatenation.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b="1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a=“Hai”</a:t>
            </a:r>
            <a:endParaRPr sz="3200">
              <a:latin typeface="Times New Roman"/>
              <a:cs typeface="Times New Roman"/>
            </a:endParaRPr>
          </a:p>
          <a:p>
            <a:pPr marL="12700" marR="4876800">
              <a:lnSpc>
                <a:spcPct val="120000"/>
              </a:lnSpc>
            </a:pPr>
            <a:r>
              <a:rPr sz="3200" dirty="0">
                <a:latin typeface="Times New Roman"/>
                <a:cs typeface="Times New Roman"/>
              </a:rPr>
              <a:t>b=“how are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you”  </a:t>
            </a:r>
            <a:r>
              <a:rPr sz="3200" spc="5" dirty="0">
                <a:latin typeface="Times New Roman"/>
                <a:cs typeface="Times New Roman"/>
              </a:rPr>
              <a:t>c=a+b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Times New Roman"/>
                <a:cs typeface="Times New Roman"/>
              </a:rPr>
              <a:t>print(c)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4400" y="2667000"/>
            <a:ext cx="3429000" cy="20709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0" y="4851399"/>
            <a:ext cx="3896867" cy="1996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62620" y="76238"/>
            <a:ext cx="1381378" cy="4118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204" y="466166"/>
            <a:ext cx="5106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Operators </a:t>
            </a:r>
            <a:r>
              <a:rPr spc="140" dirty="0"/>
              <a:t>on</a:t>
            </a:r>
            <a:r>
              <a:rPr spc="-635" dirty="0"/>
              <a:t> </a:t>
            </a:r>
            <a:r>
              <a:rPr spc="114" dirty="0"/>
              <a:t>String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851775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952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The Concatenate </a:t>
            </a:r>
            <a:r>
              <a:rPr sz="3200" spc="-5" dirty="0">
                <a:latin typeface="Times New Roman"/>
                <a:cs typeface="Times New Roman"/>
              </a:rPr>
              <a:t>strings with </a:t>
            </a:r>
            <a:r>
              <a:rPr sz="3200" dirty="0">
                <a:latin typeface="Times New Roman"/>
                <a:cs typeface="Times New Roman"/>
              </a:rPr>
              <a:t>the “*” operator  can create multiple concatenated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copies.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927100" marR="5080" indent="-915035">
              <a:lnSpc>
                <a:spcPct val="110000"/>
              </a:lnSpc>
              <a:spcBef>
                <a:spcPts val="385"/>
              </a:spcBef>
            </a:pPr>
            <a:r>
              <a:rPr sz="3200" dirty="0">
                <a:latin typeface="Times New Roman"/>
                <a:cs typeface="Times New Roman"/>
              </a:rPr>
              <a:t>&gt;&gt;&gt; print("Python"*10)  </a:t>
            </a:r>
            <a:r>
              <a:rPr sz="3200" spc="-5" dirty="0">
                <a:latin typeface="Times New Roman"/>
                <a:cs typeface="Times New Roman"/>
              </a:rPr>
              <a:t>PythonPythonPythonPythonPythonPython  </a:t>
            </a:r>
            <a:r>
              <a:rPr sz="3200" dirty="0">
                <a:latin typeface="Times New Roman"/>
                <a:cs typeface="Times New Roman"/>
              </a:rPr>
              <a:t>PythonPythonPythonPython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" y="5410200"/>
            <a:ext cx="8915400" cy="5853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62620" y="76238"/>
            <a:ext cx="1381378" cy="4118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4545" y="478358"/>
            <a:ext cx="34575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String</a:t>
            </a:r>
            <a:r>
              <a:rPr spc="-275" dirty="0"/>
              <a:t> </a:t>
            </a:r>
            <a:r>
              <a:rPr spc="145" dirty="0"/>
              <a:t>Slicing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767320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Slicing operation is used to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return/select/slice  the particular substring based on user  requirements.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A segment of string is called</a:t>
            </a:r>
            <a:r>
              <a:rPr sz="3200" spc="-25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slice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Syntax</a:t>
            </a:r>
            <a:r>
              <a:rPr sz="3200" dirty="0">
                <a:latin typeface="Times New Roman"/>
                <a:cs typeface="Times New Roman"/>
              </a:rPr>
              <a:t>: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string_variablename [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start:end]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3001" y="478358"/>
            <a:ext cx="53251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String </a:t>
            </a:r>
            <a:r>
              <a:rPr spc="95" dirty="0"/>
              <a:t>Slice</a:t>
            </a:r>
            <a:r>
              <a:rPr spc="-610" dirty="0"/>
              <a:t> </a:t>
            </a:r>
            <a:r>
              <a:rPr spc="12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1681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s=“Hello”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84650" y="1593850"/>
          <a:ext cx="4953000" cy="11125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990600"/>
                <a:gridCol w="990600"/>
                <a:gridCol w="990600"/>
                <a:gridCol w="990600"/>
              </a:tblGrid>
              <a:tr h="370839">
                <a:tc>
                  <a:txBody>
                    <a:bodyPr/>
                    <a:lstStyle/>
                    <a:p>
                      <a:pPr marR="39814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R="39116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-4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-3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-2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-1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93191" y="2221992"/>
            <a:ext cx="2933700" cy="4267200"/>
            <a:chOff x="393191" y="2221992"/>
            <a:chExt cx="2933700" cy="4267200"/>
          </a:xfrm>
        </p:grpSpPr>
        <p:sp>
          <p:nvSpPr>
            <p:cNvPr id="6" name="object 6"/>
            <p:cNvSpPr/>
            <p:nvPr/>
          </p:nvSpPr>
          <p:spPr>
            <a:xfrm>
              <a:off x="393191" y="2221992"/>
              <a:ext cx="2933699" cy="4267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199" y="2286038"/>
              <a:ext cx="2750820" cy="40853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8149" y="2266988"/>
              <a:ext cx="2788920" cy="4123690"/>
            </a:xfrm>
            <a:custGeom>
              <a:avLst/>
              <a:gdLst/>
              <a:ahLst/>
              <a:cxnLst/>
              <a:rect l="l" t="t" r="r" b="b"/>
              <a:pathLst>
                <a:path w="2788920" h="4123690">
                  <a:moveTo>
                    <a:pt x="0" y="4123436"/>
                  </a:moveTo>
                  <a:lnTo>
                    <a:pt x="2788920" y="4123436"/>
                  </a:lnTo>
                  <a:lnTo>
                    <a:pt x="2788920" y="0"/>
                  </a:lnTo>
                  <a:lnTo>
                    <a:pt x="0" y="0"/>
                  </a:lnTo>
                  <a:lnTo>
                    <a:pt x="0" y="412343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4692" y="478358"/>
            <a:ext cx="56794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/>
              <a:t>Strings </a:t>
            </a:r>
            <a:r>
              <a:rPr spc="20" dirty="0"/>
              <a:t>are</a:t>
            </a:r>
            <a:r>
              <a:rPr spc="-650" dirty="0"/>
              <a:t> </a:t>
            </a:r>
            <a:r>
              <a:rPr spc="50" dirty="0"/>
              <a:t>immutable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7847330" cy="168402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Strings are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immutable character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sets</a:t>
            </a:r>
            <a:r>
              <a:rPr sz="3200" spc="5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Once a string is generated,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you cannot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change  any character within the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string</a:t>
            </a:r>
            <a:r>
              <a:rPr sz="3200" dirty="0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7452" y="3352800"/>
            <a:ext cx="8133969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62620" y="121577"/>
            <a:ext cx="1381378" cy="4118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5464" y="478358"/>
            <a:ext cx="5055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String</a:t>
            </a:r>
            <a:r>
              <a:rPr spc="-285" dirty="0"/>
              <a:t> </a:t>
            </a:r>
            <a:r>
              <a:rPr spc="195" dirty="0"/>
              <a:t>Comparision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8066405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25" dirty="0">
                <a:latin typeface="Times New Roman"/>
                <a:cs typeface="Times New Roman"/>
              </a:rPr>
              <a:t>We </a:t>
            </a:r>
            <a:r>
              <a:rPr sz="3200" dirty="0">
                <a:latin typeface="Times New Roman"/>
                <a:cs typeface="Times New Roman"/>
              </a:rPr>
              <a:t>can compare two strings using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comparision  operators such as ==, !=, &lt;,&lt;=,&gt;,</a:t>
            </a:r>
            <a:r>
              <a:rPr sz="3200" spc="-1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&gt;=</a:t>
            </a:r>
            <a:endParaRPr sz="3200">
              <a:latin typeface="Times New Roman"/>
              <a:cs typeface="Times New Roman"/>
            </a:endParaRPr>
          </a:p>
          <a:p>
            <a:pPr marL="355600" marR="132397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Python compares strings based on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their  corresponding ASCII</a:t>
            </a:r>
            <a:r>
              <a:rPr sz="3200" spc="-2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values.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797" y="478358"/>
            <a:ext cx="79152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Example </a:t>
            </a:r>
            <a:r>
              <a:rPr spc="-90" dirty="0"/>
              <a:t>of </a:t>
            </a:r>
            <a:r>
              <a:rPr spc="120" dirty="0"/>
              <a:t>string</a:t>
            </a:r>
            <a:r>
              <a:rPr spc="-850" dirty="0"/>
              <a:t> </a:t>
            </a:r>
            <a:r>
              <a:rPr spc="140" dirty="0"/>
              <a:t>comparision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5559425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60115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str1="</a:t>
            </a:r>
            <a:r>
              <a:rPr sz="3200" spc="5" dirty="0">
                <a:latin typeface="Times New Roman"/>
                <a:cs typeface="Times New Roman"/>
              </a:rPr>
              <a:t>g</a:t>
            </a:r>
            <a:r>
              <a:rPr sz="3200" dirty="0">
                <a:latin typeface="Times New Roman"/>
                <a:cs typeface="Times New Roman"/>
              </a:rPr>
              <a:t>reen"  str2="black"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3200" dirty="0">
                <a:latin typeface="Times New Roman"/>
                <a:cs typeface="Times New Roman"/>
              </a:rPr>
              <a:t>print("Is both Equal:",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str1==str2)  print("Is str1&gt; str2:", str1&gt;str2)  print("Is str1&lt; str2:",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str1&lt;str2)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7100" y="4787836"/>
            <a:ext cx="2311400" cy="1503045"/>
            <a:chOff x="6007100" y="4787836"/>
            <a:chExt cx="2311400" cy="1503045"/>
          </a:xfrm>
        </p:grpSpPr>
        <p:sp>
          <p:nvSpPr>
            <p:cNvPr id="5" name="object 5"/>
            <p:cNvSpPr/>
            <p:nvPr/>
          </p:nvSpPr>
          <p:spPr>
            <a:xfrm>
              <a:off x="6019800" y="4800536"/>
              <a:ext cx="2286000" cy="1477645"/>
            </a:xfrm>
            <a:custGeom>
              <a:avLst/>
              <a:gdLst/>
              <a:ahLst/>
              <a:cxnLst/>
              <a:rect l="l" t="t" r="r" b="b"/>
              <a:pathLst>
                <a:path w="2286000" h="1477645">
                  <a:moveTo>
                    <a:pt x="2286000" y="0"/>
                  </a:moveTo>
                  <a:lnTo>
                    <a:pt x="0" y="0"/>
                  </a:lnTo>
                  <a:lnTo>
                    <a:pt x="0" y="1477391"/>
                  </a:lnTo>
                  <a:lnTo>
                    <a:pt x="2286000" y="1477391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19800" y="4800536"/>
              <a:ext cx="2286000" cy="1477645"/>
            </a:xfrm>
            <a:custGeom>
              <a:avLst/>
              <a:gdLst/>
              <a:ahLst/>
              <a:cxnLst/>
              <a:rect l="l" t="t" r="r" b="b"/>
              <a:pathLst>
                <a:path w="2286000" h="1477645">
                  <a:moveTo>
                    <a:pt x="0" y="1477391"/>
                  </a:moveTo>
                  <a:lnTo>
                    <a:pt x="2286000" y="1477391"/>
                  </a:lnTo>
                  <a:lnTo>
                    <a:pt x="2286000" y="0"/>
                  </a:lnTo>
                  <a:lnTo>
                    <a:pt x="0" y="0"/>
                  </a:lnTo>
                  <a:lnTo>
                    <a:pt x="0" y="1477391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19800" y="4800536"/>
            <a:ext cx="2286000" cy="147764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spc="-25" dirty="0">
                <a:latin typeface="Carlito"/>
                <a:cs typeface="Carlito"/>
              </a:rPr>
              <a:t>OUTPUT: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rlito"/>
              <a:cs typeface="Carlito"/>
            </a:endParaRPr>
          </a:p>
          <a:p>
            <a:pPr marL="92075" marR="409575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Is </a:t>
            </a:r>
            <a:r>
              <a:rPr sz="1800" spc="-5" dirty="0">
                <a:latin typeface="Carlito"/>
                <a:cs typeface="Carlito"/>
              </a:rPr>
              <a:t>both </a:t>
            </a:r>
            <a:r>
              <a:rPr sz="1800" spc="-10" dirty="0">
                <a:latin typeface="Carlito"/>
                <a:cs typeface="Carlito"/>
              </a:rPr>
              <a:t>Equal: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False  </a:t>
            </a:r>
            <a:r>
              <a:rPr sz="1800" dirty="0">
                <a:latin typeface="Carlito"/>
                <a:cs typeface="Carlito"/>
              </a:rPr>
              <a:t>Is </a:t>
            </a:r>
            <a:r>
              <a:rPr sz="1800" spc="-10" dirty="0">
                <a:latin typeface="Carlito"/>
                <a:cs typeface="Carlito"/>
              </a:rPr>
              <a:t>str1&gt; str2: </a:t>
            </a:r>
            <a:r>
              <a:rPr sz="1800" spc="-30" dirty="0">
                <a:latin typeface="Carlito"/>
                <a:cs typeface="Carlito"/>
              </a:rPr>
              <a:t>True  </a:t>
            </a:r>
            <a:r>
              <a:rPr sz="1800" dirty="0">
                <a:latin typeface="Carlito"/>
                <a:cs typeface="Carlito"/>
              </a:rPr>
              <a:t>Is </a:t>
            </a:r>
            <a:r>
              <a:rPr sz="1800" spc="-10" dirty="0">
                <a:latin typeface="Carlito"/>
                <a:cs typeface="Carlito"/>
              </a:rPr>
              <a:t>str1&lt; str2:</a:t>
            </a:r>
            <a:r>
              <a:rPr sz="1800" spc="-15" dirty="0">
                <a:latin typeface="Carlito"/>
                <a:cs typeface="Carlito"/>
              </a:rPr>
              <a:t> False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3698" y="478358"/>
            <a:ext cx="67570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String </a:t>
            </a:r>
            <a:r>
              <a:rPr dirty="0"/>
              <a:t>formatting</a:t>
            </a:r>
            <a:r>
              <a:rPr spc="-595" dirty="0"/>
              <a:t> </a:t>
            </a:r>
            <a:r>
              <a:rPr spc="60" dirty="0"/>
              <a:t>operator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9833"/>
            <a:ext cx="7287259" cy="431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197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/>
                <a:cs typeface="Times New Roman"/>
              </a:rPr>
              <a:t>String formatting operator 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% </a:t>
            </a:r>
            <a:r>
              <a:rPr sz="3200" dirty="0">
                <a:latin typeface="Times New Roman"/>
                <a:cs typeface="Times New Roman"/>
              </a:rPr>
              <a:t>is unique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  strings.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  <a:p>
            <a:pPr marL="12700" marR="329565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print(</a:t>
            </a:r>
            <a:r>
              <a:rPr sz="3200" b="1" dirty="0">
                <a:solidFill>
                  <a:srgbClr val="00AF50"/>
                </a:solidFill>
                <a:latin typeface="Times New Roman"/>
                <a:cs typeface="Times New Roman"/>
              </a:rPr>
              <a:t>"My name is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%s </a:t>
            </a:r>
            <a:r>
              <a:rPr sz="3200" b="1" dirty="0">
                <a:solidFill>
                  <a:srgbClr val="00AF50"/>
                </a:solidFill>
                <a:latin typeface="Times New Roman"/>
                <a:cs typeface="Times New Roman"/>
              </a:rPr>
              <a:t>and i </a:t>
            </a:r>
            <a:r>
              <a:rPr sz="3200" b="1" spc="-10" dirty="0">
                <a:solidFill>
                  <a:srgbClr val="00AF50"/>
                </a:solidFill>
                <a:latin typeface="Times New Roman"/>
                <a:cs typeface="Times New Roman"/>
              </a:rPr>
              <a:t>secured</a:t>
            </a:r>
            <a:r>
              <a:rPr sz="3200" b="1" spc="-9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%d  </a:t>
            </a:r>
            <a:r>
              <a:rPr sz="3200" b="1" dirty="0">
                <a:solidFill>
                  <a:srgbClr val="00AF50"/>
                </a:solidFill>
                <a:latin typeface="Times New Roman"/>
                <a:cs typeface="Times New Roman"/>
              </a:rPr>
              <a:t>marks in </a:t>
            </a:r>
            <a:r>
              <a:rPr sz="3200" b="1" spc="-5" dirty="0">
                <a:solidFill>
                  <a:srgbClr val="00AF50"/>
                </a:solidFill>
                <a:latin typeface="Times New Roman"/>
                <a:cs typeface="Times New Roman"/>
              </a:rPr>
              <a:t>python”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%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("Arbaz",92))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Times New Roman"/>
                <a:cs typeface="Times New Roman"/>
              </a:rPr>
              <a:t>Output: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My name is Arbaz and i secured 92 marks</a:t>
            </a:r>
            <a:r>
              <a:rPr sz="3200" spc="-2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  python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6414" y="478358"/>
            <a:ext cx="74980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String </a:t>
            </a:r>
            <a:r>
              <a:rPr spc="10" dirty="0"/>
              <a:t>functions </a:t>
            </a:r>
            <a:r>
              <a:rPr spc="150" dirty="0"/>
              <a:t>and</a:t>
            </a:r>
            <a:r>
              <a:rPr spc="-830" dirty="0"/>
              <a:t> </a:t>
            </a:r>
            <a:r>
              <a:rPr spc="90" dirty="0"/>
              <a:t>methods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593850"/>
          <a:ext cx="8534398" cy="472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6880"/>
                <a:gridCol w="1706880"/>
                <a:gridCol w="1706880"/>
                <a:gridCol w="1706879"/>
                <a:gridCol w="1706879"/>
              </a:tblGrid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len()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min()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max()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isalnum()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isalpha()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isdigit()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islower()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isuppe()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isspace()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isidentifier()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endswith()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startswith()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find()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count()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capitalize()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title()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lower()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upper()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swapcase()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replace()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center()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ljust()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rjust()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center()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isstrip()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rstrip()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strip()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506" y="478358"/>
            <a:ext cx="75520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i) </a:t>
            </a:r>
            <a:r>
              <a:rPr spc="160" dirty="0"/>
              <a:t>Converting </a:t>
            </a:r>
            <a:r>
              <a:rPr spc="120" dirty="0"/>
              <a:t>string</a:t>
            </a:r>
            <a:r>
              <a:rPr spc="-910" dirty="0"/>
              <a:t> </a:t>
            </a:r>
            <a:r>
              <a:rPr spc="10" dirty="0"/>
              <a:t>functions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390650"/>
          <a:ext cx="7620000" cy="47891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/>
                <a:gridCol w="4800600"/>
              </a:tblGrid>
              <a:tr h="701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captitalize()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Only First character</a:t>
                      </a:r>
                      <a:r>
                        <a:rPr sz="20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capitalized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96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lower()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All character converted to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lowercase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upper()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All character converted to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uppercase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7010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title()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First character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capitalized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in each</a:t>
                      </a:r>
                      <a:r>
                        <a:rPr sz="20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word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2933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swapcase()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083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Lower case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letters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 converted to  Uppercase and Uppercase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letters</a:t>
                      </a:r>
                      <a:r>
                        <a:rPr sz="20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are  converted to</a:t>
                      </a:r>
                      <a:r>
                        <a:rPr sz="20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Lowercase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69634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replace(old,new)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Replaces old string with nre</a:t>
                      </a:r>
                      <a:r>
                        <a:rPr sz="20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01724"/>
            <a:ext cx="5229225" cy="30988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0" dirty="0">
                <a:latin typeface="Times New Roman"/>
                <a:cs typeface="Times New Roman"/>
              </a:rPr>
              <a:t>Program: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400" dirty="0">
                <a:latin typeface="Times New Roman"/>
                <a:cs typeface="Times New Roman"/>
              </a:rPr>
              <a:t>str=input("Enter any string:")  print("String </a:t>
            </a:r>
            <a:r>
              <a:rPr sz="2400" spc="-5" dirty="0">
                <a:latin typeface="Times New Roman"/>
                <a:cs typeface="Times New Roman"/>
              </a:rPr>
              <a:t>Capitalized:",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str.capitalize()</a:t>
            </a:r>
            <a:r>
              <a:rPr sz="2400" spc="-10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lower case:",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str.lower()</a:t>
            </a:r>
            <a:r>
              <a:rPr sz="2400" spc="-10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upper case:",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str.upper()</a:t>
            </a:r>
            <a:r>
              <a:rPr sz="2400" spc="-10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title case:", 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str.title()</a:t>
            </a:r>
            <a:r>
              <a:rPr sz="2400" spc="-15" dirty="0">
                <a:latin typeface="Times New Roman"/>
                <a:cs typeface="Times New Roman"/>
              </a:rPr>
              <a:t>)  </a:t>
            </a:r>
            <a:r>
              <a:rPr sz="2400" dirty="0">
                <a:latin typeface="Times New Roman"/>
                <a:cs typeface="Times New Roman"/>
              </a:rPr>
              <a:t>print("String </a:t>
            </a:r>
            <a:r>
              <a:rPr sz="2400" spc="-5" dirty="0">
                <a:latin typeface="Times New Roman"/>
                <a:cs typeface="Times New Roman"/>
              </a:rPr>
              <a:t>swap </a:t>
            </a:r>
            <a:r>
              <a:rPr sz="2400" dirty="0">
                <a:latin typeface="Times New Roman"/>
                <a:cs typeface="Times New Roman"/>
              </a:rPr>
              <a:t>case:",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str.swapcase()</a:t>
            </a:r>
            <a:r>
              <a:rPr sz="2400" spc="-1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67202" y="6477914"/>
            <a:ext cx="53282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  <a:tabLst>
                <a:tab pos="5172075" algn="l"/>
              </a:tabLst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oblem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S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olving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d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10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yt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h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on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og</a:t>
            </a: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ammi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g	18</a:t>
            </a:r>
            <a:endParaRPr sz="12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35300" y="3982961"/>
            <a:ext cx="6090920" cy="2611120"/>
            <a:chOff x="3035300" y="3982961"/>
            <a:chExt cx="6090920" cy="2611120"/>
          </a:xfrm>
        </p:grpSpPr>
        <p:sp>
          <p:nvSpPr>
            <p:cNvPr id="5" name="object 5"/>
            <p:cNvSpPr/>
            <p:nvPr/>
          </p:nvSpPr>
          <p:spPr>
            <a:xfrm>
              <a:off x="3048000" y="3995661"/>
              <a:ext cx="6065520" cy="2585720"/>
            </a:xfrm>
            <a:custGeom>
              <a:avLst/>
              <a:gdLst/>
              <a:ahLst/>
              <a:cxnLst/>
              <a:rect l="l" t="t" r="r" b="b"/>
              <a:pathLst>
                <a:path w="6065520" h="2585720">
                  <a:moveTo>
                    <a:pt x="6065520" y="0"/>
                  </a:moveTo>
                  <a:lnTo>
                    <a:pt x="0" y="0"/>
                  </a:lnTo>
                  <a:lnTo>
                    <a:pt x="0" y="2585338"/>
                  </a:lnTo>
                  <a:lnTo>
                    <a:pt x="6065520" y="2585338"/>
                  </a:lnTo>
                  <a:lnTo>
                    <a:pt x="6065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48000" y="3995661"/>
              <a:ext cx="6065520" cy="2585720"/>
            </a:xfrm>
            <a:custGeom>
              <a:avLst/>
              <a:gdLst/>
              <a:ahLst/>
              <a:cxnLst/>
              <a:rect l="l" t="t" r="r" b="b"/>
              <a:pathLst>
                <a:path w="6065520" h="2585720">
                  <a:moveTo>
                    <a:pt x="0" y="2585338"/>
                  </a:moveTo>
                  <a:lnTo>
                    <a:pt x="6065520" y="2585338"/>
                  </a:lnTo>
                  <a:lnTo>
                    <a:pt x="6065520" y="0"/>
                  </a:lnTo>
                  <a:lnTo>
                    <a:pt x="0" y="0"/>
                  </a:lnTo>
                  <a:lnTo>
                    <a:pt x="0" y="2585338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739" y="3247720"/>
            <a:ext cx="9032240" cy="3261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2555" algn="l"/>
              </a:tabLst>
            </a:pPr>
            <a:r>
              <a:rPr sz="2400" dirty="0">
                <a:latin typeface="Times New Roman"/>
                <a:cs typeface="Times New Roman"/>
              </a:rPr>
              <a:t>print("String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replace	</a:t>
            </a:r>
            <a:r>
              <a:rPr sz="2400" spc="-5" dirty="0">
                <a:latin typeface="Times New Roman"/>
                <a:cs typeface="Times New Roman"/>
              </a:rPr>
              <a:t>case:",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str.replace("python","python</a:t>
            </a:r>
            <a:r>
              <a:rPr sz="24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programming")</a:t>
            </a:r>
            <a:r>
              <a:rPr sz="2400" spc="-5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Times New Roman"/>
              <a:cs typeface="Times New Roman"/>
            </a:endParaRPr>
          </a:p>
          <a:p>
            <a:pPr marL="3061335">
              <a:lnSpc>
                <a:spcPct val="100000"/>
              </a:lnSpc>
            </a:pPr>
            <a:r>
              <a:rPr sz="1800" b="1" spc="-5" dirty="0">
                <a:latin typeface="Carlito"/>
                <a:cs typeface="Carlito"/>
              </a:rPr>
              <a:t>Output: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rlito"/>
              <a:cs typeface="Carlito"/>
            </a:endParaRPr>
          </a:p>
          <a:p>
            <a:pPr marL="3061335" marR="2116455">
              <a:lnSpc>
                <a:spcPct val="100000"/>
              </a:lnSpc>
            </a:pPr>
            <a:r>
              <a:rPr sz="1800" spc="-10" dirty="0">
                <a:latin typeface="Carlito"/>
                <a:cs typeface="Carlito"/>
              </a:rPr>
              <a:t>Enter </a:t>
            </a:r>
            <a:r>
              <a:rPr sz="1800" spc="-15" dirty="0">
                <a:latin typeface="Carlito"/>
                <a:cs typeface="Carlito"/>
              </a:rPr>
              <a:t>any </a:t>
            </a:r>
            <a:r>
              <a:rPr sz="1800" spc="-10" dirty="0">
                <a:latin typeface="Carlito"/>
                <a:cs typeface="Carlito"/>
              </a:rPr>
              <a:t>string: </a:t>
            </a:r>
            <a:r>
              <a:rPr sz="1800" spc="-15" dirty="0">
                <a:latin typeface="Carlito"/>
                <a:cs typeface="Carlito"/>
              </a:rPr>
              <a:t>Welcome </a:t>
            </a:r>
            <a:r>
              <a:rPr sz="1800" spc="-10" dirty="0">
                <a:latin typeface="Carlito"/>
                <a:cs typeface="Carlito"/>
              </a:rPr>
              <a:t>to </a:t>
            </a:r>
            <a:r>
              <a:rPr sz="1800" dirty="0">
                <a:latin typeface="Carlito"/>
                <a:cs typeface="Carlito"/>
              </a:rPr>
              <a:t>python  </a:t>
            </a:r>
            <a:r>
              <a:rPr sz="1800" spc="-5" dirty="0">
                <a:latin typeface="Carlito"/>
                <a:cs typeface="Carlito"/>
              </a:rPr>
              <a:t>String </a:t>
            </a:r>
            <a:r>
              <a:rPr sz="1800" spc="-10" dirty="0">
                <a:latin typeface="Carlito"/>
                <a:cs typeface="Carlito"/>
              </a:rPr>
              <a:t>Capitalized: </a:t>
            </a:r>
            <a:r>
              <a:rPr sz="1800" spc="-15" dirty="0">
                <a:latin typeface="Carlito"/>
                <a:cs typeface="Carlito"/>
              </a:rPr>
              <a:t>Welcome </a:t>
            </a:r>
            <a:r>
              <a:rPr sz="1800" spc="-10" dirty="0">
                <a:latin typeface="Carlito"/>
                <a:cs typeface="Carlito"/>
              </a:rPr>
              <a:t>to </a:t>
            </a:r>
            <a:r>
              <a:rPr sz="1800" dirty="0">
                <a:latin typeface="Carlito"/>
                <a:cs typeface="Carlito"/>
              </a:rPr>
              <a:t>python  </a:t>
            </a:r>
            <a:r>
              <a:rPr sz="1800" spc="-5" dirty="0">
                <a:latin typeface="Carlito"/>
                <a:cs typeface="Carlito"/>
              </a:rPr>
              <a:t>String </a:t>
            </a:r>
            <a:r>
              <a:rPr sz="1800" spc="-10" dirty="0">
                <a:latin typeface="Carlito"/>
                <a:cs typeface="Carlito"/>
              </a:rPr>
              <a:t>lower </a:t>
            </a:r>
            <a:r>
              <a:rPr sz="1800" spc="-5" dirty="0">
                <a:latin typeface="Carlito"/>
                <a:cs typeface="Carlito"/>
              </a:rPr>
              <a:t>case: </a:t>
            </a:r>
            <a:r>
              <a:rPr sz="1800" spc="-10" dirty="0">
                <a:latin typeface="Carlito"/>
                <a:cs typeface="Carlito"/>
              </a:rPr>
              <a:t>welcome to </a:t>
            </a:r>
            <a:r>
              <a:rPr sz="1800" dirty="0">
                <a:latin typeface="Carlito"/>
                <a:cs typeface="Carlito"/>
              </a:rPr>
              <a:t>python  </a:t>
            </a:r>
            <a:r>
              <a:rPr sz="1800" spc="-5" dirty="0">
                <a:latin typeface="Carlito"/>
                <a:cs typeface="Carlito"/>
              </a:rPr>
              <a:t>String upper case: </a:t>
            </a:r>
            <a:r>
              <a:rPr sz="1800" spc="-10" dirty="0">
                <a:latin typeface="Carlito"/>
                <a:cs typeface="Carlito"/>
              </a:rPr>
              <a:t>WELCOME </a:t>
            </a:r>
            <a:r>
              <a:rPr sz="1800" spc="-25" dirty="0">
                <a:latin typeface="Carlito"/>
                <a:cs typeface="Carlito"/>
              </a:rPr>
              <a:t>TO </a:t>
            </a:r>
            <a:r>
              <a:rPr sz="1800" spc="-10" dirty="0">
                <a:latin typeface="Carlito"/>
                <a:cs typeface="Carlito"/>
              </a:rPr>
              <a:t>PYTHON  </a:t>
            </a:r>
            <a:r>
              <a:rPr sz="1800" spc="-5" dirty="0">
                <a:latin typeface="Carlito"/>
                <a:cs typeface="Carlito"/>
              </a:rPr>
              <a:t>String </a:t>
            </a:r>
            <a:r>
              <a:rPr sz="1800" spc="-10" dirty="0">
                <a:latin typeface="Carlito"/>
                <a:cs typeface="Carlito"/>
              </a:rPr>
              <a:t>title </a:t>
            </a:r>
            <a:r>
              <a:rPr sz="1800" spc="-5" dirty="0">
                <a:latin typeface="Carlito"/>
                <a:cs typeface="Carlito"/>
              </a:rPr>
              <a:t>case: </a:t>
            </a:r>
            <a:r>
              <a:rPr sz="1800" spc="-15" dirty="0">
                <a:latin typeface="Carlito"/>
                <a:cs typeface="Carlito"/>
              </a:rPr>
              <a:t>Welcome </a:t>
            </a:r>
            <a:r>
              <a:rPr sz="1800" spc="-80" dirty="0">
                <a:latin typeface="Carlito"/>
                <a:cs typeface="Carlito"/>
              </a:rPr>
              <a:t>To </a:t>
            </a:r>
            <a:r>
              <a:rPr sz="1800" dirty="0">
                <a:latin typeface="Carlito"/>
                <a:cs typeface="Carlito"/>
              </a:rPr>
              <a:t>Python  </a:t>
            </a:r>
            <a:r>
              <a:rPr sz="1800" spc="-5" dirty="0">
                <a:latin typeface="Carlito"/>
                <a:cs typeface="Carlito"/>
              </a:rPr>
              <a:t>String </a:t>
            </a:r>
            <a:r>
              <a:rPr sz="1800" spc="-10" dirty="0">
                <a:latin typeface="Carlito"/>
                <a:cs typeface="Carlito"/>
              </a:rPr>
              <a:t>swap </a:t>
            </a:r>
            <a:r>
              <a:rPr sz="1800" spc="-5" dirty="0">
                <a:latin typeface="Carlito"/>
                <a:cs typeface="Carlito"/>
              </a:rPr>
              <a:t>case: </a:t>
            </a:r>
            <a:r>
              <a:rPr sz="1800" spc="-10" dirty="0">
                <a:latin typeface="Carlito"/>
                <a:cs typeface="Carlito"/>
              </a:rPr>
              <a:t>wELCOME </a:t>
            </a:r>
            <a:r>
              <a:rPr sz="1800" spc="-25" dirty="0">
                <a:latin typeface="Carlito"/>
                <a:cs typeface="Carlito"/>
              </a:rPr>
              <a:t>TO</a:t>
            </a:r>
            <a:r>
              <a:rPr sz="1800" spc="2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PYTHON</a:t>
            </a:r>
            <a:endParaRPr sz="1800">
              <a:latin typeface="Carlito"/>
              <a:cs typeface="Carlito"/>
            </a:endParaRPr>
          </a:p>
          <a:p>
            <a:pPr marL="306133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rlito"/>
                <a:cs typeface="Carlito"/>
              </a:rPr>
              <a:t>String replace case: </a:t>
            </a:r>
            <a:r>
              <a:rPr sz="1800" spc="-15" dirty="0">
                <a:latin typeface="Carlito"/>
                <a:cs typeface="Carlito"/>
              </a:rPr>
              <a:t>Welcome </a:t>
            </a:r>
            <a:r>
              <a:rPr sz="1800" spc="-10" dirty="0">
                <a:latin typeface="Carlito"/>
                <a:cs typeface="Carlito"/>
              </a:rPr>
              <a:t>to </a:t>
            </a:r>
            <a:r>
              <a:rPr sz="1800" dirty="0">
                <a:latin typeface="Carlito"/>
                <a:cs typeface="Carlito"/>
              </a:rPr>
              <a:t>python</a:t>
            </a:r>
            <a:r>
              <a:rPr sz="1800" spc="7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programming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082" y="478358"/>
            <a:ext cx="74720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ii)Formatting </a:t>
            </a:r>
            <a:r>
              <a:rPr spc="114" dirty="0"/>
              <a:t>String</a:t>
            </a:r>
            <a:r>
              <a:rPr spc="-500" dirty="0"/>
              <a:t> </a:t>
            </a:r>
            <a:r>
              <a:rPr spc="10" dirty="0"/>
              <a:t>functions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850" y="1390650"/>
          <a:ext cx="9067800" cy="36367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  <a:gridCol w="693420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center(width)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Returns a string centered in a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of given</a:t>
                      </a:r>
                      <a:r>
                        <a:rPr sz="24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width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622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ljust(width)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Returns a string left justified in a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of given</a:t>
                      </a:r>
                      <a:r>
                        <a:rPr sz="2400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width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0622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rjust(width)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Returns a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string right justified in a field of given</a:t>
                      </a:r>
                      <a:r>
                        <a:rPr sz="2400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width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0551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format(items)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Formats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string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455714"/>
            <a:ext cx="6482080" cy="295275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spc="-5" dirty="0">
                <a:latin typeface="Times New Roman"/>
                <a:cs typeface="Times New Roman"/>
              </a:rPr>
              <a:t>Program: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3200" dirty="0">
                <a:latin typeface="Times New Roman"/>
                <a:cs typeface="Times New Roman"/>
              </a:rPr>
              <a:t>a=input(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"Enter any string:"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"Center alignment:"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a.center(20)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"Left alignment:"</a:t>
            </a:r>
            <a:r>
              <a:rPr sz="3200" dirty="0">
                <a:latin typeface="Times New Roman"/>
                <a:cs typeface="Times New Roman"/>
              </a:rPr>
              <a:t>,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a.ljust(20)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"Right alignment:"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a.rjust(20)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2791" y="4507991"/>
            <a:ext cx="7713345" cy="1626235"/>
            <a:chOff x="1002791" y="4507991"/>
            <a:chExt cx="7713345" cy="1626235"/>
          </a:xfrm>
        </p:grpSpPr>
        <p:sp>
          <p:nvSpPr>
            <p:cNvPr id="4" name="object 4"/>
            <p:cNvSpPr/>
            <p:nvPr/>
          </p:nvSpPr>
          <p:spPr>
            <a:xfrm>
              <a:off x="1002791" y="4507991"/>
              <a:ext cx="7712964" cy="16261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66799" y="4571999"/>
              <a:ext cx="7530719" cy="14439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47749" y="4552949"/>
              <a:ext cx="7569200" cy="1482090"/>
            </a:xfrm>
            <a:custGeom>
              <a:avLst/>
              <a:gdLst/>
              <a:ahLst/>
              <a:cxnLst/>
              <a:rect l="l" t="t" r="r" b="b"/>
              <a:pathLst>
                <a:path w="7569200" h="1482089">
                  <a:moveTo>
                    <a:pt x="0" y="1482090"/>
                  </a:moveTo>
                  <a:lnTo>
                    <a:pt x="7568819" y="1482090"/>
                  </a:lnTo>
                  <a:lnTo>
                    <a:pt x="7568819" y="0"/>
                  </a:lnTo>
                  <a:lnTo>
                    <a:pt x="0" y="0"/>
                  </a:lnTo>
                  <a:lnTo>
                    <a:pt x="0" y="148209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84575" y="4133469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rlito"/>
                <a:cs typeface="Carlito"/>
              </a:rPr>
              <a:t>Output: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013" y="207086"/>
            <a:ext cx="58915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1485" marR="5080" indent="-1708785">
              <a:lnSpc>
                <a:spcPct val="100000"/>
              </a:lnSpc>
              <a:spcBef>
                <a:spcPts val="95"/>
              </a:spcBef>
            </a:pPr>
            <a:r>
              <a:rPr sz="4000" spc="25" dirty="0"/>
              <a:t>iii) </a:t>
            </a:r>
            <a:r>
              <a:rPr sz="4000" spc="145" dirty="0"/>
              <a:t>Removing</a:t>
            </a:r>
            <a:r>
              <a:rPr sz="4000" spc="-540" dirty="0"/>
              <a:t> </a:t>
            </a:r>
            <a:r>
              <a:rPr sz="4000" spc="55" dirty="0"/>
              <a:t>whitespace  </a:t>
            </a:r>
            <a:r>
              <a:rPr sz="4000" spc="40" dirty="0"/>
              <a:t>characters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4800600" y="1752600"/>
            <a:ext cx="4343399" cy="3657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850" y="1390650"/>
          <a:ext cx="4572000" cy="46634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5690"/>
                <a:gridCol w="3496310"/>
              </a:tblGrid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lstrip()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4899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Returns a string</a:t>
                      </a:r>
                      <a:r>
                        <a:rPr sz="24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with  leading whitespace  characters</a:t>
                      </a:r>
                      <a:r>
                        <a:rPr sz="2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removed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5544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rstrip()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48994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Returns a string</a:t>
                      </a:r>
                      <a:r>
                        <a:rPr sz="2400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with  trailing whitespace  characters</a:t>
                      </a:r>
                      <a:r>
                        <a:rPr sz="2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removed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9202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strip()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321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Returns a string with  leading and trailing  whitespace</a:t>
                      </a:r>
                      <a:r>
                        <a:rPr sz="24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characters  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removed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461594"/>
            <a:ext cx="242697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rlito"/>
                <a:cs typeface="Carlito"/>
              </a:rPr>
              <a:t>P</a:t>
            </a:r>
            <a:r>
              <a:rPr spc="-70" dirty="0">
                <a:latin typeface="Carlito"/>
                <a:cs typeface="Carlito"/>
              </a:rPr>
              <a:t>r</a:t>
            </a:r>
            <a:r>
              <a:rPr spc="-5" dirty="0">
                <a:latin typeface="Carlito"/>
                <a:cs typeface="Carlito"/>
              </a:rPr>
              <a:t>og</a:t>
            </a:r>
            <a:r>
              <a:rPr spc="-80" dirty="0">
                <a:latin typeface="Carlito"/>
                <a:cs typeface="Carlito"/>
              </a:rPr>
              <a:t>r</a:t>
            </a:r>
            <a:r>
              <a:rPr dirty="0">
                <a:latin typeface="Carlito"/>
                <a:cs typeface="Carlito"/>
              </a:rPr>
              <a:t>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895"/>
            <a:ext cx="5902960" cy="236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a=input(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"Enter any string:"</a:t>
            </a:r>
            <a:r>
              <a:rPr sz="3200" dirty="0">
                <a:latin typeface="Times New Roman"/>
                <a:cs typeface="Times New Roman"/>
              </a:rPr>
              <a:t>)  print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("Left space trim:"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a.lstrip()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"Right space trim:"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a.rstrip()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"Left and right</a:t>
            </a:r>
            <a:r>
              <a:rPr sz="3200" spc="-9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trim:"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a.strip()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40992" y="4584191"/>
            <a:ext cx="6978650" cy="1793875"/>
            <a:chOff x="1840992" y="4584191"/>
            <a:chExt cx="6978650" cy="1793875"/>
          </a:xfrm>
        </p:grpSpPr>
        <p:sp>
          <p:nvSpPr>
            <p:cNvPr id="5" name="object 5"/>
            <p:cNvSpPr/>
            <p:nvPr/>
          </p:nvSpPr>
          <p:spPr>
            <a:xfrm>
              <a:off x="1840992" y="4584191"/>
              <a:ext cx="6978396" cy="17937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05000" y="4648199"/>
              <a:ext cx="6796024" cy="16116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85950" y="4629149"/>
              <a:ext cx="6834505" cy="1649730"/>
            </a:xfrm>
            <a:custGeom>
              <a:avLst/>
              <a:gdLst/>
              <a:ahLst/>
              <a:cxnLst/>
              <a:rect l="l" t="t" r="r" b="b"/>
              <a:pathLst>
                <a:path w="6834505" h="1649729">
                  <a:moveTo>
                    <a:pt x="0" y="1649730"/>
                  </a:moveTo>
                  <a:lnTo>
                    <a:pt x="6834124" y="1649730"/>
                  </a:lnTo>
                  <a:lnTo>
                    <a:pt x="6834124" y="0"/>
                  </a:lnTo>
                  <a:lnTo>
                    <a:pt x="0" y="0"/>
                  </a:lnTo>
                  <a:lnTo>
                    <a:pt x="0" y="1649730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69384" y="4297807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rlito"/>
                <a:cs typeface="Carlito"/>
              </a:rPr>
              <a:t>Output: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862" y="478358"/>
            <a:ext cx="71831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70" dirty="0"/>
              <a:t>iv) </a:t>
            </a:r>
            <a:r>
              <a:rPr spc="50" dirty="0"/>
              <a:t>Testing</a:t>
            </a:r>
            <a:r>
              <a:rPr spc="-785" dirty="0"/>
              <a:t> </a:t>
            </a:r>
            <a:r>
              <a:rPr spc="75" dirty="0"/>
              <a:t>String/Character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67202" y="6477914"/>
            <a:ext cx="532828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  <a:tabLst>
                <a:tab pos="5172075" algn="l"/>
              </a:tabLst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oblem</a:t>
            </a:r>
            <a:r>
              <a:rPr sz="1200" spc="-5" dirty="0">
                <a:solidFill>
                  <a:srgbClr val="888888"/>
                </a:solidFill>
                <a:latin typeface="Carlito"/>
                <a:cs typeface="Carlito"/>
              </a:rPr>
              <a:t> S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olving</a:t>
            </a:r>
            <a:r>
              <a:rPr sz="1200" spc="-1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d</a:t>
            </a:r>
            <a:r>
              <a:rPr sz="12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spc="10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yt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h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on</a:t>
            </a:r>
            <a:r>
              <a:rPr sz="1200" spc="-3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1200" spc="-20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og</a:t>
            </a:r>
            <a:r>
              <a:rPr sz="1200" spc="-25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ammi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g	23</a:t>
            </a:r>
            <a:endParaRPr sz="12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850" y="1390650"/>
          <a:ext cx="8611235" cy="52397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6285"/>
                <a:gridCol w="6584950"/>
              </a:tblGrid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isalnum()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52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 alphanumeric and there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atleast one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isalpha()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alphabetic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isdigit()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contains only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character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74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islower()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 lowercase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letters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174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isupper()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all characters in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 uppercase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letters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74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isspace()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contains only whitespace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characters.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5044" y="186893"/>
            <a:ext cx="24513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latin typeface="Carlito"/>
                <a:cs typeface="Carlito"/>
              </a:rPr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989050"/>
            <a:ext cx="5781040" cy="3538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a=input(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"Enter any string:")  </a:t>
            </a:r>
            <a:r>
              <a:rPr sz="3200" dirty="0">
                <a:latin typeface="Times New Roman"/>
                <a:cs typeface="Times New Roman"/>
              </a:rPr>
              <a:t>pri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dirty="0">
                <a:latin typeface="Times New Roman"/>
                <a:cs typeface="Times New Roman"/>
              </a:rPr>
              <a:t>t</a:t>
            </a:r>
            <a:r>
              <a:rPr sz="3200" spc="5" dirty="0">
                <a:latin typeface="Times New Roman"/>
                <a:cs typeface="Times New Roman"/>
              </a:rPr>
              <a:t>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"Alphanumer</a:t>
            </a:r>
            <a:r>
              <a:rPr sz="3200" spc="-10" dirty="0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c:</a:t>
            </a:r>
            <a:r>
              <a:rPr sz="3200" spc="5" dirty="0">
                <a:solidFill>
                  <a:srgbClr val="00AF50"/>
                </a:solidFill>
                <a:latin typeface="Times New Roman"/>
                <a:cs typeface="Times New Roman"/>
              </a:rPr>
              <a:t>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a.isalnu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"Alphabetic:"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a.isalpha()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"Digits:"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a.isdigit()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"Lowecase:"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a.islower()</a:t>
            </a:r>
            <a:r>
              <a:rPr sz="3200" dirty="0">
                <a:latin typeface="Times New Roman"/>
                <a:cs typeface="Times New Roman"/>
              </a:rPr>
              <a:t>)  print(</a:t>
            </a:r>
            <a:r>
              <a:rPr sz="3200" dirty="0">
                <a:solidFill>
                  <a:srgbClr val="00AF50"/>
                </a:solidFill>
                <a:latin typeface="Times New Roman"/>
                <a:cs typeface="Times New Roman"/>
              </a:rPr>
              <a:t>"Upper:"</a:t>
            </a:r>
            <a:r>
              <a:rPr sz="3200" dirty="0">
                <a:latin typeface="Times New Roman"/>
                <a:cs typeface="Times New Roman"/>
              </a:rPr>
              <a:t>,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a.isupper()</a:t>
            </a:r>
            <a:r>
              <a:rPr sz="320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88991" y="4279391"/>
            <a:ext cx="3927475" cy="1938655"/>
            <a:chOff x="4888991" y="4279391"/>
            <a:chExt cx="3927475" cy="1938655"/>
          </a:xfrm>
        </p:grpSpPr>
        <p:sp>
          <p:nvSpPr>
            <p:cNvPr id="5" name="object 5"/>
            <p:cNvSpPr/>
            <p:nvPr/>
          </p:nvSpPr>
          <p:spPr>
            <a:xfrm>
              <a:off x="4888991" y="4279391"/>
              <a:ext cx="3927348" cy="19385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52999" y="4343399"/>
              <a:ext cx="3745103" cy="17564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33949" y="4324349"/>
              <a:ext cx="3783329" cy="1794510"/>
            </a:xfrm>
            <a:custGeom>
              <a:avLst/>
              <a:gdLst/>
              <a:ahLst/>
              <a:cxnLst/>
              <a:rect l="l" t="t" r="r" b="b"/>
              <a:pathLst>
                <a:path w="3783329" h="1794510">
                  <a:moveTo>
                    <a:pt x="0" y="1794510"/>
                  </a:moveTo>
                  <a:lnTo>
                    <a:pt x="3783203" y="1794510"/>
                  </a:lnTo>
                  <a:lnTo>
                    <a:pt x="3783203" y="0"/>
                  </a:lnTo>
                  <a:lnTo>
                    <a:pt x="0" y="0"/>
                  </a:lnTo>
                  <a:lnTo>
                    <a:pt x="0" y="179451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37757" y="3828669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rlito"/>
                <a:cs typeface="Carlito"/>
              </a:rPr>
              <a:t>Output: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7226" y="478358"/>
            <a:ext cx="6697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5" dirty="0"/>
              <a:t>v) </a:t>
            </a:r>
            <a:r>
              <a:rPr spc="140" dirty="0"/>
              <a:t>Searching</a:t>
            </a:r>
            <a:r>
              <a:rPr spc="-910" dirty="0"/>
              <a:t> </a:t>
            </a:r>
            <a:r>
              <a:rPr spc="10" dirty="0"/>
              <a:t>for </a:t>
            </a:r>
            <a:r>
              <a:rPr spc="160" dirty="0"/>
              <a:t>substring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850" y="1390650"/>
          <a:ext cx="8611235" cy="3321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6285"/>
                <a:gridCol w="6584950"/>
              </a:tblGrid>
              <a:tr h="5565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Endswith()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ends with 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236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Startswith()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true if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strings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starts with 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/>
                          <a:cs typeface="Times New Roman"/>
                        </a:rPr>
                        <a:t>Find()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lowest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index or -1 if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found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917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Count()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Returns the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 occurrences 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substring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7445" y="478358"/>
            <a:ext cx="2226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2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5391"/>
            <a:ext cx="7885430" cy="2586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Times New Roman"/>
                <a:cs typeface="Times New Roman"/>
              </a:rPr>
              <a:t>a=input(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"Enter any</a:t>
            </a:r>
            <a:r>
              <a:rPr sz="2800" spc="-2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string:"</a:t>
            </a:r>
            <a:r>
              <a:rPr sz="280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800" dirty="0">
                <a:latin typeface="Times New Roman"/>
                <a:cs typeface="Times New Roman"/>
              </a:rPr>
              <a:t>print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("Is string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ends with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thon:"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a.endswith("thon")</a:t>
            </a:r>
            <a:r>
              <a:rPr sz="2800" spc="-5" dirty="0">
                <a:latin typeface="Times New Roman"/>
                <a:cs typeface="Times New Roman"/>
              </a:rPr>
              <a:t>)  </a:t>
            </a:r>
            <a:r>
              <a:rPr sz="2800" dirty="0">
                <a:latin typeface="Times New Roman"/>
                <a:cs typeface="Times New Roman"/>
              </a:rPr>
              <a:t>print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("Is string 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starts with 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good:"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a.startswith("good")</a:t>
            </a:r>
            <a:r>
              <a:rPr sz="2800" dirty="0">
                <a:latin typeface="Times New Roman"/>
                <a:cs typeface="Times New Roman"/>
              </a:rPr>
              <a:t>)  print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("Find:"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a.find("ython")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latin typeface="Times New Roman"/>
                <a:cs typeface="Times New Roman"/>
              </a:rPr>
              <a:t>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"Count:"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a.count(“o")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92500" y="4483062"/>
            <a:ext cx="4597400" cy="2056764"/>
            <a:chOff x="3492500" y="4483062"/>
            <a:chExt cx="4597400" cy="2056764"/>
          </a:xfrm>
        </p:grpSpPr>
        <p:sp>
          <p:nvSpPr>
            <p:cNvPr id="5" name="object 5"/>
            <p:cNvSpPr/>
            <p:nvPr/>
          </p:nvSpPr>
          <p:spPr>
            <a:xfrm>
              <a:off x="3505200" y="4495762"/>
              <a:ext cx="4572000" cy="2031364"/>
            </a:xfrm>
            <a:custGeom>
              <a:avLst/>
              <a:gdLst/>
              <a:ahLst/>
              <a:cxnLst/>
              <a:rect l="l" t="t" r="r" b="b"/>
              <a:pathLst>
                <a:path w="4572000" h="2031365">
                  <a:moveTo>
                    <a:pt x="4572000" y="0"/>
                  </a:moveTo>
                  <a:lnTo>
                    <a:pt x="0" y="0"/>
                  </a:lnTo>
                  <a:lnTo>
                    <a:pt x="0" y="2031364"/>
                  </a:lnTo>
                  <a:lnTo>
                    <a:pt x="4572000" y="2031364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05200" y="4495762"/>
              <a:ext cx="4572000" cy="2031364"/>
            </a:xfrm>
            <a:custGeom>
              <a:avLst/>
              <a:gdLst/>
              <a:ahLst/>
              <a:cxnLst/>
              <a:rect l="l" t="t" r="r" b="b"/>
              <a:pathLst>
                <a:path w="4572000" h="2031365">
                  <a:moveTo>
                    <a:pt x="0" y="2031364"/>
                  </a:moveTo>
                  <a:lnTo>
                    <a:pt x="4572000" y="2031364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203136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05200" y="4495762"/>
            <a:ext cx="4572000" cy="2031364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1800" b="1" spc="-5" dirty="0">
                <a:latin typeface="Times New Roman"/>
                <a:cs typeface="Times New Roman"/>
              </a:rPr>
              <a:t>Output: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92075" marR="10795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Enter any string : </a:t>
            </a:r>
            <a:r>
              <a:rPr sz="1800" spc="-5" dirty="0">
                <a:latin typeface="Times New Roman"/>
                <a:cs typeface="Times New Roman"/>
              </a:rPr>
              <a:t>welcome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  </a:t>
            </a: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string ends with thon: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True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spc="-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string starts with good: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False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Find: </a:t>
            </a:r>
            <a:r>
              <a:rPr sz="1800" dirty="0">
                <a:latin typeface="Times New Roman"/>
                <a:cs typeface="Times New Roman"/>
              </a:rPr>
              <a:t>12</a:t>
            </a:r>
            <a:endParaRPr sz="1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Count: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0992" y="478358"/>
            <a:ext cx="39262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4" dirty="0"/>
              <a:t>String</a:t>
            </a:r>
            <a:r>
              <a:rPr spc="-275" dirty="0"/>
              <a:t> </a:t>
            </a:r>
            <a:r>
              <a:rPr spc="229" dirty="0"/>
              <a:t>Modules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73733"/>
            <a:ext cx="7751445" cy="445198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Times New Roman"/>
                <a:cs typeface="Times New Roman"/>
              </a:rPr>
              <a:t>String module contains </a:t>
            </a:r>
            <a:r>
              <a:rPr sz="3000" dirty="0">
                <a:latin typeface="Times New Roman"/>
                <a:cs typeface="Times New Roman"/>
              </a:rPr>
              <a:t>a number of </a:t>
            </a:r>
            <a:r>
              <a:rPr sz="3000" spc="-5" dirty="0">
                <a:latin typeface="Times New Roman"/>
                <a:cs typeface="Times New Roman"/>
              </a:rPr>
              <a:t>functions </a:t>
            </a:r>
            <a:r>
              <a:rPr sz="3000" dirty="0">
                <a:latin typeface="Times New Roman"/>
                <a:cs typeface="Times New Roman"/>
              </a:rPr>
              <a:t>to  </a:t>
            </a:r>
            <a:r>
              <a:rPr sz="3000" spc="-5" dirty="0">
                <a:latin typeface="Times New Roman"/>
                <a:cs typeface="Times New Roman"/>
              </a:rPr>
              <a:t>process standard </a:t>
            </a:r>
            <a:r>
              <a:rPr sz="3000" dirty="0">
                <a:latin typeface="Times New Roman"/>
                <a:cs typeface="Times New Roman"/>
              </a:rPr>
              <a:t>Python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spc="-5" dirty="0">
                <a:latin typeface="Times New Roman"/>
                <a:cs typeface="Times New Roman"/>
              </a:rPr>
              <a:t>strings</a:t>
            </a:r>
            <a:endParaRPr sz="3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b="1" spc="-5" dirty="0">
                <a:latin typeface="Times New Roman"/>
                <a:cs typeface="Times New Roman"/>
              </a:rPr>
              <a:t>Mostly used string</a:t>
            </a:r>
            <a:r>
              <a:rPr sz="3000" b="1" spc="10" dirty="0">
                <a:latin typeface="Times New Roman"/>
                <a:cs typeface="Times New Roman"/>
              </a:rPr>
              <a:t> </a:t>
            </a:r>
            <a:r>
              <a:rPr sz="3000" b="1" spc="-5" dirty="0">
                <a:latin typeface="Times New Roman"/>
                <a:cs typeface="Times New Roman"/>
              </a:rPr>
              <a:t>modules:</a:t>
            </a:r>
            <a:endParaRPr sz="3000">
              <a:latin typeface="Times New Roman"/>
              <a:cs typeface="Times New Roman"/>
            </a:endParaRPr>
          </a:p>
          <a:p>
            <a:pPr marL="469900" marR="5265420">
              <a:lnSpc>
                <a:spcPct val="110000"/>
              </a:lnSpc>
              <a:spcBef>
                <a:spcPts val="15"/>
              </a:spcBef>
            </a:pPr>
            <a:r>
              <a:rPr sz="2600" dirty="0">
                <a:latin typeface="Times New Roman"/>
                <a:cs typeface="Times New Roman"/>
              </a:rPr>
              <a:t>string.upper()  string.upper()  </a:t>
            </a:r>
            <a:r>
              <a:rPr sz="2600" spc="-5" dirty="0">
                <a:latin typeface="Times New Roman"/>
                <a:cs typeface="Times New Roman"/>
              </a:rPr>
              <a:t>string.split()  </a:t>
            </a:r>
            <a:r>
              <a:rPr sz="2600" dirty="0">
                <a:latin typeface="Times New Roman"/>
                <a:cs typeface="Times New Roman"/>
              </a:rPr>
              <a:t>string.join()  s</a:t>
            </a:r>
            <a:r>
              <a:rPr sz="2600" spc="-10" dirty="0">
                <a:latin typeface="Times New Roman"/>
                <a:cs typeface="Times New Roman"/>
              </a:rPr>
              <a:t>t</a:t>
            </a:r>
            <a:r>
              <a:rPr sz="2600" dirty="0">
                <a:latin typeface="Times New Roman"/>
                <a:cs typeface="Times New Roman"/>
              </a:rPr>
              <a:t>ring.repla</a:t>
            </a:r>
            <a:r>
              <a:rPr sz="2600" spc="-15" dirty="0">
                <a:latin typeface="Times New Roman"/>
                <a:cs typeface="Times New Roman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e()  </a:t>
            </a:r>
            <a:r>
              <a:rPr sz="2600" dirty="0">
                <a:latin typeface="Times New Roman"/>
                <a:cs typeface="Times New Roman"/>
              </a:rPr>
              <a:t>string.find()  string.count()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665" y="478358"/>
            <a:ext cx="2299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Example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5391"/>
            <a:ext cx="7818755" cy="46355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spc="-5" dirty="0">
                <a:latin typeface="Times New Roman"/>
                <a:cs typeface="Times New Roman"/>
              </a:rPr>
              <a:t>import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string</a:t>
            </a:r>
            <a:endParaRPr sz="2800">
              <a:latin typeface="Times New Roman"/>
              <a:cs typeface="Times New Roman"/>
            </a:endParaRPr>
          </a:p>
          <a:p>
            <a:pPr marL="12700" marR="2700655">
              <a:lnSpc>
                <a:spcPct val="120000"/>
              </a:lnSpc>
            </a:pPr>
            <a:r>
              <a:rPr sz="2800" spc="-5" dirty="0">
                <a:latin typeface="Times New Roman"/>
                <a:cs typeface="Times New Roman"/>
              </a:rPr>
              <a:t>text="Monty Python </a:t>
            </a:r>
            <a:r>
              <a:rPr sz="2800" dirty="0">
                <a:latin typeface="Times New Roman"/>
                <a:cs typeface="Times New Roman"/>
              </a:rPr>
              <a:t>Flying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Circus"  </a:t>
            </a:r>
            <a:r>
              <a:rPr sz="2800" dirty="0">
                <a:latin typeface="Times New Roman"/>
                <a:cs typeface="Times New Roman"/>
              </a:rPr>
              <a:t>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"Upper:"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string.upper(text)</a:t>
            </a:r>
            <a:r>
              <a:rPr sz="2800" dirty="0">
                <a:latin typeface="Times New Roman"/>
                <a:cs typeface="Times New Roman"/>
              </a:rPr>
              <a:t>)  </a:t>
            </a:r>
            <a:r>
              <a:rPr sz="2800" spc="-5" dirty="0">
                <a:latin typeface="Times New Roman"/>
                <a:cs typeface="Times New Roman"/>
              </a:rPr>
              <a:t>print(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"Lower:"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string.lower(text)</a:t>
            </a:r>
            <a:r>
              <a:rPr sz="2800" dirty="0">
                <a:latin typeface="Times New Roman"/>
                <a:cs typeface="Times New Roman"/>
              </a:rPr>
              <a:t>)  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"Split:"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string.split(text)</a:t>
            </a:r>
            <a:r>
              <a:rPr sz="2800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20000"/>
              </a:lnSpc>
            </a:pPr>
            <a:r>
              <a:rPr sz="2800" dirty="0">
                <a:latin typeface="Times New Roman"/>
                <a:cs typeface="Times New Roman"/>
              </a:rPr>
              <a:t>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"Join:"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string.join(string.split(test),"+")</a:t>
            </a:r>
            <a:r>
              <a:rPr sz="2800" spc="-5" dirty="0">
                <a:latin typeface="Times New Roman"/>
                <a:cs typeface="Times New Roman"/>
              </a:rPr>
              <a:t>)  print(</a:t>
            </a:r>
            <a:r>
              <a:rPr sz="2800" spc="-5" dirty="0">
                <a:solidFill>
                  <a:srgbClr val="00AF50"/>
                </a:solidFill>
                <a:latin typeface="Times New Roman"/>
                <a:cs typeface="Times New Roman"/>
              </a:rPr>
              <a:t>"Replace:"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string.replace(text,"Python", "Java")</a:t>
            </a:r>
            <a:r>
              <a:rPr sz="2800" spc="-5" dirty="0">
                <a:latin typeface="Times New Roman"/>
                <a:cs typeface="Times New Roman"/>
              </a:rPr>
              <a:t>)  </a:t>
            </a:r>
            <a:r>
              <a:rPr sz="2800" dirty="0">
                <a:latin typeface="Times New Roman"/>
                <a:cs typeface="Times New Roman"/>
              </a:rPr>
              <a:t>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"Find:"</a:t>
            </a:r>
            <a:r>
              <a:rPr sz="2800" dirty="0">
                <a:latin typeface="Times New Roman"/>
                <a:cs typeface="Times New Roman"/>
              </a:rPr>
              <a:t>,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string.find(text,"Python")</a:t>
            </a:r>
            <a:r>
              <a:rPr sz="2800" spc="-5" dirty="0">
                <a:latin typeface="Times New Roman"/>
                <a:cs typeface="Times New Roman"/>
              </a:rPr>
              <a:t>)  </a:t>
            </a:r>
            <a:r>
              <a:rPr sz="2800" dirty="0">
                <a:latin typeface="Times New Roman"/>
                <a:cs typeface="Times New Roman"/>
              </a:rPr>
              <a:t>print(</a:t>
            </a:r>
            <a:r>
              <a:rPr sz="2800" dirty="0">
                <a:solidFill>
                  <a:srgbClr val="00AF50"/>
                </a:solidFill>
                <a:latin typeface="Times New Roman"/>
                <a:cs typeface="Times New Roman"/>
              </a:rPr>
              <a:t>"Count"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string.count(text,"n")</a:t>
            </a:r>
            <a:r>
              <a:rPr sz="2800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30" dirty="0"/>
              <a:t>Output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6900" y="1206500"/>
            <a:ext cx="7264400" cy="3996054"/>
            <a:chOff x="596900" y="1206500"/>
            <a:chExt cx="7264400" cy="3996054"/>
          </a:xfrm>
        </p:grpSpPr>
        <p:sp>
          <p:nvSpPr>
            <p:cNvPr id="4" name="object 4"/>
            <p:cNvSpPr/>
            <p:nvPr/>
          </p:nvSpPr>
          <p:spPr>
            <a:xfrm>
              <a:off x="609600" y="1219200"/>
              <a:ext cx="7239000" cy="3970654"/>
            </a:xfrm>
            <a:custGeom>
              <a:avLst/>
              <a:gdLst/>
              <a:ahLst/>
              <a:cxnLst/>
              <a:rect l="l" t="t" r="r" b="b"/>
              <a:pathLst>
                <a:path w="7239000" h="3970654">
                  <a:moveTo>
                    <a:pt x="7239000" y="0"/>
                  </a:moveTo>
                  <a:lnTo>
                    <a:pt x="0" y="0"/>
                  </a:lnTo>
                  <a:lnTo>
                    <a:pt x="0" y="3970274"/>
                  </a:lnTo>
                  <a:lnTo>
                    <a:pt x="7239000" y="3970274"/>
                  </a:lnTo>
                  <a:lnTo>
                    <a:pt x="7239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600" y="1219200"/>
              <a:ext cx="7239000" cy="3970654"/>
            </a:xfrm>
            <a:custGeom>
              <a:avLst/>
              <a:gdLst/>
              <a:ahLst/>
              <a:cxnLst/>
              <a:rect l="l" t="t" r="r" b="b"/>
              <a:pathLst>
                <a:path w="7239000" h="3970654">
                  <a:moveTo>
                    <a:pt x="0" y="3970274"/>
                  </a:moveTo>
                  <a:lnTo>
                    <a:pt x="7239000" y="3970274"/>
                  </a:lnTo>
                  <a:lnTo>
                    <a:pt x="7239000" y="0"/>
                  </a:lnTo>
                  <a:lnTo>
                    <a:pt x="0" y="0"/>
                  </a:lnTo>
                  <a:lnTo>
                    <a:pt x="0" y="397027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9600" y="1219200"/>
            <a:ext cx="7239000" cy="397065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00"/>
              </a:spcBef>
            </a:pPr>
            <a:r>
              <a:rPr sz="2400" spc="-5" dirty="0">
                <a:latin typeface="Times New Roman"/>
                <a:cs typeface="Times New Roman"/>
              </a:rPr>
              <a:t>Upper: “MONTY </a:t>
            </a:r>
            <a:r>
              <a:rPr sz="2400" spc="-10" dirty="0">
                <a:latin typeface="Times New Roman"/>
                <a:cs typeface="Times New Roman"/>
              </a:rPr>
              <a:t>PYTHON </a:t>
            </a:r>
            <a:r>
              <a:rPr sz="2400" spc="-45" dirty="0">
                <a:latin typeface="Times New Roman"/>
                <a:cs typeface="Times New Roman"/>
              </a:rPr>
              <a:t>FLYING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CIRCUS”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445"/>
              </a:spcBef>
            </a:pPr>
            <a:r>
              <a:rPr sz="2400" spc="-5" dirty="0">
                <a:latin typeface="Times New Roman"/>
                <a:cs typeface="Times New Roman"/>
              </a:rPr>
              <a:t>Lower: “monty </a:t>
            </a:r>
            <a:r>
              <a:rPr sz="2400" dirty="0">
                <a:latin typeface="Times New Roman"/>
                <a:cs typeface="Times New Roman"/>
              </a:rPr>
              <a:t>python </a:t>
            </a:r>
            <a:r>
              <a:rPr sz="2400" spc="-5" dirty="0">
                <a:latin typeface="Times New Roman"/>
                <a:cs typeface="Times New Roman"/>
              </a:rPr>
              <a:t>flying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circus”</a:t>
            </a:r>
            <a:endParaRPr sz="2400">
              <a:latin typeface="Times New Roman"/>
              <a:cs typeface="Times New Roman"/>
            </a:endParaRPr>
          </a:p>
          <a:p>
            <a:pPr marL="91440" marR="1663700">
              <a:lnSpc>
                <a:spcPct val="150000"/>
              </a:lnSpc>
            </a:pPr>
            <a:r>
              <a:rPr sz="2400" spc="-5" dirty="0">
                <a:latin typeface="Times New Roman"/>
                <a:cs typeface="Times New Roman"/>
              </a:rPr>
              <a:t>Split: </a:t>
            </a:r>
            <a:r>
              <a:rPr sz="2400" spc="-160" dirty="0">
                <a:latin typeface="Times New Roman"/>
                <a:cs typeface="Times New Roman"/>
              </a:rPr>
              <a:t>[„Monty‟, „Python‟, </a:t>
            </a:r>
            <a:r>
              <a:rPr sz="2400" spc="-165" dirty="0">
                <a:latin typeface="Times New Roman"/>
                <a:cs typeface="Times New Roman"/>
              </a:rPr>
              <a:t>„Flying‟, </a:t>
            </a:r>
            <a:r>
              <a:rPr sz="2400" spc="-355" dirty="0">
                <a:latin typeface="Times New Roman"/>
                <a:cs typeface="Times New Roman"/>
              </a:rPr>
              <a:t>„Circus‟]  </a:t>
            </a:r>
            <a:r>
              <a:rPr sz="2400" dirty="0">
                <a:latin typeface="Times New Roman"/>
                <a:cs typeface="Times New Roman"/>
              </a:rPr>
              <a:t>Join : </a:t>
            </a:r>
            <a:r>
              <a:rPr sz="2400" spc="-5" dirty="0">
                <a:latin typeface="Times New Roman"/>
                <a:cs typeface="Times New Roman"/>
              </a:rPr>
              <a:t>Monty+Python+Flying+Circus  </a:t>
            </a:r>
            <a:r>
              <a:rPr sz="2400" dirty="0">
                <a:latin typeface="Times New Roman"/>
                <a:cs typeface="Times New Roman"/>
              </a:rPr>
              <a:t>Replace: Monty Java Flying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Circus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Find: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latin typeface="Times New Roman"/>
                <a:cs typeface="Times New Roman"/>
              </a:rPr>
              <a:t>Count: 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Problem Solving </a:t>
            </a:r>
            <a:r>
              <a:rPr dirty="0"/>
              <a:t>and Python</a:t>
            </a:r>
            <a:r>
              <a:rPr spc="-70" dirty="0"/>
              <a:t> </a:t>
            </a:r>
            <a:r>
              <a:rPr spc="-5" dirty="0"/>
              <a:t>Programming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1270</Words>
  <Application>Microsoft Office PowerPoint</Application>
  <PresentationFormat>On-screen Show (4:3)</PresentationFormat>
  <Paragraphs>300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Strings: string slices, immutability,  string functions and methods, string  module</vt:lpstr>
      <vt:lpstr>Strings</vt:lpstr>
      <vt:lpstr>Inbuilt String functions</vt:lpstr>
      <vt:lpstr>What is ASCII values</vt:lpstr>
      <vt:lpstr>Example for Inbuilt string functions</vt:lpstr>
      <vt:lpstr>OUTPUT</vt:lpstr>
      <vt:lpstr>Strings Concatenation</vt:lpstr>
      <vt:lpstr>Operators on String</vt:lpstr>
      <vt:lpstr>String Slicing</vt:lpstr>
      <vt:lpstr>String Slice example</vt:lpstr>
      <vt:lpstr>Strings are immutable</vt:lpstr>
      <vt:lpstr>String Comparision</vt:lpstr>
      <vt:lpstr>Example of string comparision</vt:lpstr>
      <vt:lpstr>String formatting operator</vt:lpstr>
      <vt:lpstr>String functions and methods</vt:lpstr>
      <vt:lpstr>i) Converting string functions</vt:lpstr>
      <vt:lpstr>Program: str=input("Enter any string:")  print("String Capitalized:", str.capitalize())  print("String lower case:", str.lower())  print("String upper case:", str.upper())  print("String title case:", str.title())  print("String swap case:", str.swapcase())</vt:lpstr>
      <vt:lpstr>ii)Formatting String functions</vt:lpstr>
      <vt:lpstr>Program: a=input("Enter any string:")  print("Center alignment:", a.center(20))  print("Left alignment:", a.ljust(20))  print("Right alignment:", a.rjust(20))</vt:lpstr>
      <vt:lpstr>iii) Removing whitespace  characters</vt:lpstr>
      <vt:lpstr>Program</vt:lpstr>
      <vt:lpstr>iv) Testing String/Character</vt:lpstr>
      <vt:lpstr>Program</vt:lpstr>
      <vt:lpstr>v) Searching for substring</vt:lpstr>
      <vt:lpstr>Program</vt:lpstr>
      <vt:lpstr>String Modules</vt:lpstr>
      <vt:lpstr>Example</vt:lpstr>
      <vt:lpstr>Output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VizhiPrabha</dc:creator>
  <cp:lastModifiedBy>HP</cp:lastModifiedBy>
  <cp:revision>3</cp:revision>
  <dcterms:created xsi:type="dcterms:W3CDTF">2023-12-03T09:32:01Z</dcterms:created>
  <dcterms:modified xsi:type="dcterms:W3CDTF">2023-12-03T09:34:38Z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2018-11-22T00:00:00Z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2023-12-03T00:00:00Z</vt:filetime>
  </property>
</Properties>
</file>