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080" y="-2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76586-04C1-48CB-9BC4-EA160D58206F}" type="datetimeFigureOut">
              <a:rPr lang="en-IN" smtClean="0"/>
              <a:t>03-12-2023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ED49A-EB35-4A33-963C-75BF2BC82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55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10"/>
              </a:lnSpc>
            </a:pPr>
            <a:r>
              <a:rPr spc="-25" dirty="0"/>
              <a:t>5-Jan-15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905"/>
              </a:lnSpc>
            </a:pPr>
            <a:r>
              <a:rPr spc="-45" dirty="0"/>
              <a:t>Intro. </a:t>
            </a:r>
            <a:r>
              <a:rPr spc="-20" dirty="0"/>
              <a:t>To</a:t>
            </a:r>
            <a:r>
              <a:rPr spc="-225" dirty="0"/>
              <a:t> </a:t>
            </a:r>
            <a:r>
              <a:rPr spc="-5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‹#›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10"/>
              </a:lnSpc>
            </a:pPr>
            <a:r>
              <a:rPr spc="-25" dirty="0"/>
              <a:t>5-Jan-15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905"/>
              </a:lnSpc>
            </a:pPr>
            <a:r>
              <a:rPr spc="-45" dirty="0"/>
              <a:t>Intro. </a:t>
            </a:r>
            <a:r>
              <a:rPr spc="-20" dirty="0"/>
              <a:t>To</a:t>
            </a:r>
            <a:r>
              <a:rPr spc="-225" dirty="0"/>
              <a:t> </a:t>
            </a:r>
            <a:r>
              <a:rPr spc="-5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‹#›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76273"/>
            <a:ext cx="4636135" cy="4276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1828" y="1779778"/>
            <a:ext cx="4177029" cy="3797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10"/>
              </a:lnSpc>
            </a:pPr>
            <a:r>
              <a:rPr spc="-25" dirty="0"/>
              <a:t>5-Jan-15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905"/>
              </a:lnSpc>
            </a:pPr>
            <a:r>
              <a:rPr spc="-45" dirty="0"/>
              <a:t>Intro. </a:t>
            </a:r>
            <a:r>
              <a:rPr spc="-20" dirty="0"/>
              <a:t>To</a:t>
            </a:r>
            <a:r>
              <a:rPr spc="-225" dirty="0"/>
              <a:t> </a:t>
            </a:r>
            <a:r>
              <a:rPr spc="-5" dirty="0"/>
              <a:t>Python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‹#›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10"/>
              </a:lnSpc>
            </a:pPr>
            <a:r>
              <a:rPr spc="-25" dirty="0"/>
              <a:t>5-Jan-15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905"/>
              </a:lnSpc>
            </a:pPr>
            <a:r>
              <a:rPr spc="-45" dirty="0"/>
              <a:t>Intro. </a:t>
            </a:r>
            <a:r>
              <a:rPr spc="-20" dirty="0"/>
              <a:t>To</a:t>
            </a:r>
            <a:r>
              <a:rPr spc="-225" dirty="0"/>
              <a:t> </a:t>
            </a:r>
            <a:r>
              <a:rPr spc="-5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‹#›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27860" y="312420"/>
            <a:ext cx="8165592" cy="57591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401311" y="4271772"/>
            <a:ext cx="791210" cy="792480"/>
          </a:xfrm>
          <a:custGeom>
            <a:avLst/>
            <a:gdLst/>
            <a:ahLst/>
            <a:cxnLst/>
            <a:rect l="l" t="t" r="r" b="b"/>
            <a:pathLst>
              <a:path w="791210" h="792479">
                <a:moveTo>
                  <a:pt x="790956" y="0"/>
                </a:moveTo>
                <a:lnTo>
                  <a:pt x="0" y="0"/>
                </a:lnTo>
                <a:lnTo>
                  <a:pt x="0" y="792479"/>
                </a:lnTo>
                <a:lnTo>
                  <a:pt x="790956" y="792479"/>
                </a:lnTo>
                <a:lnTo>
                  <a:pt x="790956" y="0"/>
                </a:lnTo>
                <a:close/>
              </a:path>
            </a:pathLst>
          </a:custGeom>
          <a:solidFill>
            <a:srgbClr val="FFC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401311" y="4271772"/>
            <a:ext cx="791210" cy="792480"/>
          </a:xfrm>
          <a:custGeom>
            <a:avLst/>
            <a:gdLst/>
            <a:ahLst/>
            <a:cxnLst/>
            <a:rect l="l" t="t" r="r" b="b"/>
            <a:pathLst>
              <a:path w="791210" h="792479">
                <a:moveTo>
                  <a:pt x="0" y="792479"/>
                </a:moveTo>
                <a:lnTo>
                  <a:pt x="790956" y="792479"/>
                </a:lnTo>
                <a:lnTo>
                  <a:pt x="790956" y="0"/>
                </a:lnTo>
                <a:lnTo>
                  <a:pt x="0" y="0"/>
                </a:lnTo>
                <a:lnTo>
                  <a:pt x="0" y="792479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10"/>
              </a:lnSpc>
            </a:pPr>
            <a:r>
              <a:rPr spc="-25" dirty="0"/>
              <a:t>5-Jan-15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905"/>
              </a:lnSpc>
            </a:pPr>
            <a:r>
              <a:rPr spc="-45" dirty="0"/>
              <a:t>Intro. </a:t>
            </a:r>
            <a:r>
              <a:rPr spc="-20" dirty="0"/>
              <a:t>To</a:t>
            </a:r>
            <a:r>
              <a:rPr spc="-225" dirty="0"/>
              <a:t> </a:t>
            </a:r>
            <a:r>
              <a:rPr spc="-5" dirty="0"/>
              <a:t>Python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‹#›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7770" y="974216"/>
            <a:ext cx="1017645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76555"/>
            <a:ext cx="10358120" cy="390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63853" y="6404037"/>
            <a:ext cx="808989" cy="253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10"/>
              </a:lnSpc>
            </a:pPr>
            <a:r>
              <a:rPr spc="-25" dirty="0"/>
              <a:t>5-Jan-15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424810" y="6409807"/>
            <a:ext cx="1523364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905"/>
              </a:lnSpc>
            </a:pPr>
            <a:r>
              <a:rPr spc="-45" dirty="0"/>
              <a:t>Intro. </a:t>
            </a:r>
            <a:r>
              <a:rPr spc="-20" dirty="0"/>
              <a:t>To</a:t>
            </a:r>
            <a:r>
              <a:rPr spc="-225" dirty="0"/>
              <a:t> </a:t>
            </a:r>
            <a:r>
              <a:rPr spc="-5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19055" y="6404037"/>
            <a:ext cx="805815" cy="253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‹#›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pectrum.ieee.org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python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://pydev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/alternatives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List_of_Python_software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3/" TargetMode="External"/><Relationship Id="rId2" Type="http://schemas.openxmlformats.org/officeDocument/2006/relationships/hyperlink" Target="http://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hyperlink" Target="http://www.tutorialspoint.com/pyth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1000" y="2590800"/>
            <a:ext cx="35293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45" dirty="0">
                <a:solidFill>
                  <a:srgbClr val="404040"/>
                </a:solidFill>
              </a:rPr>
              <a:t>Introduction</a:t>
            </a:r>
            <a:r>
              <a:rPr sz="4000" spc="-220" dirty="0">
                <a:solidFill>
                  <a:srgbClr val="404040"/>
                </a:solidFill>
              </a:rPr>
              <a:t> </a:t>
            </a:r>
            <a:r>
              <a:rPr sz="4000" spc="310" dirty="0">
                <a:solidFill>
                  <a:srgbClr val="404040"/>
                </a:solidFill>
              </a:rPr>
              <a:t>to</a:t>
            </a:r>
            <a:endParaRPr sz="4000" dirty="0"/>
          </a:p>
        </p:txBody>
      </p:sp>
      <p:sp>
        <p:nvSpPr>
          <p:cNvPr id="5" name="object 5"/>
          <p:cNvSpPr/>
          <p:nvPr/>
        </p:nvSpPr>
        <p:spPr>
          <a:xfrm>
            <a:off x="3324606" y="3431734"/>
            <a:ext cx="5542787" cy="1440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268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AF50"/>
                </a:solidFill>
              </a:rPr>
              <a:t>Contents </a:t>
            </a:r>
            <a:r>
              <a:rPr spc="200" dirty="0">
                <a:solidFill>
                  <a:srgbClr val="00AF50"/>
                </a:solidFill>
              </a:rPr>
              <a:t>at</a:t>
            </a:r>
            <a:r>
              <a:rPr spc="-670" dirty="0">
                <a:solidFill>
                  <a:srgbClr val="00AF50"/>
                </a:solidFill>
              </a:rPr>
              <a:t> </a:t>
            </a:r>
            <a:r>
              <a:rPr spc="-150" dirty="0">
                <a:solidFill>
                  <a:srgbClr val="00AF50"/>
                </a:solidFill>
              </a:rPr>
              <a:t>a </a:t>
            </a:r>
            <a:r>
              <a:rPr spc="-75" dirty="0">
                <a:solidFill>
                  <a:srgbClr val="00AF50"/>
                </a:solidFill>
              </a:rPr>
              <a:t>Glance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778"/>
            <a:ext cx="3367404" cy="3797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ts val="2865"/>
              </a:lnSpc>
              <a:spcBef>
                <a:spcPts val="100"/>
              </a:spcBef>
              <a:buFont typeface="Arial"/>
              <a:buChar char="•"/>
              <a:tabLst>
                <a:tab pos="241935" algn="l"/>
              </a:tabLst>
            </a:pPr>
            <a:r>
              <a:rPr sz="2400" b="1" spc="-305" dirty="0">
                <a:latin typeface="Verdana"/>
                <a:cs typeface="Verdana"/>
              </a:rPr>
              <a:t>What </a:t>
            </a:r>
            <a:r>
              <a:rPr sz="2400" b="1" spc="-310" dirty="0">
                <a:latin typeface="Verdana"/>
                <a:cs typeface="Verdana"/>
              </a:rPr>
              <a:t>is</a:t>
            </a:r>
            <a:r>
              <a:rPr sz="2400" b="1" dirty="0">
                <a:latin typeface="Verdana"/>
                <a:cs typeface="Verdana"/>
              </a:rPr>
              <a:t> </a:t>
            </a:r>
            <a:r>
              <a:rPr sz="2400" b="1" spc="-254" dirty="0">
                <a:latin typeface="Verdana"/>
                <a:cs typeface="Verdana"/>
              </a:rPr>
              <a:t>Python?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0" dirty="0">
                <a:solidFill>
                  <a:srgbClr val="843B0C"/>
                </a:solidFill>
                <a:latin typeface="Verdana"/>
                <a:cs typeface="Verdana"/>
              </a:rPr>
              <a:t>History </a:t>
            </a:r>
            <a:r>
              <a:rPr sz="2200" spc="80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200" spc="-2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843B0C"/>
                </a:solidFill>
                <a:latin typeface="Verdana"/>
                <a:cs typeface="Verdana"/>
              </a:rPr>
              <a:t>Timeline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200" spc="-185" dirty="0">
                <a:solidFill>
                  <a:srgbClr val="843B0C"/>
                </a:solidFill>
                <a:latin typeface="Verdana"/>
                <a:cs typeface="Verdana"/>
              </a:rPr>
              <a:t>2 </a:t>
            </a:r>
            <a:r>
              <a:rPr sz="2200" spc="80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200" spc="-2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185" dirty="0">
                <a:solidFill>
                  <a:srgbClr val="843B0C"/>
                </a:solidFill>
                <a:latin typeface="Verdana"/>
                <a:cs typeface="Verdana"/>
              </a:rPr>
              <a:t>3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5" dirty="0">
                <a:solidFill>
                  <a:srgbClr val="843B0C"/>
                </a:solidFill>
                <a:latin typeface="Verdana"/>
                <a:cs typeface="Verdana"/>
              </a:rPr>
              <a:t>Philosophy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80" dirty="0">
                <a:solidFill>
                  <a:srgbClr val="843B0C"/>
                </a:solidFill>
                <a:latin typeface="Verdana"/>
                <a:cs typeface="Verdana"/>
              </a:rPr>
              <a:t>Key</a:t>
            </a:r>
            <a:r>
              <a:rPr sz="22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70" dirty="0">
                <a:solidFill>
                  <a:srgbClr val="843B0C"/>
                </a:solidFill>
                <a:latin typeface="Verdana"/>
                <a:cs typeface="Verdana"/>
              </a:rPr>
              <a:t>Features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30" dirty="0">
                <a:solidFill>
                  <a:srgbClr val="843B0C"/>
                </a:solidFill>
                <a:latin typeface="Verdana"/>
                <a:cs typeface="Verdana"/>
              </a:rPr>
              <a:t>Paradigms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5" dirty="0">
                <a:solidFill>
                  <a:srgbClr val="843B0C"/>
                </a:solidFill>
                <a:latin typeface="Verdana"/>
                <a:cs typeface="Verdana"/>
              </a:rPr>
              <a:t>Popularity</a:t>
            </a:r>
            <a:endParaRPr sz="2200">
              <a:latin typeface="Verdana"/>
              <a:cs typeface="Verdana"/>
            </a:endParaRPr>
          </a:p>
          <a:p>
            <a:pPr marL="241300" indent="-229235">
              <a:lnSpc>
                <a:spcPts val="2860"/>
              </a:lnSpc>
              <a:spcBef>
                <a:spcPts val="434"/>
              </a:spcBef>
              <a:buFont typeface="Arial"/>
              <a:buChar char="•"/>
              <a:tabLst>
                <a:tab pos="241935" algn="l"/>
              </a:tabLst>
            </a:pPr>
            <a:r>
              <a:rPr sz="2400" b="1" spc="-195" dirty="0">
                <a:latin typeface="Verdana"/>
                <a:cs typeface="Verdana"/>
              </a:rPr>
              <a:t>Getting</a:t>
            </a:r>
            <a:r>
              <a:rPr sz="2400" b="1" spc="-150" dirty="0">
                <a:latin typeface="Verdana"/>
                <a:cs typeface="Verdana"/>
              </a:rPr>
              <a:t> </a:t>
            </a:r>
            <a:r>
              <a:rPr sz="2400" b="1" spc="-260" dirty="0">
                <a:latin typeface="Verdana"/>
                <a:cs typeface="Verdana"/>
              </a:rPr>
              <a:t>Started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35" dirty="0">
                <a:solidFill>
                  <a:srgbClr val="843B0C"/>
                </a:solidFill>
                <a:latin typeface="Verdana"/>
                <a:cs typeface="Verdana"/>
              </a:rPr>
              <a:t>IDLE</a:t>
            </a:r>
            <a:r>
              <a:rPr sz="22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240" dirty="0">
                <a:solidFill>
                  <a:srgbClr val="843B0C"/>
                </a:solidFill>
                <a:latin typeface="Verdana"/>
                <a:cs typeface="Verdana"/>
              </a:rPr>
              <a:t>IDE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10" dirty="0">
                <a:solidFill>
                  <a:srgbClr val="843B0C"/>
                </a:solidFill>
                <a:latin typeface="Verdana"/>
                <a:cs typeface="Verdana"/>
              </a:rPr>
              <a:t>First</a:t>
            </a:r>
            <a:r>
              <a:rPr sz="22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843B0C"/>
                </a:solidFill>
                <a:latin typeface="Verdana"/>
                <a:cs typeface="Verdana"/>
              </a:rPr>
              <a:t>Program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35" dirty="0">
                <a:solidFill>
                  <a:srgbClr val="843B0C"/>
                </a:solidFill>
                <a:latin typeface="Verdana"/>
                <a:cs typeface="Verdana"/>
              </a:rPr>
              <a:t>Other</a:t>
            </a:r>
            <a:r>
              <a:rPr sz="22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260" dirty="0">
                <a:solidFill>
                  <a:srgbClr val="843B0C"/>
                </a:solidFill>
                <a:latin typeface="Verdana"/>
                <a:cs typeface="Verdana"/>
              </a:rPr>
              <a:t>IDEs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86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pc="-275" dirty="0"/>
              <a:t>Python</a:t>
            </a:r>
            <a:r>
              <a:rPr spc="-155" dirty="0"/>
              <a:t> </a:t>
            </a:r>
            <a:r>
              <a:rPr spc="-225" dirty="0"/>
              <a:t>Basics</a:t>
            </a:r>
          </a:p>
          <a:p>
            <a:pPr marL="698500" lvl="1" indent="-228600">
              <a:lnSpc>
                <a:spcPts val="26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35" dirty="0">
                <a:solidFill>
                  <a:srgbClr val="843B0C"/>
                </a:solidFill>
                <a:latin typeface="Verdana"/>
                <a:cs typeface="Verdana"/>
              </a:rPr>
              <a:t>Variables </a:t>
            </a:r>
            <a:r>
              <a:rPr sz="2200" spc="80" dirty="0">
                <a:solidFill>
                  <a:srgbClr val="843B0C"/>
                </a:solidFill>
                <a:latin typeface="Verdana"/>
                <a:cs typeface="Verdana"/>
              </a:rPr>
              <a:t>and </a:t>
            </a:r>
            <a:r>
              <a:rPr sz="2200" spc="40" dirty="0">
                <a:solidFill>
                  <a:srgbClr val="843B0C"/>
                </a:solidFill>
                <a:latin typeface="Verdana"/>
                <a:cs typeface="Verdana"/>
              </a:rPr>
              <a:t>Data</a:t>
            </a:r>
            <a:r>
              <a:rPr sz="2200" spc="-5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130" dirty="0">
                <a:solidFill>
                  <a:srgbClr val="843B0C"/>
                </a:solidFill>
                <a:latin typeface="Verdana"/>
                <a:cs typeface="Verdana"/>
              </a:rPr>
              <a:t>Types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35" dirty="0">
                <a:solidFill>
                  <a:srgbClr val="843B0C"/>
                </a:solidFill>
                <a:latin typeface="Verdana"/>
                <a:cs typeface="Verdana"/>
              </a:rPr>
              <a:t>Operators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2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85" dirty="0">
                <a:solidFill>
                  <a:srgbClr val="843B0C"/>
                </a:solidFill>
                <a:latin typeface="Verdana"/>
                <a:cs typeface="Verdana"/>
              </a:rPr>
              <a:t>Type</a:t>
            </a:r>
            <a:r>
              <a:rPr sz="2200" spc="-2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843B0C"/>
                </a:solidFill>
                <a:latin typeface="Verdana"/>
                <a:cs typeface="Verdana"/>
              </a:rPr>
              <a:t>Conversion</a:t>
            </a:r>
            <a:endParaRPr sz="2200">
              <a:latin typeface="Verdana"/>
              <a:cs typeface="Verdana"/>
            </a:endParaRPr>
          </a:p>
          <a:p>
            <a:pPr marL="241300" indent="-228600">
              <a:lnSpc>
                <a:spcPts val="286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pc="-265" dirty="0"/>
              <a:t>Syntax </a:t>
            </a:r>
            <a:r>
              <a:rPr spc="-135" dirty="0"/>
              <a:t>and</a:t>
            </a:r>
            <a:r>
              <a:rPr spc="-85" dirty="0"/>
              <a:t> </a:t>
            </a:r>
            <a:r>
              <a:rPr spc="-290" dirty="0"/>
              <a:t>Structures</a:t>
            </a: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14" dirty="0">
                <a:solidFill>
                  <a:srgbClr val="843B0C"/>
                </a:solidFill>
                <a:latin typeface="Verdana"/>
                <a:cs typeface="Verdana"/>
              </a:rPr>
              <a:t>Input </a:t>
            </a:r>
            <a:r>
              <a:rPr sz="2200" b="1" spc="-509" dirty="0">
                <a:solidFill>
                  <a:srgbClr val="843B0C"/>
                </a:solidFill>
                <a:latin typeface="Verdana"/>
                <a:cs typeface="Verdana"/>
              </a:rPr>
              <a:t>/</a:t>
            </a:r>
            <a:r>
              <a:rPr sz="2200" b="1" spc="-4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15" dirty="0">
                <a:solidFill>
                  <a:srgbClr val="843B0C"/>
                </a:solidFill>
                <a:latin typeface="Verdana"/>
                <a:cs typeface="Verdana"/>
              </a:rPr>
              <a:t>Output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10" dirty="0">
                <a:solidFill>
                  <a:srgbClr val="843B0C"/>
                </a:solidFill>
                <a:latin typeface="Verdana"/>
                <a:cs typeface="Verdana"/>
              </a:rPr>
              <a:t>Identifiers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10" dirty="0">
                <a:solidFill>
                  <a:srgbClr val="843B0C"/>
                </a:solidFill>
                <a:latin typeface="Verdana"/>
                <a:cs typeface="Verdana"/>
              </a:rPr>
              <a:t>lines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55" dirty="0">
                <a:solidFill>
                  <a:srgbClr val="843B0C"/>
                </a:solidFill>
                <a:latin typeface="Verdana"/>
                <a:cs typeface="Verdana"/>
              </a:rPr>
              <a:t>Block </a:t>
            </a:r>
            <a:r>
              <a:rPr sz="2200" spc="85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200" spc="-3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843B0C"/>
                </a:solidFill>
                <a:latin typeface="Verdana"/>
                <a:cs typeface="Verdana"/>
              </a:rPr>
              <a:t>Indentation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25" dirty="0">
                <a:solidFill>
                  <a:srgbClr val="843B0C"/>
                </a:solidFill>
                <a:latin typeface="Verdana"/>
                <a:cs typeface="Verdana"/>
              </a:rPr>
              <a:t>Quotations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ts val="263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20" dirty="0">
                <a:solidFill>
                  <a:srgbClr val="843B0C"/>
                </a:solidFill>
                <a:latin typeface="Verdana"/>
                <a:cs typeface="Verdana"/>
              </a:rPr>
              <a:t>Comments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269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AF50"/>
                </a:solidFill>
              </a:rPr>
              <a:t>Contents </a:t>
            </a:r>
            <a:r>
              <a:rPr spc="200" dirty="0">
                <a:solidFill>
                  <a:srgbClr val="00AF50"/>
                </a:solidFill>
              </a:rPr>
              <a:t>at</a:t>
            </a:r>
            <a:r>
              <a:rPr spc="-670" dirty="0">
                <a:solidFill>
                  <a:srgbClr val="00AF50"/>
                </a:solidFill>
              </a:rPr>
              <a:t> </a:t>
            </a:r>
            <a:r>
              <a:rPr spc="-150" dirty="0">
                <a:solidFill>
                  <a:srgbClr val="00AF50"/>
                </a:solidFill>
              </a:rPr>
              <a:t>a </a:t>
            </a:r>
            <a:r>
              <a:rPr spc="-75" dirty="0">
                <a:solidFill>
                  <a:srgbClr val="00AF50"/>
                </a:solidFill>
              </a:rPr>
              <a:t>Glance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8704"/>
            <a:ext cx="3811270" cy="391541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5" dirty="0">
                <a:solidFill>
                  <a:srgbClr val="843B0C"/>
                </a:solidFill>
                <a:latin typeface="Verdana"/>
                <a:cs typeface="Verdana"/>
              </a:rPr>
              <a:t>Control</a:t>
            </a:r>
            <a:r>
              <a:rPr sz="22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843B0C"/>
                </a:solidFill>
                <a:latin typeface="Verdana"/>
                <a:cs typeface="Verdana"/>
              </a:rPr>
              <a:t>Flow</a:t>
            </a:r>
            <a:endParaRPr sz="22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935" algn="l"/>
              </a:tabLst>
            </a:pPr>
            <a:r>
              <a:rPr sz="2400" b="1" spc="-170" dirty="0">
                <a:latin typeface="Verdana"/>
                <a:cs typeface="Verdana"/>
              </a:rPr>
              <a:t>Composite</a:t>
            </a:r>
            <a:r>
              <a:rPr sz="2400" b="1" spc="-150" dirty="0">
                <a:latin typeface="Verdana"/>
                <a:cs typeface="Verdana"/>
              </a:rPr>
              <a:t> </a:t>
            </a:r>
            <a:r>
              <a:rPr sz="2400" b="1" spc="-265" dirty="0">
                <a:latin typeface="Verdana"/>
                <a:cs typeface="Verdana"/>
              </a:rPr>
              <a:t>Types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15" dirty="0">
                <a:solidFill>
                  <a:srgbClr val="843B0C"/>
                </a:solidFill>
                <a:latin typeface="Verdana"/>
                <a:cs typeface="Verdana"/>
              </a:rPr>
              <a:t>Lists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20" dirty="0">
                <a:solidFill>
                  <a:srgbClr val="843B0C"/>
                </a:solidFill>
                <a:latin typeface="Verdana"/>
                <a:cs typeface="Verdana"/>
              </a:rPr>
              <a:t>Tuples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5" dirty="0">
                <a:solidFill>
                  <a:srgbClr val="843B0C"/>
                </a:solidFill>
                <a:latin typeface="Verdana"/>
                <a:cs typeface="Verdana"/>
              </a:rPr>
              <a:t>Ranges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5" dirty="0">
                <a:solidFill>
                  <a:srgbClr val="843B0C"/>
                </a:solidFill>
                <a:latin typeface="Verdana"/>
                <a:cs typeface="Verdana"/>
              </a:rPr>
              <a:t>Dictionaries</a:t>
            </a:r>
            <a:endParaRPr sz="22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241935" algn="l"/>
              </a:tabLst>
            </a:pPr>
            <a:r>
              <a:rPr sz="2400" b="1" spc="-245" dirty="0">
                <a:latin typeface="Verdana"/>
                <a:cs typeface="Verdana"/>
              </a:rPr>
              <a:t>Functions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  <a:tab pos="699135" algn="l"/>
                <a:tab pos="2852420" algn="l"/>
              </a:tabLst>
            </a:pPr>
            <a:r>
              <a:rPr sz="2200" spc="-85" dirty="0">
                <a:solidFill>
                  <a:srgbClr val="843B0C"/>
                </a:solidFill>
                <a:latin typeface="Verdana"/>
                <a:cs typeface="Verdana"/>
              </a:rPr>
              <a:t>Definitions</a:t>
            </a:r>
            <a:r>
              <a:rPr sz="22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80" dirty="0">
                <a:solidFill>
                  <a:srgbClr val="843B0C"/>
                </a:solidFill>
                <a:latin typeface="Verdana"/>
                <a:cs typeface="Verdana"/>
              </a:rPr>
              <a:t>and	</a:t>
            </a:r>
            <a:r>
              <a:rPr sz="2200" spc="-5" dirty="0">
                <a:solidFill>
                  <a:srgbClr val="843B0C"/>
                </a:solidFill>
                <a:latin typeface="Verdana"/>
                <a:cs typeface="Verdana"/>
              </a:rPr>
              <a:t>Calling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solidFill>
                  <a:srgbClr val="843B0C"/>
                </a:solidFill>
                <a:latin typeface="Verdana"/>
                <a:cs typeface="Verdana"/>
              </a:rPr>
              <a:t>Nested</a:t>
            </a:r>
            <a:r>
              <a:rPr sz="22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843B0C"/>
                </a:solidFill>
                <a:latin typeface="Verdana"/>
                <a:cs typeface="Verdana"/>
              </a:rPr>
              <a:t>Functions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0" dirty="0">
                <a:solidFill>
                  <a:srgbClr val="843B0C"/>
                </a:solidFill>
                <a:latin typeface="Verdana"/>
                <a:cs typeface="Verdana"/>
              </a:rPr>
              <a:t>First-Class</a:t>
            </a:r>
            <a:r>
              <a:rPr sz="22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843B0C"/>
                </a:solidFill>
                <a:latin typeface="Verdana"/>
                <a:cs typeface="Verdana"/>
              </a:rPr>
              <a:t>Objects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83042"/>
            <a:ext cx="3779520" cy="29171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65" dirty="0">
                <a:latin typeface="Verdana"/>
                <a:cs typeface="Verdana"/>
              </a:rPr>
              <a:t>Object-Oriented</a:t>
            </a:r>
            <a:r>
              <a:rPr sz="2400" b="1" spc="-204" dirty="0">
                <a:latin typeface="Verdana"/>
                <a:cs typeface="Verdana"/>
              </a:rPr>
              <a:t> </a:t>
            </a:r>
            <a:r>
              <a:rPr sz="2400" b="1" spc="-275" dirty="0">
                <a:latin typeface="Verdana"/>
                <a:cs typeface="Verdana"/>
              </a:rPr>
              <a:t>Python</a:t>
            </a:r>
            <a:endParaRPr sz="2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80" dirty="0">
                <a:solidFill>
                  <a:srgbClr val="843B0C"/>
                </a:solidFill>
                <a:latin typeface="Verdana"/>
                <a:cs typeface="Verdana"/>
              </a:rPr>
              <a:t>Classes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45" dirty="0">
                <a:solidFill>
                  <a:srgbClr val="843B0C"/>
                </a:solidFill>
                <a:latin typeface="Verdana"/>
                <a:cs typeface="Verdana"/>
              </a:rPr>
              <a:t>Inheritance</a:t>
            </a:r>
            <a:endParaRPr sz="22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85" dirty="0">
                <a:solidFill>
                  <a:srgbClr val="843B0C"/>
                </a:solidFill>
                <a:latin typeface="Verdana"/>
                <a:cs typeface="Verdana"/>
              </a:rPr>
              <a:t>Garbage</a:t>
            </a:r>
            <a:r>
              <a:rPr sz="22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843B0C"/>
                </a:solidFill>
                <a:latin typeface="Verdana"/>
                <a:cs typeface="Verdana"/>
              </a:rPr>
              <a:t>Collection</a:t>
            </a:r>
            <a:endParaRPr sz="22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250" dirty="0">
                <a:latin typeface="Verdana"/>
                <a:cs typeface="Verdana"/>
              </a:rPr>
              <a:t>Be</a:t>
            </a:r>
            <a:r>
              <a:rPr sz="2400" b="1" spc="-155" dirty="0">
                <a:latin typeface="Verdana"/>
                <a:cs typeface="Verdana"/>
              </a:rPr>
              <a:t> </a:t>
            </a:r>
            <a:r>
              <a:rPr sz="2400" b="1" spc="-229" dirty="0">
                <a:latin typeface="Verdana"/>
                <a:cs typeface="Verdana"/>
              </a:rPr>
              <a:t>Pythonic!</a:t>
            </a:r>
            <a:endParaRPr sz="24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275" dirty="0">
                <a:latin typeface="Verdana"/>
                <a:cs typeface="Verdana"/>
              </a:rPr>
              <a:t>Summary</a:t>
            </a:r>
            <a:endParaRPr sz="24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204" dirty="0">
                <a:latin typeface="Verdana"/>
                <a:cs typeface="Verdana"/>
              </a:rPr>
              <a:t>References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073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>
                <a:solidFill>
                  <a:srgbClr val="006FC0"/>
                </a:solidFill>
              </a:rPr>
              <a:t>What </a:t>
            </a:r>
            <a:r>
              <a:rPr spc="-50" dirty="0">
                <a:solidFill>
                  <a:srgbClr val="006FC0"/>
                </a:solidFill>
              </a:rPr>
              <a:t>is</a:t>
            </a:r>
            <a:r>
              <a:rPr spc="-60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7338059" cy="314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07950" indent="-2292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60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widely-used </a:t>
            </a:r>
            <a:r>
              <a:rPr sz="2800" dirty="0">
                <a:solidFill>
                  <a:srgbClr val="FF0000"/>
                </a:solidFill>
                <a:latin typeface="Verdana"/>
                <a:cs typeface="Verdana"/>
              </a:rPr>
              <a:t>general </a:t>
            </a:r>
            <a:r>
              <a:rPr sz="2800" spc="-35" dirty="0">
                <a:solidFill>
                  <a:srgbClr val="FF0000"/>
                </a:solidFill>
                <a:latin typeface="Verdana"/>
                <a:cs typeface="Verdana"/>
              </a:rPr>
              <a:t>purpose </a:t>
            </a:r>
            <a:r>
              <a:rPr sz="2800" spc="-35" dirty="0">
                <a:latin typeface="Verdana"/>
                <a:cs typeface="Verdana"/>
              </a:rPr>
              <a:t> (both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industry</a:t>
            </a:r>
            <a:r>
              <a:rPr sz="2800" spc="-23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85" dirty="0">
                <a:latin typeface="Verdana"/>
                <a:cs typeface="Verdana"/>
              </a:rPr>
              <a:t>academia)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high-level  </a:t>
            </a:r>
            <a:r>
              <a:rPr sz="2800" spc="-55" dirty="0">
                <a:latin typeface="Verdana"/>
                <a:cs typeface="Verdana"/>
              </a:rPr>
              <a:t>Programming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25" dirty="0">
                <a:latin typeface="Verdana"/>
                <a:cs typeface="Verdana"/>
              </a:rPr>
              <a:t>language.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355" dirty="0">
                <a:latin typeface="Verdana"/>
                <a:cs typeface="Verdana"/>
              </a:rPr>
              <a:t>It </a:t>
            </a:r>
            <a:r>
              <a:rPr sz="2800" spc="5" dirty="0">
                <a:latin typeface="Verdana"/>
                <a:cs typeface="Verdana"/>
              </a:rPr>
              <a:t>combines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20" dirty="0">
                <a:latin typeface="Verdana"/>
                <a:cs typeface="Verdana"/>
              </a:rPr>
              <a:t>power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204" dirty="0">
                <a:solidFill>
                  <a:srgbClr val="FF0000"/>
                </a:solidFill>
                <a:latin typeface="Verdana"/>
                <a:cs typeface="Verdana"/>
              </a:rPr>
              <a:t>systems 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languages,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such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as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b="1" spc="150" dirty="0">
                <a:latin typeface="Verdana"/>
                <a:cs typeface="Verdana"/>
              </a:rPr>
              <a:t>C</a:t>
            </a:r>
            <a:r>
              <a:rPr sz="2800" b="1" spc="-17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b="1" spc="-155" dirty="0">
                <a:latin typeface="Verdana"/>
                <a:cs typeface="Verdana"/>
              </a:rPr>
              <a:t>Java</a:t>
            </a:r>
            <a:r>
              <a:rPr sz="2800" spc="-155" dirty="0">
                <a:latin typeface="Verdana"/>
                <a:cs typeface="Verdana"/>
              </a:rPr>
              <a:t>,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 </a:t>
            </a:r>
            <a:r>
              <a:rPr sz="2800" spc="30" dirty="0">
                <a:latin typeface="Verdana"/>
                <a:cs typeface="Verdana"/>
              </a:rPr>
              <a:t>ease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rapid</a:t>
            </a:r>
            <a:r>
              <a:rPr sz="2800" spc="-24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development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80" dirty="0">
                <a:solidFill>
                  <a:srgbClr val="FF0000"/>
                </a:solidFill>
                <a:latin typeface="Verdana"/>
                <a:cs typeface="Verdana"/>
              </a:rPr>
              <a:t>scripting 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languages, </a:t>
            </a:r>
            <a:r>
              <a:rPr sz="2800" spc="-45" dirty="0">
                <a:latin typeface="Verdana"/>
                <a:cs typeface="Verdana"/>
              </a:rPr>
              <a:t>such </a:t>
            </a:r>
            <a:r>
              <a:rPr sz="2800" spc="-80" dirty="0">
                <a:latin typeface="Verdana"/>
                <a:cs typeface="Verdana"/>
              </a:rPr>
              <a:t>as</a:t>
            </a:r>
            <a:r>
              <a:rPr sz="2800" spc="-509" dirty="0">
                <a:latin typeface="Verdana"/>
                <a:cs typeface="Verdana"/>
              </a:rPr>
              <a:t> </a:t>
            </a:r>
            <a:r>
              <a:rPr sz="2800" b="1" spc="-295" dirty="0">
                <a:latin typeface="Verdana"/>
                <a:cs typeface="Verdana"/>
              </a:rPr>
              <a:t>Ruby</a:t>
            </a:r>
            <a:r>
              <a:rPr sz="2800" spc="-295" dirty="0"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87381" y="2104644"/>
            <a:ext cx="2577465" cy="2997835"/>
            <a:chOff x="8787381" y="2104644"/>
            <a:chExt cx="2577465" cy="2997835"/>
          </a:xfrm>
        </p:grpSpPr>
        <p:sp>
          <p:nvSpPr>
            <p:cNvPr id="5" name="object 5"/>
            <p:cNvSpPr/>
            <p:nvPr/>
          </p:nvSpPr>
          <p:spPr>
            <a:xfrm>
              <a:off x="8787381" y="4439407"/>
              <a:ext cx="2577089" cy="6625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98052" y="2104644"/>
              <a:ext cx="2555875" cy="2341245"/>
            </a:xfrm>
            <a:custGeom>
              <a:avLst/>
              <a:gdLst/>
              <a:ahLst/>
              <a:cxnLst/>
              <a:rect l="l" t="t" r="r" b="b"/>
              <a:pathLst>
                <a:path w="2555875" h="2341245">
                  <a:moveTo>
                    <a:pt x="2402204" y="0"/>
                  </a:moveTo>
                  <a:lnTo>
                    <a:pt x="153543" y="0"/>
                  </a:lnTo>
                  <a:lnTo>
                    <a:pt x="104997" y="7824"/>
                  </a:lnTo>
                  <a:lnTo>
                    <a:pt x="62846" y="29614"/>
                  </a:lnTo>
                  <a:lnTo>
                    <a:pt x="29614" y="62846"/>
                  </a:lnTo>
                  <a:lnTo>
                    <a:pt x="7824" y="104997"/>
                  </a:lnTo>
                  <a:lnTo>
                    <a:pt x="0" y="153542"/>
                  </a:lnTo>
                  <a:lnTo>
                    <a:pt x="0" y="2187320"/>
                  </a:lnTo>
                  <a:lnTo>
                    <a:pt x="7824" y="2235866"/>
                  </a:lnTo>
                  <a:lnTo>
                    <a:pt x="29614" y="2278017"/>
                  </a:lnTo>
                  <a:lnTo>
                    <a:pt x="62846" y="2311249"/>
                  </a:lnTo>
                  <a:lnTo>
                    <a:pt x="104997" y="2333039"/>
                  </a:lnTo>
                  <a:lnTo>
                    <a:pt x="153543" y="2340863"/>
                  </a:lnTo>
                  <a:lnTo>
                    <a:pt x="2402204" y="2340863"/>
                  </a:lnTo>
                  <a:lnTo>
                    <a:pt x="2450750" y="2333039"/>
                  </a:lnTo>
                  <a:lnTo>
                    <a:pt x="2492901" y="2311249"/>
                  </a:lnTo>
                  <a:lnTo>
                    <a:pt x="2526133" y="2278017"/>
                  </a:lnTo>
                  <a:lnTo>
                    <a:pt x="2547923" y="2235866"/>
                  </a:lnTo>
                  <a:lnTo>
                    <a:pt x="2555748" y="2187320"/>
                  </a:lnTo>
                  <a:lnTo>
                    <a:pt x="2555748" y="153542"/>
                  </a:lnTo>
                  <a:lnTo>
                    <a:pt x="2547923" y="104997"/>
                  </a:lnTo>
                  <a:lnTo>
                    <a:pt x="2526133" y="62846"/>
                  </a:lnTo>
                  <a:lnTo>
                    <a:pt x="2492901" y="29614"/>
                  </a:lnTo>
                  <a:lnTo>
                    <a:pt x="2450750" y="7824"/>
                  </a:lnTo>
                  <a:lnTo>
                    <a:pt x="240220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98052" y="2104644"/>
              <a:ext cx="2555748" cy="23408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240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History </a:t>
            </a:r>
            <a:r>
              <a:rPr spc="25" dirty="0">
                <a:solidFill>
                  <a:srgbClr val="006FC0"/>
                </a:solidFill>
              </a:rPr>
              <a:t>and</a:t>
            </a:r>
            <a:r>
              <a:rPr spc="-585" dirty="0">
                <a:solidFill>
                  <a:srgbClr val="006FC0"/>
                </a:solidFill>
              </a:rPr>
              <a:t> </a:t>
            </a:r>
            <a:r>
              <a:rPr spc="65" dirty="0">
                <a:solidFill>
                  <a:srgbClr val="006FC0"/>
                </a:solidFill>
              </a:rPr>
              <a:t>Timeline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7280909" cy="326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37465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Invented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by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55" dirty="0">
                <a:solidFill>
                  <a:srgbClr val="FF0000"/>
                </a:solidFill>
                <a:latin typeface="Verdana"/>
                <a:cs typeface="Verdana"/>
              </a:rPr>
              <a:t>Guido</a:t>
            </a:r>
            <a:r>
              <a:rPr sz="2800" spc="-2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FF0000"/>
                </a:solidFill>
                <a:latin typeface="Verdana"/>
                <a:cs typeface="Verdana"/>
              </a:rPr>
              <a:t>van</a:t>
            </a:r>
            <a:r>
              <a:rPr sz="2800" spc="-2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75" dirty="0">
                <a:solidFill>
                  <a:srgbClr val="FF0000"/>
                </a:solidFill>
                <a:latin typeface="Verdana"/>
                <a:cs typeface="Verdana"/>
              </a:rPr>
              <a:t>Rossum 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335" dirty="0">
                <a:latin typeface="Verdana"/>
                <a:cs typeface="Verdana"/>
              </a:rPr>
              <a:t>in</a:t>
            </a:r>
            <a:r>
              <a:rPr sz="2800" b="1" spc="-335" dirty="0">
                <a:latin typeface="Verdana"/>
                <a:cs typeface="Verdana"/>
              </a:rPr>
              <a:t>1991 </a:t>
            </a:r>
            <a:r>
              <a:rPr sz="2800" spc="35" dirty="0">
                <a:latin typeface="Verdana"/>
                <a:cs typeface="Verdana"/>
              </a:rPr>
              <a:t>at </a:t>
            </a:r>
            <a:r>
              <a:rPr sz="2800" spc="-125" dirty="0">
                <a:latin typeface="Verdana"/>
                <a:cs typeface="Verdana"/>
              </a:rPr>
              <a:t>CWI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415" dirty="0">
                <a:latin typeface="Verdana"/>
                <a:cs typeface="Verdana"/>
              </a:rPr>
              <a:t> </a:t>
            </a:r>
            <a:r>
              <a:rPr sz="2800" b="1" spc="-260" dirty="0">
                <a:latin typeface="Verdana"/>
                <a:cs typeface="Verdana"/>
              </a:rPr>
              <a:t>Netherlands</a:t>
            </a:r>
            <a:r>
              <a:rPr sz="2800" spc="-260" dirty="0"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44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85" dirty="0">
                <a:latin typeface="Verdana"/>
                <a:cs typeface="Verdana"/>
              </a:rPr>
              <a:t>reached </a:t>
            </a:r>
            <a:r>
              <a:rPr sz="2800" spc="-125" dirty="0">
                <a:latin typeface="Verdana"/>
                <a:cs typeface="Verdana"/>
              </a:rPr>
              <a:t>version </a:t>
            </a:r>
            <a:r>
              <a:rPr sz="2800" spc="-250" dirty="0">
                <a:latin typeface="Verdana"/>
                <a:cs typeface="Verdana"/>
              </a:rPr>
              <a:t>1.0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20" dirty="0">
                <a:latin typeface="Verdana"/>
                <a:cs typeface="Verdana"/>
              </a:rPr>
              <a:t>January  </a:t>
            </a:r>
            <a:r>
              <a:rPr sz="2800" b="1" spc="-400" dirty="0">
                <a:latin typeface="Verdana"/>
                <a:cs typeface="Verdana"/>
              </a:rPr>
              <a:t>1994</a:t>
            </a:r>
            <a:r>
              <a:rPr sz="2800" spc="-400" dirty="0">
                <a:latin typeface="Verdana"/>
                <a:cs typeface="Verdana"/>
              </a:rPr>
              <a:t>. </a:t>
            </a:r>
            <a:r>
              <a:rPr sz="2800" spc="-150" dirty="0">
                <a:latin typeface="Verdana"/>
                <a:cs typeface="Verdana"/>
              </a:rPr>
              <a:t>The </a:t>
            </a:r>
            <a:r>
              <a:rPr sz="2800" spc="-95" dirty="0">
                <a:latin typeface="Verdana"/>
                <a:cs typeface="Verdana"/>
              </a:rPr>
              <a:t>major </a:t>
            </a:r>
            <a:r>
              <a:rPr sz="2800" spc="35" dirty="0">
                <a:latin typeface="Verdana"/>
                <a:cs typeface="Verdana"/>
              </a:rPr>
              <a:t>new </a:t>
            </a:r>
            <a:r>
              <a:rPr sz="2800" spc="-75" dirty="0">
                <a:latin typeface="Verdana"/>
                <a:cs typeface="Verdana"/>
              </a:rPr>
              <a:t>features </a:t>
            </a:r>
            <a:r>
              <a:rPr sz="2800" spc="35" dirty="0">
                <a:latin typeface="Verdana"/>
                <a:cs typeface="Verdana"/>
              </a:rPr>
              <a:t>included</a:t>
            </a:r>
            <a:r>
              <a:rPr sz="2800" spc="-56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  </a:t>
            </a:r>
            <a:r>
              <a:rPr sz="2800" spc="-200" dirty="0">
                <a:latin typeface="Verdana"/>
                <a:cs typeface="Verdana"/>
              </a:rPr>
              <a:t>this </a:t>
            </a:r>
            <a:r>
              <a:rPr sz="2800" spc="-40" dirty="0">
                <a:latin typeface="Verdana"/>
                <a:cs typeface="Verdana"/>
              </a:rPr>
              <a:t>release </a:t>
            </a:r>
            <a:r>
              <a:rPr sz="2800" spc="-10" dirty="0">
                <a:latin typeface="Verdana"/>
                <a:cs typeface="Verdana"/>
              </a:rPr>
              <a:t>were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b="1" spc="-240" dirty="0">
                <a:latin typeface="Verdana"/>
                <a:cs typeface="Verdana"/>
              </a:rPr>
              <a:t>functional  </a:t>
            </a:r>
            <a:r>
              <a:rPr sz="2800" b="1" spc="-254" dirty="0">
                <a:latin typeface="Verdana"/>
                <a:cs typeface="Verdana"/>
              </a:rPr>
              <a:t>programming</a:t>
            </a:r>
            <a:r>
              <a:rPr sz="2800" b="1" spc="-145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tools.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53043" y="850391"/>
            <a:ext cx="3121152" cy="4680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97569" y="5674258"/>
            <a:ext cx="3046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latin typeface="Verdana"/>
                <a:cs typeface="Verdana"/>
              </a:rPr>
              <a:t>Van</a:t>
            </a:r>
            <a:r>
              <a:rPr sz="1600" spc="-114" dirty="0">
                <a:latin typeface="Verdana"/>
                <a:cs typeface="Verdana"/>
              </a:rPr>
              <a:t> </a:t>
            </a:r>
            <a:r>
              <a:rPr sz="1600" spc="-105" dirty="0">
                <a:latin typeface="Verdana"/>
                <a:cs typeface="Verdana"/>
              </a:rPr>
              <a:t>Rossum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spc="-130" dirty="0">
                <a:latin typeface="Verdana"/>
                <a:cs typeface="Verdana"/>
              </a:rPr>
              <a:t>Born: </a:t>
            </a:r>
            <a:r>
              <a:rPr sz="1600" spc="-135" dirty="0">
                <a:latin typeface="Verdana"/>
                <a:cs typeface="Verdana"/>
              </a:rPr>
              <a:t>31 </a:t>
            </a:r>
            <a:r>
              <a:rPr sz="1600" spc="-15" dirty="0">
                <a:latin typeface="Verdana"/>
                <a:cs typeface="Verdana"/>
              </a:rPr>
              <a:t>January </a:t>
            </a:r>
            <a:r>
              <a:rPr sz="1600" spc="-135" dirty="0">
                <a:latin typeface="Verdana"/>
                <a:cs typeface="Verdana"/>
              </a:rPr>
              <a:t>1956 </a:t>
            </a:r>
            <a:r>
              <a:rPr sz="1600" spc="25" dirty="0">
                <a:latin typeface="Verdana"/>
                <a:cs typeface="Verdana"/>
              </a:rPr>
              <a:t>(age</a:t>
            </a:r>
            <a:r>
              <a:rPr sz="1600" spc="-195" dirty="0">
                <a:latin typeface="Verdana"/>
                <a:cs typeface="Verdana"/>
              </a:rPr>
              <a:t> </a:t>
            </a:r>
            <a:r>
              <a:rPr sz="1600" spc="-135" dirty="0">
                <a:latin typeface="Verdana"/>
                <a:cs typeface="Verdana"/>
              </a:rPr>
              <a:t>58)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240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History </a:t>
            </a:r>
            <a:r>
              <a:rPr spc="25" dirty="0">
                <a:solidFill>
                  <a:srgbClr val="006FC0"/>
                </a:solidFill>
              </a:rPr>
              <a:t>and</a:t>
            </a:r>
            <a:r>
              <a:rPr spc="-585" dirty="0">
                <a:solidFill>
                  <a:srgbClr val="006FC0"/>
                </a:solidFill>
              </a:rPr>
              <a:t> </a:t>
            </a:r>
            <a:r>
              <a:rPr spc="65" dirty="0">
                <a:solidFill>
                  <a:srgbClr val="006FC0"/>
                </a:solidFill>
              </a:rPr>
              <a:t>Timeline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935" algn="l"/>
              </a:tabLst>
            </a:pPr>
            <a:r>
              <a:rPr spc="-275" dirty="0"/>
              <a:t>Python </a:t>
            </a:r>
            <a:r>
              <a:rPr spc="-310" dirty="0"/>
              <a:t>1.0 </a:t>
            </a:r>
            <a:r>
              <a:rPr spc="-145" dirty="0"/>
              <a:t>- </a:t>
            </a:r>
            <a:r>
              <a:rPr spc="-195" dirty="0"/>
              <a:t>January</a:t>
            </a:r>
            <a:r>
              <a:rPr spc="-380" dirty="0"/>
              <a:t> </a:t>
            </a:r>
            <a:r>
              <a:rPr spc="-370" dirty="0"/>
              <a:t>1994</a:t>
            </a: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1.5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40" dirty="0">
                <a:solidFill>
                  <a:srgbClr val="843B0C"/>
                </a:solidFill>
                <a:latin typeface="Verdana"/>
                <a:cs typeface="Verdana"/>
              </a:rPr>
              <a:t>December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31,</a:t>
            </a:r>
            <a:r>
              <a:rPr sz="2000" spc="-4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1997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1.6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30" dirty="0">
                <a:solidFill>
                  <a:srgbClr val="843B0C"/>
                </a:solidFill>
                <a:latin typeface="Verdana"/>
                <a:cs typeface="Verdana"/>
              </a:rPr>
              <a:t>September </a:t>
            </a:r>
            <a:r>
              <a:rPr sz="2000" spc="-170" dirty="0">
                <a:solidFill>
                  <a:srgbClr val="843B0C"/>
                </a:solidFill>
                <a:latin typeface="Verdana"/>
                <a:cs typeface="Verdana"/>
              </a:rPr>
              <a:t>5,</a:t>
            </a:r>
            <a:r>
              <a:rPr sz="2000" spc="-3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2000</a:t>
            </a:r>
            <a:endParaRPr sz="20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pc="-275" dirty="0"/>
              <a:t>Python </a:t>
            </a:r>
            <a:r>
              <a:rPr spc="-310" dirty="0"/>
              <a:t>2.0 </a:t>
            </a:r>
            <a:r>
              <a:rPr spc="-145" dirty="0"/>
              <a:t>- </a:t>
            </a:r>
            <a:r>
              <a:rPr spc="-140" dirty="0"/>
              <a:t>October </a:t>
            </a:r>
            <a:r>
              <a:rPr spc="-310" dirty="0"/>
              <a:t>16,</a:t>
            </a:r>
            <a:r>
              <a:rPr spc="-380" dirty="0"/>
              <a:t> </a:t>
            </a:r>
            <a:r>
              <a:rPr spc="-370" dirty="0"/>
              <a:t>2000</a:t>
            </a:r>
          </a:p>
          <a:p>
            <a:pPr marL="698500" lvl="1" indent="-22923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2.1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70" dirty="0">
                <a:solidFill>
                  <a:srgbClr val="843B0C"/>
                </a:solidFill>
                <a:latin typeface="Verdana"/>
                <a:cs typeface="Verdana"/>
              </a:rPr>
              <a:t>April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17,</a:t>
            </a:r>
            <a:r>
              <a:rPr sz="2000" spc="-2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2001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2.2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40" dirty="0">
                <a:solidFill>
                  <a:srgbClr val="843B0C"/>
                </a:solidFill>
                <a:latin typeface="Verdana"/>
                <a:cs typeface="Verdana"/>
              </a:rPr>
              <a:t>December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21,</a:t>
            </a:r>
            <a:r>
              <a:rPr sz="2000" spc="-4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2001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2.3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65" dirty="0">
                <a:solidFill>
                  <a:srgbClr val="843B0C"/>
                </a:solidFill>
                <a:latin typeface="Verdana"/>
                <a:cs typeface="Verdana"/>
              </a:rPr>
              <a:t>July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29,</a:t>
            </a:r>
            <a:r>
              <a:rPr sz="2000" spc="-2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2003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2.4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5" dirty="0">
                <a:solidFill>
                  <a:srgbClr val="843B0C"/>
                </a:solidFill>
                <a:latin typeface="Verdana"/>
                <a:cs typeface="Verdana"/>
              </a:rPr>
              <a:t>November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30,</a:t>
            </a:r>
            <a:r>
              <a:rPr sz="2000" spc="-3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2004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2.5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30" dirty="0">
                <a:solidFill>
                  <a:srgbClr val="843B0C"/>
                </a:solidFill>
                <a:latin typeface="Verdana"/>
                <a:cs typeface="Verdana"/>
              </a:rPr>
              <a:t>September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19,</a:t>
            </a:r>
            <a:r>
              <a:rPr sz="2000" spc="-34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2006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2.6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55" dirty="0">
                <a:solidFill>
                  <a:srgbClr val="843B0C"/>
                </a:solidFill>
                <a:latin typeface="Verdana"/>
                <a:cs typeface="Verdana"/>
              </a:rPr>
              <a:t>October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1,</a:t>
            </a:r>
            <a:r>
              <a:rPr sz="2000" spc="-43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2008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2.7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65" dirty="0">
                <a:solidFill>
                  <a:srgbClr val="843B0C"/>
                </a:solidFill>
                <a:latin typeface="Verdana"/>
                <a:cs typeface="Verdana"/>
              </a:rPr>
              <a:t>July </a:t>
            </a:r>
            <a:r>
              <a:rPr sz="2000" spc="-170" dirty="0">
                <a:solidFill>
                  <a:srgbClr val="843B0C"/>
                </a:solidFill>
                <a:latin typeface="Verdana"/>
                <a:cs typeface="Verdana"/>
              </a:rPr>
              <a:t>3,</a:t>
            </a:r>
            <a:r>
              <a:rPr sz="2000" spc="-2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2010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76273"/>
            <a:ext cx="4758055" cy="19431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275" dirty="0">
                <a:latin typeface="Verdana"/>
                <a:cs typeface="Verdana"/>
              </a:rPr>
              <a:t>Python </a:t>
            </a:r>
            <a:r>
              <a:rPr sz="2400" b="1" spc="-310" dirty="0">
                <a:latin typeface="Verdana"/>
                <a:cs typeface="Verdana"/>
              </a:rPr>
              <a:t>3.0 </a:t>
            </a:r>
            <a:r>
              <a:rPr sz="2400" b="1" spc="-145" dirty="0">
                <a:latin typeface="Verdana"/>
                <a:cs typeface="Verdana"/>
              </a:rPr>
              <a:t>- </a:t>
            </a:r>
            <a:r>
              <a:rPr sz="2400" b="1" spc="-150" dirty="0">
                <a:latin typeface="Verdana"/>
                <a:cs typeface="Verdana"/>
              </a:rPr>
              <a:t>December </a:t>
            </a:r>
            <a:r>
              <a:rPr sz="2400" b="1" spc="-285" dirty="0">
                <a:latin typeface="Verdana"/>
                <a:cs typeface="Verdana"/>
              </a:rPr>
              <a:t>3,</a:t>
            </a:r>
            <a:r>
              <a:rPr sz="2400" b="1" spc="110" dirty="0">
                <a:latin typeface="Verdana"/>
                <a:cs typeface="Verdana"/>
              </a:rPr>
              <a:t> </a:t>
            </a:r>
            <a:r>
              <a:rPr sz="2400" b="1" spc="-370" dirty="0">
                <a:latin typeface="Verdana"/>
                <a:cs typeface="Verdana"/>
              </a:rPr>
              <a:t>2008</a:t>
            </a:r>
            <a:endParaRPr sz="2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3.1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15" dirty="0">
                <a:solidFill>
                  <a:srgbClr val="843B0C"/>
                </a:solidFill>
                <a:latin typeface="Verdana"/>
                <a:cs typeface="Verdana"/>
              </a:rPr>
              <a:t>June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27,</a:t>
            </a:r>
            <a:r>
              <a:rPr sz="2000" spc="-3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2009</a:t>
            </a:r>
            <a:endParaRPr sz="20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3.2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55" dirty="0">
                <a:solidFill>
                  <a:srgbClr val="843B0C"/>
                </a:solidFill>
                <a:latin typeface="Verdana"/>
                <a:cs typeface="Verdana"/>
              </a:rPr>
              <a:t>February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20,</a:t>
            </a:r>
            <a:r>
              <a:rPr sz="2000" spc="-35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2011</a:t>
            </a:r>
            <a:endParaRPr sz="20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40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spc="-175" dirty="0">
                <a:solidFill>
                  <a:srgbClr val="843B0C"/>
                </a:solidFill>
                <a:latin typeface="Verdana"/>
                <a:cs typeface="Verdana"/>
              </a:rPr>
              <a:t>3.3 </a:t>
            </a:r>
            <a:r>
              <a:rPr sz="2000" spc="-245" dirty="0">
                <a:solidFill>
                  <a:srgbClr val="843B0C"/>
                </a:solidFill>
                <a:latin typeface="Verdana"/>
                <a:cs typeface="Verdana"/>
              </a:rPr>
              <a:t>- </a:t>
            </a:r>
            <a:r>
              <a:rPr sz="2000" spc="-30" dirty="0">
                <a:solidFill>
                  <a:srgbClr val="843B0C"/>
                </a:solidFill>
                <a:latin typeface="Verdana"/>
                <a:cs typeface="Verdana"/>
              </a:rPr>
              <a:t>September </a:t>
            </a:r>
            <a:r>
              <a:rPr sz="2000" spc="-165" dirty="0">
                <a:solidFill>
                  <a:srgbClr val="843B0C"/>
                </a:solidFill>
                <a:latin typeface="Verdana"/>
                <a:cs typeface="Verdana"/>
              </a:rPr>
              <a:t>29,</a:t>
            </a:r>
            <a:r>
              <a:rPr sz="2000" spc="-34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843B0C"/>
                </a:solidFill>
                <a:latin typeface="Verdana"/>
                <a:cs typeface="Verdana"/>
              </a:rPr>
              <a:t>2012</a:t>
            </a:r>
            <a:endParaRPr sz="20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b="1" spc="-225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000" b="1" spc="-254" dirty="0">
                <a:solidFill>
                  <a:srgbClr val="843B0C"/>
                </a:solidFill>
                <a:latin typeface="Verdana"/>
                <a:cs typeface="Verdana"/>
              </a:rPr>
              <a:t>3.4 </a:t>
            </a:r>
            <a:r>
              <a:rPr sz="2000" b="1" spc="-120" dirty="0">
                <a:solidFill>
                  <a:srgbClr val="843B0C"/>
                </a:solidFill>
                <a:latin typeface="Verdana"/>
                <a:cs typeface="Verdana"/>
              </a:rPr>
              <a:t>- March </a:t>
            </a:r>
            <a:r>
              <a:rPr sz="2000" b="1" spc="-254" dirty="0">
                <a:solidFill>
                  <a:srgbClr val="843B0C"/>
                </a:solidFill>
                <a:latin typeface="Verdana"/>
                <a:cs typeface="Verdana"/>
              </a:rPr>
              <a:t>16,</a:t>
            </a:r>
            <a:r>
              <a:rPr sz="2000" b="1" spc="3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000" b="1" spc="-295" dirty="0">
                <a:solidFill>
                  <a:srgbClr val="843B0C"/>
                </a:solidFill>
                <a:latin typeface="Verdana"/>
                <a:cs typeface="Verdana"/>
              </a:rPr>
              <a:t>2014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798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6FC0"/>
                </a:solidFill>
              </a:rPr>
              <a:t>Python </a:t>
            </a:r>
            <a:r>
              <a:rPr spc="35" dirty="0">
                <a:solidFill>
                  <a:srgbClr val="006FC0"/>
                </a:solidFill>
              </a:rPr>
              <a:t>2 </a:t>
            </a:r>
            <a:r>
              <a:rPr spc="25" dirty="0">
                <a:solidFill>
                  <a:srgbClr val="006FC0"/>
                </a:solidFill>
              </a:rPr>
              <a:t>and</a:t>
            </a:r>
            <a:r>
              <a:rPr spc="-855" dirty="0">
                <a:solidFill>
                  <a:srgbClr val="006FC0"/>
                </a:solidFill>
              </a:rPr>
              <a:t> </a:t>
            </a:r>
            <a:r>
              <a:rPr spc="35" dirty="0">
                <a:solidFill>
                  <a:srgbClr val="006FC0"/>
                </a:solidFill>
              </a:rPr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285095" cy="3823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282575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250" dirty="0">
                <a:latin typeface="Verdana"/>
                <a:cs typeface="Verdana"/>
              </a:rPr>
              <a:t>2.0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was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released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b="1" spc="-395" dirty="0">
                <a:latin typeface="Verdana"/>
                <a:cs typeface="Verdana"/>
              </a:rPr>
              <a:t>2000</a:t>
            </a:r>
            <a:r>
              <a:rPr sz="2800" spc="-395" dirty="0">
                <a:latin typeface="Verdana"/>
                <a:cs typeface="Verdana"/>
              </a:rPr>
              <a:t>,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many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new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features  </a:t>
            </a:r>
            <a:r>
              <a:rPr sz="2800" spc="100" dirty="0">
                <a:latin typeface="Verdana"/>
                <a:cs typeface="Verdana"/>
              </a:rPr>
              <a:t>added.</a:t>
            </a:r>
            <a:endParaRPr sz="2800">
              <a:latin typeface="Verdana"/>
              <a:cs typeface="Verdana"/>
            </a:endParaRPr>
          </a:p>
          <a:p>
            <a:pPr marL="241300" marR="172593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50" dirty="0">
                <a:latin typeface="Verdana"/>
                <a:cs typeface="Verdana"/>
              </a:rPr>
              <a:t>3.0,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adjusting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several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aspects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65" dirty="0">
                <a:latin typeface="Verdana"/>
                <a:cs typeface="Verdana"/>
              </a:rPr>
              <a:t>core  </a:t>
            </a:r>
            <a:r>
              <a:rPr sz="2800" spc="25" dirty="0">
                <a:latin typeface="Verdana"/>
                <a:cs typeface="Verdana"/>
              </a:rPr>
              <a:t>language, </a:t>
            </a:r>
            <a:r>
              <a:rPr sz="2800" spc="-45" dirty="0">
                <a:latin typeface="Verdana"/>
                <a:cs typeface="Verdana"/>
              </a:rPr>
              <a:t>was </a:t>
            </a:r>
            <a:r>
              <a:rPr sz="2800" spc="-15" dirty="0">
                <a:latin typeface="Verdana"/>
                <a:cs typeface="Verdana"/>
              </a:rPr>
              <a:t>released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755" dirty="0">
                <a:latin typeface="Verdana"/>
                <a:cs typeface="Verdana"/>
              </a:rPr>
              <a:t> </a:t>
            </a:r>
            <a:r>
              <a:rPr sz="2800" b="1" spc="-395" dirty="0">
                <a:latin typeface="Verdana"/>
                <a:cs typeface="Verdana"/>
              </a:rPr>
              <a:t>2008</a:t>
            </a:r>
            <a:r>
              <a:rPr sz="2800" spc="-395" dirty="0"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45" dirty="0">
                <a:latin typeface="Verdana"/>
                <a:cs typeface="Verdana"/>
              </a:rPr>
              <a:t>3.0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310" dirty="0"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Verdana"/>
                <a:cs typeface="Verdana"/>
              </a:rPr>
              <a:t>backwards-incompatible</a:t>
            </a:r>
            <a:r>
              <a:rPr sz="2800" spc="-10" dirty="0"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70" dirty="0">
                <a:solidFill>
                  <a:srgbClr val="843B0C"/>
                </a:solidFill>
                <a:latin typeface="Verdana"/>
                <a:cs typeface="Verdana"/>
              </a:rPr>
              <a:t>Codes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written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for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35" dirty="0">
                <a:solidFill>
                  <a:srgbClr val="843B0C"/>
                </a:solidFill>
                <a:latin typeface="Verdana"/>
                <a:cs typeface="Verdana"/>
              </a:rPr>
              <a:t>2.x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may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not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843B0C"/>
                </a:solidFill>
                <a:latin typeface="Verdana"/>
                <a:cs typeface="Verdana"/>
              </a:rPr>
              <a:t>work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under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35" dirty="0">
                <a:solidFill>
                  <a:srgbClr val="843B0C"/>
                </a:solidFill>
                <a:latin typeface="Verdana"/>
                <a:cs typeface="Verdana"/>
              </a:rPr>
              <a:t>3.x!</a:t>
            </a:r>
            <a:endParaRPr sz="24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75" dirty="0">
                <a:latin typeface="Verdana"/>
                <a:cs typeface="Verdana"/>
              </a:rPr>
              <a:t>2.x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30" dirty="0">
                <a:latin typeface="Verdana"/>
                <a:cs typeface="Verdana"/>
              </a:rPr>
              <a:t>legacy, </a:t>
            </a: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75" dirty="0">
                <a:latin typeface="Verdana"/>
                <a:cs typeface="Verdana"/>
              </a:rPr>
              <a:t>3.x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75" dirty="0">
                <a:solidFill>
                  <a:srgbClr val="FF0000"/>
                </a:solidFill>
                <a:latin typeface="Verdana"/>
                <a:cs typeface="Verdana"/>
              </a:rPr>
              <a:t>present </a:t>
            </a:r>
            <a:r>
              <a:rPr sz="2800" spc="105" dirty="0">
                <a:solidFill>
                  <a:srgbClr val="0D0D0D"/>
                </a:solidFill>
                <a:latin typeface="Verdana"/>
                <a:cs typeface="Verdana"/>
              </a:rPr>
              <a:t>and</a:t>
            </a:r>
            <a:r>
              <a:rPr sz="2800" spc="-70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Verdana"/>
                <a:cs typeface="Verdana"/>
              </a:rPr>
              <a:t>future </a:t>
            </a:r>
            <a:r>
              <a:rPr sz="2800" spc="10" dirty="0">
                <a:latin typeface="Verdana"/>
                <a:cs typeface="Verdana"/>
              </a:rPr>
              <a:t>of 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25" dirty="0">
                <a:latin typeface="Verdana"/>
                <a:cs typeface="Verdana"/>
              </a:rPr>
              <a:t>language.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422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6FC0"/>
                </a:solidFill>
              </a:rPr>
              <a:t>Language</a:t>
            </a:r>
            <a:r>
              <a:rPr spc="-305" dirty="0">
                <a:solidFill>
                  <a:srgbClr val="006FC0"/>
                </a:solidFill>
              </a:rPr>
              <a:t> </a:t>
            </a:r>
            <a:r>
              <a:rPr spc="45" dirty="0">
                <a:solidFill>
                  <a:srgbClr val="006FC0"/>
                </a:solidFill>
              </a:rPr>
              <a:t>Philosophy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6532880" cy="33496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0" dirty="0">
                <a:latin typeface="Verdana"/>
                <a:cs typeface="Verdana"/>
              </a:rPr>
              <a:t>Beautiful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better </a:t>
            </a:r>
            <a:r>
              <a:rPr sz="2800" spc="-20" dirty="0">
                <a:latin typeface="Verdana"/>
                <a:cs typeface="Verdana"/>
              </a:rPr>
              <a:t>than</a:t>
            </a:r>
            <a:r>
              <a:rPr sz="2800" spc="-405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ugly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10" dirty="0">
                <a:latin typeface="Verdana"/>
                <a:cs typeface="Verdana"/>
              </a:rPr>
              <a:t>Explicit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better </a:t>
            </a:r>
            <a:r>
              <a:rPr sz="2800" spc="-15" dirty="0">
                <a:latin typeface="Verdana"/>
                <a:cs typeface="Verdana"/>
              </a:rPr>
              <a:t>than</a:t>
            </a:r>
            <a:r>
              <a:rPr sz="2800" spc="-409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implicit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20" dirty="0">
                <a:latin typeface="Verdana"/>
                <a:cs typeface="Verdana"/>
              </a:rPr>
              <a:t>Simple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better </a:t>
            </a:r>
            <a:r>
              <a:rPr sz="2800" spc="-20" dirty="0">
                <a:latin typeface="Verdana"/>
                <a:cs typeface="Verdana"/>
              </a:rPr>
              <a:t>than</a:t>
            </a:r>
            <a:r>
              <a:rPr sz="2800" spc="-375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complex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20" dirty="0">
                <a:latin typeface="Verdana"/>
                <a:cs typeface="Verdana"/>
              </a:rPr>
              <a:t>Complex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better </a:t>
            </a:r>
            <a:r>
              <a:rPr sz="2800" spc="-20" dirty="0">
                <a:latin typeface="Verdana"/>
                <a:cs typeface="Verdana"/>
              </a:rPr>
              <a:t>than</a:t>
            </a:r>
            <a:r>
              <a:rPr sz="2800" spc="-540" dirty="0">
                <a:latin typeface="Verdana"/>
                <a:cs typeface="Verdana"/>
              </a:rPr>
              <a:t> </a:t>
            </a:r>
            <a:r>
              <a:rPr sz="2800" spc="80" dirty="0">
                <a:latin typeface="Verdana"/>
                <a:cs typeface="Verdana"/>
              </a:rPr>
              <a:t>complicated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0" dirty="0">
                <a:latin typeface="Verdana"/>
                <a:cs typeface="Verdana"/>
              </a:rPr>
              <a:t>Flat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better </a:t>
            </a:r>
            <a:r>
              <a:rPr sz="2800" spc="-15" dirty="0">
                <a:latin typeface="Verdana"/>
                <a:cs typeface="Verdana"/>
              </a:rPr>
              <a:t>than</a:t>
            </a:r>
            <a:r>
              <a:rPr sz="2800" spc="-409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nested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25" dirty="0">
                <a:latin typeface="Verdana"/>
                <a:cs typeface="Verdana"/>
              </a:rPr>
              <a:t>Sparse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better </a:t>
            </a:r>
            <a:r>
              <a:rPr sz="2800" spc="-20" dirty="0">
                <a:latin typeface="Verdana"/>
                <a:cs typeface="Verdana"/>
              </a:rPr>
              <a:t>than</a:t>
            </a:r>
            <a:r>
              <a:rPr sz="2800" spc="-3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dense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328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rgbClr val="006FC0"/>
                </a:solidFill>
              </a:rPr>
              <a:t>Key</a:t>
            </a:r>
            <a:r>
              <a:rPr spc="-260" dirty="0">
                <a:solidFill>
                  <a:srgbClr val="006FC0"/>
                </a:solidFill>
              </a:rPr>
              <a:t> </a:t>
            </a:r>
            <a:r>
              <a:rPr spc="20" dirty="0">
                <a:solidFill>
                  <a:srgbClr val="006FC0"/>
                </a:solidFill>
              </a:rPr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58"/>
            <a:ext cx="5652770" cy="4116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20" dirty="0">
                <a:latin typeface="Verdana"/>
                <a:cs typeface="Verdana"/>
              </a:rPr>
              <a:t>Simple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30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Minimalistic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0" dirty="0">
                <a:latin typeface="Verdana"/>
                <a:cs typeface="Verdana"/>
              </a:rPr>
              <a:t>Easy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6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Learn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5" dirty="0">
                <a:latin typeface="Verdana"/>
                <a:cs typeface="Verdana"/>
              </a:rPr>
              <a:t>High-level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55" dirty="0">
                <a:latin typeface="Verdana"/>
                <a:cs typeface="Verdana"/>
              </a:rPr>
              <a:t>Language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Verdana"/>
                <a:cs typeface="Verdana"/>
              </a:rPr>
              <a:t>Portable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85" dirty="0">
                <a:latin typeface="Verdana"/>
                <a:cs typeface="Verdana"/>
              </a:rPr>
              <a:t>Interpreted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55" dirty="0">
                <a:latin typeface="Verdana"/>
                <a:cs typeface="Verdana"/>
              </a:rPr>
              <a:t>Embeddable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40" dirty="0">
                <a:latin typeface="Verdana"/>
                <a:cs typeface="Verdana"/>
              </a:rPr>
              <a:t>Extensive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40" dirty="0">
                <a:latin typeface="Verdana"/>
                <a:cs typeface="Verdana"/>
              </a:rPr>
              <a:t>Libraries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14" dirty="0">
                <a:latin typeface="Verdana"/>
                <a:cs typeface="Verdana"/>
              </a:rPr>
              <a:t>Free,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114" dirty="0">
                <a:latin typeface="Verdana"/>
                <a:cs typeface="Verdana"/>
              </a:rPr>
              <a:t>Open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Source,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505" dirty="0">
                <a:latin typeface="Verdana"/>
                <a:cs typeface="Verdana"/>
              </a:rPr>
              <a:t>…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70" dirty="0">
                <a:solidFill>
                  <a:srgbClr val="00AF50"/>
                </a:solidFill>
                <a:latin typeface="Verdana"/>
                <a:cs typeface="Verdana"/>
              </a:rPr>
              <a:t>Fun</a:t>
            </a:r>
            <a:r>
              <a:rPr sz="2800" spc="-170" dirty="0">
                <a:latin typeface="Verdana"/>
                <a:cs typeface="Verdana"/>
              </a:rPr>
              <a:t>!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285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>
                <a:solidFill>
                  <a:srgbClr val="006FC0"/>
                </a:solidFill>
              </a:rPr>
              <a:t>Programming</a:t>
            </a:r>
            <a:r>
              <a:rPr spc="-315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Paradigms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9190355" cy="390271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740" dirty="0">
                <a:latin typeface="Verdana"/>
                <a:cs typeface="Verdana"/>
              </a:rPr>
              <a:t> </a:t>
            </a:r>
            <a:r>
              <a:rPr sz="2800" spc="-155" dirty="0">
                <a:solidFill>
                  <a:srgbClr val="FF0000"/>
                </a:solidFill>
                <a:latin typeface="Verdana"/>
                <a:cs typeface="Verdana"/>
              </a:rPr>
              <a:t>multi </a:t>
            </a:r>
            <a:r>
              <a:rPr sz="2800" spc="30" dirty="0">
                <a:solidFill>
                  <a:srgbClr val="FF0000"/>
                </a:solidFill>
                <a:latin typeface="Verdana"/>
                <a:cs typeface="Verdana"/>
              </a:rPr>
              <a:t>paradigm </a:t>
            </a:r>
            <a:r>
              <a:rPr sz="2800" spc="-35" dirty="0">
                <a:latin typeface="Verdana"/>
                <a:cs typeface="Verdana"/>
              </a:rPr>
              <a:t>programming </a:t>
            </a:r>
            <a:r>
              <a:rPr sz="2800" spc="30" dirty="0">
                <a:latin typeface="Verdana"/>
                <a:cs typeface="Verdana"/>
              </a:rPr>
              <a:t>language.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85" dirty="0">
                <a:latin typeface="Verdana"/>
                <a:cs typeface="Verdana"/>
              </a:rPr>
              <a:t>Imperative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35" dirty="0">
                <a:latin typeface="Verdana"/>
                <a:cs typeface="Verdana"/>
              </a:rPr>
              <a:t>Functional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Verdana"/>
                <a:cs typeface="Verdana"/>
              </a:rPr>
              <a:t>Object-Oriented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Verdana"/>
                <a:cs typeface="Verdana"/>
              </a:rPr>
              <a:t>Aspect-Oriented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30" dirty="0">
                <a:latin typeface="Verdana"/>
                <a:cs typeface="Verdana"/>
              </a:rPr>
              <a:t>Logic</a:t>
            </a:r>
            <a:r>
              <a:rPr sz="2800" spc="-745" dirty="0">
                <a:latin typeface="Verdana"/>
                <a:cs typeface="Verdana"/>
              </a:rPr>
              <a:t> </a:t>
            </a:r>
            <a:r>
              <a:rPr sz="2800" spc="-145" dirty="0">
                <a:latin typeface="Verdana"/>
                <a:cs typeface="Verdana"/>
              </a:rPr>
              <a:t>(rule </a:t>
            </a:r>
            <a:r>
              <a:rPr sz="2800" spc="-20" dirty="0">
                <a:latin typeface="Verdana"/>
                <a:cs typeface="Verdana"/>
              </a:rPr>
              <a:t>base) </a:t>
            </a:r>
            <a:r>
              <a:rPr sz="2800" spc="-55" dirty="0">
                <a:latin typeface="Verdana"/>
                <a:cs typeface="Verdana"/>
              </a:rPr>
              <a:t>Programming </a:t>
            </a:r>
            <a:r>
              <a:rPr sz="2800" spc="-75" dirty="0">
                <a:latin typeface="Verdana"/>
                <a:cs typeface="Verdana"/>
              </a:rPr>
              <a:t>(by </a:t>
            </a:r>
            <a:r>
              <a:rPr sz="2800" spc="-100" dirty="0">
                <a:latin typeface="Verdana"/>
                <a:cs typeface="Verdana"/>
              </a:rPr>
              <a:t>extension)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500" dirty="0">
                <a:latin typeface="Verdana"/>
                <a:cs typeface="Verdana"/>
              </a:rPr>
              <a:t>…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5047" y="365759"/>
            <a:ext cx="6504940" cy="5556885"/>
            <a:chOff x="4575047" y="365759"/>
            <a:chExt cx="6504940" cy="5556885"/>
          </a:xfrm>
        </p:grpSpPr>
        <p:sp>
          <p:nvSpPr>
            <p:cNvPr id="3" name="object 3"/>
            <p:cNvSpPr/>
            <p:nvPr/>
          </p:nvSpPr>
          <p:spPr>
            <a:xfrm>
              <a:off x="4575047" y="365759"/>
              <a:ext cx="6504432" cy="55565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84135" y="1278635"/>
              <a:ext cx="647700" cy="647700"/>
            </a:xfrm>
            <a:custGeom>
              <a:avLst/>
              <a:gdLst/>
              <a:ahLst/>
              <a:cxnLst/>
              <a:rect l="l" t="t" r="r" b="b"/>
              <a:pathLst>
                <a:path w="647700" h="647700">
                  <a:moveTo>
                    <a:pt x="0" y="323850"/>
                  </a:moveTo>
                  <a:lnTo>
                    <a:pt x="3512" y="276003"/>
                  </a:lnTo>
                  <a:lnTo>
                    <a:pt x="13714" y="230332"/>
                  </a:lnTo>
                  <a:lnTo>
                    <a:pt x="30106" y="187340"/>
                  </a:lnTo>
                  <a:lnTo>
                    <a:pt x="52184" y="147528"/>
                  </a:lnTo>
                  <a:lnTo>
                    <a:pt x="79448" y="111397"/>
                  </a:lnTo>
                  <a:lnTo>
                    <a:pt x="111397" y="79448"/>
                  </a:lnTo>
                  <a:lnTo>
                    <a:pt x="147528" y="52184"/>
                  </a:lnTo>
                  <a:lnTo>
                    <a:pt x="187340" y="30106"/>
                  </a:lnTo>
                  <a:lnTo>
                    <a:pt x="230332" y="13714"/>
                  </a:lnTo>
                  <a:lnTo>
                    <a:pt x="276003" y="3512"/>
                  </a:lnTo>
                  <a:lnTo>
                    <a:pt x="323850" y="0"/>
                  </a:lnTo>
                  <a:lnTo>
                    <a:pt x="371696" y="3512"/>
                  </a:lnTo>
                  <a:lnTo>
                    <a:pt x="417367" y="13714"/>
                  </a:lnTo>
                  <a:lnTo>
                    <a:pt x="460359" y="30106"/>
                  </a:lnTo>
                  <a:lnTo>
                    <a:pt x="500171" y="52184"/>
                  </a:lnTo>
                  <a:lnTo>
                    <a:pt x="536302" y="79448"/>
                  </a:lnTo>
                  <a:lnTo>
                    <a:pt x="568251" y="111397"/>
                  </a:lnTo>
                  <a:lnTo>
                    <a:pt x="595515" y="147528"/>
                  </a:lnTo>
                  <a:lnTo>
                    <a:pt x="617593" y="187340"/>
                  </a:lnTo>
                  <a:lnTo>
                    <a:pt x="633985" y="230332"/>
                  </a:lnTo>
                  <a:lnTo>
                    <a:pt x="644187" y="276003"/>
                  </a:lnTo>
                  <a:lnTo>
                    <a:pt x="647700" y="323850"/>
                  </a:lnTo>
                  <a:lnTo>
                    <a:pt x="644187" y="371696"/>
                  </a:lnTo>
                  <a:lnTo>
                    <a:pt x="633985" y="417367"/>
                  </a:lnTo>
                  <a:lnTo>
                    <a:pt x="617593" y="460359"/>
                  </a:lnTo>
                  <a:lnTo>
                    <a:pt x="595515" y="500171"/>
                  </a:lnTo>
                  <a:lnTo>
                    <a:pt x="568251" y="536302"/>
                  </a:lnTo>
                  <a:lnTo>
                    <a:pt x="536302" y="568251"/>
                  </a:lnTo>
                  <a:lnTo>
                    <a:pt x="500171" y="595515"/>
                  </a:lnTo>
                  <a:lnTo>
                    <a:pt x="460359" y="617593"/>
                  </a:lnTo>
                  <a:lnTo>
                    <a:pt x="417367" y="633985"/>
                  </a:lnTo>
                  <a:lnTo>
                    <a:pt x="371696" y="644187"/>
                  </a:lnTo>
                  <a:lnTo>
                    <a:pt x="323850" y="647700"/>
                  </a:lnTo>
                  <a:lnTo>
                    <a:pt x="276003" y="644187"/>
                  </a:lnTo>
                  <a:lnTo>
                    <a:pt x="230332" y="633985"/>
                  </a:lnTo>
                  <a:lnTo>
                    <a:pt x="187340" y="617593"/>
                  </a:lnTo>
                  <a:lnTo>
                    <a:pt x="147528" y="595515"/>
                  </a:lnTo>
                  <a:lnTo>
                    <a:pt x="111397" y="568251"/>
                  </a:lnTo>
                  <a:lnTo>
                    <a:pt x="79448" y="536302"/>
                  </a:lnTo>
                  <a:lnTo>
                    <a:pt x="52184" y="500171"/>
                  </a:lnTo>
                  <a:lnTo>
                    <a:pt x="30106" y="460359"/>
                  </a:lnTo>
                  <a:lnTo>
                    <a:pt x="13714" y="417367"/>
                  </a:lnTo>
                  <a:lnTo>
                    <a:pt x="3512" y="371696"/>
                  </a:lnTo>
                  <a:lnTo>
                    <a:pt x="0" y="323850"/>
                  </a:lnTo>
                  <a:close/>
                </a:path>
              </a:pathLst>
            </a:custGeom>
            <a:ln w="579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16635" y="1564640"/>
            <a:ext cx="3155315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342265" indent="-457834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  <a:tab pos="470534" algn="l"/>
              </a:tabLst>
            </a:pPr>
            <a:r>
              <a:rPr sz="2800" spc="-85" dirty="0">
                <a:latin typeface="Verdana"/>
                <a:cs typeface="Verdana"/>
              </a:rPr>
              <a:t>Top </a:t>
            </a:r>
            <a:r>
              <a:rPr sz="2800" spc="-235" dirty="0">
                <a:latin typeface="Verdana"/>
                <a:cs typeface="Verdana"/>
              </a:rPr>
              <a:t>10  </a:t>
            </a:r>
            <a:r>
              <a:rPr sz="2800" spc="-80" dirty="0">
                <a:latin typeface="Verdana"/>
                <a:cs typeface="Verdana"/>
              </a:rPr>
              <a:t>Programm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25" dirty="0">
                <a:latin typeface="Verdana"/>
                <a:cs typeface="Verdana"/>
              </a:rPr>
              <a:t>ng  </a:t>
            </a:r>
            <a:r>
              <a:rPr sz="2800" spc="-15" dirty="0">
                <a:latin typeface="Verdana"/>
                <a:cs typeface="Verdana"/>
              </a:rPr>
              <a:t>Languages.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750">
              <a:latin typeface="Verdana"/>
              <a:cs typeface="Verdana"/>
            </a:endParaRPr>
          </a:p>
          <a:p>
            <a:pPr marL="469900" marR="5080" indent="-457834">
              <a:lnSpc>
                <a:spcPct val="100000"/>
              </a:lnSpc>
              <a:buFont typeface="Arial"/>
              <a:buChar char="•"/>
              <a:tabLst>
                <a:tab pos="469265" algn="l"/>
                <a:tab pos="470534" algn="l"/>
              </a:tabLst>
            </a:pPr>
            <a:r>
              <a:rPr sz="2800" spc="-345" dirty="0">
                <a:latin typeface="Verdana"/>
                <a:cs typeface="Verdana"/>
              </a:rPr>
              <a:t>IEEE </a:t>
            </a:r>
            <a:r>
              <a:rPr sz="2800" spc="-70" dirty="0">
                <a:latin typeface="Verdana"/>
                <a:cs typeface="Verdana"/>
              </a:rPr>
              <a:t>Spectrum’s  </a:t>
            </a:r>
            <a:r>
              <a:rPr sz="2800" spc="-235" dirty="0">
                <a:latin typeface="Verdana"/>
                <a:cs typeface="Verdana"/>
              </a:rPr>
              <a:t>2014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Ranking.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329945"/>
            <a:ext cx="2654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>
                <a:solidFill>
                  <a:srgbClr val="006FC0"/>
                </a:solidFill>
              </a:rPr>
              <a:t>Pop</a:t>
            </a:r>
            <a:r>
              <a:rPr spc="35" dirty="0">
                <a:solidFill>
                  <a:srgbClr val="006FC0"/>
                </a:solidFill>
              </a:rPr>
              <a:t>u</a:t>
            </a:r>
            <a:r>
              <a:rPr spc="204" dirty="0">
                <a:solidFill>
                  <a:srgbClr val="006FC0"/>
                </a:solidFill>
              </a:rPr>
              <a:t>lari</a:t>
            </a:r>
            <a:r>
              <a:rPr spc="180" dirty="0">
                <a:solidFill>
                  <a:srgbClr val="006FC0"/>
                </a:solidFill>
              </a:rPr>
              <a:t>t</a:t>
            </a:r>
            <a:r>
              <a:rPr spc="-15" dirty="0">
                <a:solidFill>
                  <a:srgbClr val="006FC0"/>
                </a:solidFill>
              </a:rPr>
              <a:t>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15669" y="4777232"/>
            <a:ext cx="27533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Verdana"/>
                <a:cs typeface="Verdana"/>
              </a:rPr>
              <a:t>Infographic: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latin typeface="Verdana"/>
                <a:cs typeface="Verdana"/>
              </a:rPr>
              <a:t>Brandon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45" dirty="0">
                <a:latin typeface="Verdana"/>
                <a:cs typeface="Verdana"/>
              </a:rPr>
              <a:t>Palacio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185" dirty="0">
                <a:latin typeface="Verdana"/>
                <a:cs typeface="Verdana"/>
                <a:hlinkClick r:id="rId3"/>
              </a:rPr>
              <a:t>http://spectrum.ieee.org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978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6FC0"/>
                </a:solidFill>
              </a:rPr>
              <a:t>Getting</a:t>
            </a:r>
            <a:r>
              <a:rPr spc="-290" dirty="0">
                <a:solidFill>
                  <a:srgbClr val="006FC0"/>
                </a:solidFill>
              </a:rPr>
              <a:t> </a:t>
            </a:r>
            <a:r>
              <a:rPr spc="105" dirty="0">
                <a:solidFill>
                  <a:srgbClr val="006FC0"/>
                </a:solidFill>
              </a:rPr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9866630" cy="402780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35" dirty="0">
                <a:latin typeface="Verdana"/>
                <a:cs typeface="Verdana"/>
              </a:rPr>
              <a:t>There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three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different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ways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70" dirty="0">
                <a:latin typeface="Verdana"/>
                <a:cs typeface="Verdana"/>
              </a:rPr>
              <a:t>start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Python</a:t>
            </a:r>
            <a:endParaRPr sz="28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spc="-55" dirty="0">
                <a:solidFill>
                  <a:srgbClr val="0D0D0D"/>
                </a:solidFill>
                <a:latin typeface="Verdana"/>
                <a:cs typeface="Verdana"/>
              </a:rPr>
              <a:t>Interactive</a:t>
            </a:r>
            <a:r>
              <a:rPr sz="24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0D0D0D"/>
                </a:solidFill>
                <a:latin typeface="Verdana"/>
                <a:cs typeface="Verdana"/>
              </a:rPr>
              <a:t>Interpreter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from 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Unix, </a:t>
            </a:r>
            <a:r>
              <a:rPr sz="2000" spc="-140" dirty="0">
                <a:solidFill>
                  <a:srgbClr val="C55A11"/>
                </a:solidFill>
                <a:latin typeface="Verdana"/>
                <a:cs typeface="Verdana"/>
              </a:rPr>
              <a:t>Linux, </a:t>
            </a:r>
            <a:r>
              <a:rPr sz="2000" spc="-110" dirty="0">
                <a:solidFill>
                  <a:srgbClr val="C55A11"/>
                </a:solidFill>
                <a:latin typeface="Verdana"/>
                <a:cs typeface="Verdana"/>
              </a:rPr>
              <a:t>DOS,</a:t>
            </a:r>
            <a:r>
              <a:rPr sz="2000" spc="-2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C55A11"/>
                </a:solidFill>
                <a:latin typeface="Verdana"/>
                <a:cs typeface="Verdana"/>
              </a:rPr>
              <a:t>etc.</a:t>
            </a:r>
            <a:endParaRPr sz="20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Python </a:t>
            </a:r>
            <a:r>
              <a:rPr sz="2000" spc="-100" dirty="0">
                <a:solidFill>
                  <a:srgbClr val="C55A11"/>
                </a:solidFill>
                <a:latin typeface="Verdana"/>
                <a:cs typeface="Verdana"/>
              </a:rPr>
              <a:t>shell </a:t>
            </a:r>
            <a:r>
              <a:rPr sz="2000" spc="25" dirty="0">
                <a:solidFill>
                  <a:srgbClr val="C55A11"/>
                </a:solidFill>
                <a:latin typeface="Verdana"/>
                <a:cs typeface="Verdana"/>
              </a:rPr>
              <a:t>begin</a:t>
            </a:r>
            <a:r>
              <a:rPr sz="2000" spc="-459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C55A11"/>
                </a:solidFill>
                <a:latin typeface="Verdana"/>
                <a:cs typeface="Verdana"/>
              </a:rPr>
              <a:t>with </a:t>
            </a:r>
            <a:r>
              <a:rPr sz="2000" b="1" spc="-540" dirty="0">
                <a:solidFill>
                  <a:srgbClr val="C55A11"/>
                </a:solidFill>
                <a:latin typeface="Verdana"/>
                <a:cs typeface="Verdana"/>
              </a:rPr>
              <a:t>&gt;&gt;&gt;</a:t>
            </a:r>
            <a:endParaRPr sz="20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spc="-105" dirty="0">
                <a:latin typeface="Verdana"/>
                <a:cs typeface="Verdana"/>
              </a:rPr>
              <a:t>Script </a:t>
            </a:r>
            <a:r>
              <a:rPr sz="2400" spc="-95" dirty="0">
                <a:latin typeface="Verdana"/>
                <a:cs typeface="Verdana"/>
              </a:rPr>
              <a:t>from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3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Command-line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35" dirty="0">
                <a:solidFill>
                  <a:srgbClr val="C55A11"/>
                </a:solidFill>
                <a:latin typeface="Verdana"/>
                <a:cs typeface="Verdana"/>
              </a:rPr>
              <a:t>Install</a:t>
            </a:r>
            <a:r>
              <a:rPr sz="2000" spc="-20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python.</a:t>
            </a:r>
            <a:endParaRPr sz="20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  <a:tab pos="2153920" algn="l"/>
              </a:tabLst>
            </a:pPr>
            <a:r>
              <a:rPr sz="2000" b="1" spc="-185" dirty="0">
                <a:solidFill>
                  <a:srgbClr val="C55A11"/>
                </a:solidFill>
                <a:latin typeface="Verdana"/>
                <a:cs typeface="Verdana"/>
              </a:rPr>
              <a:t>python	</a:t>
            </a:r>
            <a:r>
              <a:rPr sz="2000" spc="-75" dirty="0">
                <a:solidFill>
                  <a:srgbClr val="C55A11"/>
                </a:solidFill>
                <a:latin typeface="Verdana"/>
                <a:cs typeface="Verdana"/>
              </a:rPr>
              <a:t>[YourScriptFileName</a:t>
            </a:r>
            <a:r>
              <a:rPr sz="2000" b="1" spc="-75" dirty="0">
                <a:solidFill>
                  <a:srgbClr val="C55A11"/>
                </a:solidFill>
                <a:latin typeface="Verdana"/>
                <a:cs typeface="Verdana"/>
              </a:rPr>
              <a:t>.py</a:t>
            </a:r>
            <a:r>
              <a:rPr sz="2000" spc="-75" dirty="0">
                <a:solidFill>
                  <a:srgbClr val="C55A11"/>
                </a:solidFill>
                <a:latin typeface="Verdana"/>
                <a:cs typeface="Verdana"/>
              </a:rPr>
              <a:t>]</a:t>
            </a:r>
            <a:endParaRPr sz="20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spc="-40" dirty="0">
                <a:latin typeface="Verdana"/>
                <a:cs typeface="Verdana"/>
              </a:rPr>
              <a:t>Integrated </a:t>
            </a:r>
            <a:r>
              <a:rPr sz="2400" spc="5" dirty="0">
                <a:latin typeface="Verdana"/>
                <a:cs typeface="Verdana"/>
              </a:rPr>
              <a:t>Development </a:t>
            </a:r>
            <a:r>
              <a:rPr sz="2400" spc="-90" dirty="0">
                <a:latin typeface="Verdana"/>
                <a:cs typeface="Verdana"/>
              </a:rPr>
              <a:t>Environment</a:t>
            </a:r>
            <a:r>
              <a:rPr sz="2400" spc="-570" dirty="0">
                <a:latin typeface="Verdana"/>
                <a:cs typeface="Verdana"/>
              </a:rPr>
              <a:t> </a:t>
            </a:r>
            <a:r>
              <a:rPr sz="2400" spc="-240" dirty="0">
                <a:latin typeface="Verdana"/>
                <a:cs typeface="Verdana"/>
              </a:rPr>
              <a:t>(IDE)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5" dirty="0">
                <a:solidFill>
                  <a:srgbClr val="C55A11"/>
                </a:solidFill>
                <a:latin typeface="Verdana"/>
                <a:cs typeface="Verdana"/>
              </a:rPr>
              <a:t>You</a:t>
            </a:r>
            <a:r>
              <a:rPr sz="2000" spc="-17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25" dirty="0">
                <a:solidFill>
                  <a:srgbClr val="C55A11"/>
                </a:solidFill>
                <a:latin typeface="Verdana"/>
                <a:cs typeface="Verdana"/>
              </a:rPr>
              <a:t>can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C55A11"/>
                </a:solidFill>
                <a:latin typeface="Verdana"/>
                <a:cs typeface="Verdana"/>
              </a:rPr>
              <a:t>run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Python</a:t>
            </a:r>
            <a:r>
              <a:rPr sz="2000" spc="-1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from</a:t>
            </a:r>
            <a:r>
              <a:rPr sz="2000" spc="-1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C55A11"/>
                </a:solidFill>
                <a:latin typeface="Verdana"/>
                <a:cs typeface="Verdana"/>
              </a:rPr>
              <a:t>graphical</a:t>
            </a:r>
            <a:r>
              <a:rPr sz="2000" spc="-1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C55A11"/>
                </a:solidFill>
                <a:latin typeface="Verdana"/>
                <a:cs typeface="Verdana"/>
              </a:rPr>
              <a:t>user</a:t>
            </a:r>
            <a:r>
              <a:rPr sz="2000" spc="-17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55A11"/>
                </a:solidFill>
                <a:latin typeface="Verdana"/>
                <a:cs typeface="Verdana"/>
              </a:rPr>
              <a:t>interface</a:t>
            </a: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(GUI)</a:t>
            </a:r>
            <a:r>
              <a:rPr sz="2000" spc="-12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C55A11"/>
                </a:solidFill>
                <a:latin typeface="Verdana"/>
                <a:cs typeface="Verdana"/>
              </a:rPr>
              <a:t>environment.</a:t>
            </a:r>
            <a:endParaRPr sz="20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b="1" spc="-160" dirty="0">
                <a:solidFill>
                  <a:srgbClr val="C55A11"/>
                </a:solidFill>
                <a:latin typeface="Verdana"/>
                <a:cs typeface="Verdana"/>
              </a:rPr>
              <a:t>All </a:t>
            </a:r>
            <a:r>
              <a:rPr sz="2000" b="1" spc="-215" dirty="0">
                <a:solidFill>
                  <a:srgbClr val="C55A11"/>
                </a:solidFill>
                <a:latin typeface="Verdana"/>
                <a:cs typeface="Verdana"/>
              </a:rPr>
              <a:t>in </a:t>
            </a:r>
            <a:r>
              <a:rPr sz="2000" b="1" spc="-95" dirty="0">
                <a:solidFill>
                  <a:srgbClr val="C55A11"/>
                </a:solidFill>
                <a:latin typeface="Verdana"/>
                <a:cs typeface="Verdana"/>
              </a:rPr>
              <a:t>One </a:t>
            </a:r>
            <a:r>
              <a:rPr sz="2000" spc="-75" dirty="0">
                <a:solidFill>
                  <a:srgbClr val="C55A11"/>
                </a:solidFill>
                <a:latin typeface="Verdana"/>
                <a:cs typeface="Verdana"/>
              </a:rPr>
              <a:t>solution </a:t>
            </a:r>
            <a:r>
              <a:rPr sz="2000" spc="-95" dirty="0">
                <a:solidFill>
                  <a:srgbClr val="C55A11"/>
                </a:solidFill>
                <a:latin typeface="Verdana"/>
                <a:cs typeface="Verdana"/>
              </a:rPr>
              <a:t>like </a:t>
            </a:r>
            <a:r>
              <a:rPr sz="2000" b="1" spc="-380" dirty="0">
                <a:solidFill>
                  <a:srgbClr val="C55A11"/>
                </a:solidFill>
                <a:latin typeface="Verdana"/>
                <a:cs typeface="Verdana"/>
              </a:rPr>
              <a:t>IDLE </a:t>
            </a:r>
            <a:r>
              <a:rPr sz="2000" spc="-100" dirty="0">
                <a:solidFill>
                  <a:srgbClr val="C55A11"/>
                </a:solidFill>
                <a:latin typeface="Verdana"/>
                <a:cs typeface="Verdana"/>
              </a:rPr>
              <a:t>in </a:t>
            </a:r>
            <a:r>
              <a:rPr sz="2000" spc="-65" dirty="0">
                <a:solidFill>
                  <a:srgbClr val="C55A11"/>
                </a:solidFill>
                <a:latin typeface="Verdana"/>
                <a:cs typeface="Verdana"/>
              </a:rPr>
              <a:t>next</a:t>
            </a:r>
            <a:r>
              <a:rPr sz="2000" spc="-434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C55A11"/>
                </a:solidFill>
                <a:latin typeface="Verdana"/>
                <a:cs typeface="Verdana"/>
              </a:rPr>
              <a:t>slide.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978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>
                <a:solidFill>
                  <a:srgbClr val="006FC0"/>
                </a:solidFill>
              </a:rPr>
              <a:t>Getting</a:t>
            </a:r>
            <a:r>
              <a:rPr spc="-290" dirty="0">
                <a:solidFill>
                  <a:srgbClr val="006FC0"/>
                </a:solidFill>
              </a:rPr>
              <a:t> </a:t>
            </a:r>
            <a:r>
              <a:rPr spc="105" dirty="0">
                <a:solidFill>
                  <a:srgbClr val="006FC0"/>
                </a:solidFill>
              </a:rPr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4117975" cy="218249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95" dirty="0">
                <a:latin typeface="Verdana"/>
                <a:cs typeface="Verdana"/>
              </a:rPr>
              <a:t>IDLE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05" dirty="0">
                <a:latin typeface="Verdana"/>
                <a:cs typeface="Verdana"/>
              </a:rPr>
              <a:t>IDE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35" dirty="0">
                <a:solidFill>
                  <a:srgbClr val="843B0C"/>
                </a:solidFill>
                <a:latin typeface="Verdana"/>
                <a:cs typeface="Verdana"/>
              </a:rPr>
              <a:t>Download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45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from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400" spc="-70" dirty="0">
                <a:solidFill>
                  <a:srgbClr val="FF0000"/>
                </a:solidFill>
                <a:latin typeface="Verdana"/>
                <a:cs typeface="Verdana"/>
                <a:hlinkClick r:id="rId2"/>
              </a:rPr>
              <a:t>http://python.org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Install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it.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Run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it.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71515" y="536448"/>
            <a:ext cx="6355080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204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6FC0"/>
                </a:solidFill>
              </a:rPr>
              <a:t>Python</a:t>
            </a:r>
            <a:r>
              <a:rPr spc="-275" dirty="0">
                <a:solidFill>
                  <a:srgbClr val="006FC0"/>
                </a:solidFill>
              </a:rPr>
              <a:t> </a:t>
            </a:r>
            <a:r>
              <a:rPr spc="-15" dirty="0">
                <a:solidFill>
                  <a:srgbClr val="006FC0"/>
                </a:solidFill>
              </a:rPr>
              <a:t>Shell</a:t>
            </a:r>
          </a:p>
        </p:txBody>
      </p:sp>
      <p:sp>
        <p:nvSpPr>
          <p:cNvPr id="3" name="object 3"/>
          <p:cNvSpPr/>
          <p:nvPr/>
        </p:nvSpPr>
        <p:spPr>
          <a:xfrm>
            <a:off x="1429511" y="1578863"/>
            <a:ext cx="9607295" cy="4320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574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>
                <a:solidFill>
                  <a:srgbClr val="006FC0"/>
                </a:solidFill>
              </a:rPr>
              <a:t>Simple </a:t>
            </a:r>
            <a:r>
              <a:rPr spc="50" dirty="0">
                <a:solidFill>
                  <a:srgbClr val="006FC0"/>
                </a:solidFill>
              </a:rPr>
              <a:t>Script </a:t>
            </a:r>
            <a:r>
              <a:rPr spc="250" dirty="0">
                <a:solidFill>
                  <a:srgbClr val="006FC0"/>
                </a:solidFill>
              </a:rPr>
              <a:t>with</a:t>
            </a:r>
            <a:r>
              <a:rPr spc="-775" dirty="0">
                <a:solidFill>
                  <a:srgbClr val="006FC0"/>
                </a:solidFill>
              </a:rPr>
              <a:t> </a:t>
            </a:r>
            <a:r>
              <a:rPr spc="235" dirty="0">
                <a:solidFill>
                  <a:srgbClr val="006FC0"/>
                </a:solidFill>
              </a:rPr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1927860" y="1578863"/>
            <a:ext cx="8336280" cy="4320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657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>
                <a:solidFill>
                  <a:srgbClr val="006FC0"/>
                </a:solidFill>
              </a:rPr>
              <a:t>Other </a:t>
            </a:r>
            <a:r>
              <a:rPr spc="-175" dirty="0">
                <a:solidFill>
                  <a:srgbClr val="006FC0"/>
                </a:solidFill>
              </a:rPr>
              <a:t>IDEs:</a:t>
            </a:r>
            <a:r>
              <a:rPr spc="-695" dirty="0">
                <a:solidFill>
                  <a:srgbClr val="006FC0"/>
                </a:solidFill>
              </a:rPr>
              <a:t> </a:t>
            </a:r>
            <a:r>
              <a:rPr spc="-55" dirty="0">
                <a:solidFill>
                  <a:srgbClr val="FF0000"/>
                </a:solidFill>
              </a:rPr>
              <a:t>PyDev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3296285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40005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0" dirty="0">
                <a:latin typeface="Verdana"/>
                <a:cs typeface="Verdana"/>
              </a:rPr>
              <a:t>PyDev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350" dirty="0">
                <a:latin typeface="Verdana"/>
                <a:cs typeface="Verdana"/>
              </a:rPr>
              <a:t> </a:t>
            </a:r>
            <a:r>
              <a:rPr sz="2800" b="1" spc="-320" dirty="0">
                <a:latin typeface="Verdana"/>
                <a:cs typeface="Verdana"/>
              </a:rPr>
              <a:t>Python  </a:t>
            </a:r>
            <a:r>
              <a:rPr sz="2800" b="1" spc="-530" dirty="0">
                <a:latin typeface="Verdana"/>
                <a:cs typeface="Verdana"/>
              </a:rPr>
              <a:t>IDE </a:t>
            </a:r>
            <a:r>
              <a:rPr sz="2800" spc="-110" dirty="0">
                <a:latin typeface="Verdana"/>
                <a:cs typeface="Verdana"/>
              </a:rPr>
              <a:t>for</a:t>
            </a:r>
            <a:r>
              <a:rPr sz="2800" spc="-305" dirty="0">
                <a:latin typeface="Verdana"/>
                <a:cs typeface="Verdana"/>
              </a:rPr>
              <a:t> </a:t>
            </a:r>
            <a:r>
              <a:rPr sz="2800" b="1" spc="-220" dirty="0">
                <a:latin typeface="Verdana"/>
                <a:cs typeface="Verdana"/>
              </a:rPr>
              <a:t>Eclipse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Clr>
                <a:srgbClr val="000000"/>
              </a:buClr>
              <a:buFont typeface="Arial"/>
              <a:buChar char="•"/>
              <a:tabLst>
                <a:tab pos="241935" algn="l"/>
              </a:tabLst>
            </a:pPr>
            <a:r>
              <a:rPr sz="2800" u="heavy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htt</a:t>
            </a:r>
            <a:r>
              <a:rPr sz="2800" u="heavy" spc="-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p</a:t>
            </a:r>
            <a:r>
              <a:rPr sz="2800" u="heavy" spc="-5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:</a:t>
            </a:r>
            <a:r>
              <a:rPr sz="280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//py</a:t>
            </a:r>
            <a:r>
              <a:rPr sz="2800" u="heavy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d</a:t>
            </a:r>
            <a:r>
              <a:rPr sz="2800" u="heavy" spc="-8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ev</a:t>
            </a:r>
            <a:r>
              <a:rPr sz="2800" u="heavy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.</a:t>
            </a:r>
            <a:r>
              <a:rPr sz="2800" u="heavy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or</a:t>
            </a:r>
            <a:r>
              <a:rPr sz="2800" u="heavy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g</a:t>
            </a:r>
            <a:r>
              <a:rPr sz="2800" u="heavy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/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00015" y="1578863"/>
            <a:ext cx="6359652" cy="4320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1209" y="4709230"/>
            <a:ext cx="2467344" cy="6959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3436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>
                <a:solidFill>
                  <a:srgbClr val="006FC0"/>
                </a:solidFill>
              </a:rPr>
              <a:t>Other </a:t>
            </a:r>
            <a:r>
              <a:rPr spc="-175" dirty="0">
                <a:solidFill>
                  <a:srgbClr val="006FC0"/>
                </a:solidFill>
              </a:rPr>
              <a:t>IDEs: </a:t>
            </a:r>
            <a:r>
              <a:rPr dirty="0">
                <a:solidFill>
                  <a:srgbClr val="FF0000"/>
                </a:solidFill>
              </a:rPr>
              <a:t>Visual</a:t>
            </a:r>
            <a:r>
              <a:rPr spc="-700" dirty="0">
                <a:solidFill>
                  <a:srgbClr val="FF0000"/>
                </a:solidFill>
              </a:rPr>
              <a:t> </a:t>
            </a:r>
            <a:r>
              <a:rPr spc="75" dirty="0">
                <a:solidFill>
                  <a:srgbClr val="FF0000"/>
                </a:solidFill>
              </a:rPr>
              <a:t>Studio</a:t>
            </a:r>
          </a:p>
        </p:txBody>
      </p:sp>
      <p:sp>
        <p:nvSpPr>
          <p:cNvPr id="3" name="object 3"/>
          <p:cNvSpPr/>
          <p:nvPr/>
        </p:nvSpPr>
        <p:spPr>
          <a:xfrm>
            <a:off x="2098548" y="1616963"/>
            <a:ext cx="8121395" cy="4320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9295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6FC0"/>
                </a:solidFill>
              </a:rPr>
              <a:t>Python </a:t>
            </a:r>
            <a:r>
              <a:rPr spc="-125" dirty="0">
                <a:solidFill>
                  <a:srgbClr val="006FC0"/>
                </a:solidFill>
              </a:rPr>
              <a:t>Basics: </a:t>
            </a:r>
            <a:r>
              <a:rPr spc="65" dirty="0">
                <a:solidFill>
                  <a:srgbClr val="006FC0"/>
                </a:solidFill>
              </a:rPr>
              <a:t>Objects</a:t>
            </a:r>
            <a:r>
              <a:rPr spc="-905" dirty="0">
                <a:solidFill>
                  <a:srgbClr val="006FC0"/>
                </a:solidFill>
              </a:rPr>
              <a:t> </a:t>
            </a:r>
            <a:r>
              <a:rPr spc="25" dirty="0">
                <a:solidFill>
                  <a:srgbClr val="006FC0"/>
                </a:solidFill>
              </a:rPr>
              <a:t>and </a:t>
            </a:r>
            <a:r>
              <a:rPr spc="20" dirty="0">
                <a:solidFill>
                  <a:srgbClr val="006FC0"/>
                </a:solidFill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83993"/>
            <a:ext cx="9726295" cy="262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310" dirty="0">
                <a:latin typeface="Verdana"/>
                <a:cs typeface="Verdana"/>
              </a:rPr>
              <a:t>In </a:t>
            </a:r>
            <a:r>
              <a:rPr sz="2800" spc="-30" dirty="0">
                <a:latin typeface="Verdana"/>
                <a:cs typeface="Verdana"/>
              </a:rPr>
              <a:t>python </a:t>
            </a:r>
            <a:r>
              <a:rPr sz="2800" spc="-70" dirty="0">
                <a:latin typeface="Verdana"/>
                <a:cs typeface="Verdana"/>
              </a:rPr>
              <a:t>everything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b="1" spc="-175" dirty="0">
                <a:latin typeface="Verdana"/>
                <a:cs typeface="Verdana"/>
              </a:rPr>
              <a:t>an</a:t>
            </a:r>
            <a:r>
              <a:rPr sz="2800" b="1" spc="-250" dirty="0">
                <a:latin typeface="Verdana"/>
                <a:cs typeface="Verdana"/>
              </a:rPr>
              <a:t> </a:t>
            </a:r>
            <a:r>
              <a:rPr sz="2800" b="1" spc="-185" dirty="0">
                <a:latin typeface="Verdana"/>
                <a:cs typeface="Verdana"/>
              </a:rPr>
              <a:t>object.</a:t>
            </a:r>
            <a:endParaRPr sz="2800">
              <a:latin typeface="Verdana"/>
              <a:cs typeface="Verdana"/>
            </a:endParaRPr>
          </a:p>
          <a:p>
            <a:pPr marL="341630" indent="-329565">
              <a:lnSpc>
                <a:spcPct val="100000"/>
              </a:lnSpc>
              <a:spcBef>
                <a:spcPts val="2680"/>
              </a:spcBef>
              <a:buFont typeface="Arial"/>
              <a:buChar char="•"/>
              <a:tabLst>
                <a:tab pos="341630" algn="l"/>
                <a:tab pos="342265" algn="l"/>
              </a:tabLst>
            </a:pPr>
            <a:r>
              <a:rPr sz="2800" spc="-200" dirty="0">
                <a:latin typeface="Verdana"/>
                <a:cs typeface="Verdana"/>
              </a:rPr>
              <a:t>So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spc="-20" dirty="0">
                <a:latin typeface="Verdana"/>
                <a:cs typeface="Verdana"/>
              </a:rPr>
              <a:t>variable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b="1" spc="-175" dirty="0">
                <a:latin typeface="Verdana"/>
                <a:cs typeface="Verdana"/>
              </a:rPr>
              <a:t>an</a:t>
            </a:r>
            <a:r>
              <a:rPr sz="2800" b="1" spc="-720" dirty="0">
                <a:latin typeface="Verdana"/>
                <a:cs typeface="Verdana"/>
              </a:rPr>
              <a:t> </a:t>
            </a:r>
            <a:r>
              <a:rPr sz="2800" b="1" spc="-185" dirty="0">
                <a:latin typeface="Verdana"/>
                <a:cs typeface="Verdana"/>
              </a:rPr>
              <a:t>object.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501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0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variable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name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given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memory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25" dirty="0">
                <a:latin typeface="Verdana"/>
                <a:cs typeface="Verdana"/>
              </a:rPr>
              <a:t>location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store  </a:t>
            </a:r>
            <a:r>
              <a:rPr sz="2800" spc="-10" dirty="0">
                <a:latin typeface="Verdana"/>
                <a:cs typeface="Verdana"/>
              </a:rPr>
              <a:t>value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computer’s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main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storage.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9295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6FC0"/>
                </a:solidFill>
              </a:rPr>
              <a:t>Python </a:t>
            </a:r>
            <a:r>
              <a:rPr spc="-125" dirty="0">
                <a:solidFill>
                  <a:srgbClr val="006FC0"/>
                </a:solidFill>
              </a:rPr>
              <a:t>Basics: </a:t>
            </a:r>
            <a:r>
              <a:rPr spc="65" dirty="0">
                <a:solidFill>
                  <a:srgbClr val="006FC0"/>
                </a:solidFill>
              </a:rPr>
              <a:t>Objects</a:t>
            </a:r>
            <a:r>
              <a:rPr spc="-905" dirty="0">
                <a:solidFill>
                  <a:srgbClr val="006FC0"/>
                </a:solidFill>
              </a:rPr>
              <a:t> </a:t>
            </a:r>
            <a:r>
              <a:rPr spc="25" dirty="0">
                <a:solidFill>
                  <a:srgbClr val="006FC0"/>
                </a:solidFill>
              </a:rPr>
              <a:t>and </a:t>
            </a:r>
            <a:r>
              <a:rPr spc="20" dirty="0">
                <a:solidFill>
                  <a:srgbClr val="006FC0"/>
                </a:solidFill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4782"/>
            <a:ext cx="10354310" cy="39655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5" dirty="0">
                <a:latin typeface="Verdana"/>
                <a:cs typeface="Verdana"/>
              </a:rPr>
              <a:t>Every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40" dirty="0">
                <a:solidFill>
                  <a:srgbClr val="FF0000"/>
                </a:solidFill>
                <a:latin typeface="Verdana"/>
                <a:cs typeface="Verdana"/>
              </a:rPr>
              <a:t>object</a:t>
            </a:r>
            <a:r>
              <a:rPr sz="2800" spc="-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/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0000"/>
                </a:solidFill>
                <a:latin typeface="Verdana"/>
                <a:cs typeface="Verdana"/>
              </a:rPr>
              <a:t>Variable</a:t>
            </a:r>
            <a:r>
              <a:rPr sz="2800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has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three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components:</a:t>
            </a:r>
            <a:endParaRPr sz="28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spc="-285" dirty="0">
                <a:solidFill>
                  <a:srgbClr val="843B0C"/>
                </a:solidFill>
                <a:latin typeface="Verdana"/>
                <a:cs typeface="Verdana"/>
              </a:rPr>
              <a:t>Identity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15" dirty="0">
                <a:solidFill>
                  <a:srgbClr val="C55A11"/>
                </a:solidFill>
                <a:latin typeface="Verdana"/>
                <a:cs typeface="Verdana"/>
              </a:rPr>
              <a:t>Object’s</a:t>
            </a:r>
            <a:r>
              <a:rPr sz="2000" spc="-19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address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C55A11"/>
                </a:solidFill>
                <a:latin typeface="Verdana"/>
                <a:cs typeface="Verdana"/>
              </a:rPr>
              <a:t>in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C55A11"/>
                </a:solidFill>
                <a:latin typeface="Verdana"/>
                <a:cs typeface="Verdana"/>
              </a:rPr>
              <a:t>memory</a:t>
            </a:r>
            <a:r>
              <a:rPr sz="2000" spc="-18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55A11"/>
                </a:solidFill>
                <a:latin typeface="Verdana"/>
                <a:cs typeface="Verdana"/>
              </a:rPr>
              <a:t>does</a:t>
            </a:r>
            <a:r>
              <a:rPr sz="2000" spc="-1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C55A11"/>
                </a:solidFill>
                <a:latin typeface="Verdana"/>
                <a:cs typeface="Verdana"/>
              </a:rPr>
              <a:t>not</a:t>
            </a:r>
            <a:r>
              <a:rPr sz="2000" spc="-1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90" dirty="0">
                <a:solidFill>
                  <a:srgbClr val="C55A11"/>
                </a:solidFill>
                <a:latin typeface="Verdana"/>
                <a:cs typeface="Verdana"/>
              </a:rPr>
              <a:t>change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C55A11"/>
                </a:solidFill>
                <a:latin typeface="Verdana"/>
                <a:cs typeface="Verdana"/>
              </a:rPr>
              <a:t>once</a:t>
            </a:r>
            <a:r>
              <a:rPr sz="2000" spc="-1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C55A11"/>
                </a:solidFill>
                <a:latin typeface="Verdana"/>
                <a:cs typeface="Verdana"/>
              </a:rPr>
              <a:t>it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C55A11"/>
                </a:solidFill>
                <a:latin typeface="Verdana"/>
                <a:cs typeface="Verdana"/>
              </a:rPr>
              <a:t>has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C55A11"/>
                </a:solidFill>
                <a:latin typeface="Verdana"/>
                <a:cs typeface="Verdana"/>
              </a:rPr>
              <a:t>been</a:t>
            </a:r>
            <a:r>
              <a:rPr sz="2000" spc="-17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C55A11"/>
                </a:solidFill>
                <a:latin typeface="Verdana"/>
                <a:cs typeface="Verdana"/>
              </a:rPr>
              <a:t>created.</a:t>
            </a:r>
            <a:endParaRPr sz="20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spc="-240" dirty="0">
                <a:solidFill>
                  <a:srgbClr val="843B0C"/>
                </a:solidFill>
                <a:latin typeface="Verdana"/>
                <a:cs typeface="Verdana"/>
              </a:rPr>
              <a:t>Type </a:t>
            </a: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(or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180" dirty="0">
                <a:solidFill>
                  <a:srgbClr val="843B0C"/>
                </a:solidFill>
                <a:latin typeface="Verdana"/>
                <a:cs typeface="Verdana"/>
              </a:rPr>
              <a:t>Class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114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C55A11"/>
                </a:solidFill>
                <a:latin typeface="Verdana"/>
                <a:cs typeface="Verdana"/>
              </a:rPr>
              <a:t>set</a:t>
            </a:r>
            <a:r>
              <a:rPr sz="2000" spc="-17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55A11"/>
                </a:solidFill>
                <a:latin typeface="Verdana"/>
                <a:cs typeface="Verdana"/>
              </a:rPr>
              <a:t>of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C55A11"/>
                </a:solidFill>
                <a:latin typeface="Verdana"/>
                <a:cs typeface="Verdana"/>
              </a:rPr>
              <a:t>values</a:t>
            </a:r>
            <a:r>
              <a:rPr sz="2000" spc="-20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C55A11"/>
                </a:solidFill>
                <a:latin typeface="Verdana"/>
                <a:cs typeface="Verdana"/>
              </a:rPr>
              <a:t>and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C55A11"/>
                </a:solidFill>
                <a:latin typeface="Verdana"/>
                <a:cs typeface="Verdana"/>
              </a:rPr>
              <a:t>the</a:t>
            </a:r>
            <a:r>
              <a:rPr sz="2000" spc="-17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C55A11"/>
                </a:solidFill>
                <a:latin typeface="Verdana"/>
                <a:cs typeface="Verdana"/>
              </a:rPr>
              <a:t>allowable</a:t>
            </a:r>
            <a:r>
              <a:rPr sz="2000" spc="-18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C55A11"/>
                </a:solidFill>
                <a:latin typeface="Verdana"/>
                <a:cs typeface="Verdana"/>
              </a:rPr>
              <a:t>operations</a:t>
            </a:r>
            <a:r>
              <a:rPr sz="2000" spc="-18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C55A11"/>
                </a:solidFill>
                <a:latin typeface="Verdana"/>
                <a:cs typeface="Verdana"/>
              </a:rPr>
              <a:t>on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those</a:t>
            </a:r>
            <a:r>
              <a:rPr sz="2000" spc="-1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C55A11"/>
                </a:solidFill>
                <a:latin typeface="Verdana"/>
                <a:cs typeface="Verdana"/>
              </a:rPr>
              <a:t>values</a:t>
            </a: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30" dirty="0">
                <a:solidFill>
                  <a:srgbClr val="C55A11"/>
                </a:solidFill>
                <a:latin typeface="Verdana"/>
                <a:cs typeface="Verdana"/>
              </a:rPr>
              <a:t>exist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for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C55A11"/>
                </a:solidFill>
                <a:latin typeface="Verdana"/>
                <a:cs typeface="Verdana"/>
              </a:rPr>
              <a:t>each  </a:t>
            </a:r>
            <a:r>
              <a:rPr sz="2000" spc="-35" dirty="0">
                <a:solidFill>
                  <a:srgbClr val="C55A11"/>
                </a:solidFill>
                <a:latin typeface="Verdana"/>
                <a:cs typeface="Verdana"/>
              </a:rPr>
              <a:t>type.</a:t>
            </a:r>
            <a:endParaRPr sz="20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70" dirty="0">
                <a:solidFill>
                  <a:srgbClr val="C55A11"/>
                </a:solidFill>
                <a:latin typeface="Verdana"/>
                <a:cs typeface="Verdana"/>
              </a:rPr>
              <a:t>Type </a:t>
            </a:r>
            <a:r>
              <a:rPr sz="2000" spc="10" dirty="0">
                <a:solidFill>
                  <a:srgbClr val="C55A11"/>
                </a:solidFill>
                <a:latin typeface="Verdana"/>
                <a:cs typeface="Verdana"/>
              </a:rPr>
              <a:t>of </a:t>
            </a:r>
            <a:r>
              <a:rPr sz="2000" b="1" spc="-145" dirty="0">
                <a:solidFill>
                  <a:srgbClr val="C55A11"/>
                </a:solidFill>
                <a:latin typeface="Verdana"/>
                <a:cs typeface="Verdana"/>
              </a:rPr>
              <a:t>type </a:t>
            </a:r>
            <a:r>
              <a:rPr sz="2000" spc="-210" dirty="0">
                <a:solidFill>
                  <a:srgbClr val="C55A11"/>
                </a:solidFill>
                <a:latin typeface="Verdana"/>
                <a:cs typeface="Verdana"/>
              </a:rPr>
              <a:t>is</a:t>
            </a:r>
            <a:r>
              <a:rPr sz="2000" spc="-409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C55A11"/>
                </a:solidFill>
                <a:latin typeface="Verdana"/>
                <a:cs typeface="Verdana"/>
              </a:rPr>
              <a:t>type!!!</a:t>
            </a:r>
            <a:endParaRPr sz="20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b="1" spc="-155" dirty="0">
                <a:solidFill>
                  <a:srgbClr val="843B0C"/>
                </a:solidFill>
                <a:latin typeface="Verdana"/>
                <a:cs typeface="Verdana"/>
              </a:rPr>
              <a:t>Value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45" dirty="0">
                <a:solidFill>
                  <a:srgbClr val="C55A11"/>
                </a:solidFill>
                <a:latin typeface="Verdana"/>
                <a:cs typeface="Verdana"/>
              </a:rPr>
              <a:t>To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55A11"/>
                </a:solidFill>
                <a:latin typeface="Verdana"/>
                <a:cs typeface="Verdana"/>
              </a:rPr>
              <a:t>bind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55A11"/>
                </a:solidFill>
                <a:latin typeface="Verdana"/>
                <a:cs typeface="Verdana"/>
              </a:rPr>
              <a:t>value</a:t>
            </a:r>
            <a:r>
              <a:rPr sz="2000" spc="-18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C55A11"/>
                </a:solidFill>
                <a:latin typeface="Verdana"/>
                <a:cs typeface="Verdana"/>
              </a:rPr>
              <a:t>to</a:t>
            </a:r>
            <a:r>
              <a:rPr sz="2000" spc="-17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C55A11"/>
                </a:solidFill>
                <a:latin typeface="Verdana"/>
                <a:cs typeface="Verdana"/>
              </a:rPr>
              <a:t>a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55A11"/>
                </a:solidFill>
                <a:latin typeface="Verdana"/>
                <a:cs typeface="Verdana"/>
              </a:rPr>
              <a:t>variable</a:t>
            </a: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C55A11"/>
                </a:solidFill>
                <a:latin typeface="Verdana"/>
                <a:cs typeface="Verdana"/>
              </a:rPr>
              <a:t>using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C55A11"/>
                </a:solidFill>
                <a:latin typeface="Verdana"/>
                <a:cs typeface="Verdana"/>
              </a:rPr>
              <a:t>assignment</a:t>
            </a:r>
            <a:r>
              <a:rPr sz="2000" spc="-18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C55A11"/>
                </a:solidFill>
                <a:latin typeface="Verdana"/>
                <a:cs typeface="Verdana"/>
              </a:rPr>
              <a:t>operator</a:t>
            </a:r>
            <a:r>
              <a:rPr sz="2000" spc="-19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70" dirty="0">
                <a:solidFill>
                  <a:srgbClr val="C55A11"/>
                </a:solidFill>
                <a:latin typeface="Verdana"/>
                <a:cs typeface="Verdana"/>
              </a:rPr>
              <a:t>(</a:t>
            </a:r>
            <a:r>
              <a:rPr sz="2000" spc="-12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spc="-53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b="1" spc="-4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80" dirty="0">
                <a:solidFill>
                  <a:srgbClr val="C55A11"/>
                </a:solidFill>
                <a:latin typeface="Verdana"/>
                <a:cs typeface="Verdana"/>
              </a:rPr>
              <a:t>),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for</a:t>
            </a:r>
            <a:r>
              <a:rPr sz="2000" spc="-1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C55A11"/>
                </a:solidFill>
                <a:latin typeface="Verdana"/>
                <a:cs typeface="Verdana"/>
              </a:rPr>
              <a:t>example:</a:t>
            </a:r>
            <a:endParaRPr sz="20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225" dirty="0">
                <a:solidFill>
                  <a:srgbClr val="C55A11"/>
                </a:solidFill>
                <a:latin typeface="Verdana"/>
                <a:cs typeface="Verdana"/>
              </a:rPr>
              <a:t>x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spc="-3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12345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9295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>
                <a:solidFill>
                  <a:srgbClr val="006FC0"/>
                </a:solidFill>
              </a:rPr>
              <a:t>Python </a:t>
            </a:r>
            <a:r>
              <a:rPr spc="-125" dirty="0">
                <a:solidFill>
                  <a:srgbClr val="006FC0"/>
                </a:solidFill>
              </a:rPr>
              <a:t>Basics: </a:t>
            </a:r>
            <a:r>
              <a:rPr spc="65" dirty="0">
                <a:solidFill>
                  <a:srgbClr val="006FC0"/>
                </a:solidFill>
              </a:rPr>
              <a:t>Objects</a:t>
            </a:r>
            <a:r>
              <a:rPr spc="-905" dirty="0">
                <a:solidFill>
                  <a:srgbClr val="006FC0"/>
                </a:solidFill>
              </a:rPr>
              <a:t> </a:t>
            </a:r>
            <a:r>
              <a:rPr spc="25" dirty="0">
                <a:solidFill>
                  <a:srgbClr val="006FC0"/>
                </a:solidFill>
              </a:rPr>
              <a:t>and </a:t>
            </a:r>
            <a:r>
              <a:rPr spc="20" dirty="0">
                <a:solidFill>
                  <a:srgbClr val="006FC0"/>
                </a:solidFill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9283700" cy="18167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Verdana"/>
                <a:cs typeface="Verdana"/>
              </a:rPr>
              <a:t>dynamically</a:t>
            </a:r>
            <a:r>
              <a:rPr sz="2800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FF0000"/>
                </a:solidFill>
                <a:latin typeface="Verdana"/>
                <a:cs typeface="Verdana"/>
              </a:rPr>
              <a:t>typed</a:t>
            </a:r>
            <a:r>
              <a:rPr sz="2800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latin typeface="Verdana"/>
                <a:cs typeface="Verdana"/>
              </a:rPr>
              <a:t>language,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54" dirty="0">
                <a:latin typeface="Verdana"/>
                <a:cs typeface="Verdana"/>
              </a:rPr>
              <a:t>so: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Use </a:t>
            </a: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Late </a:t>
            </a:r>
            <a:r>
              <a:rPr sz="2400" spc="-65" dirty="0">
                <a:solidFill>
                  <a:srgbClr val="FF0000"/>
                </a:solidFill>
                <a:latin typeface="Verdana"/>
                <a:cs typeface="Verdana"/>
              </a:rPr>
              <a:t>Binding </a:t>
            </a:r>
            <a:r>
              <a:rPr sz="2400" spc="-160" dirty="0">
                <a:solidFill>
                  <a:srgbClr val="843B0C"/>
                </a:solidFill>
                <a:latin typeface="Verdana"/>
                <a:cs typeface="Verdana"/>
              </a:rPr>
              <a:t>(run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time</a:t>
            </a:r>
            <a:r>
              <a:rPr sz="2400" spc="-5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binding).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45" dirty="0">
                <a:solidFill>
                  <a:srgbClr val="843B0C"/>
                </a:solidFill>
                <a:latin typeface="Verdana"/>
                <a:cs typeface="Verdana"/>
              </a:rPr>
              <a:t>No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85" dirty="0">
                <a:solidFill>
                  <a:srgbClr val="843B0C"/>
                </a:solidFill>
                <a:latin typeface="Verdana"/>
                <a:cs typeface="Verdana"/>
              </a:rPr>
              <a:t>need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843B0C"/>
                </a:solidFill>
                <a:latin typeface="Verdana"/>
                <a:cs typeface="Verdana"/>
              </a:rPr>
              <a:t>declare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variable</a:t>
            </a:r>
            <a:r>
              <a:rPr sz="2400" spc="-2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before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binding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value.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Any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given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variable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45" dirty="0">
                <a:solidFill>
                  <a:srgbClr val="843B0C"/>
                </a:solidFill>
                <a:latin typeface="Verdana"/>
                <a:cs typeface="Verdana"/>
              </a:rPr>
              <a:t>can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843B0C"/>
                </a:solidFill>
                <a:latin typeface="Verdana"/>
                <a:cs typeface="Verdana"/>
              </a:rPr>
              <a:t>have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its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value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843B0C"/>
                </a:solidFill>
                <a:latin typeface="Verdana"/>
                <a:cs typeface="Verdana"/>
              </a:rPr>
              <a:t>altered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843B0C"/>
                </a:solidFill>
                <a:latin typeface="Verdana"/>
                <a:cs typeface="Verdana"/>
              </a:rPr>
              <a:t>at</a:t>
            </a:r>
            <a:r>
              <a:rPr sz="2400" spc="-15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843B0C"/>
                </a:solidFill>
                <a:latin typeface="Verdana"/>
                <a:cs typeface="Verdana"/>
              </a:rPr>
              <a:t>any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843B0C"/>
                </a:solidFill>
                <a:latin typeface="Verdana"/>
                <a:cs typeface="Verdana"/>
              </a:rPr>
              <a:t>time!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87949" y="3743991"/>
            <a:ext cx="1708326" cy="2531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263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90" dirty="0">
                <a:solidFill>
                  <a:srgbClr val="006FC0"/>
                </a:solidFill>
                <a:latin typeface="Trebuchet MS"/>
                <a:cs typeface="Trebuchet MS"/>
              </a:rPr>
              <a:t>Primitive </a:t>
            </a:r>
            <a:r>
              <a:rPr b="1" spc="65" dirty="0">
                <a:solidFill>
                  <a:srgbClr val="006FC0"/>
                </a:solidFill>
                <a:latin typeface="Trebuchet MS"/>
                <a:cs typeface="Trebuchet MS"/>
              </a:rPr>
              <a:t>Data</a:t>
            </a:r>
            <a:r>
              <a:rPr b="1" spc="-6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1" spc="-60" dirty="0">
                <a:solidFill>
                  <a:srgbClr val="006FC0"/>
                </a:solidFill>
                <a:latin typeface="Trebuchet MS"/>
                <a:cs typeface="Trebuchet MS"/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13523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75" dirty="0">
                <a:latin typeface="Verdana"/>
                <a:cs typeface="Verdana"/>
              </a:rPr>
              <a:t>has </a:t>
            </a:r>
            <a:r>
              <a:rPr sz="2800" spc="-55" dirty="0">
                <a:latin typeface="Verdana"/>
                <a:cs typeface="Verdana"/>
              </a:rPr>
              <a:t>some </a:t>
            </a:r>
            <a:r>
              <a:rPr sz="2800" spc="-25" dirty="0">
                <a:latin typeface="Verdana"/>
                <a:cs typeface="Verdana"/>
              </a:rPr>
              <a:t>standard </a:t>
            </a:r>
            <a:r>
              <a:rPr sz="2800" spc="-80" dirty="0">
                <a:latin typeface="Verdana"/>
                <a:cs typeface="Verdana"/>
              </a:rPr>
              <a:t>types </a:t>
            </a:r>
            <a:r>
              <a:rPr sz="2800" spc="-40" dirty="0">
                <a:latin typeface="Verdana"/>
                <a:cs typeface="Verdana"/>
              </a:rPr>
              <a:t>that </a:t>
            </a:r>
            <a:r>
              <a:rPr sz="2800" dirty="0">
                <a:latin typeface="Verdana"/>
                <a:cs typeface="Verdana"/>
              </a:rPr>
              <a:t>are </a:t>
            </a:r>
            <a:r>
              <a:rPr sz="2800" spc="-40" dirty="0">
                <a:latin typeface="Verdana"/>
                <a:cs typeface="Verdana"/>
              </a:rPr>
              <a:t>used </a:t>
            </a:r>
            <a:r>
              <a:rPr sz="2800" spc="-15" dirty="0">
                <a:latin typeface="Verdana"/>
                <a:cs typeface="Verdana"/>
              </a:rPr>
              <a:t>to </a:t>
            </a:r>
            <a:r>
              <a:rPr sz="2800" spc="10" dirty="0">
                <a:latin typeface="Verdana"/>
                <a:cs typeface="Verdana"/>
              </a:rPr>
              <a:t>define 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operations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possible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on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them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storage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method  </a:t>
            </a:r>
            <a:r>
              <a:rPr sz="2800" spc="-110" dirty="0">
                <a:latin typeface="Verdana"/>
                <a:cs typeface="Verdana"/>
              </a:rPr>
              <a:t>for </a:t>
            </a:r>
            <a:r>
              <a:rPr sz="2800" spc="155" dirty="0">
                <a:latin typeface="Verdana"/>
                <a:cs typeface="Verdana"/>
              </a:rPr>
              <a:t>each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660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them.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3005" y="3236976"/>
            <a:ext cx="10421274" cy="2700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263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90" dirty="0">
                <a:solidFill>
                  <a:srgbClr val="006FC0"/>
                </a:solidFill>
                <a:latin typeface="Trebuchet MS"/>
                <a:cs typeface="Trebuchet MS"/>
              </a:rPr>
              <a:t>Primitive </a:t>
            </a:r>
            <a:r>
              <a:rPr b="1" spc="65" dirty="0">
                <a:solidFill>
                  <a:srgbClr val="006FC0"/>
                </a:solidFill>
                <a:latin typeface="Trebuchet MS"/>
                <a:cs typeface="Trebuchet MS"/>
              </a:rPr>
              <a:t>Data</a:t>
            </a:r>
            <a:r>
              <a:rPr b="1" spc="-6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b="1" spc="-60" dirty="0">
                <a:solidFill>
                  <a:srgbClr val="006FC0"/>
                </a:solidFill>
                <a:latin typeface="Trebuchet MS"/>
                <a:cs typeface="Trebuchet MS"/>
              </a:rPr>
              <a:t>Types</a:t>
            </a:r>
          </a:p>
        </p:txBody>
      </p:sp>
      <p:sp>
        <p:nvSpPr>
          <p:cNvPr id="3" name="object 3"/>
          <p:cNvSpPr/>
          <p:nvPr/>
        </p:nvSpPr>
        <p:spPr>
          <a:xfrm>
            <a:off x="893934" y="1745864"/>
            <a:ext cx="3065417" cy="41114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36135" y="4739640"/>
            <a:ext cx="981710" cy="695325"/>
            <a:chOff x="4136135" y="4739640"/>
            <a:chExt cx="981710" cy="695325"/>
          </a:xfrm>
        </p:grpSpPr>
        <p:sp>
          <p:nvSpPr>
            <p:cNvPr id="5" name="object 5"/>
            <p:cNvSpPr/>
            <p:nvPr/>
          </p:nvSpPr>
          <p:spPr>
            <a:xfrm>
              <a:off x="4155185" y="4758690"/>
              <a:ext cx="943610" cy="657225"/>
            </a:xfrm>
            <a:custGeom>
              <a:avLst/>
              <a:gdLst/>
              <a:ahLst/>
              <a:cxnLst/>
              <a:rect l="l" t="t" r="r" b="b"/>
              <a:pathLst>
                <a:path w="943610" h="657225">
                  <a:moveTo>
                    <a:pt x="328422" y="0"/>
                  </a:moveTo>
                  <a:lnTo>
                    <a:pt x="0" y="328422"/>
                  </a:lnTo>
                  <a:lnTo>
                    <a:pt x="328422" y="656844"/>
                  </a:lnTo>
                  <a:lnTo>
                    <a:pt x="328422" y="492633"/>
                  </a:lnTo>
                  <a:lnTo>
                    <a:pt x="943355" y="492633"/>
                  </a:lnTo>
                  <a:lnTo>
                    <a:pt x="943355" y="164211"/>
                  </a:lnTo>
                  <a:lnTo>
                    <a:pt x="328422" y="164211"/>
                  </a:lnTo>
                  <a:lnTo>
                    <a:pt x="3284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5185" y="4758690"/>
              <a:ext cx="943610" cy="657225"/>
            </a:xfrm>
            <a:custGeom>
              <a:avLst/>
              <a:gdLst/>
              <a:ahLst/>
              <a:cxnLst/>
              <a:rect l="l" t="t" r="r" b="b"/>
              <a:pathLst>
                <a:path w="943610" h="657225">
                  <a:moveTo>
                    <a:pt x="0" y="328422"/>
                  </a:moveTo>
                  <a:lnTo>
                    <a:pt x="328422" y="0"/>
                  </a:lnTo>
                  <a:lnTo>
                    <a:pt x="328422" y="164211"/>
                  </a:lnTo>
                  <a:lnTo>
                    <a:pt x="943355" y="164211"/>
                  </a:lnTo>
                  <a:lnTo>
                    <a:pt x="943355" y="492633"/>
                  </a:lnTo>
                  <a:lnTo>
                    <a:pt x="328422" y="492633"/>
                  </a:lnTo>
                  <a:lnTo>
                    <a:pt x="328422" y="656844"/>
                  </a:lnTo>
                  <a:lnTo>
                    <a:pt x="0" y="328422"/>
                  </a:lnTo>
                  <a:close/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634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>
                <a:solidFill>
                  <a:srgbClr val="006FC0"/>
                </a:solidFill>
              </a:rPr>
              <a:t>Oper</a:t>
            </a:r>
            <a:r>
              <a:rPr spc="55" dirty="0">
                <a:solidFill>
                  <a:srgbClr val="006FC0"/>
                </a:solidFill>
              </a:rPr>
              <a:t>a</a:t>
            </a:r>
            <a:r>
              <a:rPr spc="229" dirty="0">
                <a:solidFill>
                  <a:srgbClr val="006FC0"/>
                </a:solidFill>
              </a:rPr>
              <a:t>t</a:t>
            </a:r>
            <a:r>
              <a:rPr spc="470" dirty="0">
                <a:solidFill>
                  <a:srgbClr val="006FC0"/>
                </a:solidFill>
              </a:rPr>
              <a:t>o</a:t>
            </a:r>
            <a:r>
              <a:rPr dirty="0">
                <a:solidFill>
                  <a:srgbClr val="006FC0"/>
                </a:solidFill>
              </a:rPr>
              <a:t>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6757670" cy="36582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5" dirty="0">
                <a:latin typeface="Verdana"/>
                <a:cs typeface="Verdana"/>
              </a:rPr>
              <a:t>Basic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Operators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Arithmetic </a:t>
            </a:r>
            <a:r>
              <a:rPr sz="2400" spc="-300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300" dirty="0">
                <a:solidFill>
                  <a:srgbClr val="6F2F9F"/>
                </a:solidFill>
                <a:latin typeface="Verdana"/>
                <a:cs typeface="Verdana"/>
              </a:rPr>
              <a:t>+</a:t>
            </a:r>
            <a:r>
              <a:rPr sz="2400" spc="-30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295" dirty="0">
                <a:solidFill>
                  <a:srgbClr val="6F2F9F"/>
                </a:solidFill>
                <a:latin typeface="Verdana"/>
                <a:cs typeface="Verdana"/>
              </a:rPr>
              <a:t>- 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365" dirty="0">
                <a:solidFill>
                  <a:srgbClr val="6F2F9F"/>
                </a:solidFill>
                <a:latin typeface="Verdana"/>
                <a:cs typeface="Verdana"/>
              </a:rPr>
              <a:t>*</a:t>
            </a:r>
            <a:r>
              <a:rPr sz="2400" spc="-36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130" dirty="0">
                <a:solidFill>
                  <a:srgbClr val="6F2F9F"/>
                </a:solidFill>
                <a:latin typeface="Verdana"/>
                <a:cs typeface="Verdana"/>
              </a:rPr>
              <a:t>/</a:t>
            </a: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70" dirty="0">
                <a:solidFill>
                  <a:srgbClr val="6F2F9F"/>
                </a:solidFill>
                <a:latin typeface="Verdana"/>
                <a:cs typeface="Verdana"/>
              </a:rPr>
              <a:t>%</a:t>
            </a:r>
            <a:r>
              <a:rPr sz="2400" spc="-47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b="1" spc="-440" dirty="0">
                <a:solidFill>
                  <a:srgbClr val="6F2F9F"/>
                </a:solidFill>
                <a:latin typeface="Verdana"/>
                <a:cs typeface="Verdana"/>
              </a:rPr>
              <a:t>//</a:t>
            </a:r>
            <a:r>
              <a:rPr sz="2400" spc="-440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5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505" dirty="0">
                <a:solidFill>
                  <a:srgbClr val="6F2F9F"/>
                </a:solidFill>
                <a:latin typeface="Verdana"/>
                <a:cs typeface="Verdana"/>
              </a:rPr>
              <a:t>**</a:t>
            </a:r>
            <a:r>
              <a:rPr sz="2400" spc="-505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Assignment </a:t>
            </a:r>
            <a:r>
              <a:rPr sz="2400" spc="-310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310" dirty="0">
                <a:solidFill>
                  <a:srgbClr val="6F2F9F"/>
                </a:solidFill>
                <a:latin typeface="Verdana"/>
                <a:cs typeface="Verdana"/>
              </a:rPr>
              <a:t>=</a:t>
            </a:r>
            <a:r>
              <a:rPr sz="2400" spc="-31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05" dirty="0">
                <a:solidFill>
                  <a:srgbClr val="6F2F9F"/>
                </a:solidFill>
                <a:latin typeface="Verdana"/>
                <a:cs typeface="Verdana"/>
              </a:rPr>
              <a:t>+=</a:t>
            </a:r>
            <a:r>
              <a:rPr sz="2400" spc="-40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345" dirty="0">
                <a:solidFill>
                  <a:srgbClr val="6F2F9F"/>
                </a:solidFill>
                <a:latin typeface="Verdana"/>
                <a:cs typeface="Verdana"/>
              </a:rPr>
              <a:t>-=</a:t>
            </a:r>
            <a:r>
              <a:rPr sz="2400" spc="-34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15" dirty="0">
                <a:solidFill>
                  <a:srgbClr val="6F2F9F"/>
                </a:solidFill>
                <a:latin typeface="Verdana"/>
                <a:cs typeface="Verdana"/>
              </a:rPr>
              <a:t>*=</a:t>
            </a:r>
            <a:r>
              <a:rPr sz="2400" spc="-41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260" dirty="0">
                <a:solidFill>
                  <a:srgbClr val="6F2F9F"/>
                </a:solidFill>
                <a:latin typeface="Verdana"/>
                <a:cs typeface="Verdana"/>
              </a:rPr>
              <a:t>/=</a:t>
            </a:r>
            <a:r>
              <a:rPr sz="2400" spc="-26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84" dirty="0">
                <a:solidFill>
                  <a:srgbClr val="6F2F9F"/>
                </a:solidFill>
                <a:latin typeface="Verdana"/>
                <a:cs typeface="Verdana"/>
              </a:rPr>
              <a:t>%=</a:t>
            </a:r>
            <a:r>
              <a:rPr sz="2400" spc="-484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204" dirty="0">
                <a:solidFill>
                  <a:srgbClr val="6F2F9F"/>
                </a:solidFill>
                <a:latin typeface="Verdana"/>
                <a:cs typeface="Verdana"/>
              </a:rPr>
              <a:t>//= </a:t>
            </a:r>
            <a:r>
              <a:rPr sz="2400" spc="-450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450" dirty="0">
                <a:solidFill>
                  <a:srgbClr val="6F2F9F"/>
                </a:solidFill>
                <a:latin typeface="Verdana"/>
                <a:cs typeface="Verdana"/>
              </a:rPr>
              <a:t>**=</a:t>
            </a:r>
            <a:r>
              <a:rPr sz="2400" spc="-385" dirty="0">
                <a:solidFill>
                  <a:srgbClr val="6F2F9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Comparison </a:t>
            </a:r>
            <a:r>
              <a:rPr sz="2400" spc="-310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310" dirty="0">
                <a:solidFill>
                  <a:srgbClr val="6F2F9F"/>
                </a:solidFill>
                <a:latin typeface="Verdana"/>
                <a:cs typeface="Verdana"/>
              </a:rPr>
              <a:t>&lt;</a:t>
            </a:r>
            <a:r>
              <a:rPr sz="2400" spc="-31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365" dirty="0">
                <a:solidFill>
                  <a:srgbClr val="6F2F9F"/>
                </a:solidFill>
                <a:latin typeface="Verdana"/>
                <a:cs typeface="Verdana"/>
              </a:rPr>
              <a:t>&gt;</a:t>
            </a:r>
            <a:r>
              <a:rPr sz="2400" spc="-36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15" dirty="0">
                <a:solidFill>
                  <a:srgbClr val="6F2F9F"/>
                </a:solidFill>
                <a:latin typeface="Verdana"/>
                <a:cs typeface="Verdana"/>
              </a:rPr>
              <a:t>&lt;=</a:t>
            </a:r>
            <a:r>
              <a:rPr sz="2400" spc="-41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15" dirty="0">
                <a:solidFill>
                  <a:srgbClr val="6F2F9F"/>
                </a:solidFill>
                <a:latin typeface="Verdana"/>
                <a:cs typeface="Verdana"/>
              </a:rPr>
              <a:t>&gt;=</a:t>
            </a:r>
            <a:r>
              <a:rPr sz="2400" spc="-41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415" dirty="0">
                <a:solidFill>
                  <a:srgbClr val="6F2F9F"/>
                </a:solidFill>
                <a:latin typeface="Verdana"/>
                <a:cs typeface="Verdana"/>
              </a:rPr>
              <a:t>==</a:t>
            </a:r>
            <a:r>
              <a:rPr sz="2400" spc="-415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50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25" dirty="0">
                <a:solidFill>
                  <a:srgbClr val="6F2F9F"/>
                </a:solidFill>
                <a:latin typeface="Verdana"/>
                <a:cs typeface="Verdana"/>
              </a:rPr>
              <a:t>!=</a:t>
            </a:r>
            <a:r>
              <a:rPr sz="2400" spc="-325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20" dirty="0">
                <a:solidFill>
                  <a:srgbClr val="843B0C"/>
                </a:solidFill>
                <a:latin typeface="Verdana"/>
                <a:cs typeface="Verdana"/>
              </a:rPr>
              <a:t>Logical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30" dirty="0">
                <a:solidFill>
                  <a:srgbClr val="6F2F9F"/>
                </a:solidFill>
                <a:latin typeface="Verdana"/>
                <a:cs typeface="Verdana"/>
              </a:rPr>
              <a:t>and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135" dirty="0">
                <a:solidFill>
                  <a:srgbClr val="6F2F9F"/>
                </a:solidFill>
                <a:latin typeface="Verdana"/>
                <a:cs typeface="Verdana"/>
              </a:rPr>
              <a:t>or</a:t>
            </a: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5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6F2F9F"/>
                </a:solidFill>
                <a:latin typeface="Verdana"/>
                <a:cs typeface="Verdana"/>
              </a:rPr>
              <a:t>not</a:t>
            </a: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35" dirty="0">
                <a:latin typeface="Verdana"/>
                <a:cs typeface="Verdana"/>
              </a:rPr>
              <a:t>Notes: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6F2F9F"/>
                </a:solidFill>
                <a:latin typeface="Arial"/>
                <a:cs typeface="Arial"/>
              </a:rPr>
              <a:t>• </a:t>
            </a:r>
            <a:r>
              <a:rPr sz="2400" b="1" spc="-645" dirty="0">
                <a:solidFill>
                  <a:srgbClr val="6F2F9F"/>
                </a:solidFill>
                <a:latin typeface="Verdana"/>
                <a:cs typeface="Verdana"/>
              </a:rPr>
              <a:t>+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on 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strings </a:t>
            </a: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does </a:t>
            </a:r>
            <a:r>
              <a:rPr sz="2400" spc="-145" dirty="0">
                <a:solidFill>
                  <a:srgbClr val="843B0C"/>
                </a:solidFill>
                <a:latin typeface="Verdana"/>
                <a:cs typeface="Verdana"/>
              </a:rPr>
              <a:t>string</a:t>
            </a:r>
            <a:r>
              <a:rPr sz="2400" spc="-4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843B0C"/>
                </a:solidFill>
                <a:latin typeface="Verdana"/>
                <a:cs typeface="Verdana"/>
              </a:rPr>
              <a:t>concatenation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655" dirty="0">
                <a:solidFill>
                  <a:srgbClr val="6F2F9F"/>
                </a:solidFill>
                <a:latin typeface="Verdana"/>
                <a:cs typeface="Verdana"/>
              </a:rPr>
              <a:t>*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on </a:t>
            </a:r>
            <a:r>
              <a:rPr sz="2400" spc="-155" dirty="0">
                <a:solidFill>
                  <a:srgbClr val="843B0C"/>
                </a:solidFill>
                <a:latin typeface="Verdana"/>
                <a:cs typeface="Verdana"/>
              </a:rPr>
              <a:t>(string </a:t>
            </a:r>
            <a:r>
              <a:rPr sz="2400" spc="-509" dirty="0">
                <a:solidFill>
                  <a:srgbClr val="843B0C"/>
                </a:solidFill>
                <a:latin typeface="Verdana"/>
                <a:cs typeface="Verdana"/>
              </a:rPr>
              <a:t>* </a:t>
            </a:r>
            <a:r>
              <a:rPr sz="2400" spc="-140" dirty="0">
                <a:solidFill>
                  <a:srgbClr val="843B0C"/>
                </a:solidFill>
                <a:latin typeface="Verdana"/>
                <a:cs typeface="Verdana"/>
              </a:rPr>
              <a:t>int) </a:t>
            </a: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repeats</a:t>
            </a:r>
            <a:r>
              <a:rPr sz="2400" spc="-5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45" dirty="0">
                <a:solidFill>
                  <a:srgbClr val="843B0C"/>
                </a:solidFill>
                <a:latin typeface="Verdana"/>
                <a:cs typeface="Verdana"/>
              </a:rPr>
              <a:t>string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634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>
                <a:solidFill>
                  <a:srgbClr val="006FC0"/>
                </a:solidFill>
              </a:rPr>
              <a:t>Oper</a:t>
            </a:r>
            <a:r>
              <a:rPr spc="55" dirty="0">
                <a:solidFill>
                  <a:srgbClr val="006FC0"/>
                </a:solidFill>
              </a:rPr>
              <a:t>a</a:t>
            </a:r>
            <a:r>
              <a:rPr spc="229" dirty="0">
                <a:solidFill>
                  <a:srgbClr val="006FC0"/>
                </a:solidFill>
              </a:rPr>
              <a:t>t</a:t>
            </a:r>
            <a:r>
              <a:rPr spc="470" dirty="0">
                <a:solidFill>
                  <a:srgbClr val="006FC0"/>
                </a:solidFill>
              </a:rPr>
              <a:t>o</a:t>
            </a:r>
            <a:r>
              <a:rPr dirty="0">
                <a:solidFill>
                  <a:srgbClr val="006FC0"/>
                </a:solidFill>
              </a:rPr>
              <a:t>rs</a:t>
            </a:r>
          </a:p>
        </p:txBody>
      </p:sp>
      <p:sp>
        <p:nvSpPr>
          <p:cNvPr id="3" name="object 3"/>
          <p:cNvSpPr/>
          <p:nvPr/>
        </p:nvSpPr>
        <p:spPr>
          <a:xfrm>
            <a:off x="890657" y="1915062"/>
            <a:ext cx="3842487" cy="3880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244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006FC0"/>
                </a:solidFill>
              </a:rPr>
              <a:t>Type</a:t>
            </a:r>
            <a:r>
              <a:rPr spc="-285" dirty="0">
                <a:solidFill>
                  <a:srgbClr val="006FC0"/>
                </a:solidFill>
              </a:rPr>
              <a:t> </a:t>
            </a:r>
            <a:r>
              <a:rPr spc="20" dirty="0">
                <a:solidFill>
                  <a:srgbClr val="006FC0"/>
                </a:solidFill>
              </a:rPr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9525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75" dirty="0">
                <a:latin typeface="Verdana"/>
                <a:cs typeface="Verdana"/>
              </a:rPr>
              <a:t>has </a:t>
            </a:r>
            <a:r>
              <a:rPr sz="2800" spc="-120" dirty="0">
                <a:solidFill>
                  <a:srgbClr val="FF0000"/>
                </a:solidFill>
                <a:latin typeface="Verdana"/>
                <a:cs typeface="Verdana"/>
              </a:rPr>
              <a:t>strong </a:t>
            </a:r>
            <a:r>
              <a:rPr sz="2800" spc="-50" dirty="0">
                <a:solidFill>
                  <a:srgbClr val="FF0000"/>
                </a:solidFill>
                <a:latin typeface="Verdana"/>
                <a:cs typeface="Verdana"/>
              </a:rPr>
              <a:t>typing </a:t>
            </a:r>
            <a:r>
              <a:rPr sz="2800" spc="60" dirty="0">
                <a:latin typeface="Verdana"/>
                <a:cs typeface="Verdana"/>
              </a:rPr>
              <a:t>language</a:t>
            </a:r>
            <a:r>
              <a:rPr sz="2800" spc="-705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(unlike </a:t>
            </a:r>
            <a:r>
              <a:rPr sz="2800" spc="-55" dirty="0">
                <a:latin typeface="Verdana"/>
                <a:cs typeface="Verdana"/>
              </a:rPr>
              <a:t>JavaScript)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067378"/>
            <a:ext cx="7396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5" dirty="0">
                <a:latin typeface="Verdana"/>
                <a:cs typeface="Verdana"/>
              </a:rPr>
              <a:t>We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95" dirty="0">
                <a:latin typeface="Verdana"/>
                <a:cs typeface="Verdana"/>
              </a:rPr>
              <a:t>need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0000"/>
                </a:solidFill>
                <a:latin typeface="Verdana"/>
                <a:cs typeface="Verdana"/>
              </a:rPr>
              <a:t>type</a:t>
            </a:r>
            <a:r>
              <a:rPr sz="2800" spc="-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30" dirty="0">
                <a:solidFill>
                  <a:srgbClr val="FF0000"/>
                </a:solidFill>
                <a:latin typeface="Verdana"/>
                <a:cs typeface="Verdana"/>
              </a:rPr>
              <a:t>converter</a:t>
            </a:r>
            <a:r>
              <a:rPr sz="28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functions: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1962" y="2468790"/>
            <a:ext cx="7582288" cy="1423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52633" y="4661762"/>
            <a:ext cx="2605961" cy="1179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7970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006FC0"/>
                </a:solidFill>
              </a:rPr>
              <a:t>Syntax </a:t>
            </a:r>
            <a:r>
              <a:rPr spc="25" dirty="0">
                <a:solidFill>
                  <a:srgbClr val="006FC0"/>
                </a:solidFill>
              </a:rPr>
              <a:t>and </a:t>
            </a:r>
            <a:r>
              <a:rPr spc="-15" dirty="0">
                <a:solidFill>
                  <a:srgbClr val="006FC0"/>
                </a:solidFill>
              </a:rPr>
              <a:t>Semantic:</a:t>
            </a:r>
            <a:r>
              <a:rPr spc="-715" dirty="0">
                <a:solidFill>
                  <a:srgbClr val="006FC0"/>
                </a:solidFill>
              </a:rPr>
              <a:t> </a:t>
            </a:r>
            <a:r>
              <a:rPr spc="70" dirty="0">
                <a:solidFill>
                  <a:srgbClr val="006FC0"/>
                </a:solidFill>
              </a:rPr>
              <a:t>Simplicity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7525384" cy="13874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145" dirty="0">
                <a:latin typeface="Verdana"/>
                <a:cs typeface="Verdana"/>
              </a:rPr>
              <a:t>syntax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120" dirty="0">
                <a:latin typeface="Verdana"/>
                <a:cs typeface="Verdana"/>
              </a:rPr>
              <a:t>simple, simple,</a:t>
            </a:r>
            <a:r>
              <a:rPr sz="2800" spc="-400" dirty="0">
                <a:latin typeface="Verdana"/>
                <a:cs typeface="Verdana"/>
              </a:rPr>
              <a:t> </a:t>
            </a:r>
            <a:r>
              <a:rPr sz="2800" spc="-165" dirty="0">
                <a:latin typeface="Verdana"/>
                <a:cs typeface="Verdana"/>
              </a:rPr>
              <a:t>simple!!!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60" dirty="0">
                <a:solidFill>
                  <a:srgbClr val="843B0C"/>
                </a:solidFill>
                <a:latin typeface="Verdana"/>
                <a:cs typeface="Verdana"/>
              </a:rPr>
              <a:t>Full </a:t>
            </a: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python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grammar 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(BNF) </a:t>
            </a:r>
            <a:r>
              <a:rPr sz="2400" spc="-240" dirty="0">
                <a:solidFill>
                  <a:srgbClr val="843B0C"/>
                </a:solidFill>
                <a:latin typeface="Verdana"/>
                <a:cs typeface="Verdana"/>
              </a:rPr>
              <a:t>is 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less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than</a:t>
            </a:r>
            <a:r>
              <a:rPr sz="2400" spc="-3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365" dirty="0">
                <a:solidFill>
                  <a:srgbClr val="843B0C"/>
                </a:solidFill>
                <a:latin typeface="Verdana"/>
                <a:cs typeface="Verdana"/>
              </a:rPr>
              <a:t>120 </a:t>
            </a:r>
            <a:r>
              <a:rPr sz="2400" b="1" spc="-215" dirty="0">
                <a:solidFill>
                  <a:srgbClr val="843B0C"/>
                </a:solidFill>
                <a:latin typeface="Verdana"/>
                <a:cs typeface="Verdana"/>
              </a:rPr>
              <a:t>line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!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14" dirty="0">
                <a:solidFill>
                  <a:srgbClr val="843B0C"/>
                </a:solidFill>
                <a:latin typeface="Verdana"/>
                <a:cs typeface="Verdana"/>
              </a:rPr>
              <a:t>There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less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than </a:t>
            </a:r>
            <a:r>
              <a:rPr sz="2400" b="1" spc="-365" dirty="0">
                <a:solidFill>
                  <a:srgbClr val="843B0C"/>
                </a:solidFill>
                <a:latin typeface="Verdana"/>
                <a:cs typeface="Verdana"/>
              </a:rPr>
              <a:t>35 </a:t>
            </a:r>
            <a:r>
              <a:rPr sz="2400" b="1" spc="-240" dirty="0">
                <a:solidFill>
                  <a:srgbClr val="843B0C"/>
                </a:solidFill>
                <a:latin typeface="Verdana"/>
                <a:cs typeface="Verdana"/>
              </a:rPr>
              <a:t>keywords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3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python.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23060" y="3304032"/>
            <a:ext cx="8945880" cy="2597150"/>
            <a:chOff x="1623060" y="3304032"/>
            <a:chExt cx="8945880" cy="2597150"/>
          </a:xfrm>
        </p:grpSpPr>
        <p:sp>
          <p:nvSpPr>
            <p:cNvPr id="5" name="object 5"/>
            <p:cNvSpPr/>
            <p:nvPr/>
          </p:nvSpPr>
          <p:spPr>
            <a:xfrm>
              <a:off x="1661160" y="3342132"/>
              <a:ext cx="8869680" cy="25206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2110" y="3323082"/>
              <a:ext cx="8907780" cy="2559050"/>
            </a:xfrm>
            <a:custGeom>
              <a:avLst/>
              <a:gdLst/>
              <a:ahLst/>
              <a:cxnLst/>
              <a:rect l="l" t="t" r="r" b="b"/>
              <a:pathLst>
                <a:path w="8907780" h="2559050">
                  <a:moveTo>
                    <a:pt x="0" y="2558795"/>
                  </a:moveTo>
                  <a:lnTo>
                    <a:pt x="8907780" y="2558795"/>
                  </a:lnTo>
                  <a:lnTo>
                    <a:pt x="8907780" y="0"/>
                  </a:lnTo>
                  <a:lnTo>
                    <a:pt x="0" y="0"/>
                  </a:lnTo>
                  <a:lnTo>
                    <a:pt x="0" y="255879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10"/>
              </a:lnSpc>
            </a:pPr>
            <a:fld id="{81D60167-4931-47E6-BA6A-407CBD079E47}" type="slidenum">
              <a:rPr spc="-40" dirty="0">
                <a:solidFill>
                  <a:srgbClr val="001F5F"/>
                </a:solidFill>
              </a:rPr>
              <a:t>27</a:t>
            </a:fld>
            <a:r>
              <a:rPr spc="-40" dirty="0">
                <a:solidFill>
                  <a:srgbClr val="001F5F"/>
                </a:solidFill>
              </a:rPr>
              <a:t> </a:t>
            </a:r>
            <a:r>
              <a:rPr b="0" spc="105" dirty="0">
                <a:latin typeface="Arial"/>
                <a:cs typeface="Arial"/>
              </a:rPr>
              <a:t>of</a:t>
            </a:r>
            <a:r>
              <a:rPr b="0" spc="-210" dirty="0">
                <a:latin typeface="Arial"/>
                <a:cs typeface="Arial"/>
              </a:rPr>
              <a:t> </a:t>
            </a:r>
            <a:r>
              <a:rPr spc="-30" dirty="0"/>
              <a:t>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644728"/>
            <a:ext cx="82746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006FC0"/>
                </a:solidFill>
              </a:rPr>
              <a:t>Syntax </a:t>
            </a:r>
            <a:r>
              <a:rPr spc="25" dirty="0">
                <a:solidFill>
                  <a:srgbClr val="006FC0"/>
                </a:solidFill>
              </a:rPr>
              <a:t>and </a:t>
            </a:r>
            <a:r>
              <a:rPr spc="-15" dirty="0">
                <a:solidFill>
                  <a:srgbClr val="006FC0"/>
                </a:solidFill>
              </a:rPr>
              <a:t>Semantic:</a:t>
            </a:r>
            <a:r>
              <a:rPr spc="-685" dirty="0">
                <a:solidFill>
                  <a:srgbClr val="006FC0"/>
                </a:solidFill>
              </a:rPr>
              <a:t> </a:t>
            </a:r>
            <a:r>
              <a:rPr spc="135" dirty="0">
                <a:solidFill>
                  <a:srgbClr val="006FC0"/>
                </a:solidFill>
              </a:rPr>
              <a:t>Powerfully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80971"/>
            <a:ext cx="2865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Simple </a:t>
            </a:r>
            <a:r>
              <a:rPr sz="2400" b="1" spc="5" dirty="0">
                <a:latin typeface="Trebuchet MS"/>
                <a:cs typeface="Trebuchet MS"/>
              </a:rPr>
              <a:t>Swap</a:t>
            </a:r>
            <a:r>
              <a:rPr sz="2400" b="1" spc="-525" dirty="0">
                <a:latin typeface="Trebuchet MS"/>
                <a:cs typeface="Trebuchet MS"/>
              </a:rPr>
              <a:t> </a:t>
            </a:r>
            <a:r>
              <a:rPr sz="2400" b="1" spc="-70" dirty="0">
                <a:latin typeface="Trebuchet MS"/>
                <a:cs typeface="Trebuchet MS"/>
              </a:rPr>
              <a:t>in </a:t>
            </a:r>
            <a:r>
              <a:rPr sz="2400" b="1" spc="-95" dirty="0">
                <a:latin typeface="Trebuchet MS"/>
                <a:cs typeface="Trebuchet MS"/>
              </a:rPr>
              <a:t>Java: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2080971"/>
            <a:ext cx="32321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Simple </a:t>
            </a:r>
            <a:r>
              <a:rPr sz="2400" b="1" spc="5" dirty="0">
                <a:latin typeface="Trebuchet MS"/>
                <a:cs typeface="Trebuchet MS"/>
              </a:rPr>
              <a:t>Swap</a:t>
            </a:r>
            <a:r>
              <a:rPr sz="2400" b="1" spc="-509" dirty="0">
                <a:latin typeface="Trebuchet MS"/>
                <a:cs typeface="Trebuchet MS"/>
              </a:rPr>
              <a:t> </a:t>
            </a:r>
            <a:r>
              <a:rPr sz="2400" b="1" spc="-70" dirty="0">
                <a:latin typeface="Trebuchet MS"/>
                <a:cs typeface="Trebuchet MS"/>
              </a:rPr>
              <a:t>in </a:t>
            </a:r>
            <a:r>
              <a:rPr sz="2400" b="1" spc="-50" dirty="0">
                <a:latin typeface="Trebuchet MS"/>
                <a:cs typeface="Trebuchet MS"/>
              </a:rPr>
              <a:t>Python: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33578" y="2714799"/>
            <a:ext cx="2576893" cy="2066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1080" y="2668523"/>
            <a:ext cx="4389120" cy="3240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644728"/>
            <a:ext cx="4428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>
                <a:solidFill>
                  <a:srgbClr val="006FC0"/>
                </a:solidFill>
              </a:rPr>
              <a:t>Input </a:t>
            </a:r>
            <a:r>
              <a:rPr spc="25" dirty="0">
                <a:solidFill>
                  <a:srgbClr val="006FC0"/>
                </a:solidFill>
              </a:rPr>
              <a:t>and</a:t>
            </a:r>
            <a:r>
              <a:rPr spc="-665" dirty="0">
                <a:solidFill>
                  <a:srgbClr val="006FC0"/>
                </a:solidFill>
              </a:rPr>
              <a:t> </a:t>
            </a:r>
            <a:r>
              <a:rPr spc="235" dirty="0">
                <a:solidFill>
                  <a:srgbClr val="006FC0"/>
                </a:solidFill>
              </a:rPr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80971"/>
            <a:ext cx="40659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Trebuchet MS"/>
                <a:cs typeface="Trebuchet MS"/>
              </a:rPr>
              <a:t>Script</a:t>
            </a:r>
            <a:r>
              <a:rPr sz="2400" b="1" spc="-204" dirty="0">
                <a:latin typeface="Trebuchet MS"/>
                <a:cs typeface="Trebuchet MS"/>
              </a:rPr>
              <a:t> </a:t>
            </a:r>
            <a:r>
              <a:rPr sz="2400" b="1" spc="35" dirty="0">
                <a:latin typeface="Trebuchet MS"/>
                <a:cs typeface="Trebuchet MS"/>
              </a:rPr>
              <a:t>to</a:t>
            </a:r>
            <a:r>
              <a:rPr sz="2400" b="1" spc="-175" dirty="0">
                <a:latin typeface="Trebuchet MS"/>
                <a:cs typeface="Trebuchet MS"/>
              </a:rPr>
              <a:t> </a:t>
            </a:r>
            <a:r>
              <a:rPr sz="2400" b="1" spc="-50" dirty="0">
                <a:latin typeface="Trebuchet MS"/>
                <a:cs typeface="Trebuchet MS"/>
              </a:rPr>
              <a:t>calculate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b="1" spc="-85" dirty="0">
                <a:latin typeface="Trebuchet MS"/>
                <a:cs typeface="Trebuchet MS"/>
              </a:rPr>
              <a:t>circle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area: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41106" y="2080971"/>
            <a:ext cx="1115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rebuchet MS"/>
                <a:cs typeface="Trebuchet MS"/>
              </a:rPr>
              <a:t>Output: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3069681"/>
            <a:ext cx="6087249" cy="1276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61731" y="2968370"/>
            <a:ext cx="3854604" cy="1290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6435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006FC0"/>
                </a:solidFill>
              </a:rPr>
              <a:t>Identifiers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150475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25120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0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identifier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name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used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identify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variable,  </a:t>
            </a:r>
            <a:r>
              <a:rPr sz="2800" spc="-50" dirty="0">
                <a:latin typeface="Verdana"/>
                <a:cs typeface="Verdana"/>
              </a:rPr>
              <a:t>function, </a:t>
            </a:r>
            <a:r>
              <a:rPr sz="2800" spc="-105" dirty="0">
                <a:latin typeface="Verdana"/>
                <a:cs typeface="Verdana"/>
              </a:rPr>
              <a:t>class, </a:t>
            </a:r>
            <a:r>
              <a:rPr sz="2800" spc="-25" dirty="0">
                <a:latin typeface="Verdana"/>
                <a:cs typeface="Verdana"/>
              </a:rPr>
              <a:t>module, </a:t>
            </a:r>
            <a:r>
              <a:rPr sz="2800" spc="-114" dirty="0">
                <a:latin typeface="Verdana"/>
                <a:cs typeface="Verdana"/>
              </a:rPr>
              <a:t>or </a:t>
            </a:r>
            <a:r>
              <a:rPr sz="2800" spc="-60" dirty="0">
                <a:latin typeface="Verdana"/>
                <a:cs typeface="Verdana"/>
              </a:rPr>
              <a:t>other</a:t>
            </a:r>
            <a:r>
              <a:rPr sz="2800" spc="-7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object.</a:t>
            </a:r>
            <a:endParaRPr sz="2800">
              <a:latin typeface="Verdana"/>
              <a:cs typeface="Verdana"/>
            </a:endParaRPr>
          </a:p>
          <a:p>
            <a:pPr marL="241300" marR="1181100" indent="-22923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40" dirty="0">
                <a:latin typeface="Verdana"/>
                <a:cs typeface="Verdana"/>
              </a:rPr>
              <a:t>An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identifier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204" dirty="0">
                <a:latin typeface="Verdana"/>
                <a:cs typeface="Verdana"/>
              </a:rPr>
              <a:t>starts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letter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b="1" spc="-110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800" b="1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b="1" spc="-540" dirty="0">
                <a:solidFill>
                  <a:srgbClr val="FF0000"/>
                </a:solidFill>
                <a:latin typeface="Verdana"/>
                <a:cs typeface="Verdana"/>
              </a:rPr>
              <a:t>Z</a:t>
            </a:r>
            <a:r>
              <a:rPr sz="2800" b="1" spc="-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or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800" b="1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b="1" spc="-385" dirty="0">
                <a:solidFill>
                  <a:srgbClr val="FF0000"/>
                </a:solidFill>
                <a:latin typeface="Verdana"/>
                <a:cs typeface="Verdana"/>
              </a:rPr>
              <a:t>z</a:t>
            </a:r>
            <a:r>
              <a:rPr sz="2800" b="1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or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an </a:t>
            </a:r>
            <a:r>
              <a:rPr sz="2800" spc="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30" dirty="0">
                <a:solidFill>
                  <a:srgbClr val="FF0000"/>
                </a:solidFill>
                <a:latin typeface="Verdana"/>
                <a:cs typeface="Verdana"/>
              </a:rPr>
              <a:t>underscore </a:t>
            </a:r>
            <a:r>
              <a:rPr sz="2800" spc="-290" dirty="0">
                <a:latin typeface="Verdana"/>
                <a:cs typeface="Verdana"/>
              </a:rPr>
              <a:t>(_) </a:t>
            </a:r>
            <a:r>
              <a:rPr sz="2800" spc="10" dirty="0">
                <a:latin typeface="Verdana"/>
                <a:cs typeface="Verdana"/>
              </a:rPr>
              <a:t>followed </a:t>
            </a:r>
            <a:r>
              <a:rPr sz="2800" dirty="0">
                <a:latin typeface="Verdana"/>
                <a:cs typeface="Verdana"/>
              </a:rPr>
              <a:t>by </a:t>
            </a:r>
            <a:r>
              <a:rPr sz="2800" spc="-90" dirty="0">
                <a:latin typeface="Verdana"/>
                <a:cs typeface="Verdana"/>
              </a:rPr>
              <a:t>zero </a:t>
            </a:r>
            <a:r>
              <a:rPr sz="2800" spc="-110" dirty="0">
                <a:latin typeface="Verdana"/>
                <a:cs typeface="Verdana"/>
              </a:rPr>
              <a:t>or </a:t>
            </a:r>
            <a:r>
              <a:rPr sz="2800" spc="-45" dirty="0">
                <a:latin typeface="Verdana"/>
                <a:cs typeface="Verdana"/>
              </a:rPr>
              <a:t>more </a:t>
            </a:r>
            <a:r>
              <a:rPr sz="2800" spc="-150" dirty="0">
                <a:latin typeface="Verdana"/>
                <a:cs typeface="Verdana"/>
              </a:rPr>
              <a:t>letters,  </a:t>
            </a:r>
            <a:r>
              <a:rPr sz="2800" spc="-75" dirty="0">
                <a:latin typeface="Verdana"/>
                <a:cs typeface="Verdana"/>
              </a:rPr>
              <a:t>underscores,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640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digits </a:t>
            </a:r>
            <a:r>
              <a:rPr sz="2800" spc="-225" dirty="0">
                <a:latin typeface="Verdana"/>
                <a:cs typeface="Verdana"/>
              </a:rPr>
              <a:t>(0 </a:t>
            </a:r>
            <a:r>
              <a:rPr sz="2800" spc="-15" dirty="0">
                <a:latin typeface="Verdana"/>
                <a:cs typeface="Verdana"/>
              </a:rPr>
              <a:t>to </a:t>
            </a:r>
            <a:r>
              <a:rPr sz="2800" spc="-260" dirty="0">
                <a:latin typeface="Verdana"/>
                <a:cs typeface="Verdana"/>
              </a:rPr>
              <a:t>9).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ts val="3195"/>
              </a:lnSpc>
              <a:spcBef>
                <a:spcPts val="62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does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not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allow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punctuation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characters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such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as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15" dirty="0">
                <a:solidFill>
                  <a:srgbClr val="FF0000"/>
                </a:solidFill>
                <a:latin typeface="Verdana"/>
                <a:cs typeface="Verdana"/>
              </a:rPr>
              <a:t>@</a:t>
            </a:r>
            <a:r>
              <a:rPr sz="2800" spc="-315" dirty="0">
                <a:latin typeface="Verdana"/>
                <a:cs typeface="Verdana"/>
              </a:rPr>
              <a:t>,</a:t>
            </a:r>
            <a:endParaRPr sz="2800">
              <a:latin typeface="Verdana"/>
              <a:cs typeface="Verdana"/>
            </a:endParaRPr>
          </a:p>
          <a:p>
            <a:pPr marL="241300">
              <a:lnSpc>
                <a:spcPts val="3195"/>
              </a:lnSpc>
            </a:pPr>
            <a:r>
              <a:rPr sz="2800" spc="-240" dirty="0">
                <a:solidFill>
                  <a:srgbClr val="FF0000"/>
                </a:solidFill>
                <a:latin typeface="Verdana"/>
                <a:cs typeface="Verdana"/>
              </a:rPr>
              <a:t>$</a:t>
            </a:r>
            <a:r>
              <a:rPr sz="2800" spc="-240" dirty="0">
                <a:latin typeface="Verdana"/>
                <a:cs typeface="Verdana"/>
              </a:rPr>
              <a:t>,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spc="-850" dirty="0">
                <a:solidFill>
                  <a:srgbClr val="FF0000"/>
                </a:solidFill>
                <a:latin typeface="Verdana"/>
                <a:cs typeface="Verdana"/>
              </a:rPr>
              <a:t>% </a:t>
            </a:r>
            <a:r>
              <a:rPr sz="2800" spc="-110" dirty="0">
                <a:latin typeface="Verdana"/>
                <a:cs typeface="Verdana"/>
              </a:rPr>
              <a:t>within</a:t>
            </a:r>
            <a:r>
              <a:rPr sz="2800" spc="-520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identifiers.</a:t>
            </a:r>
            <a:endParaRPr sz="2800">
              <a:latin typeface="Verdana"/>
              <a:cs typeface="Verdana"/>
            </a:endParaRPr>
          </a:p>
          <a:p>
            <a:pPr marL="241300" marR="371475" indent="-229235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565" dirty="0">
                <a:latin typeface="Verdana"/>
                <a:cs typeface="Verdana"/>
              </a:rPr>
              <a:t> </a:t>
            </a:r>
            <a:r>
              <a:rPr sz="2800" b="1" spc="-100" dirty="0">
                <a:solidFill>
                  <a:srgbClr val="FF0000"/>
                </a:solidFill>
                <a:latin typeface="Verdana"/>
                <a:cs typeface="Verdana"/>
              </a:rPr>
              <a:t>case </a:t>
            </a:r>
            <a:r>
              <a:rPr sz="2800" b="1" spc="-290" dirty="0">
                <a:solidFill>
                  <a:srgbClr val="FF0000"/>
                </a:solidFill>
                <a:latin typeface="Verdana"/>
                <a:cs typeface="Verdana"/>
              </a:rPr>
              <a:t>sensitive </a:t>
            </a:r>
            <a:r>
              <a:rPr sz="2800" spc="-35" dirty="0">
                <a:latin typeface="Verdana"/>
                <a:cs typeface="Verdana"/>
              </a:rPr>
              <a:t>programming </a:t>
            </a:r>
            <a:r>
              <a:rPr sz="2800" spc="25" dirty="0">
                <a:latin typeface="Verdana"/>
                <a:cs typeface="Verdana"/>
              </a:rPr>
              <a:t>language. </a:t>
            </a:r>
            <a:r>
              <a:rPr sz="2800" spc="-265" dirty="0">
                <a:latin typeface="Verdana"/>
                <a:cs typeface="Verdana"/>
              </a:rPr>
              <a:t>Thus </a:t>
            </a:r>
            <a:r>
              <a:rPr sz="2800" spc="-26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800" spc="-30" dirty="0">
                <a:solidFill>
                  <a:srgbClr val="00AF50"/>
                </a:solidFill>
                <a:latin typeface="Verdana"/>
                <a:cs typeface="Verdana"/>
              </a:rPr>
              <a:t>Var</a:t>
            </a:r>
            <a:r>
              <a:rPr sz="2800" spc="-22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85" dirty="0">
                <a:solidFill>
                  <a:srgbClr val="00AF50"/>
                </a:solidFill>
                <a:latin typeface="Verdana"/>
                <a:cs typeface="Verdana"/>
              </a:rPr>
              <a:t>var</a:t>
            </a:r>
            <a:r>
              <a:rPr sz="2800" spc="-21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two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different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identifiers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140" dirty="0">
                <a:latin typeface="Verdana"/>
                <a:cs typeface="Verdana"/>
              </a:rPr>
              <a:t>in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Python.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341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006FC0"/>
                </a:solidFill>
              </a:rPr>
              <a:t>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065"/>
            <a:ext cx="9194165" cy="178244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35" dirty="0">
                <a:latin typeface="Verdana"/>
                <a:cs typeface="Verdana"/>
              </a:rPr>
              <a:t>Single-Line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Statements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Statements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typically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843B0C"/>
                </a:solidFill>
                <a:latin typeface="Verdana"/>
                <a:cs typeface="Verdana"/>
              </a:rPr>
              <a:t>end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with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229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FF0000"/>
                </a:solidFill>
                <a:latin typeface="Verdana"/>
                <a:cs typeface="Verdana"/>
              </a:rPr>
              <a:t>new</a:t>
            </a:r>
            <a:r>
              <a:rPr sz="2400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FF0000"/>
                </a:solidFill>
                <a:latin typeface="Verdana"/>
                <a:cs typeface="Verdana"/>
              </a:rPr>
              <a:t>line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14" dirty="0">
                <a:latin typeface="Verdana"/>
                <a:cs typeface="Verdana"/>
              </a:rPr>
              <a:t>Multi-Line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Statements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35" dirty="0">
                <a:solidFill>
                  <a:srgbClr val="843B0C"/>
                </a:solidFill>
                <a:latin typeface="Verdana"/>
                <a:cs typeface="Verdana"/>
              </a:rPr>
              <a:t>character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‘</a:t>
            </a:r>
            <a:r>
              <a:rPr sz="2400" b="1" spc="-20" dirty="0">
                <a:solidFill>
                  <a:srgbClr val="FF0000"/>
                </a:solidFill>
                <a:latin typeface="Verdana"/>
                <a:cs typeface="Verdana"/>
              </a:rPr>
              <a:t>\</a:t>
            </a:r>
            <a:r>
              <a:rPr sz="2400" b="1" spc="-20" dirty="0">
                <a:solidFill>
                  <a:srgbClr val="7E5F00"/>
                </a:solidFill>
                <a:latin typeface="Verdana"/>
                <a:cs typeface="Verdana"/>
              </a:rPr>
              <a:t>’</a:t>
            </a:r>
            <a:r>
              <a:rPr sz="2400" b="1" spc="-160" dirty="0">
                <a:solidFill>
                  <a:srgbClr val="7E5F00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use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0" dirty="0">
                <a:solidFill>
                  <a:srgbClr val="843B0C"/>
                </a:solidFill>
                <a:latin typeface="Verdana"/>
                <a:cs typeface="Verdana"/>
              </a:rPr>
              <a:t>denote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that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line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should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continue.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4827" y="3924111"/>
            <a:ext cx="8211033" cy="1175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341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006FC0"/>
                </a:solidFill>
              </a:rPr>
              <a:t>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1816353"/>
            <a:ext cx="91643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Statements </a:t>
            </a:r>
            <a:r>
              <a:rPr sz="2400" spc="50" dirty="0">
                <a:solidFill>
                  <a:srgbClr val="843B0C"/>
                </a:solidFill>
                <a:latin typeface="Verdana"/>
                <a:cs typeface="Verdana"/>
              </a:rPr>
              <a:t>contained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within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 </a:t>
            </a:r>
            <a:r>
              <a:rPr sz="2400" b="1" spc="-540" dirty="0">
                <a:solidFill>
                  <a:srgbClr val="843B0C"/>
                </a:solidFill>
                <a:latin typeface="Verdana"/>
                <a:cs typeface="Verdana"/>
              </a:rPr>
              <a:t>[ </a:t>
            </a:r>
            <a:r>
              <a:rPr sz="2400" b="1" spc="-375" dirty="0">
                <a:solidFill>
                  <a:srgbClr val="843B0C"/>
                </a:solidFill>
                <a:latin typeface="Verdana"/>
                <a:cs typeface="Verdana"/>
              </a:rPr>
              <a:t>]</a:t>
            </a:r>
            <a:r>
              <a:rPr sz="2400" spc="-37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b="1" spc="-894" dirty="0">
                <a:solidFill>
                  <a:srgbClr val="843B0C"/>
                </a:solidFill>
                <a:latin typeface="Verdana"/>
                <a:cs typeface="Verdana"/>
              </a:rPr>
              <a:t>{</a:t>
            </a:r>
            <a:r>
              <a:rPr sz="2400" b="1" spc="-15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550" dirty="0">
                <a:solidFill>
                  <a:srgbClr val="843B0C"/>
                </a:solidFill>
                <a:latin typeface="Verdana"/>
                <a:cs typeface="Verdana"/>
              </a:rPr>
              <a:t>}</a:t>
            </a:r>
            <a:r>
              <a:rPr sz="2400" spc="-55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or </a:t>
            </a:r>
            <a:r>
              <a:rPr sz="2400" b="1" spc="-395" dirty="0">
                <a:solidFill>
                  <a:srgbClr val="843B0C"/>
                </a:solidFill>
                <a:latin typeface="Verdana"/>
                <a:cs typeface="Verdana"/>
              </a:rPr>
              <a:t>( )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brackets </a:t>
            </a:r>
            <a:r>
              <a:rPr sz="2400" spc="125" dirty="0">
                <a:solidFill>
                  <a:srgbClr val="FF0000"/>
                </a:solidFill>
                <a:latin typeface="Verdana"/>
                <a:cs typeface="Verdana"/>
              </a:rPr>
              <a:t>do</a:t>
            </a:r>
            <a:r>
              <a:rPr sz="2400" spc="-5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Verdana"/>
                <a:cs typeface="Verdana"/>
              </a:rPr>
              <a:t>not  </a:t>
            </a:r>
            <a:r>
              <a:rPr sz="2400" spc="85" dirty="0">
                <a:solidFill>
                  <a:srgbClr val="FF0000"/>
                </a:solidFill>
                <a:latin typeface="Verdana"/>
                <a:cs typeface="Verdana"/>
              </a:rPr>
              <a:t>need</a:t>
            </a:r>
            <a:r>
              <a:rPr sz="24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use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line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continuation</a:t>
            </a:r>
            <a:r>
              <a:rPr sz="2400" spc="-2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character.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For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843B0C"/>
                </a:solidFill>
                <a:latin typeface="Verdana"/>
                <a:cs typeface="Verdana"/>
              </a:rPr>
              <a:t>example: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4502277"/>
            <a:ext cx="911796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line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containing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only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whitespace,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possibly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with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843B0C"/>
                </a:solidFill>
                <a:latin typeface="Verdana"/>
                <a:cs typeface="Verdana"/>
              </a:rPr>
              <a:t>comment,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843B0C"/>
                </a:solidFill>
                <a:latin typeface="Verdana"/>
                <a:cs typeface="Verdana"/>
              </a:rPr>
              <a:t>is 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known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as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Verdana"/>
                <a:cs typeface="Verdana"/>
              </a:rPr>
              <a:t>blank</a:t>
            </a:r>
            <a:r>
              <a:rPr sz="2400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FF0000"/>
                </a:solidFill>
                <a:latin typeface="Verdana"/>
                <a:cs typeface="Verdana"/>
              </a:rPr>
              <a:t>line</a:t>
            </a:r>
            <a:r>
              <a:rPr sz="2400" spc="-100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totally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Verdana"/>
                <a:cs typeface="Verdana"/>
              </a:rPr>
              <a:t>ignores</a:t>
            </a:r>
            <a:r>
              <a:rPr sz="2400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it.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0731" y="3027227"/>
            <a:ext cx="9675450" cy="985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341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006FC0"/>
                </a:solidFill>
              </a:rPr>
              <a:t>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10013950" cy="395986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5" dirty="0">
                <a:latin typeface="Verdana"/>
                <a:cs typeface="Verdana"/>
              </a:rPr>
              <a:t>Multiple </a:t>
            </a:r>
            <a:r>
              <a:rPr sz="2800" spc="-105" dirty="0">
                <a:latin typeface="Verdana"/>
                <a:cs typeface="Verdana"/>
              </a:rPr>
              <a:t>Statements </a:t>
            </a:r>
            <a:r>
              <a:rPr sz="2800" spc="30" dirty="0">
                <a:latin typeface="Verdana"/>
                <a:cs typeface="Verdana"/>
              </a:rPr>
              <a:t>on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735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Single </a:t>
            </a:r>
            <a:r>
              <a:rPr sz="2800" spc="-95" dirty="0">
                <a:latin typeface="Verdana"/>
                <a:cs typeface="Verdana"/>
              </a:rPr>
              <a:t>Line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6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semicolon</a:t>
            </a:r>
            <a:r>
              <a:rPr sz="2400" spc="-2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16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295" dirty="0">
                <a:latin typeface="Verdana"/>
                <a:cs typeface="Verdana"/>
              </a:rPr>
              <a:t>;</a:t>
            </a:r>
            <a:r>
              <a:rPr sz="2400" b="1" spc="-160" dirty="0"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allows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multiple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statements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843B0C"/>
                </a:solidFill>
                <a:latin typeface="Verdana"/>
                <a:cs typeface="Verdana"/>
              </a:rPr>
              <a:t>on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843B0C"/>
                </a:solidFill>
                <a:latin typeface="Verdana"/>
                <a:cs typeface="Verdana"/>
              </a:rPr>
              <a:t>single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line.</a:t>
            </a:r>
            <a:endParaRPr sz="2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843B0C"/>
              </a:buClr>
              <a:buFont typeface="Arial"/>
              <a:buChar char="•"/>
            </a:pPr>
            <a:endParaRPr sz="2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843B0C"/>
              </a:buClr>
              <a:buFont typeface="Arial"/>
              <a:buChar char="•"/>
            </a:pPr>
            <a:endParaRPr sz="345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5" dirty="0">
                <a:latin typeface="Verdana"/>
                <a:cs typeface="Verdana"/>
              </a:rPr>
              <a:t>Multiple </a:t>
            </a:r>
            <a:r>
              <a:rPr sz="2800" spc="-75" dirty="0">
                <a:latin typeface="Verdana"/>
                <a:cs typeface="Verdana"/>
              </a:rPr>
              <a:t>Statement </a:t>
            </a:r>
            <a:r>
              <a:rPr sz="2800" spc="-45" dirty="0">
                <a:latin typeface="Verdana"/>
                <a:cs typeface="Verdana"/>
              </a:rPr>
              <a:t>Groups </a:t>
            </a:r>
            <a:r>
              <a:rPr sz="2800" spc="75" dirty="0">
                <a:latin typeface="Verdana"/>
                <a:cs typeface="Verdana"/>
              </a:rPr>
              <a:t>called</a:t>
            </a:r>
            <a:r>
              <a:rPr sz="2800" spc="-610" dirty="0">
                <a:latin typeface="Verdana"/>
                <a:cs typeface="Verdana"/>
              </a:rPr>
              <a:t> </a:t>
            </a:r>
            <a:r>
              <a:rPr sz="2800" spc="-200" dirty="0">
                <a:latin typeface="Verdana"/>
                <a:cs typeface="Verdana"/>
              </a:rPr>
              <a:t>Suites</a:t>
            </a:r>
            <a:endParaRPr sz="2800">
              <a:latin typeface="Verdana"/>
              <a:cs typeface="Verdana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Groups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843B0C"/>
                </a:solidFill>
                <a:latin typeface="Verdana"/>
                <a:cs typeface="Verdana"/>
              </a:rPr>
              <a:t>individual</a:t>
            </a:r>
            <a:r>
              <a:rPr sz="2400" spc="-229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statements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making</a:t>
            </a:r>
            <a:r>
              <a:rPr sz="2400" spc="-2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40" dirty="0">
                <a:solidFill>
                  <a:srgbClr val="843B0C"/>
                </a:solidFill>
                <a:latin typeface="Verdana"/>
                <a:cs typeface="Verdana"/>
              </a:rPr>
              <a:t>up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843B0C"/>
                </a:solidFill>
                <a:latin typeface="Verdana"/>
                <a:cs typeface="Verdana"/>
              </a:rPr>
              <a:t>single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70" dirty="0">
                <a:solidFill>
                  <a:srgbClr val="843B0C"/>
                </a:solidFill>
                <a:latin typeface="Verdana"/>
                <a:cs typeface="Verdana"/>
              </a:rPr>
              <a:t>code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block 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spc="65" dirty="0">
                <a:solidFill>
                  <a:srgbClr val="843B0C"/>
                </a:solidFill>
                <a:latin typeface="Verdana"/>
                <a:cs typeface="Verdana"/>
              </a:rPr>
              <a:t>called</a:t>
            </a:r>
            <a:r>
              <a:rPr sz="2400" spc="-3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FF0000"/>
                </a:solidFill>
                <a:latin typeface="Verdana"/>
                <a:cs typeface="Verdana"/>
              </a:rPr>
              <a:t>suites</a:t>
            </a:r>
            <a:r>
              <a:rPr sz="2400" spc="-155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698500" marR="381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70" dirty="0">
                <a:solidFill>
                  <a:srgbClr val="843B0C"/>
                </a:solidFill>
                <a:latin typeface="Verdana"/>
                <a:cs typeface="Verdana"/>
              </a:rPr>
              <a:t>Compound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or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843B0C"/>
                </a:solidFill>
                <a:latin typeface="Verdana"/>
                <a:cs typeface="Verdana"/>
              </a:rPr>
              <a:t>complex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statements,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such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as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“</a:t>
            </a:r>
            <a:r>
              <a:rPr sz="2400" b="1" spc="-130" dirty="0">
                <a:solidFill>
                  <a:srgbClr val="843B0C"/>
                </a:solidFill>
                <a:latin typeface="Verdana"/>
                <a:cs typeface="Verdana"/>
              </a:rPr>
              <a:t>if</a:t>
            </a: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”,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“</a:t>
            </a:r>
            <a:r>
              <a:rPr sz="2400" b="1" spc="-165" dirty="0">
                <a:solidFill>
                  <a:srgbClr val="843B0C"/>
                </a:solidFill>
                <a:latin typeface="Verdana"/>
                <a:cs typeface="Verdana"/>
              </a:rPr>
              <a:t>while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”,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“</a:t>
            </a:r>
            <a:r>
              <a:rPr sz="2400" b="1" spc="-95" dirty="0">
                <a:solidFill>
                  <a:srgbClr val="843B0C"/>
                </a:solidFill>
                <a:latin typeface="Verdana"/>
                <a:cs typeface="Verdana"/>
              </a:rPr>
              <a:t>def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”,  </a:t>
            </a:r>
            <a:r>
              <a:rPr sz="2400" spc="90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843B0C"/>
                </a:solidFill>
                <a:latin typeface="Verdana"/>
                <a:cs typeface="Verdana"/>
              </a:rPr>
              <a:t>“</a:t>
            </a:r>
            <a:r>
              <a:rPr sz="2400" b="1" spc="-120" dirty="0">
                <a:solidFill>
                  <a:srgbClr val="843B0C"/>
                </a:solidFill>
                <a:latin typeface="Verdana"/>
                <a:cs typeface="Verdana"/>
              </a:rPr>
              <a:t>class</a:t>
            </a:r>
            <a:r>
              <a:rPr sz="2400" spc="-120" dirty="0">
                <a:solidFill>
                  <a:srgbClr val="843B0C"/>
                </a:solidFill>
                <a:latin typeface="Verdana"/>
                <a:cs typeface="Verdana"/>
              </a:rPr>
              <a:t>”,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those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which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require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160" dirty="0">
                <a:solidFill>
                  <a:srgbClr val="843B0C"/>
                </a:solidFill>
                <a:latin typeface="Verdana"/>
                <a:cs typeface="Verdana"/>
              </a:rPr>
              <a:t>header</a:t>
            </a:r>
            <a:r>
              <a:rPr sz="2400" b="1" spc="-14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204" dirty="0">
                <a:solidFill>
                  <a:srgbClr val="843B0C"/>
                </a:solidFill>
                <a:latin typeface="Verdana"/>
                <a:cs typeface="Verdana"/>
              </a:rPr>
              <a:t>line</a:t>
            </a:r>
            <a:r>
              <a:rPr sz="2400" b="1" spc="-15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254" dirty="0">
                <a:solidFill>
                  <a:srgbClr val="843B0C"/>
                </a:solidFill>
                <a:latin typeface="Verdana"/>
                <a:cs typeface="Verdana"/>
              </a:rPr>
              <a:t>suite.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4732" y="2989032"/>
            <a:ext cx="9442546" cy="248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093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6FC0"/>
                </a:solidFill>
              </a:rPr>
              <a:t>Blocks </a:t>
            </a:r>
            <a:r>
              <a:rPr spc="25" dirty="0">
                <a:solidFill>
                  <a:srgbClr val="006FC0"/>
                </a:solidFill>
              </a:rPr>
              <a:t>and</a:t>
            </a:r>
            <a:r>
              <a:rPr spc="-505" dirty="0">
                <a:solidFill>
                  <a:srgbClr val="006FC0"/>
                </a:solidFill>
              </a:rPr>
              <a:t> </a:t>
            </a:r>
            <a:r>
              <a:rPr spc="114" dirty="0">
                <a:solidFill>
                  <a:srgbClr val="006FC0"/>
                </a:solidFill>
              </a:rPr>
              <a:t>Indentations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10163175" cy="389445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14" dirty="0">
                <a:latin typeface="Verdana"/>
                <a:cs typeface="Verdana"/>
              </a:rPr>
              <a:t>Blocks </a:t>
            </a:r>
            <a:r>
              <a:rPr sz="2800" spc="30" dirty="0">
                <a:latin typeface="Verdana"/>
                <a:cs typeface="Verdana"/>
              </a:rPr>
              <a:t>begin </a:t>
            </a:r>
            <a:r>
              <a:rPr sz="2800" spc="-100" dirty="0">
                <a:latin typeface="Verdana"/>
                <a:cs typeface="Verdana"/>
              </a:rPr>
              <a:t>with </a:t>
            </a:r>
            <a:r>
              <a:rPr sz="2800" spc="65" dirty="0">
                <a:latin typeface="Verdana"/>
                <a:cs typeface="Verdana"/>
              </a:rPr>
              <a:t>colon </a:t>
            </a:r>
            <a:r>
              <a:rPr sz="2800" spc="-120" dirty="0">
                <a:latin typeface="Verdana"/>
                <a:cs typeface="Verdana"/>
              </a:rPr>
              <a:t>mark</a:t>
            </a:r>
            <a:r>
              <a:rPr sz="2800" spc="-70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( </a:t>
            </a:r>
            <a:r>
              <a:rPr sz="2800" b="1" spc="-345" dirty="0">
                <a:solidFill>
                  <a:srgbClr val="FF0000"/>
                </a:solidFill>
                <a:latin typeface="Verdana"/>
                <a:cs typeface="Verdana"/>
              </a:rPr>
              <a:t>: </a:t>
            </a:r>
            <a:r>
              <a:rPr sz="2800" spc="-240" dirty="0"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solidFill>
                  <a:srgbClr val="FF0000"/>
                </a:solidFill>
                <a:latin typeface="Verdana"/>
                <a:cs typeface="Verdana"/>
              </a:rPr>
              <a:t>Nested </a:t>
            </a:r>
            <a:r>
              <a:rPr sz="2800" spc="-35" dirty="0">
                <a:latin typeface="Verdana"/>
                <a:cs typeface="Verdana"/>
              </a:rPr>
              <a:t>blocks </a:t>
            </a:r>
            <a:r>
              <a:rPr sz="2800" spc="5" dirty="0">
                <a:latin typeface="Verdana"/>
                <a:cs typeface="Verdana"/>
              </a:rPr>
              <a:t>are</a:t>
            </a:r>
            <a:r>
              <a:rPr sz="2800" spc="-530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allowed.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5" dirty="0">
                <a:solidFill>
                  <a:srgbClr val="FF0000"/>
                </a:solidFill>
                <a:latin typeface="Verdana"/>
                <a:cs typeface="Verdana"/>
              </a:rPr>
              <a:t>Line</a:t>
            </a:r>
            <a:r>
              <a:rPr sz="2800" spc="-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FF0000"/>
                </a:solidFill>
                <a:latin typeface="Verdana"/>
                <a:cs typeface="Verdana"/>
              </a:rPr>
              <a:t>Indentation</a:t>
            </a:r>
            <a:r>
              <a:rPr sz="28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determine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blocks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scope!</a:t>
            </a:r>
            <a:endParaRPr sz="2800">
              <a:latin typeface="Verdana"/>
              <a:cs typeface="Verdana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The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number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 </a:t>
            </a: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spaces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 indentation </a:t>
            </a:r>
            <a:r>
              <a:rPr sz="2400" spc="-240" dirty="0">
                <a:solidFill>
                  <a:srgbClr val="843B0C"/>
                </a:solidFill>
                <a:latin typeface="Verdana"/>
                <a:cs typeface="Verdana"/>
              </a:rPr>
              <a:t>is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variable, </a:t>
            </a: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but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all 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statements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within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block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843B0C"/>
                </a:solidFill>
                <a:latin typeface="Verdana"/>
                <a:cs typeface="Verdana"/>
              </a:rPr>
              <a:t>must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843B0C"/>
                </a:solidFill>
                <a:latin typeface="Verdana"/>
                <a:cs typeface="Verdana"/>
              </a:rPr>
              <a:t>be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indented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same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843B0C"/>
                </a:solidFill>
                <a:latin typeface="Verdana"/>
                <a:cs typeface="Verdana"/>
              </a:rPr>
              <a:t>amount</a:t>
            </a:r>
            <a:endParaRPr sz="2400">
              <a:latin typeface="Verdana"/>
              <a:cs typeface="Verdana"/>
            </a:endParaRPr>
          </a:p>
          <a:p>
            <a:pPr marL="241300" marR="856615" indent="-229235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5" dirty="0">
                <a:solidFill>
                  <a:srgbClr val="FF0000"/>
                </a:solidFill>
                <a:latin typeface="Verdana"/>
                <a:cs typeface="Verdana"/>
              </a:rPr>
              <a:t>pass</a:t>
            </a:r>
            <a:r>
              <a:rPr sz="28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keyword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85" dirty="0">
                <a:latin typeface="Verdana"/>
                <a:cs typeface="Verdana"/>
              </a:rPr>
              <a:t>fill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empty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or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not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implementation  blocks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body.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80" dirty="0">
                <a:solidFill>
                  <a:srgbClr val="843B0C"/>
                </a:solidFill>
                <a:latin typeface="Verdana"/>
                <a:cs typeface="Verdana"/>
              </a:rPr>
              <a:t>pass </a:t>
            </a:r>
            <a:r>
              <a:rPr sz="2400" spc="405" dirty="0">
                <a:solidFill>
                  <a:srgbClr val="843B0C"/>
                </a:solidFill>
                <a:latin typeface="Klaudia"/>
                <a:cs typeface="Klaudia"/>
              </a:rPr>
              <a:t>≡</a:t>
            </a:r>
            <a:r>
              <a:rPr sz="2400" spc="-675" dirty="0">
                <a:solidFill>
                  <a:srgbClr val="843B0C"/>
                </a:solidFill>
                <a:latin typeface="Klaudia"/>
                <a:cs typeface="Klaudia"/>
              </a:rPr>
              <a:t> </a:t>
            </a:r>
            <a:r>
              <a:rPr sz="2400" spc="125" dirty="0">
                <a:solidFill>
                  <a:srgbClr val="843B0C"/>
                </a:solidFill>
                <a:latin typeface="Verdana"/>
                <a:cs typeface="Verdana"/>
              </a:rPr>
              <a:t>do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nothing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901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>
                <a:solidFill>
                  <a:srgbClr val="006FC0"/>
                </a:solidFill>
              </a:rPr>
              <a:t>Quotations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992251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95" dirty="0">
                <a:latin typeface="Verdana"/>
                <a:cs typeface="Verdana"/>
              </a:rPr>
              <a:t>accepts </a:t>
            </a:r>
            <a:r>
              <a:rPr sz="2800" b="1" spc="-254" dirty="0">
                <a:latin typeface="Verdana"/>
                <a:cs typeface="Verdana"/>
              </a:rPr>
              <a:t>single </a:t>
            </a:r>
            <a:r>
              <a:rPr sz="2800" spc="-265" dirty="0">
                <a:latin typeface="Verdana"/>
                <a:cs typeface="Verdana"/>
              </a:rPr>
              <a:t>(</a:t>
            </a:r>
            <a:r>
              <a:rPr sz="2800" b="1" spc="-265" dirty="0">
                <a:latin typeface="Verdana"/>
                <a:cs typeface="Verdana"/>
              </a:rPr>
              <a:t>'</a:t>
            </a:r>
            <a:r>
              <a:rPr sz="2800" spc="-265" dirty="0">
                <a:latin typeface="Verdana"/>
                <a:cs typeface="Verdana"/>
              </a:rPr>
              <a:t>), </a:t>
            </a:r>
            <a:r>
              <a:rPr sz="2800" b="1" spc="-175" dirty="0">
                <a:latin typeface="Verdana"/>
                <a:cs typeface="Verdana"/>
              </a:rPr>
              <a:t>double </a:t>
            </a:r>
            <a:r>
              <a:rPr sz="2800" spc="-370" dirty="0">
                <a:latin typeface="Verdana"/>
                <a:cs typeface="Verdana"/>
              </a:rPr>
              <a:t>(</a:t>
            </a:r>
            <a:r>
              <a:rPr sz="2800" b="1" spc="-370" dirty="0">
                <a:latin typeface="Verdana"/>
                <a:cs typeface="Verdana"/>
              </a:rPr>
              <a:t>"</a:t>
            </a:r>
            <a:r>
              <a:rPr sz="2800" spc="-370" dirty="0">
                <a:latin typeface="Verdana"/>
                <a:cs typeface="Verdana"/>
              </a:rPr>
              <a:t>)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b="1" spc="-285" dirty="0">
                <a:latin typeface="Verdana"/>
                <a:cs typeface="Verdana"/>
              </a:rPr>
              <a:t>triple </a:t>
            </a:r>
            <a:r>
              <a:rPr sz="2800" spc="-300" dirty="0">
                <a:latin typeface="Verdana"/>
                <a:cs typeface="Verdana"/>
              </a:rPr>
              <a:t>(</a:t>
            </a:r>
            <a:r>
              <a:rPr sz="2800" b="1" spc="-300" dirty="0">
                <a:latin typeface="Verdana"/>
                <a:cs typeface="Verdana"/>
              </a:rPr>
              <a:t>''' </a:t>
            </a:r>
            <a:r>
              <a:rPr sz="2800" spc="-114" dirty="0">
                <a:latin typeface="Verdana"/>
                <a:cs typeface="Verdana"/>
              </a:rPr>
              <a:t>or </a:t>
            </a:r>
            <a:r>
              <a:rPr sz="2800" b="1" spc="-540" dirty="0">
                <a:latin typeface="Verdana"/>
                <a:cs typeface="Verdana"/>
              </a:rPr>
              <a:t>"""</a:t>
            </a:r>
            <a:r>
              <a:rPr sz="2800" spc="-540" dirty="0">
                <a:latin typeface="Verdana"/>
                <a:cs typeface="Verdana"/>
              </a:rPr>
              <a:t>)  </a:t>
            </a:r>
            <a:r>
              <a:rPr sz="2800" spc="-30" dirty="0">
                <a:latin typeface="Verdana"/>
                <a:cs typeface="Verdana"/>
              </a:rPr>
              <a:t>quotes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60" dirty="0">
                <a:latin typeface="Verdana"/>
                <a:cs typeface="Verdana"/>
              </a:rPr>
              <a:t>denote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75" dirty="0">
                <a:solidFill>
                  <a:srgbClr val="843B0C"/>
                </a:solidFill>
                <a:latin typeface="Verdana"/>
                <a:cs typeface="Verdana"/>
              </a:rPr>
              <a:t>string</a:t>
            </a:r>
            <a:r>
              <a:rPr sz="28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literals,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as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long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as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same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type 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45" dirty="0">
                <a:latin typeface="Verdana"/>
                <a:cs typeface="Verdana"/>
              </a:rPr>
              <a:t>quote</a:t>
            </a:r>
            <a:r>
              <a:rPr sz="2800" spc="-204" dirty="0">
                <a:latin typeface="Verdana"/>
                <a:cs typeface="Verdana"/>
              </a:rPr>
              <a:t> starts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ends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85" dirty="0">
                <a:latin typeface="Verdana"/>
                <a:cs typeface="Verdana"/>
              </a:rPr>
              <a:t>string.</a:t>
            </a:r>
            <a:endParaRPr sz="2800">
              <a:latin typeface="Verdana"/>
              <a:cs typeface="Verdana"/>
            </a:endParaRPr>
          </a:p>
          <a:p>
            <a:pPr marL="241300" marR="323215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triple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quotes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170" dirty="0">
                <a:latin typeface="Verdana"/>
                <a:cs typeface="Verdana"/>
              </a:rPr>
              <a:t>can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be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used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span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75" dirty="0">
                <a:latin typeface="Verdana"/>
                <a:cs typeface="Verdana"/>
              </a:rPr>
              <a:t>string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across  </a:t>
            </a:r>
            <a:r>
              <a:rPr sz="2800" spc="-85" dirty="0">
                <a:latin typeface="Verdana"/>
                <a:cs typeface="Verdana"/>
              </a:rPr>
              <a:t>multiple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60" dirty="0">
                <a:latin typeface="Verdana"/>
                <a:cs typeface="Verdana"/>
              </a:rPr>
              <a:t>lines.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0327" y="4363778"/>
            <a:ext cx="5808305" cy="15505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776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solidFill>
                  <a:srgbClr val="006FC0"/>
                </a:solidFill>
              </a:rPr>
              <a:t>Co</a:t>
            </a:r>
            <a:r>
              <a:rPr spc="-60" dirty="0">
                <a:solidFill>
                  <a:srgbClr val="006FC0"/>
                </a:solidFill>
              </a:rPr>
              <a:t>m</a:t>
            </a:r>
            <a:r>
              <a:rPr spc="105" dirty="0">
                <a:solidFill>
                  <a:srgbClr val="006FC0"/>
                </a:solidFill>
              </a:rPr>
              <a:t>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01903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43307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0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hash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sign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50" dirty="0">
                <a:latin typeface="Verdana"/>
                <a:cs typeface="Verdana"/>
              </a:rPr>
              <a:t>(</a:t>
            </a:r>
            <a:r>
              <a:rPr sz="2800" spc="-250" dirty="0">
                <a:solidFill>
                  <a:srgbClr val="FF0000"/>
                </a:solidFill>
                <a:latin typeface="Verdana"/>
                <a:cs typeface="Verdana"/>
              </a:rPr>
              <a:t>#</a:t>
            </a:r>
            <a:r>
              <a:rPr sz="2800" spc="-250" dirty="0">
                <a:latin typeface="Verdana"/>
                <a:cs typeface="Verdana"/>
              </a:rPr>
              <a:t>)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that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not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inside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75" dirty="0">
                <a:latin typeface="Verdana"/>
                <a:cs typeface="Verdana"/>
              </a:rPr>
              <a:t>string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literal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begins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  </a:t>
            </a:r>
            <a:r>
              <a:rPr sz="2800" spc="-5" dirty="0">
                <a:latin typeface="Verdana"/>
                <a:cs typeface="Verdana"/>
              </a:rPr>
              <a:t>comment.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0" dirty="0">
                <a:latin typeface="Verdana"/>
                <a:cs typeface="Verdana"/>
              </a:rPr>
              <a:t>All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characters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after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80" dirty="0">
                <a:latin typeface="Verdana"/>
                <a:cs typeface="Verdana"/>
              </a:rPr>
              <a:t>#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45" dirty="0">
                <a:latin typeface="Verdana"/>
                <a:cs typeface="Verdana"/>
              </a:rPr>
              <a:t>up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physical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line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80" dirty="0">
                <a:latin typeface="Verdana"/>
                <a:cs typeface="Verdana"/>
              </a:rPr>
              <a:t>end  </a:t>
            </a:r>
            <a:r>
              <a:rPr sz="2800" dirty="0">
                <a:latin typeface="Verdana"/>
                <a:cs typeface="Verdana"/>
              </a:rPr>
              <a:t>are </a:t>
            </a:r>
            <a:r>
              <a:rPr sz="2800" spc="-35" dirty="0">
                <a:latin typeface="Verdana"/>
                <a:cs typeface="Verdana"/>
              </a:rPr>
              <a:t>part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5" dirty="0">
                <a:latin typeface="Verdana"/>
                <a:cs typeface="Verdana"/>
              </a:rPr>
              <a:t>comment,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100" dirty="0">
                <a:latin typeface="Verdana"/>
                <a:cs typeface="Verdana"/>
              </a:rPr>
              <a:t>interpreter  </a:t>
            </a:r>
            <a:r>
              <a:rPr sz="2800" b="1" spc="-265" dirty="0">
                <a:latin typeface="Verdana"/>
                <a:cs typeface="Verdana"/>
              </a:rPr>
              <a:t>ignores</a:t>
            </a:r>
            <a:r>
              <a:rPr sz="2800" b="1" spc="-180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them.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201" y="4527550"/>
            <a:ext cx="7785310" cy="6144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300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006FC0"/>
                </a:solidFill>
              </a:rPr>
              <a:t>Control </a:t>
            </a:r>
            <a:r>
              <a:rPr spc="30" dirty="0">
                <a:solidFill>
                  <a:srgbClr val="006FC0"/>
                </a:solidFill>
              </a:rPr>
              <a:t>Flow:</a:t>
            </a:r>
            <a:r>
              <a:rPr spc="-620" dirty="0">
                <a:solidFill>
                  <a:srgbClr val="006FC0"/>
                </a:solidFill>
              </a:rPr>
              <a:t> </a:t>
            </a:r>
            <a:r>
              <a:rPr spc="75" dirty="0">
                <a:solidFill>
                  <a:srgbClr val="006FC0"/>
                </a:solidFill>
              </a:rPr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9772015" cy="113474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45" dirty="0">
                <a:latin typeface="Verdana"/>
                <a:cs typeface="Verdana"/>
              </a:rPr>
              <a:t>Like</a:t>
            </a:r>
            <a:r>
              <a:rPr sz="2800" spc="-23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other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languages,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has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55" dirty="0">
                <a:solidFill>
                  <a:srgbClr val="FF0000"/>
                </a:solidFill>
                <a:latin typeface="Verdana"/>
                <a:cs typeface="Verdana"/>
              </a:rPr>
              <a:t>if</a:t>
            </a:r>
            <a:r>
              <a:rPr sz="2800" spc="-2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75" dirty="0">
                <a:solidFill>
                  <a:srgbClr val="FF0000"/>
                </a:solidFill>
                <a:latin typeface="Verdana"/>
                <a:cs typeface="Verdana"/>
              </a:rPr>
              <a:t>else</a:t>
            </a:r>
            <a:r>
              <a:rPr sz="28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statements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5" dirty="0">
                <a:latin typeface="Verdana"/>
                <a:cs typeface="Verdana"/>
              </a:rPr>
              <a:t>Python’s </a:t>
            </a:r>
            <a:r>
              <a:rPr sz="2800" spc="-90" dirty="0">
                <a:latin typeface="Verdana"/>
                <a:cs typeface="Verdana"/>
              </a:rPr>
              <a:t>“else-if” </a:t>
            </a:r>
            <a:r>
              <a:rPr sz="2800" spc="-285" dirty="0">
                <a:latin typeface="Verdana"/>
                <a:cs typeface="Verdana"/>
              </a:rPr>
              <a:t>is </a:t>
            </a:r>
            <a:r>
              <a:rPr sz="2800" spc="-30" dirty="0">
                <a:latin typeface="Verdana"/>
                <a:cs typeface="Verdana"/>
              </a:rPr>
              <a:t>spelled</a:t>
            </a:r>
            <a:r>
              <a:rPr sz="2800" spc="-355" dirty="0">
                <a:latin typeface="Verdana"/>
                <a:cs typeface="Verdana"/>
              </a:rPr>
              <a:t> </a:t>
            </a:r>
            <a:r>
              <a:rPr sz="2800" spc="-95" dirty="0">
                <a:solidFill>
                  <a:srgbClr val="FF0000"/>
                </a:solidFill>
                <a:latin typeface="Verdana"/>
                <a:cs typeface="Verdana"/>
              </a:rPr>
              <a:t>elif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5158" y="3331161"/>
            <a:ext cx="6808977" cy="2425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297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006FC0"/>
                </a:solidFill>
              </a:rPr>
              <a:t>Control </a:t>
            </a:r>
            <a:r>
              <a:rPr spc="30" dirty="0">
                <a:solidFill>
                  <a:srgbClr val="006FC0"/>
                </a:solidFill>
              </a:rPr>
              <a:t>Flow:</a:t>
            </a:r>
            <a:r>
              <a:rPr spc="-630" dirty="0">
                <a:solidFill>
                  <a:srgbClr val="006FC0"/>
                </a:solidFill>
              </a:rPr>
              <a:t> </a:t>
            </a:r>
            <a:r>
              <a:rPr spc="75" dirty="0">
                <a:solidFill>
                  <a:srgbClr val="006FC0"/>
                </a:solidFill>
              </a:rPr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1746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has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easy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70" dirty="0">
                <a:solidFill>
                  <a:srgbClr val="FF0000"/>
                </a:solidFill>
                <a:latin typeface="Verdana"/>
                <a:cs typeface="Verdana"/>
              </a:rPr>
              <a:t>if-syntax</a:t>
            </a:r>
            <a:r>
              <a:rPr sz="28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for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setting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value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  </a:t>
            </a:r>
            <a:r>
              <a:rPr sz="2800" spc="229" dirty="0">
                <a:latin typeface="Verdana"/>
                <a:cs typeface="Verdana"/>
              </a:rPr>
              <a:t>a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variable!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8624" y="3386263"/>
            <a:ext cx="8275595" cy="989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7851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>
                <a:solidFill>
                  <a:srgbClr val="006FC0"/>
                </a:solidFill>
              </a:rPr>
              <a:t>Truth</a:t>
            </a:r>
            <a:r>
              <a:rPr spc="-220" dirty="0">
                <a:solidFill>
                  <a:srgbClr val="006FC0"/>
                </a:solidFill>
              </a:rPr>
              <a:t> </a:t>
            </a:r>
            <a:r>
              <a:rPr spc="25" dirty="0">
                <a:solidFill>
                  <a:srgbClr val="006FC0"/>
                </a:solidFill>
              </a:rPr>
              <a:t>and</a:t>
            </a:r>
            <a:r>
              <a:rPr spc="-229" dirty="0">
                <a:solidFill>
                  <a:srgbClr val="006FC0"/>
                </a:solidFill>
              </a:rPr>
              <a:t> </a:t>
            </a:r>
            <a:r>
              <a:rPr spc="25" dirty="0">
                <a:solidFill>
                  <a:srgbClr val="006FC0"/>
                </a:solidFill>
              </a:rPr>
              <a:t>Falsity</a:t>
            </a:r>
            <a:r>
              <a:rPr spc="-210" dirty="0">
                <a:solidFill>
                  <a:srgbClr val="006FC0"/>
                </a:solidFill>
              </a:rPr>
              <a:t> </a:t>
            </a:r>
            <a:r>
              <a:rPr spc="25" dirty="0">
                <a:solidFill>
                  <a:srgbClr val="006FC0"/>
                </a:solidFill>
              </a:rPr>
              <a:t>Value</a:t>
            </a:r>
            <a:r>
              <a:rPr spc="-245" dirty="0">
                <a:solidFill>
                  <a:srgbClr val="006FC0"/>
                </a:solidFill>
              </a:rPr>
              <a:t> </a:t>
            </a:r>
            <a:r>
              <a:rPr spc="60" dirty="0">
                <a:solidFill>
                  <a:srgbClr val="006FC0"/>
                </a:solidFill>
              </a:rPr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9250680" cy="38239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5" dirty="0">
                <a:latin typeface="Verdana"/>
                <a:cs typeface="Verdana"/>
              </a:rPr>
              <a:t>Any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40" dirty="0">
                <a:latin typeface="Verdana"/>
                <a:cs typeface="Verdana"/>
              </a:rPr>
              <a:t>object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70" dirty="0">
                <a:latin typeface="Verdana"/>
                <a:cs typeface="Verdana"/>
              </a:rPr>
              <a:t>can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be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tested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for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60" dirty="0">
                <a:latin typeface="Verdana"/>
                <a:cs typeface="Verdana"/>
              </a:rPr>
              <a:t>truth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value,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for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  </a:t>
            </a:r>
            <a:r>
              <a:rPr sz="2800" spc="-15" dirty="0">
                <a:latin typeface="Verdana"/>
                <a:cs typeface="Verdana"/>
              </a:rPr>
              <a:t>condition.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60" dirty="0">
                <a:latin typeface="Verdana"/>
                <a:cs typeface="Verdana"/>
              </a:rPr>
              <a:t>False: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219"/>
              </a:spcBef>
              <a:tabLst>
                <a:tab pos="927100" algn="l"/>
              </a:tabLst>
            </a:pP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1.	</a:t>
            </a:r>
            <a:r>
              <a:rPr sz="2400" spc="40" dirty="0">
                <a:solidFill>
                  <a:srgbClr val="843B0C"/>
                </a:solidFill>
                <a:latin typeface="Verdana"/>
                <a:cs typeface="Verdana"/>
              </a:rPr>
              <a:t>None </a:t>
            </a:r>
            <a:r>
              <a:rPr sz="2400" spc="95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95" dirty="0">
                <a:solidFill>
                  <a:srgbClr val="843B0C"/>
                </a:solidFill>
                <a:latin typeface="Klaudia"/>
                <a:cs typeface="Klaudia"/>
              </a:rPr>
              <a:t>≡</a:t>
            </a:r>
            <a:r>
              <a:rPr sz="2400" spc="-500" dirty="0">
                <a:solidFill>
                  <a:srgbClr val="843B0C"/>
                </a:solidFill>
                <a:latin typeface="Klaudia"/>
                <a:cs typeface="Klaudia"/>
              </a:rPr>
              <a:t> </a:t>
            </a:r>
            <a:r>
              <a:rPr sz="2400" spc="30" dirty="0">
                <a:solidFill>
                  <a:srgbClr val="843B0C"/>
                </a:solidFill>
                <a:latin typeface="Klaudia"/>
                <a:cs typeface="Klaudia"/>
              </a:rPr>
              <a:t>𝑛𝑢𝑙𝑙)</a:t>
            </a:r>
            <a:endParaRPr sz="2400">
              <a:latin typeface="Klaudia"/>
              <a:cs typeface="Klaudia"/>
            </a:endParaRPr>
          </a:p>
          <a:p>
            <a:pPr marL="927100" lvl="1" indent="-457834">
              <a:lnSpc>
                <a:spcPct val="100000"/>
              </a:lnSpc>
              <a:spcBef>
                <a:spcPts val="200"/>
              </a:spcBef>
              <a:buAutoNum type="arabicPeriod" startAt="2"/>
              <a:tabLst>
                <a:tab pos="927100" algn="l"/>
                <a:tab pos="927735" algn="l"/>
              </a:tabLst>
            </a:pPr>
            <a:r>
              <a:rPr sz="2400" spc="-80" dirty="0">
                <a:solidFill>
                  <a:srgbClr val="843B0C"/>
                </a:solidFill>
                <a:latin typeface="Verdana"/>
                <a:cs typeface="Verdana"/>
              </a:rPr>
              <a:t>False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(Python </a:t>
            </a:r>
            <a:r>
              <a:rPr sz="2400" spc="-509" dirty="0">
                <a:solidFill>
                  <a:srgbClr val="843B0C"/>
                </a:solidFill>
                <a:latin typeface="Verdana"/>
                <a:cs typeface="Verdana"/>
              </a:rPr>
              <a:t>&gt;=</a:t>
            </a:r>
            <a:r>
              <a:rPr sz="2400" spc="-40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2.2.1)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220"/>
              </a:spcBef>
              <a:buAutoNum type="arabicPeriod" startAt="2"/>
              <a:tabLst>
                <a:tab pos="927100" algn="l"/>
                <a:tab pos="927735" algn="l"/>
              </a:tabLst>
            </a:pPr>
            <a:r>
              <a:rPr sz="2400" spc="-140" dirty="0">
                <a:solidFill>
                  <a:srgbClr val="843B0C"/>
                </a:solidFill>
                <a:latin typeface="Verdana"/>
                <a:cs typeface="Verdana"/>
              </a:rPr>
              <a:t>Zero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any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numeric </a:t>
            </a:r>
            <a:r>
              <a:rPr sz="2400" spc="-45" dirty="0">
                <a:solidFill>
                  <a:srgbClr val="843B0C"/>
                </a:solidFill>
                <a:latin typeface="Verdana"/>
                <a:cs typeface="Verdana"/>
              </a:rPr>
              <a:t>type,</a:t>
            </a:r>
            <a:r>
              <a:rPr sz="2400" spc="-63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e.g., </a:t>
            </a:r>
            <a:r>
              <a:rPr sz="2400" b="1" spc="-290" dirty="0">
                <a:solidFill>
                  <a:srgbClr val="843B0C"/>
                </a:solidFill>
                <a:latin typeface="Verdana"/>
                <a:cs typeface="Verdana"/>
              </a:rPr>
              <a:t>0</a:t>
            </a:r>
            <a:r>
              <a:rPr sz="2400" spc="-29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b="1" spc="-285" dirty="0">
                <a:solidFill>
                  <a:srgbClr val="843B0C"/>
                </a:solidFill>
                <a:latin typeface="Verdana"/>
                <a:cs typeface="Verdana"/>
              </a:rPr>
              <a:t>0.0</a:t>
            </a:r>
            <a:r>
              <a:rPr sz="2400" spc="-28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b="1" spc="-355" dirty="0">
                <a:solidFill>
                  <a:srgbClr val="843B0C"/>
                </a:solidFill>
                <a:latin typeface="Verdana"/>
                <a:cs typeface="Verdana"/>
              </a:rPr>
              <a:t>0j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215"/>
              </a:spcBef>
              <a:buAutoNum type="arabicPeriod" startAt="2"/>
              <a:tabLst>
                <a:tab pos="927100" algn="l"/>
                <a:tab pos="927735" algn="l"/>
              </a:tabLst>
            </a:pP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Any empty </a:t>
            </a:r>
            <a:r>
              <a:rPr sz="2400" spc="45" dirty="0">
                <a:solidFill>
                  <a:srgbClr val="843B0C"/>
                </a:solidFill>
                <a:latin typeface="Verdana"/>
                <a:cs typeface="Verdana"/>
              </a:rPr>
              <a:t>sequence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or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dictionary,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e.g., </a:t>
            </a:r>
            <a:r>
              <a:rPr sz="2400" b="1" spc="-130" dirty="0">
                <a:solidFill>
                  <a:srgbClr val="843B0C"/>
                </a:solidFill>
                <a:latin typeface="Verdana"/>
                <a:cs typeface="Verdana"/>
              </a:rPr>
              <a:t>‘ </a:t>
            </a:r>
            <a:r>
              <a:rPr sz="2400" b="1" spc="-170" dirty="0">
                <a:solidFill>
                  <a:srgbClr val="843B0C"/>
                </a:solidFill>
                <a:latin typeface="Verdana"/>
                <a:cs typeface="Verdana"/>
              </a:rPr>
              <a:t>‘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b="1" spc="-395" dirty="0">
                <a:solidFill>
                  <a:srgbClr val="843B0C"/>
                </a:solidFill>
                <a:latin typeface="Verdana"/>
                <a:cs typeface="Verdana"/>
              </a:rPr>
              <a:t>( </a:t>
            </a:r>
            <a:r>
              <a:rPr sz="2400" b="1" spc="-305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r>
              <a:rPr sz="2400" spc="-305" dirty="0">
                <a:solidFill>
                  <a:srgbClr val="843B0C"/>
                </a:solidFill>
                <a:latin typeface="Verdana"/>
                <a:cs typeface="Verdana"/>
              </a:rPr>
              <a:t>, </a:t>
            </a:r>
            <a:r>
              <a:rPr sz="2400" b="1" spc="-540" dirty="0">
                <a:solidFill>
                  <a:srgbClr val="843B0C"/>
                </a:solidFill>
                <a:latin typeface="Verdana"/>
                <a:cs typeface="Verdana"/>
              </a:rPr>
              <a:t>[ </a:t>
            </a:r>
            <a:r>
              <a:rPr sz="2400" b="1" spc="-375" dirty="0">
                <a:solidFill>
                  <a:srgbClr val="843B0C"/>
                </a:solidFill>
                <a:latin typeface="Verdana"/>
                <a:cs typeface="Verdana"/>
              </a:rPr>
              <a:t>]</a:t>
            </a:r>
            <a:r>
              <a:rPr sz="2400" spc="-375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5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894" dirty="0">
                <a:solidFill>
                  <a:srgbClr val="843B0C"/>
                </a:solidFill>
                <a:latin typeface="Verdana"/>
                <a:cs typeface="Verdana"/>
              </a:rPr>
              <a:t>{</a:t>
            </a:r>
            <a:r>
              <a:rPr sz="2400" b="1" spc="-15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894" dirty="0">
                <a:solidFill>
                  <a:srgbClr val="843B0C"/>
                </a:solidFill>
                <a:latin typeface="Verdana"/>
                <a:cs typeface="Verdana"/>
              </a:rPr>
              <a:t>}</a:t>
            </a:r>
            <a:endParaRPr sz="24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65" dirty="0">
                <a:latin typeface="Verdana"/>
                <a:cs typeface="Verdana"/>
              </a:rPr>
              <a:t>True:</a:t>
            </a:r>
            <a:endParaRPr sz="2800">
              <a:latin typeface="Verdana"/>
              <a:cs typeface="Verdana"/>
            </a:endParaRPr>
          </a:p>
          <a:p>
            <a:pPr marL="698500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Everything</a:t>
            </a:r>
            <a:r>
              <a:rPr sz="2400" spc="-229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else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089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006FC0"/>
                </a:solidFill>
              </a:rPr>
              <a:t>Control </a:t>
            </a:r>
            <a:r>
              <a:rPr spc="30" dirty="0">
                <a:solidFill>
                  <a:srgbClr val="006FC0"/>
                </a:solidFill>
              </a:rPr>
              <a:t>Flow:</a:t>
            </a:r>
            <a:r>
              <a:rPr spc="-625" dirty="0">
                <a:solidFill>
                  <a:srgbClr val="006FC0"/>
                </a:solidFill>
              </a:rPr>
              <a:t> </a:t>
            </a:r>
            <a:r>
              <a:rPr spc="5" dirty="0">
                <a:solidFill>
                  <a:srgbClr val="006FC0"/>
                </a:solidFill>
              </a:rPr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10326370" cy="13233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5" dirty="0">
                <a:latin typeface="Verdana"/>
                <a:cs typeface="Verdana"/>
              </a:rPr>
              <a:t>While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loop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while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843B0C"/>
                </a:solidFill>
                <a:latin typeface="Verdana"/>
                <a:cs typeface="Verdana"/>
              </a:rPr>
              <a:t>loop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continues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843B0C"/>
                </a:solidFill>
                <a:latin typeface="Verdana"/>
                <a:cs typeface="Verdana"/>
              </a:rPr>
              <a:t>execute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same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843B0C"/>
                </a:solidFill>
                <a:latin typeface="Verdana"/>
                <a:cs typeface="Verdana"/>
              </a:rPr>
              <a:t>body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70" dirty="0">
                <a:solidFill>
                  <a:srgbClr val="843B0C"/>
                </a:solidFill>
                <a:latin typeface="Verdana"/>
                <a:cs typeface="Verdana"/>
              </a:rPr>
              <a:t>code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843B0C"/>
                </a:solidFill>
                <a:latin typeface="Verdana"/>
                <a:cs typeface="Verdana"/>
              </a:rPr>
              <a:t>until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conditional</a:t>
            </a:r>
            <a:r>
              <a:rPr sz="2400" spc="-229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statement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843B0C"/>
                </a:solidFill>
                <a:latin typeface="Verdana"/>
                <a:cs typeface="Verdana"/>
              </a:rPr>
              <a:t>is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no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longer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True.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918328"/>
            <a:ext cx="8594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5" dirty="0">
                <a:latin typeface="Verdana"/>
                <a:cs typeface="Verdana"/>
              </a:rPr>
              <a:t>We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170" dirty="0">
                <a:latin typeface="Verdana"/>
                <a:cs typeface="Verdana"/>
              </a:rPr>
              <a:t>can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Verdana"/>
                <a:cs typeface="Verdana"/>
              </a:rPr>
              <a:t>break</a:t>
            </a:r>
            <a:r>
              <a:rPr sz="28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Verdana"/>
                <a:cs typeface="Verdana"/>
              </a:rPr>
              <a:t>continue</a:t>
            </a:r>
            <a:r>
              <a:rPr sz="28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inside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loops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1639" y="3411297"/>
            <a:ext cx="2610873" cy="14243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11033" y="3538692"/>
            <a:ext cx="2327480" cy="6691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5089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006FC0"/>
                </a:solidFill>
              </a:rPr>
              <a:t>Control </a:t>
            </a:r>
            <a:r>
              <a:rPr spc="30" dirty="0">
                <a:solidFill>
                  <a:srgbClr val="006FC0"/>
                </a:solidFill>
              </a:rPr>
              <a:t>Flow:</a:t>
            </a:r>
            <a:r>
              <a:rPr spc="-625" dirty="0">
                <a:solidFill>
                  <a:srgbClr val="006FC0"/>
                </a:solidFill>
              </a:rPr>
              <a:t> </a:t>
            </a:r>
            <a:r>
              <a:rPr spc="5" dirty="0">
                <a:solidFill>
                  <a:srgbClr val="006FC0"/>
                </a:solidFill>
              </a:rPr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8651875" cy="13233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60" dirty="0">
                <a:latin typeface="Verdana"/>
                <a:cs typeface="Verdana"/>
              </a:rPr>
              <a:t>For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loop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for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843B0C"/>
                </a:solidFill>
                <a:latin typeface="Verdana"/>
                <a:cs typeface="Verdana"/>
              </a:rPr>
              <a:t>loop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40" dirty="0">
                <a:solidFill>
                  <a:srgbClr val="843B0C"/>
                </a:solidFill>
                <a:latin typeface="Verdana"/>
                <a:cs typeface="Verdana"/>
              </a:rPr>
              <a:t>is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much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simpler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that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other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C-like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languages.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4426077"/>
            <a:ext cx="8806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We</a:t>
            </a:r>
            <a:r>
              <a:rPr sz="2400" spc="-14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45" dirty="0">
                <a:solidFill>
                  <a:srgbClr val="843B0C"/>
                </a:solidFill>
                <a:latin typeface="Verdana"/>
                <a:cs typeface="Verdana"/>
              </a:rPr>
              <a:t>can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use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Verdana"/>
                <a:cs typeface="Verdana"/>
              </a:rPr>
              <a:t>range()</a:t>
            </a:r>
            <a:r>
              <a:rPr sz="24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function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843B0C"/>
                </a:solidFill>
                <a:latin typeface="Verdana"/>
                <a:cs typeface="Verdana"/>
              </a:rPr>
              <a:t>produce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list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843B0C"/>
                </a:solidFill>
                <a:latin typeface="Verdana"/>
                <a:cs typeface="Verdana"/>
              </a:rPr>
              <a:t>numbers.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00646" y="3446271"/>
            <a:ext cx="9285698" cy="599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40026" y="5246074"/>
            <a:ext cx="3746771" cy="588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107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solidFill>
                  <a:srgbClr val="006FC0"/>
                </a:solidFill>
              </a:rPr>
              <a:t>Sequence</a:t>
            </a:r>
            <a:r>
              <a:rPr spc="-275" dirty="0">
                <a:solidFill>
                  <a:srgbClr val="006FC0"/>
                </a:solidFill>
              </a:rPr>
              <a:t> </a:t>
            </a:r>
            <a:r>
              <a:rPr spc="-60" dirty="0">
                <a:solidFill>
                  <a:srgbClr val="006FC0"/>
                </a:solidFill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7211695" cy="32283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35" dirty="0">
                <a:latin typeface="Verdana"/>
                <a:cs typeface="Verdana"/>
              </a:rPr>
              <a:t>There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three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25" dirty="0">
                <a:latin typeface="Verdana"/>
                <a:cs typeface="Verdana"/>
              </a:rPr>
              <a:t>basic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sequence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150" dirty="0">
                <a:latin typeface="Verdana"/>
                <a:cs typeface="Verdana"/>
              </a:rPr>
              <a:t>types: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25" dirty="0">
                <a:solidFill>
                  <a:srgbClr val="843B0C"/>
                </a:solidFill>
                <a:latin typeface="Verdana"/>
                <a:cs typeface="Verdana"/>
              </a:rPr>
              <a:t>lists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Tuples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range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objects</a:t>
            </a:r>
            <a:endParaRPr sz="2400">
              <a:latin typeface="Verdana"/>
              <a:cs typeface="Verdana"/>
            </a:endParaRPr>
          </a:p>
          <a:p>
            <a:pPr marL="340360" indent="-328295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340360" algn="l"/>
                <a:tab pos="340995" algn="l"/>
              </a:tabLst>
            </a:pPr>
            <a:r>
              <a:rPr sz="2800" dirty="0">
                <a:latin typeface="Verdana"/>
                <a:cs typeface="Verdana"/>
              </a:rPr>
              <a:t>Additional </a:t>
            </a:r>
            <a:r>
              <a:rPr sz="2800" spc="50" dirty="0">
                <a:latin typeface="Verdana"/>
                <a:cs typeface="Verdana"/>
              </a:rPr>
              <a:t>sequence </a:t>
            </a:r>
            <a:r>
              <a:rPr sz="2800" spc="-80" dirty="0">
                <a:latin typeface="Verdana"/>
                <a:cs typeface="Verdana"/>
              </a:rPr>
              <a:t>types</a:t>
            </a:r>
            <a:r>
              <a:rPr sz="2800" spc="-63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include: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Strings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35" dirty="0">
                <a:solidFill>
                  <a:srgbClr val="843B0C"/>
                </a:solidFill>
                <a:latin typeface="Verdana"/>
                <a:cs typeface="Verdana"/>
              </a:rPr>
              <a:t>(str)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Binary </a:t>
            </a:r>
            <a:r>
              <a:rPr sz="2400" spc="45" dirty="0">
                <a:solidFill>
                  <a:srgbClr val="843B0C"/>
                </a:solidFill>
                <a:latin typeface="Verdana"/>
                <a:cs typeface="Verdana"/>
              </a:rPr>
              <a:t>Data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(bytes,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bytearray,</a:t>
            </a:r>
            <a:r>
              <a:rPr sz="2400" spc="-55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memoryview)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107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solidFill>
                  <a:srgbClr val="006FC0"/>
                </a:solidFill>
              </a:rPr>
              <a:t>Sequence</a:t>
            </a:r>
            <a:r>
              <a:rPr spc="-275" dirty="0">
                <a:solidFill>
                  <a:srgbClr val="006FC0"/>
                </a:solidFill>
              </a:rPr>
              <a:t> </a:t>
            </a:r>
            <a:r>
              <a:rPr spc="-60" dirty="0">
                <a:solidFill>
                  <a:srgbClr val="006FC0"/>
                </a:solidFill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23194"/>
            <a:ext cx="6953884" cy="39592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30" dirty="0">
                <a:latin typeface="Verdana"/>
                <a:cs typeface="Verdana"/>
              </a:rPr>
              <a:t>Sequence </a:t>
            </a:r>
            <a:r>
              <a:rPr sz="2800" spc="-80" dirty="0">
                <a:latin typeface="Verdana"/>
                <a:cs typeface="Verdana"/>
              </a:rPr>
              <a:t>types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675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very </a:t>
            </a:r>
            <a:r>
              <a:rPr sz="2800" spc="-130" dirty="0">
                <a:latin typeface="Verdana"/>
                <a:cs typeface="Verdana"/>
              </a:rPr>
              <a:t>like </a:t>
            </a:r>
            <a:r>
              <a:rPr sz="2800" spc="-50" dirty="0">
                <a:latin typeface="Verdana"/>
                <a:cs typeface="Verdana"/>
              </a:rPr>
              <a:t>together.</a:t>
            </a:r>
            <a:endParaRPr sz="2800">
              <a:latin typeface="Verdana"/>
              <a:cs typeface="Verdana"/>
            </a:endParaRPr>
          </a:p>
          <a:p>
            <a:pPr marL="2667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90" dirty="0">
                <a:latin typeface="Verdana"/>
                <a:cs typeface="Verdana"/>
              </a:rPr>
              <a:t>All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of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them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consist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FF0000"/>
                </a:solidFill>
                <a:latin typeface="Verdana"/>
                <a:cs typeface="Verdana"/>
              </a:rPr>
              <a:t>iterables</a:t>
            </a:r>
            <a:r>
              <a:rPr sz="2800" spc="-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solidFill>
                  <a:srgbClr val="843B0C"/>
                </a:solidFill>
                <a:latin typeface="Verdana"/>
                <a:cs typeface="Verdana"/>
              </a:rPr>
              <a:t>objects.</a:t>
            </a:r>
            <a:endParaRPr sz="2800">
              <a:latin typeface="Verdana"/>
              <a:cs typeface="Verdana"/>
            </a:endParaRPr>
          </a:p>
          <a:p>
            <a:pPr marL="2667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35" dirty="0">
                <a:solidFill>
                  <a:srgbClr val="0D0D0D"/>
                </a:solidFill>
                <a:latin typeface="Verdana"/>
                <a:cs typeface="Verdana"/>
              </a:rPr>
              <a:t>There </a:t>
            </a:r>
            <a:r>
              <a:rPr sz="2800" dirty="0">
                <a:solidFill>
                  <a:srgbClr val="0D0D0D"/>
                </a:solidFill>
                <a:latin typeface="Verdana"/>
                <a:cs typeface="Verdana"/>
              </a:rPr>
              <a:t>are </a:t>
            </a:r>
            <a:r>
              <a:rPr sz="2800" spc="-55" dirty="0">
                <a:solidFill>
                  <a:srgbClr val="0D0D0D"/>
                </a:solidFill>
                <a:latin typeface="Verdana"/>
                <a:cs typeface="Verdana"/>
              </a:rPr>
              <a:t>some</a:t>
            </a:r>
            <a:r>
              <a:rPr sz="2800" spc="-47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0D0D0D"/>
                </a:solidFill>
                <a:latin typeface="Verdana"/>
                <a:cs typeface="Verdana"/>
              </a:rPr>
              <a:t>difference:</a:t>
            </a:r>
            <a:endParaRPr sz="2800">
              <a:latin typeface="Verdana"/>
              <a:cs typeface="Verdana"/>
            </a:endParaRPr>
          </a:p>
          <a:p>
            <a:pPr marL="723900" lvl="1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24535" algn="l"/>
              </a:tabLst>
            </a:pPr>
            <a:r>
              <a:rPr sz="2400" spc="-235" dirty="0">
                <a:solidFill>
                  <a:srgbClr val="843B0C"/>
                </a:solidFill>
                <a:latin typeface="Verdana"/>
                <a:cs typeface="Verdana"/>
              </a:rPr>
              <a:t>Lists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b="1" spc="-195" dirty="0">
                <a:solidFill>
                  <a:srgbClr val="843B0C"/>
                </a:solidFill>
                <a:latin typeface="Verdana"/>
                <a:cs typeface="Verdana"/>
              </a:rPr>
              <a:t>mutable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33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200" dirty="0">
                <a:solidFill>
                  <a:srgbClr val="843B0C"/>
                </a:solidFill>
                <a:latin typeface="Verdana"/>
                <a:cs typeface="Verdana"/>
              </a:rPr>
              <a:t>heterogeneous</a:t>
            </a:r>
            <a:r>
              <a:rPr sz="2400" spc="-200" dirty="0">
                <a:solidFill>
                  <a:srgbClr val="FF0000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7239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724535" algn="l"/>
              </a:tabLst>
            </a:pP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Tuple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b="1" spc="-210" dirty="0">
                <a:solidFill>
                  <a:srgbClr val="843B0C"/>
                </a:solidFill>
                <a:latin typeface="Verdana"/>
                <a:cs typeface="Verdana"/>
              </a:rPr>
              <a:t>immutable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4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200" dirty="0">
                <a:solidFill>
                  <a:srgbClr val="843B0C"/>
                </a:solidFill>
                <a:latin typeface="Verdana"/>
                <a:cs typeface="Verdana"/>
              </a:rPr>
              <a:t>heterogeneous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7239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724535" algn="l"/>
              </a:tabLst>
            </a:pP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Ranges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b="1" spc="-210" dirty="0">
                <a:solidFill>
                  <a:srgbClr val="843B0C"/>
                </a:solidFill>
                <a:latin typeface="Verdana"/>
                <a:cs typeface="Verdana"/>
              </a:rPr>
              <a:t>immutable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54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190" dirty="0">
                <a:solidFill>
                  <a:srgbClr val="843B0C"/>
                </a:solidFill>
                <a:latin typeface="Verdana"/>
                <a:cs typeface="Verdana"/>
              </a:rPr>
              <a:t>homogeneous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7239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724535" algn="l"/>
              </a:tabLst>
            </a:pP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String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b="1" spc="-210" dirty="0">
                <a:solidFill>
                  <a:srgbClr val="843B0C"/>
                </a:solidFill>
                <a:latin typeface="Verdana"/>
                <a:cs typeface="Verdana"/>
              </a:rPr>
              <a:t>immutable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,</a:t>
            </a:r>
            <a:r>
              <a:rPr sz="2400" spc="-43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190" dirty="0">
                <a:solidFill>
                  <a:srgbClr val="843B0C"/>
                </a:solidFill>
                <a:latin typeface="Verdana"/>
                <a:cs typeface="Verdana"/>
              </a:rPr>
              <a:t>homogeneous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266700" indent="-229235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75" dirty="0">
                <a:latin typeface="Verdana"/>
                <a:cs typeface="Verdana"/>
              </a:rPr>
              <a:t>Immutable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470" dirty="0">
                <a:latin typeface="Klaudia"/>
                <a:cs typeface="Klaudia"/>
              </a:rPr>
              <a:t>≡</a:t>
            </a:r>
            <a:r>
              <a:rPr sz="2800" spc="-315" dirty="0">
                <a:latin typeface="Klaudia"/>
                <a:cs typeface="Klaudia"/>
              </a:rPr>
              <a:t> </a:t>
            </a:r>
            <a:r>
              <a:rPr sz="2800" spc="250" dirty="0">
                <a:latin typeface="Klaudia"/>
                <a:cs typeface="Klaudia"/>
              </a:rPr>
              <a:t>𝐶𝑎𝑛</a:t>
            </a:r>
            <a:r>
              <a:rPr sz="3075" spc="375" baseline="27100" dirty="0">
                <a:latin typeface="Klaudia"/>
                <a:cs typeface="Klaudia"/>
              </a:rPr>
              <a:t>′</a:t>
            </a:r>
            <a:r>
              <a:rPr sz="2800" spc="250" dirty="0">
                <a:latin typeface="Klaudia"/>
                <a:cs typeface="Klaudia"/>
              </a:rPr>
              <a:t>𝑡</a:t>
            </a:r>
            <a:r>
              <a:rPr sz="2800" spc="-430" dirty="0">
                <a:latin typeface="Klaudia"/>
                <a:cs typeface="Klaudia"/>
              </a:rPr>
              <a:t> </a:t>
            </a:r>
            <a:r>
              <a:rPr sz="2800" spc="204" dirty="0">
                <a:latin typeface="Klaudia"/>
                <a:cs typeface="Klaudia"/>
              </a:rPr>
              <a:t>𝑢𝑠𝑒</a:t>
            </a:r>
            <a:r>
              <a:rPr sz="2800" spc="-425" dirty="0">
                <a:latin typeface="Klaudia"/>
                <a:cs typeface="Klaudia"/>
              </a:rPr>
              <a:t> </a:t>
            </a:r>
            <a:r>
              <a:rPr sz="2800" spc="200" dirty="0">
                <a:latin typeface="Klaudia"/>
                <a:cs typeface="Klaudia"/>
              </a:rPr>
              <a:t>𝑎𝑠</a:t>
            </a:r>
            <a:r>
              <a:rPr sz="2800" spc="-420" dirty="0">
                <a:latin typeface="Klaudia"/>
                <a:cs typeface="Klaudia"/>
              </a:rPr>
              <a:t> </a:t>
            </a:r>
            <a:r>
              <a:rPr sz="2800" spc="-340" dirty="0">
                <a:latin typeface="Klaudia"/>
                <a:cs typeface="Klaudia"/>
              </a:rPr>
              <a:t>𝑙</a:t>
            </a:r>
            <a:r>
              <a:rPr sz="2800" spc="-390" dirty="0">
                <a:latin typeface="Klaudia"/>
                <a:cs typeface="Klaudia"/>
              </a:rPr>
              <a:t> </a:t>
            </a:r>
            <a:r>
              <a:rPr sz="2800" spc="470" dirty="0">
                <a:latin typeface="Klaudia"/>
                <a:cs typeface="Klaudia"/>
              </a:rPr>
              <a:t>−</a:t>
            </a:r>
            <a:r>
              <a:rPr sz="2800" spc="-470" dirty="0">
                <a:latin typeface="Klaudia"/>
                <a:cs typeface="Klaudia"/>
              </a:rPr>
              <a:t> </a:t>
            </a:r>
            <a:r>
              <a:rPr sz="2800" spc="165" dirty="0">
                <a:latin typeface="Klaudia"/>
                <a:cs typeface="Klaudia"/>
              </a:rPr>
              <a:t>𝑣𝑎𝑙𝑢𝑒</a:t>
            </a:r>
            <a:endParaRPr sz="2800">
              <a:latin typeface="Klaudia"/>
              <a:cs typeface="Klaud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181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>
                <a:solidFill>
                  <a:srgbClr val="006FC0"/>
                </a:solidFill>
              </a:rPr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9582150" cy="3521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75" dirty="0">
                <a:latin typeface="Verdana"/>
                <a:cs typeface="Verdana"/>
              </a:rPr>
              <a:t>Lists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75" dirty="0">
                <a:latin typeface="Verdana"/>
                <a:cs typeface="Verdana"/>
              </a:rPr>
              <a:t>similar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b="1" spc="-285" dirty="0">
                <a:latin typeface="Verdana"/>
                <a:cs typeface="Verdana"/>
              </a:rPr>
              <a:t>arrays</a:t>
            </a:r>
            <a:r>
              <a:rPr sz="2800" b="1" spc="-15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b="1" spc="-45" dirty="0">
                <a:latin typeface="Verdana"/>
                <a:cs typeface="Verdana"/>
              </a:rPr>
              <a:t>C</a:t>
            </a:r>
            <a:r>
              <a:rPr sz="2800" spc="-45" dirty="0">
                <a:latin typeface="Verdana"/>
                <a:cs typeface="Verdana"/>
              </a:rPr>
              <a:t>.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95" dirty="0">
                <a:latin typeface="Verdana"/>
                <a:cs typeface="Verdana"/>
              </a:rPr>
              <a:t>One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difference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between  </a:t>
            </a:r>
            <a:r>
              <a:rPr sz="2800" spc="-50" dirty="0">
                <a:latin typeface="Verdana"/>
                <a:cs typeface="Verdana"/>
              </a:rPr>
              <a:t>them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that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all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items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belonging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229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list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70" dirty="0">
                <a:latin typeface="Verdana"/>
                <a:cs typeface="Verdana"/>
              </a:rPr>
              <a:t>can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55" dirty="0">
                <a:latin typeface="Verdana"/>
                <a:cs typeface="Verdana"/>
              </a:rPr>
              <a:t>be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  </a:t>
            </a:r>
            <a:r>
              <a:rPr sz="2800" spc="-60" dirty="0">
                <a:latin typeface="Verdana"/>
                <a:cs typeface="Verdana"/>
              </a:rPr>
              <a:t>different </a:t>
            </a:r>
            <a:r>
              <a:rPr sz="2800" spc="114" dirty="0">
                <a:latin typeface="Verdana"/>
                <a:cs typeface="Verdana"/>
              </a:rPr>
              <a:t>data</a:t>
            </a:r>
            <a:r>
              <a:rPr sz="2800" spc="-37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type.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90" dirty="0">
                <a:solidFill>
                  <a:srgbClr val="00AF50"/>
                </a:solidFill>
                <a:latin typeface="Verdana"/>
                <a:cs typeface="Verdana"/>
              </a:rPr>
              <a:t>[] </a:t>
            </a:r>
            <a:r>
              <a:rPr sz="2800" spc="-385" dirty="0">
                <a:latin typeface="Verdana"/>
                <a:cs typeface="Verdana"/>
              </a:rPr>
              <a:t>– </a:t>
            </a:r>
            <a:r>
              <a:rPr sz="2800" spc="75" dirty="0">
                <a:latin typeface="Verdana"/>
                <a:cs typeface="Verdana"/>
              </a:rPr>
              <a:t>an </a:t>
            </a:r>
            <a:r>
              <a:rPr sz="2800" spc="-25" dirty="0">
                <a:latin typeface="Verdana"/>
                <a:cs typeface="Verdana"/>
              </a:rPr>
              <a:t>empty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list.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75" dirty="0">
                <a:solidFill>
                  <a:srgbClr val="00AF50"/>
                </a:solidFill>
                <a:latin typeface="Verdana"/>
                <a:cs typeface="Verdana"/>
              </a:rPr>
              <a:t>[6] </a:t>
            </a:r>
            <a:r>
              <a:rPr sz="2800" spc="-385" dirty="0">
                <a:latin typeface="Verdana"/>
                <a:cs typeface="Verdana"/>
              </a:rPr>
              <a:t>– </a:t>
            </a:r>
            <a:r>
              <a:rPr sz="2800" spc="75" dirty="0">
                <a:latin typeface="Verdana"/>
                <a:cs typeface="Verdana"/>
              </a:rPr>
              <a:t>an </a:t>
            </a:r>
            <a:r>
              <a:rPr sz="2800" spc="-20" dirty="0">
                <a:latin typeface="Verdana"/>
                <a:cs typeface="Verdana"/>
              </a:rPr>
              <a:t>one-element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list.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60" dirty="0">
                <a:solidFill>
                  <a:srgbClr val="00AF50"/>
                </a:solidFill>
                <a:latin typeface="Verdana"/>
                <a:cs typeface="Verdana"/>
              </a:rPr>
              <a:t>[5, </a:t>
            </a:r>
            <a:r>
              <a:rPr sz="2800" spc="-340" dirty="0">
                <a:solidFill>
                  <a:srgbClr val="00AF50"/>
                </a:solidFill>
                <a:latin typeface="Verdana"/>
                <a:cs typeface="Verdana"/>
              </a:rPr>
              <a:t>1+2j, </a:t>
            </a:r>
            <a:r>
              <a:rPr sz="2800" spc="-10" dirty="0">
                <a:solidFill>
                  <a:srgbClr val="00AF50"/>
                </a:solidFill>
                <a:latin typeface="Verdana"/>
                <a:cs typeface="Verdana"/>
              </a:rPr>
              <a:t>’hello’] </a:t>
            </a:r>
            <a:r>
              <a:rPr sz="2800" spc="-345" dirty="0">
                <a:latin typeface="Verdana"/>
                <a:cs typeface="Verdana"/>
              </a:rPr>
              <a:t>-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spc="-75" dirty="0">
                <a:latin typeface="Verdana"/>
                <a:cs typeface="Verdana"/>
              </a:rPr>
              <a:t>3-element </a:t>
            </a:r>
            <a:r>
              <a:rPr sz="2800" spc="-240" dirty="0">
                <a:latin typeface="Verdana"/>
                <a:cs typeface="Verdana"/>
              </a:rPr>
              <a:t>list</a:t>
            </a:r>
            <a:r>
              <a:rPr sz="2800" spc="-575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(heterogeneous).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65" dirty="0">
                <a:solidFill>
                  <a:srgbClr val="00AF50"/>
                </a:solidFill>
                <a:latin typeface="Verdana"/>
                <a:cs typeface="Verdana"/>
              </a:rPr>
              <a:t>[[1,2], </a:t>
            </a:r>
            <a:r>
              <a:rPr sz="2800" spc="-260" dirty="0">
                <a:solidFill>
                  <a:srgbClr val="00AF50"/>
                </a:solidFill>
                <a:latin typeface="Verdana"/>
                <a:cs typeface="Verdana"/>
              </a:rPr>
              <a:t>[3,4], </a:t>
            </a:r>
            <a:r>
              <a:rPr sz="2800" spc="-265" dirty="0">
                <a:solidFill>
                  <a:srgbClr val="00AF50"/>
                </a:solidFill>
                <a:latin typeface="Verdana"/>
                <a:cs typeface="Verdana"/>
              </a:rPr>
              <a:t>[5,6]] </a:t>
            </a:r>
            <a:r>
              <a:rPr sz="2800" spc="-345" dirty="0">
                <a:latin typeface="Verdana"/>
                <a:cs typeface="Verdana"/>
              </a:rPr>
              <a:t>-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spc="-235" dirty="0">
                <a:latin typeface="Verdana"/>
                <a:cs typeface="Verdana"/>
              </a:rPr>
              <a:t>list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325" dirty="0">
                <a:latin typeface="Verdana"/>
                <a:cs typeface="Verdana"/>
              </a:rPr>
              <a:t> </a:t>
            </a:r>
            <a:r>
              <a:rPr sz="2800" spc="-265" dirty="0">
                <a:latin typeface="Verdana"/>
                <a:cs typeface="Verdana"/>
              </a:rPr>
              <a:t>lists.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181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>
                <a:solidFill>
                  <a:srgbClr val="006FC0"/>
                </a:solidFill>
              </a:rPr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8957945" cy="371982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75" dirty="0">
                <a:latin typeface="Verdana"/>
                <a:cs typeface="Verdana"/>
              </a:rPr>
              <a:t>Lists </a:t>
            </a:r>
            <a:r>
              <a:rPr sz="2800" spc="-15" dirty="0">
                <a:latin typeface="Verdana"/>
                <a:cs typeface="Verdana"/>
              </a:rPr>
              <a:t>may </a:t>
            </a:r>
            <a:r>
              <a:rPr sz="2800" spc="150" dirty="0">
                <a:latin typeface="Verdana"/>
                <a:cs typeface="Verdana"/>
              </a:rPr>
              <a:t>be</a:t>
            </a:r>
            <a:r>
              <a:rPr sz="2800" spc="-70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constructed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80" dirty="0">
                <a:latin typeface="Verdana"/>
                <a:cs typeface="Verdana"/>
              </a:rPr>
              <a:t>several </a:t>
            </a:r>
            <a:r>
              <a:rPr sz="2800" spc="-155" dirty="0">
                <a:latin typeface="Verdana"/>
                <a:cs typeface="Verdana"/>
              </a:rPr>
              <a:t>ways: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Using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pair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square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brackets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843B0C"/>
                </a:solidFill>
                <a:latin typeface="Verdana"/>
                <a:cs typeface="Verdana"/>
              </a:rPr>
              <a:t>denote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empty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50" dirty="0">
                <a:solidFill>
                  <a:srgbClr val="843B0C"/>
                </a:solidFill>
                <a:latin typeface="Verdana"/>
                <a:cs typeface="Verdana"/>
              </a:rPr>
              <a:t>list: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L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spc="-40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215" dirty="0">
                <a:solidFill>
                  <a:srgbClr val="C55A11"/>
                </a:solidFill>
                <a:latin typeface="Verdana"/>
                <a:cs typeface="Verdana"/>
              </a:rPr>
              <a:t>[]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Using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square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brackets,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separating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843B0C"/>
                </a:solidFill>
                <a:latin typeface="Verdana"/>
                <a:cs typeface="Verdana"/>
              </a:rPr>
              <a:t>items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with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commas:</a:t>
            </a:r>
            <a:endParaRPr sz="2400">
              <a:latin typeface="Verdana"/>
              <a:cs typeface="Verdana"/>
            </a:endParaRPr>
          </a:p>
          <a:p>
            <a:pPr marL="1225550" lvl="2" indent="-29908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225550" algn="l"/>
                <a:tab pos="1226185" algn="l"/>
              </a:tabLst>
            </a:pP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L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 </a:t>
            </a:r>
            <a:r>
              <a:rPr sz="2000" spc="-90" dirty="0">
                <a:solidFill>
                  <a:srgbClr val="C55A11"/>
                </a:solidFill>
                <a:latin typeface="Verdana"/>
                <a:cs typeface="Verdana"/>
              </a:rPr>
              <a:t>[a] </a:t>
            </a:r>
            <a:r>
              <a:rPr sz="2000" spc="-85" dirty="0">
                <a:solidFill>
                  <a:srgbClr val="C55A11"/>
                </a:solidFill>
                <a:latin typeface="Verdana"/>
                <a:cs typeface="Verdana"/>
              </a:rPr>
              <a:t>or </a:t>
            </a: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L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 </a:t>
            </a:r>
            <a:r>
              <a:rPr sz="2000" spc="-75" dirty="0">
                <a:solidFill>
                  <a:srgbClr val="C55A11"/>
                </a:solidFill>
                <a:latin typeface="Verdana"/>
                <a:cs typeface="Verdana"/>
              </a:rPr>
              <a:t>[a, </a:t>
            </a:r>
            <a:r>
              <a:rPr sz="2000" spc="-30" dirty="0">
                <a:solidFill>
                  <a:srgbClr val="C55A11"/>
                </a:solidFill>
                <a:latin typeface="Verdana"/>
                <a:cs typeface="Verdana"/>
              </a:rPr>
              <a:t>b,</a:t>
            </a:r>
            <a:r>
              <a:rPr sz="2000" spc="-3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C55A11"/>
                </a:solidFill>
                <a:latin typeface="Verdana"/>
                <a:cs typeface="Verdana"/>
              </a:rPr>
              <a:t>c]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Using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2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list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comprehension:</a:t>
            </a:r>
            <a:endParaRPr sz="2400">
              <a:latin typeface="Verdana"/>
              <a:cs typeface="Verdana"/>
            </a:endParaRPr>
          </a:p>
          <a:p>
            <a:pPr marL="1225550" lvl="2" indent="-29908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225550" algn="l"/>
                <a:tab pos="1226185" algn="l"/>
              </a:tabLst>
            </a:pP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L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 </a:t>
            </a:r>
            <a:r>
              <a:rPr sz="2000" spc="-225" dirty="0">
                <a:solidFill>
                  <a:srgbClr val="C55A11"/>
                </a:solidFill>
                <a:latin typeface="Verdana"/>
                <a:cs typeface="Verdana"/>
              </a:rPr>
              <a:t>[x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for </a:t>
            </a:r>
            <a:r>
              <a:rPr sz="2000" spc="-225" dirty="0">
                <a:solidFill>
                  <a:srgbClr val="C55A11"/>
                </a:solidFill>
                <a:latin typeface="Verdana"/>
                <a:cs typeface="Verdana"/>
              </a:rPr>
              <a:t>x </a:t>
            </a:r>
            <a:r>
              <a:rPr sz="2000" spc="-105" dirty="0">
                <a:solidFill>
                  <a:srgbClr val="C55A11"/>
                </a:solidFill>
                <a:latin typeface="Verdana"/>
                <a:cs typeface="Verdana"/>
              </a:rPr>
              <a:t>in</a:t>
            </a:r>
            <a:r>
              <a:rPr sz="2000" spc="-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iterable]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Using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type</a:t>
            </a:r>
            <a:r>
              <a:rPr sz="2400" spc="-4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constructor: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  <a:tab pos="2492375" algn="l"/>
              </a:tabLst>
            </a:pP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L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 </a:t>
            </a:r>
            <a:r>
              <a:rPr sz="2000" spc="-39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C55A11"/>
                </a:solidFill>
                <a:latin typeface="Verdana"/>
                <a:cs typeface="Verdana"/>
              </a:rPr>
              <a:t>list()</a:t>
            </a:r>
            <a:r>
              <a:rPr sz="2000" spc="-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or	</a:t>
            </a: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L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spc="-3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C55A11"/>
                </a:solidFill>
                <a:latin typeface="Verdana"/>
                <a:cs typeface="Verdana"/>
              </a:rPr>
              <a:t>list(iterable)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852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5" dirty="0">
                <a:solidFill>
                  <a:srgbClr val="006FC0"/>
                </a:solidFill>
              </a:rPr>
              <a:t>list</a:t>
            </a:r>
            <a:r>
              <a:rPr spc="-280" dirty="0">
                <a:solidFill>
                  <a:srgbClr val="006FC0"/>
                </a:solidFill>
              </a:rPr>
              <a:t> </a:t>
            </a:r>
            <a:r>
              <a:rPr spc="65" dirty="0">
                <a:solidFill>
                  <a:srgbClr val="006FC0"/>
                </a:solidFill>
              </a:rPr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215880" cy="302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27305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0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35" dirty="0">
                <a:latin typeface="Verdana"/>
                <a:cs typeface="Verdana"/>
              </a:rPr>
              <a:t>compact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way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process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all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or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part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elements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  </a:t>
            </a:r>
            <a:r>
              <a:rPr sz="2800" spc="50" dirty="0">
                <a:latin typeface="Verdana"/>
                <a:cs typeface="Verdana"/>
              </a:rPr>
              <a:t>sequence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45" dirty="0">
                <a:latin typeface="Verdana"/>
                <a:cs typeface="Verdana"/>
              </a:rPr>
              <a:t>return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9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35" dirty="0">
                <a:latin typeface="Verdana"/>
                <a:cs typeface="Verdana"/>
              </a:rPr>
              <a:t>list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04" dirty="0">
                <a:latin typeface="Verdana"/>
                <a:cs typeface="Verdana"/>
              </a:rPr>
              <a:t>results.</a:t>
            </a:r>
            <a:endParaRPr sz="2800">
              <a:latin typeface="Verdana"/>
              <a:cs typeface="Verdana"/>
            </a:endParaRPr>
          </a:p>
          <a:p>
            <a:pPr marL="340360" indent="-328295">
              <a:lnSpc>
                <a:spcPct val="100000"/>
              </a:lnSpc>
              <a:spcBef>
                <a:spcPts val="1010"/>
              </a:spcBef>
              <a:buClr>
                <a:srgbClr val="000000"/>
              </a:buClr>
              <a:buFont typeface="Arial"/>
              <a:buChar char="•"/>
              <a:tabLst>
                <a:tab pos="340360" algn="l"/>
                <a:tab pos="340995" algn="l"/>
              </a:tabLst>
            </a:pPr>
            <a:r>
              <a:rPr sz="2800" spc="-175" dirty="0">
                <a:solidFill>
                  <a:srgbClr val="00AF50"/>
                </a:solidFill>
                <a:latin typeface="Verdana"/>
                <a:cs typeface="Verdana"/>
              </a:rPr>
              <a:t>result </a:t>
            </a:r>
            <a:r>
              <a:rPr sz="2800" spc="-600" dirty="0">
                <a:solidFill>
                  <a:srgbClr val="00AF50"/>
                </a:solidFill>
                <a:latin typeface="Verdana"/>
                <a:cs typeface="Verdana"/>
              </a:rPr>
              <a:t>= </a:t>
            </a:r>
            <a:r>
              <a:rPr sz="2800" spc="-265" dirty="0">
                <a:solidFill>
                  <a:srgbClr val="00AF50"/>
                </a:solidFill>
                <a:latin typeface="Verdana"/>
                <a:cs typeface="Verdana"/>
              </a:rPr>
              <a:t>['{:#04x}'.format(x) </a:t>
            </a:r>
            <a:r>
              <a:rPr sz="2800" spc="-110" dirty="0">
                <a:solidFill>
                  <a:srgbClr val="00AF50"/>
                </a:solidFill>
                <a:latin typeface="Verdana"/>
                <a:cs typeface="Verdana"/>
              </a:rPr>
              <a:t>for </a:t>
            </a:r>
            <a:r>
              <a:rPr sz="2800" spc="-315" dirty="0">
                <a:solidFill>
                  <a:srgbClr val="00AF50"/>
                </a:solidFill>
                <a:latin typeface="Verdana"/>
                <a:cs typeface="Verdana"/>
              </a:rPr>
              <a:t>x </a:t>
            </a:r>
            <a:r>
              <a:rPr sz="2800" spc="-135" dirty="0">
                <a:solidFill>
                  <a:srgbClr val="00AF50"/>
                </a:solidFill>
                <a:latin typeface="Verdana"/>
                <a:cs typeface="Verdana"/>
              </a:rPr>
              <a:t>in </a:t>
            </a:r>
            <a:r>
              <a:rPr sz="2800" spc="-110" dirty="0">
                <a:solidFill>
                  <a:srgbClr val="00AF50"/>
                </a:solidFill>
                <a:latin typeface="Verdana"/>
                <a:cs typeface="Verdana"/>
              </a:rPr>
              <a:t>range(256) </a:t>
            </a:r>
            <a:r>
              <a:rPr sz="2800" spc="-155" dirty="0">
                <a:solidFill>
                  <a:srgbClr val="00AF50"/>
                </a:solidFill>
                <a:latin typeface="Verdana"/>
                <a:cs typeface="Verdana"/>
              </a:rPr>
              <a:t>if </a:t>
            </a:r>
            <a:r>
              <a:rPr sz="2800" spc="-315" dirty="0">
                <a:solidFill>
                  <a:srgbClr val="00AF50"/>
                </a:solidFill>
                <a:latin typeface="Verdana"/>
                <a:cs typeface="Verdana"/>
              </a:rPr>
              <a:t>x </a:t>
            </a:r>
            <a:r>
              <a:rPr sz="2800" spc="-850" dirty="0">
                <a:solidFill>
                  <a:srgbClr val="00AF50"/>
                </a:solidFill>
                <a:latin typeface="Verdana"/>
                <a:cs typeface="Verdana"/>
              </a:rPr>
              <a:t>% </a:t>
            </a:r>
            <a:r>
              <a:rPr sz="2800" spc="-235" dirty="0">
                <a:solidFill>
                  <a:srgbClr val="00AF50"/>
                </a:solidFill>
                <a:latin typeface="Verdana"/>
                <a:cs typeface="Verdana"/>
              </a:rPr>
              <a:t>2 </a:t>
            </a:r>
            <a:r>
              <a:rPr sz="2800" spc="-600" dirty="0">
                <a:solidFill>
                  <a:srgbClr val="00AF50"/>
                </a:solidFill>
                <a:latin typeface="Verdana"/>
                <a:cs typeface="Verdana"/>
              </a:rPr>
              <a:t>==</a:t>
            </a:r>
            <a:r>
              <a:rPr sz="2800" spc="-59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800" spc="-265" dirty="0">
                <a:solidFill>
                  <a:srgbClr val="00AF50"/>
                </a:solidFill>
                <a:latin typeface="Verdana"/>
                <a:cs typeface="Verdana"/>
              </a:rPr>
              <a:t>0]</a:t>
            </a:r>
            <a:endParaRPr sz="2800">
              <a:latin typeface="Verdana"/>
              <a:cs typeface="Verdana"/>
            </a:endParaRPr>
          </a:p>
          <a:p>
            <a:pPr marL="698500" marR="323215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generates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list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strings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containing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843B0C"/>
                </a:solidFill>
                <a:latin typeface="Verdana"/>
                <a:cs typeface="Verdana"/>
              </a:rPr>
              <a:t>even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hex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843B0C"/>
                </a:solidFill>
                <a:latin typeface="Verdana"/>
                <a:cs typeface="Verdana"/>
              </a:rPr>
              <a:t>numbers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(0x..)</a:t>
            </a:r>
            <a:r>
              <a:rPr sz="2400" spc="-16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 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 </a:t>
            </a: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range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from 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0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63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255.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5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6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if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clause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45" dirty="0">
                <a:solidFill>
                  <a:srgbClr val="843B0C"/>
                </a:solidFill>
                <a:latin typeface="Verdana"/>
                <a:cs typeface="Verdana"/>
              </a:rPr>
              <a:t>is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optional.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90" dirty="0">
                <a:solidFill>
                  <a:srgbClr val="843B0C"/>
                </a:solidFill>
                <a:latin typeface="Verdana"/>
                <a:cs typeface="Verdana"/>
              </a:rPr>
              <a:t>If</a:t>
            </a:r>
            <a:r>
              <a:rPr sz="2400" spc="-16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843B0C"/>
                </a:solidFill>
                <a:latin typeface="Verdana"/>
                <a:cs typeface="Verdana"/>
              </a:rPr>
              <a:t>omitted,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all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elements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range(256)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are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processed.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5187890"/>
            <a:ext cx="9988296" cy="5981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708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solidFill>
                  <a:srgbClr val="006FC0"/>
                </a:solidFill>
              </a:rPr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300335" cy="40055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0" dirty="0">
                <a:solidFill>
                  <a:srgbClr val="0D0D0D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D0D0D"/>
                </a:solidFill>
                <a:latin typeface="Verdana"/>
                <a:cs typeface="Verdana"/>
              </a:rPr>
              <a:t>tuple</a:t>
            </a:r>
            <a:r>
              <a:rPr sz="2800" spc="-204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90" dirty="0">
                <a:solidFill>
                  <a:srgbClr val="0D0D0D"/>
                </a:solidFill>
                <a:latin typeface="Verdana"/>
                <a:cs typeface="Verdana"/>
              </a:rPr>
              <a:t>is</a:t>
            </a:r>
            <a:r>
              <a:rPr sz="2800" spc="-22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D0D0D"/>
                </a:solidFill>
                <a:latin typeface="Verdana"/>
                <a:cs typeface="Verdana"/>
              </a:rPr>
              <a:t>another</a:t>
            </a:r>
            <a:r>
              <a:rPr sz="2800" spc="-18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50" dirty="0">
                <a:solidFill>
                  <a:srgbClr val="0D0D0D"/>
                </a:solidFill>
                <a:latin typeface="Verdana"/>
                <a:cs typeface="Verdana"/>
              </a:rPr>
              <a:t>sequence</a:t>
            </a:r>
            <a:r>
              <a:rPr sz="2800" spc="-16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110" dirty="0">
                <a:solidFill>
                  <a:srgbClr val="0D0D0D"/>
                </a:solidFill>
                <a:latin typeface="Verdana"/>
                <a:cs typeface="Verdana"/>
              </a:rPr>
              <a:t>data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Verdana"/>
                <a:cs typeface="Verdana"/>
              </a:rPr>
              <a:t>type</a:t>
            </a:r>
            <a:r>
              <a:rPr sz="2800" spc="-20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40" dirty="0">
                <a:solidFill>
                  <a:srgbClr val="0D0D0D"/>
                </a:solidFill>
                <a:latin typeface="Verdana"/>
                <a:cs typeface="Verdana"/>
              </a:rPr>
              <a:t>that</a:t>
            </a:r>
            <a:r>
              <a:rPr sz="2800" spc="-20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90" dirty="0">
                <a:solidFill>
                  <a:srgbClr val="0D0D0D"/>
                </a:solidFill>
                <a:latin typeface="Verdana"/>
                <a:cs typeface="Verdana"/>
              </a:rPr>
              <a:t>is</a:t>
            </a:r>
            <a:r>
              <a:rPr sz="2800" spc="-22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175" dirty="0">
                <a:solidFill>
                  <a:srgbClr val="0D0D0D"/>
                </a:solidFill>
                <a:latin typeface="Verdana"/>
                <a:cs typeface="Verdana"/>
              </a:rPr>
              <a:t>similar</a:t>
            </a:r>
            <a:r>
              <a:rPr sz="2800" spc="-229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15" dirty="0">
                <a:solidFill>
                  <a:srgbClr val="0D0D0D"/>
                </a:solidFill>
                <a:latin typeface="Verdana"/>
                <a:cs typeface="Verdana"/>
              </a:rPr>
              <a:t>to</a:t>
            </a:r>
            <a:r>
              <a:rPr sz="2800" spc="-204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D0D0D"/>
                </a:solidFill>
                <a:latin typeface="Verdana"/>
                <a:cs typeface="Verdana"/>
              </a:rPr>
              <a:t>the  </a:t>
            </a:r>
            <a:r>
              <a:rPr sz="2800" spc="-240" dirty="0">
                <a:solidFill>
                  <a:srgbClr val="0D0D0D"/>
                </a:solidFill>
                <a:latin typeface="Verdana"/>
                <a:cs typeface="Verdana"/>
              </a:rPr>
              <a:t>list.</a:t>
            </a:r>
            <a:endParaRPr sz="2800">
              <a:latin typeface="Verdana"/>
              <a:cs typeface="Verdana"/>
            </a:endParaRPr>
          </a:p>
          <a:p>
            <a:pPr marL="241300" marR="1124585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0" dirty="0">
                <a:solidFill>
                  <a:srgbClr val="0D0D0D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D0D0D"/>
                </a:solidFill>
                <a:latin typeface="Verdana"/>
                <a:cs typeface="Verdana"/>
              </a:rPr>
              <a:t>tuple</a:t>
            </a:r>
            <a:r>
              <a:rPr sz="2800" spc="-21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135" dirty="0">
                <a:solidFill>
                  <a:srgbClr val="0D0D0D"/>
                </a:solidFill>
                <a:latin typeface="Verdana"/>
                <a:cs typeface="Verdana"/>
              </a:rPr>
              <a:t>consists</a:t>
            </a:r>
            <a:r>
              <a:rPr sz="2800" spc="-19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D0D0D"/>
                </a:solidFill>
                <a:latin typeface="Verdana"/>
                <a:cs typeface="Verdana"/>
              </a:rPr>
              <a:t>of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225" dirty="0">
                <a:solidFill>
                  <a:srgbClr val="0D0D0D"/>
                </a:solidFill>
                <a:latin typeface="Verdana"/>
                <a:cs typeface="Verdana"/>
              </a:rPr>
              <a:t>a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solidFill>
                  <a:srgbClr val="0D0D0D"/>
                </a:solidFill>
                <a:latin typeface="Verdana"/>
                <a:cs typeface="Verdana"/>
              </a:rPr>
              <a:t>number</a:t>
            </a:r>
            <a:r>
              <a:rPr sz="2800" spc="-21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D0D0D"/>
                </a:solidFill>
                <a:latin typeface="Verdana"/>
                <a:cs typeface="Verdana"/>
              </a:rPr>
              <a:t>of</a:t>
            </a:r>
            <a:r>
              <a:rPr sz="2800" spc="-21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65" dirty="0">
                <a:solidFill>
                  <a:srgbClr val="0D0D0D"/>
                </a:solidFill>
                <a:latin typeface="Verdana"/>
                <a:cs typeface="Verdana"/>
              </a:rPr>
              <a:t>values</a:t>
            </a:r>
            <a:r>
              <a:rPr sz="2800" spc="-21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D0D0D"/>
                </a:solidFill>
                <a:latin typeface="Verdana"/>
                <a:cs typeface="Verdana"/>
              </a:rPr>
              <a:t>separated</a:t>
            </a:r>
            <a:r>
              <a:rPr sz="2800" spc="-17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Verdana"/>
                <a:cs typeface="Verdana"/>
              </a:rPr>
              <a:t>by  </a:t>
            </a:r>
            <a:r>
              <a:rPr sz="2800" spc="-15" dirty="0">
                <a:solidFill>
                  <a:srgbClr val="0D0D0D"/>
                </a:solidFill>
                <a:latin typeface="Verdana"/>
                <a:cs typeface="Verdana"/>
              </a:rPr>
              <a:t>commas.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0" dirty="0">
                <a:solidFill>
                  <a:srgbClr val="0D0D0D"/>
                </a:solidFill>
                <a:latin typeface="Verdana"/>
                <a:cs typeface="Verdana"/>
              </a:rPr>
              <a:t>The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0D0D0D"/>
                </a:solidFill>
                <a:latin typeface="Verdana"/>
                <a:cs typeface="Verdana"/>
              </a:rPr>
              <a:t>main</a:t>
            </a:r>
            <a:r>
              <a:rPr sz="2800" spc="-21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0D0D0D"/>
                </a:solidFill>
                <a:latin typeface="Verdana"/>
                <a:cs typeface="Verdana"/>
              </a:rPr>
              <a:t>differences</a:t>
            </a:r>
            <a:r>
              <a:rPr sz="2800" spc="-19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55" dirty="0">
                <a:solidFill>
                  <a:srgbClr val="0D0D0D"/>
                </a:solidFill>
                <a:latin typeface="Verdana"/>
                <a:cs typeface="Verdana"/>
              </a:rPr>
              <a:t>between</a:t>
            </a:r>
            <a:r>
              <a:rPr sz="2800" spc="-17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265" dirty="0">
                <a:solidFill>
                  <a:srgbClr val="0D0D0D"/>
                </a:solidFill>
                <a:latin typeface="Verdana"/>
                <a:cs typeface="Verdana"/>
              </a:rPr>
              <a:t>lists</a:t>
            </a:r>
            <a:r>
              <a:rPr sz="2800" spc="-22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105" dirty="0">
                <a:solidFill>
                  <a:srgbClr val="0D0D0D"/>
                </a:solidFill>
                <a:latin typeface="Verdana"/>
                <a:cs typeface="Verdana"/>
              </a:rPr>
              <a:t>and</a:t>
            </a:r>
            <a:r>
              <a:rPr sz="28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85" dirty="0">
                <a:solidFill>
                  <a:srgbClr val="0D0D0D"/>
                </a:solidFill>
                <a:latin typeface="Verdana"/>
                <a:cs typeface="Verdana"/>
              </a:rPr>
              <a:t>tuples</a:t>
            </a:r>
            <a:r>
              <a:rPr sz="2800" spc="-20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800" spc="-125" dirty="0">
                <a:solidFill>
                  <a:srgbClr val="0D0D0D"/>
                </a:solidFill>
                <a:latin typeface="Verdana"/>
                <a:cs typeface="Verdana"/>
              </a:rPr>
              <a:t>are:</a:t>
            </a:r>
            <a:endParaRPr sz="2800">
              <a:latin typeface="Verdana"/>
              <a:cs typeface="Verdana"/>
            </a:endParaRPr>
          </a:p>
          <a:p>
            <a:pPr marL="698500" marR="92075" lvl="1" indent="-228600">
              <a:lnSpc>
                <a:spcPct val="100000"/>
              </a:lnSpc>
              <a:spcBef>
                <a:spcPts val="509"/>
              </a:spcBef>
              <a:buClr>
                <a:srgbClr val="0D0D0D"/>
              </a:buClr>
              <a:buFont typeface="Arial"/>
              <a:buChar char="•"/>
              <a:tabLst>
                <a:tab pos="782320" algn="l"/>
                <a:tab pos="782955" algn="l"/>
              </a:tabLst>
            </a:pPr>
            <a:r>
              <a:rPr dirty="0"/>
              <a:t>	</a:t>
            </a:r>
            <a:r>
              <a:rPr sz="2400" spc="-235" dirty="0">
                <a:solidFill>
                  <a:srgbClr val="843B0C"/>
                </a:solidFill>
                <a:latin typeface="Verdana"/>
                <a:cs typeface="Verdana"/>
              </a:rPr>
              <a:t>Lists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 </a:t>
            </a:r>
            <a:r>
              <a:rPr sz="2400" spc="30" dirty="0">
                <a:solidFill>
                  <a:srgbClr val="843B0C"/>
                </a:solidFill>
                <a:latin typeface="Verdana"/>
                <a:cs typeface="Verdana"/>
              </a:rPr>
              <a:t>enclosed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brackets 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( </a:t>
            </a:r>
            <a:r>
              <a:rPr sz="2400" b="1" spc="-540" dirty="0">
                <a:solidFill>
                  <a:srgbClr val="0D0D0D"/>
                </a:solidFill>
                <a:latin typeface="Verdana"/>
                <a:cs typeface="Verdana"/>
              </a:rPr>
              <a:t>[ ] </a:t>
            </a:r>
            <a:r>
              <a:rPr sz="2400" spc="-225" dirty="0">
                <a:solidFill>
                  <a:srgbClr val="843B0C"/>
                </a:solidFill>
                <a:latin typeface="Verdana"/>
                <a:cs typeface="Verdana"/>
              </a:rPr>
              <a:t>), </a:t>
            </a:r>
            <a:r>
              <a:rPr sz="2400" spc="90" dirty="0">
                <a:solidFill>
                  <a:srgbClr val="843B0C"/>
                </a:solidFill>
                <a:latin typeface="Verdana"/>
                <a:cs typeface="Verdana"/>
              </a:rPr>
              <a:t>and </a:t>
            </a:r>
            <a:r>
              <a:rPr sz="2400" spc="-105" dirty="0">
                <a:solidFill>
                  <a:srgbClr val="843B0C"/>
                </a:solidFill>
                <a:latin typeface="Verdana"/>
                <a:cs typeface="Verdana"/>
              </a:rPr>
              <a:t>their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elements </a:t>
            </a:r>
            <a:r>
              <a:rPr sz="2400" spc="90" dirty="0">
                <a:solidFill>
                  <a:srgbClr val="843B0C"/>
                </a:solidFill>
                <a:latin typeface="Verdana"/>
                <a:cs typeface="Verdana"/>
              </a:rPr>
              <a:t>and </a:t>
            </a:r>
            <a:r>
              <a:rPr sz="2400" spc="-150" dirty="0">
                <a:solidFill>
                  <a:srgbClr val="843B0C"/>
                </a:solidFill>
                <a:latin typeface="Verdana"/>
                <a:cs typeface="Verdana"/>
              </a:rPr>
              <a:t>size  </a:t>
            </a:r>
            <a:r>
              <a:rPr sz="2400" spc="145" dirty="0">
                <a:solidFill>
                  <a:srgbClr val="843B0C"/>
                </a:solidFill>
                <a:latin typeface="Verdana"/>
                <a:cs typeface="Verdana"/>
              </a:rPr>
              <a:t>can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843B0C"/>
                </a:solidFill>
                <a:latin typeface="Verdana"/>
                <a:cs typeface="Verdana"/>
              </a:rPr>
              <a:t>be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843B0C"/>
                </a:solidFill>
                <a:latin typeface="Verdana"/>
                <a:cs typeface="Verdana"/>
              </a:rPr>
              <a:t>changed,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while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tuples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843B0C"/>
                </a:solidFill>
                <a:latin typeface="Verdana"/>
                <a:cs typeface="Verdana"/>
              </a:rPr>
              <a:t>enclosed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parentheses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14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395" dirty="0">
                <a:solidFill>
                  <a:srgbClr val="0D0D0D"/>
                </a:solidFill>
                <a:latin typeface="Verdana"/>
                <a:cs typeface="Verdana"/>
              </a:rPr>
              <a:t>(</a:t>
            </a:r>
            <a:r>
              <a:rPr sz="2400" b="1" spc="-14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b="1" spc="-395" dirty="0">
                <a:solidFill>
                  <a:srgbClr val="0D0D0D"/>
                </a:solidFill>
                <a:latin typeface="Verdana"/>
                <a:cs typeface="Verdana"/>
              </a:rPr>
              <a:t>)</a:t>
            </a:r>
            <a:r>
              <a:rPr sz="2400" b="1" spc="-16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)  </a:t>
            </a:r>
            <a:r>
              <a:rPr sz="2400" spc="90" dirty="0">
                <a:solidFill>
                  <a:srgbClr val="843B0C"/>
                </a:solidFill>
                <a:latin typeface="Verdana"/>
                <a:cs typeface="Verdana"/>
              </a:rPr>
              <a:t>and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843B0C"/>
                </a:solidFill>
                <a:latin typeface="Verdana"/>
                <a:cs typeface="Verdana"/>
              </a:rPr>
              <a:t>cannot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843B0C"/>
                </a:solidFill>
                <a:latin typeface="Verdana"/>
                <a:cs typeface="Verdana"/>
              </a:rPr>
              <a:t>be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843B0C"/>
                </a:solidFill>
                <a:latin typeface="Verdana"/>
                <a:cs typeface="Verdana"/>
              </a:rPr>
              <a:t>updated.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Tuples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50" dirty="0">
                <a:solidFill>
                  <a:srgbClr val="843B0C"/>
                </a:solidFill>
                <a:latin typeface="Verdana"/>
                <a:cs typeface="Verdana"/>
              </a:rPr>
              <a:t>can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843B0C"/>
                </a:solidFill>
                <a:latin typeface="Verdana"/>
                <a:cs typeface="Verdana"/>
              </a:rPr>
              <a:t>be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thought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as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175" dirty="0">
                <a:solidFill>
                  <a:srgbClr val="843B0C"/>
                </a:solidFill>
                <a:latin typeface="Verdana"/>
                <a:cs typeface="Verdana"/>
              </a:rPr>
              <a:t>read-only</a:t>
            </a:r>
            <a:r>
              <a:rPr sz="2400" b="1" spc="-15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305" dirty="0">
                <a:solidFill>
                  <a:srgbClr val="843B0C"/>
                </a:solidFill>
                <a:latin typeface="Verdana"/>
                <a:cs typeface="Verdana"/>
              </a:rPr>
              <a:t>lists</a:t>
            </a:r>
            <a:r>
              <a:rPr sz="2400" spc="-305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708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solidFill>
                  <a:srgbClr val="006FC0"/>
                </a:solidFill>
              </a:rPr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555"/>
            <a:ext cx="8809990" cy="371982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0" dirty="0">
                <a:latin typeface="Verdana"/>
                <a:cs typeface="Verdana"/>
              </a:rPr>
              <a:t>Tuples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may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be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constructed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number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ways: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Using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pair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843B0C"/>
                </a:solidFill>
                <a:latin typeface="Verdana"/>
                <a:cs typeface="Verdana"/>
              </a:rPr>
              <a:t>of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parentheses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843B0C"/>
                </a:solidFill>
                <a:latin typeface="Verdana"/>
                <a:cs typeface="Verdana"/>
              </a:rPr>
              <a:t>denote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empty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tuple: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380" dirty="0">
                <a:solidFill>
                  <a:srgbClr val="C55A11"/>
                </a:solidFill>
                <a:latin typeface="Verdana"/>
                <a:cs typeface="Verdana"/>
              </a:rPr>
              <a:t>T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spc="-254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95" dirty="0">
                <a:solidFill>
                  <a:srgbClr val="C55A11"/>
                </a:solidFill>
                <a:latin typeface="Verdana"/>
                <a:cs typeface="Verdana"/>
              </a:rPr>
              <a:t>()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Using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trailing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85" dirty="0">
                <a:solidFill>
                  <a:srgbClr val="843B0C"/>
                </a:solidFill>
                <a:latin typeface="Verdana"/>
                <a:cs typeface="Verdana"/>
              </a:rPr>
              <a:t>comma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for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singleton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tuple: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405" dirty="0">
                <a:solidFill>
                  <a:srgbClr val="C55A11"/>
                </a:solidFill>
                <a:latin typeface="Verdana"/>
                <a:cs typeface="Verdana"/>
              </a:rPr>
              <a:t>T= </a:t>
            </a:r>
            <a:r>
              <a:rPr sz="2000" spc="-165" dirty="0">
                <a:solidFill>
                  <a:srgbClr val="C55A11"/>
                </a:solidFill>
                <a:latin typeface="Verdana"/>
                <a:cs typeface="Verdana"/>
              </a:rPr>
              <a:t>1,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or </a:t>
            </a:r>
            <a:r>
              <a:rPr sz="2000" spc="-380" dirty="0">
                <a:solidFill>
                  <a:srgbClr val="C55A11"/>
                </a:solidFill>
                <a:latin typeface="Verdana"/>
                <a:cs typeface="Verdana"/>
              </a:rPr>
              <a:t>T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spc="-3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C55A11"/>
                </a:solidFill>
                <a:latin typeface="Verdana"/>
                <a:cs typeface="Verdana"/>
              </a:rPr>
              <a:t>(1,)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Separating </a:t>
            </a:r>
            <a:r>
              <a:rPr sz="2400" spc="-114" dirty="0">
                <a:solidFill>
                  <a:srgbClr val="843B0C"/>
                </a:solidFill>
                <a:latin typeface="Verdana"/>
                <a:cs typeface="Verdana"/>
              </a:rPr>
              <a:t>items </a:t>
            </a:r>
            <a:r>
              <a:rPr sz="2400" spc="-85" dirty="0">
                <a:solidFill>
                  <a:srgbClr val="843B0C"/>
                </a:solidFill>
                <a:latin typeface="Verdana"/>
                <a:cs typeface="Verdana"/>
              </a:rPr>
              <a:t>with</a:t>
            </a:r>
            <a:r>
              <a:rPr sz="2400" spc="-5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843B0C"/>
                </a:solidFill>
                <a:latin typeface="Verdana"/>
                <a:cs typeface="Verdana"/>
              </a:rPr>
              <a:t>commas: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solidFill>
                  <a:srgbClr val="C55A11"/>
                </a:solidFill>
                <a:latin typeface="Verdana"/>
                <a:cs typeface="Verdana"/>
              </a:rPr>
              <a:t>a,</a:t>
            </a:r>
            <a:r>
              <a:rPr sz="2000" spc="-17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C55A11"/>
                </a:solidFill>
                <a:latin typeface="Verdana"/>
                <a:cs typeface="Verdana"/>
              </a:rPr>
              <a:t>b,</a:t>
            </a:r>
            <a:r>
              <a:rPr sz="2000" spc="-17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250" dirty="0">
                <a:solidFill>
                  <a:srgbClr val="C55A11"/>
                </a:solidFill>
                <a:latin typeface="Verdana"/>
                <a:cs typeface="Verdana"/>
              </a:rPr>
              <a:t>c</a:t>
            </a:r>
            <a:r>
              <a:rPr sz="2000" spc="-1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or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(a,</a:t>
            </a:r>
            <a:r>
              <a:rPr sz="2000" spc="-13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C55A11"/>
                </a:solidFill>
                <a:latin typeface="Verdana"/>
                <a:cs typeface="Verdana"/>
              </a:rPr>
              <a:t>b,</a:t>
            </a:r>
            <a:r>
              <a:rPr sz="2000" spc="-1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C55A11"/>
                </a:solidFill>
                <a:latin typeface="Verdana"/>
                <a:cs typeface="Verdana"/>
              </a:rPr>
              <a:t>c)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Using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tuple()</a:t>
            </a:r>
            <a:r>
              <a:rPr sz="2400" spc="-4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843B0C"/>
                </a:solidFill>
                <a:latin typeface="Verdana"/>
                <a:cs typeface="Verdana"/>
              </a:rPr>
              <a:t>built-in:</a:t>
            </a:r>
            <a:endParaRPr sz="24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380" dirty="0">
                <a:solidFill>
                  <a:srgbClr val="C55A11"/>
                </a:solidFill>
                <a:latin typeface="Verdana"/>
                <a:cs typeface="Verdana"/>
              </a:rPr>
              <a:t>T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 </a:t>
            </a:r>
            <a:r>
              <a:rPr sz="2000" spc="-65" dirty="0">
                <a:solidFill>
                  <a:srgbClr val="C55A11"/>
                </a:solidFill>
                <a:latin typeface="Verdana"/>
                <a:cs typeface="Verdana"/>
              </a:rPr>
              <a:t>tuple() </a:t>
            </a:r>
            <a:r>
              <a:rPr sz="2000" spc="-80" dirty="0">
                <a:solidFill>
                  <a:srgbClr val="C55A11"/>
                </a:solidFill>
                <a:latin typeface="Verdana"/>
                <a:cs typeface="Verdana"/>
              </a:rPr>
              <a:t>or </a:t>
            </a:r>
            <a:r>
              <a:rPr sz="2000" spc="-380" dirty="0">
                <a:solidFill>
                  <a:srgbClr val="C55A11"/>
                </a:solidFill>
                <a:latin typeface="Verdana"/>
                <a:cs typeface="Verdana"/>
              </a:rPr>
              <a:t>T </a:t>
            </a:r>
            <a:r>
              <a:rPr sz="2000" spc="-425" dirty="0">
                <a:solidFill>
                  <a:srgbClr val="C55A11"/>
                </a:solidFill>
                <a:latin typeface="Verdana"/>
                <a:cs typeface="Verdana"/>
              </a:rPr>
              <a:t>=</a:t>
            </a:r>
            <a:r>
              <a:rPr sz="2000" spc="-53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C55A11"/>
                </a:solidFill>
                <a:latin typeface="Verdana"/>
                <a:cs typeface="Verdana"/>
              </a:rPr>
              <a:t>tuple(iterable)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878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>
                <a:solidFill>
                  <a:srgbClr val="006FC0"/>
                </a:solidFill>
              </a:rPr>
              <a:t>Ra</a:t>
            </a:r>
            <a:r>
              <a:rPr spc="-140" dirty="0">
                <a:solidFill>
                  <a:srgbClr val="006FC0"/>
                </a:solidFill>
              </a:rPr>
              <a:t>n</a:t>
            </a:r>
            <a:r>
              <a:rPr spc="-40" dirty="0">
                <a:solidFill>
                  <a:srgbClr val="006FC0"/>
                </a:solidFill>
              </a:rPr>
              <a:t>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309860" cy="3994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779145" indent="-2292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5" dirty="0">
                <a:latin typeface="Verdana"/>
                <a:cs typeface="Verdana"/>
              </a:rPr>
              <a:t>The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range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type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represents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an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b="1" spc="-245" dirty="0">
                <a:latin typeface="Verdana"/>
                <a:cs typeface="Verdana"/>
              </a:rPr>
              <a:t>immutable</a:t>
            </a:r>
            <a:r>
              <a:rPr sz="2800" b="1" spc="-17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sequence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  </a:t>
            </a:r>
            <a:r>
              <a:rPr sz="2800" b="1" spc="-300" dirty="0">
                <a:latin typeface="Verdana"/>
                <a:cs typeface="Verdana"/>
              </a:rPr>
              <a:t>numbers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5" dirty="0">
                <a:latin typeface="Verdana"/>
                <a:cs typeface="Verdana"/>
              </a:rPr>
              <a:t>commonly </a:t>
            </a:r>
            <a:r>
              <a:rPr sz="2800" spc="-35" dirty="0">
                <a:latin typeface="Verdana"/>
                <a:cs typeface="Verdana"/>
              </a:rPr>
              <a:t>used </a:t>
            </a:r>
            <a:r>
              <a:rPr sz="2800" b="1" spc="-345" dirty="0">
                <a:latin typeface="Verdana"/>
                <a:cs typeface="Verdana"/>
              </a:rPr>
              <a:t>for </a:t>
            </a:r>
            <a:r>
              <a:rPr sz="2800" b="1" spc="-200" dirty="0">
                <a:latin typeface="Verdana"/>
                <a:cs typeface="Verdana"/>
              </a:rPr>
              <a:t>looping </a:t>
            </a:r>
            <a:r>
              <a:rPr sz="2800" spc="229" dirty="0">
                <a:latin typeface="Verdana"/>
                <a:cs typeface="Verdana"/>
              </a:rPr>
              <a:t>a </a:t>
            </a:r>
            <a:r>
              <a:rPr sz="2800" spc="10" dirty="0">
                <a:latin typeface="Verdana"/>
                <a:cs typeface="Verdana"/>
              </a:rPr>
              <a:t>specific  </a:t>
            </a:r>
            <a:r>
              <a:rPr sz="2800" spc="-50" dirty="0">
                <a:latin typeface="Verdana"/>
                <a:cs typeface="Verdana"/>
              </a:rPr>
              <a:t>number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135" dirty="0">
                <a:latin typeface="Verdana"/>
                <a:cs typeface="Verdana"/>
              </a:rPr>
              <a:t>times in </a:t>
            </a:r>
            <a:r>
              <a:rPr sz="2800" spc="-114" dirty="0">
                <a:latin typeface="Verdana"/>
                <a:cs typeface="Verdana"/>
              </a:rPr>
              <a:t>for</a:t>
            </a:r>
            <a:r>
              <a:rPr sz="2800" spc="-74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loops.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5" dirty="0">
                <a:latin typeface="Verdana"/>
                <a:cs typeface="Verdana"/>
              </a:rPr>
              <a:t>The </a:t>
            </a:r>
            <a:r>
              <a:rPr sz="2800" spc="85" dirty="0">
                <a:latin typeface="Verdana"/>
                <a:cs typeface="Verdana"/>
              </a:rPr>
              <a:t>advantage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15" dirty="0">
                <a:latin typeface="Verdana"/>
                <a:cs typeface="Verdana"/>
              </a:rPr>
              <a:t>range </a:t>
            </a:r>
            <a:r>
              <a:rPr sz="2800" spc="-5" dirty="0">
                <a:latin typeface="Verdana"/>
                <a:cs typeface="Verdana"/>
              </a:rPr>
              <a:t>type </a:t>
            </a:r>
            <a:r>
              <a:rPr sz="2800" spc="-50" dirty="0">
                <a:latin typeface="Verdana"/>
                <a:cs typeface="Verdana"/>
              </a:rPr>
              <a:t>over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spc="-70" dirty="0">
                <a:latin typeface="Verdana"/>
                <a:cs typeface="Verdana"/>
              </a:rPr>
              <a:t>regular </a:t>
            </a:r>
            <a:r>
              <a:rPr sz="2800" spc="-240" dirty="0">
                <a:latin typeface="Verdana"/>
                <a:cs typeface="Verdana"/>
              </a:rPr>
              <a:t>list </a:t>
            </a:r>
            <a:r>
              <a:rPr sz="2800" spc="-114" dirty="0">
                <a:latin typeface="Verdana"/>
                <a:cs typeface="Verdana"/>
              </a:rPr>
              <a:t>or  </a:t>
            </a:r>
            <a:r>
              <a:rPr sz="2800" spc="-25" dirty="0">
                <a:latin typeface="Verdana"/>
                <a:cs typeface="Verdana"/>
              </a:rPr>
              <a:t>tuple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40" dirty="0">
                <a:latin typeface="Verdana"/>
                <a:cs typeface="Verdana"/>
              </a:rPr>
              <a:t>that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spc="15" dirty="0">
                <a:latin typeface="Verdana"/>
                <a:cs typeface="Verdana"/>
              </a:rPr>
              <a:t>range </a:t>
            </a:r>
            <a:r>
              <a:rPr sz="2800" spc="40" dirty="0">
                <a:latin typeface="Verdana"/>
                <a:cs typeface="Verdana"/>
              </a:rPr>
              <a:t>object </a:t>
            </a:r>
            <a:r>
              <a:rPr sz="2800" spc="-150" dirty="0">
                <a:latin typeface="Verdana"/>
                <a:cs typeface="Verdana"/>
              </a:rPr>
              <a:t>will </a:t>
            </a:r>
            <a:r>
              <a:rPr sz="2800" spc="-50" dirty="0">
                <a:latin typeface="Verdana"/>
                <a:cs typeface="Verdana"/>
              </a:rPr>
              <a:t>always </a:t>
            </a:r>
            <a:r>
              <a:rPr sz="2800" spc="-10" dirty="0">
                <a:latin typeface="Verdana"/>
                <a:cs typeface="Verdana"/>
              </a:rPr>
              <a:t>take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30" dirty="0">
                <a:latin typeface="Verdana"/>
                <a:cs typeface="Verdana"/>
              </a:rPr>
              <a:t>same  </a:t>
            </a:r>
            <a:r>
              <a:rPr sz="2800" spc="-165" dirty="0">
                <a:latin typeface="Verdana"/>
                <a:cs typeface="Verdana"/>
              </a:rPr>
              <a:t>(small)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amount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memory,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no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matter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80" dirty="0">
                <a:latin typeface="Verdana"/>
                <a:cs typeface="Verdana"/>
              </a:rPr>
              <a:t>size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15" dirty="0">
                <a:latin typeface="Verdana"/>
                <a:cs typeface="Verdana"/>
              </a:rPr>
              <a:t>range  </a:t>
            </a:r>
            <a:r>
              <a:rPr sz="2800" spc="-180" dirty="0">
                <a:latin typeface="Verdana"/>
                <a:cs typeface="Verdana"/>
              </a:rPr>
              <a:t>it </a:t>
            </a:r>
            <a:r>
              <a:rPr sz="2800" spc="-114" dirty="0">
                <a:latin typeface="Verdana"/>
                <a:cs typeface="Verdana"/>
              </a:rPr>
              <a:t>represents </a:t>
            </a:r>
            <a:r>
              <a:rPr sz="2800" spc="-130" dirty="0">
                <a:latin typeface="Verdana"/>
                <a:cs typeface="Verdana"/>
              </a:rPr>
              <a:t>(as </a:t>
            </a:r>
            <a:r>
              <a:rPr sz="2800" spc="-180" dirty="0">
                <a:latin typeface="Verdana"/>
                <a:cs typeface="Verdana"/>
              </a:rPr>
              <a:t>it </a:t>
            </a:r>
            <a:r>
              <a:rPr sz="2800" spc="-80" dirty="0">
                <a:latin typeface="Verdana"/>
                <a:cs typeface="Verdana"/>
              </a:rPr>
              <a:t>only </a:t>
            </a:r>
            <a:r>
              <a:rPr sz="2800" spc="-170" dirty="0">
                <a:latin typeface="Verdana"/>
                <a:cs typeface="Verdana"/>
              </a:rPr>
              <a:t>stores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b="1" spc="-345" dirty="0">
                <a:latin typeface="Verdana"/>
                <a:cs typeface="Verdana"/>
              </a:rPr>
              <a:t>start</a:t>
            </a:r>
            <a:r>
              <a:rPr sz="2800" spc="-345" dirty="0">
                <a:latin typeface="Verdana"/>
                <a:cs typeface="Verdana"/>
              </a:rPr>
              <a:t>, </a:t>
            </a:r>
            <a:r>
              <a:rPr sz="2800" b="1" spc="-280" dirty="0">
                <a:latin typeface="Verdana"/>
                <a:cs typeface="Verdana"/>
              </a:rPr>
              <a:t>stop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b="1" spc="-265" dirty="0">
                <a:latin typeface="Verdana"/>
                <a:cs typeface="Verdana"/>
              </a:rPr>
              <a:t>step  </a:t>
            </a:r>
            <a:r>
              <a:rPr sz="2800" spc="-95" dirty="0">
                <a:latin typeface="Verdana"/>
                <a:cs typeface="Verdana"/>
              </a:rPr>
              <a:t>values, </a:t>
            </a:r>
            <a:r>
              <a:rPr sz="2800" spc="30" dirty="0">
                <a:latin typeface="Verdana"/>
                <a:cs typeface="Verdana"/>
              </a:rPr>
              <a:t>calculating </a:t>
            </a:r>
            <a:r>
              <a:rPr sz="2800" spc="-50" dirty="0">
                <a:latin typeface="Verdana"/>
                <a:cs typeface="Verdana"/>
              </a:rPr>
              <a:t>individual </a:t>
            </a:r>
            <a:r>
              <a:rPr sz="2800" spc="-140" dirty="0">
                <a:latin typeface="Verdana"/>
                <a:cs typeface="Verdana"/>
              </a:rPr>
              <a:t>items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spc="-70" dirty="0">
                <a:latin typeface="Verdana"/>
                <a:cs typeface="Verdana"/>
              </a:rPr>
              <a:t>subranges </a:t>
            </a:r>
            <a:r>
              <a:rPr sz="2800" spc="-80" dirty="0">
                <a:latin typeface="Verdana"/>
                <a:cs typeface="Verdana"/>
              </a:rPr>
              <a:t>as  </a:t>
            </a:r>
            <a:r>
              <a:rPr sz="2800" b="1" spc="-165" dirty="0">
                <a:latin typeface="Verdana"/>
                <a:cs typeface="Verdana"/>
              </a:rPr>
              <a:t>needed</a:t>
            </a:r>
            <a:r>
              <a:rPr sz="2800" spc="-165" dirty="0">
                <a:latin typeface="Verdana"/>
                <a:cs typeface="Verdana"/>
              </a:rPr>
              <a:t>).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878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>
                <a:solidFill>
                  <a:srgbClr val="006FC0"/>
                </a:solidFill>
              </a:rPr>
              <a:t>Ra</a:t>
            </a:r>
            <a:r>
              <a:rPr spc="-140" dirty="0">
                <a:solidFill>
                  <a:srgbClr val="006FC0"/>
                </a:solidFill>
              </a:rPr>
              <a:t>n</a:t>
            </a:r>
            <a:r>
              <a:rPr spc="-40" dirty="0">
                <a:solidFill>
                  <a:srgbClr val="006FC0"/>
                </a:solidFill>
              </a:rPr>
              <a:t>ges</a:t>
            </a:r>
          </a:p>
        </p:txBody>
      </p:sp>
      <p:sp>
        <p:nvSpPr>
          <p:cNvPr id="3" name="object 3"/>
          <p:cNvSpPr/>
          <p:nvPr/>
        </p:nvSpPr>
        <p:spPr>
          <a:xfrm>
            <a:off x="900073" y="1926697"/>
            <a:ext cx="6199694" cy="3897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93522" y="1913563"/>
            <a:ext cx="3390607" cy="38896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7897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>
                <a:solidFill>
                  <a:srgbClr val="006FC0"/>
                </a:solidFill>
              </a:rPr>
              <a:t>Common </a:t>
            </a:r>
            <a:r>
              <a:rPr spc="-50" dirty="0">
                <a:solidFill>
                  <a:srgbClr val="006FC0"/>
                </a:solidFill>
              </a:rPr>
              <a:t>Sequence</a:t>
            </a:r>
            <a:r>
              <a:rPr spc="-525" dirty="0">
                <a:solidFill>
                  <a:srgbClr val="006FC0"/>
                </a:solidFill>
              </a:rPr>
              <a:t> </a:t>
            </a:r>
            <a:r>
              <a:rPr spc="95" dirty="0">
                <a:solidFill>
                  <a:srgbClr val="006FC0"/>
                </a:solidFill>
              </a:rPr>
              <a:t>Operations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580399" y="1670357"/>
            <a:ext cx="8322552" cy="4188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060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>
                <a:solidFill>
                  <a:srgbClr val="006FC0"/>
                </a:solidFill>
              </a:rPr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10290175" cy="401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9235" marR="1222375" indent="-229235" algn="r">
              <a:lnSpc>
                <a:spcPts val="2965"/>
              </a:lnSpc>
              <a:spcBef>
                <a:spcPts val="105"/>
              </a:spcBef>
              <a:buFont typeface="Arial"/>
              <a:buChar char="•"/>
              <a:tabLst>
                <a:tab pos="229235" algn="l"/>
              </a:tabLst>
            </a:pPr>
            <a:r>
              <a:rPr sz="2600" spc="-105" dirty="0">
                <a:latin typeface="Verdana"/>
                <a:cs typeface="Verdana"/>
              </a:rPr>
              <a:t>Python's </a:t>
            </a:r>
            <a:r>
              <a:rPr sz="2600" spc="-45" dirty="0">
                <a:latin typeface="Verdana"/>
                <a:cs typeface="Verdana"/>
              </a:rPr>
              <a:t>dictionaries </a:t>
            </a:r>
            <a:r>
              <a:rPr sz="2600" spc="5" dirty="0">
                <a:latin typeface="Verdana"/>
                <a:cs typeface="Verdana"/>
              </a:rPr>
              <a:t>are</a:t>
            </a:r>
            <a:r>
              <a:rPr sz="2600" spc="-675" dirty="0">
                <a:latin typeface="Verdana"/>
                <a:cs typeface="Verdana"/>
              </a:rPr>
              <a:t> </a:t>
            </a:r>
            <a:r>
              <a:rPr sz="2600" b="1" spc="-254" dirty="0">
                <a:latin typeface="Verdana"/>
                <a:cs typeface="Verdana"/>
              </a:rPr>
              <a:t>hash </a:t>
            </a:r>
            <a:r>
              <a:rPr sz="2600" b="1" spc="-170" dirty="0">
                <a:latin typeface="Verdana"/>
                <a:cs typeface="Verdana"/>
              </a:rPr>
              <a:t>table </a:t>
            </a:r>
            <a:r>
              <a:rPr sz="2600" spc="-45" dirty="0">
                <a:latin typeface="Verdana"/>
                <a:cs typeface="Verdana"/>
              </a:rPr>
              <a:t>type. </a:t>
            </a:r>
            <a:r>
              <a:rPr sz="2600" spc="-140" dirty="0">
                <a:latin typeface="Verdana"/>
                <a:cs typeface="Verdana"/>
              </a:rPr>
              <a:t>They </a:t>
            </a:r>
            <a:r>
              <a:rPr sz="2600" spc="-105" dirty="0">
                <a:latin typeface="Verdana"/>
                <a:cs typeface="Verdana"/>
              </a:rPr>
              <a:t>work </a:t>
            </a:r>
            <a:r>
              <a:rPr sz="2600" spc="-125" dirty="0">
                <a:latin typeface="Verdana"/>
                <a:cs typeface="Verdana"/>
              </a:rPr>
              <a:t>like</a:t>
            </a:r>
            <a:endParaRPr sz="2600">
              <a:latin typeface="Verdana"/>
              <a:cs typeface="Verdana"/>
            </a:endParaRPr>
          </a:p>
          <a:p>
            <a:pPr marR="1234440" algn="r">
              <a:lnSpc>
                <a:spcPts val="2965"/>
              </a:lnSpc>
            </a:pPr>
            <a:r>
              <a:rPr sz="2600" b="1" spc="-190" dirty="0">
                <a:latin typeface="Verdana"/>
                <a:cs typeface="Verdana"/>
              </a:rPr>
              <a:t>associative </a:t>
            </a:r>
            <a:r>
              <a:rPr sz="2600" b="1" spc="-265" dirty="0">
                <a:latin typeface="Verdana"/>
                <a:cs typeface="Verdana"/>
              </a:rPr>
              <a:t>arrays </a:t>
            </a:r>
            <a:r>
              <a:rPr sz="2600" spc="-130" dirty="0">
                <a:latin typeface="Verdana"/>
                <a:cs typeface="Verdana"/>
              </a:rPr>
              <a:t>in </a:t>
            </a:r>
            <a:r>
              <a:rPr sz="2600" b="1" spc="-315" dirty="0">
                <a:latin typeface="Verdana"/>
                <a:cs typeface="Verdana"/>
              </a:rPr>
              <a:t>Perl </a:t>
            </a:r>
            <a:r>
              <a:rPr sz="2600" spc="100" dirty="0">
                <a:latin typeface="Verdana"/>
                <a:cs typeface="Verdana"/>
              </a:rPr>
              <a:t>and </a:t>
            </a:r>
            <a:r>
              <a:rPr sz="2600" spc="-95" dirty="0">
                <a:latin typeface="Verdana"/>
                <a:cs typeface="Verdana"/>
              </a:rPr>
              <a:t>consist </a:t>
            </a:r>
            <a:r>
              <a:rPr sz="2600" spc="15" dirty="0">
                <a:latin typeface="Verdana"/>
                <a:cs typeface="Verdana"/>
              </a:rPr>
              <a:t>of </a:t>
            </a:r>
            <a:r>
              <a:rPr sz="2600" spc="-65" dirty="0">
                <a:latin typeface="Verdana"/>
                <a:cs typeface="Verdana"/>
              </a:rPr>
              <a:t>key-value</a:t>
            </a:r>
            <a:r>
              <a:rPr sz="2600" spc="-570" dirty="0">
                <a:latin typeface="Verdana"/>
                <a:cs typeface="Verdana"/>
              </a:rPr>
              <a:t> </a:t>
            </a:r>
            <a:r>
              <a:rPr sz="2600" spc="-125" dirty="0">
                <a:latin typeface="Verdana"/>
                <a:cs typeface="Verdana"/>
              </a:rPr>
              <a:t>pairs.</a:t>
            </a:r>
            <a:endParaRPr sz="2600">
              <a:latin typeface="Verdana"/>
              <a:cs typeface="Verdana"/>
            </a:endParaRPr>
          </a:p>
          <a:p>
            <a:pPr marL="241300" marR="205740" indent="-229235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55" dirty="0">
                <a:latin typeface="Verdana"/>
                <a:cs typeface="Verdana"/>
              </a:rPr>
              <a:t>Keys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160" dirty="0">
                <a:latin typeface="Verdana"/>
                <a:cs typeface="Verdana"/>
              </a:rPr>
              <a:t>can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145" dirty="0">
                <a:latin typeface="Verdana"/>
                <a:cs typeface="Verdana"/>
              </a:rPr>
              <a:t>be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75" dirty="0">
                <a:latin typeface="Verdana"/>
                <a:cs typeface="Verdana"/>
              </a:rPr>
              <a:t>almost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any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Python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type,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but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are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114" dirty="0">
                <a:latin typeface="Verdana"/>
                <a:cs typeface="Verdana"/>
              </a:rPr>
              <a:t>usually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b="1" spc="-280" dirty="0">
                <a:latin typeface="Verdana"/>
                <a:cs typeface="Verdana"/>
              </a:rPr>
              <a:t>numbers  </a:t>
            </a:r>
            <a:r>
              <a:rPr sz="2600" spc="-100" dirty="0">
                <a:latin typeface="Verdana"/>
                <a:cs typeface="Verdana"/>
              </a:rPr>
              <a:t>or </a:t>
            </a:r>
            <a:r>
              <a:rPr sz="2600" b="1" spc="-325" dirty="0">
                <a:latin typeface="Verdana"/>
                <a:cs typeface="Verdana"/>
              </a:rPr>
              <a:t>strings</a:t>
            </a:r>
            <a:r>
              <a:rPr sz="2600" spc="-325" dirty="0">
                <a:latin typeface="Verdana"/>
                <a:cs typeface="Verdana"/>
              </a:rPr>
              <a:t>. </a:t>
            </a:r>
            <a:r>
              <a:rPr sz="2600" spc="-65" dirty="0">
                <a:latin typeface="Verdana"/>
                <a:cs typeface="Verdana"/>
              </a:rPr>
              <a:t>Values, </a:t>
            </a:r>
            <a:r>
              <a:rPr sz="2600" spc="30" dirty="0">
                <a:latin typeface="Verdana"/>
                <a:cs typeface="Verdana"/>
              </a:rPr>
              <a:t>on </a:t>
            </a:r>
            <a:r>
              <a:rPr sz="2600" spc="-20" dirty="0">
                <a:latin typeface="Verdana"/>
                <a:cs typeface="Verdana"/>
              </a:rPr>
              <a:t>the </a:t>
            </a:r>
            <a:r>
              <a:rPr sz="2600" spc="-55" dirty="0">
                <a:latin typeface="Verdana"/>
                <a:cs typeface="Verdana"/>
              </a:rPr>
              <a:t>other </a:t>
            </a:r>
            <a:r>
              <a:rPr sz="2600" dirty="0">
                <a:latin typeface="Verdana"/>
                <a:cs typeface="Verdana"/>
              </a:rPr>
              <a:t>hand, </a:t>
            </a:r>
            <a:r>
              <a:rPr sz="2600" spc="155" dirty="0">
                <a:latin typeface="Verdana"/>
                <a:cs typeface="Verdana"/>
              </a:rPr>
              <a:t>can </a:t>
            </a:r>
            <a:r>
              <a:rPr sz="2600" spc="145" dirty="0">
                <a:latin typeface="Verdana"/>
                <a:cs typeface="Verdana"/>
              </a:rPr>
              <a:t>be </a:t>
            </a:r>
            <a:r>
              <a:rPr sz="2600" dirty="0">
                <a:latin typeface="Verdana"/>
                <a:cs typeface="Verdana"/>
              </a:rPr>
              <a:t>any </a:t>
            </a:r>
            <a:r>
              <a:rPr sz="2600" spc="-100" dirty="0">
                <a:latin typeface="Verdana"/>
                <a:cs typeface="Verdana"/>
              </a:rPr>
              <a:t>arbitrary  </a:t>
            </a:r>
            <a:r>
              <a:rPr sz="2600" spc="-55" dirty="0">
                <a:latin typeface="Verdana"/>
                <a:cs typeface="Verdana"/>
              </a:rPr>
              <a:t>Python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object.</a:t>
            </a:r>
            <a:endParaRPr sz="2600">
              <a:latin typeface="Verdana"/>
              <a:cs typeface="Verdana"/>
            </a:endParaRPr>
          </a:p>
          <a:p>
            <a:pPr marL="241300" marR="5080" indent="-229235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65" dirty="0">
                <a:latin typeface="Verdana"/>
                <a:cs typeface="Verdana"/>
              </a:rPr>
              <a:t>Dictionaries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are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35" dirty="0">
                <a:latin typeface="Verdana"/>
                <a:cs typeface="Verdana"/>
              </a:rPr>
              <a:t>enclosed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by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curly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20" dirty="0">
                <a:latin typeface="Verdana"/>
                <a:cs typeface="Verdana"/>
              </a:rPr>
              <a:t>braces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220" dirty="0">
                <a:latin typeface="Verdana"/>
                <a:cs typeface="Verdana"/>
              </a:rPr>
              <a:t>(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b="1" spc="-965" dirty="0">
                <a:latin typeface="Verdana"/>
                <a:cs typeface="Verdana"/>
              </a:rPr>
              <a:t>{</a:t>
            </a:r>
            <a:r>
              <a:rPr sz="2600" b="1" spc="-155" dirty="0">
                <a:latin typeface="Verdana"/>
                <a:cs typeface="Verdana"/>
              </a:rPr>
              <a:t> </a:t>
            </a:r>
            <a:r>
              <a:rPr sz="2600" b="1" spc="-965" dirty="0">
                <a:latin typeface="Verdana"/>
                <a:cs typeface="Verdana"/>
              </a:rPr>
              <a:t>}</a:t>
            </a:r>
            <a:r>
              <a:rPr sz="2600" b="1" spc="-165" dirty="0">
                <a:latin typeface="Verdana"/>
                <a:cs typeface="Verdana"/>
              </a:rPr>
              <a:t> </a:t>
            </a:r>
            <a:r>
              <a:rPr sz="2600" spc="-220" dirty="0">
                <a:latin typeface="Verdana"/>
                <a:cs typeface="Verdana"/>
              </a:rPr>
              <a:t>)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100" dirty="0">
                <a:latin typeface="Verdana"/>
                <a:cs typeface="Verdana"/>
              </a:rPr>
              <a:t>and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60" dirty="0">
                <a:latin typeface="Verdana"/>
                <a:cs typeface="Verdana"/>
              </a:rPr>
              <a:t>values</a:t>
            </a:r>
            <a:r>
              <a:rPr sz="2600" spc="-215" dirty="0">
                <a:latin typeface="Verdana"/>
                <a:cs typeface="Verdana"/>
              </a:rPr>
              <a:t> </a:t>
            </a:r>
            <a:r>
              <a:rPr sz="2600" spc="160" dirty="0">
                <a:latin typeface="Verdana"/>
                <a:cs typeface="Verdana"/>
              </a:rPr>
              <a:t>can  </a:t>
            </a:r>
            <a:r>
              <a:rPr sz="2600" spc="145" dirty="0">
                <a:latin typeface="Verdana"/>
                <a:cs typeface="Verdana"/>
              </a:rPr>
              <a:t>be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assigned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100" dirty="0">
                <a:latin typeface="Verdana"/>
                <a:cs typeface="Verdana"/>
              </a:rPr>
              <a:t>and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75" dirty="0">
                <a:latin typeface="Verdana"/>
                <a:cs typeface="Verdana"/>
              </a:rPr>
              <a:t>accessed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110" dirty="0">
                <a:latin typeface="Verdana"/>
                <a:cs typeface="Verdana"/>
              </a:rPr>
              <a:t>using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square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20" dirty="0">
                <a:latin typeface="Verdana"/>
                <a:cs typeface="Verdana"/>
              </a:rPr>
              <a:t>braces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220" dirty="0">
                <a:latin typeface="Verdana"/>
                <a:cs typeface="Verdana"/>
              </a:rPr>
              <a:t>(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b="1" spc="-585" dirty="0">
                <a:latin typeface="Verdana"/>
                <a:cs typeface="Verdana"/>
              </a:rPr>
              <a:t>[]</a:t>
            </a:r>
            <a:r>
              <a:rPr sz="2600" b="1" spc="-455" dirty="0">
                <a:latin typeface="Verdana"/>
                <a:cs typeface="Verdana"/>
              </a:rPr>
              <a:t> </a:t>
            </a:r>
            <a:r>
              <a:rPr sz="2600" spc="-240" dirty="0">
                <a:latin typeface="Verdana"/>
                <a:cs typeface="Verdana"/>
              </a:rPr>
              <a:t>).</a:t>
            </a:r>
            <a:endParaRPr sz="2600">
              <a:latin typeface="Verdana"/>
              <a:cs typeface="Verdana"/>
            </a:endParaRPr>
          </a:p>
          <a:p>
            <a:pPr marL="241300" marR="189230" indent="-229235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65" dirty="0">
                <a:latin typeface="Verdana"/>
                <a:cs typeface="Verdana"/>
              </a:rPr>
              <a:t>Dictionaries </a:t>
            </a:r>
            <a:r>
              <a:rPr sz="2600" spc="50" dirty="0">
                <a:latin typeface="Verdana"/>
                <a:cs typeface="Verdana"/>
              </a:rPr>
              <a:t>have </a:t>
            </a:r>
            <a:r>
              <a:rPr sz="2600" spc="30" dirty="0">
                <a:latin typeface="Verdana"/>
                <a:cs typeface="Verdana"/>
              </a:rPr>
              <a:t>no </a:t>
            </a:r>
            <a:r>
              <a:rPr sz="2600" spc="120" dirty="0">
                <a:latin typeface="Verdana"/>
                <a:cs typeface="Verdana"/>
              </a:rPr>
              <a:t>concept </a:t>
            </a:r>
            <a:r>
              <a:rPr sz="2600" spc="15" dirty="0">
                <a:latin typeface="Verdana"/>
                <a:cs typeface="Verdana"/>
              </a:rPr>
              <a:t>of </a:t>
            </a:r>
            <a:r>
              <a:rPr sz="2600" spc="-45" dirty="0">
                <a:latin typeface="Verdana"/>
                <a:cs typeface="Verdana"/>
              </a:rPr>
              <a:t>order </a:t>
            </a:r>
            <a:r>
              <a:rPr sz="2600" spc="60" dirty="0">
                <a:latin typeface="Verdana"/>
                <a:cs typeface="Verdana"/>
              </a:rPr>
              <a:t>among </a:t>
            </a:r>
            <a:r>
              <a:rPr sz="2600" spc="-70" dirty="0">
                <a:latin typeface="Verdana"/>
                <a:cs typeface="Verdana"/>
              </a:rPr>
              <a:t>elements. </a:t>
            </a:r>
            <a:r>
              <a:rPr sz="2600" spc="-315" dirty="0">
                <a:latin typeface="Verdana"/>
                <a:cs typeface="Verdana"/>
              </a:rPr>
              <a:t>It </a:t>
            </a:r>
            <a:r>
              <a:rPr sz="2600" spc="-275" dirty="0">
                <a:latin typeface="Verdana"/>
                <a:cs typeface="Verdana"/>
              </a:rPr>
              <a:t>is  </a:t>
            </a:r>
            <a:r>
              <a:rPr sz="2600" spc="-20" dirty="0">
                <a:latin typeface="Verdana"/>
                <a:cs typeface="Verdana"/>
              </a:rPr>
              <a:t>incorrect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to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say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that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elements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are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“out</a:t>
            </a:r>
            <a:r>
              <a:rPr sz="2600" spc="-225" dirty="0">
                <a:latin typeface="Verdana"/>
                <a:cs typeface="Verdana"/>
              </a:rPr>
              <a:t> </a:t>
            </a:r>
            <a:r>
              <a:rPr sz="2600" spc="10" dirty="0">
                <a:latin typeface="Verdana"/>
                <a:cs typeface="Verdana"/>
              </a:rPr>
              <a:t>of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order”;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they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are  </a:t>
            </a:r>
            <a:r>
              <a:rPr sz="2600" spc="-140" dirty="0">
                <a:latin typeface="Verdana"/>
                <a:cs typeface="Verdana"/>
              </a:rPr>
              <a:t>simply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b="1" spc="-225" dirty="0">
                <a:latin typeface="Verdana"/>
                <a:cs typeface="Verdana"/>
              </a:rPr>
              <a:t>unordered</a:t>
            </a:r>
            <a:r>
              <a:rPr sz="2600" spc="-225" dirty="0">
                <a:latin typeface="Verdana"/>
                <a:cs typeface="Verdana"/>
              </a:rPr>
              <a:t>.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060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>
                <a:solidFill>
                  <a:srgbClr val="006FC0"/>
                </a:solidFill>
              </a:rPr>
              <a:t>Dictionaries</a:t>
            </a:r>
          </a:p>
        </p:txBody>
      </p:sp>
      <p:sp>
        <p:nvSpPr>
          <p:cNvPr id="3" name="object 3"/>
          <p:cNvSpPr/>
          <p:nvPr/>
        </p:nvSpPr>
        <p:spPr>
          <a:xfrm>
            <a:off x="718401" y="2072833"/>
            <a:ext cx="10804362" cy="2433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499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0" dirty="0">
                <a:solidFill>
                  <a:srgbClr val="006FC0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326370" cy="38055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78460" indent="-22923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5" dirty="0">
                <a:latin typeface="Verdana"/>
                <a:cs typeface="Verdana"/>
              </a:rPr>
              <a:t>Function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objects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70" dirty="0">
                <a:latin typeface="Verdana"/>
                <a:cs typeface="Verdana"/>
              </a:rPr>
              <a:t>created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by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function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definitions.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The  </a:t>
            </a:r>
            <a:r>
              <a:rPr sz="2800" spc="-75" dirty="0">
                <a:latin typeface="Verdana"/>
                <a:cs typeface="Verdana"/>
              </a:rPr>
              <a:t>only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operation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on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9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function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45" dirty="0">
                <a:latin typeface="Verdana"/>
                <a:cs typeface="Verdana"/>
              </a:rPr>
              <a:t>object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b="1" spc="-120" dirty="0">
                <a:latin typeface="Verdana"/>
                <a:cs typeface="Verdana"/>
              </a:rPr>
              <a:t>call</a:t>
            </a:r>
            <a:r>
              <a:rPr sz="2800" b="1" spc="-165" dirty="0">
                <a:latin typeface="Verdana"/>
                <a:cs typeface="Verdana"/>
              </a:rPr>
              <a:t> </a:t>
            </a:r>
            <a:r>
              <a:rPr sz="2800" b="1" spc="-409" dirty="0">
                <a:latin typeface="Verdana"/>
                <a:cs typeface="Verdana"/>
              </a:rPr>
              <a:t>it</a:t>
            </a:r>
            <a:r>
              <a:rPr sz="2800" spc="-409" dirty="0"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function-name</a:t>
            </a:r>
            <a:r>
              <a:rPr sz="2400" b="1" spc="-90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argument-list</a:t>
            </a:r>
            <a:r>
              <a:rPr sz="2400" b="1" spc="-90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241300" indent="-229235" algn="just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35" dirty="0">
                <a:latin typeface="Verdana"/>
                <a:cs typeface="Verdana"/>
              </a:rPr>
              <a:t>There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really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two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flavors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function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objects:</a:t>
            </a:r>
            <a:endParaRPr sz="2800">
              <a:latin typeface="Verdana"/>
              <a:cs typeface="Verdana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240" dirty="0">
                <a:solidFill>
                  <a:srgbClr val="843B0C"/>
                </a:solidFill>
                <a:latin typeface="Verdana"/>
                <a:cs typeface="Verdana"/>
              </a:rPr>
              <a:t>built-in</a:t>
            </a:r>
            <a:r>
              <a:rPr sz="2400" b="1" spc="-14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functions</a:t>
            </a:r>
            <a:endParaRPr sz="2400">
              <a:latin typeface="Verdana"/>
              <a:cs typeface="Verdana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210" dirty="0">
                <a:solidFill>
                  <a:srgbClr val="843B0C"/>
                </a:solidFill>
                <a:latin typeface="Verdana"/>
                <a:cs typeface="Verdana"/>
              </a:rPr>
              <a:t>user-defined</a:t>
            </a:r>
            <a:r>
              <a:rPr sz="2400" b="1" spc="-16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functions.</a:t>
            </a:r>
            <a:endParaRPr sz="2400">
              <a:latin typeface="Verdana"/>
              <a:cs typeface="Verdana"/>
            </a:endParaRPr>
          </a:p>
          <a:p>
            <a:pPr marL="241300" marR="5080" indent="-229235" algn="just">
              <a:lnSpc>
                <a:spcPts val="3020"/>
              </a:lnSpc>
              <a:spcBef>
                <a:spcPts val="104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5" dirty="0">
                <a:latin typeface="Verdana"/>
                <a:cs typeface="Verdana"/>
              </a:rPr>
              <a:t>Both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support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same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operation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(to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40" dirty="0">
                <a:latin typeface="Verdana"/>
                <a:cs typeface="Verdana"/>
              </a:rPr>
              <a:t>call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function),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but 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b="1" spc="-250" dirty="0">
                <a:latin typeface="Verdana"/>
                <a:cs typeface="Verdana"/>
              </a:rPr>
              <a:t>implementation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80" dirty="0">
                <a:latin typeface="Verdana"/>
                <a:cs typeface="Verdana"/>
              </a:rPr>
              <a:t>different, </a:t>
            </a:r>
            <a:r>
              <a:rPr sz="2800" spc="100" dirty="0">
                <a:latin typeface="Verdana"/>
                <a:cs typeface="Verdana"/>
              </a:rPr>
              <a:t>hence</a:t>
            </a:r>
            <a:r>
              <a:rPr sz="2800" spc="-6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60" dirty="0">
                <a:latin typeface="Verdana"/>
                <a:cs typeface="Verdana"/>
              </a:rPr>
              <a:t>different </a:t>
            </a:r>
            <a:r>
              <a:rPr sz="2800" spc="40" dirty="0">
                <a:latin typeface="Verdana"/>
                <a:cs typeface="Verdana"/>
              </a:rPr>
              <a:t>object  </a:t>
            </a:r>
            <a:r>
              <a:rPr sz="2800" spc="-110" dirty="0">
                <a:latin typeface="Verdana"/>
                <a:cs typeface="Verdana"/>
              </a:rPr>
              <a:t>types.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281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0" dirty="0">
                <a:solidFill>
                  <a:srgbClr val="006FC0"/>
                </a:solidFill>
              </a:rPr>
              <a:t>Met</a:t>
            </a:r>
            <a:r>
              <a:rPr spc="210" dirty="0">
                <a:solidFill>
                  <a:srgbClr val="006FC0"/>
                </a:solidFill>
              </a:rPr>
              <a:t>h</a:t>
            </a:r>
            <a:r>
              <a:rPr spc="20" dirty="0">
                <a:solidFill>
                  <a:srgbClr val="006FC0"/>
                </a:solidFill>
              </a:rPr>
              <a:t>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10165080" cy="29730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70" dirty="0">
                <a:latin typeface="Verdana"/>
                <a:cs typeface="Verdana"/>
              </a:rPr>
              <a:t>Method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function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defined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b="1" spc="-215" dirty="0">
                <a:latin typeface="Verdana"/>
                <a:cs typeface="Verdana"/>
              </a:rPr>
              <a:t>class</a:t>
            </a:r>
            <a:r>
              <a:rPr sz="2800" b="1" spc="-150" dirty="0">
                <a:latin typeface="Verdana"/>
                <a:cs typeface="Verdana"/>
              </a:rPr>
              <a:t> namespace.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35" dirty="0">
                <a:latin typeface="Verdana"/>
                <a:cs typeface="Verdana"/>
              </a:rPr>
              <a:t>There </a:t>
            </a:r>
            <a:r>
              <a:rPr sz="2800" spc="5" dirty="0">
                <a:latin typeface="Verdana"/>
                <a:cs typeface="Verdana"/>
              </a:rPr>
              <a:t>are </a:t>
            </a:r>
            <a:r>
              <a:rPr sz="2800" dirty="0">
                <a:latin typeface="Verdana"/>
                <a:cs typeface="Verdana"/>
              </a:rPr>
              <a:t>two</a:t>
            </a:r>
            <a:r>
              <a:rPr sz="2800" spc="-484" dirty="0">
                <a:latin typeface="Verdana"/>
                <a:cs typeface="Verdana"/>
              </a:rPr>
              <a:t> </a:t>
            </a:r>
            <a:r>
              <a:rPr sz="2800" spc="-165" dirty="0">
                <a:latin typeface="Verdana"/>
                <a:cs typeface="Verdana"/>
              </a:rPr>
              <a:t>flavors: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240" dirty="0">
                <a:solidFill>
                  <a:srgbClr val="843B0C"/>
                </a:solidFill>
                <a:latin typeface="Verdana"/>
                <a:cs typeface="Verdana"/>
              </a:rPr>
              <a:t>built-in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methods </a:t>
            </a:r>
            <a:r>
              <a:rPr sz="2400" spc="-70" dirty="0">
                <a:solidFill>
                  <a:srgbClr val="843B0C"/>
                </a:solidFill>
                <a:latin typeface="Verdana"/>
                <a:cs typeface="Verdana"/>
              </a:rPr>
              <a:t>(such </a:t>
            </a: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as </a:t>
            </a:r>
            <a:r>
              <a:rPr sz="2400" spc="30" dirty="0">
                <a:solidFill>
                  <a:srgbClr val="404040"/>
                </a:solidFill>
                <a:latin typeface="Verdana"/>
                <a:cs typeface="Verdana"/>
              </a:rPr>
              <a:t>append() </a:t>
            </a: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on</a:t>
            </a:r>
            <a:r>
              <a:rPr sz="2400" spc="-64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20" dirty="0">
                <a:solidFill>
                  <a:srgbClr val="404040"/>
                </a:solidFill>
                <a:latin typeface="Verdana"/>
                <a:cs typeface="Verdana"/>
              </a:rPr>
              <a:t>lists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spc="-180" dirty="0">
                <a:solidFill>
                  <a:srgbClr val="843B0C"/>
                </a:solidFill>
                <a:latin typeface="Verdana"/>
                <a:cs typeface="Verdana"/>
              </a:rPr>
              <a:t>class </a:t>
            </a:r>
            <a:r>
              <a:rPr sz="2400" b="1" spc="-185" dirty="0">
                <a:solidFill>
                  <a:srgbClr val="843B0C"/>
                </a:solidFill>
                <a:latin typeface="Verdana"/>
                <a:cs typeface="Verdana"/>
              </a:rPr>
              <a:t>instance</a:t>
            </a:r>
            <a:r>
              <a:rPr sz="2400" b="1" spc="-13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methods.</a:t>
            </a:r>
            <a:endParaRPr sz="24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0" dirty="0">
                <a:latin typeface="Verdana"/>
                <a:cs typeface="Verdana"/>
              </a:rPr>
              <a:t>Built-in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methods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are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described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types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that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support  </a:t>
            </a:r>
            <a:r>
              <a:rPr sz="2800" spc="-85" dirty="0">
                <a:latin typeface="Verdana"/>
                <a:cs typeface="Verdana"/>
              </a:rPr>
              <a:t>them.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330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>
                <a:solidFill>
                  <a:srgbClr val="006FC0"/>
                </a:solidFill>
              </a:rPr>
              <a:t>Define</a:t>
            </a:r>
            <a:r>
              <a:rPr spc="-285" dirty="0">
                <a:solidFill>
                  <a:srgbClr val="006FC0"/>
                </a:solidFill>
              </a:rPr>
              <a:t> </a:t>
            </a:r>
            <a:r>
              <a:rPr spc="40" dirty="0">
                <a:solidFill>
                  <a:srgbClr val="006FC0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6"/>
            <a:ext cx="10196830" cy="3973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40" dirty="0">
                <a:latin typeface="Verdana"/>
                <a:cs typeface="Verdana"/>
              </a:rPr>
              <a:t>Function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blocks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30" dirty="0">
                <a:latin typeface="Verdana"/>
                <a:cs typeface="Verdana"/>
              </a:rPr>
              <a:t>begin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with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keyword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b="1" spc="-180" dirty="0">
                <a:latin typeface="Verdana"/>
                <a:cs typeface="Verdana"/>
              </a:rPr>
              <a:t>def </a:t>
            </a:r>
            <a:r>
              <a:rPr sz="2600" spc="10" dirty="0">
                <a:latin typeface="Verdana"/>
                <a:cs typeface="Verdana"/>
              </a:rPr>
              <a:t>followed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by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endParaRPr sz="2600">
              <a:latin typeface="Verdana"/>
              <a:cs typeface="Verdana"/>
            </a:endParaRPr>
          </a:p>
          <a:p>
            <a:pPr marL="241300" algn="just">
              <a:lnSpc>
                <a:spcPct val="100000"/>
              </a:lnSpc>
            </a:pPr>
            <a:r>
              <a:rPr sz="2600" b="1" spc="-240" dirty="0">
                <a:latin typeface="Verdana"/>
                <a:cs typeface="Verdana"/>
              </a:rPr>
              <a:t>function </a:t>
            </a:r>
            <a:r>
              <a:rPr sz="2600" spc="50" dirty="0">
                <a:latin typeface="Verdana"/>
                <a:cs typeface="Verdana"/>
              </a:rPr>
              <a:t>name </a:t>
            </a:r>
            <a:r>
              <a:rPr sz="2600" spc="100" dirty="0">
                <a:latin typeface="Verdana"/>
                <a:cs typeface="Verdana"/>
              </a:rPr>
              <a:t>and</a:t>
            </a:r>
            <a:r>
              <a:rPr sz="2600" spc="-400" dirty="0">
                <a:latin typeface="Verdana"/>
                <a:cs typeface="Verdana"/>
              </a:rPr>
              <a:t> </a:t>
            </a:r>
            <a:r>
              <a:rPr sz="2600" b="1" spc="-240" dirty="0">
                <a:latin typeface="Verdana"/>
                <a:cs typeface="Verdana"/>
              </a:rPr>
              <a:t>parentheses</a:t>
            </a:r>
            <a:r>
              <a:rPr sz="2600" spc="-240" dirty="0">
                <a:latin typeface="Verdana"/>
                <a:cs typeface="Verdana"/>
              </a:rPr>
              <a:t>.</a:t>
            </a:r>
            <a:endParaRPr sz="2600">
              <a:latin typeface="Verdana"/>
              <a:cs typeface="Verdana"/>
            </a:endParaRPr>
          </a:p>
          <a:p>
            <a:pPr marL="241300" indent="-229235" algn="just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40" dirty="0">
                <a:latin typeface="Verdana"/>
                <a:cs typeface="Verdana"/>
              </a:rPr>
              <a:t>The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225" dirty="0">
                <a:latin typeface="Verdana"/>
                <a:cs typeface="Verdana"/>
              </a:rPr>
              <a:t>first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statement</a:t>
            </a:r>
            <a:r>
              <a:rPr sz="2600" spc="-229" dirty="0">
                <a:latin typeface="Verdana"/>
                <a:cs typeface="Verdana"/>
              </a:rPr>
              <a:t> </a:t>
            </a:r>
            <a:r>
              <a:rPr sz="2600" spc="15" dirty="0">
                <a:latin typeface="Verdana"/>
                <a:cs typeface="Verdana"/>
              </a:rPr>
              <a:t>of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215" dirty="0">
                <a:latin typeface="Verdana"/>
                <a:cs typeface="Verdana"/>
              </a:rPr>
              <a:t>a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function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155" dirty="0">
                <a:latin typeface="Verdana"/>
                <a:cs typeface="Verdana"/>
              </a:rPr>
              <a:t>can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145" dirty="0">
                <a:latin typeface="Verdana"/>
                <a:cs typeface="Verdana"/>
              </a:rPr>
              <a:t>be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75" dirty="0">
                <a:latin typeface="Verdana"/>
                <a:cs typeface="Verdana"/>
              </a:rPr>
              <a:t>an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optional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statement</a:t>
            </a:r>
            <a:endParaRPr sz="2600">
              <a:latin typeface="Verdana"/>
              <a:cs typeface="Verdana"/>
            </a:endParaRPr>
          </a:p>
          <a:p>
            <a:pPr marL="241300" algn="just">
              <a:lnSpc>
                <a:spcPct val="100000"/>
              </a:lnSpc>
              <a:spcBef>
                <a:spcPts val="15"/>
              </a:spcBef>
            </a:pPr>
            <a:r>
              <a:rPr sz="2600" spc="-320" dirty="0">
                <a:latin typeface="Verdana"/>
                <a:cs typeface="Verdana"/>
              </a:rPr>
              <a:t>-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20" dirty="0">
                <a:latin typeface="Verdana"/>
                <a:cs typeface="Verdana"/>
              </a:rPr>
              <a:t>documentation</a:t>
            </a:r>
            <a:r>
              <a:rPr sz="2600" spc="-229" dirty="0">
                <a:latin typeface="Verdana"/>
                <a:cs typeface="Verdana"/>
              </a:rPr>
              <a:t> </a:t>
            </a:r>
            <a:r>
              <a:rPr sz="2600" spc="-165" dirty="0">
                <a:latin typeface="Verdana"/>
                <a:cs typeface="Verdana"/>
              </a:rPr>
              <a:t>string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15" dirty="0">
                <a:latin typeface="Verdana"/>
                <a:cs typeface="Verdana"/>
              </a:rPr>
              <a:t>of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function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105" dirty="0">
                <a:latin typeface="Verdana"/>
                <a:cs typeface="Verdana"/>
              </a:rPr>
              <a:t>or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b="1" i="1" spc="-30" dirty="0">
                <a:latin typeface="TeX Gyre Adventor"/>
                <a:cs typeface="TeX Gyre Adventor"/>
              </a:rPr>
              <a:t>docstring</a:t>
            </a:r>
            <a:r>
              <a:rPr sz="2600" spc="-30" dirty="0">
                <a:latin typeface="Verdana"/>
                <a:cs typeface="Verdana"/>
              </a:rPr>
              <a:t>.</a:t>
            </a:r>
            <a:endParaRPr sz="2600">
              <a:latin typeface="Verdana"/>
              <a:cs typeface="Verdana"/>
            </a:endParaRPr>
          </a:p>
          <a:p>
            <a:pPr marL="241300" marR="464820" indent="-229235" algn="just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40" dirty="0">
                <a:latin typeface="Verdana"/>
                <a:cs typeface="Verdana"/>
              </a:rPr>
              <a:t>The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190" dirty="0">
                <a:latin typeface="Verdana"/>
                <a:cs typeface="Verdana"/>
              </a:rPr>
              <a:t>code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30" dirty="0">
                <a:latin typeface="Verdana"/>
                <a:cs typeface="Verdana"/>
              </a:rPr>
              <a:t>block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105" dirty="0">
                <a:latin typeface="Verdana"/>
                <a:cs typeface="Verdana"/>
              </a:rPr>
              <a:t>within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55" dirty="0">
                <a:latin typeface="Verdana"/>
                <a:cs typeface="Verdana"/>
              </a:rPr>
              <a:t>every</a:t>
            </a:r>
            <a:r>
              <a:rPr sz="2600" spc="-225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function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185" dirty="0">
                <a:latin typeface="Verdana"/>
                <a:cs typeface="Verdana"/>
              </a:rPr>
              <a:t>starts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with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215" dirty="0">
                <a:latin typeface="Verdana"/>
                <a:cs typeface="Verdana"/>
              </a:rPr>
              <a:t>a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colon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220" dirty="0">
                <a:latin typeface="Verdana"/>
                <a:cs typeface="Verdana"/>
              </a:rPr>
              <a:t>(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b="1" spc="-320" dirty="0">
                <a:latin typeface="Verdana"/>
                <a:cs typeface="Verdana"/>
              </a:rPr>
              <a:t>:</a:t>
            </a:r>
            <a:r>
              <a:rPr sz="2600" b="1" spc="-170" dirty="0">
                <a:latin typeface="Verdana"/>
                <a:cs typeface="Verdana"/>
              </a:rPr>
              <a:t> </a:t>
            </a:r>
            <a:r>
              <a:rPr sz="2600" spc="-220" dirty="0">
                <a:latin typeface="Verdana"/>
                <a:cs typeface="Verdana"/>
              </a:rPr>
              <a:t>)  </a:t>
            </a:r>
            <a:r>
              <a:rPr sz="2600" spc="100" dirty="0">
                <a:latin typeface="Verdana"/>
                <a:cs typeface="Verdana"/>
              </a:rPr>
              <a:t>and </a:t>
            </a:r>
            <a:r>
              <a:rPr sz="2600" spc="-270" dirty="0">
                <a:latin typeface="Verdana"/>
                <a:cs typeface="Verdana"/>
              </a:rPr>
              <a:t>is</a:t>
            </a:r>
            <a:r>
              <a:rPr sz="2600" spc="-495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indented.</a:t>
            </a:r>
            <a:endParaRPr sz="2600">
              <a:latin typeface="Verdana"/>
              <a:cs typeface="Verdana"/>
            </a:endParaRPr>
          </a:p>
          <a:p>
            <a:pPr marL="241300" marR="371475" indent="-229235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40" dirty="0">
                <a:latin typeface="Verdana"/>
                <a:cs typeface="Verdana"/>
              </a:rPr>
              <a:t>The </a:t>
            </a:r>
            <a:r>
              <a:rPr sz="2600" spc="-50" dirty="0">
                <a:latin typeface="Verdana"/>
                <a:cs typeface="Verdana"/>
              </a:rPr>
              <a:t>statement </a:t>
            </a:r>
            <a:r>
              <a:rPr sz="2600" b="1" spc="-330" dirty="0">
                <a:latin typeface="Verdana"/>
                <a:cs typeface="Verdana"/>
              </a:rPr>
              <a:t>return </a:t>
            </a:r>
            <a:r>
              <a:rPr sz="2600" b="1" spc="-300" dirty="0">
                <a:latin typeface="Verdana"/>
                <a:cs typeface="Verdana"/>
              </a:rPr>
              <a:t>[expression] </a:t>
            </a:r>
            <a:r>
              <a:rPr sz="2600" spc="-165" dirty="0">
                <a:latin typeface="Verdana"/>
                <a:cs typeface="Verdana"/>
              </a:rPr>
              <a:t>exits </a:t>
            </a:r>
            <a:r>
              <a:rPr sz="2600" spc="215" dirty="0">
                <a:latin typeface="Verdana"/>
                <a:cs typeface="Verdana"/>
              </a:rPr>
              <a:t>a </a:t>
            </a:r>
            <a:r>
              <a:rPr sz="2600" spc="-45" dirty="0">
                <a:latin typeface="Verdana"/>
                <a:cs typeface="Verdana"/>
              </a:rPr>
              <a:t>function,</a:t>
            </a:r>
            <a:r>
              <a:rPr sz="2600" spc="-56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optionally  </a:t>
            </a:r>
            <a:r>
              <a:rPr sz="2600" spc="-70" dirty="0">
                <a:latin typeface="Verdana"/>
                <a:cs typeface="Verdana"/>
              </a:rPr>
              <a:t>passing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110" dirty="0">
                <a:latin typeface="Verdana"/>
                <a:cs typeface="Verdana"/>
              </a:rPr>
              <a:t>back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an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100" dirty="0">
                <a:latin typeface="Verdana"/>
                <a:cs typeface="Verdana"/>
              </a:rPr>
              <a:t>expression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to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caller.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145" dirty="0">
                <a:latin typeface="Verdana"/>
                <a:cs typeface="Verdana"/>
              </a:rPr>
              <a:t>A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130" dirty="0">
                <a:latin typeface="Verdana"/>
                <a:cs typeface="Verdana"/>
              </a:rPr>
              <a:t>return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55" dirty="0">
                <a:latin typeface="Verdana"/>
                <a:cs typeface="Verdana"/>
              </a:rPr>
              <a:t>statement  </a:t>
            </a:r>
            <a:r>
              <a:rPr sz="2600" spc="-95" dirty="0">
                <a:latin typeface="Verdana"/>
                <a:cs typeface="Verdana"/>
              </a:rPr>
              <a:t>with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30" dirty="0">
                <a:latin typeface="Verdana"/>
                <a:cs typeface="Verdana"/>
              </a:rPr>
              <a:t>no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60" dirty="0">
                <a:latin typeface="Verdana"/>
                <a:cs typeface="Verdana"/>
              </a:rPr>
              <a:t>arguments</a:t>
            </a:r>
            <a:r>
              <a:rPr sz="2600" spc="-220" dirty="0">
                <a:latin typeface="Verdana"/>
                <a:cs typeface="Verdana"/>
              </a:rPr>
              <a:t> </a:t>
            </a:r>
            <a:r>
              <a:rPr sz="2600" spc="-275" dirty="0">
                <a:latin typeface="Verdana"/>
                <a:cs typeface="Verdana"/>
              </a:rPr>
              <a:t>is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same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70" dirty="0">
                <a:latin typeface="Verdana"/>
                <a:cs typeface="Verdana"/>
              </a:rPr>
              <a:t>as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135" dirty="0">
                <a:latin typeface="Verdana"/>
                <a:cs typeface="Verdana"/>
              </a:rPr>
              <a:t>return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b="1" spc="-195" dirty="0">
                <a:latin typeface="Verdana"/>
                <a:cs typeface="Verdana"/>
              </a:rPr>
              <a:t>None</a:t>
            </a:r>
            <a:r>
              <a:rPr sz="2600" spc="-195" dirty="0">
                <a:latin typeface="Verdana"/>
                <a:cs typeface="Verdana"/>
              </a:rPr>
              <a:t>.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330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>
                <a:solidFill>
                  <a:srgbClr val="006FC0"/>
                </a:solidFill>
              </a:rPr>
              <a:t>Define</a:t>
            </a:r>
            <a:r>
              <a:rPr spc="-285" dirty="0">
                <a:solidFill>
                  <a:srgbClr val="006FC0"/>
                </a:solidFill>
              </a:rPr>
              <a:t> </a:t>
            </a:r>
            <a:r>
              <a:rPr spc="40" dirty="0">
                <a:solidFill>
                  <a:srgbClr val="006FC0"/>
                </a:solidFill>
              </a:rPr>
              <a:t>Functions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033133" y="2279761"/>
            <a:ext cx="7481221" cy="1612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893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Arguments</a:t>
            </a:r>
            <a:r>
              <a:rPr spc="-310" dirty="0">
                <a:solidFill>
                  <a:srgbClr val="006FC0"/>
                </a:solidFill>
              </a:rPr>
              <a:t> </a:t>
            </a:r>
            <a:r>
              <a:rPr spc="-80" dirty="0">
                <a:solidFill>
                  <a:srgbClr val="006FC0"/>
                </a:solidFill>
              </a:rPr>
              <a:t>Passing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853"/>
            <a:ext cx="10139045" cy="37052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350" dirty="0">
                <a:latin typeface="Verdana"/>
                <a:cs typeface="Verdana"/>
              </a:rPr>
              <a:t>Pass </a:t>
            </a:r>
            <a:r>
              <a:rPr sz="2800" b="1" spc="-160" dirty="0">
                <a:latin typeface="Verdana"/>
                <a:cs typeface="Verdana"/>
              </a:rPr>
              <a:t>by </a:t>
            </a:r>
            <a:r>
              <a:rPr sz="2800" b="1" spc="-210" dirty="0">
                <a:latin typeface="Verdana"/>
                <a:cs typeface="Verdana"/>
              </a:rPr>
              <a:t>reference </a:t>
            </a:r>
            <a:r>
              <a:rPr sz="2800" b="1" spc="-345" dirty="0">
                <a:latin typeface="Verdana"/>
                <a:cs typeface="Verdana"/>
              </a:rPr>
              <a:t>vs</a:t>
            </a:r>
            <a:r>
              <a:rPr sz="2800" b="1" spc="45" dirty="0">
                <a:latin typeface="Verdana"/>
                <a:cs typeface="Verdana"/>
              </a:rPr>
              <a:t> </a:t>
            </a:r>
            <a:r>
              <a:rPr sz="2800" b="1" spc="-200" dirty="0">
                <a:latin typeface="Verdana"/>
                <a:cs typeface="Verdana"/>
              </a:rPr>
              <a:t>value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All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parameters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(arguments)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843B0C"/>
                </a:solidFill>
                <a:latin typeface="Verdana"/>
                <a:cs typeface="Verdana"/>
              </a:rPr>
              <a:t>language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are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passed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by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b="1" spc="-180" dirty="0">
                <a:solidFill>
                  <a:srgbClr val="843B0C"/>
                </a:solidFill>
                <a:latin typeface="Verdana"/>
                <a:cs typeface="Verdana"/>
              </a:rPr>
              <a:t>reference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698500" marR="122555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90" dirty="0">
                <a:solidFill>
                  <a:srgbClr val="843B0C"/>
                </a:solidFill>
                <a:latin typeface="Verdana"/>
                <a:cs typeface="Verdana"/>
              </a:rPr>
              <a:t>If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you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843B0C"/>
                </a:solidFill>
                <a:latin typeface="Verdana"/>
                <a:cs typeface="Verdana"/>
              </a:rPr>
              <a:t>change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what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parameter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843B0C"/>
                </a:solidFill>
                <a:latin typeface="Verdana"/>
                <a:cs typeface="Verdana"/>
              </a:rPr>
              <a:t>refers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5" dirty="0">
                <a:solidFill>
                  <a:srgbClr val="843B0C"/>
                </a:solidFill>
                <a:latin typeface="Verdana"/>
                <a:cs typeface="Verdana"/>
              </a:rPr>
              <a:t>within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843B0C"/>
                </a:solidFill>
                <a:latin typeface="Verdana"/>
                <a:cs typeface="Verdana"/>
              </a:rPr>
              <a:t>a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function,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  </a:t>
            </a:r>
            <a:r>
              <a:rPr sz="2400" spc="105" dirty="0">
                <a:solidFill>
                  <a:srgbClr val="843B0C"/>
                </a:solidFill>
                <a:latin typeface="Verdana"/>
                <a:cs typeface="Verdana"/>
              </a:rPr>
              <a:t>change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843B0C"/>
                </a:solidFill>
                <a:latin typeface="Verdana"/>
                <a:cs typeface="Verdana"/>
              </a:rPr>
              <a:t>also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843B0C"/>
                </a:solidFill>
                <a:latin typeface="Verdana"/>
                <a:cs typeface="Verdana"/>
              </a:rPr>
              <a:t>reflects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00" dirty="0">
                <a:solidFill>
                  <a:srgbClr val="843B0C"/>
                </a:solidFill>
                <a:latin typeface="Verdana"/>
                <a:cs typeface="Verdana"/>
              </a:rPr>
              <a:t>back</a:t>
            </a:r>
            <a:r>
              <a:rPr sz="2400" spc="-19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the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calling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843B0C"/>
                </a:solidFill>
                <a:latin typeface="Verdana"/>
                <a:cs typeface="Verdana"/>
              </a:rPr>
              <a:t>function.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90" dirty="0">
                <a:solidFill>
                  <a:srgbClr val="843B0C"/>
                </a:solidFill>
                <a:latin typeface="Verdana"/>
                <a:cs typeface="Verdana"/>
              </a:rPr>
              <a:t>If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you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assigned</a:t>
            </a:r>
            <a:r>
              <a:rPr sz="24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843B0C"/>
                </a:solidFill>
                <a:latin typeface="Verdana"/>
                <a:cs typeface="Verdana"/>
              </a:rPr>
              <a:t>new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value</a:t>
            </a:r>
            <a:r>
              <a:rPr sz="2400" spc="-22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to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43B0C"/>
                </a:solidFill>
                <a:latin typeface="Verdana"/>
                <a:cs typeface="Verdana"/>
              </a:rPr>
              <a:t>parameter</a:t>
            </a: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by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assign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operation</a:t>
            </a:r>
            <a:r>
              <a:rPr sz="2400" spc="-2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95" dirty="0">
                <a:solidFill>
                  <a:srgbClr val="843B0C"/>
                </a:solidFill>
                <a:latin typeface="Verdana"/>
                <a:cs typeface="Verdana"/>
              </a:rPr>
              <a:t>(=),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400" spc="35" dirty="0">
                <a:solidFill>
                  <a:srgbClr val="843B0C"/>
                </a:solidFill>
                <a:latin typeface="Verdana"/>
                <a:cs typeface="Verdana"/>
              </a:rPr>
              <a:t>new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843B0C"/>
                </a:solidFill>
                <a:latin typeface="Verdana"/>
                <a:cs typeface="Verdana"/>
              </a:rPr>
              <a:t>reference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will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843B0C"/>
                </a:solidFill>
                <a:latin typeface="Verdana"/>
                <a:cs typeface="Verdana"/>
              </a:rPr>
              <a:t>be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843B0C"/>
                </a:solidFill>
                <a:latin typeface="Verdana"/>
                <a:cs typeface="Verdana"/>
              </a:rPr>
              <a:t>created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843B0C"/>
                </a:solidFill>
                <a:latin typeface="Verdana"/>
                <a:cs typeface="Verdana"/>
              </a:rPr>
              <a:t>(</a:t>
            </a:r>
            <a:r>
              <a:rPr sz="2400" spc="-15" dirty="0">
                <a:solidFill>
                  <a:srgbClr val="FF0000"/>
                </a:solidFill>
                <a:latin typeface="Verdana"/>
                <a:cs typeface="Verdana"/>
              </a:rPr>
              <a:t>call</a:t>
            </a:r>
            <a:r>
              <a:rPr sz="2400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by</a:t>
            </a:r>
            <a:r>
              <a:rPr sz="24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!!!)</a:t>
            </a:r>
            <a:endParaRPr sz="2400">
              <a:latin typeface="Verdana"/>
              <a:cs typeface="Verdana"/>
            </a:endParaRPr>
          </a:p>
          <a:p>
            <a:pPr marL="698500" marR="88519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70" dirty="0">
                <a:solidFill>
                  <a:srgbClr val="843B0C"/>
                </a:solidFill>
                <a:latin typeface="Verdana"/>
                <a:cs typeface="Verdana"/>
              </a:rPr>
              <a:t>So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843B0C"/>
                </a:solidFill>
                <a:latin typeface="Verdana"/>
                <a:cs typeface="Verdana"/>
              </a:rPr>
              <a:t>python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843B0C"/>
                </a:solidFill>
                <a:latin typeface="Verdana"/>
                <a:cs typeface="Verdana"/>
              </a:rPr>
              <a:t>provide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two</a:t>
            </a:r>
            <a:r>
              <a:rPr sz="2400" spc="-17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semantic</a:t>
            </a:r>
            <a:r>
              <a:rPr sz="24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by</a:t>
            </a:r>
            <a:r>
              <a:rPr sz="24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843B0C"/>
                </a:solidFill>
                <a:latin typeface="Verdana"/>
                <a:cs typeface="Verdana"/>
              </a:rPr>
              <a:t>one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843B0C"/>
                </a:solidFill>
                <a:latin typeface="Verdana"/>
                <a:cs typeface="Verdana"/>
              </a:rPr>
              <a:t>syntax</a:t>
            </a:r>
            <a:r>
              <a:rPr sz="24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843B0C"/>
                </a:solidFill>
                <a:latin typeface="Verdana"/>
                <a:cs typeface="Verdana"/>
              </a:rPr>
              <a:t>in</a:t>
            </a:r>
            <a:r>
              <a:rPr sz="2400" spc="-21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43B0C"/>
                </a:solidFill>
                <a:latin typeface="Verdana"/>
                <a:cs typeface="Verdana"/>
              </a:rPr>
              <a:t>function  </a:t>
            </a:r>
            <a:r>
              <a:rPr sz="2400" spc="-75" dirty="0">
                <a:solidFill>
                  <a:srgbClr val="843B0C"/>
                </a:solidFill>
                <a:latin typeface="Verdana"/>
                <a:cs typeface="Verdana"/>
              </a:rPr>
              <a:t>calling!!!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893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Arguments</a:t>
            </a:r>
            <a:r>
              <a:rPr spc="-310" dirty="0">
                <a:solidFill>
                  <a:srgbClr val="006FC0"/>
                </a:solidFill>
              </a:rPr>
              <a:t> </a:t>
            </a:r>
            <a:r>
              <a:rPr spc="-80" dirty="0">
                <a:solidFill>
                  <a:srgbClr val="006FC0"/>
                </a:solidFill>
              </a:rPr>
              <a:t>Passing</a:t>
            </a:r>
          </a:p>
        </p:txBody>
      </p:sp>
      <p:sp>
        <p:nvSpPr>
          <p:cNvPr id="3" name="object 3"/>
          <p:cNvSpPr/>
          <p:nvPr/>
        </p:nvSpPr>
        <p:spPr>
          <a:xfrm>
            <a:off x="882859" y="2102591"/>
            <a:ext cx="7521271" cy="35268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893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Arguments</a:t>
            </a:r>
            <a:r>
              <a:rPr spc="-310" dirty="0">
                <a:solidFill>
                  <a:srgbClr val="006FC0"/>
                </a:solidFill>
              </a:rPr>
              <a:t> </a:t>
            </a:r>
            <a:r>
              <a:rPr spc="-80" dirty="0">
                <a:solidFill>
                  <a:srgbClr val="006FC0"/>
                </a:solidFill>
              </a:rPr>
              <a:t>Passing</a:t>
            </a:r>
          </a:p>
        </p:txBody>
      </p:sp>
      <p:sp>
        <p:nvSpPr>
          <p:cNvPr id="3" name="object 3"/>
          <p:cNvSpPr/>
          <p:nvPr/>
        </p:nvSpPr>
        <p:spPr>
          <a:xfrm>
            <a:off x="869412" y="2112995"/>
            <a:ext cx="8781083" cy="355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460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Arguments</a:t>
            </a:r>
            <a:r>
              <a:rPr spc="-310" dirty="0">
                <a:solidFill>
                  <a:srgbClr val="006FC0"/>
                </a:solidFill>
              </a:rPr>
              <a:t> </a:t>
            </a:r>
            <a:r>
              <a:rPr spc="-60" dirty="0">
                <a:solidFill>
                  <a:srgbClr val="006FC0"/>
                </a:solidFill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9559925" cy="3094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5" dirty="0">
                <a:latin typeface="Verdana"/>
                <a:cs typeface="Verdana"/>
              </a:rPr>
              <a:t>You</a:t>
            </a:r>
            <a:r>
              <a:rPr sz="2800" spc="-240" dirty="0">
                <a:latin typeface="Verdana"/>
                <a:cs typeface="Verdana"/>
              </a:rPr>
              <a:t> </a:t>
            </a:r>
            <a:r>
              <a:rPr sz="2800" spc="170" dirty="0">
                <a:latin typeface="Verdana"/>
                <a:cs typeface="Verdana"/>
              </a:rPr>
              <a:t>can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40" dirty="0">
                <a:latin typeface="Verdana"/>
                <a:cs typeface="Verdana"/>
              </a:rPr>
              <a:t>call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function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by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using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following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types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  </a:t>
            </a:r>
            <a:r>
              <a:rPr sz="2800" spc="-70" dirty="0">
                <a:latin typeface="Verdana"/>
                <a:cs typeface="Verdana"/>
              </a:rPr>
              <a:t>formal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arguments: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35" dirty="0">
                <a:solidFill>
                  <a:srgbClr val="843B0C"/>
                </a:solidFill>
                <a:latin typeface="Verdana"/>
                <a:cs typeface="Verdana"/>
              </a:rPr>
              <a:t>Required</a:t>
            </a:r>
            <a:r>
              <a:rPr sz="2800" spc="-204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843B0C"/>
                </a:solidFill>
                <a:latin typeface="Verdana"/>
                <a:cs typeface="Verdana"/>
              </a:rPr>
              <a:t>arguments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5" dirty="0">
                <a:solidFill>
                  <a:srgbClr val="843B0C"/>
                </a:solidFill>
                <a:latin typeface="Verdana"/>
                <a:cs typeface="Verdana"/>
              </a:rPr>
              <a:t>Keyword</a:t>
            </a:r>
            <a:r>
              <a:rPr sz="2800" spc="-21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800" spc="-75" dirty="0">
                <a:solidFill>
                  <a:srgbClr val="843B0C"/>
                </a:solidFill>
                <a:latin typeface="Verdana"/>
                <a:cs typeface="Verdana"/>
              </a:rPr>
              <a:t>arguments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0" dirty="0">
                <a:solidFill>
                  <a:srgbClr val="843B0C"/>
                </a:solidFill>
                <a:latin typeface="Verdana"/>
                <a:cs typeface="Verdana"/>
              </a:rPr>
              <a:t>Default</a:t>
            </a:r>
            <a:r>
              <a:rPr sz="2800" spc="-19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800" spc="-75" dirty="0">
                <a:solidFill>
                  <a:srgbClr val="843B0C"/>
                </a:solidFill>
                <a:latin typeface="Verdana"/>
                <a:cs typeface="Verdana"/>
              </a:rPr>
              <a:t>arguments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0" dirty="0">
                <a:solidFill>
                  <a:srgbClr val="843B0C"/>
                </a:solidFill>
                <a:latin typeface="Verdana"/>
                <a:cs typeface="Verdana"/>
              </a:rPr>
              <a:t>Variable-length</a:t>
            </a:r>
            <a:r>
              <a:rPr sz="2800" spc="-18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800" spc="-70" dirty="0">
                <a:solidFill>
                  <a:srgbClr val="843B0C"/>
                </a:solidFill>
                <a:latin typeface="Verdana"/>
                <a:cs typeface="Verdana"/>
              </a:rPr>
              <a:t>arguments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460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006FC0"/>
                </a:solidFill>
              </a:rPr>
              <a:t>Arguments</a:t>
            </a:r>
            <a:r>
              <a:rPr spc="-310" dirty="0">
                <a:solidFill>
                  <a:srgbClr val="006FC0"/>
                </a:solidFill>
              </a:rPr>
              <a:t> </a:t>
            </a:r>
            <a:r>
              <a:rPr spc="-60" dirty="0">
                <a:solidFill>
                  <a:srgbClr val="006FC0"/>
                </a:solidFill>
              </a:rPr>
              <a:t>Types</a:t>
            </a:r>
          </a:p>
        </p:txBody>
      </p:sp>
      <p:sp>
        <p:nvSpPr>
          <p:cNvPr id="3" name="object 3"/>
          <p:cNvSpPr/>
          <p:nvPr/>
        </p:nvSpPr>
        <p:spPr>
          <a:xfrm>
            <a:off x="879476" y="2353889"/>
            <a:ext cx="6552594" cy="3034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95259" y="2355914"/>
            <a:ext cx="3516049" cy="33561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465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5" dirty="0">
                <a:solidFill>
                  <a:srgbClr val="006FC0"/>
                </a:solidFill>
              </a:rPr>
              <a:t>Nested</a:t>
            </a:r>
            <a:r>
              <a:rPr spc="-260" dirty="0">
                <a:solidFill>
                  <a:srgbClr val="006FC0"/>
                </a:solidFill>
              </a:rPr>
              <a:t> </a:t>
            </a:r>
            <a:r>
              <a:rPr spc="40" dirty="0">
                <a:solidFill>
                  <a:srgbClr val="006FC0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10081895" cy="309499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45" dirty="0">
                <a:latin typeface="Verdana"/>
                <a:cs typeface="Verdana"/>
              </a:rPr>
              <a:t>Function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scopes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(and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class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scopes)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170" dirty="0">
                <a:latin typeface="Verdana"/>
                <a:cs typeface="Verdana"/>
              </a:rPr>
              <a:t>can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50" dirty="0">
                <a:latin typeface="Verdana"/>
                <a:cs typeface="Verdana"/>
              </a:rPr>
              <a:t>be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nested.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114" dirty="0">
                <a:latin typeface="Verdana"/>
                <a:cs typeface="Verdana"/>
              </a:rPr>
              <a:t>using </a:t>
            </a:r>
            <a:r>
              <a:rPr sz="2800" spc="-55" dirty="0">
                <a:solidFill>
                  <a:srgbClr val="FF0000"/>
                </a:solidFill>
                <a:latin typeface="Verdana"/>
                <a:cs typeface="Verdana"/>
              </a:rPr>
              <a:t>static</a:t>
            </a:r>
            <a:r>
              <a:rPr sz="2800" spc="-4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FF0000"/>
                </a:solidFill>
                <a:latin typeface="Verdana"/>
                <a:cs typeface="Verdana"/>
              </a:rPr>
              <a:t>scope.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85" dirty="0">
                <a:latin typeface="Verdana"/>
                <a:cs typeface="Verdana"/>
              </a:rPr>
              <a:t>Inner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function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14" dirty="0">
                <a:latin typeface="Verdana"/>
                <a:cs typeface="Verdana"/>
              </a:rPr>
              <a:t>can’t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access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variables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Verdana"/>
                <a:cs typeface="Verdana"/>
              </a:rPr>
              <a:t>reference</a:t>
            </a:r>
            <a:r>
              <a:rPr sz="28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80" dirty="0">
                <a:latin typeface="Verdana"/>
                <a:cs typeface="Verdana"/>
              </a:rPr>
              <a:t>exist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  </a:t>
            </a:r>
            <a:r>
              <a:rPr sz="2800" spc="-60" dirty="0">
                <a:latin typeface="Verdana"/>
                <a:cs typeface="Verdana"/>
              </a:rPr>
              <a:t>outer </a:t>
            </a:r>
            <a:r>
              <a:rPr sz="2800" spc="-25" dirty="0">
                <a:latin typeface="Verdana"/>
                <a:cs typeface="Verdana"/>
              </a:rPr>
              <a:t>function </a:t>
            </a:r>
            <a:r>
              <a:rPr sz="2800" spc="-30" dirty="0">
                <a:latin typeface="Verdana"/>
                <a:cs typeface="Verdana"/>
              </a:rPr>
              <a:t>but </a:t>
            </a:r>
            <a:r>
              <a:rPr sz="2800" spc="-70" dirty="0">
                <a:solidFill>
                  <a:srgbClr val="FF0000"/>
                </a:solidFill>
                <a:latin typeface="Verdana"/>
                <a:cs typeface="Verdana"/>
              </a:rPr>
              <a:t>R-Value</a:t>
            </a:r>
            <a:r>
              <a:rPr sz="2800" spc="-6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allowed!</a:t>
            </a:r>
            <a:endParaRPr sz="2800">
              <a:latin typeface="Verdana"/>
              <a:cs typeface="Verdana"/>
            </a:endParaRPr>
          </a:p>
          <a:p>
            <a:pPr marL="241300" marR="117348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35" dirty="0">
                <a:solidFill>
                  <a:srgbClr val="FF0000"/>
                </a:solidFill>
                <a:latin typeface="Verdana"/>
                <a:cs typeface="Verdana"/>
              </a:rPr>
              <a:t>nonlocal</a:t>
            </a:r>
            <a:r>
              <a:rPr sz="28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keyword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use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access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outer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variables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so </a:t>
            </a:r>
            <a:r>
              <a:rPr sz="2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FF0000"/>
                </a:solidFill>
                <a:latin typeface="Verdana"/>
                <a:cs typeface="Verdana"/>
              </a:rPr>
              <a:t>dynamic </a:t>
            </a:r>
            <a:r>
              <a:rPr sz="2800" spc="80" dirty="0">
                <a:solidFill>
                  <a:srgbClr val="FF0000"/>
                </a:solidFill>
                <a:latin typeface="Verdana"/>
                <a:cs typeface="Verdana"/>
              </a:rPr>
              <a:t>scope </a:t>
            </a:r>
            <a:r>
              <a:rPr sz="2800" spc="-150" dirty="0">
                <a:latin typeface="Verdana"/>
                <a:cs typeface="Verdana"/>
              </a:rPr>
              <a:t>will</a:t>
            </a:r>
            <a:r>
              <a:rPr sz="2800" spc="-735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provide!!!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465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5" dirty="0">
                <a:solidFill>
                  <a:srgbClr val="006FC0"/>
                </a:solidFill>
              </a:rPr>
              <a:t>Nested</a:t>
            </a:r>
            <a:r>
              <a:rPr spc="-260" dirty="0">
                <a:solidFill>
                  <a:srgbClr val="006FC0"/>
                </a:solidFill>
              </a:rPr>
              <a:t> </a:t>
            </a:r>
            <a:r>
              <a:rPr spc="40" dirty="0">
                <a:solidFill>
                  <a:srgbClr val="006FC0"/>
                </a:solidFill>
              </a:rPr>
              <a:t>Functions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909827" y="1938527"/>
            <a:ext cx="3159938" cy="3601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695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>
                <a:solidFill>
                  <a:srgbClr val="006FC0"/>
                </a:solidFill>
              </a:rPr>
              <a:t>First-Class</a:t>
            </a:r>
            <a:r>
              <a:rPr spc="-285" dirty="0">
                <a:solidFill>
                  <a:srgbClr val="006FC0"/>
                </a:solidFill>
              </a:rPr>
              <a:t> </a:t>
            </a:r>
            <a:r>
              <a:rPr spc="65" dirty="0">
                <a:solidFill>
                  <a:srgbClr val="006FC0"/>
                </a:solidFill>
              </a:rPr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94722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95" dirty="0">
                <a:latin typeface="Verdana"/>
                <a:cs typeface="Verdana"/>
              </a:rPr>
              <a:t>Almost </a:t>
            </a:r>
            <a:r>
              <a:rPr sz="2800" spc="-70" dirty="0">
                <a:latin typeface="Verdana"/>
                <a:cs typeface="Verdana"/>
              </a:rPr>
              <a:t>everything </a:t>
            </a:r>
            <a:r>
              <a:rPr sz="2800" spc="-40" dirty="0">
                <a:latin typeface="Verdana"/>
                <a:cs typeface="Verdana"/>
              </a:rPr>
              <a:t>(including </a:t>
            </a:r>
            <a:r>
              <a:rPr sz="2800" b="1" spc="-275" dirty="0">
                <a:latin typeface="Verdana"/>
                <a:cs typeface="Verdana"/>
              </a:rPr>
              <a:t>functions</a:t>
            </a:r>
            <a:r>
              <a:rPr sz="2800" spc="-275" dirty="0">
                <a:latin typeface="Verdana"/>
                <a:cs typeface="Verdana"/>
              </a:rPr>
              <a:t>, </a:t>
            </a:r>
            <a:r>
              <a:rPr sz="2800" spc="-110" dirty="0">
                <a:latin typeface="Verdana"/>
                <a:cs typeface="Verdana"/>
              </a:rPr>
              <a:t>classes, </a:t>
            </a:r>
            <a:r>
              <a:rPr sz="2800" spc="20" dirty="0">
                <a:latin typeface="Verdana"/>
                <a:cs typeface="Verdana"/>
              </a:rPr>
              <a:t>etc)</a:t>
            </a:r>
            <a:r>
              <a:rPr sz="2800" spc="-58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  </a:t>
            </a: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229" dirty="0">
                <a:latin typeface="Verdana"/>
                <a:cs typeface="Verdana"/>
              </a:rPr>
              <a:t>a </a:t>
            </a:r>
            <a:r>
              <a:rPr sz="2800" b="1" spc="-320" dirty="0">
                <a:latin typeface="Verdana"/>
                <a:cs typeface="Verdana"/>
              </a:rPr>
              <a:t>ﬁrst-class</a:t>
            </a:r>
            <a:r>
              <a:rPr sz="2800" b="1" spc="-670" dirty="0">
                <a:latin typeface="Verdana"/>
                <a:cs typeface="Verdana"/>
              </a:rPr>
              <a:t> </a:t>
            </a:r>
            <a:r>
              <a:rPr sz="2800" b="1" spc="-190" dirty="0">
                <a:latin typeface="Verdana"/>
                <a:cs typeface="Verdana"/>
              </a:rPr>
              <a:t>object</a:t>
            </a:r>
            <a:r>
              <a:rPr sz="2800" spc="-190" dirty="0">
                <a:latin typeface="Verdana"/>
                <a:cs typeface="Verdana"/>
              </a:rPr>
              <a:t>!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839" y="3171718"/>
            <a:ext cx="6354085" cy="123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3585" y="4598091"/>
            <a:ext cx="5675729" cy="1138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4695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>
                <a:solidFill>
                  <a:srgbClr val="006FC0"/>
                </a:solidFill>
              </a:rPr>
              <a:t>First-Class</a:t>
            </a:r>
            <a:r>
              <a:rPr spc="-285" dirty="0">
                <a:solidFill>
                  <a:srgbClr val="006FC0"/>
                </a:solidFill>
              </a:rPr>
              <a:t> </a:t>
            </a:r>
            <a:r>
              <a:rPr spc="65" dirty="0">
                <a:solidFill>
                  <a:srgbClr val="006FC0"/>
                </a:solidFill>
              </a:rPr>
              <a:t>Objects</a:t>
            </a:r>
          </a:p>
        </p:txBody>
      </p:sp>
      <p:sp>
        <p:nvSpPr>
          <p:cNvPr id="3" name="object 3"/>
          <p:cNvSpPr/>
          <p:nvPr/>
        </p:nvSpPr>
        <p:spPr>
          <a:xfrm>
            <a:off x="1207863" y="2107868"/>
            <a:ext cx="3314137" cy="35475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1315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>
                <a:solidFill>
                  <a:srgbClr val="006FC0"/>
                </a:solidFill>
              </a:rPr>
              <a:t>Object-Oriented</a:t>
            </a:r>
            <a:r>
              <a:rPr spc="-295" dirty="0">
                <a:solidFill>
                  <a:srgbClr val="006FC0"/>
                </a:solidFill>
              </a:rPr>
              <a:t> </a:t>
            </a:r>
            <a:r>
              <a:rPr spc="95" dirty="0">
                <a:solidFill>
                  <a:srgbClr val="006FC0"/>
                </a:solidFill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8997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80" dirty="0">
                <a:latin typeface="Verdana"/>
                <a:cs typeface="Verdana"/>
              </a:rPr>
              <a:t>support </a:t>
            </a:r>
            <a:r>
              <a:rPr sz="2800" spc="-20" dirty="0">
                <a:latin typeface="Verdana"/>
                <a:cs typeface="Verdana"/>
              </a:rPr>
              <a:t>object-oriented </a:t>
            </a:r>
            <a:r>
              <a:rPr sz="2800" spc="-105" dirty="0">
                <a:latin typeface="Verdana"/>
                <a:cs typeface="Verdana"/>
              </a:rPr>
              <a:t>(class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71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objects)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512947"/>
            <a:ext cx="635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80" dirty="0">
                <a:latin typeface="Verdana"/>
                <a:cs typeface="Verdana"/>
              </a:rPr>
              <a:t>support </a:t>
            </a:r>
            <a:r>
              <a:rPr sz="2800" spc="-85" dirty="0">
                <a:solidFill>
                  <a:srgbClr val="FF0000"/>
                </a:solidFill>
                <a:latin typeface="Verdana"/>
                <a:cs typeface="Verdana"/>
              </a:rPr>
              <a:t>multiple</a:t>
            </a:r>
            <a:r>
              <a:rPr sz="2800" spc="-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Verdana"/>
                <a:cs typeface="Verdana"/>
              </a:rPr>
              <a:t>inheritance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7675" y="2505455"/>
            <a:ext cx="7194804" cy="1078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57877" y="4209524"/>
            <a:ext cx="9514437" cy="897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61315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>
                <a:solidFill>
                  <a:srgbClr val="006FC0"/>
                </a:solidFill>
              </a:rPr>
              <a:t>Object-Oriented</a:t>
            </a:r>
            <a:r>
              <a:rPr spc="-295" dirty="0">
                <a:solidFill>
                  <a:srgbClr val="006FC0"/>
                </a:solidFill>
              </a:rPr>
              <a:t> </a:t>
            </a:r>
            <a:r>
              <a:rPr spc="95" dirty="0">
                <a:solidFill>
                  <a:srgbClr val="006FC0"/>
                </a:solidFill>
              </a:rPr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1411066" y="1580844"/>
            <a:ext cx="3830128" cy="43776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10240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>
                <a:solidFill>
                  <a:srgbClr val="006FC0"/>
                </a:solidFill>
              </a:rPr>
              <a:t>Destroying </a:t>
            </a:r>
            <a:r>
              <a:rPr spc="65" dirty="0">
                <a:solidFill>
                  <a:srgbClr val="006FC0"/>
                </a:solidFill>
              </a:rPr>
              <a:t>Objects </a:t>
            </a:r>
            <a:r>
              <a:rPr spc="-40" dirty="0">
                <a:solidFill>
                  <a:srgbClr val="006FC0"/>
                </a:solidFill>
              </a:rPr>
              <a:t>(Garbage</a:t>
            </a:r>
            <a:r>
              <a:rPr spc="-865" dirty="0">
                <a:solidFill>
                  <a:srgbClr val="006FC0"/>
                </a:solidFill>
              </a:rPr>
              <a:t> </a:t>
            </a:r>
            <a:r>
              <a:rPr spc="80" dirty="0">
                <a:solidFill>
                  <a:srgbClr val="006FC0"/>
                </a:solidFill>
              </a:rPr>
              <a:t>Collection)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10314305" cy="3948429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5" dirty="0">
                <a:latin typeface="Verdana"/>
                <a:cs typeface="Verdana"/>
              </a:rPr>
              <a:t>Allocating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freeing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memory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85" dirty="0">
                <a:latin typeface="Verdana"/>
                <a:cs typeface="Verdana"/>
              </a:rPr>
              <a:t>is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FF0000"/>
                </a:solidFill>
                <a:latin typeface="Verdana"/>
                <a:cs typeface="Verdana"/>
              </a:rPr>
              <a:t>not</a:t>
            </a:r>
            <a:r>
              <a:rPr sz="28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14" dirty="0">
                <a:solidFill>
                  <a:srgbClr val="FF0000"/>
                </a:solidFill>
                <a:latin typeface="Verdana"/>
                <a:cs typeface="Verdana"/>
              </a:rPr>
              <a:t>your</a:t>
            </a:r>
            <a:r>
              <a:rPr sz="2800" spc="-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FF0000"/>
                </a:solidFill>
                <a:latin typeface="Verdana"/>
                <a:cs typeface="Verdana"/>
              </a:rPr>
              <a:t>problem</a:t>
            </a:r>
            <a:r>
              <a:rPr sz="2800" spc="-45" dirty="0">
                <a:latin typeface="Verdana"/>
                <a:cs typeface="Verdana"/>
              </a:rPr>
              <a:t>!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170" dirty="0">
                <a:latin typeface="Verdana"/>
                <a:cs typeface="Verdana"/>
              </a:rPr>
              <a:t>uses </a:t>
            </a:r>
            <a:r>
              <a:rPr sz="2800" spc="5" dirty="0">
                <a:solidFill>
                  <a:srgbClr val="FF0000"/>
                </a:solidFill>
                <a:latin typeface="Verdana"/>
                <a:cs typeface="Verdana"/>
              </a:rPr>
              <a:t>reference</a:t>
            </a:r>
            <a:r>
              <a:rPr sz="2800" spc="-3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Verdana"/>
                <a:cs typeface="Verdana"/>
              </a:rPr>
              <a:t>counting</a:t>
            </a:r>
            <a:r>
              <a:rPr sz="2800" spc="-20" dirty="0">
                <a:solidFill>
                  <a:srgbClr val="0D0D0D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40" dirty="0">
                <a:latin typeface="Verdana"/>
                <a:cs typeface="Verdana"/>
              </a:rPr>
              <a:t>An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object's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reference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count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FF0000"/>
                </a:solidFill>
                <a:latin typeface="Verdana"/>
                <a:cs typeface="Verdana"/>
              </a:rPr>
              <a:t>increases</a:t>
            </a:r>
            <a:r>
              <a:rPr sz="28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when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35" dirty="0">
                <a:latin typeface="Verdana"/>
                <a:cs typeface="Verdana"/>
              </a:rPr>
              <a:t>it's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assigned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  </a:t>
            </a:r>
            <a:r>
              <a:rPr sz="2800" spc="35" dirty="0">
                <a:latin typeface="Verdana"/>
                <a:cs typeface="Verdana"/>
              </a:rPr>
              <a:t>new </a:t>
            </a:r>
            <a:r>
              <a:rPr sz="2800" spc="50" dirty="0">
                <a:latin typeface="Verdana"/>
                <a:cs typeface="Verdana"/>
              </a:rPr>
              <a:t>name </a:t>
            </a:r>
            <a:r>
              <a:rPr sz="2800" spc="-114" dirty="0">
                <a:latin typeface="Verdana"/>
                <a:cs typeface="Verdana"/>
              </a:rPr>
              <a:t>or </a:t>
            </a:r>
            <a:r>
              <a:rPr sz="2800" spc="135" dirty="0">
                <a:latin typeface="Verdana"/>
                <a:cs typeface="Verdana"/>
              </a:rPr>
              <a:t>placed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dirty="0">
                <a:latin typeface="Verdana"/>
                <a:cs typeface="Verdana"/>
              </a:rPr>
              <a:t>container </a:t>
            </a:r>
            <a:r>
              <a:rPr sz="2800" spc="-240" dirty="0">
                <a:latin typeface="Verdana"/>
                <a:cs typeface="Verdana"/>
              </a:rPr>
              <a:t>(list, </a:t>
            </a:r>
            <a:r>
              <a:rPr sz="2800" spc="-65" dirty="0">
                <a:latin typeface="Verdana"/>
                <a:cs typeface="Verdana"/>
              </a:rPr>
              <a:t>tuple, </a:t>
            </a:r>
            <a:r>
              <a:rPr sz="2800" spc="-35" dirty="0">
                <a:latin typeface="Verdana"/>
                <a:cs typeface="Verdana"/>
              </a:rPr>
              <a:t>etc). </a:t>
            </a:r>
            <a:r>
              <a:rPr sz="2800" spc="-155" dirty="0">
                <a:latin typeface="Verdana"/>
                <a:cs typeface="Verdana"/>
              </a:rPr>
              <a:t>The  </a:t>
            </a:r>
            <a:r>
              <a:rPr sz="2800" spc="-40" dirty="0">
                <a:latin typeface="Verdana"/>
                <a:cs typeface="Verdana"/>
              </a:rPr>
              <a:t>object's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reference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count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Verdana"/>
                <a:cs typeface="Verdana"/>
              </a:rPr>
              <a:t>decreases</a:t>
            </a:r>
            <a:r>
              <a:rPr sz="28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when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35" dirty="0">
                <a:latin typeface="Verdana"/>
                <a:cs typeface="Verdana"/>
              </a:rPr>
              <a:t>it's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deleted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  </a:t>
            </a:r>
            <a:r>
              <a:rPr sz="2800" b="1" i="1" spc="-70" dirty="0">
                <a:latin typeface="TeX Gyre Adventor"/>
                <a:cs typeface="TeX Gyre Adventor"/>
              </a:rPr>
              <a:t>del</a:t>
            </a:r>
            <a:r>
              <a:rPr sz="2800" spc="-70" dirty="0"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  <a:p>
            <a:pPr marL="241300" marR="344805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40360" algn="l"/>
                <a:tab pos="340995" algn="l"/>
              </a:tabLst>
            </a:pPr>
            <a:r>
              <a:rPr dirty="0"/>
              <a:t>	</a:t>
            </a:r>
            <a:r>
              <a:rPr sz="2800" spc="-35" dirty="0">
                <a:latin typeface="Verdana"/>
                <a:cs typeface="Verdana"/>
              </a:rPr>
              <a:t>When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object's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reference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count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reaches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125" dirty="0">
                <a:solidFill>
                  <a:srgbClr val="FF0000"/>
                </a:solidFill>
                <a:latin typeface="Verdana"/>
                <a:cs typeface="Verdana"/>
              </a:rPr>
              <a:t>zero</a:t>
            </a:r>
            <a:r>
              <a:rPr sz="2800" spc="-125" dirty="0">
                <a:latin typeface="Verdana"/>
                <a:cs typeface="Verdana"/>
              </a:rPr>
              <a:t>,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Python  </a:t>
            </a:r>
            <a:r>
              <a:rPr sz="2800" dirty="0">
                <a:latin typeface="Verdana"/>
                <a:cs typeface="Verdana"/>
              </a:rPr>
              <a:t>collects </a:t>
            </a:r>
            <a:r>
              <a:rPr sz="2800" spc="-180" dirty="0">
                <a:latin typeface="Verdana"/>
                <a:cs typeface="Verdana"/>
              </a:rPr>
              <a:t>it</a:t>
            </a:r>
            <a:r>
              <a:rPr sz="2800" spc="-41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automatically.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319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>
                <a:solidFill>
                  <a:srgbClr val="006FC0"/>
                </a:solidFill>
              </a:rPr>
              <a:t>Be</a:t>
            </a:r>
            <a:r>
              <a:rPr spc="-270" dirty="0">
                <a:solidFill>
                  <a:srgbClr val="006FC0"/>
                </a:solidFill>
              </a:rPr>
              <a:t> </a:t>
            </a:r>
            <a:r>
              <a:rPr spc="60" dirty="0">
                <a:solidFill>
                  <a:srgbClr val="006FC0"/>
                </a:solidFill>
              </a:rPr>
              <a:t>Pythonic!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4583" y="1670304"/>
            <a:ext cx="8943340" cy="4360545"/>
            <a:chOff x="1624583" y="1670304"/>
            <a:chExt cx="8943340" cy="4360545"/>
          </a:xfrm>
        </p:grpSpPr>
        <p:sp>
          <p:nvSpPr>
            <p:cNvPr id="4" name="object 4"/>
            <p:cNvSpPr/>
            <p:nvPr/>
          </p:nvSpPr>
          <p:spPr>
            <a:xfrm>
              <a:off x="1644395" y="1690116"/>
              <a:ext cx="8903208" cy="43205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34489" y="1680210"/>
              <a:ext cx="8923020" cy="4340860"/>
            </a:xfrm>
            <a:custGeom>
              <a:avLst/>
              <a:gdLst/>
              <a:ahLst/>
              <a:cxnLst/>
              <a:rect l="l" t="t" r="r" b="b"/>
              <a:pathLst>
                <a:path w="8923020" h="4340860">
                  <a:moveTo>
                    <a:pt x="0" y="4340352"/>
                  </a:moveTo>
                  <a:lnTo>
                    <a:pt x="8923019" y="4340352"/>
                  </a:lnTo>
                  <a:lnTo>
                    <a:pt x="8923019" y="0"/>
                  </a:lnTo>
                  <a:lnTo>
                    <a:pt x="0" y="0"/>
                  </a:lnTo>
                  <a:lnTo>
                    <a:pt x="0" y="4340352"/>
                  </a:lnTo>
                  <a:close/>
                </a:path>
              </a:pathLst>
            </a:custGeom>
            <a:ln w="19812">
              <a:solidFill>
                <a:srgbClr val="ACB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1939" y="2587752"/>
              <a:ext cx="944880" cy="372110"/>
            </a:xfrm>
            <a:custGeom>
              <a:avLst/>
              <a:gdLst/>
              <a:ahLst/>
              <a:cxnLst/>
              <a:rect l="l" t="t" r="r" b="b"/>
              <a:pathLst>
                <a:path w="944879" h="372110">
                  <a:moveTo>
                    <a:pt x="0" y="371856"/>
                  </a:moveTo>
                  <a:lnTo>
                    <a:pt x="944880" y="371856"/>
                  </a:lnTo>
                  <a:lnTo>
                    <a:pt x="944880" y="0"/>
                  </a:lnTo>
                  <a:lnTo>
                    <a:pt x="0" y="0"/>
                  </a:lnTo>
                  <a:lnTo>
                    <a:pt x="0" y="371856"/>
                  </a:lnTo>
                  <a:close/>
                </a:path>
              </a:pathLst>
            </a:custGeom>
            <a:ln w="579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9277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>
                <a:solidFill>
                  <a:srgbClr val="006FC0"/>
                </a:solidFill>
              </a:rPr>
              <a:t>Alternative </a:t>
            </a:r>
            <a:r>
              <a:rPr spc="95" dirty="0">
                <a:solidFill>
                  <a:srgbClr val="006FC0"/>
                </a:solidFill>
              </a:rPr>
              <a:t>Python</a:t>
            </a:r>
            <a:r>
              <a:rPr spc="-660" dirty="0">
                <a:solidFill>
                  <a:srgbClr val="006FC0"/>
                </a:solidFill>
              </a:rPr>
              <a:t> </a:t>
            </a:r>
            <a:r>
              <a:rPr spc="120" dirty="0">
                <a:solidFill>
                  <a:srgbClr val="006FC0"/>
                </a:solidFill>
              </a:rPr>
              <a:t>Implementations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51405"/>
            <a:ext cx="10248900" cy="3952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93725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280" dirty="0">
                <a:solidFill>
                  <a:srgbClr val="FF0000"/>
                </a:solidFill>
                <a:latin typeface="Verdana"/>
                <a:cs typeface="Verdana"/>
              </a:rPr>
              <a:t>CPython</a:t>
            </a:r>
            <a:r>
              <a:rPr sz="2800" spc="-280" dirty="0">
                <a:latin typeface="Verdana"/>
                <a:cs typeface="Verdana"/>
              </a:rPr>
              <a:t>: </a:t>
            </a:r>
            <a:r>
              <a:rPr sz="2800" spc="-90" dirty="0">
                <a:latin typeface="Verdana"/>
                <a:cs typeface="Verdana"/>
              </a:rPr>
              <a:t>Traditional </a:t>
            </a:r>
            <a:r>
              <a:rPr sz="2800" spc="-35" dirty="0">
                <a:latin typeface="Verdana"/>
                <a:cs typeface="Verdana"/>
              </a:rPr>
              <a:t>implementation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40" dirty="0">
                <a:latin typeface="Verdana"/>
                <a:cs typeface="Verdana"/>
              </a:rPr>
              <a:t>that</a:t>
            </a:r>
            <a:r>
              <a:rPr sz="2800" spc="-735" dirty="0">
                <a:latin typeface="Verdana"/>
                <a:cs typeface="Verdana"/>
              </a:rPr>
              <a:t> </a:t>
            </a:r>
            <a:r>
              <a:rPr sz="2800" spc="85" dirty="0">
                <a:latin typeface="Verdana"/>
                <a:cs typeface="Verdana"/>
              </a:rPr>
              <a:t>we  </a:t>
            </a:r>
            <a:r>
              <a:rPr sz="2800" spc="-35" dirty="0">
                <a:latin typeface="Verdana"/>
                <a:cs typeface="Verdana"/>
              </a:rPr>
              <a:t>used </a:t>
            </a:r>
            <a:r>
              <a:rPr sz="2800" spc="-130" dirty="0">
                <a:latin typeface="Verdana"/>
                <a:cs typeface="Verdana"/>
              </a:rPr>
              <a:t>in </a:t>
            </a:r>
            <a:r>
              <a:rPr sz="2800" spc="-200" dirty="0">
                <a:latin typeface="Verdana"/>
                <a:cs typeface="Verdana"/>
              </a:rPr>
              <a:t>this</a:t>
            </a:r>
            <a:r>
              <a:rPr sz="2800" spc="-484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introduction.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375" dirty="0">
                <a:solidFill>
                  <a:srgbClr val="FF0000"/>
                </a:solidFill>
                <a:latin typeface="Verdana"/>
                <a:cs typeface="Verdana"/>
              </a:rPr>
              <a:t>IronPython</a:t>
            </a:r>
            <a:r>
              <a:rPr sz="2800" spc="-375" dirty="0">
                <a:latin typeface="Verdana"/>
                <a:cs typeface="Verdana"/>
              </a:rPr>
              <a:t>: </a:t>
            </a:r>
            <a:r>
              <a:rPr sz="2800" spc="-60" dirty="0">
                <a:latin typeface="Verdana"/>
                <a:cs typeface="Verdana"/>
              </a:rPr>
              <a:t>Python </a:t>
            </a:r>
            <a:r>
              <a:rPr sz="2800" spc="-100" dirty="0">
                <a:latin typeface="Verdana"/>
                <a:cs typeface="Verdana"/>
              </a:rPr>
              <a:t>running </a:t>
            </a:r>
            <a:r>
              <a:rPr sz="2800" spc="30" dirty="0">
                <a:latin typeface="Verdana"/>
                <a:cs typeface="Verdana"/>
              </a:rPr>
              <a:t>on</a:t>
            </a:r>
            <a:r>
              <a:rPr sz="2800" spc="-280" dirty="0">
                <a:latin typeface="Verdana"/>
                <a:cs typeface="Verdana"/>
              </a:rPr>
              <a:t> </a:t>
            </a:r>
            <a:r>
              <a:rPr sz="2800" b="1" spc="-434" dirty="0">
                <a:latin typeface="Verdana"/>
                <a:cs typeface="Verdana"/>
              </a:rPr>
              <a:t>.NET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305" dirty="0">
                <a:solidFill>
                  <a:srgbClr val="FF0000"/>
                </a:solidFill>
                <a:latin typeface="Verdana"/>
                <a:cs typeface="Verdana"/>
              </a:rPr>
              <a:t>Jython</a:t>
            </a:r>
            <a:r>
              <a:rPr sz="2800" spc="-305" dirty="0">
                <a:latin typeface="Verdana"/>
                <a:cs typeface="Verdana"/>
              </a:rPr>
              <a:t>: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running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on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Java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Virtual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85" dirty="0">
                <a:latin typeface="Verdana"/>
                <a:cs typeface="Verdana"/>
              </a:rPr>
              <a:t>Machine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200" dirty="0">
                <a:latin typeface="Verdana"/>
                <a:cs typeface="Verdana"/>
              </a:rPr>
              <a:t>(</a:t>
            </a:r>
            <a:r>
              <a:rPr sz="2800" b="1" spc="-200" dirty="0">
                <a:latin typeface="Verdana"/>
                <a:cs typeface="Verdana"/>
              </a:rPr>
              <a:t>JVM</a:t>
            </a:r>
            <a:r>
              <a:rPr sz="2800" spc="-200" dirty="0"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  <a:p>
            <a:pPr marL="241300" marR="2286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380" dirty="0">
                <a:solidFill>
                  <a:srgbClr val="FF0000"/>
                </a:solidFill>
                <a:latin typeface="Verdana"/>
                <a:cs typeface="Verdana"/>
              </a:rPr>
              <a:t>PyPy</a:t>
            </a:r>
            <a:r>
              <a:rPr sz="2800" spc="-380" dirty="0">
                <a:latin typeface="Verdana"/>
                <a:cs typeface="Verdana"/>
              </a:rPr>
              <a:t>: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55" dirty="0">
                <a:latin typeface="Verdana"/>
                <a:cs typeface="Verdana"/>
              </a:rPr>
              <a:t>A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fast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python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implementation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229" dirty="0">
                <a:latin typeface="Verdana"/>
                <a:cs typeface="Verdana"/>
              </a:rPr>
              <a:t>a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40" dirty="0">
                <a:latin typeface="Verdana"/>
                <a:cs typeface="Verdana"/>
              </a:rPr>
              <a:t>just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in-time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434" dirty="0">
                <a:latin typeface="Verdana"/>
                <a:cs typeface="Verdana"/>
              </a:rPr>
              <a:t>(</a:t>
            </a:r>
            <a:r>
              <a:rPr sz="2800" b="1" spc="-434" dirty="0">
                <a:latin typeface="Verdana"/>
                <a:cs typeface="Verdana"/>
              </a:rPr>
              <a:t>JIT</a:t>
            </a:r>
            <a:r>
              <a:rPr sz="2800" spc="-434" dirty="0">
                <a:latin typeface="Verdana"/>
                <a:cs typeface="Verdana"/>
              </a:rPr>
              <a:t>)  </a:t>
            </a:r>
            <a:r>
              <a:rPr sz="2800" spc="-40" dirty="0">
                <a:latin typeface="Verdana"/>
                <a:cs typeface="Verdana"/>
              </a:rPr>
              <a:t>compiler.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75" dirty="0">
                <a:latin typeface="Verdana"/>
                <a:cs typeface="Verdana"/>
              </a:rPr>
              <a:t>More: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Clr>
                <a:srgbClr val="843B0C"/>
              </a:buClr>
              <a:buFont typeface="Arial"/>
              <a:buChar char="•"/>
              <a:tabLst>
                <a:tab pos="699135" algn="l"/>
              </a:tabLst>
            </a:pPr>
            <a:r>
              <a:rPr sz="2400" u="heavy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https://www.python.org/download/alternatives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8070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>
                <a:solidFill>
                  <a:srgbClr val="006FC0"/>
                </a:solidFill>
              </a:rPr>
              <a:t>Famous</a:t>
            </a:r>
            <a:r>
              <a:rPr spc="-240" dirty="0">
                <a:solidFill>
                  <a:srgbClr val="006FC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Apps.</a:t>
            </a:r>
            <a:r>
              <a:rPr spc="-240" dirty="0">
                <a:solidFill>
                  <a:srgbClr val="006FC0"/>
                </a:solidFill>
              </a:rPr>
              <a:t> </a:t>
            </a:r>
            <a:r>
              <a:rPr spc="254" dirty="0">
                <a:solidFill>
                  <a:srgbClr val="006FC0"/>
                </a:solidFill>
              </a:rPr>
              <a:t>written</a:t>
            </a:r>
            <a:r>
              <a:rPr spc="-210" dirty="0">
                <a:solidFill>
                  <a:srgbClr val="006FC0"/>
                </a:solidFill>
              </a:rPr>
              <a:t> </a:t>
            </a:r>
            <a:r>
              <a:rPr spc="105" dirty="0">
                <a:solidFill>
                  <a:srgbClr val="006FC0"/>
                </a:solidFill>
              </a:rPr>
              <a:t>in</a:t>
            </a:r>
            <a:r>
              <a:rPr spc="-229" dirty="0">
                <a:solidFill>
                  <a:srgbClr val="006FC0"/>
                </a:solidFill>
              </a:rPr>
              <a:t> </a:t>
            </a:r>
            <a:r>
              <a:rPr spc="165" dirty="0">
                <a:solidFill>
                  <a:srgbClr val="006FC0"/>
                </a:solidFill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94"/>
            <a:ext cx="10048240" cy="30988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254" dirty="0">
                <a:solidFill>
                  <a:srgbClr val="FF0000"/>
                </a:solidFill>
                <a:latin typeface="Verdana"/>
                <a:cs typeface="Verdana"/>
              </a:rPr>
              <a:t>Dropbox</a:t>
            </a:r>
            <a:r>
              <a:rPr sz="2800" b="1" spc="-254" dirty="0">
                <a:latin typeface="Verdana"/>
                <a:cs typeface="Verdana"/>
              </a:rPr>
              <a:t>: </a:t>
            </a:r>
            <a:r>
              <a:rPr sz="2800" spc="150" dirty="0">
                <a:latin typeface="Verdana"/>
                <a:cs typeface="Verdana"/>
              </a:rPr>
              <a:t>A </a:t>
            </a:r>
            <a:r>
              <a:rPr sz="2800" spc="30" dirty="0">
                <a:latin typeface="Verdana"/>
                <a:cs typeface="Verdana"/>
              </a:rPr>
              <a:t>web-based</a:t>
            </a:r>
            <a:r>
              <a:rPr sz="2800" spc="-67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file </a:t>
            </a:r>
            <a:r>
              <a:rPr sz="2800" spc="-85" dirty="0">
                <a:latin typeface="Verdana"/>
                <a:cs typeface="Verdana"/>
              </a:rPr>
              <a:t>hosting </a:t>
            </a:r>
            <a:r>
              <a:rPr sz="2800" spc="-60" dirty="0">
                <a:latin typeface="Verdana"/>
                <a:cs typeface="Verdana"/>
              </a:rPr>
              <a:t>service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395" dirty="0">
                <a:solidFill>
                  <a:srgbClr val="FF0000"/>
                </a:solidFill>
                <a:latin typeface="Verdana"/>
                <a:cs typeface="Verdana"/>
              </a:rPr>
              <a:t>BitTorrent</a:t>
            </a:r>
            <a:r>
              <a:rPr sz="2800" b="1" spc="-395" dirty="0">
                <a:latin typeface="Verdana"/>
                <a:cs typeface="Verdana"/>
              </a:rPr>
              <a:t>: </a:t>
            </a:r>
            <a:r>
              <a:rPr sz="2800" spc="-70" dirty="0">
                <a:latin typeface="Verdana"/>
                <a:cs typeface="Verdana"/>
              </a:rPr>
              <a:t>original </a:t>
            </a:r>
            <a:r>
              <a:rPr sz="2800" spc="-55" dirty="0">
                <a:latin typeface="Verdana"/>
                <a:cs typeface="Verdana"/>
              </a:rPr>
              <a:t>client, </a:t>
            </a:r>
            <a:r>
              <a:rPr sz="2800" spc="40" dirty="0">
                <a:latin typeface="Verdana"/>
                <a:cs typeface="Verdana"/>
              </a:rPr>
              <a:t>along </a:t>
            </a:r>
            <a:r>
              <a:rPr sz="2800" spc="-100" dirty="0">
                <a:latin typeface="Verdana"/>
                <a:cs typeface="Verdana"/>
              </a:rPr>
              <a:t>with </a:t>
            </a:r>
            <a:r>
              <a:rPr sz="2800" spc="-80" dirty="0">
                <a:latin typeface="Verdana"/>
                <a:cs typeface="Verdana"/>
              </a:rPr>
              <a:t>several</a:t>
            </a:r>
            <a:r>
              <a:rPr sz="2800" spc="-55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derivatives.</a:t>
            </a:r>
            <a:endParaRPr sz="2800">
              <a:latin typeface="Verdana"/>
              <a:cs typeface="Verdana"/>
            </a:endParaRPr>
          </a:p>
          <a:p>
            <a:pPr marL="241300" marR="5080" indent="-22923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335" dirty="0">
                <a:solidFill>
                  <a:srgbClr val="FF0000"/>
                </a:solidFill>
                <a:latin typeface="Verdana"/>
                <a:cs typeface="Verdana"/>
              </a:rPr>
              <a:t>Ubuntu Software </a:t>
            </a:r>
            <a:r>
              <a:rPr sz="2800" b="1" spc="-229" dirty="0">
                <a:solidFill>
                  <a:srgbClr val="FF0000"/>
                </a:solidFill>
                <a:latin typeface="Verdana"/>
                <a:cs typeface="Verdana"/>
              </a:rPr>
              <a:t>Center</a:t>
            </a:r>
            <a:r>
              <a:rPr sz="2800" b="1" spc="-229" dirty="0">
                <a:latin typeface="Verdana"/>
                <a:cs typeface="Verdana"/>
              </a:rPr>
              <a:t>: </a:t>
            </a:r>
            <a:r>
              <a:rPr sz="2800" spc="150" dirty="0">
                <a:latin typeface="Verdana"/>
                <a:cs typeface="Verdana"/>
              </a:rPr>
              <a:t>A </a:t>
            </a:r>
            <a:r>
              <a:rPr sz="2800" spc="30" dirty="0">
                <a:latin typeface="Verdana"/>
                <a:cs typeface="Verdana"/>
              </a:rPr>
              <a:t>graphical </a:t>
            </a:r>
            <a:r>
              <a:rPr sz="2800" spc="140" dirty="0">
                <a:latin typeface="Verdana"/>
                <a:cs typeface="Verdana"/>
              </a:rPr>
              <a:t>package</a:t>
            </a:r>
            <a:r>
              <a:rPr sz="2800" spc="-36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manager,  </a:t>
            </a:r>
            <a:r>
              <a:rPr sz="2800" spc="-75" dirty="0">
                <a:latin typeface="Verdana"/>
                <a:cs typeface="Verdana"/>
              </a:rPr>
              <a:t>installed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by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default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Ubuntu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45" dirty="0">
                <a:latin typeface="Verdana"/>
                <a:cs typeface="Verdana"/>
              </a:rPr>
              <a:t>9.10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higher.</a:t>
            </a:r>
            <a:endParaRPr sz="28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75" dirty="0">
                <a:latin typeface="Verdana"/>
                <a:cs typeface="Verdana"/>
              </a:rPr>
              <a:t>More: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Clr>
                <a:srgbClr val="843B0C"/>
              </a:buClr>
              <a:buFont typeface="Arial"/>
              <a:buChar char="•"/>
              <a:tabLst>
                <a:tab pos="699135" algn="l"/>
              </a:tabLst>
            </a:pPr>
            <a:r>
              <a:rPr sz="2400" u="heavy" spc="-8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2"/>
              </a:rPr>
              <a:t>http://en.wikipedia.org/wiki/List_of_Python_software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395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006FC0"/>
                </a:solidFill>
              </a:rPr>
              <a:t>Summa</a:t>
            </a:r>
            <a:r>
              <a:rPr spc="-10" dirty="0">
                <a:solidFill>
                  <a:srgbClr val="006FC0"/>
                </a:solidFill>
              </a:rPr>
              <a:t>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065"/>
            <a:ext cx="5113020" cy="38646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60" dirty="0">
                <a:latin typeface="Verdana"/>
                <a:cs typeface="Verdana"/>
              </a:rPr>
              <a:t>Python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80" dirty="0">
                <a:solidFill>
                  <a:srgbClr val="843B0C"/>
                </a:solidFill>
                <a:latin typeface="Verdana"/>
                <a:cs typeface="Verdana"/>
              </a:rPr>
              <a:t>High-Level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45" dirty="0">
                <a:solidFill>
                  <a:srgbClr val="843B0C"/>
                </a:solidFill>
                <a:latin typeface="Verdana"/>
                <a:cs typeface="Verdana"/>
              </a:rPr>
              <a:t>Multi-Paradigm</a:t>
            </a:r>
            <a:endParaRPr sz="24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has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solidFill>
                  <a:srgbClr val="843B0C"/>
                </a:solidFill>
                <a:latin typeface="Verdana"/>
                <a:cs typeface="Verdana"/>
              </a:rPr>
              <a:t>Dynamic</a:t>
            </a:r>
            <a:r>
              <a:rPr sz="2400" spc="-229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Type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20" dirty="0">
                <a:solidFill>
                  <a:srgbClr val="843B0C"/>
                </a:solidFill>
                <a:latin typeface="Verdana"/>
                <a:cs typeface="Verdana"/>
              </a:rPr>
              <a:t>Strong</a:t>
            </a:r>
            <a:r>
              <a:rPr sz="2400" spc="-18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843B0C"/>
                </a:solidFill>
                <a:latin typeface="Verdana"/>
                <a:cs typeface="Verdana"/>
              </a:rPr>
              <a:t>Type</a:t>
            </a:r>
            <a:endParaRPr sz="24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use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25" dirty="0">
                <a:solidFill>
                  <a:srgbClr val="843B0C"/>
                </a:solidFill>
                <a:latin typeface="Verdana"/>
                <a:cs typeface="Verdana"/>
              </a:rPr>
              <a:t>Call </a:t>
            </a:r>
            <a:r>
              <a:rPr sz="2400" dirty="0">
                <a:solidFill>
                  <a:srgbClr val="843B0C"/>
                </a:solidFill>
                <a:latin typeface="Verdana"/>
                <a:cs typeface="Verdana"/>
              </a:rPr>
              <a:t>by </a:t>
            </a:r>
            <a:r>
              <a:rPr sz="2400" spc="15" dirty="0">
                <a:solidFill>
                  <a:srgbClr val="843B0C"/>
                </a:solidFill>
                <a:latin typeface="Verdana"/>
                <a:cs typeface="Verdana"/>
              </a:rPr>
              <a:t>Reference(and</a:t>
            </a:r>
            <a:r>
              <a:rPr sz="2400" spc="-600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843B0C"/>
                </a:solidFill>
                <a:latin typeface="Verdana"/>
                <a:cs typeface="Verdana"/>
              </a:rPr>
              <a:t>value)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65" dirty="0">
                <a:solidFill>
                  <a:srgbClr val="843B0C"/>
                </a:solidFill>
                <a:latin typeface="Verdana"/>
                <a:cs typeface="Verdana"/>
              </a:rPr>
              <a:t>Static </a:t>
            </a:r>
            <a:r>
              <a:rPr sz="2400" spc="20" dirty="0">
                <a:solidFill>
                  <a:srgbClr val="843B0C"/>
                </a:solidFill>
                <a:latin typeface="Verdana"/>
                <a:cs typeface="Verdana"/>
              </a:rPr>
              <a:t>(and </a:t>
            </a:r>
            <a:r>
              <a:rPr sz="2400" spc="-30" dirty="0">
                <a:solidFill>
                  <a:srgbClr val="843B0C"/>
                </a:solidFill>
                <a:latin typeface="Verdana"/>
                <a:cs typeface="Verdana"/>
              </a:rPr>
              <a:t>Dynamic)</a:t>
            </a:r>
            <a:r>
              <a:rPr sz="2400" spc="-625" dirty="0">
                <a:solidFill>
                  <a:srgbClr val="843B0C"/>
                </a:solidFill>
                <a:latin typeface="Verdana"/>
                <a:cs typeface="Verdana"/>
              </a:rPr>
              <a:t> </a:t>
            </a:r>
            <a:r>
              <a:rPr sz="2400" spc="40" dirty="0">
                <a:solidFill>
                  <a:srgbClr val="843B0C"/>
                </a:solidFill>
                <a:latin typeface="Verdana"/>
                <a:cs typeface="Verdana"/>
              </a:rPr>
              <a:t>Scope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3595" y="670559"/>
            <a:ext cx="4680204" cy="2868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44728"/>
            <a:ext cx="2644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>
                <a:solidFill>
                  <a:srgbClr val="006FC0"/>
                </a:solidFill>
              </a:rPr>
              <a:t>Reference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76555"/>
            <a:ext cx="7809865" cy="39065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5" dirty="0">
                <a:latin typeface="URW Gothic"/>
                <a:cs typeface="URW Gothic"/>
              </a:rPr>
              <a:t>Python Official</a:t>
            </a:r>
            <a:r>
              <a:rPr sz="2800" i="1" spc="5" dirty="0">
                <a:latin typeface="URW Gothic"/>
                <a:cs typeface="URW Gothic"/>
              </a:rPr>
              <a:t> </a:t>
            </a:r>
            <a:r>
              <a:rPr sz="2800" i="1" spc="-5" dirty="0">
                <a:latin typeface="URW Gothic"/>
                <a:cs typeface="URW Gothic"/>
              </a:rPr>
              <a:t>Website</a:t>
            </a:r>
            <a:endParaRPr sz="2800">
              <a:latin typeface="URW Gothic"/>
              <a:cs typeface="URW Gothic"/>
            </a:endParaRPr>
          </a:p>
          <a:p>
            <a:pPr marL="698500" lvl="1" indent="-229235">
              <a:lnSpc>
                <a:spcPct val="100000"/>
              </a:lnSpc>
              <a:spcBef>
                <a:spcPts val="505"/>
              </a:spcBef>
              <a:buClr>
                <a:srgbClr val="843B0C"/>
              </a:buClr>
              <a:buFont typeface="Arial"/>
              <a:buChar char="•"/>
              <a:tabLst>
                <a:tab pos="699135" algn="l"/>
              </a:tabLst>
            </a:pPr>
            <a:r>
              <a:rPr sz="2400" i="1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URW Gothic"/>
                <a:cs typeface="URW Gothic"/>
                <a:hlinkClick r:id="rId2"/>
              </a:rPr>
              <a:t>http://python.org/</a:t>
            </a:r>
            <a:endParaRPr sz="2400">
              <a:latin typeface="URW Gothic"/>
              <a:cs typeface="URW Gothic"/>
            </a:endParaRPr>
          </a:p>
          <a:p>
            <a:pPr marL="527685" indent="-515620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5" dirty="0">
                <a:latin typeface="URW Gothic"/>
                <a:cs typeface="URW Gothic"/>
              </a:rPr>
              <a:t>Python 3</a:t>
            </a:r>
            <a:r>
              <a:rPr sz="2800" i="1" spc="25" dirty="0">
                <a:latin typeface="URW Gothic"/>
                <a:cs typeface="URW Gothic"/>
              </a:rPr>
              <a:t> </a:t>
            </a:r>
            <a:r>
              <a:rPr sz="2800" i="1" spc="-5" dirty="0">
                <a:latin typeface="URW Gothic"/>
                <a:cs typeface="URW Gothic"/>
              </a:rPr>
              <a:t>Documentation</a:t>
            </a:r>
            <a:endParaRPr sz="2800">
              <a:latin typeface="URW Gothic"/>
              <a:cs typeface="URW Gothic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Clr>
                <a:srgbClr val="843B0C"/>
              </a:buClr>
              <a:buFont typeface="Arial"/>
              <a:buChar char="•"/>
              <a:tabLst>
                <a:tab pos="699135" algn="l"/>
              </a:tabLst>
            </a:pPr>
            <a:r>
              <a:rPr sz="2400" i="1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URW Gothic"/>
                <a:cs typeface="URW Gothic"/>
                <a:hlinkClick r:id="rId3"/>
              </a:rPr>
              <a:t>http://docs.python.org/3/</a:t>
            </a:r>
            <a:endParaRPr sz="2400">
              <a:latin typeface="URW Gothic"/>
              <a:cs typeface="URW Gothic"/>
            </a:endParaRPr>
          </a:p>
          <a:p>
            <a:pPr marL="527685" indent="-515620">
              <a:lnSpc>
                <a:spcPct val="100000"/>
              </a:lnSpc>
              <a:spcBef>
                <a:spcPts val="99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5" dirty="0">
                <a:latin typeface="URW Gothic"/>
                <a:cs typeface="URW Gothic"/>
              </a:rPr>
              <a:t>Python</a:t>
            </a:r>
            <a:r>
              <a:rPr sz="2800" i="1" spc="15" dirty="0">
                <a:latin typeface="URW Gothic"/>
                <a:cs typeface="URW Gothic"/>
              </a:rPr>
              <a:t> </a:t>
            </a:r>
            <a:r>
              <a:rPr sz="2800" i="1" spc="-5" dirty="0">
                <a:latin typeface="URW Gothic"/>
                <a:cs typeface="URW Gothic"/>
              </a:rPr>
              <a:t>Tutorials</a:t>
            </a:r>
            <a:endParaRPr sz="2800">
              <a:latin typeface="URW Gothic"/>
              <a:cs typeface="URW Gothic"/>
            </a:endParaRPr>
          </a:p>
          <a:p>
            <a:pPr marL="698500" lvl="1" indent="-229235">
              <a:lnSpc>
                <a:spcPct val="100000"/>
              </a:lnSpc>
              <a:spcBef>
                <a:spcPts val="509"/>
              </a:spcBef>
              <a:buClr>
                <a:srgbClr val="843B0C"/>
              </a:buClr>
              <a:buFont typeface="Arial"/>
              <a:buChar char="•"/>
              <a:tabLst>
                <a:tab pos="699135" algn="l"/>
              </a:tabLst>
            </a:pPr>
            <a:r>
              <a:rPr sz="2400" i="1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URW Gothic"/>
                <a:cs typeface="URW Gothic"/>
                <a:hlinkClick r:id="rId4"/>
              </a:rPr>
              <a:t>http://www.tutorialspoint.com/python/</a:t>
            </a:r>
            <a:endParaRPr sz="2400">
              <a:latin typeface="URW Gothic"/>
              <a:cs typeface="URW Gothic"/>
            </a:endParaRPr>
          </a:p>
          <a:p>
            <a:pPr marL="527685" indent="-5156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5" dirty="0">
                <a:latin typeface="URW Gothic"/>
                <a:cs typeface="URW Gothic"/>
              </a:rPr>
              <a:t>Learning Python, </a:t>
            </a:r>
            <a:r>
              <a:rPr sz="2800" i="1" dirty="0">
                <a:latin typeface="URW Gothic"/>
                <a:cs typeface="URW Gothic"/>
              </a:rPr>
              <a:t>Fifth</a:t>
            </a:r>
            <a:r>
              <a:rPr sz="2800" i="1" spc="50" dirty="0">
                <a:latin typeface="URW Gothic"/>
                <a:cs typeface="URW Gothic"/>
              </a:rPr>
              <a:t> </a:t>
            </a:r>
            <a:r>
              <a:rPr sz="2800" i="1" dirty="0">
                <a:latin typeface="URW Gothic"/>
                <a:cs typeface="URW Gothic"/>
              </a:rPr>
              <a:t>Edition</a:t>
            </a:r>
            <a:endParaRPr sz="2800">
              <a:latin typeface="URW Gothic"/>
              <a:cs typeface="URW Gothic"/>
            </a:endParaRPr>
          </a:p>
          <a:p>
            <a:pPr marL="698500" lvl="1" indent="-22923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9135" algn="l"/>
              </a:tabLst>
            </a:pPr>
            <a:r>
              <a:rPr sz="2400" i="1" spc="-5" dirty="0">
                <a:solidFill>
                  <a:srgbClr val="843B0C"/>
                </a:solidFill>
                <a:latin typeface="URW Gothic"/>
                <a:cs typeface="URW Gothic"/>
              </a:rPr>
              <a:t>Mark </a:t>
            </a:r>
            <a:r>
              <a:rPr sz="2400" i="1" dirty="0">
                <a:solidFill>
                  <a:srgbClr val="843B0C"/>
                </a:solidFill>
                <a:latin typeface="URW Gothic"/>
                <a:cs typeface="URW Gothic"/>
              </a:rPr>
              <a:t>Lutz, </a:t>
            </a:r>
            <a:r>
              <a:rPr sz="2400" i="1" spc="-5" dirty="0">
                <a:solidFill>
                  <a:srgbClr val="843B0C"/>
                </a:solidFill>
                <a:latin typeface="URW Gothic"/>
                <a:cs typeface="URW Gothic"/>
              </a:rPr>
              <a:t>Published by </a:t>
            </a:r>
            <a:r>
              <a:rPr sz="2400" i="1" spc="-10" dirty="0">
                <a:solidFill>
                  <a:srgbClr val="843B0C"/>
                </a:solidFill>
                <a:latin typeface="URW Gothic"/>
                <a:cs typeface="URW Gothic"/>
              </a:rPr>
              <a:t>O’Reilly </a:t>
            </a:r>
            <a:r>
              <a:rPr sz="2400" i="1" spc="-5" dirty="0">
                <a:solidFill>
                  <a:srgbClr val="843B0C"/>
                </a:solidFill>
                <a:latin typeface="URW Gothic"/>
                <a:cs typeface="URW Gothic"/>
              </a:rPr>
              <a:t>Media, </a:t>
            </a:r>
            <a:r>
              <a:rPr sz="2400" i="1" dirty="0">
                <a:solidFill>
                  <a:srgbClr val="843B0C"/>
                </a:solidFill>
                <a:latin typeface="URW Gothic"/>
                <a:cs typeface="URW Gothic"/>
              </a:rPr>
              <a:t>Inc.</a:t>
            </a:r>
            <a:r>
              <a:rPr sz="2400" i="1" spc="15" dirty="0">
                <a:solidFill>
                  <a:srgbClr val="843B0C"/>
                </a:solidFill>
                <a:latin typeface="URW Gothic"/>
                <a:cs typeface="URW Gothic"/>
              </a:rPr>
              <a:t> </a:t>
            </a:r>
            <a:r>
              <a:rPr sz="2400" i="1" dirty="0">
                <a:solidFill>
                  <a:srgbClr val="843B0C"/>
                </a:solidFill>
                <a:latin typeface="URW Gothic"/>
                <a:cs typeface="URW Gothic"/>
              </a:rPr>
              <a:t>2013</a:t>
            </a:r>
            <a:endParaRPr sz="2400">
              <a:latin typeface="URW Gothic"/>
              <a:cs typeface="URW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73595" y="670559"/>
            <a:ext cx="4680204" cy="28681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2583</Words>
  <Application>Microsoft Office PowerPoint</Application>
  <PresentationFormat>Custom</PresentationFormat>
  <Paragraphs>389</Paragraphs>
  <Slides>74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5" baseType="lpstr">
      <vt:lpstr>Office Theme</vt:lpstr>
      <vt:lpstr>Introduction to</vt:lpstr>
      <vt:lpstr>Contents at a Glance</vt:lpstr>
      <vt:lpstr>Contents at a Glance</vt:lpstr>
      <vt:lpstr>What is Python?</vt:lpstr>
      <vt:lpstr>History and Timeline</vt:lpstr>
      <vt:lpstr>History and Timeline</vt:lpstr>
      <vt:lpstr>Python 2 and 3</vt:lpstr>
      <vt:lpstr>Language Philosophy</vt:lpstr>
      <vt:lpstr>Key Features</vt:lpstr>
      <vt:lpstr>Programming Paradigms</vt:lpstr>
      <vt:lpstr>PowerPoint Presentation</vt:lpstr>
      <vt:lpstr>Popularity</vt:lpstr>
      <vt:lpstr>Getting Started</vt:lpstr>
      <vt:lpstr>Getting Started</vt:lpstr>
      <vt:lpstr>Python Shell</vt:lpstr>
      <vt:lpstr>Simple Script with Output</vt:lpstr>
      <vt:lpstr>Other IDEs: PyDev</vt:lpstr>
      <vt:lpstr>Other IDEs: Visual Studio</vt:lpstr>
      <vt:lpstr>Python Basics: Objects and Variables</vt:lpstr>
      <vt:lpstr>Python Basics: Objects and Variables</vt:lpstr>
      <vt:lpstr>Python Basics: Objects and Variables</vt:lpstr>
      <vt:lpstr>Primitive Data Types</vt:lpstr>
      <vt:lpstr>Primitive Data Types</vt:lpstr>
      <vt:lpstr>Operators</vt:lpstr>
      <vt:lpstr>Operators</vt:lpstr>
      <vt:lpstr>Type Conversion</vt:lpstr>
      <vt:lpstr>Syntax and Semantic: Simplicity</vt:lpstr>
      <vt:lpstr>Syntax and Semantic: Powerfully</vt:lpstr>
      <vt:lpstr>Input and Output</vt:lpstr>
      <vt:lpstr>Identifiers</vt:lpstr>
      <vt:lpstr>Lines</vt:lpstr>
      <vt:lpstr>Lines</vt:lpstr>
      <vt:lpstr>Lines</vt:lpstr>
      <vt:lpstr>Blocks and Indentations</vt:lpstr>
      <vt:lpstr>Quotations</vt:lpstr>
      <vt:lpstr>Comments</vt:lpstr>
      <vt:lpstr>Control Flow: Conditions</vt:lpstr>
      <vt:lpstr>Control Flow: Conditions</vt:lpstr>
      <vt:lpstr>Truth and Falsity Value Testing</vt:lpstr>
      <vt:lpstr>Control Flow: Loops</vt:lpstr>
      <vt:lpstr>Control Flow: Loops</vt:lpstr>
      <vt:lpstr>Sequence Types</vt:lpstr>
      <vt:lpstr>Sequence Types</vt:lpstr>
      <vt:lpstr>Lists</vt:lpstr>
      <vt:lpstr>Lists</vt:lpstr>
      <vt:lpstr>list comprehension</vt:lpstr>
      <vt:lpstr>Tuples</vt:lpstr>
      <vt:lpstr>Tuples</vt:lpstr>
      <vt:lpstr>Ranges</vt:lpstr>
      <vt:lpstr>Ranges</vt:lpstr>
      <vt:lpstr>Common Sequence Operations</vt:lpstr>
      <vt:lpstr>Dictionaries</vt:lpstr>
      <vt:lpstr>Dictionaries</vt:lpstr>
      <vt:lpstr>Functions</vt:lpstr>
      <vt:lpstr>Methods</vt:lpstr>
      <vt:lpstr>Define Functions</vt:lpstr>
      <vt:lpstr>Define Functions</vt:lpstr>
      <vt:lpstr>Arguments Passing</vt:lpstr>
      <vt:lpstr>Arguments Passing</vt:lpstr>
      <vt:lpstr>Arguments Passing</vt:lpstr>
      <vt:lpstr>Arguments Types</vt:lpstr>
      <vt:lpstr>Arguments Types</vt:lpstr>
      <vt:lpstr>Nested Functions</vt:lpstr>
      <vt:lpstr>Nested Functions</vt:lpstr>
      <vt:lpstr>First-Class Objects</vt:lpstr>
      <vt:lpstr>First-Class Objects</vt:lpstr>
      <vt:lpstr>Object-Oriented Python</vt:lpstr>
      <vt:lpstr>Object-Oriented Python</vt:lpstr>
      <vt:lpstr>Destroying Objects (Garbage Collection)</vt:lpstr>
      <vt:lpstr>Be Pythonic!</vt:lpstr>
      <vt:lpstr>Alternative Python Implementations</vt:lpstr>
      <vt:lpstr>Famous Apps. written in python</vt:lpstr>
      <vt:lpstr>Summary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Morteza</dc:creator>
  <cp:lastModifiedBy>HP</cp:lastModifiedBy>
  <cp:revision>12</cp:revision>
  <dcterms:created xsi:type="dcterms:W3CDTF">2023-12-02T18:54:40Z</dcterms:created>
  <dcterms:modified xsi:type="dcterms:W3CDTF">2023-12-03T15:04:58Z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2015-01-05T00:00:00Z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2023-12-02T00:00:00Z</vt:filetime>
  </property>
</Properties>
</file>