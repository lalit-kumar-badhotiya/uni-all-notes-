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14"/>
            <a:ext cx="9136380" cy="68503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0380" y="1582064"/>
            <a:ext cx="814323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66666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66666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66666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2700" y="4158894"/>
            <a:ext cx="8536940" cy="1725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8864"/>
            <a:ext cx="474980" cy="843280"/>
          </a:xfrm>
          <a:custGeom>
            <a:avLst/>
            <a:gdLst/>
            <a:ahLst/>
            <a:cxnLst/>
            <a:rect l="l" t="t" r="r" b="b"/>
            <a:pathLst>
              <a:path w="474980" h="843280">
                <a:moveTo>
                  <a:pt x="474980" y="0"/>
                </a:moveTo>
                <a:lnTo>
                  <a:pt x="0" y="0"/>
                </a:lnTo>
                <a:lnTo>
                  <a:pt x="0" y="843279"/>
                </a:lnTo>
                <a:lnTo>
                  <a:pt x="474980" y="843279"/>
                </a:lnTo>
                <a:lnTo>
                  <a:pt x="474980" y="0"/>
                </a:lnTo>
                <a:close/>
              </a:path>
            </a:pathLst>
          </a:custGeom>
          <a:solidFill>
            <a:srgbClr val="D81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119774"/>
            <a:ext cx="335280" cy="600710"/>
          </a:xfrm>
          <a:custGeom>
            <a:avLst/>
            <a:gdLst/>
            <a:ahLst/>
            <a:cxnLst/>
            <a:rect l="l" t="t" r="r" b="b"/>
            <a:pathLst>
              <a:path w="335280" h="600709">
                <a:moveTo>
                  <a:pt x="143541" y="0"/>
                </a:moveTo>
                <a:lnTo>
                  <a:pt x="0" y="0"/>
                </a:lnTo>
                <a:lnTo>
                  <a:pt x="0" y="600710"/>
                </a:lnTo>
                <a:lnTo>
                  <a:pt x="144393" y="600710"/>
                </a:lnTo>
                <a:lnTo>
                  <a:pt x="335280" y="316136"/>
                </a:lnTo>
                <a:lnTo>
                  <a:pt x="335280" y="285843"/>
                </a:lnTo>
                <a:lnTo>
                  <a:pt x="143541" y="0"/>
                </a:lnTo>
                <a:close/>
              </a:path>
            </a:pathLst>
          </a:custGeom>
          <a:solidFill>
            <a:srgbClr val="D81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89519" y="6074054"/>
            <a:ext cx="1330959" cy="6146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867909" y="122834"/>
            <a:ext cx="4180840" cy="8432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69" y="235864"/>
            <a:ext cx="2738754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66666"/>
                </a:solidFill>
                <a:latin typeface="DejaVu Sans"/>
                <a:cs typeface="DejaVu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5270" y="1175664"/>
            <a:ext cx="8423910" cy="4582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0380" y="1582064"/>
            <a:ext cx="57975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5" dirty="0">
                <a:solidFill>
                  <a:srgbClr val="FFFFFF"/>
                </a:solidFill>
                <a:latin typeface="DejaVu Sans"/>
                <a:cs typeface="DejaVu Sans"/>
              </a:rPr>
              <a:t>C</a:t>
            </a:r>
            <a:r>
              <a:rPr sz="4400" spc="-5" dirty="0">
                <a:solidFill>
                  <a:srgbClr val="FFFFFF"/>
                </a:solidFill>
                <a:latin typeface="DejaVu Sans"/>
                <a:cs typeface="DejaVu Sans"/>
              </a:rPr>
              <a:t>lasses </a:t>
            </a:r>
            <a:r>
              <a:rPr sz="4400" b="1" spc="-5" dirty="0">
                <a:solidFill>
                  <a:srgbClr val="FFFFFF"/>
                </a:solidFill>
                <a:latin typeface="DejaVu Sans"/>
                <a:cs typeface="DejaVu Sans"/>
              </a:rPr>
              <a:t>A</a:t>
            </a:r>
            <a:r>
              <a:rPr sz="4400" spc="-5" dirty="0">
                <a:solidFill>
                  <a:srgbClr val="FFFFFF"/>
                </a:solidFill>
                <a:latin typeface="DejaVu Sans"/>
                <a:cs typeface="DejaVu Sans"/>
              </a:rPr>
              <a:t>nd</a:t>
            </a:r>
            <a:r>
              <a:rPr sz="4400" spc="-2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4400" b="1" spc="-5" dirty="0">
                <a:solidFill>
                  <a:srgbClr val="FFFFFF"/>
                </a:solidFill>
                <a:latin typeface="DejaVu Sans"/>
                <a:cs typeface="DejaVu Sans"/>
              </a:rPr>
              <a:t>O</a:t>
            </a:r>
            <a:r>
              <a:rPr sz="4400" spc="-5" dirty="0">
                <a:solidFill>
                  <a:srgbClr val="FFFFFF"/>
                </a:solidFill>
                <a:latin typeface="DejaVu Sans"/>
                <a:cs typeface="DejaVu Sans"/>
              </a:rPr>
              <a:t>bjects</a:t>
            </a:r>
            <a:endParaRPr sz="44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34969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FFFFFF"/>
                </a:solidFill>
                <a:latin typeface="DejaVu Sans"/>
                <a:cs typeface="DejaVu Sans"/>
              </a:rPr>
              <a:t>C</a:t>
            </a:r>
            <a:r>
              <a:rPr sz="3200" spc="-10" dirty="0">
                <a:solidFill>
                  <a:srgbClr val="FFFFFF"/>
                </a:solidFill>
                <a:latin typeface="DejaVu Sans"/>
                <a:cs typeface="DejaVu Sans"/>
              </a:rPr>
              <a:t>reation </a:t>
            </a:r>
            <a:r>
              <a:rPr sz="3200" dirty="0">
                <a:solidFill>
                  <a:srgbClr val="FFFFFF"/>
                </a:solidFill>
                <a:latin typeface="DejaVu Sans"/>
                <a:cs typeface="DejaVu Sans"/>
              </a:rPr>
              <a:t>of</a:t>
            </a:r>
            <a:r>
              <a:rPr sz="3200" spc="-5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C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lass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627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C</a:t>
            </a:r>
            <a:r>
              <a:rPr spc="-10" dirty="0"/>
              <a:t>reation </a:t>
            </a:r>
            <a:r>
              <a:rPr spc="-5" dirty="0"/>
              <a:t>of</a:t>
            </a:r>
            <a:r>
              <a:rPr spc="-65" dirty="0"/>
              <a:t> </a:t>
            </a:r>
            <a:r>
              <a:rPr b="1" dirty="0">
                <a:latin typeface="DejaVu Sans"/>
                <a:cs typeface="DejaVu Sans"/>
              </a:rPr>
              <a:t>C</a:t>
            </a:r>
            <a:r>
              <a:rPr dirty="0"/>
              <a:t>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880" y="601624"/>
            <a:ext cx="4231640" cy="104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G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eneral</a:t>
            </a:r>
            <a:r>
              <a:rPr sz="1800" spc="5" dirty="0">
                <a:solidFill>
                  <a:srgbClr val="663399"/>
                </a:solidFill>
                <a:latin typeface="DejaVu Sans"/>
                <a:cs typeface="DejaVu Sans"/>
              </a:rPr>
              <a:t> </a:t>
            </a:r>
            <a:r>
              <a:rPr sz="1800" b="1" spc="-10" dirty="0">
                <a:solidFill>
                  <a:srgbClr val="663399"/>
                </a:solidFill>
                <a:latin typeface="DejaVu Sans"/>
                <a:cs typeface="DejaVu Sans"/>
              </a:rPr>
              <a:t>F</a:t>
            </a:r>
            <a:r>
              <a:rPr sz="1800" spc="-10" dirty="0">
                <a:solidFill>
                  <a:srgbClr val="663399"/>
                </a:solidFill>
                <a:latin typeface="DejaVu Sans"/>
                <a:cs typeface="DejaVu Sans"/>
              </a:rPr>
              <a:t>ormat</a:t>
            </a:r>
            <a:endParaRPr sz="1800">
              <a:latin typeface="DejaVu Sans"/>
              <a:cs typeface="DejaVu Sans"/>
            </a:endParaRPr>
          </a:p>
          <a:p>
            <a:pPr marL="12700" marR="5080">
              <a:lnSpc>
                <a:spcPct val="179200"/>
              </a:lnSpc>
              <a:spcBef>
                <a:spcPts val="72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 is a model or plan to create</a:t>
            </a:r>
            <a:r>
              <a:rPr sz="1200" spc="-9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the</a:t>
            </a:r>
            <a:r>
              <a:rPr sz="1200" spc="-1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objects  </a:t>
            </a: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contains,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250" y="115153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250" y="147792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319" y="180431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8680" y="1766214"/>
            <a:ext cx="3317240" cy="534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Attributes: </a:t>
            </a:r>
            <a:r>
              <a:rPr sz="1200" dirty="0">
                <a:latin typeface="FreeMono"/>
                <a:cs typeface="FreeMono"/>
              </a:rPr>
              <a:t>Represented by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variables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tabLst>
                <a:tab pos="926465" algn="l"/>
              </a:tabLst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Actions	: </a:t>
            </a:r>
            <a:r>
              <a:rPr sz="1200" dirty="0">
                <a:latin typeface="FreeMono"/>
                <a:cs typeface="FreeMono"/>
              </a:rPr>
              <a:t>Performed on</a:t>
            </a:r>
            <a:r>
              <a:rPr sz="1200" spc="-4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319" y="213070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250" y="245709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6880" y="2418994"/>
            <a:ext cx="2677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Syntax of defining the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class,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4800" y="2774594"/>
            <a:ext cx="8568690" cy="3220720"/>
            <a:chOff x="304800" y="2774594"/>
            <a:chExt cx="8568690" cy="3220720"/>
          </a:xfrm>
        </p:grpSpPr>
        <p:sp>
          <p:nvSpPr>
            <p:cNvPr id="12" name="object 12"/>
            <p:cNvSpPr/>
            <p:nvPr/>
          </p:nvSpPr>
          <p:spPr>
            <a:xfrm>
              <a:off x="304800" y="2774594"/>
              <a:ext cx="2962910" cy="243840"/>
            </a:xfrm>
            <a:custGeom>
              <a:avLst/>
              <a:gdLst/>
              <a:ahLst/>
              <a:cxnLst/>
              <a:rect l="l" t="t" r="r" b="b"/>
              <a:pathLst>
                <a:path w="2962910" h="243839">
                  <a:moveTo>
                    <a:pt x="2962910" y="0"/>
                  </a:moveTo>
                  <a:lnTo>
                    <a:pt x="0" y="0"/>
                  </a:lnTo>
                  <a:lnTo>
                    <a:pt x="0" y="243839"/>
                  </a:lnTo>
                  <a:lnTo>
                    <a:pt x="2962910" y="243839"/>
                  </a:lnTo>
                  <a:lnTo>
                    <a:pt x="296291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67710" y="2774594"/>
              <a:ext cx="5605780" cy="243840"/>
            </a:xfrm>
            <a:custGeom>
              <a:avLst/>
              <a:gdLst/>
              <a:ahLst/>
              <a:cxnLst/>
              <a:rect l="l" t="t" r="r" b="b"/>
              <a:pathLst>
                <a:path w="5605780" h="243839">
                  <a:moveTo>
                    <a:pt x="5605780" y="0"/>
                  </a:moveTo>
                  <a:lnTo>
                    <a:pt x="0" y="0"/>
                  </a:lnTo>
                  <a:lnTo>
                    <a:pt x="0" y="243839"/>
                  </a:lnTo>
                  <a:lnTo>
                    <a:pt x="5605780" y="243839"/>
                  </a:lnTo>
                  <a:lnTo>
                    <a:pt x="560578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4800" y="3018434"/>
              <a:ext cx="2962910" cy="2976880"/>
            </a:xfrm>
            <a:custGeom>
              <a:avLst/>
              <a:gdLst/>
              <a:ahLst/>
              <a:cxnLst/>
              <a:rect l="l" t="t" r="r" b="b"/>
              <a:pathLst>
                <a:path w="2962910" h="2976879">
                  <a:moveTo>
                    <a:pt x="2962910" y="0"/>
                  </a:moveTo>
                  <a:lnTo>
                    <a:pt x="0" y="0"/>
                  </a:lnTo>
                  <a:lnTo>
                    <a:pt x="0" y="2976880"/>
                  </a:lnTo>
                  <a:lnTo>
                    <a:pt x="2962910" y="2976880"/>
                  </a:lnTo>
                  <a:lnTo>
                    <a:pt x="296291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4970" y="2716174"/>
            <a:ext cx="2207260" cy="73787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Syntax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Classname(object):</a:t>
            </a:r>
            <a:endParaRPr sz="1200">
              <a:latin typeface="FreeMono"/>
              <a:cs typeface="FreeMono"/>
            </a:endParaRPr>
          </a:p>
          <a:p>
            <a:pPr marL="73152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"""docstrings"""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6489" y="3695344"/>
            <a:ext cx="927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Attributes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6489" y="4120794"/>
            <a:ext cx="175006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2900"/>
              </a:lnSpc>
              <a:spcBef>
                <a:spcPts val="100"/>
              </a:spcBef>
              <a:tabLst>
                <a:tab pos="548005" algn="l"/>
                <a:tab pos="1096645" algn="l"/>
              </a:tabLst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 </a:t>
            </a:r>
            <a:r>
              <a:rPr sz="1200" u="sng" dirty="0">
                <a:solidFill>
                  <a:srgbClr val="CC0066"/>
                </a:solidFill>
                <a:uFill>
                  <a:solidFill>
                    <a:srgbClr val="CB0065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init</a:t>
            </a:r>
            <a:r>
              <a:rPr sz="1200" u="sng" dirty="0">
                <a:solidFill>
                  <a:srgbClr val="CC0066"/>
                </a:solidFill>
                <a:uFill>
                  <a:solidFill>
                    <a:srgbClr val="CB0065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(self):  def</a:t>
            </a:r>
            <a:r>
              <a:rPr sz="12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method1():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method2():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67709" y="3018434"/>
            <a:ext cx="5605780" cy="2976880"/>
          </a:xfrm>
          <a:custGeom>
            <a:avLst/>
            <a:gdLst/>
            <a:ahLst/>
            <a:cxnLst/>
            <a:rect l="l" t="t" r="r" b="b"/>
            <a:pathLst>
              <a:path w="5605780" h="2976879">
                <a:moveTo>
                  <a:pt x="5605780" y="0"/>
                </a:moveTo>
                <a:lnTo>
                  <a:pt x="0" y="0"/>
                </a:lnTo>
                <a:lnTo>
                  <a:pt x="0" y="2976880"/>
                </a:lnTo>
                <a:lnTo>
                  <a:pt x="5605780" y="2976880"/>
                </a:lnTo>
                <a:lnTo>
                  <a:pt x="5605780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357879" y="2716174"/>
            <a:ext cx="4401820" cy="163703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Example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Student:</a:t>
            </a:r>
            <a:endParaRPr sz="1200">
              <a:latin typeface="FreeMono"/>
              <a:cs typeface="FreeMono"/>
            </a:endParaRPr>
          </a:p>
          <a:p>
            <a:pPr marL="731520" marR="5080">
              <a:lnSpc>
                <a:spcPct val="122900"/>
              </a:lnSpc>
              <a:tabLst>
                <a:tab pos="1279525" algn="l"/>
                <a:tab pos="1828164" algn="l"/>
              </a:tabLst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"""The below block</a:t>
            </a:r>
            <a:r>
              <a:rPr sz="1200" spc="-7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defines</a:t>
            </a:r>
            <a:r>
              <a:rPr sz="1200" spc="-2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attributes"""  def</a:t>
            </a:r>
            <a:r>
              <a:rPr sz="1200" u="sng" dirty="0">
                <a:solidFill>
                  <a:srgbClr val="CC0066"/>
                </a:solidFill>
                <a:uFill>
                  <a:solidFill>
                    <a:srgbClr val="CB0065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init</a:t>
            </a:r>
            <a:r>
              <a:rPr sz="1200" u="sng" dirty="0">
                <a:solidFill>
                  <a:srgbClr val="CC0066"/>
                </a:solidFill>
                <a:uFill>
                  <a:solidFill>
                    <a:srgbClr val="CB0065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(self):</a:t>
            </a:r>
            <a:endParaRPr sz="1200">
              <a:latin typeface="FreeMono"/>
              <a:cs typeface="FreeMono"/>
            </a:endParaRPr>
          </a:p>
          <a:p>
            <a:pPr marL="1097280" marR="1742439">
              <a:lnSpc>
                <a:spcPct val="122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self.name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=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"Ram"  self.age =</a:t>
            </a:r>
            <a:r>
              <a:rPr sz="1200" spc="-3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21</a:t>
            </a:r>
            <a:endParaRPr sz="1200">
              <a:latin typeface="FreeMono"/>
              <a:cs typeface="FreeMono"/>
            </a:endParaRPr>
          </a:p>
          <a:p>
            <a:pPr marL="109728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self.marks =</a:t>
            </a:r>
            <a:r>
              <a:rPr sz="1200" spc="-1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89.75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9400" y="4570374"/>
            <a:ext cx="3487420" cy="1148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"""The below block defines</a:t>
            </a:r>
            <a:r>
              <a:rPr sz="1200" spc="-8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</a:t>
            </a:r>
            <a:r>
              <a:rPr sz="12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method"""  def</a:t>
            </a:r>
            <a:r>
              <a:rPr sz="12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putdata(self):</a:t>
            </a:r>
            <a:endParaRPr sz="1200">
              <a:latin typeface="FreeMono"/>
              <a:cs typeface="FreeMono"/>
            </a:endParaRPr>
          </a:p>
          <a:p>
            <a:pPr marL="365760" marR="553720">
              <a:lnSpc>
                <a:spcPts val="1770"/>
              </a:lnSpc>
              <a:spcBef>
                <a:spcPts val="105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print("Name: ", self.name)  print("Age: ", self.age)  print("Marks: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self.marks)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627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C</a:t>
            </a:r>
            <a:r>
              <a:rPr spc="-10" dirty="0"/>
              <a:t>reation </a:t>
            </a:r>
            <a:r>
              <a:rPr spc="-5" dirty="0"/>
              <a:t>of</a:t>
            </a:r>
            <a:r>
              <a:rPr spc="-65" dirty="0"/>
              <a:t> </a:t>
            </a:r>
            <a:r>
              <a:rPr b="1" dirty="0">
                <a:latin typeface="DejaVu Sans"/>
                <a:cs typeface="DejaVu Sans"/>
              </a:rPr>
              <a:t>C</a:t>
            </a:r>
            <a:r>
              <a:rPr dirty="0"/>
              <a:t>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601624"/>
            <a:ext cx="102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63399"/>
                </a:solidFill>
                <a:latin typeface="DejaVu Sans"/>
                <a:cs typeface="DejaVu Sans"/>
              </a:rPr>
              <a:t>P</a:t>
            </a:r>
            <a:r>
              <a:rPr sz="1800" spc="-55" dirty="0">
                <a:solidFill>
                  <a:srgbClr val="663399"/>
                </a:solidFill>
                <a:latin typeface="DejaVu Sans"/>
                <a:cs typeface="DejaVu Sans"/>
              </a:rPr>
              <a:t>r</a:t>
            </a:r>
            <a:r>
              <a:rPr sz="1800" spc="5" dirty="0">
                <a:solidFill>
                  <a:srgbClr val="663399"/>
                </a:solidFill>
                <a:latin typeface="DejaVu Sans"/>
                <a:cs typeface="DejaVu Sans"/>
              </a:rPr>
              <a:t>o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gra</a:t>
            </a:r>
            <a:r>
              <a:rPr sz="1800" dirty="0">
                <a:solidFill>
                  <a:srgbClr val="663399"/>
                </a:solidFill>
                <a:latin typeface="DejaVu Sans"/>
                <a:cs typeface="DejaVu Sans"/>
              </a:rPr>
              <a:t>m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720" y="1102004"/>
            <a:ext cx="8628380" cy="4880610"/>
          </a:xfrm>
          <a:custGeom>
            <a:avLst/>
            <a:gdLst/>
            <a:ahLst/>
            <a:cxnLst/>
            <a:rect l="l" t="t" r="r" b="b"/>
            <a:pathLst>
              <a:path w="8628380" h="4880610">
                <a:moveTo>
                  <a:pt x="8628380" y="0"/>
                </a:moveTo>
                <a:lnTo>
                  <a:pt x="0" y="0"/>
                </a:lnTo>
                <a:lnTo>
                  <a:pt x="0" y="4880609"/>
                </a:lnTo>
                <a:lnTo>
                  <a:pt x="8628380" y="4880609"/>
                </a:lnTo>
                <a:lnTo>
                  <a:pt x="862838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7190" y="1104544"/>
            <a:ext cx="5146040" cy="3333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#To define the Student calss and create an Object to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it.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350">
              <a:latin typeface="FreeMono"/>
              <a:cs typeface="FreeMono"/>
            </a:endParaRPr>
          </a:p>
          <a:p>
            <a:pPr marL="12700" marR="3571240">
              <a:lnSpc>
                <a:spcPts val="12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#Class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Definition  </a:t>
            </a: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2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Student:</a:t>
            </a:r>
            <a:endParaRPr sz="1200">
              <a:latin typeface="FreeMono"/>
              <a:cs typeface="FreeMono"/>
            </a:endParaRPr>
          </a:p>
          <a:p>
            <a:pPr marL="378460" marR="1651635">
              <a:lnSpc>
                <a:spcPts val="1200"/>
              </a:lnSpc>
              <a:tabLst>
                <a:tab pos="926465" algn="l"/>
                <a:tab pos="1475105" algn="l"/>
              </a:tabLst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#Special method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called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constructor  </a:t>
            </a:r>
            <a:r>
              <a:rPr sz="1200" dirty="0">
                <a:latin typeface="FreeMono"/>
                <a:cs typeface="FreeMono"/>
              </a:rPr>
              <a:t>def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latin typeface="FreeMono"/>
                <a:cs typeface="FreeMono"/>
              </a:rPr>
              <a:t>(self):</a:t>
            </a:r>
            <a:endParaRPr sz="1200">
              <a:latin typeface="FreeMono"/>
              <a:cs typeface="FreeMono"/>
            </a:endParaRPr>
          </a:p>
          <a:p>
            <a:pPr marL="743585" marR="2839720">
              <a:lnSpc>
                <a:spcPts val="12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self.name =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"Ram"  self.age =</a:t>
            </a:r>
            <a:r>
              <a:rPr sz="1200" spc="-3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21</a:t>
            </a:r>
            <a:endParaRPr sz="1200">
              <a:latin typeface="FreeMono"/>
              <a:cs typeface="FreeMono"/>
            </a:endParaRPr>
          </a:p>
          <a:p>
            <a:pPr marL="743585">
              <a:lnSpc>
                <a:spcPts val="1200"/>
              </a:lnSpc>
            </a:pPr>
            <a:r>
              <a:rPr sz="1200" dirty="0">
                <a:latin typeface="FreeMono"/>
                <a:cs typeface="FreeMono"/>
              </a:rPr>
              <a:t>self.marks =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75.90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FreeMono"/>
              <a:cs typeface="FreeMono"/>
            </a:endParaRPr>
          </a:p>
          <a:p>
            <a:pPr marL="378460" marR="2291080">
              <a:lnSpc>
                <a:spcPts val="121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#This is an</a:t>
            </a:r>
            <a:r>
              <a:rPr sz="1200" spc="-7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instance</a:t>
            </a:r>
            <a:r>
              <a:rPr sz="1200" spc="-2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  </a:t>
            </a:r>
            <a:r>
              <a:rPr sz="1200" dirty="0">
                <a:latin typeface="FreeMono"/>
                <a:cs typeface="FreeMono"/>
              </a:rPr>
              <a:t>def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putdata(self):</a:t>
            </a:r>
            <a:endParaRPr sz="1200">
              <a:latin typeface="FreeMono"/>
              <a:cs typeface="FreeMono"/>
            </a:endParaRPr>
          </a:p>
          <a:p>
            <a:pPr marL="743585">
              <a:lnSpc>
                <a:spcPts val="1080"/>
              </a:lnSpc>
            </a:pPr>
            <a:r>
              <a:rPr sz="1200" dirty="0">
                <a:latin typeface="FreeMono"/>
                <a:cs typeface="FreeMono"/>
              </a:rPr>
              <a:t>print("Name: ",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self.name)</a:t>
            </a:r>
            <a:endParaRPr sz="1200">
              <a:latin typeface="FreeMono"/>
              <a:cs typeface="FreeMono"/>
            </a:endParaRPr>
          </a:p>
          <a:p>
            <a:pPr marL="743585" marR="1834514">
              <a:lnSpc>
                <a:spcPts val="1200"/>
              </a:lnSpc>
              <a:spcBef>
                <a:spcPts val="120"/>
              </a:spcBef>
            </a:pPr>
            <a:r>
              <a:rPr sz="1200" dirty="0">
                <a:latin typeface="FreeMono"/>
                <a:cs typeface="FreeMono"/>
              </a:rPr>
              <a:t>print("Age: ", self.age)  print("Marks: ",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self.marks)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350">
              <a:latin typeface="FreeMono"/>
              <a:cs typeface="FreeMono"/>
            </a:endParaRPr>
          </a:p>
          <a:p>
            <a:pPr marL="12700" marR="1468120">
              <a:lnSpc>
                <a:spcPts val="12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#Create an instance to the</a:t>
            </a:r>
            <a:r>
              <a:rPr sz="1200" spc="-8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student</a:t>
            </a:r>
            <a:r>
              <a:rPr sz="1200" spc="-1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  </a:t>
            </a:r>
            <a:r>
              <a:rPr sz="1200" dirty="0">
                <a:latin typeface="FreeMono"/>
                <a:cs typeface="FreeMono"/>
              </a:rPr>
              <a:t>s =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Student()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FreeMono"/>
              <a:cs typeface="FreeMono"/>
            </a:endParaRPr>
          </a:p>
          <a:p>
            <a:pPr marL="12700" marR="2199640">
              <a:lnSpc>
                <a:spcPts val="121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#Call the method using</a:t>
            </a:r>
            <a:r>
              <a:rPr sz="1200" spc="-8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an</a:t>
            </a:r>
            <a:r>
              <a:rPr sz="12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  </a:t>
            </a:r>
            <a:r>
              <a:rPr sz="1200" dirty="0">
                <a:latin typeface="FreeMono"/>
                <a:cs typeface="FreeMono"/>
              </a:rPr>
              <a:t>s.putdata()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36252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he </a:t>
            </a:r>
            <a:r>
              <a:rPr sz="3200" b="1" dirty="0">
                <a:solidFill>
                  <a:srgbClr val="FFFFFF"/>
                </a:solidFill>
                <a:latin typeface="DejaVu Sans"/>
                <a:cs typeface="DejaVu Sans"/>
              </a:rPr>
              <a:t>Self</a:t>
            </a:r>
            <a:r>
              <a:rPr sz="3200" b="1" spc="3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DejaVu Sans"/>
                <a:cs typeface="DejaVu Sans"/>
              </a:rPr>
              <a:t>Variable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90144"/>
            <a:ext cx="2707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T</a:t>
            </a:r>
            <a:r>
              <a:rPr spc="-5" dirty="0"/>
              <a:t>he </a:t>
            </a:r>
            <a:r>
              <a:rPr b="1" spc="-5" dirty="0">
                <a:latin typeface="DejaVu Sans"/>
                <a:cs typeface="DejaVu Sans"/>
              </a:rPr>
              <a:t>Self</a:t>
            </a:r>
            <a:r>
              <a:rPr b="1" spc="-130" dirty="0">
                <a:latin typeface="DejaVu Sans"/>
                <a:cs typeface="DejaVu Sans"/>
              </a:rPr>
              <a:t> </a:t>
            </a:r>
            <a:r>
              <a:rPr spc="-25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250" y="115153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880" y="1112164"/>
            <a:ext cx="78892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‘Self’ is the default variable that contains the memory address of the instance</a:t>
            </a:r>
            <a:r>
              <a:rPr sz="1200" spc="-9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of</a:t>
            </a:r>
            <a:r>
              <a:rPr sz="12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the  current</a:t>
            </a:r>
            <a:r>
              <a:rPr sz="12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endParaRPr sz="1200">
              <a:latin typeface="FreeMono"/>
              <a:cs typeface="FreeMono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5420" y="1683664"/>
          <a:ext cx="8704576" cy="22428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1640"/>
                <a:gridCol w="233044"/>
                <a:gridCol w="2130424"/>
                <a:gridCol w="1325879"/>
                <a:gridCol w="1691639"/>
                <a:gridCol w="361950"/>
              </a:tblGrid>
              <a:tr h="481964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s1 =</a:t>
                      </a:r>
                      <a:r>
                        <a:rPr sz="1200" spc="-15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Student()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EDEDED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OpenSymbol"/>
                          <a:cs typeface="OpenSymbol"/>
                        </a:rPr>
                        <a:t></a:t>
                      </a:r>
                      <a:endParaRPr sz="1200">
                        <a:latin typeface="OpenSymbol"/>
                        <a:cs typeface="OpenSymbo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OpenSymbol"/>
                          <a:cs typeface="OpenSymbol"/>
                        </a:rPr>
                        <a:t></a:t>
                      </a:r>
                      <a:endParaRPr sz="1200">
                        <a:latin typeface="OpenSymbol"/>
                        <a:cs typeface="OpenSymbo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OpenSymbol"/>
                          <a:cs typeface="OpenSymbol"/>
                        </a:rPr>
                        <a:t></a:t>
                      </a:r>
                      <a:endParaRPr sz="1200">
                        <a:latin typeface="OpenSymbol"/>
                        <a:cs typeface="OpenSymbo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8415" algn="ctr">
                        <a:lnSpc>
                          <a:spcPct val="100000"/>
                        </a:lnSpc>
                      </a:pPr>
                      <a:r>
                        <a:rPr sz="550" dirty="0">
                          <a:latin typeface="OpenSymbol"/>
                          <a:cs typeface="OpenSymbol"/>
                        </a:rPr>
                        <a:t></a:t>
                      </a:r>
                      <a:endParaRPr sz="550">
                        <a:latin typeface="OpenSymbol"/>
                        <a:cs typeface="OpenSymbol"/>
                      </a:endParaRPr>
                    </a:p>
                  </a:txBody>
                  <a:tcPr marL="0" marR="0" marT="6350" marB="0">
                    <a:solidFill>
                      <a:srgbClr val="DCDCDC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s1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contains the</a:t>
                      </a:r>
                      <a:r>
                        <a:rPr sz="1200" spc="-9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memory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2390" marR="38100">
                        <a:lnSpc>
                          <a:spcPts val="12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This memory address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is  ‘self’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variable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650">
                        <a:latin typeface="Times New Roman"/>
                        <a:cs typeface="Times New Roman"/>
                      </a:endParaRPr>
                    </a:p>
                    <a:p>
                      <a:pPr marL="72390" marR="38100">
                        <a:lnSpc>
                          <a:spcPts val="121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 ‘self’ variable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is  constructor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2390" marR="38100">
                        <a:lnSpc>
                          <a:spcPts val="12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The ‘self’ variable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is  instance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methods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address of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internally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and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45085" marR="83820">
                        <a:lnSpc>
                          <a:spcPct val="343100"/>
                        </a:lnSpc>
                        <a:spcBef>
                          <a:spcPts val="76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used as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first  used as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first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instance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by default</a:t>
                      </a:r>
                      <a:r>
                        <a:rPr sz="1200" spc="-8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passed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R="220979">
                        <a:lnSpc>
                          <a:spcPct val="343100"/>
                        </a:lnSpc>
                        <a:spcBef>
                          <a:spcPts val="76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parameter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in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the  parameter in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the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to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0" marB="0">
                    <a:solidFill>
                      <a:srgbClr val="DCDCDC"/>
                    </a:solidFill>
                  </a:tcPr>
                </a:tc>
              </a:tr>
              <a:tr h="5867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Usage-1: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5080" marB="0">
                    <a:solidFill>
                      <a:srgbClr val="EDED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CDCDC"/>
                    </a:solidFill>
                  </a:tcPr>
                </a:tc>
              </a:tr>
              <a:tr h="48570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055"/>
                        </a:spcBef>
                        <a:tabLst>
                          <a:tab pos="638175" algn="l"/>
                          <a:tab pos="1186815" algn="l"/>
                        </a:tabLst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def</a:t>
                      </a:r>
                      <a:r>
                        <a:rPr sz="1200" u="sng" dirty="0">
                          <a:solidFill>
                            <a:srgbClr val="CC0066"/>
                          </a:solidFill>
                          <a:uFill>
                            <a:solidFill>
                              <a:srgbClr val="CB0065"/>
                            </a:solidFill>
                          </a:uFill>
                          <a:latin typeface="FreeMono"/>
                          <a:cs typeface="FreeMono"/>
                        </a:rPr>
                        <a:t> 	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init</a:t>
                      </a:r>
                      <a:r>
                        <a:rPr sz="1200" u="sng" dirty="0">
                          <a:solidFill>
                            <a:srgbClr val="CC0066"/>
                          </a:solidFill>
                          <a:uFill>
                            <a:solidFill>
                              <a:srgbClr val="CB0065"/>
                            </a:solidFill>
                          </a:uFill>
                          <a:latin typeface="FreeMono"/>
                          <a:cs typeface="FreeMono"/>
                        </a:rPr>
                        <a:t> 	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(self):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33985" marB="0">
                    <a:solidFill>
                      <a:srgbClr val="EDED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CDCDC"/>
                    </a:solidFill>
                  </a:tcPr>
                </a:tc>
              </a:tr>
              <a:tr h="403887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Usage-2: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35890" marB="0">
                    <a:solidFill>
                      <a:srgbClr val="EDED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CDCDC"/>
                    </a:solidFill>
                  </a:tcPr>
                </a:tc>
              </a:tr>
              <a:tr h="284479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def</a:t>
                      </a:r>
                      <a:r>
                        <a:rPr sz="1200" spc="-1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putdata(self):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54610" marB="0">
                    <a:solidFill>
                      <a:srgbClr val="EDED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240" marB="0">
                    <a:solidFill>
                      <a:srgbClr val="DCDCD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2423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C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onstructor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182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C</a:t>
            </a:r>
            <a:r>
              <a:rPr spc="-10" dirty="0"/>
              <a:t>o</a:t>
            </a:r>
            <a:r>
              <a:rPr spc="5" dirty="0"/>
              <a:t>n</a:t>
            </a:r>
            <a:r>
              <a:rPr spc="-10" dirty="0"/>
              <a:t>s</a:t>
            </a:r>
            <a:r>
              <a:rPr spc="-5" dirty="0"/>
              <a:t>t</a:t>
            </a:r>
            <a:r>
              <a:rPr dirty="0"/>
              <a:t>r</a:t>
            </a:r>
            <a:r>
              <a:rPr spc="-5" dirty="0"/>
              <a:t>uc</a:t>
            </a:r>
            <a:r>
              <a:rPr spc="-15" dirty="0"/>
              <a:t>t</a:t>
            </a:r>
            <a:r>
              <a:rPr dirty="0"/>
              <a:t>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601624"/>
            <a:ext cx="3674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C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onstructor </a:t>
            </a:r>
            <a:r>
              <a:rPr sz="1800" dirty="0">
                <a:solidFill>
                  <a:srgbClr val="663399"/>
                </a:solidFill>
                <a:latin typeface="DejaVu Sans"/>
                <a:cs typeface="DejaVu Sans"/>
              </a:rPr>
              <a:t>with </a:t>
            </a:r>
            <a:r>
              <a:rPr sz="1800" b="1" dirty="0">
                <a:solidFill>
                  <a:srgbClr val="663399"/>
                </a:solidFill>
                <a:latin typeface="DejaVu Sans"/>
                <a:cs typeface="DejaVu Sans"/>
              </a:rPr>
              <a:t>NO</a:t>
            </a:r>
            <a:r>
              <a:rPr sz="1800" b="1" spc="-85" dirty="0">
                <a:solidFill>
                  <a:srgbClr val="663399"/>
                </a:solidFill>
                <a:latin typeface="DejaVu Sans"/>
                <a:cs typeface="DejaVu Sans"/>
              </a:rPr>
              <a:t> 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parameter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250" y="115153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880" y="1112164"/>
            <a:ext cx="6517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Constructors are used to create and initialize the 'Instance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Variables'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250" y="278475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880" y="2745384"/>
            <a:ext cx="6974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Constructor will be called only once i.e at the time of creating the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objects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250" y="311114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880" y="3071774"/>
            <a:ext cx="1214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 =</a:t>
            </a:r>
            <a:r>
              <a:rPr sz="1200" spc="-9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Student()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6070" y="1531264"/>
            <a:ext cx="2961640" cy="935990"/>
          </a:xfrm>
          <a:custGeom>
            <a:avLst/>
            <a:gdLst/>
            <a:ahLst/>
            <a:cxnLst/>
            <a:rect l="l" t="t" r="r" b="b"/>
            <a:pathLst>
              <a:path w="2961640" h="935989">
                <a:moveTo>
                  <a:pt x="2961640" y="0"/>
                </a:moveTo>
                <a:lnTo>
                  <a:pt x="0" y="0"/>
                </a:lnTo>
                <a:lnTo>
                  <a:pt x="0" y="935989"/>
                </a:lnTo>
                <a:lnTo>
                  <a:pt x="2961640" y="935989"/>
                </a:lnTo>
                <a:lnTo>
                  <a:pt x="296164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6240" y="1533804"/>
            <a:ext cx="652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Example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67709" y="1531264"/>
            <a:ext cx="5605780" cy="935990"/>
          </a:xfrm>
          <a:prstGeom prst="rect">
            <a:avLst/>
          </a:prstGeom>
          <a:solidFill>
            <a:srgbClr val="DCDCDC"/>
          </a:solidFill>
        </p:spPr>
        <p:txBody>
          <a:bodyPr vert="horz" wrap="square" lIns="0" tIns="1524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20"/>
              </a:spcBef>
              <a:tabLst>
                <a:tab pos="638175" algn="l"/>
                <a:tab pos="1186815" algn="l"/>
              </a:tabLst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</a:t>
            </a:r>
            <a:r>
              <a:rPr sz="1200" u="sng" dirty="0">
                <a:solidFill>
                  <a:srgbClr val="CC0066"/>
                </a:solidFill>
                <a:uFill>
                  <a:solidFill>
                    <a:srgbClr val="CB0065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init</a:t>
            </a:r>
            <a:r>
              <a:rPr sz="1200" u="sng" dirty="0">
                <a:solidFill>
                  <a:srgbClr val="CC0066"/>
                </a:solidFill>
                <a:uFill>
                  <a:solidFill>
                    <a:srgbClr val="CB0065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(self):</a:t>
            </a:r>
            <a:endParaRPr sz="1200">
              <a:latin typeface="FreeMono"/>
              <a:cs typeface="FreeMono"/>
            </a:endParaRPr>
          </a:p>
          <a:p>
            <a:pPr marL="821055" marR="3222625">
              <a:lnSpc>
                <a:spcPct val="122900"/>
              </a:lnSpc>
            </a:pPr>
            <a:r>
              <a:rPr sz="1200" dirty="0">
                <a:latin typeface="FreeMono"/>
                <a:cs typeface="FreeMono"/>
              </a:rPr>
              <a:t>self.name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=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"Ram"  self.marks =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99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321183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C</a:t>
            </a:r>
            <a:r>
              <a:rPr spc="-5" dirty="0"/>
              <a:t>onstructor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C</a:t>
            </a:r>
            <a:r>
              <a:rPr sz="1800" spc="-5" dirty="0">
                <a:solidFill>
                  <a:srgbClr val="663399"/>
                </a:solidFill>
              </a:rPr>
              <a:t>onstructor </a:t>
            </a:r>
            <a:r>
              <a:rPr sz="1800" dirty="0">
                <a:solidFill>
                  <a:srgbClr val="663399"/>
                </a:solidFill>
              </a:rPr>
              <a:t>with</a:t>
            </a:r>
            <a:r>
              <a:rPr sz="1800" spc="-50" dirty="0">
                <a:solidFill>
                  <a:srgbClr val="663399"/>
                </a:solidFill>
              </a:rPr>
              <a:t> </a:t>
            </a:r>
            <a:r>
              <a:rPr sz="1800" spc="-5" dirty="0">
                <a:solidFill>
                  <a:srgbClr val="663399"/>
                </a:solidFill>
              </a:rPr>
              <a:t>parameter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4790" y="1179474"/>
            <a:ext cx="1108710" cy="694690"/>
          </a:xfrm>
          <a:custGeom>
            <a:avLst/>
            <a:gdLst/>
            <a:ahLst/>
            <a:cxnLst/>
            <a:rect l="l" t="t" r="r" b="b"/>
            <a:pathLst>
              <a:path w="1108710" h="694689">
                <a:moveTo>
                  <a:pt x="1108710" y="0"/>
                </a:moveTo>
                <a:lnTo>
                  <a:pt x="0" y="0"/>
                </a:lnTo>
                <a:lnTo>
                  <a:pt x="0" y="694690"/>
                </a:lnTo>
                <a:lnTo>
                  <a:pt x="1108710" y="694690"/>
                </a:lnTo>
                <a:lnTo>
                  <a:pt x="110871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4959" y="1182014"/>
            <a:ext cx="6527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Example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4790" y="1874164"/>
            <a:ext cx="1108710" cy="567690"/>
          </a:xfrm>
          <a:custGeom>
            <a:avLst/>
            <a:gdLst/>
            <a:ahLst/>
            <a:cxnLst/>
            <a:rect l="l" t="t" r="r" b="b"/>
            <a:pathLst>
              <a:path w="1108710" h="567689">
                <a:moveTo>
                  <a:pt x="1108710" y="0"/>
                </a:moveTo>
                <a:lnTo>
                  <a:pt x="0" y="0"/>
                </a:lnTo>
                <a:lnTo>
                  <a:pt x="0" y="567689"/>
                </a:lnTo>
                <a:lnTo>
                  <a:pt x="1108710" y="567689"/>
                </a:lnTo>
                <a:lnTo>
                  <a:pt x="110871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14959" y="1876704"/>
            <a:ext cx="927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Instance-1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4790" y="2441854"/>
            <a:ext cx="1108710" cy="567690"/>
          </a:xfrm>
          <a:custGeom>
            <a:avLst/>
            <a:gdLst/>
            <a:ahLst/>
            <a:cxnLst/>
            <a:rect l="l" t="t" r="r" b="b"/>
            <a:pathLst>
              <a:path w="1108710" h="567689">
                <a:moveTo>
                  <a:pt x="1108710" y="0"/>
                </a:moveTo>
                <a:lnTo>
                  <a:pt x="0" y="0"/>
                </a:lnTo>
                <a:lnTo>
                  <a:pt x="0" y="567689"/>
                </a:lnTo>
                <a:lnTo>
                  <a:pt x="1108710" y="567689"/>
                </a:lnTo>
                <a:lnTo>
                  <a:pt x="110871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4959" y="2444394"/>
            <a:ext cx="927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Instance-2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3500" y="1179474"/>
            <a:ext cx="7458709" cy="1830070"/>
          </a:xfrm>
          <a:prstGeom prst="rect">
            <a:avLst/>
          </a:prstGeom>
          <a:solidFill>
            <a:srgbClr val="DCDCDC"/>
          </a:solidFill>
        </p:spPr>
        <p:txBody>
          <a:bodyPr vert="horz" wrap="square" lIns="0" tIns="1524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20"/>
              </a:spcBef>
              <a:tabLst>
                <a:tab pos="638175" algn="l"/>
                <a:tab pos="1186815" algn="l"/>
              </a:tabLst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</a:t>
            </a:r>
            <a:r>
              <a:rPr sz="1200" u="sng" dirty="0">
                <a:solidFill>
                  <a:srgbClr val="CC0066"/>
                </a:solidFill>
                <a:uFill>
                  <a:solidFill>
                    <a:srgbClr val="CB0065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init</a:t>
            </a:r>
            <a:r>
              <a:rPr sz="1200" u="sng" dirty="0">
                <a:solidFill>
                  <a:srgbClr val="CC0066"/>
                </a:solidFill>
                <a:uFill>
                  <a:solidFill>
                    <a:srgbClr val="CB0065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(self, n = "", m =</a:t>
            </a:r>
            <a:r>
              <a:rPr sz="1200" spc="-1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0):</a:t>
            </a:r>
            <a:endParaRPr sz="1200">
              <a:latin typeface="FreeMono"/>
              <a:cs typeface="FreeMono"/>
            </a:endParaRPr>
          </a:p>
          <a:p>
            <a:pPr marL="821055" marR="5349875">
              <a:lnSpc>
                <a:spcPct val="122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self.name = n  self.marks =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  <a:spcBef>
                <a:spcPts val="49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 =</a:t>
            </a:r>
            <a:r>
              <a:rPr sz="12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Student()</a:t>
            </a:r>
            <a:endParaRPr sz="1200">
              <a:latin typeface="FreeMono"/>
              <a:cs typeface="FreeMono"/>
            </a:endParaRPr>
          </a:p>
          <a:p>
            <a:pPr marL="89535" marR="1692275">
              <a:lnSpc>
                <a:spcPct val="134000"/>
              </a:lnSpc>
              <a:spcBef>
                <a:spcPts val="61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Will initialize the instance variables with</a:t>
            </a:r>
            <a:r>
              <a:rPr sz="1200" spc="-9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default</a:t>
            </a:r>
            <a:r>
              <a:rPr sz="1200" spc="-1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parameters  s = Student("Ram",</a:t>
            </a:r>
            <a:r>
              <a:rPr sz="1200" spc="-1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99)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ct val="1000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Will initialize the instance variables with parameters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passed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182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C</a:t>
            </a:r>
            <a:r>
              <a:rPr spc="-10" dirty="0"/>
              <a:t>o</a:t>
            </a:r>
            <a:r>
              <a:rPr spc="5" dirty="0"/>
              <a:t>n</a:t>
            </a:r>
            <a:r>
              <a:rPr spc="-10" dirty="0"/>
              <a:t>s</a:t>
            </a:r>
            <a:r>
              <a:rPr spc="-5" dirty="0"/>
              <a:t>t</a:t>
            </a:r>
            <a:r>
              <a:rPr dirty="0"/>
              <a:t>r</a:t>
            </a:r>
            <a:r>
              <a:rPr spc="-5" dirty="0"/>
              <a:t>uc</a:t>
            </a:r>
            <a:r>
              <a:rPr spc="-15" dirty="0"/>
              <a:t>t</a:t>
            </a:r>
            <a:r>
              <a:rPr dirty="0"/>
              <a:t>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601624"/>
            <a:ext cx="1022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663399"/>
                </a:solidFill>
                <a:latin typeface="DejaVu Sans"/>
                <a:cs typeface="DejaVu Sans"/>
              </a:rPr>
              <a:t>P</a:t>
            </a:r>
            <a:r>
              <a:rPr sz="1800" spc="-55" dirty="0">
                <a:solidFill>
                  <a:srgbClr val="663399"/>
                </a:solidFill>
                <a:latin typeface="DejaVu Sans"/>
                <a:cs typeface="DejaVu Sans"/>
              </a:rPr>
              <a:t>r</a:t>
            </a:r>
            <a:r>
              <a:rPr sz="1800" spc="5" dirty="0">
                <a:solidFill>
                  <a:srgbClr val="663399"/>
                </a:solidFill>
                <a:latin typeface="DejaVu Sans"/>
                <a:cs typeface="DejaVu Sans"/>
              </a:rPr>
              <a:t>o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gra</a:t>
            </a:r>
            <a:r>
              <a:rPr sz="1800" dirty="0">
                <a:solidFill>
                  <a:srgbClr val="663399"/>
                </a:solidFill>
                <a:latin typeface="DejaVu Sans"/>
                <a:cs typeface="DejaVu Sans"/>
              </a:rPr>
              <a:t>m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9720" y="1102004"/>
            <a:ext cx="8629650" cy="4881880"/>
          </a:xfrm>
          <a:custGeom>
            <a:avLst/>
            <a:gdLst/>
            <a:ahLst/>
            <a:cxnLst/>
            <a:rect l="l" t="t" r="r" b="b"/>
            <a:pathLst>
              <a:path w="8629650" h="4881880">
                <a:moveTo>
                  <a:pt x="8629650" y="0"/>
                </a:moveTo>
                <a:lnTo>
                  <a:pt x="0" y="0"/>
                </a:lnTo>
                <a:lnTo>
                  <a:pt x="0" y="4881880"/>
                </a:lnTo>
                <a:lnTo>
                  <a:pt x="8629650" y="4881880"/>
                </a:lnTo>
                <a:lnTo>
                  <a:pt x="862965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7190" y="1104544"/>
            <a:ext cx="6791959" cy="454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#To create Student class with a constructor having more than one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parameter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2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Student:</a:t>
            </a:r>
            <a:endParaRPr sz="1200">
              <a:latin typeface="FreeMono"/>
              <a:cs typeface="FreeMono"/>
            </a:endParaRPr>
          </a:p>
          <a:p>
            <a:pPr marL="37846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#Constructor</a:t>
            </a:r>
            <a:r>
              <a:rPr sz="12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definition</a:t>
            </a:r>
            <a:endParaRPr sz="1200">
              <a:latin typeface="FreeMono"/>
              <a:cs typeface="FreeMono"/>
            </a:endParaRPr>
          </a:p>
          <a:p>
            <a:pPr marL="743585" marR="3296920" indent="-365760">
              <a:lnSpc>
                <a:spcPct val="122900"/>
              </a:lnSpc>
              <a:tabLst>
                <a:tab pos="926465" algn="l"/>
                <a:tab pos="1475105" algn="l"/>
              </a:tabLst>
            </a:pPr>
            <a:r>
              <a:rPr sz="1200" dirty="0">
                <a:latin typeface="FreeMono"/>
                <a:cs typeface="FreeMono"/>
              </a:rPr>
              <a:t>def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latin typeface="FreeMono"/>
                <a:cs typeface="FreeMono"/>
              </a:rPr>
              <a:t>(self, n = "", m =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0):  self.name =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  <a:p>
            <a:pPr marL="743585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self.marks =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200">
              <a:latin typeface="FreeMono"/>
              <a:cs typeface="FreeMono"/>
            </a:endParaRPr>
          </a:p>
          <a:p>
            <a:pPr marL="378460" marR="4759960">
              <a:lnSpc>
                <a:spcPct val="122900"/>
              </a:lnSpc>
              <a:spcBef>
                <a:spcPts val="71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#Instance method  </a:t>
            </a:r>
            <a:r>
              <a:rPr sz="1200" dirty="0">
                <a:latin typeface="FreeMono"/>
                <a:cs typeface="FreeMono"/>
              </a:rPr>
              <a:t>def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putdata(self):</a:t>
            </a:r>
            <a:endParaRPr sz="1200">
              <a:latin typeface="FreeMono"/>
              <a:cs typeface="FreeMono"/>
            </a:endParaRPr>
          </a:p>
          <a:p>
            <a:pPr marL="743585" marR="3479800">
              <a:lnSpc>
                <a:spcPct val="122900"/>
              </a:lnSpc>
            </a:pPr>
            <a:r>
              <a:rPr sz="1200" dirty="0">
                <a:latin typeface="FreeMono"/>
                <a:cs typeface="FreeMono"/>
              </a:rPr>
              <a:t>print("Name: ", self.name)  print("Marks: ",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self.marks)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200">
              <a:latin typeface="FreeMono"/>
              <a:cs typeface="FreeMono"/>
            </a:endParaRPr>
          </a:p>
          <a:p>
            <a:pPr marL="12700" marR="2931160">
              <a:lnSpc>
                <a:spcPct val="122900"/>
              </a:lnSpc>
              <a:spcBef>
                <a:spcPts val="7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#Constructor called without</a:t>
            </a:r>
            <a:r>
              <a:rPr sz="1200" spc="-7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any</a:t>
            </a:r>
            <a:r>
              <a:rPr sz="1200" spc="-2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parameters  </a:t>
            </a:r>
            <a:r>
              <a:rPr sz="1200" dirty="0">
                <a:latin typeface="FreeMono"/>
                <a:cs typeface="FreeMono"/>
              </a:rPr>
              <a:t>s =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Student()</a:t>
            </a:r>
            <a:endParaRPr sz="12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s.putdata()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200">
              <a:latin typeface="FreeMono"/>
              <a:cs typeface="FreeMono"/>
            </a:endParaRPr>
          </a:p>
          <a:p>
            <a:pPr marL="12700" marR="3571240">
              <a:lnSpc>
                <a:spcPct val="122900"/>
              </a:lnSpc>
              <a:spcBef>
                <a:spcPts val="71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#Constructor called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with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parameters  </a:t>
            </a:r>
            <a:r>
              <a:rPr sz="1200" dirty="0">
                <a:latin typeface="FreeMono"/>
                <a:cs typeface="FreeMono"/>
              </a:rPr>
              <a:t>s = Student("Ram",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99)</a:t>
            </a:r>
            <a:endParaRPr sz="12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s.putdata()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383921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ypes </a:t>
            </a:r>
            <a:r>
              <a:rPr sz="3200" dirty="0">
                <a:solidFill>
                  <a:srgbClr val="FFFFFF"/>
                </a:solidFill>
                <a:latin typeface="DejaVu Sans"/>
                <a:cs typeface="DejaVu Sans"/>
              </a:rPr>
              <a:t>of</a:t>
            </a:r>
            <a:r>
              <a:rPr sz="3200" spc="-6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V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ariables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90144"/>
            <a:ext cx="2937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T</a:t>
            </a:r>
            <a:r>
              <a:rPr spc="-10" dirty="0"/>
              <a:t>ypes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b="1" spc="-5" dirty="0">
                <a:latin typeface="DejaVu Sans"/>
                <a:cs typeface="DejaVu Sans"/>
              </a:rPr>
              <a:t>V</a:t>
            </a:r>
            <a:r>
              <a:rPr spc="-5" dirty="0"/>
              <a:t>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250" y="115153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880" y="1112164"/>
            <a:ext cx="1671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Instance</a:t>
            </a:r>
            <a:r>
              <a:rPr sz="1200" spc="-9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variables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250" y="147792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6880" y="1439824"/>
            <a:ext cx="2219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 / Static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variables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9375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T</a:t>
            </a:r>
            <a:r>
              <a:rPr spc="-10" dirty="0"/>
              <a:t>ypes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b="1" spc="-5" dirty="0">
                <a:latin typeface="DejaVu Sans"/>
                <a:cs typeface="DejaVu Sans"/>
              </a:rPr>
              <a:t>V</a:t>
            </a:r>
            <a:r>
              <a:rPr spc="-5" dirty="0"/>
              <a:t>ariables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I</a:t>
            </a:r>
            <a:r>
              <a:rPr sz="1800" spc="-5" dirty="0">
                <a:solidFill>
                  <a:srgbClr val="663399"/>
                </a:solidFill>
              </a:rPr>
              <a:t>nstance </a:t>
            </a: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V</a:t>
            </a:r>
            <a:r>
              <a:rPr sz="1800" spc="-5" dirty="0">
                <a:solidFill>
                  <a:srgbClr val="663399"/>
                </a:solidFill>
              </a:rPr>
              <a:t>ariables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640" y="143982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401724"/>
            <a:ext cx="6060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Variables whose separate copy is created for every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instance/object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640" y="176621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269" y="1728114"/>
            <a:ext cx="6426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These are defined and init using the constructor with 'self'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parameter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640" y="209260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269" y="2054504"/>
            <a:ext cx="5146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Accessing the instance variables from outside the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class,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440" y="241899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1069" y="2380894"/>
            <a:ext cx="19456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instancename.variable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3520" y="2822854"/>
            <a:ext cx="4273550" cy="1824989"/>
          </a:xfrm>
          <a:custGeom>
            <a:avLst/>
            <a:gdLst/>
            <a:ahLst/>
            <a:cxnLst/>
            <a:rect l="l" t="t" r="r" b="b"/>
            <a:pathLst>
              <a:path w="4273550" h="1824989">
                <a:moveTo>
                  <a:pt x="4273550" y="0"/>
                </a:moveTo>
                <a:lnTo>
                  <a:pt x="0" y="0"/>
                </a:lnTo>
                <a:lnTo>
                  <a:pt x="0" y="1824989"/>
                </a:lnTo>
                <a:lnTo>
                  <a:pt x="4273550" y="1824989"/>
                </a:lnTo>
                <a:lnTo>
                  <a:pt x="427355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3690" y="2783483"/>
            <a:ext cx="2115820" cy="6997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Sample:</a:t>
            </a:r>
            <a:endParaRPr sz="1200">
              <a:latin typeface="FreeMono"/>
              <a:cs typeface="FreeMono"/>
            </a:endParaRPr>
          </a:p>
          <a:p>
            <a:pPr marL="730885" marR="5080" indent="-365760">
              <a:lnSpc>
                <a:spcPct val="122900"/>
              </a:lnSpc>
              <a:tabLst>
                <a:tab pos="913765" algn="l"/>
                <a:tab pos="1462405" algn="l"/>
              </a:tabLst>
            </a:pPr>
            <a:r>
              <a:rPr sz="1200" dirty="0">
                <a:latin typeface="FreeMono"/>
                <a:cs typeface="FreeMono"/>
              </a:rPr>
              <a:t>def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latin typeface="FreeMono"/>
                <a:cs typeface="FreeMono"/>
              </a:rPr>
              <a:t>(self):  self.x =</a:t>
            </a:r>
            <a:r>
              <a:rPr sz="1200" spc="-3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9450" y="3681374"/>
            <a:ext cx="1567180" cy="47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marR="5080" indent="-36576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def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modify(self):  self.x +=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7070" y="2822854"/>
            <a:ext cx="4276090" cy="1824989"/>
          </a:xfrm>
          <a:prstGeom prst="rect">
            <a:avLst/>
          </a:prstGeom>
          <a:solidFill>
            <a:srgbClr val="DCDCDC"/>
          </a:solidFill>
        </p:spPr>
        <p:txBody>
          <a:bodyPr vert="horz" wrap="square" lIns="0" tIns="45719" rIns="0" bIns="0" rtlCol="0">
            <a:spAutoFit/>
          </a:bodyPr>
          <a:lstStyle/>
          <a:p>
            <a:pPr marL="89535" marR="2533015">
              <a:lnSpc>
                <a:spcPts val="1200"/>
              </a:lnSpc>
              <a:spcBef>
                <a:spcPts val="359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#Create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an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objects  s1 =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Sample()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ts val="12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s2 =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Sample()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ts val="132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print("s1.x: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s1.x)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ts val="132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print("s2.x: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s2.x)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FreeMono"/>
              <a:cs typeface="FreeMono"/>
            </a:endParaRPr>
          </a:p>
          <a:p>
            <a:pPr marL="89535" marR="2258695">
              <a:lnSpc>
                <a:spcPts val="12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s1.modify()  print("s1.x: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s1.x)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ts val="12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print("s2.x: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s2.x)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9375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T</a:t>
            </a:r>
            <a:r>
              <a:rPr spc="-10" dirty="0"/>
              <a:t>ypes </a:t>
            </a:r>
            <a:r>
              <a:rPr spc="-5" dirty="0"/>
              <a:t>Of</a:t>
            </a:r>
            <a:r>
              <a:rPr spc="-25" dirty="0"/>
              <a:t> </a:t>
            </a:r>
            <a:r>
              <a:rPr b="1" spc="-5" dirty="0">
                <a:latin typeface="DejaVu Sans"/>
                <a:cs typeface="DejaVu Sans"/>
              </a:rPr>
              <a:t>V</a:t>
            </a:r>
            <a:r>
              <a:rPr spc="-5" dirty="0"/>
              <a:t>ariables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C</a:t>
            </a:r>
            <a:r>
              <a:rPr sz="1800" spc="-5" dirty="0">
                <a:solidFill>
                  <a:srgbClr val="663399"/>
                </a:solidFill>
              </a:rPr>
              <a:t>lass </a:t>
            </a: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V</a:t>
            </a:r>
            <a:r>
              <a:rPr sz="1800" spc="-5" dirty="0">
                <a:solidFill>
                  <a:srgbClr val="663399"/>
                </a:solidFill>
              </a:rPr>
              <a:t>ariables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640" y="143982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401724"/>
            <a:ext cx="3683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Single copy is created for all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instances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4640" y="176621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269" y="1728114"/>
            <a:ext cx="5237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Accessing class vars are possible only by 'class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methods'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640" y="209260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269" y="2054504"/>
            <a:ext cx="4048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Accessing class vars from outside the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class,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440" y="241899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1069" y="2380894"/>
            <a:ext cx="1671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classname.variable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3520" y="2822854"/>
            <a:ext cx="4273550" cy="2005330"/>
          </a:xfrm>
          <a:custGeom>
            <a:avLst/>
            <a:gdLst/>
            <a:ahLst/>
            <a:cxnLst/>
            <a:rect l="l" t="t" r="r" b="b"/>
            <a:pathLst>
              <a:path w="4273550" h="2005329">
                <a:moveTo>
                  <a:pt x="4273550" y="0"/>
                </a:moveTo>
                <a:lnTo>
                  <a:pt x="0" y="0"/>
                </a:lnTo>
                <a:lnTo>
                  <a:pt x="0" y="2005329"/>
                </a:lnTo>
                <a:lnTo>
                  <a:pt x="4273550" y="2005329"/>
                </a:lnTo>
                <a:lnTo>
                  <a:pt x="427355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3690" y="2783483"/>
            <a:ext cx="2390140" cy="6997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Sample:</a:t>
            </a:r>
            <a:endParaRPr sz="1200">
              <a:latin typeface="FreeMono"/>
              <a:cs typeface="FreeMono"/>
            </a:endParaRPr>
          </a:p>
          <a:p>
            <a:pPr marL="365760" marR="5080">
              <a:lnSpc>
                <a:spcPct val="122900"/>
              </a:lnSpc>
            </a:pPr>
            <a:r>
              <a:rPr sz="1200" dirty="0">
                <a:latin typeface="FreeMono"/>
                <a:cs typeface="FreeMono"/>
              </a:rPr>
              <a:t>#Define class</a:t>
            </a:r>
            <a:r>
              <a:rPr sz="1200" spc="-7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var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here  x =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9450" y="3681374"/>
            <a:ext cx="1475740" cy="6997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FreeMono"/>
                <a:cs typeface="FreeMono"/>
              </a:rPr>
              <a:t>@classmethod</a:t>
            </a:r>
            <a:endParaRPr sz="1200">
              <a:latin typeface="FreeMono"/>
              <a:cs typeface="FreeMono"/>
            </a:endParaRPr>
          </a:p>
          <a:p>
            <a:pPr marL="365125" marR="5080" indent="-365760">
              <a:lnSpc>
                <a:spcPct val="122900"/>
              </a:lnSpc>
            </a:pPr>
            <a:r>
              <a:rPr sz="1200" dirty="0">
                <a:latin typeface="FreeMono"/>
                <a:cs typeface="FreeMono"/>
              </a:rPr>
              <a:t>def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modify(cls):  cls.x +=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7070" y="2822854"/>
            <a:ext cx="4276090" cy="2005330"/>
          </a:xfrm>
          <a:prstGeom prst="rect">
            <a:avLst/>
          </a:prstGeom>
          <a:solidFill>
            <a:srgbClr val="DCDCDC"/>
          </a:solidFill>
        </p:spPr>
        <p:txBody>
          <a:bodyPr vert="horz" wrap="square" lIns="0" tIns="45719" rIns="0" bIns="0" rtlCol="0">
            <a:spAutoFit/>
          </a:bodyPr>
          <a:lstStyle/>
          <a:p>
            <a:pPr marL="89535" marR="2533015">
              <a:lnSpc>
                <a:spcPts val="1200"/>
              </a:lnSpc>
              <a:spcBef>
                <a:spcPts val="359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#Create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an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objects  s1 =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Sample()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ts val="12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s2 =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Sample()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00">
              <a:latin typeface="FreeMono"/>
              <a:cs typeface="FreeMono"/>
            </a:endParaRPr>
          </a:p>
          <a:p>
            <a:pPr marL="89535">
              <a:lnSpc>
                <a:spcPts val="132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print("s1.x: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s1.x)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ts val="132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print("s2.x: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s2.x)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FreeMono"/>
              <a:cs typeface="FreeMono"/>
            </a:endParaRPr>
          </a:p>
          <a:p>
            <a:pPr marL="89535" marR="2258695">
              <a:lnSpc>
                <a:spcPts val="12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s1.modify()  print("s1.x: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s1.x)</a:t>
            </a:r>
            <a:endParaRPr sz="1200">
              <a:latin typeface="FreeMono"/>
              <a:cs typeface="FreeMono"/>
            </a:endParaRPr>
          </a:p>
          <a:p>
            <a:pPr marL="89535">
              <a:lnSpc>
                <a:spcPts val="12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print("s2.x: ",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s2.x)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26638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N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amespaces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004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N</a:t>
            </a:r>
            <a:r>
              <a:rPr spc="-5" dirty="0"/>
              <a:t>amespaces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601624"/>
            <a:ext cx="142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663399"/>
                </a:solidFill>
                <a:latin typeface="DejaVu Sans"/>
                <a:cs typeface="DejaVu Sans"/>
              </a:rPr>
              <a:t>I</a:t>
            </a:r>
            <a:r>
              <a:rPr sz="1800" spc="-10" dirty="0">
                <a:solidFill>
                  <a:srgbClr val="663399"/>
                </a:solidFill>
                <a:latin typeface="DejaVu Sans"/>
                <a:cs typeface="DejaVu Sans"/>
              </a:rPr>
              <a:t>ntroduction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250" y="115153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880" y="1112164"/>
            <a:ext cx="7157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Namespace represents the memory block where names are mapped/linked to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250" y="147792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880" y="1439824"/>
            <a:ext cx="574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Types: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050" y="180431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8680" y="1766214"/>
            <a:ext cx="1397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namespace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5850" y="213070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750" y="2092604"/>
            <a:ext cx="3774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- The names are mapped to class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variables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4050" y="245709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68680" y="2418994"/>
            <a:ext cx="16713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Instance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namespace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5850" y="278475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1750" y="2745384"/>
            <a:ext cx="4048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- The names are mapped to instance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variables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004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N</a:t>
            </a:r>
            <a:r>
              <a:rPr spc="-5" dirty="0"/>
              <a:t>amespaces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601624"/>
            <a:ext cx="2071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C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lass</a:t>
            </a:r>
            <a:r>
              <a:rPr sz="1800" spc="-65" dirty="0">
                <a:solidFill>
                  <a:srgbClr val="663399"/>
                </a:solidFill>
                <a:latin typeface="DejaVu Sans"/>
                <a:cs typeface="DejaVu Sans"/>
              </a:rPr>
              <a:t> </a:t>
            </a: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N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amespace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79" y="1030884"/>
            <a:ext cx="3926840" cy="52171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905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5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#To understand class</a:t>
            </a:r>
            <a:r>
              <a:rPr sz="11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namespace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240474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#Create</a:t>
            </a:r>
            <a:r>
              <a:rPr sz="11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the</a:t>
            </a:r>
            <a:r>
              <a:rPr sz="11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class  </a:t>
            </a:r>
            <a:r>
              <a:rPr sz="1100" dirty="0">
                <a:latin typeface="FreeMono"/>
                <a:cs typeface="FreeMono"/>
              </a:rPr>
              <a:t>class</a:t>
            </a:r>
            <a:r>
              <a:rPr sz="1100" spc="-25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Student:</a:t>
            </a:r>
            <a:endParaRPr sz="1100">
              <a:latin typeface="FreeMono"/>
              <a:cs typeface="FreeMono"/>
            </a:endParaRPr>
          </a:p>
          <a:p>
            <a:pPr marL="425450" marR="2069464">
              <a:lnSpc>
                <a:spcPct val="126499"/>
              </a:lnSpc>
            </a:pPr>
            <a:r>
              <a:rPr sz="1100" dirty="0">
                <a:latin typeface="FreeMono"/>
                <a:cs typeface="FreeMono"/>
              </a:rPr>
              <a:t>#Create</a:t>
            </a:r>
            <a:r>
              <a:rPr sz="1100" spc="-5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class</a:t>
            </a:r>
            <a:r>
              <a:rPr sz="1100" spc="-5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var  n =</a:t>
            </a:r>
            <a:r>
              <a:rPr sz="1100" spc="-2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81216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#Access class var in</a:t>
            </a:r>
            <a:r>
              <a:rPr sz="1100" spc="-8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r>
              <a:rPr sz="11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namespace  </a:t>
            </a:r>
            <a:r>
              <a:rPr sz="1100" dirty="0">
                <a:latin typeface="FreeMono"/>
                <a:cs typeface="FreeMono"/>
              </a:rPr>
              <a:t>print(Student.n)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1650364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#Modify in</a:t>
            </a:r>
            <a:r>
              <a:rPr sz="11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r>
              <a:rPr sz="11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namespace  </a:t>
            </a:r>
            <a:r>
              <a:rPr sz="1100" dirty="0">
                <a:latin typeface="FreeMono"/>
                <a:cs typeface="FreeMono"/>
              </a:rPr>
              <a:t>Student.n +=</a:t>
            </a:r>
            <a:r>
              <a:rPr sz="1100" spc="-15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1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81216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#Access class var in</a:t>
            </a:r>
            <a:r>
              <a:rPr sz="1100" spc="-8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r>
              <a:rPr sz="11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namespace  </a:t>
            </a:r>
            <a:r>
              <a:rPr sz="1100" dirty="0">
                <a:latin typeface="FreeMono"/>
                <a:cs typeface="FreeMono"/>
              </a:rPr>
              <a:t>print(Student.n)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97980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#Access class var in</a:t>
            </a:r>
            <a:r>
              <a:rPr sz="1100" spc="-8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all</a:t>
            </a:r>
            <a:r>
              <a:rPr sz="11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instances  </a:t>
            </a:r>
            <a:r>
              <a:rPr sz="1100" dirty="0">
                <a:latin typeface="FreeMono"/>
                <a:cs typeface="FreeMono"/>
              </a:rPr>
              <a:t>s1 =</a:t>
            </a:r>
            <a:r>
              <a:rPr sz="1100" spc="-1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Student()</a:t>
            </a:r>
            <a:endParaRPr sz="1100">
              <a:latin typeface="FreeMono"/>
              <a:cs typeface="FreeMono"/>
            </a:endParaRPr>
          </a:p>
          <a:p>
            <a:pPr marL="9017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latin typeface="FreeMono"/>
                <a:cs typeface="FreeMono"/>
              </a:rPr>
              <a:t>s2 =</a:t>
            </a:r>
            <a:r>
              <a:rPr sz="1100" spc="-10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Student()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56070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#Access class var in</a:t>
            </a:r>
            <a:r>
              <a:rPr sz="1100" spc="-8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instance</a:t>
            </a:r>
            <a:r>
              <a:rPr sz="11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namespace  </a:t>
            </a:r>
            <a:r>
              <a:rPr sz="1100" dirty="0">
                <a:latin typeface="FreeMono"/>
                <a:cs typeface="FreeMono"/>
              </a:rPr>
              <a:t>print("s1.n: ",</a:t>
            </a:r>
            <a:r>
              <a:rPr sz="1100" spc="-1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s1.n)</a:t>
            </a:r>
            <a:endParaRPr sz="1100">
              <a:latin typeface="FreeMono"/>
              <a:cs typeface="FreeMono"/>
            </a:endParaRPr>
          </a:p>
          <a:p>
            <a:pPr marL="9017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latin typeface="FreeMono"/>
                <a:cs typeface="FreeMono"/>
              </a:rPr>
              <a:t>print("s2.n: ",</a:t>
            </a:r>
            <a:r>
              <a:rPr sz="1100" spc="-10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s2.n)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64050" y="3313074"/>
            <a:ext cx="4320540" cy="0"/>
          </a:xfrm>
          <a:custGeom>
            <a:avLst/>
            <a:gdLst/>
            <a:ahLst/>
            <a:cxnLst/>
            <a:rect l="l" t="t" r="r" b="b"/>
            <a:pathLst>
              <a:path w="4320540">
                <a:moveTo>
                  <a:pt x="0" y="0"/>
                </a:moveTo>
                <a:lnTo>
                  <a:pt x="43205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688329" y="1296314"/>
            <a:ext cx="1654810" cy="647700"/>
            <a:chOff x="5688329" y="1296314"/>
            <a:chExt cx="1654810" cy="647700"/>
          </a:xfrm>
        </p:grpSpPr>
        <p:sp>
          <p:nvSpPr>
            <p:cNvPr id="7" name="object 7"/>
            <p:cNvSpPr/>
            <p:nvPr/>
          </p:nvSpPr>
          <p:spPr>
            <a:xfrm>
              <a:off x="5688329" y="129631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09" h="647700">
                  <a:moveTo>
                    <a:pt x="165481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654810" y="64770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88329" y="129631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09" h="647700">
                  <a:moveTo>
                    <a:pt x="826770" y="647700"/>
                  </a:moveTo>
                  <a:lnTo>
                    <a:pt x="0" y="647700"/>
                  </a:lnTo>
                  <a:lnTo>
                    <a:pt x="0" y="0"/>
                  </a:lnTo>
                  <a:lnTo>
                    <a:pt x="1654810" y="0"/>
                  </a:lnTo>
                  <a:lnTo>
                    <a:pt x="1654810" y="647700"/>
                  </a:lnTo>
                  <a:lnTo>
                    <a:pt x="826770" y="64770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36029" y="1513484"/>
            <a:ext cx="287020" cy="214629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36920" y="154523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21880" y="1797964"/>
            <a:ext cx="11671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FreeMono"/>
                <a:cs typeface="FreeMono"/>
              </a:rPr>
              <a:t>Class</a:t>
            </a:r>
            <a:r>
              <a:rPr sz="1000" spc="-55" dirty="0">
                <a:latin typeface="FreeMono"/>
                <a:cs typeface="FreeMono"/>
              </a:rPr>
              <a:t> </a:t>
            </a:r>
            <a:r>
              <a:rPr sz="1000" spc="-5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64050" y="1618894"/>
            <a:ext cx="1871980" cy="1405890"/>
            <a:chOff x="4464050" y="1618894"/>
            <a:chExt cx="1871980" cy="1405890"/>
          </a:xfrm>
        </p:grpSpPr>
        <p:sp>
          <p:nvSpPr>
            <p:cNvPr id="13" name="object 13"/>
            <p:cNvSpPr/>
            <p:nvPr/>
          </p:nvSpPr>
          <p:spPr>
            <a:xfrm>
              <a:off x="5976619" y="1656994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828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59829" y="16188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64050" y="237708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10" h="647700">
                  <a:moveTo>
                    <a:pt x="165481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654810" y="64770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64050" y="237708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10" h="647700">
                  <a:moveTo>
                    <a:pt x="828039" y="647700"/>
                  </a:moveTo>
                  <a:lnTo>
                    <a:pt x="0" y="647700"/>
                  </a:lnTo>
                  <a:lnTo>
                    <a:pt x="0" y="0"/>
                  </a:lnTo>
                  <a:lnTo>
                    <a:pt x="1654810" y="0"/>
                  </a:lnTo>
                  <a:lnTo>
                    <a:pt x="1654810" y="647700"/>
                  </a:lnTo>
                  <a:lnTo>
                    <a:pt x="828039" y="64770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11750" y="2592984"/>
            <a:ext cx="287020" cy="214629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13909" y="262473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51704" y="2346604"/>
            <a:ext cx="3823335" cy="646430"/>
            <a:chOff x="4751704" y="2346604"/>
            <a:chExt cx="3823335" cy="646430"/>
          </a:xfrm>
        </p:grpSpPr>
        <p:sp>
          <p:nvSpPr>
            <p:cNvPr id="20" name="object 20"/>
            <p:cNvSpPr/>
            <p:nvPr/>
          </p:nvSpPr>
          <p:spPr>
            <a:xfrm>
              <a:off x="4752339" y="2736494"/>
              <a:ext cx="289560" cy="1270"/>
            </a:xfrm>
            <a:custGeom>
              <a:avLst/>
              <a:gdLst/>
              <a:ahLst/>
              <a:cxnLst/>
              <a:rect l="l" t="t" r="r" b="b"/>
              <a:pathLst>
                <a:path w="289560" h="1269">
                  <a:moveTo>
                    <a:pt x="0" y="0"/>
                  </a:moveTo>
                  <a:lnTo>
                    <a:pt x="289560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36819" y="269966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30">
                  <a:moveTo>
                    <a:pt x="0" y="0"/>
                  </a:moveTo>
                  <a:lnTo>
                    <a:pt x="0" y="74929"/>
                  </a:lnTo>
                  <a:lnTo>
                    <a:pt x="74929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18959" y="2346604"/>
              <a:ext cx="1656080" cy="646430"/>
            </a:xfrm>
            <a:custGeom>
              <a:avLst/>
              <a:gdLst/>
              <a:ahLst/>
              <a:cxnLst/>
              <a:rect l="l" t="t" r="r" b="b"/>
              <a:pathLst>
                <a:path w="1656079" h="646430">
                  <a:moveTo>
                    <a:pt x="1656080" y="0"/>
                  </a:moveTo>
                  <a:lnTo>
                    <a:pt x="0" y="0"/>
                  </a:lnTo>
                  <a:lnTo>
                    <a:pt x="0" y="646429"/>
                  </a:lnTo>
                  <a:lnTo>
                    <a:pt x="1656080" y="64642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18959" y="2346604"/>
              <a:ext cx="1656080" cy="646430"/>
            </a:xfrm>
            <a:custGeom>
              <a:avLst/>
              <a:gdLst/>
              <a:ahLst/>
              <a:cxnLst/>
              <a:rect l="l" t="t" r="r" b="b"/>
              <a:pathLst>
                <a:path w="1656079" h="646430">
                  <a:moveTo>
                    <a:pt x="828040" y="646429"/>
                  </a:moveTo>
                  <a:lnTo>
                    <a:pt x="0" y="646429"/>
                  </a:lnTo>
                  <a:lnTo>
                    <a:pt x="0" y="0"/>
                  </a:lnTo>
                  <a:lnTo>
                    <a:pt x="1656080" y="0"/>
                  </a:lnTo>
                  <a:lnTo>
                    <a:pt x="1656080" y="646429"/>
                  </a:lnTo>
                  <a:lnTo>
                    <a:pt x="828040" y="646429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560309" y="2554884"/>
            <a:ext cx="287020" cy="215900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61200" y="258663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17690" y="3019704"/>
            <a:ext cx="1397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FreeMono"/>
                <a:cs typeface="FreeMono"/>
              </a:rPr>
              <a:t>Instance</a:t>
            </a:r>
            <a:r>
              <a:rPr sz="1000" spc="-90" dirty="0">
                <a:latin typeface="FreeMono"/>
                <a:cs typeface="FreeMono"/>
              </a:rPr>
              <a:t> </a:t>
            </a:r>
            <a:r>
              <a:rPr sz="1000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400040" y="1728749"/>
            <a:ext cx="2160270" cy="1009015"/>
            <a:chOff x="5400040" y="1728749"/>
            <a:chExt cx="2160270" cy="1009015"/>
          </a:xfrm>
        </p:grpSpPr>
        <p:sp>
          <p:nvSpPr>
            <p:cNvPr id="28" name="object 28"/>
            <p:cNvSpPr/>
            <p:nvPr/>
          </p:nvSpPr>
          <p:spPr>
            <a:xfrm>
              <a:off x="5453380" y="1729384"/>
              <a:ext cx="955040" cy="817880"/>
            </a:xfrm>
            <a:custGeom>
              <a:avLst/>
              <a:gdLst/>
              <a:ahLst/>
              <a:cxnLst/>
              <a:rect l="l" t="t" r="r" b="b"/>
              <a:pathLst>
                <a:path w="955039" h="817880">
                  <a:moveTo>
                    <a:pt x="955040" y="0"/>
                  </a:moveTo>
                  <a:lnTo>
                    <a:pt x="0" y="8178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00040" y="2515514"/>
              <a:ext cx="82550" cy="77470"/>
            </a:xfrm>
            <a:custGeom>
              <a:avLst/>
              <a:gdLst/>
              <a:ahLst/>
              <a:cxnLst/>
              <a:rect l="l" t="t" r="r" b="b"/>
              <a:pathLst>
                <a:path w="82550" h="77469">
                  <a:moveTo>
                    <a:pt x="33020" y="0"/>
                  </a:moveTo>
                  <a:lnTo>
                    <a:pt x="0" y="77469"/>
                  </a:lnTo>
                  <a:lnTo>
                    <a:pt x="82550" y="57150"/>
                  </a:lnTo>
                  <a:lnTo>
                    <a:pt x="330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99630" y="2699664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59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84110" y="266156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51930" y="1729384"/>
              <a:ext cx="953769" cy="781050"/>
            </a:xfrm>
            <a:custGeom>
              <a:avLst/>
              <a:gdLst/>
              <a:ahLst/>
              <a:cxnLst/>
              <a:rect l="l" t="t" r="r" b="b"/>
              <a:pathLst>
                <a:path w="953770" h="781050">
                  <a:moveTo>
                    <a:pt x="0" y="0"/>
                  </a:moveTo>
                  <a:lnTo>
                    <a:pt x="953770" y="7810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77760" y="2478684"/>
              <a:ext cx="82550" cy="76200"/>
            </a:xfrm>
            <a:custGeom>
              <a:avLst/>
              <a:gdLst/>
              <a:ahLst/>
              <a:cxnLst/>
              <a:rect l="l" t="t" r="r" b="b"/>
              <a:pathLst>
                <a:path w="82550" h="76200">
                  <a:moveTo>
                    <a:pt x="48260" y="0"/>
                  </a:moveTo>
                  <a:lnTo>
                    <a:pt x="0" y="57150"/>
                  </a:lnTo>
                  <a:lnTo>
                    <a:pt x="82550" y="76200"/>
                  </a:lnTo>
                  <a:lnTo>
                    <a:pt x="48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469129" y="3074314"/>
            <a:ext cx="1397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FreeMono"/>
                <a:cs typeface="FreeMono"/>
              </a:rPr>
              <a:t>Instance</a:t>
            </a:r>
            <a:r>
              <a:rPr sz="1000" spc="-90" dirty="0">
                <a:latin typeface="FreeMono"/>
                <a:cs typeface="FreeMono"/>
              </a:rPr>
              <a:t> </a:t>
            </a:r>
            <a:r>
              <a:rPr sz="1000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07559" y="5832754"/>
            <a:ext cx="4320540" cy="0"/>
          </a:xfrm>
          <a:custGeom>
            <a:avLst/>
            <a:gdLst/>
            <a:ahLst/>
            <a:cxnLst/>
            <a:rect l="l" t="t" r="r" b="b"/>
            <a:pathLst>
              <a:path w="4320540">
                <a:moveTo>
                  <a:pt x="0" y="0"/>
                </a:moveTo>
                <a:lnTo>
                  <a:pt x="43205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5831840" y="3817264"/>
            <a:ext cx="1654810" cy="646430"/>
            <a:chOff x="5831840" y="3817264"/>
            <a:chExt cx="1654810" cy="646430"/>
          </a:xfrm>
        </p:grpSpPr>
        <p:sp>
          <p:nvSpPr>
            <p:cNvPr id="37" name="object 37"/>
            <p:cNvSpPr/>
            <p:nvPr/>
          </p:nvSpPr>
          <p:spPr>
            <a:xfrm>
              <a:off x="5831840" y="3817264"/>
              <a:ext cx="1654810" cy="646430"/>
            </a:xfrm>
            <a:custGeom>
              <a:avLst/>
              <a:gdLst/>
              <a:ahLst/>
              <a:cxnLst/>
              <a:rect l="l" t="t" r="r" b="b"/>
              <a:pathLst>
                <a:path w="1654809" h="646429">
                  <a:moveTo>
                    <a:pt x="1654810" y="0"/>
                  </a:moveTo>
                  <a:lnTo>
                    <a:pt x="0" y="0"/>
                  </a:lnTo>
                  <a:lnTo>
                    <a:pt x="0" y="646429"/>
                  </a:lnTo>
                  <a:lnTo>
                    <a:pt x="1654810" y="64642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31840" y="3817264"/>
              <a:ext cx="1654810" cy="646430"/>
            </a:xfrm>
            <a:custGeom>
              <a:avLst/>
              <a:gdLst/>
              <a:ahLst/>
              <a:cxnLst/>
              <a:rect l="l" t="t" r="r" b="b"/>
              <a:pathLst>
                <a:path w="1654809" h="646429">
                  <a:moveTo>
                    <a:pt x="828039" y="646429"/>
                  </a:moveTo>
                  <a:lnTo>
                    <a:pt x="0" y="646429"/>
                  </a:lnTo>
                  <a:lnTo>
                    <a:pt x="0" y="0"/>
                  </a:lnTo>
                  <a:lnTo>
                    <a:pt x="1654810" y="0"/>
                  </a:lnTo>
                  <a:lnTo>
                    <a:pt x="1654810" y="646429"/>
                  </a:lnTo>
                  <a:lnTo>
                    <a:pt x="828039" y="646429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79540" y="4033164"/>
            <a:ext cx="288290" cy="214629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11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81700" y="406491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65390" y="4318914"/>
            <a:ext cx="1168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FreeMono"/>
                <a:cs typeface="FreeMono"/>
              </a:rPr>
              <a:t>Class</a:t>
            </a:r>
            <a:r>
              <a:rPr sz="1000" spc="-90" dirty="0">
                <a:latin typeface="FreeMono"/>
                <a:cs typeface="FreeMono"/>
              </a:rPr>
              <a:t> </a:t>
            </a:r>
            <a:r>
              <a:rPr sz="1000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607559" y="4139844"/>
            <a:ext cx="1871980" cy="1404620"/>
            <a:chOff x="4607559" y="4139844"/>
            <a:chExt cx="1871980" cy="1404620"/>
          </a:xfrm>
        </p:grpSpPr>
        <p:sp>
          <p:nvSpPr>
            <p:cNvPr id="43" name="object 43"/>
            <p:cNvSpPr/>
            <p:nvPr/>
          </p:nvSpPr>
          <p:spPr>
            <a:xfrm>
              <a:off x="6120129" y="4176674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04609" y="413984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0" y="0"/>
                  </a:moveTo>
                  <a:lnTo>
                    <a:pt x="0" y="74930"/>
                  </a:lnTo>
                  <a:lnTo>
                    <a:pt x="74929" y="3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07559" y="4896764"/>
              <a:ext cx="1656080" cy="647700"/>
            </a:xfrm>
            <a:custGeom>
              <a:avLst/>
              <a:gdLst/>
              <a:ahLst/>
              <a:cxnLst/>
              <a:rect l="l" t="t" r="r" b="b"/>
              <a:pathLst>
                <a:path w="1656079" h="647700">
                  <a:moveTo>
                    <a:pt x="1656079" y="0"/>
                  </a:moveTo>
                  <a:lnTo>
                    <a:pt x="0" y="0"/>
                  </a:lnTo>
                  <a:lnTo>
                    <a:pt x="0" y="647699"/>
                  </a:lnTo>
                  <a:lnTo>
                    <a:pt x="1656079" y="647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07559" y="4896764"/>
              <a:ext cx="1656080" cy="647700"/>
            </a:xfrm>
            <a:custGeom>
              <a:avLst/>
              <a:gdLst/>
              <a:ahLst/>
              <a:cxnLst/>
              <a:rect l="l" t="t" r="r" b="b"/>
              <a:pathLst>
                <a:path w="1656079" h="647700">
                  <a:moveTo>
                    <a:pt x="82803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1656079" y="0"/>
                  </a:lnTo>
                  <a:lnTo>
                    <a:pt x="1656079" y="647699"/>
                  </a:lnTo>
                  <a:lnTo>
                    <a:pt x="828039" y="647699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256529" y="5112664"/>
            <a:ext cx="287020" cy="215900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11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57420" y="514441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895215" y="4866284"/>
            <a:ext cx="3823335" cy="647700"/>
            <a:chOff x="4895215" y="4866284"/>
            <a:chExt cx="3823335" cy="647700"/>
          </a:xfrm>
        </p:grpSpPr>
        <p:sp>
          <p:nvSpPr>
            <p:cNvPr id="50" name="object 50"/>
            <p:cNvSpPr/>
            <p:nvPr/>
          </p:nvSpPr>
          <p:spPr>
            <a:xfrm>
              <a:off x="4895850" y="5257444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80330" y="521934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63740" y="486628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09" h="647700">
                  <a:moveTo>
                    <a:pt x="1654809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654809" y="64770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63740" y="486628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09" h="647700">
                  <a:moveTo>
                    <a:pt x="828039" y="647700"/>
                  </a:moveTo>
                  <a:lnTo>
                    <a:pt x="0" y="647700"/>
                  </a:lnTo>
                  <a:lnTo>
                    <a:pt x="0" y="0"/>
                  </a:lnTo>
                  <a:lnTo>
                    <a:pt x="1654809" y="0"/>
                  </a:lnTo>
                  <a:lnTo>
                    <a:pt x="1654809" y="647700"/>
                  </a:lnTo>
                  <a:lnTo>
                    <a:pt x="828039" y="64770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703819" y="5074564"/>
            <a:ext cx="287020" cy="215900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11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204709" y="510631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61200" y="5539384"/>
            <a:ext cx="1397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FreeMono"/>
                <a:cs typeface="FreeMono"/>
              </a:rPr>
              <a:t>Instance</a:t>
            </a:r>
            <a:r>
              <a:rPr sz="1000" spc="-90" dirty="0">
                <a:latin typeface="FreeMono"/>
                <a:cs typeface="FreeMono"/>
              </a:rPr>
              <a:t> </a:t>
            </a:r>
            <a:r>
              <a:rPr sz="1000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543550" y="4248429"/>
            <a:ext cx="2160270" cy="1009015"/>
            <a:chOff x="5543550" y="4248429"/>
            <a:chExt cx="2160270" cy="1009015"/>
          </a:xfrm>
        </p:grpSpPr>
        <p:sp>
          <p:nvSpPr>
            <p:cNvPr id="58" name="object 58"/>
            <p:cNvSpPr/>
            <p:nvPr/>
          </p:nvSpPr>
          <p:spPr>
            <a:xfrm>
              <a:off x="5598160" y="4249064"/>
              <a:ext cx="953769" cy="817880"/>
            </a:xfrm>
            <a:custGeom>
              <a:avLst/>
              <a:gdLst/>
              <a:ahLst/>
              <a:cxnLst/>
              <a:rect l="l" t="t" r="r" b="b"/>
              <a:pathLst>
                <a:path w="953770" h="817879">
                  <a:moveTo>
                    <a:pt x="953769" y="0"/>
                  </a:moveTo>
                  <a:lnTo>
                    <a:pt x="0" y="8178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543550" y="5035194"/>
              <a:ext cx="82550" cy="77470"/>
            </a:xfrm>
            <a:custGeom>
              <a:avLst/>
              <a:gdLst/>
              <a:ahLst/>
              <a:cxnLst/>
              <a:rect l="l" t="t" r="r" b="b"/>
              <a:pathLst>
                <a:path w="82550" h="77470">
                  <a:moveTo>
                    <a:pt x="33020" y="0"/>
                  </a:moveTo>
                  <a:lnTo>
                    <a:pt x="0" y="77469"/>
                  </a:lnTo>
                  <a:lnTo>
                    <a:pt x="82550" y="57150"/>
                  </a:lnTo>
                  <a:lnTo>
                    <a:pt x="330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44410" y="5219344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59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628889" y="518124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0"/>
                  </a:moveTo>
                  <a:lnTo>
                    <a:pt x="0" y="76200"/>
                  </a:lnTo>
                  <a:lnTo>
                    <a:pt x="74929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695439" y="4249064"/>
              <a:ext cx="953769" cy="781050"/>
            </a:xfrm>
            <a:custGeom>
              <a:avLst/>
              <a:gdLst/>
              <a:ahLst/>
              <a:cxnLst/>
              <a:rect l="l" t="t" r="r" b="b"/>
              <a:pathLst>
                <a:path w="953770" h="781050">
                  <a:moveTo>
                    <a:pt x="0" y="0"/>
                  </a:moveTo>
                  <a:lnTo>
                    <a:pt x="953769" y="7810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621270" y="4998364"/>
              <a:ext cx="82550" cy="76200"/>
            </a:xfrm>
            <a:custGeom>
              <a:avLst/>
              <a:gdLst/>
              <a:ahLst/>
              <a:cxnLst/>
              <a:rect l="l" t="t" r="r" b="b"/>
              <a:pathLst>
                <a:path w="82550" h="76200">
                  <a:moveTo>
                    <a:pt x="48259" y="0"/>
                  </a:moveTo>
                  <a:lnTo>
                    <a:pt x="0" y="58419"/>
                  </a:lnTo>
                  <a:lnTo>
                    <a:pt x="82550" y="76199"/>
                  </a:lnTo>
                  <a:lnTo>
                    <a:pt x="48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613909" y="5577484"/>
            <a:ext cx="13950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FreeMono"/>
                <a:cs typeface="FreeMono"/>
              </a:rPr>
              <a:t>Instance</a:t>
            </a:r>
            <a:r>
              <a:rPr sz="1000" spc="-45" dirty="0">
                <a:latin typeface="FreeMono"/>
                <a:cs typeface="FreeMono"/>
              </a:rPr>
              <a:t> </a:t>
            </a:r>
            <a:r>
              <a:rPr sz="1000" spc="-5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900929" y="1041044"/>
            <a:ext cx="3134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Before modifyng class variable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‘n’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00929" y="3417214"/>
            <a:ext cx="3042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After modifyng class variable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‘n’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59409" y="6264554"/>
            <a:ext cx="7199630" cy="431800"/>
            <a:chOff x="359409" y="6264554"/>
            <a:chExt cx="7199630" cy="431800"/>
          </a:xfrm>
        </p:grpSpPr>
        <p:sp>
          <p:nvSpPr>
            <p:cNvPr id="68" name="object 68"/>
            <p:cNvSpPr/>
            <p:nvPr/>
          </p:nvSpPr>
          <p:spPr>
            <a:xfrm>
              <a:off x="359409" y="6264554"/>
              <a:ext cx="7199630" cy="431800"/>
            </a:xfrm>
            <a:custGeom>
              <a:avLst/>
              <a:gdLst/>
              <a:ahLst/>
              <a:cxnLst/>
              <a:rect l="l" t="t" r="r" b="b"/>
              <a:pathLst>
                <a:path w="7199630" h="431800">
                  <a:moveTo>
                    <a:pt x="7127240" y="0"/>
                  </a:moveTo>
                  <a:lnTo>
                    <a:pt x="72389" y="0"/>
                  </a:lnTo>
                  <a:lnTo>
                    <a:pt x="46077" y="6131"/>
                  </a:lnTo>
                  <a:lnTo>
                    <a:pt x="22860" y="22383"/>
                  </a:lnTo>
                  <a:lnTo>
                    <a:pt x="6310" y="45541"/>
                  </a:lnTo>
                  <a:lnTo>
                    <a:pt x="0" y="72389"/>
                  </a:lnTo>
                  <a:lnTo>
                    <a:pt x="0" y="359409"/>
                  </a:lnTo>
                  <a:lnTo>
                    <a:pt x="6310" y="385722"/>
                  </a:lnTo>
                  <a:lnTo>
                    <a:pt x="22860" y="408939"/>
                  </a:lnTo>
                  <a:lnTo>
                    <a:pt x="46077" y="425489"/>
                  </a:lnTo>
                  <a:lnTo>
                    <a:pt x="72389" y="431799"/>
                  </a:lnTo>
                  <a:lnTo>
                    <a:pt x="7127240" y="431799"/>
                  </a:lnTo>
                  <a:lnTo>
                    <a:pt x="7154088" y="425489"/>
                  </a:lnTo>
                  <a:lnTo>
                    <a:pt x="7177246" y="408939"/>
                  </a:lnTo>
                  <a:lnTo>
                    <a:pt x="7193498" y="385722"/>
                  </a:lnTo>
                  <a:lnTo>
                    <a:pt x="7199630" y="359409"/>
                  </a:lnTo>
                  <a:lnTo>
                    <a:pt x="7199630" y="72389"/>
                  </a:lnTo>
                  <a:lnTo>
                    <a:pt x="7193498" y="45541"/>
                  </a:lnTo>
                  <a:lnTo>
                    <a:pt x="7177246" y="22383"/>
                  </a:lnTo>
                  <a:lnTo>
                    <a:pt x="7154088" y="6131"/>
                  </a:lnTo>
                  <a:lnTo>
                    <a:pt x="712724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59409" y="6264554"/>
              <a:ext cx="7199630" cy="431800"/>
            </a:xfrm>
            <a:custGeom>
              <a:avLst/>
              <a:gdLst/>
              <a:ahLst/>
              <a:cxnLst/>
              <a:rect l="l" t="t" r="r" b="b"/>
              <a:pathLst>
                <a:path w="7199630" h="431800">
                  <a:moveTo>
                    <a:pt x="72389" y="0"/>
                  </a:moveTo>
                  <a:lnTo>
                    <a:pt x="46077" y="6131"/>
                  </a:lnTo>
                  <a:lnTo>
                    <a:pt x="22860" y="22383"/>
                  </a:lnTo>
                  <a:lnTo>
                    <a:pt x="6310" y="45541"/>
                  </a:lnTo>
                  <a:lnTo>
                    <a:pt x="0" y="72389"/>
                  </a:lnTo>
                  <a:lnTo>
                    <a:pt x="0" y="359409"/>
                  </a:lnTo>
                  <a:lnTo>
                    <a:pt x="6310" y="385722"/>
                  </a:lnTo>
                  <a:lnTo>
                    <a:pt x="22859" y="408939"/>
                  </a:lnTo>
                  <a:lnTo>
                    <a:pt x="46077" y="425489"/>
                  </a:lnTo>
                  <a:lnTo>
                    <a:pt x="72389" y="431799"/>
                  </a:lnTo>
                  <a:lnTo>
                    <a:pt x="7127240" y="431799"/>
                  </a:lnTo>
                  <a:lnTo>
                    <a:pt x="7154088" y="425489"/>
                  </a:lnTo>
                  <a:lnTo>
                    <a:pt x="7177246" y="408939"/>
                  </a:lnTo>
                  <a:lnTo>
                    <a:pt x="7193498" y="385722"/>
                  </a:lnTo>
                  <a:lnTo>
                    <a:pt x="7199630" y="359409"/>
                  </a:lnTo>
                  <a:lnTo>
                    <a:pt x="7199630" y="72389"/>
                  </a:lnTo>
                  <a:lnTo>
                    <a:pt x="7193498" y="45541"/>
                  </a:lnTo>
                  <a:lnTo>
                    <a:pt x="7177246" y="22383"/>
                  </a:lnTo>
                  <a:lnTo>
                    <a:pt x="7154088" y="6131"/>
                  </a:lnTo>
                  <a:lnTo>
                    <a:pt x="7127240" y="0"/>
                  </a:lnTo>
                  <a:lnTo>
                    <a:pt x="72389" y="0"/>
                  </a:lnTo>
                  <a:close/>
                </a:path>
                <a:path w="7199630" h="431800">
                  <a:moveTo>
                    <a:pt x="0" y="0"/>
                  </a:moveTo>
                  <a:lnTo>
                    <a:pt x="0" y="0"/>
                  </a:lnTo>
                </a:path>
                <a:path w="7199630" h="431800">
                  <a:moveTo>
                    <a:pt x="7199630" y="431799"/>
                  </a:moveTo>
                  <a:lnTo>
                    <a:pt x="7199630" y="431799"/>
                  </a:lnTo>
                </a:path>
              </a:pathLst>
            </a:custGeom>
            <a:ln w="3175">
              <a:solidFill>
                <a:srgbClr val="172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36880" y="6438544"/>
            <a:ext cx="67310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If class vars are modified in class namespace, then it reflects to all</a:t>
            </a:r>
            <a:r>
              <a:rPr sz="11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instances</a:t>
            </a:r>
            <a:endParaRPr sz="11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004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N</a:t>
            </a:r>
            <a:r>
              <a:rPr spc="-5" dirty="0"/>
              <a:t>amespaces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601624"/>
            <a:ext cx="2451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I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nstance</a:t>
            </a:r>
            <a:r>
              <a:rPr sz="1800" spc="-60" dirty="0">
                <a:solidFill>
                  <a:srgbClr val="663399"/>
                </a:solidFill>
                <a:latin typeface="DejaVu Sans"/>
                <a:cs typeface="DejaVu Sans"/>
              </a:rPr>
              <a:t> </a:t>
            </a: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N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amespace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5279" y="1030884"/>
            <a:ext cx="3926840" cy="512445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905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5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#To understand class</a:t>
            </a:r>
            <a:r>
              <a:rPr sz="11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namespace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240474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#Create</a:t>
            </a:r>
            <a:r>
              <a:rPr sz="11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the</a:t>
            </a:r>
            <a:r>
              <a:rPr sz="11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class  </a:t>
            </a:r>
            <a:r>
              <a:rPr sz="1100" dirty="0">
                <a:latin typeface="FreeMono"/>
                <a:cs typeface="FreeMono"/>
              </a:rPr>
              <a:t>class</a:t>
            </a:r>
            <a:r>
              <a:rPr sz="1100" spc="-25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Student:</a:t>
            </a:r>
            <a:endParaRPr sz="1100">
              <a:latin typeface="FreeMono"/>
              <a:cs typeface="FreeMono"/>
            </a:endParaRPr>
          </a:p>
          <a:p>
            <a:pPr marL="425450" marR="2069464">
              <a:lnSpc>
                <a:spcPct val="126499"/>
              </a:lnSpc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#Create</a:t>
            </a:r>
            <a:r>
              <a:rPr sz="11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r>
              <a:rPr sz="11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var  </a:t>
            </a:r>
            <a:r>
              <a:rPr sz="1100" dirty="0">
                <a:latin typeface="FreeMono"/>
                <a:cs typeface="FreeMono"/>
              </a:rPr>
              <a:t>n =</a:t>
            </a:r>
            <a:r>
              <a:rPr sz="1100" spc="-2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265620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latin typeface="FreeMono"/>
                <a:cs typeface="FreeMono"/>
              </a:rPr>
              <a:t>s1</a:t>
            </a:r>
            <a:r>
              <a:rPr sz="1100" spc="-5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=</a:t>
            </a:r>
            <a:r>
              <a:rPr sz="1100" spc="-5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Student()  s2 =</a:t>
            </a:r>
            <a:r>
              <a:rPr sz="1100" spc="-10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Student()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22542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#Modify the class var in</a:t>
            </a:r>
            <a:r>
              <a:rPr sz="1100" spc="-8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instance</a:t>
            </a:r>
            <a:r>
              <a:rPr sz="1100" spc="-1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namespace  </a:t>
            </a:r>
            <a:r>
              <a:rPr sz="1100" dirty="0">
                <a:latin typeface="FreeMono"/>
                <a:cs typeface="FreeMono"/>
              </a:rPr>
              <a:t>s1.n +=</a:t>
            </a:r>
            <a:r>
              <a:rPr sz="1100" spc="-1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1</a:t>
            </a:r>
            <a:endParaRPr sz="11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100">
              <a:latin typeface="FreeMono"/>
              <a:cs typeface="FreeMono"/>
            </a:endParaRPr>
          </a:p>
          <a:p>
            <a:pPr marL="90170" marR="560705">
              <a:lnSpc>
                <a:spcPct val="126499"/>
              </a:lnSpc>
              <a:spcBef>
                <a:spcPts val="69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#Access class var in</a:t>
            </a:r>
            <a:r>
              <a:rPr sz="1100" spc="-8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instance</a:t>
            </a:r>
            <a:r>
              <a:rPr sz="11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namespace  </a:t>
            </a:r>
            <a:r>
              <a:rPr sz="1100" dirty="0">
                <a:latin typeface="FreeMono"/>
                <a:cs typeface="FreeMono"/>
              </a:rPr>
              <a:t>print("s1.n: ",</a:t>
            </a:r>
            <a:r>
              <a:rPr sz="1100" spc="-1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s1.n)</a:t>
            </a:r>
            <a:endParaRPr sz="1100">
              <a:latin typeface="FreeMono"/>
              <a:cs typeface="FreeMono"/>
            </a:endParaRPr>
          </a:p>
          <a:p>
            <a:pPr marL="90170">
              <a:lnSpc>
                <a:spcPct val="100000"/>
              </a:lnSpc>
              <a:spcBef>
                <a:spcPts val="350"/>
              </a:spcBef>
            </a:pPr>
            <a:r>
              <a:rPr sz="1100" dirty="0">
                <a:latin typeface="FreeMono"/>
                <a:cs typeface="FreeMono"/>
              </a:rPr>
              <a:t>print("s2.n: ",</a:t>
            </a:r>
            <a:r>
              <a:rPr sz="1100" spc="-100" dirty="0">
                <a:latin typeface="FreeMono"/>
                <a:cs typeface="FreeMono"/>
              </a:rPr>
              <a:t> </a:t>
            </a:r>
            <a:r>
              <a:rPr sz="1100" dirty="0">
                <a:latin typeface="FreeMono"/>
                <a:cs typeface="FreeMono"/>
              </a:rPr>
              <a:t>s2.n)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64050" y="3313074"/>
            <a:ext cx="4320540" cy="0"/>
          </a:xfrm>
          <a:custGeom>
            <a:avLst/>
            <a:gdLst/>
            <a:ahLst/>
            <a:cxnLst/>
            <a:rect l="l" t="t" r="r" b="b"/>
            <a:pathLst>
              <a:path w="4320540">
                <a:moveTo>
                  <a:pt x="0" y="0"/>
                </a:moveTo>
                <a:lnTo>
                  <a:pt x="43205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688329" y="1296314"/>
            <a:ext cx="1654810" cy="647700"/>
            <a:chOff x="5688329" y="1296314"/>
            <a:chExt cx="1654810" cy="647700"/>
          </a:xfrm>
        </p:grpSpPr>
        <p:sp>
          <p:nvSpPr>
            <p:cNvPr id="7" name="object 7"/>
            <p:cNvSpPr/>
            <p:nvPr/>
          </p:nvSpPr>
          <p:spPr>
            <a:xfrm>
              <a:off x="5688329" y="129631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09" h="647700">
                  <a:moveTo>
                    <a:pt x="165481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654810" y="64770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88329" y="129631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09" h="647700">
                  <a:moveTo>
                    <a:pt x="826770" y="647700"/>
                  </a:moveTo>
                  <a:lnTo>
                    <a:pt x="0" y="647700"/>
                  </a:lnTo>
                  <a:lnTo>
                    <a:pt x="0" y="0"/>
                  </a:lnTo>
                  <a:lnTo>
                    <a:pt x="1654810" y="0"/>
                  </a:lnTo>
                  <a:lnTo>
                    <a:pt x="1654810" y="647700"/>
                  </a:lnTo>
                  <a:lnTo>
                    <a:pt x="826770" y="64770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336029" y="1513484"/>
            <a:ext cx="287020" cy="214629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36920" y="154523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21880" y="1797964"/>
            <a:ext cx="11671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FreeMono"/>
                <a:cs typeface="FreeMono"/>
              </a:rPr>
              <a:t>Class</a:t>
            </a:r>
            <a:r>
              <a:rPr sz="1000" spc="-55" dirty="0">
                <a:latin typeface="FreeMono"/>
                <a:cs typeface="FreeMono"/>
              </a:rPr>
              <a:t> </a:t>
            </a:r>
            <a:r>
              <a:rPr sz="1000" spc="-5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64050" y="1618894"/>
            <a:ext cx="1871980" cy="1405890"/>
            <a:chOff x="4464050" y="1618894"/>
            <a:chExt cx="1871980" cy="1405890"/>
          </a:xfrm>
        </p:grpSpPr>
        <p:sp>
          <p:nvSpPr>
            <p:cNvPr id="13" name="object 13"/>
            <p:cNvSpPr/>
            <p:nvPr/>
          </p:nvSpPr>
          <p:spPr>
            <a:xfrm>
              <a:off x="5976619" y="1656994"/>
              <a:ext cx="288290" cy="0"/>
            </a:xfrm>
            <a:custGeom>
              <a:avLst/>
              <a:gdLst/>
              <a:ahLst/>
              <a:cxnLst/>
              <a:rect l="l" t="t" r="r" b="b"/>
              <a:pathLst>
                <a:path w="288289">
                  <a:moveTo>
                    <a:pt x="0" y="0"/>
                  </a:moveTo>
                  <a:lnTo>
                    <a:pt x="28828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59829" y="161889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64050" y="237708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10" h="647700">
                  <a:moveTo>
                    <a:pt x="1654810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654810" y="64770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64050" y="237708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10" h="647700">
                  <a:moveTo>
                    <a:pt x="828039" y="647700"/>
                  </a:moveTo>
                  <a:lnTo>
                    <a:pt x="0" y="647700"/>
                  </a:lnTo>
                  <a:lnTo>
                    <a:pt x="0" y="0"/>
                  </a:lnTo>
                  <a:lnTo>
                    <a:pt x="1654810" y="0"/>
                  </a:lnTo>
                  <a:lnTo>
                    <a:pt x="1654810" y="647700"/>
                  </a:lnTo>
                  <a:lnTo>
                    <a:pt x="828039" y="64770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111750" y="2592984"/>
            <a:ext cx="287020" cy="214629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13909" y="262473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751704" y="2346604"/>
            <a:ext cx="3823335" cy="646430"/>
            <a:chOff x="4751704" y="2346604"/>
            <a:chExt cx="3823335" cy="646430"/>
          </a:xfrm>
        </p:grpSpPr>
        <p:sp>
          <p:nvSpPr>
            <p:cNvPr id="20" name="object 20"/>
            <p:cNvSpPr/>
            <p:nvPr/>
          </p:nvSpPr>
          <p:spPr>
            <a:xfrm>
              <a:off x="4752339" y="2736494"/>
              <a:ext cx="289560" cy="1270"/>
            </a:xfrm>
            <a:custGeom>
              <a:avLst/>
              <a:gdLst/>
              <a:ahLst/>
              <a:cxnLst/>
              <a:rect l="l" t="t" r="r" b="b"/>
              <a:pathLst>
                <a:path w="289560" h="1269">
                  <a:moveTo>
                    <a:pt x="0" y="0"/>
                  </a:moveTo>
                  <a:lnTo>
                    <a:pt x="289560" y="127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36819" y="269966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30">
                  <a:moveTo>
                    <a:pt x="0" y="0"/>
                  </a:moveTo>
                  <a:lnTo>
                    <a:pt x="0" y="74929"/>
                  </a:lnTo>
                  <a:lnTo>
                    <a:pt x="74929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918959" y="2346604"/>
              <a:ext cx="1656080" cy="646430"/>
            </a:xfrm>
            <a:custGeom>
              <a:avLst/>
              <a:gdLst/>
              <a:ahLst/>
              <a:cxnLst/>
              <a:rect l="l" t="t" r="r" b="b"/>
              <a:pathLst>
                <a:path w="1656079" h="646430">
                  <a:moveTo>
                    <a:pt x="1656080" y="0"/>
                  </a:moveTo>
                  <a:lnTo>
                    <a:pt x="0" y="0"/>
                  </a:lnTo>
                  <a:lnTo>
                    <a:pt x="0" y="646429"/>
                  </a:lnTo>
                  <a:lnTo>
                    <a:pt x="1656080" y="64642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18959" y="2346604"/>
              <a:ext cx="1656080" cy="646430"/>
            </a:xfrm>
            <a:custGeom>
              <a:avLst/>
              <a:gdLst/>
              <a:ahLst/>
              <a:cxnLst/>
              <a:rect l="l" t="t" r="r" b="b"/>
              <a:pathLst>
                <a:path w="1656079" h="646430">
                  <a:moveTo>
                    <a:pt x="828040" y="646429"/>
                  </a:moveTo>
                  <a:lnTo>
                    <a:pt x="0" y="646429"/>
                  </a:lnTo>
                  <a:lnTo>
                    <a:pt x="0" y="0"/>
                  </a:lnTo>
                  <a:lnTo>
                    <a:pt x="1656080" y="0"/>
                  </a:lnTo>
                  <a:lnTo>
                    <a:pt x="1656080" y="646429"/>
                  </a:lnTo>
                  <a:lnTo>
                    <a:pt x="828040" y="646429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560309" y="2554884"/>
            <a:ext cx="287020" cy="215900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61200" y="258663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17690" y="3019704"/>
            <a:ext cx="1397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FreeMono"/>
                <a:cs typeface="FreeMono"/>
              </a:rPr>
              <a:t>Instance</a:t>
            </a:r>
            <a:r>
              <a:rPr sz="1000" spc="-90" dirty="0">
                <a:latin typeface="FreeMono"/>
                <a:cs typeface="FreeMono"/>
              </a:rPr>
              <a:t> </a:t>
            </a:r>
            <a:r>
              <a:rPr sz="1000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400040" y="1728749"/>
            <a:ext cx="2160270" cy="1009015"/>
            <a:chOff x="5400040" y="1728749"/>
            <a:chExt cx="2160270" cy="1009015"/>
          </a:xfrm>
        </p:grpSpPr>
        <p:sp>
          <p:nvSpPr>
            <p:cNvPr id="28" name="object 28"/>
            <p:cNvSpPr/>
            <p:nvPr/>
          </p:nvSpPr>
          <p:spPr>
            <a:xfrm>
              <a:off x="5453380" y="1729384"/>
              <a:ext cx="955040" cy="817880"/>
            </a:xfrm>
            <a:custGeom>
              <a:avLst/>
              <a:gdLst/>
              <a:ahLst/>
              <a:cxnLst/>
              <a:rect l="l" t="t" r="r" b="b"/>
              <a:pathLst>
                <a:path w="955039" h="817880">
                  <a:moveTo>
                    <a:pt x="955040" y="0"/>
                  </a:moveTo>
                  <a:lnTo>
                    <a:pt x="0" y="8178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00040" y="2515514"/>
              <a:ext cx="82550" cy="77470"/>
            </a:xfrm>
            <a:custGeom>
              <a:avLst/>
              <a:gdLst/>
              <a:ahLst/>
              <a:cxnLst/>
              <a:rect l="l" t="t" r="r" b="b"/>
              <a:pathLst>
                <a:path w="82550" h="77469">
                  <a:moveTo>
                    <a:pt x="33020" y="0"/>
                  </a:moveTo>
                  <a:lnTo>
                    <a:pt x="0" y="77469"/>
                  </a:lnTo>
                  <a:lnTo>
                    <a:pt x="82550" y="57150"/>
                  </a:lnTo>
                  <a:lnTo>
                    <a:pt x="330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99630" y="2699664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59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84110" y="266156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51930" y="1729384"/>
              <a:ext cx="953769" cy="781050"/>
            </a:xfrm>
            <a:custGeom>
              <a:avLst/>
              <a:gdLst/>
              <a:ahLst/>
              <a:cxnLst/>
              <a:rect l="l" t="t" r="r" b="b"/>
              <a:pathLst>
                <a:path w="953770" h="781050">
                  <a:moveTo>
                    <a:pt x="0" y="0"/>
                  </a:moveTo>
                  <a:lnTo>
                    <a:pt x="953770" y="78105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77760" y="2478684"/>
              <a:ext cx="82550" cy="76200"/>
            </a:xfrm>
            <a:custGeom>
              <a:avLst/>
              <a:gdLst/>
              <a:ahLst/>
              <a:cxnLst/>
              <a:rect l="l" t="t" r="r" b="b"/>
              <a:pathLst>
                <a:path w="82550" h="76200">
                  <a:moveTo>
                    <a:pt x="48260" y="0"/>
                  </a:moveTo>
                  <a:lnTo>
                    <a:pt x="0" y="57150"/>
                  </a:lnTo>
                  <a:lnTo>
                    <a:pt x="82550" y="76200"/>
                  </a:lnTo>
                  <a:lnTo>
                    <a:pt x="48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469129" y="3074314"/>
            <a:ext cx="1397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FreeMono"/>
                <a:cs typeface="FreeMono"/>
              </a:rPr>
              <a:t>Instance</a:t>
            </a:r>
            <a:r>
              <a:rPr sz="1000" spc="-90" dirty="0">
                <a:latin typeface="FreeMono"/>
                <a:cs typeface="FreeMono"/>
              </a:rPr>
              <a:t> </a:t>
            </a:r>
            <a:r>
              <a:rPr sz="1000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607559" y="5832754"/>
            <a:ext cx="4320540" cy="0"/>
          </a:xfrm>
          <a:custGeom>
            <a:avLst/>
            <a:gdLst/>
            <a:ahLst/>
            <a:cxnLst/>
            <a:rect l="l" t="t" r="r" b="b"/>
            <a:pathLst>
              <a:path w="4320540">
                <a:moveTo>
                  <a:pt x="0" y="0"/>
                </a:moveTo>
                <a:lnTo>
                  <a:pt x="432054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5831840" y="3817264"/>
            <a:ext cx="1654810" cy="646430"/>
            <a:chOff x="5831840" y="3817264"/>
            <a:chExt cx="1654810" cy="646430"/>
          </a:xfrm>
        </p:grpSpPr>
        <p:sp>
          <p:nvSpPr>
            <p:cNvPr id="37" name="object 37"/>
            <p:cNvSpPr/>
            <p:nvPr/>
          </p:nvSpPr>
          <p:spPr>
            <a:xfrm>
              <a:off x="5831840" y="3817264"/>
              <a:ext cx="1654810" cy="646430"/>
            </a:xfrm>
            <a:custGeom>
              <a:avLst/>
              <a:gdLst/>
              <a:ahLst/>
              <a:cxnLst/>
              <a:rect l="l" t="t" r="r" b="b"/>
              <a:pathLst>
                <a:path w="1654809" h="646429">
                  <a:moveTo>
                    <a:pt x="1654810" y="0"/>
                  </a:moveTo>
                  <a:lnTo>
                    <a:pt x="0" y="0"/>
                  </a:lnTo>
                  <a:lnTo>
                    <a:pt x="0" y="646429"/>
                  </a:lnTo>
                  <a:lnTo>
                    <a:pt x="1654810" y="64642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31840" y="3817264"/>
              <a:ext cx="1654810" cy="646430"/>
            </a:xfrm>
            <a:custGeom>
              <a:avLst/>
              <a:gdLst/>
              <a:ahLst/>
              <a:cxnLst/>
              <a:rect l="l" t="t" r="r" b="b"/>
              <a:pathLst>
                <a:path w="1654809" h="646429">
                  <a:moveTo>
                    <a:pt x="828039" y="646429"/>
                  </a:moveTo>
                  <a:lnTo>
                    <a:pt x="0" y="646429"/>
                  </a:lnTo>
                  <a:lnTo>
                    <a:pt x="0" y="0"/>
                  </a:lnTo>
                  <a:lnTo>
                    <a:pt x="1654810" y="0"/>
                  </a:lnTo>
                  <a:lnTo>
                    <a:pt x="1654810" y="646429"/>
                  </a:lnTo>
                  <a:lnTo>
                    <a:pt x="828039" y="646429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479540" y="4033164"/>
            <a:ext cx="288290" cy="214629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981700" y="406491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565390" y="4318914"/>
            <a:ext cx="1168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FreeMono"/>
                <a:cs typeface="FreeMono"/>
              </a:rPr>
              <a:t>Class</a:t>
            </a:r>
            <a:r>
              <a:rPr sz="1000" spc="-90" dirty="0">
                <a:latin typeface="FreeMono"/>
                <a:cs typeface="FreeMono"/>
              </a:rPr>
              <a:t> </a:t>
            </a:r>
            <a:r>
              <a:rPr sz="1000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607559" y="4139844"/>
            <a:ext cx="1871980" cy="1404620"/>
            <a:chOff x="4607559" y="4139844"/>
            <a:chExt cx="1871980" cy="1404620"/>
          </a:xfrm>
        </p:grpSpPr>
        <p:sp>
          <p:nvSpPr>
            <p:cNvPr id="43" name="object 43"/>
            <p:cNvSpPr/>
            <p:nvPr/>
          </p:nvSpPr>
          <p:spPr>
            <a:xfrm>
              <a:off x="6120129" y="4176674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404609" y="4139844"/>
              <a:ext cx="74930" cy="74930"/>
            </a:xfrm>
            <a:custGeom>
              <a:avLst/>
              <a:gdLst/>
              <a:ahLst/>
              <a:cxnLst/>
              <a:rect l="l" t="t" r="r" b="b"/>
              <a:pathLst>
                <a:path w="74929" h="74929">
                  <a:moveTo>
                    <a:pt x="0" y="0"/>
                  </a:moveTo>
                  <a:lnTo>
                    <a:pt x="0" y="74930"/>
                  </a:lnTo>
                  <a:lnTo>
                    <a:pt x="74929" y="368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607559" y="4896764"/>
              <a:ext cx="1656080" cy="647700"/>
            </a:xfrm>
            <a:custGeom>
              <a:avLst/>
              <a:gdLst/>
              <a:ahLst/>
              <a:cxnLst/>
              <a:rect l="l" t="t" r="r" b="b"/>
              <a:pathLst>
                <a:path w="1656079" h="647700">
                  <a:moveTo>
                    <a:pt x="1656079" y="0"/>
                  </a:moveTo>
                  <a:lnTo>
                    <a:pt x="0" y="0"/>
                  </a:lnTo>
                  <a:lnTo>
                    <a:pt x="0" y="647699"/>
                  </a:lnTo>
                  <a:lnTo>
                    <a:pt x="1656079" y="6476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607559" y="4896764"/>
              <a:ext cx="1656080" cy="647700"/>
            </a:xfrm>
            <a:custGeom>
              <a:avLst/>
              <a:gdLst/>
              <a:ahLst/>
              <a:cxnLst/>
              <a:rect l="l" t="t" r="r" b="b"/>
              <a:pathLst>
                <a:path w="1656079" h="647700">
                  <a:moveTo>
                    <a:pt x="828039" y="647699"/>
                  </a:moveTo>
                  <a:lnTo>
                    <a:pt x="0" y="647699"/>
                  </a:lnTo>
                  <a:lnTo>
                    <a:pt x="0" y="0"/>
                  </a:lnTo>
                  <a:lnTo>
                    <a:pt x="1656079" y="0"/>
                  </a:lnTo>
                  <a:lnTo>
                    <a:pt x="1656079" y="647699"/>
                  </a:lnTo>
                  <a:lnTo>
                    <a:pt x="828039" y="647699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256529" y="5112664"/>
            <a:ext cx="287020" cy="215900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11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757420" y="514441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4895215" y="4866284"/>
            <a:ext cx="3823335" cy="647700"/>
            <a:chOff x="4895215" y="4866284"/>
            <a:chExt cx="3823335" cy="647700"/>
          </a:xfrm>
        </p:grpSpPr>
        <p:sp>
          <p:nvSpPr>
            <p:cNvPr id="50" name="object 50"/>
            <p:cNvSpPr/>
            <p:nvPr/>
          </p:nvSpPr>
          <p:spPr>
            <a:xfrm>
              <a:off x="4895850" y="5257444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60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80330" y="521934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63740" y="486628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09" h="647700">
                  <a:moveTo>
                    <a:pt x="1654809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1654809" y="64770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63740" y="4866284"/>
              <a:ext cx="1654810" cy="647700"/>
            </a:xfrm>
            <a:custGeom>
              <a:avLst/>
              <a:gdLst/>
              <a:ahLst/>
              <a:cxnLst/>
              <a:rect l="l" t="t" r="r" b="b"/>
              <a:pathLst>
                <a:path w="1654809" h="647700">
                  <a:moveTo>
                    <a:pt x="828039" y="647700"/>
                  </a:moveTo>
                  <a:lnTo>
                    <a:pt x="0" y="647700"/>
                  </a:lnTo>
                  <a:lnTo>
                    <a:pt x="0" y="0"/>
                  </a:lnTo>
                  <a:lnTo>
                    <a:pt x="1654809" y="0"/>
                  </a:lnTo>
                  <a:lnTo>
                    <a:pt x="1654809" y="647700"/>
                  </a:lnTo>
                  <a:lnTo>
                    <a:pt x="828039" y="647700"/>
                  </a:lnTo>
                  <a:close/>
                </a:path>
              </a:pathLst>
            </a:custGeom>
            <a:ln w="3175">
              <a:solidFill>
                <a:srgbClr val="EC1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703819" y="5074564"/>
            <a:ext cx="287020" cy="215900"/>
          </a:xfrm>
          <a:prstGeom prst="rect">
            <a:avLst/>
          </a:prstGeom>
          <a:solidFill>
            <a:srgbClr val="FFFACC"/>
          </a:solidFill>
          <a:ln w="3175">
            <a:solidFill>
              <a:srgbClr val="EC1B23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sz="1100" dirty="0">
                <a:latin typeface="FreeMono"/>
                <a:cs typeface="FreeMono"/>
              </a:rPr>
              <a:t>10</a:t>
            </a:r>
            <a:endParaRPr sz="1100">
              <a:latin typeface="FreeMono"/>
              <a:cs typeface="FreeMon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204709" y="5106314"/>
            <a:ext cx="1168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061200" y="5539384"/>
            <a:ext cx="13970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FreeMono"/>
                <a:cs typeface="FreeMono"/>
              </a:rPr>
              <a:t>Instance</a:t>
            </a:r>
            <a:r>
              <a:rPr sz="1000" spc="-90" dirty="0">
                <a:latin typeface="FreeMono"/>
                <a:cs typeface="FreeMono"/>
              </a:rPr>
              <a:t> </a:t>
            </a:r>
            <a:r>
              <a:rPr sz="1000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543550" y="4248429"/>
            <a:ext cx="2160270" cy="1009015"/>
            <a:chOff x="5543550" y="4248429"/>
            <a:chExt cx="2160270" cy="1009015"/>
          </a:xfrm>
        </p:grpSpPr>
        <p:sp>
          <p:nvSpPr>
            <p:cNvPr id="58" name="object 58"/>
            <p:cNvSpPr/>
            <p:nvPr/>
          </p:nvSpPr>
          <p:spPr>
            <a:xfrm>
              <a:off x="5598160" y="4249064"/>
              <a:ext cx="953769" cy="817880"/>
            </a:xfrm>
            <a:custGeom>
              <a:avLst/>
              <a:gdLst/>
              <a:ahLst/>
              <a:cxnLst/>
              <a:rect l="l" t="t" r="r" b="b"/>
              <a:pathLst>
                <a:path w="953770" h="817879">
                  <a:moveTo>
                    <a:pt x="953769" y="0"/>
                  </a:moveTo>
                  <a:lnTo>
                    <a:pt x="0" y="81787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543550" y="5035194"/>
              <a:ext cx="82550" cy="77470"/>
            </a:xfrm>
            <a:custGeom>
              <a:avLst/>
              <a:gdLst/>
              <a:ahLst/>
              <a:cxnLst/>
              <a:rect l="l" t="t" r="r" b="b"/>
              <a:pathLst>
                <a:path w="82550" h="77470">
                  <a:moveTo>
                    <a:pt x="33020" y="0"/>
                  </a:moveTo>
                  <a:lnTo>
                    <a:pt x="0" y="77469"/>
                  </a:lnTo>
                  <a:lnTo>
                    <a:pt x="82550" y="57150"/>
                  </a:lnTo>
                  <a:lnTo>
                    <a:pt x="330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44410" y="5219344"/>
              <a:ext cx="289560" cy="0"/>
            </a:xfrm>
            <a:custGeom>
              <a:avLst/>
              <a:gdLst/>
              <a:ahLst/>
              <a:cxnLst/>
              <a:rect l="l" t="t" r="r" b="b"/>
              <a:pathLst>
                <a:path w="289559">
                  <a:moveTo>
                    <a:pt x="0" y="0"/>
                  </a:moveTo>
                  <a:lnTo>
                    <a:pt x="28956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628889" y="5181244"/>
              <a:ext cx="74930" cy="76200"/>
            </a:xfrm>
            <a:custGeom>
              <a:avLst/>
              <a:gdLst/>
              <a:ahLst/>
              <a:cxnLst/>
              <a:rect l="l" t="t" r="r" b="b"/>
              <a:pathLst>
                <a:path w="74929" h="76200">
                  <a:moveTo>
                    <a:pt x="0" y="0"/>
                  </a:moveTo>
                  <a:lnTo>
                    <a:pt x="0" y="76200"/>
                  </a:lnTo>
                  <a:lnTo>
                    <a:pt x="74929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695439" y="4249064"/>
              <a:ext cx="953769" cy="781050"/>
            </a:xfrm>
            <a:custGeom>
              <a:avLst/>
              <a:gdLst/>
              <a:ahLst/>
              <a:cxnLst/>
              <a:rect l="l" t="t" r="r" b="b"/>
              <a:pathLst>
                <a:path w="953770" h="781050">
                  <a:moveTo>
                    <a:pt x="0" y="0"/>
                  </a:moveTo>
                  <a:lnTo>
                    <a:pt x="953769" y="7810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621270" y="4998364"/>
              <a:ext cx="82550" cy="76200"/>
            </a:xfrm>
            <a:custGeom>
              <a:avLst/>
              <a:gdLst/>
              <a:ahLst/>
              <a:cxnLst/>
              <a:rect l="l" t="t" r="r" b="b"/>
              <a:pathLst>
                <a:path w="82550" h="76200">
                  <a:moveTo>
                    <a:pt x="48259" y="0"/>
                  </a:moveTo>
                  <a:lnTo>
                    <a:pt x="0" y="58419"/>
                  </a:lnTo>
                  <a:lnTo>
                    <a:pt x="82550" y="76199"/>
                  </a:lnTo>
                  <a:lnTo>
                    <a:pt x="48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4613909" y="5577484"/>
            <a:ext cx="13950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latin typeface="FreeMono"/>
                <a:cs typeface="FreeMono"/>
              </a:rPr>
              <a:t>Instance</a:t>
            </a:r>
            <a:r>
              <a:rPr sz="1000" spc="-45" dirty="0">
                <a:latin typeface="FreeMono"/>
                <a:cs typeface="FreeMono"/>
              </a:rPr>
              <a:t> </a:t>
            </a:r>
            <a:r>
              <a:rPr sz="1000" spc="-5" dirty="0">
                <a:latin typeface="FreeMono"/>
                <a:cs typeface="FreeMono"/>
              </a:rPr>
              <a:t>Namespace</a:t>
            </a:r>
            <a:endParaRPr sz="1000">
              <a:latin typeface="FreeMono"/>
              <a:cs typeface="FreeMon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900929" y="1041044"/>
            <a:ext cx="3134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Before modifyng class variable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‘n’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00929" y="3417214"/>
            <a:ext cx="3042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After modifyng class variable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‘n’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359409" y="6264554"/>
            <a:ext cx="7199630" cy="431800"/>
            <a:chOff x="359409" y="6264554"/>
            <a:chExt cx="7199630" cy="431800"/>
          </a:xfrm>
        </p:grpSpPr>
        <p:sp>
          <p:nvSpPr>
            <p:cNvPr id="68" name="object 68"/>
            <p:cNvSpPr/>
            <p:nvPr/>
          </p:nvSpPr>
          <p:spPr>
            <a:xfrm>
              <a:off x="359409" y="6264554"/>
              <a:ext cx="7199630" cy="431800"/>
            </a:xfrm>
            <a:custGeom>
              <a:avLst/>
              <a:gdLst/>
              <a:ahLst/>
              <a:cxnLst/>
              <a:rect l="l" t="t" r="r" b="b"/>
              <a:pathLst>
                <a:path w="7199630" h="431800">
                  <a:moveTo>
                    <a:pt x="7127240" y="0"/>
                  </a:moveTo>
                  <a:lnTo>
                    <a:pt x="72389" y="0"/>
                  </a:lnTo>
                  <a:lnTo>
                    <a:pt x="46077" y="6131"/>
                  </a:lnTo>
                  <a:lnTo>
                    <a:pt x="22860" y="22383"/>
                  </a:lnTo>
                  <a:lnTo>
                    <a:pt x="6310" y="45541"/>
                  </a:lnTo>
                  <a:lnTo>
                    <a:pt x="0" y="72389"/>
                  </a:lnTo>
                  <a:lnTo>
                    <a:pt x="0" y="359409"/>
                  </a:lnTo>
                  <a:lnTo>
                    <a:pt x="6310" y="385722"/>
                  </a:lnTo>
                  <a:lnTo>
                    <a:pt x="22860" y="408939"/>
                  </a:lnTo>
                  <a:lnTo>
                    <a:pt x="46077" y="425489"/>
                  </a:lnTo>
                  <a:lnTo>
                    <a:pt x="72389" y="431799"/>
                  </a:lnTo>
                  <a:lnTo>
                    <a:pt x="7127240" y="431799"/>
                  </a:lnTo>
                  <a:lnTo>
                    <a:pt x="7154088" y="425489"/>
                  </a:lnTo>
                  <a:lnTo>
                    <a:pt x="7177246" y="408939"/>
                  </a:lnTo>
                  <a:lnTo>
                    <a:pt x="7193498" y="385722"/>
                  </a:lnTo>
                  <a:lnTo>
                    <a:pt x="7199630" y="359409"/>
                  </a:lnTo>
                  <a:lnTo>
                    <a:pt x="7199630" y="72389"/>
                  </a:lnTo>
                  <a:lnTo>
                    <a:pt x="7193498" y="45541"/>
                  </a:lnTo>
                  <a:lnTo>
                    <a:pt x="7177246" y="22383"/>
                  </a:lnTo>
                  <a:lnTo>
                    <a:pt x="7154088" y="6131"/>
                  </a:lnTo>
                  <a:lnTo>
                    <a:pt x="712724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59409" y="6264554"/>
              <a:ext cx="7199630" cy="431800"/>
            </a:xfrm>
            <a:custGeom>
              <a:avLst/>
              <a:gdLst/>
              <a:ahLst/>
              <a:cxnLst/>
              <a:rect l="l" t="t" r="r" b="b"/>
              <a:pathLst>
                <a:path w="7199630" h="431800">
                  <a:moveTo>
                    <a:pt x="72389" y="0"/>
                  </a:moveTo>
                  <a:lnTo>
                    <a:pt x="46077" y="6131"/>
                  </a:lnTo>
                  <a:lnTo>
                    <a:pt x="22860" y="22383"/>
                  </a:lnTo>
                  <a:lnTo>
                    <a:pt x="6310" y="45541"/>
                  </a:lnTo>
                  <a:lnTo>
                    <a:pt x="0" y="72389"/>
                  </a:lnTo>
                  <a:lnTo>
                    <a:pt x="0" y="359409"/>
                  </a:lnTo>
                  <a:lnTo>
                    <a:pt x="6310" y="385722"/>
                  </a:lnTo>
                  <a:lnTo>
                    <a:pt x="22859" y="408939"/>
                  </a:lnTo>
                  <a:lnTo>
                    <a:pt x="46077" y="425489"/>
                  </a:lnTo>
                  <a:lnTo>
                    <a:pt x="72389" y="431799"/>
                  </a:lnTo>
                  <a:lnTo>
                    <a:pt x="7127240" y="431799"/>
                  </a:lnTo>
                  <a:lnTo>
                    <a:pt x="7154088" y="425489"/>
                  </a:lnTo>
                  <a:lnTo>
                    <a:pt x="7177246" y="408939"/>
                  </a:lnTo>
                  <a:lnTo>
                    <a:pt x="7193498" y="385722"/>
                  </a:lnTo>
                  <a:lnTo>
                    <a:pt x="7199630" y="359409"/>
                  </a:lnTo>
                  <a:lnTo>
                    <a:pt x="7199630" y="72389"/>
                  </a:lnTo>
                  <a:lnTo>
                    <a:pt x="7193498" y="45541"/>
                  </a:lnTo>
                  <a:lnTo>
                    <a:pt x="7177246" y="22383"/>
                  </a:lnTo>
                  <a:lnTo>
                    <a:pt x="7154088" y="6131"/>
                  </a:lnTo>
                  <a:lnTo>
                    <a:pt x="7127240" y="0"/>
                  </a:lnTo>
                  <a:lnTo>
                    <a:pt x="72389" y="0"/>
                  </a:lnTo>
                  <a:close/>
                </a:path>
                <a:path w="7199630" h="431800">
                  <a:moveTo>
                    <a:pt x="0" y="0"/>
                  </a:moveTo>
                  <a:lnTo>
                    <a:pt x="0" y="0"/>
                  </a:lnTo>
                </a:path>
                <a:path w="7199630" h="431800">
                  <a:moveTo>
                    <a:pt x="7199630" y="431799"/>
                  </a:moveTo>
                  <a:lnTo>
                    <a:pt x="7199630" y="431799"/>
                  </a:lnTo>
                </a:path>
              </a:pathLst>
            </a:custGeom>
            <a:ln w="3175">
              <a:solidFill>
                <a:srgbClr val="172E7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36880" y="6270904"/>
            <a:ext cx="62280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If class vars are modified in instance namespace, then it reflects</a:t>
            </a:r>
            <a:r>
              <a:rPr sz="1100" spc="-9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only</a:t>
            </a:r>
            <a:r>
              <a:rPr sz="11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to  that</a:t>
            </a:r>
            <a:r>
              <a:rPr sz="1100" spc="-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100" dirty="0">
                <a:solidFill>
                  <a:srgbClr val="CC0066"/>
                </a:solidFill>
                <a:latin typeface="FreeMono"/>
                <a:cs typeface="FreeMono"/>
              </a:rPr>
              <a:t>instance</a:t>
            </a:r>
            <a:endParaRPr sz="11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37026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T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ypes </a:t>
            </a:r>
            <a:r>
              <a:rPr sz="3200" dirty="0">
                <a:solidFill>
                  <a:srgbClr val="FFFFFF"/>
                </a:solidFill>
                <a:latin typeface="DejaVu Sans"/>
                <a:cs typeface="DejaVu Sans"/>
              </a:rPr>
              <a:t>of</a:t>
            </a:r>
            <a:r>
              <a:rPr sz="3200" spc="-6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M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ethods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90144"/>
            <a:ext cx="2738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T</a:t>
            </a:r>
            <a:r>
              <a:rPr spc="-10" dirty="0"/>
              <a:t>ypes </a:t>
            </a:r>
            <a:r>
              <a:rPr dirty="0"/>
              <a:t>of</a:t>
            </a:r>
            <a:r>
              <a:rPr spc="-60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2250" y="115153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6880" y="1112164"/>
            <a:ext cx="574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Types: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4050" y="147792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680" y="1439824"/>
            <a:ext cx="148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Instance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5850" y="180431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1750" y="1766214"/>
            <a:ext cx="939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-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Accessor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5850" y="213070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01750" y="2092604"/>
            <a:ext cx="848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-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Mutator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4050" y="245709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8680" y="2418994"/>
            <a:ext cx="1214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4050" y="2784754"/>
            <a:ext cx="9398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925" dirty="0">
                <a:latin typeface="OpenSymbol"/>
                <a:cs typeface="OpenSymbol"/>
              </a:rPr>
              <a:t>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8680" y="2745384"/>
            <a:ext cx="1305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Static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T</a:t>
            </a:r>
            <a:r>
              <a:rPr spc="-10" dirty="0"/>
              <a:t>ypes </a:t>
            </a:r>
            <a:r>
              <a:rPr dirty="0"/>
              <a:t>of</a:t>
            </a:r>
            <a:r>
              <a:rPr spc="-60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601624"/>
            <a:ext cx="2093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I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nstance</a:t>
            </a:r>
            <a:r>
              <a:rPr sz="1800" spc="-60" dirty="0">
                <a:solidFill>
                  <a:srgbClr val="663399"/>
                </a:solidFill>
                <a:latin typeface="DejaVu Sans"/>
                <a:cs typeface="DejaVu Sans"/>
              </a:rPr>
              <a:t> </a:t>
            </a: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M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ethods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250" y="1151534"/>
            <a:ext cx="800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6880" y="1112164"/>
            <a:ext cx="4231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Acts upon the instance variables of that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class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250" y="1477924"/>
            <a:ext cx="800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880" y="1439824"/>
            <a:ext cx="35001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Invoked by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instance_name.method_name()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5900" y="1872894"/>
            <a:ext cx="4354830" cy="4032250"/>
          </a:xfrm>
          <a:custGeom>
            <a:avLst/>
            <a:gdLst/>
            <a:ahLst/>
            <a:cxnLst/>
            <a:rect l="l" t="t" r="r" b="b"/>
            <a:pathLst>
              <a:path w="4354830" h="4032250">
                <a:moveTo>
                  <a:pt x="4354830" y="0"/>
                </a:moveTo>
                <a:lnTo>
                  <a:pt x="0" y="0"/>
                </a:lnTo>
                <a:lnTo>
                  <a:pt x="0" y="4032250"/>
                </a:lnTo>
                <a:lnTo>
                  <a:pt x="4354830" y="4032250"/>
                </a:lnTo>
                <a:lnTo>
                  <a:pt x="435483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3370" y="1876704"/>
            <a:ext cx="3225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#To understanf the instance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370" y="2284374"/>
            <a:ext cx="2494280" cy="4749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Student:</a:t>
            </a:r>
            <a:endParaRPr sz="1200">
              <a:latin typeface="FreeMono"/>
              <a:cs typeface="FreeMono"/>
            </a:endParaRPr>
          </a:p>
          <a:p>
            <a:pPr marL="377825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#Constructor</a:t>
            </a:r>
            <a:r>
              <a:rPr sz="1200" spc="-9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definition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6489" y="2774594"/>
            <a:ext cx="1397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n = "", m =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0):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9130" y="2732683"/>
            <a:ext cx="167132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5760">
              <a:lnSpc>
                <a:spcPct val="122900"/>
              </a:lnSpc>
              <a:spcBef>
                <a:spcPts val="100"/>
              </a:spcBef>
              <a:tabLst>
                <a:tab pos="560705" algn="l"/>
                <a:tab pos="1109345" algn="l"/>
              </a:tabLst>
            </a:pPr>
            <a:r>
              <a:rPr sz="1200" dirty="0">
                <a:latin typeface="FreeMono"/>
                <a:cs typeface="FreeMono"/>
              </a:rPr>
              <a:t>def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latin typeface="FreeMono"/>
                <a:cs typeface="FreeMono"/>
              </a:rPr>
              <a:t>(self,  self.name = n  self.marks =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130" y="3631844"/>
            <a:ext cx="176276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7155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#Instance method  </a:t>
            </a:r>
            <a:r>
              <a:rPr sz="1200" dirty="0">
                <a:latin typeface="FreeMono"/>
                <a:cs typeface="FreeMono"/>
              </a:rPr>
              <a:t>def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putdata(self):</a:t>
            </a:r>
            <a:endParaRPr sz="1200">
              <a:latin typeface="FreeMono"/>
              <a:cs typeface="FreeMono"/>
            </a:endParaRPr>
          </a:p>
          <a:p>
            <a:pPr marL="37846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print("Name: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",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7929" y="4123334"/>
            <a:ext cx="939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self.name)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4889" y="4348124"/>
            <a:ext cx="2585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print("Marks: ",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self.marks)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70729" y="1872894"/>
            <a:ext cx="4357370" cy="4032250"/>
          </a:xfrm>
          <a:custGeom>
            <a:avLst/>
            <a:gdLst/>
            <a:ahLst/>
            <a:cxnLst/>
            <a:rect l="l" t="t" r="r" b="b"/>
            <a:pathLst>
              <a:path w="4357370" h="4032250">
                <a:moveTo>
                  <a:pt x="4357370" y="0"/>
                </a:moveTo>
                <a:lnTo>
                  <a:pt x="0" y="0"/>
                </a:lnTo>
                <a:lnTo>
                  <a:pt x="0" y="4032250"/>
                </a:lnTo>
                <a:lnTo>
                  <a:pt x="4357370" y="4032250"/>
                </a:lnTo>
                <a:lnTo>
                  <a:pt x="4357370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648200" y="1834793"/>
            <a:ext cx="3865879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#Constructor called without</a:t>
            </a:r>
            <a:r>
              <a:rPr sz="1200" spc="-7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any</a:t>
            </a:r>
            <a:r>
              <a:rPr sz="1200" spc="-2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parameters  </a:t>
            </a:r>
            <a:r>
              <a:rPr sz="1200" dirty="0">
                <a:latin typeface="FreeMono"/>
                <a:cs typeface="FreeMono"/>
              </a:rPr>
              <a:t>s =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Student()</a:t>
            </a:r>
            <a:endParaRPr sz="12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s.putdata()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48200" y="2732683"/>
            <a:ext cx="322580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#Constructor called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with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parameters  </a:t>
            </a:r>
            <a:r>
              <a:rPr sz="1200" dirty="0">
                <a:latin typeface="FreeMono"/>
                <a:cs typeface="FreeMono"/>
              </a:rPr>
              <a:t>s = Student("Ram",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99)</a:t>
            </a:r>
            <a:endParaRPr sz="1200">
              <a:latin typeface="FreeMono"/>
              <a:cs typeface="FreeMono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s.putdata()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T</a:t>
            </a:r>
            <a:r>
              <a:rPr spc="-10" dirty="0"/>
              <a:t>ypes </a:t>
            </a:r>
            <a:r>
              <a:rPr dirty="0"/>
              <a:t>of</a:t>
            </a:r>
            <a:r>
              <a:rPr spc="-60" dirty="0"/>
              <a:t> </a:t>
            </a:r>
            <a:r>
              <a:rPr spc="-5" dirty="0"/>
              <a:t>Methods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2570" y="2952394"/>
          <a:ext cx="8712200" cy="3131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4830"/>
                <a:gridCol w="4357370"/>
              </a:tblGrid>
              <a:tr h="460375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#To understand accessor and</a:t>
                      </a:r>
                      <a:r>
                        <a:rPr sz="1200" spc="-3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mutator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6510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#Create an</a:t>
                      </a:r>
                      <a:r>
                        <a:rPr sz="1200" spc="-1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objects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 =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Student()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6510" marB="0">
                    <a:solidFill>
                      <a:srgbClr val="DCDCDC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#Create the</a:t>
                      </a:r>
                      <a:r>
                        <a:rPr sz="1200" spc="-1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class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class</a:t>
                      </a:r>
                      <a:r>
                        <a:rPr sz="12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Student: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571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90170" marR="2797175">
                        <a:lnSpc>
                          <a:spcPct val="122900"/>
                        </a:lnSpc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#Set the name 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s.setName("Ram")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5715" marB="0">
                    <a:solidFill>
                      <a:srgbClr val="DCDCDC"/>
                    </a:solidFill>
                  </a:tcPr>
                </a:tc>
              </a:tr>
              <a:tr h="786129">
                <a:tc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#Define</a:t>
                      </a:r>
                      <a:r>
                        <a:rPr sz="1200" spc="-5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mutator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821055" marR="1697355" indent="-365760">
                        <a:lnSpc>
                          <a:spcPct val="1229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def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setName(self,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name):  self.name =</a:t>
                      </a:r>
                      <a:r>
                        <a:rPr sz="1200" spc="-3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name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571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#Print the</a:t>
                      </a:r>
                      <a:r>
                        <a:rPr sz="1200" spc="-1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name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print("Name: ",</a:t>
                      </a:r>
                      <a:r>
                        <a:rPr sz="1200" spc="-1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s.getName())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3810" marB="0">
                    <a:solidFill>
                      <a:srgbClr val="DCDCDC"/>
                    </a:solidFill>
                  </a:tcPr>
                </a:tc>
              </a:tr>
              <a:tr h="1210945">
                <a:tc>
                  <a:txBody>
                    <a:bodyPr/>
                    <a:lstStyle/>
                    <a:p>
                      <a:pPr marL="455930" marR="2245995">
                        <a:lnSpc>
                          <a:spcPct val="122900"/>
                        </a:lnSpc>
                        <a:spcBef>
                          <a:spcPts val="595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#Define accessor 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def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getName(self):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8210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return</a:t>
                      </a:r>
                      <a:r>
                        <a:rPr sz="12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self.name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75565" marB="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84479" y="1126134"/>
            <a:ext cx="4342130" cy="321310"/>
          </a:xfrm>
          <a:custGeom>
            <a:avLst/>
            <a:gdLst/>
            <a:ahLst/>
            <a:cxnLst/>
            <a:rect l="l" t="t" r="r" b="b"/>
            <a:pathLst>
              <a:path w="4342130" h="321309">
                <a:moveTo>
                  <a:pt x="4342130" y="0"/>
                </a:moveTo>
                <a:lnTo>
                  <a:pt x="0" y="0"/>
                </a:lnTo>
                <a:lnTo>
                  <a:pt x="0" y="321310"/>
                </a:lnTo>
                <a:lnTo>
                  <a:pt x="4342130" y="321310"/>
                </a:lnTo>
                <a:lnTo>
                  <a:pt x="434213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4669" y="601624"/>
            <a:ext cx="4234180" cy="736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I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nstance </a:t>
            </a: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M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ethods: </a:t>
            </a:r>
            <a:r>
              <a:rPr sz="1600" spc="-10" dirty="0">
                <a:solidFill>
                  <a:srgbClr val="CC0066"/>
                </a:solidFill>
                <a:latin typeface="DejaVu Sans"/>
                <a:cs typeface="DejaVu Sans"/>
              </a:rPr>
              <a:t>Accessor </a:t>
            </a:r>
            <a:r>
              <a:rPr sz="1600" dirty="0">
                <a:solidFill>
                  <a:srgbClr val="CC0066"/>
                </a:solidFill>
                <a:latin typeface="DejaVu Sans"/>
                <a:cs typeface="DejaVu Sans"/>
              </a:rPr>
              <a:t>+</a:t>
            </a:r>
            <a:r>
              <a:rPr sz="1600" spc="-50" dirty="0">
                <a:solidFill>
                  <a:srgbClr val="CC0066"/>
                </a:solidFill>
                <a:latin typeface="DejaVu Sans"/>
                <a:cs typeface="DejaVu Sans"/>
              </a:rPr>
              <a:t> </a:t>
            </a:r>
            <a:r>
              <a:rPr sz="1600" spc="-5" dirty="0">
                <a:solidFill>
                  <a:srgbClr val="CC0066"/>
                </a:solidFill>
                <a:latin typeface="DejaVu Sans"/>
                <a:cs typeface="DejaVu Sans"/>
              </a:rPr>
              <a:t>Mutator</a:t>
            </a:r>
            <a:endParaRPr sz="1600">
              <a:latin typeface="DejaVu Sans"/>
              <a:cs typeface="DejaVu San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DejaVu Sans"/>
              <a:cs typeface="DejaVu Sans"/>
            </a:endParaRPr>
          </a:p>
          <a:p>
            <a:pPr marR="382905" algn="ctr">
              <a:lnSpc>
                <a:spcPct val="1000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Accessor</a:t>
            </a:r>
            <a:endParaRPr sz="1200">
              <a:latin typeface="FreeMono"/>
              <a:cs typeface="FreeMono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4479" y="1126134"/>
            <a:ext cx="8685530" cy="1484630"/>
            <a:chOff x="284479" y="1126134"/>
            <a:chExt cx="8685530" cy="1484630"/>
          </a:xfrm>
        </p:grpSpPr>
        <p:sp>
          <p:nvSpPr>
            <p:cNvPr id="7" name="object 7"/>
            <p:cNvSpPr/>
            <p:nvPr/>
          </p:nvSpPr>
          <p:spPr>
            <a:xfrm>
              <a:off x="4626609" y="1126134"/>
              <a:ext cx="4343400" cy="321310"/>
            </a:xfrm>
            <a:custGeom>
              <a:avLst/>
              <a:gdLst/>
              <a:ahLst/>
              <a:cxnLst/>
              <a:rect l="l" t="t" r="r" b="b"/>
              <a:pathLst>
                <a:path w="4343400" h="321309">
                  <a:moveTo>
                    <a:pt x="4343399" y="0"/>
                  </a:moveTo>
                  <a:lnTo>
                    <a:pt x="0" y="0"/>
                  </a:lnTo>
                  <a:lnTo>
                    <a:pt x="0" y="321310"/>
                  </a:lnTo>
                  <a:lnTo>
                    <a:pt x="4343399" y="321310"/>
                  </a:lnTo>
                  <a:lnTo>
                    <a:pt x="4343399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4479" y="1447444"/>
              <a:ext cx="4342130" cy="1163320"/>
            </a:xfrm>
            <a:custGeom>
              <a:avLst/>
              <a:gdLst/>
              <a:ahLst/>
              <a:cxnLst/>
              <a:rect l="l" t="t" r="r" b="b"/>
              <a:pathLst>
                <a:path w="4342130" h="1163320">
                  <a:moveTo>
                    <a:pt x="4342130" y="0"/>
                  </a:moveTo>
                  <a:lnTo>
                    <a:pt x="0" y="0"/>
                  </a:lnTo>
                  <a:lnTo>
                    <a:pt x="0" y="1163320"/>
                  </a:lnTo>
                  <a:lnTo>
                    <a:pt x="4342130" y="1163320"/>
                  </a:lnTo>
                  <a:lnTo>
                    <a:pt x="434213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74650" y="1505864"/>
            <a:ext cx="673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550" y="1451254"/>
            <a:ext cx="3853179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5080">
              <a:lnSpc>
                <a:spcPts val="1200"/>
              </a:lnSpc>
              <a:spcBef>
                <a:spcPts val="340"/>
              </a:spcBef>
            </a:pPr>
            <a:r>
              <a:rPr sz="1200" dirty="0">
                <a:latin typeface="FreeMono"/>
                <a:cs typeface="FreeMono"/>
              </a:rPr>
              <a:t>Methods just reads the</a:t>
            </a:r>
            <a:r>
              <a:rPr sz="1200" spc="-8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instance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variables,  will not modify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it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4650" y="1964334"/>
            <a:ext cx="673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0550" y="1909724"/>
            <a:ext cx="36703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Generally written in the form: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getXXXX()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650" y="2269134"/>
            <a:ext cx="673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550" y="2214524"/>
            <a:ext cx="2390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Also called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getter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26609" y="1447444"/>
            <a:ext cx="4343400" cy="1163320"/>
          </a:xfrm>
          <a:custGeom>
            <a:avLst/>
            <a:gdLst/>
            <a:ahLst/>
            <a:cxnLst/>
            <a:rect l="l" t="t" r="r" b="b"/>
            <a:pathLst>
              <a:path w="4343400" h="1163320">
                <a:moveTo>
                  <a:pt x="4343399" y="0"/>
                </a:moveTo>
                <a:lnTo>
                  <a:pt x="0" y="0"/>
                </a:lnTo>
                <a:lnTo>
                  <a:pt x="0" y="1163320"/>
                </a:lnTo>
                <a:lnTo>
                  <a:pt x="4343399" y="1163320"/>
                </a:lnTo>
                <a:lnTo>
                  <a:pt x="434339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716779" y="1505864"/>
            <a:ext cx="673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16779" y="1964334"/>
            <a:ext cx="673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16779" y="2269134"/>
            <a:ext cx="673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32679" y="1129944"/>
            <a:ext cx="3761740" cy="1292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0955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Mutator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FreeMono"/>
              <a:cs typeface="FreeMono"/>
            </a:endParaRPr>
          </a:p>
          <a:p>
            <a:pPr marR="5080">
              <a:lnSpc>
                <a:spcPts val="1200"/>
              </a:lnSpc>
            </a:pPr>
            <a:r>
              <a:rPr sz="1200" dirty="0">
                <a:latin typeface="FreeMono"/>
                <a:cs typeface="FreeMono"/>
              </a:rPr>
              <a:t>Not only reads the data but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also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modifies  it</a:t>
            </a:r>
            <a:endParaRPr sz="1200">
              <a:latin typeface="FreeMono"/>
              <a:cs typeface="FreeMono"/>
            </a:endParaRPr>
          </a:p>
          <a:p>
            <a:pPr marR="97155">
              <a:lnSpc>
                <a:spcPct val="166700"/>
              </a:lnSpc>
              <a:spcBef>
                <a:spcPts val="10"/>
              </a:spcBef>
            </a:pPr>
            <a:r>
              <a:rPr sz="1200" dirty="0">
                <a:latin typeface="FreeMono"/>
                <a:cs typeface="FreeMono"/>
              </a:rPr>
              <a:t>Generally wriiten in the</a:t>
            </a:r>
            <a:r>
              <a:rPr sz="1200" spc="-8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form: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setXXXX()  </a:t>
            </a:r>
            <a:r>
              <a:rPr sz="1200" dirty="0">
                <a:latin typeface="FreeMono"/>
                <a:cs typeface="FreeMono"/>
              </a:rPr>
              <a:t>Also called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setter</a:t>
            </a:r>
            <a:r>
              <a:rPr sz="1200" spc="-2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T</a:t>
            </a:r>
            <a:r>
              <a:rPr spc="-10" dirty="0"/>
              <a:t>ypes </a:t>
            </a:r>
            <a:r>
              <a:rPr dirty="0"/>
              <a:t>of</a:t>
            </a:r>
            <a:r>
              <a:rPr spc="-60" dirty="0"/>
              <a:t> </a:t>
            </a:r>
            <a:r>
              <a:rPr spc="-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601624"/>
            <a:ext cx="17138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C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lass</a:t>
            </a:r>
            <a:r>
              <a:rPr sz="1800" spc="-65" dirty="0">
                <a:solidFill>
                  <a:srgbClr val="663399"/>
                </a:solidFill>
                <a:latin typeface="DejaVu Sans"/>
                <a:cs typeface="DejaVu Sans"/>
              </a:rPr>
              <a:t> </a:t>
            </a: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M</a:t>
            </a:r>
            <a:r>
              <a:rPr sz="1800" spc="-5" dirty="0">
                <a:solidFill>
                  <a:srgbClr val="663399"/>
                </a:solidFill>
                <a:latin typeface="DejaVu Sans"/>
                <a:cs typeface="DejaVu Sans"/>
              </a:rPr>
              <a:t>ethods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400" y="2403754"/>
            <a:ext cx="8685530" cy="328549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65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#To understand the class</a:t>
            </a:r>
            <a:r>
              <a:rPr sz="1200" spc="-1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</a:pPr>
            <a:endParaRPr sz="1200">
              <a:latin typeface="FreeMono"/>
              <a:cs typeface="FreeMono"/>
            </a:endParaRPr>
          </a:p>
          <a:p>
            <a:pPr marL="90170">
              <a:lnSpc>
                <a:spcPct val="100000"/>
              </a:lnSpc>
              <a:spcBef>
                <a:spcPts val="89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Bird:</a:t>
            </a:r>
            <a:endParaRPr sz="1200">
              <a:latin typeface="FreeMono"/>
              <a:cs typeface="FreeMono"/>
            </a:endParaRPr>
          </a:p>
          <a:p>
            <a:pPr marL="455930" marR="5845175">
              <a:lnSpc>
                <a:spcPct val="122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#Define the class</a:t>
            </a:r>
            <a:r>
              <a:rPr sz="1200" spc="-7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var</a:t>
            </a:r>
            <a:r>
              <a:rPr sz="1200" spc="-2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here  </a:t>
            </a:r>
            <a:r>
              <a:rPr sz="1200" dirty="0">
                <a:latin typeface="FreeMono"/>
                <a:cs typeface="FreeMono"/>
              </a:rPr>
              <a:t>wings =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2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FreeMono"/>
              <a:cs typeface="FreeMono"/>
            </a:endParaRPr>
          </a:p>
          <a:p>
            <a:pPr marL="455930" marR="6028055">
              <a:lnSpc>
                <a:spcPct val="122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#Define the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  </a:t>
            </a:r>
            <a:r>
              <a:rPr sz="1200" dirty="0">
                <a:latin typeface="FreeMono"/>
                <a:cs typeface="FreeMono"/>
              </a:rPr>
              <a:t>@classmethod</a:t>
            </a:r>
            <a:endParaRPr sz="1200">
              <a:latin typeface="FreeMono"/>
              <a:cs typeface="FreeMono"/>
            </a:endParaRPr>
          </a:p>
          <a:p>
            <a:pPr marL="45593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def fly(cls,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name):</a:t>
            </a:r>
            <a:endParaRPr sz="1200">
              <a:latin typeface="FreeMono"/>
              <a:cs typeface="FreeMono"/>
            </a:endParaRPr>
          </a:p>
          <a:p>
            <a:pPr marL="821690">
              <a:lnSpc>
                <a:spcPct val="100000"/>
              </a:lnSpc>
              <a:spcBef>
                <a:spcPts val="320"/>
              </a:spcBef>
            </a:pPr>
            <a:r>
              <a:rPr sz="1200" dirty="0">
                <a:latin typeface="FreeMono"/>
                <a:cs typeface="FreeMono"/>
              </a:rPr>
              <a:t>print("{} flies with {} wings" . format(name,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cls.wings))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FreeMono"/>
              <a:cs typeface="FreeMono"/>
            </a:endParaRPr>
          </a:p>
          <a:p>
            <a:pPr marL="90170" marR="6851015">
              <a:lnSpc>
                <a:spcPct val="122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#Call  </a:t>
            </a:r>
            <a:r>
              <a:rPr sz="1200" dirty="0">
                <a:latin typeface="FreeMono"/>
                <a:cs typeface="FreeMono"/>
              </a:rPr>
              <a:t>Bird.fly("Sparrow")  Bird.fly("Pigeon")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4479" y="1126134"/>
            <a:ext cx="8685530" cy="1145540"/>
          </a:xfrm>
          <a:custGeom>
            <a:avLst/>
            <a:gdLst/>
            <a:ahLst/>
            <a:cxnLst/>
            <a:rect l="l" t="t" r="r" b="b"/>
            <a:pathLst>
              <a:path w="8685530" h="1145539">
                <a:moveTo>
                  <a:pt x="8685530" y="0"/>
                </a:moveTo>
                <a:lnTo>
                  <a:pt x="0" y="0"/>
                </a:lnTo>
                <a:lnTo>
                  <a:pt x="0" y="1145539"/>
                </a:lnTo>
                <a:lnTo>
                  <a:pt x="8685530" y="1145539"/>
                </a:lnTo>
                <a:lnTo>
                  <a:pt x="868553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4650" y="1184554"/>
            <a:ext cx="67310" cy="1005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endParaRPr sz="500">
              <a:latin typeface="OpenSymbol"/>
              <a:cs typeface="OpenSymbo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endParaRPr sz="500">
              <a:latin typeface="OpenSymbol"/>
              <a:cs typeface="OpenSymbo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endParaRPr sz="500">
              <a:latin typeface="OpenSymbol"/>
              <a:cs typeface="OpenSymbo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">
              <a:latin typeface="OpenSymbol"/>
              <a:cs typeface="OpenSymbo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endParaRPr sz="500">
              <a:latin typeface="OpenSymbol"/>
              <a:cs typeface="OpenSymbo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550" y="1088034"/>
            <a:ext cx="4036060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10236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This methods acts on</a:t>
            </a:r>
            <a:r>
              <a:rPr sz="1200" spc="-8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level  Acts on class variables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only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Written using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@classmethod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decorator</a:t>
            </a:r>
            <a:endParaRPr sz="1200">
              <a:latin typeface="FreeMono"/>
              <a:cs typeface="FreeMono"/>
            </a:endParaRPr>
          </a:p>
          <a:p>
            <a:pPr marR="5080">
              <a:lnSpc>
                <a:spcPct val="122900"/>
              </a:lnSpc>
            </a:pPr>
            <a:r>
              <a:rPr sz="1200" dirty="0">
                <a:latin typeface="FreeMono"/>
                <a:cs typeface="FreeMono"/>
              </a:rPr>
              <a:t>First param is 'cls', followed by</a:t>
            </a:r>
            <a:r>
              <a:rPr sz="1200" spc="-9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any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params  Accessed by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classname.method()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7387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DejaVu Sans"/>
                <a:cs typeface="DejaVu Sans"/>
              </a:rPr>
              <a:t>T</a:t>
            </a:r>
            <a:r>
              <a:rPr spc="-10" dirty="0"/>
              <a:t>ypes </a:t>
            </a:r>
            <a:r>
              <a:rPr dirty="0"/>
              <a:t>of</a:t>
            </a:r>
            <a:r>
              <a:rPr spc="-60" dirty="0"/>
              <a:t> </a:t>
            </a:r>
            <a:r>
              <a:rPr spc="-5" dirty="0"/>
              <a:t>Methods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S</a:t>
            </a:r>
            <a:r>
              <a:rPr sz="1800" spc="-5" dirty="0">
                <a:solidFill>
                  <a:srgbClr val="663399"/>
                </a:solidFill>
              </a:rPr>
              <a:t>tatic</a:t>
            </a:r>
            <a:r>
              <a:rPr sz="1800" spc="-10" dirty="0">
                <a:solidFill>
                  <a:srgbClr val="663399"/>
                </a:solidFill>
              </a:rPr>
              <a:t> </a:t>
            </a: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M</a:t>
            </a:r>
            <a:r>
              <a:rPr sz="1800" spc="-5" dirty="0">
                <a:solidFill>
                  <a:srgbClr val="663399"/>
                </a:solidFill>
              </a:rPr>
              <a:t>ethods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0979" y="2838094"/>
            <a:ext cx="5057140" cy="3355340"/>
          </a:xfrm>
          <a:custGeom>
            <a:avLst/>
            <a:gdLst/>
            <a:ahLst/>
            <a:cxnLst/>
            <a:rect l="l" t="t" r="r" b="b"/>
            <a:pathLst>
              <a:path w="5057140" h="3355340">
                <a:moveTo>
                  <a:pt x="5057140" y="0"/>
                </a:moveTo>
                <a:lnTo>
                  <a:pt x="0" y="0"/>
                </a:lnTo>
                <a:lnTo>
                  <a:pt x="0" y="3355340"/>
                </a:lnTo>
                <a:lnTo>
                  <a:pt x="5057140" y="3355340"/>
                </a:lnTo>
                <a:lnTo>
                  <a:pt x="505714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1150" y="2841904"/>
            <a:ext cx="2573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#To Understand static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150" y="3249574"/>
            <a:ext cx="2024380" cy="6985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Sample:</a:t>
            </a:r>
            <a:endParaRPr sz="1200">
              <a:latin typeface="FreeMono"/>
              <a:cs typeface="FreeMono"/>
            </a:endParaRPr>
          </a:p>
          <a:p>
            <a:pPr marL="365125" marR="5080">
              <a:lnSpc>
                <a:spcPct val="122200"/>
              </a:lnSpc>
              <a:spcBef>
                <a:spcPts val="1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#Define class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vars  </a:t>
            </a:r>
            <a:r>
              <a:rPr sz="1200" dirty="0">
                <a:latin typeface="FreeMono"/>
                <a:cs typeface="FreeMono"/>
              </a:rPr>
              <a:t>n =</a:t>
            </a:r>
            <a:r>
              <a:rPr sz="1200" spc="-1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0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909" y="4147463"/>
            <a:ext cx="248158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1475">
              <a:lnSpc>
                <a:spcPct val="122900"/>
              </a:lnSpc>
              <a:spcBef>
                <a:spcPts val="100"/>
              </a:spcBef>
              <a:tabLst>
                <a:tab pos="548005" algn="l"/>
                <a:tab pos="1096645" algn="l"/>
              </a:tabLst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#Define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the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constructor  </a:t>
            </a:r>
            <a:r>
              <a:rPr sz="1200" dirty="0">
                <a:latin typeface="FreeMono"/>
                <a:cs typeface="FreeMono"/>
              </a:rPr>
              <a:t>def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latin typeface="FreeMono"/>
                <a:cs typeface="FreeMono"/>
              </a:rPr>
              <a:t>(self):</a:t>
            </a:r>
            <a:endParaRPr sz="1200">
              <a:latin typeface="FreeMono"/>
              <a:cs typeface="FreeMono"/>
            </a:endParaRPr>
          </a:p>
          <a:p>
            <a:pPr marL="365125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Sample.n = Sample.n +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6909" y="5046624"/>
            <a:ext cx="4493260" cy="923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19964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#Define the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static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  </a:t>
            </a:r>
            <a:r>
              <a:rPr sz="1200" dirty="0">
                <a:latin typeface="FreeMono"/>
                <a:cs typeface="FreeMono"/>
              </a:rPr>
              <a:t>@staticmethod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def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putdata():</a:t>
            </a:r>
            <a:endParaRPr sz="1200">
              <a:latin typeface="FreeMono"/>
              <a:cs typeface="FreeMono"/>
            </a:endParaRPr>
          </a:p>
          <a:p>
            <a:pPr marL="365125">
              <a:lnSpc>
                <a:spcPct val="100000"/>
              </a:lnSpc>
              <a:spcBef>
                <a:spcPts val="320"/>
              </a:spcBef>
            </a:pPr>
            <a:r>
              <a:rPr sz="1200" dirty="0">
                <a:latin typeface="FreeMono"/>
                <a:cs typeface="FreeMono"/>
              </a:rPr>
              <a:t>print("No. of instances created: ",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Sample.n)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78120" y="2838094"/>
            <a:ext cx="3649979" cy="3355340"/>
          </a:xfrm>
          <a:custGeom>
            <a:avLst/>
            <a:gdLst/>
            <a:ahLst/>
            <a:cxnLst/>
            <a:rect l="l" t="t" r="r" b="b"/>
            <a:pathLst>
              <a:path w="3649979" h="3355340">
                <a:moveTo>
                  <a:pt x="3649979" y="0"/>
                </a:moveTo>
                <a:lnTo>
                  <a:pt x="0" y="0"/>
                </a:lnTo>
                <a:lnTo>
                  <a:pt x="0" y="3355340"/>
                </a:lnTo>
                <a:lnTo>
                  <a:pt x="3649979" y="3355340"/>
                </a:lnTo>
                <a:lnTo>
                  <a:pt x="3649979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68290" y="2799993"/>
            <a:ext cx="1567180" cy="92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#Create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3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objects  </a:t>
            </a:r>
            <a:r>
              <a:rPr sz="1200" dirty="0">
                <a:latin typeface="FreeMono"/>
                <a:cs typeface="FreeMono"/>
              </a:rPr>
              <a:t>s1 =</a:t>
            </a:r>
            <a:r>
              <a:rPr sz="1200" spc="-3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Sample()</a:t>
            </a:r>
            <a:endParaRPr sz="1200">
              <a:latin typeface="FreeMono"/>
              <a:cs typeface="FreeMono"/>
            </a:endParaRPr>
          </a:p>
          <a:p>
            <a:pPr marR="371475">
              <a:lnSpc>
                <a:spcPct val="122900"/>
              </a:lnSpc>
            </a:pPr>
            <a:r>
              <a:rPr sz="1200" dirty="0">
                <a:latin typeface="FreeMono"/>
                <a:cs typeface="FreeMono"/>
              </a:rPr>
              <a:t>s2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=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Sample()  s3 =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Sample()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68290" y="3922674"/>
            <a:ext cx="1841500" cy="47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#Class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static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method  </a:t>
            </a:r>
            <a:r>
              <a:rPr sz="1200" dirty="0">
                <a:latin typeface="FreeMono"/>
                <a:cs typeface="FreeMono"/>
              </a:rPr>
              <a:t>Sample.putdata()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0979" y="2838094"/>
            <a:ext cx="8707120" cy="3355340"/>
          </a:xfrm>
          <a:custGeom>
            <a:avLst/>
            <a:gdLst/>
            <a:ahLst/>
            <a:cxnLst/>
            <a:rect l="l" t="t" r="r" b="b"/>
            <a:pathLst>
              <a:path w="8707120" h="3355340">
                <a:moveTo>
                  <a:pt x="0" y="3355340"/>
                </a:moveTo>
                <a:lnTo>
                  <a:pt x="5058410" y="3355340"/>
                </a:lnTo>
              </a:path>
              <a:path w="8707120" h="3355340">
                <a:moveTo>
                  <a:pt x="5057140" y="3355340"/>
                </a:moveTo>
                <a:lnTo>
                  <a:pt x="8707120" y="3355340"/>
                </a:lnTo>
              </a:path>
              <a:path w="8707120" h="3355340">
                <a:moveTo>
                  <a:pt x="0" y="0"/>
                </a:moveTo>
                <a:lnTo>
                  <a:pt x="0" y="335534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5900" y="1126134"/>
            <a:ext cx="8754110" cy="1595120"/>
          </a:xfrm>
          <a:custGeom>
            <a:avLst/>
            <a:gdLst/>
            <a:ahLst/>
            <a:cxnLst/>
            <a:rect l="l" t="t" r="r" b="b"/>
            <a:pathLst>
              <a:path w="8754110" h="1595120">
                <a:moveTo>
                  <a:pt x="8754110" y="0"/>
                </a:moveTo>
                <a:lnTo>
                  <a:pt x="0" y="0"/>
                </a:lnTo>
                <a:lnTo>
                  <a:pt x="0" y="1595120"/>
                </a:lnTo>
                <a:lnTo>
                  <a:pt x="8754110" y="1595120"/>
                </a:lnTo>
                <a:lnTo>
                  <a:pt x="875411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6070" y="1184554"/>
            <a:ext cx="673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1969" y="1129944"/>
            <a:ext cx="7876540" cy="3606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5080">
              <a:lnSpc>
                <a:spcPts val="1200"/>
              </a:lnSpc>
              <a:spcBef>
                <a:spcPts val="340"/>
              </a:spcBef>
            </a:pPr>
            <a:r>
              <a:rPr sz="1200" dirty="0">
                <a:latin typeface="FreeMono"/>
                <a:cs typeface="FreeMono"/>
              </a:rPr>
              <a:t>Needed, when the processing is at the class level but we need not involve the</a:t>
            </a:r>
            <a:r>
              <a:rPr sz="1200" spc="-9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or  instances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6070" y="1597304"/>
            <a:ext cx="673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1969" y="1463954"/>
            <a:ext cx="3395979" cy="5486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FreeMono"/>
                <a:cs typeface="FreeMono"/>
              </a:rPr>
              <a:t>Examples: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620"/>
              </a:spcBef>
            </a:pPr>
            <a:r>
              <a:rPr sz="1200" dirty="0">
                <a:latin typeface="FreeMono"/>
                <a:cs typeface="FreeMono"/>
              </a:rPr>
              <a:t>- Setting the environmental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variables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6070" y="2307234"/>
            <a:ext cx="67310" cy="332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endParaRPr sz="500">
              <a:latin typeface="OpenSymbol"/>
              <a:cs typeface="OpenSymbo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50">
              <a:latin typeface="OpenSymbol"/>
              <a:cs typeface="OpenSymbol"/>
            </a:endParaRPr>
          </a:p>
          <a:p>
            <a:pPr>
              <a:lnSpc>
                <a:spcPct val="100000"/>
              </a:lnSpc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969" y="1988463"/>
            <a:ext cx="1292860" cy="69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just">
              <a:lnSpc>
                <a:spcPct val="122600"/>
              </a:lnSpc>
              <a:spcBef>
                <a:spcPts val="95"/>
              </a:spcBef>
            </a:pPr>
            <a:r>
              <a:rPr sz="1200" dirty="0">
                <a:latin typeface="FreeMono"/>
                <a:cs typeface="FreeMono"/>
              </a:rPr>
              <a:t>-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Counting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the  Static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  Static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93570" y="1988463"/>
            <a:ext cx="4127500" cy="6972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r>
              <a:rPr sz="1200" dirty="0">
                <a:latin typeface="FreeMono"/>
                <a:cs typeface="FreeMono"/>
              </a:rPr>
              <a:t>number of instances of the</a:t>
            </a:r>
            <a:r>
              <a:rPr sz="1200" spc="-3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class</a:t>
            </a:r>
            <a:endParaRPr sz="1200">
              <a:latin typeface="FreeMono"/>
              <a:cs typeface="FreeMono"/>
            </a:endParaRPr>
          </a:p>
          <a:p>
            <a:pPr marR="5080">
              <a:lnSpc>
                <a:spcPts val="1770"/>
              </a:lnSpc>
              <a:spcBef>
                <a:spcPts val="105"/>
              </a:spcBef>
            </a:pPr>
            <a:r>
              <a:rPr sz="1200" dirty="0">
                <a:latin typeface="FreeMono"/>
                <a:cs typeface="FreeMono"/>
              </a:rPr>
              <a:t>are written using the</a:t>
            </a:r>
            <a:r>
              <a:rPr sz="1200" spc="-8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decorator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@staticmethod  </a:t>
            </a:r>
            <a:r>
              <a:rPr sz="1200" dirty="0">
                <a:latin typeface="FreeMono"/>
                <a:cs typeface="FreeMono"/>
              </a:rPr>
              <a:t>are called in the form</a:t>
            </a:r>
            <a:r>
              <a:rPr sz="1200" spc="-60" dirty="0"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classname.method()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36931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P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assing</a:t>
            </a:r>
            <a:r>
              <a:rPr sz="3200" spc="-4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b="1" spc="-5" dirty="0">
                <a:solidFill>
                  <a:srgbClr val="FFFFFF"/>
                </a:solidFill>
                <a:latin typeface="DejaVu Sans"/>
                <a:cs typeface="DejaVu Sans"/>
              </a:rPr>
              <a:t>M</a:t>
            </a:r>
            <a:r>
              <a:rPr sz="3200" spc="-5" dirty="0">
                <a:solidFill>
                  <a:srgbClr val="FFFFFF"/>
                </a:solidFill>
                <a:latin typeface="DejaVu Sans"/>
                <a:cs typeface="DejaVu Sans"/>
              </a:rPr>
              <a:t>embers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190144"/>
            <a:ext cx="2784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P</a:t>
            </a:r>
            <a:r>
              <a:rPr spc="-5" dirty="0"/>
              <a:t>assing</a:t>
            </a:r>
            <a:r>
              <a:rPr spc="25" dirty="0"/>
              <a:t> </a:t>
            </a:r>
            <a:r>
              <a:rPr b="1" spc="-5" dirty="0">
                <a:latin typeface="DejaVu Sans"/>
                <a:cs typeface="DejaVu Sans"/>
              </a:rPr>
              <a:t>M</a:t>
            </a:r>
            <a:r>
              <a:rPr spc="-5" dirty="0"/>
              <a:t>embers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370" y="1208684"/>
            <a:ext cx="800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155344"/>
            <a:ext cx="7340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It is possible to pass the members(attributes / methods) of one class to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another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370" y="1505864"/>
            <a:ext cx="800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269" y="1451254"/>
            <a:ext cx="756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Example: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1069" y="1748434"/>
            <a:ext cx="8483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e =</a:t>
            </a:r>
            <a:r>
              <a:rPr sz="1200" spc="-95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Emp()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370" y="2396134"/>
            <a:ext cx="800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269" y="2341524"/>
            <a:ext cx="5969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After creating the instance, pass this to another class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'Myclass'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370" y="2692044"/>
            <a:ext cx="800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9269" y="2637434"/>
            <a:ext cx="1762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Myclass.mymethod(e)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1069" y="2934614"/>
            <a:ext cx="1854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- mymethod is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static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7844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P</a:t>
            </a:r>
            <a:r>
              <a:rPr spc="-5" dirty="0"/>
              <a:t>assing</a:t>
            </a:r>
            <a:r>
              <a:rPr spc="25" dirty="0"/>
              <a:t> </a:t>
            </a:r>
            <a:r>
              <a:rPr b="1" spc="-5" dirty="0">
                <a:latin typeface="DejaVu Sans"/>
                <a:cs typeface="DejaVu Sans"/>
              </a:rPr>
              <a:t>M</a:t>
            </a:r>
            <a:r>
              <a:rPr spc="-5" dirty="0"/>
              <a:t>embers</a:t>
            </a: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5" dirty="0">
                <a:solidFill>
                  <a:srgbClr val="663399"/>
                </a:solidFill>
              </a:rPr>
              <a:t>xample</a:t>
            </a:r>
            <a:endParaRPr sz="1800">
              <a:latin typeface="DejaVu Sans"/>
              <a:cs typeface="DejaVu Sans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55270" y="1175664"/>
          <a:ext cx="8423909" cy="45821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11320"/>
                <a:gridCol w="4212589"/>
              </a:tblGrid>
              <a:tr h="718819">
                <a:tc gridSpan="2"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#To understand how members of one class can be passed to</a:t>
                      </a:r>
                      <a:r>
                        <a:rPr sz="1200" spc="-3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another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651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22682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#Define the</a:t>
                      </a:r>
                      <a:r>
                        <a:rPr sz="1200" spc="-1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class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class</a:t>
                      </a:r>
                      <a:r>
                        <a:rPr sz="1200" spc="-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Emp: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821055" marR="730885" indent="-365760">
                        <a:lnSpc>
                          <a:spcPct val="122900"/>
                        </a:lnSpc>
                        <a:tabLst>
                          <a:tab pos="1003935" algn="l"/>
                          <a:tab pos="1552575" algn="l"/>
                        </a:tabLst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def</a:t>
                      </a:r>
                      <a:r>
                        <a:rPr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FreeMono"/>
                          <a:cs typeface="FreeMono"/>
                        </a:rPr>
                        <a:t> 		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init</a:t>
                      </a:r>
                      <a:r>
                        <a:rPr sz="12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FreeMono"/>
                          <a:cs typeface="FreeMono"/>
                        </a:rPr>
                        <a:t> 	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(self,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name,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salary):  self.name =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name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8210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self.salary =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salary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21055" marR="1005205" indent="-365760">
                        <a:lnSpc>
                          <a:spcPct val="1222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def putdata(self):  print("Name: ",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self.name)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8210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print("Salary: ",</a:t>
                      </a:r>
                      <a:r>
                        <a:rPr sz="1200" spc="-2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self.salary)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6510" marB="0">
                    <a:solidFill>
                      <a:srgbClr val="DCDCD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#Create</a:t>
                      </a:r>
                      <a:r>
                        <a:rPr sz="1200" spc="-5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Object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e = Emp("Ram",</a:t>
                      </a:r>
                      <a:r>
                        <a:rPr sz="1200" spc="-15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20000)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90170" marR="366395">
                        <a:lnSpc>
                          <a:spcPct val="122900"/>
                        </a:lnSpc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#Call static method of Myclass and</a:t>
                      </a:r>
                      <a:r>
                        <a:rPr sz="1200" spc="-9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pass</a:t>
                      </a:r>
                      <a:r>
                        <a:rPr sz="1200" spc="-1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e 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Myclass.mymethod(e)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6510" marB="0">
                    <a:solidFill>
                      <a:srgbClr val="DCDCDC"/>
                    </a:solidFill>
                  </a:tcPr>
                </a:tc>
              </a:tr>
              <a:tr h="1595120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#Define another</a:t>
                      </a:r>
                      <a:r>
                        <a:rPr sz="1200" spc="-1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class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455930" marR="2285365" indent="-365760">
                        <a:lnSpc>
                          <a:spcPct val="1229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class Myclass:  </a:t>
                      </a:r>
                      <a:r>
                        <a:rPr sz="1200" dirty="0">
                          <a:solidFill>
                            <a:srgbClr val="CC0066"/>
                          </a:solidFill>
                          <a:latin typeface="FreeMono"/>
                          <a:cs typeface="FreeMono"/>
                        </a:rPr>
                        <a:t>@staticmethod 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def</a:t>
                      </a:r>
                      <a:r>
                        <a:rPr sz="1200" spc="-10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mymethod(e):</a:t>
                      </a:r>
                      <a:endParaRPr sz="1200">
                        <a:latin typeface="FreeMono"/>
                        <a:cs typeface="FreeMono"/>
                      </a:endParaRPr>
                    </a:p>
                    <a:p>
                      <a:pPr marL="821055" marR="1919605">
                        <a:lnSpc>
                          <a:spcPct val="122900"/>
                        </a:lnSpc>
                      </a:pPr>
                      <a:r>
                        <a:rPr sz="1200" dirty="0">
                          <a:latin typeface="FreeMono"/>
                          <a:cs typeface="FreeMono"/>
                        </a:rPr>
                        <a:t>e.salary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+=</a:t>
                      </a:r>
                      <a:r>
                        <a:rPr sz="1200" spc="-50" dirty="0">
                          <a:latin typeface="FreeMono"/>
                          <a:cs typeface="FreeMono"/>
                        </a:rPr>
                        <a:t> </a:t>
                      </a:r>
                      <a:r>
                        <a:rPr sz="1200" dirty="0">
                          <a:latin typeface="FreeMono"/>
                          <a:cs typeface="FreeMono"/>
                        </a:rPr>
                        <a:t>1000  e.putdata()</a:t>
                      </a:r>
                      <a:endParaRPr sz="1200">
                        <a:latin typeface="FreeMono"/>
                        <a:cs typeface="FreeMono"/>
                      </a:endParaRPr>
                    </a:p>
                  </a:txBody>
                  <a:tcPr marL="0" marR="0" marT="16510" marB="0">
                    <a:solidFill>
                      <a:srgbClr val="E5E5E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510" marB="0">
                    <a:solidFill>
                      <a:srgbClr val="DCDC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8864"/>
            <a:ext cx="474980" cy="843280"/>
          </a:xfrm>
          <a:custGeom>
            <a:avLst/>
            <a:gdLst/>
            <a:ahLst/>
            <a:cxnLst/>
            <a:rect l="l" t="t" r="r" b="b"/>
            <a:pathLst>
              <a:path w="474980" h="843280">
                <a:moveTo>
                  <a:pt x="474980" y="0"/>
                </a:moveTo>
                <a:lnTo>
                  <a:pt x="0" y="0"/>
                </a:lnTo>
                <a:lnTo>
                  <a:pt x="0" y="843279"/>
                </a:lnTo>
                <a:lnTo>
                  <a:pt x="474980" y="843279"/>
                </a:lnTo>
                <a:lnTo>
                  <a:pt x="474980" y="0"/>
                </a:lnTo>
                <a:close/>
              </a:path>
            </a:pathLst>
          </a:custGeom>
          <a:solidFill>
            <a:srgbClr val="D81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119774"/>
            <a:ext cx="335280" cy="600710"/>
          </a:xfrm>
          <a:custGeom>
            <a:avLst/>
            <a:gdLst/>
            <a:ahLst/>
            <a:cxnLst/>
            <a:rect l="l" t="t" r="r" b="b"/>
            <a:pathLst>
              <a:path w="335280" h="600709">
                <a:moveTo>
                  <a:pt x="143541" y="0"/>
                </a:moveTo>
                <a:lnTo>
                  <a:pt x="0" y="0"/>
                </a:lnTo>
                <a:lnTo>
                  <a:pt x="0" y="600710"/>
                </a:lnTo>
                <a:lnTo>
                  <a:pt x="144393" y="600710"/>
                </a:lnTo>
                <a:lnTo>
                  <a:pt x="335280" y="316136"/>
                </a:lnTo>
                <a:lnTo>
                  <a:pt x="335280" y="285843"/>
                </a:lnTo>
                <a:lnTo>
                  <a:pt x="143541" y="0"/>
                </a:lnTo>
                <a:close/>
              </a:path>
            </a:pathLst>
          </a:custGeom>
          <a:solidFill>
            <a:srgbClr val="D816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589519" y="6074054"/>
            <a:ext cx="1330959" cy="614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67909" y="122834"/>
            <a:ext cx="4180840" cy="8432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7844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P</a:t>
            </a:r>
            <a:r>
              <a:rPr spc="-5" dirty="0"/>
              <a:t>assing</a:t>
            </a:r>
            <a:r>
              <a:rPr spc="25" dirty="0"/>
              <a:t> </a:t>
            </a:r>
            <a:r>
              <a:rPr b="1" spc="-5" dirty="0">
                <a:latin typeface="DejaVu Sans"/>
                <a:cs typeface="DejaVu Sans"/>
              </a:rPr>
              <a:t>M</a:t>
            </a:r>
            <a:r>
              <a:rPr spc="-5" dirty="0"/>
              <a:t>embers</a:t>
            </a:r>
          </a:p>
          <a:p>
            <a:pPr marL="12700">
              <a:lnSpc>
                <a:spcPct val="100000"/>
              </a:lnSpc>
            </a:pPr>
            <a:r>
              <a:rPr sz="1800" b="1" spc="-20" dirty="0">
                <a:solidFill>
                  <a:srgbClr val="663399"/>
                </a:solidFill>
                <a:latin typeface="DejaVu Sans"/>
                <a:cs typeface="DejaVu Sans"/>
              </a:rPr>
              <a:t>E</a:t>
            </a:r>
            <a:r>
              <a:rPr sz="1800" spc="-20" dirty="0">
                <a:solidFill>
                  <a:srgbClr val="663399"/>
                </a:solidFill>
              </a:rPr>
              <a:t>xercise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5270" y="1175664"/>
            <a:ext cx="8465820" cy="71882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651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latin typeface="FreeMono"/>
                <a:cs typeface="FreeMono"/>
              </a:rPr>
              <a:t>1. To calculate the power value of a number with the help of a static</a:t>
            </a:r>
            <a:r>
              <a:rPr sz="1200" spc="-5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method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910" y="4660544"/>
            <a:ext cx="23234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FFFFFF"/>
                </a:solidFill>
                <a:latin typeface="DejaVu Sans"/>
                <a:cs typeface="DejaVu Sans"/>
              </a:rPr>
              <a:t>I</a:t>
            </a:r>
            <a:r>
              <a:rPr sz="3200" spc="-10" dirty="0">
                <a:solidFill>
                  <a:srgbClr val="FFFFFF"/>
                </a:solidFill>
                <a:latin typeface="DejaVu Sans"/>
                <a:cs typeface="DejaVu Sans"/>
              </a:rPr>
              <a:t>nner</a:t>
            </a:r>
            <a:r>
              <a:rPr sz="3200" spc="-55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DejaVu Sans"/>
                <a:cs typeface="DejaVu Sans"/>
              </a:rPr>
              <a:t>C</a:t>
            </a:r>
            <a:r>
              <a:rPr sz="3200" dirty="0">
                <a:solidFill>
                  <a:srgbClr val="FFFFFF"/>
                </a:solidFill>
                <a:latin typeface="DejaVu Sans"/>
                <a:cs typeface="DejaVu Sans"/>
              </a:rPr>
              <a:t>lass</a:t>
            </a:r>
            <a:endParaRPr sz="3200">
              <a:latin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17570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I</a:t>
            </a:r>
            <a:r>
              <a:rPr spc="-5" dirty="0"/>
              <a:t>nner</a:t>
            </a:r>
            <a:r>
              <a:rPr spc="5" dirty="0"/>
              <a:t> </a:t>
            </a:r>
            <a:r>
              <a:rPr b="1" spc="-5" dirty="0">
                <a:latin typeface="DejaVu Sans"/>
                <a:cs typeface="DejaVu Sans"/>
              </a:rPr>
              <a:t>C</a:t>
            </a:r>
            <a:r>
              <a:rPr spc="-5" dirty="0"/>
              <a:t>lass</a:t>
            </a: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663399"/>
                </a:solidFill>
                <a:latin typeface="DejaVu Sans"/>
                <a:cs typeface="DejaVu Sans"/>
              </a:rPr>
              <a:t>I</a:t>
            </a:r>
            <a:r>
              <a:rPr sz="1800" spc="-10" dirty="0">
                <a:solidFill>
                  <a:srgbClr val="663399"/>
                </a:solidFill>
              </a:rPr>
              <a:t>ntroduction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3370" y="1208684"/>
            <a:ext cx="800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69" y="1155344"/>
            <a:ext cx="6334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Creating class B inside Class A is called nested class or Inner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class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370" y="1505864"/>
            <a:ext cx="80010" cy="107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50" spc="-10" dirty="0">
                <a:latin typeface="OpenSymbol"/>
                <a:cs typeface="OpenSymbol"/>
              </a:rPr>
              <a:t>●</a:t>
            </a:r>
            <a:endParaRPr sz="550">
              <a:latin typeface="OpenSymbol"/>
              <a:cs typeface="Open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269" y="1451254"/>
            <a:ext cx="756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Example: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5030" y="1748434"/>
            <a:ext cx="5497830" cy="109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Person's Data</a:t>
            </a:r>
            <a:r>
              <a:rPr sz="1200" spc="-5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like,</a:t>
            </a:r>
            <a:endParaRPr sz="1200">
              <a:latin typeface="FreeMono"/>
              <a:cs typeface="FreeMono"/>
            </a:endParaRPr>
          </a:p>
          <a:p>
            <a:pPr marL="730250" indent="-183515">
              <a:lnSpc>
                <a:spcPct val="100000"/>
              </a:lnSpc>
              <a:spcBef>
                <a:spcPts val="890"/>
              </a:spcBef>
              <a:buChar char="-"/>
              <a:tabLst>
                <a:tab pos="730250" algn="l"/>
              </a:tabLst>
            </a:pPr>
            <a:r>
              <a:rPr sz="1200" dirty="0">
                <a:latin typeface="FreeMono"/>
                <a:cs typeface="FreeMono"/>
              </a:rPr>
              <a:t>Name: Single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value</a:t>
            </a:r>
            <a:endParaRPr sz="1200">
              <a:latin typeface="FreeMono"/>
              <a:cs typeface="FreeMono"/>
            </a:endParaRPr>
          </a:p>
          <a:p>
            <a:pPr marL="730250" indent="-183515">
              <a:lnSpc>
                <a:spcPct val="100000"/>
              </a:lnSpc>
              <a:spcBef>
                <a:spcPts val="900"/>
              </a:spcBef>
              <a:buChar char="-"/>
              <a:tabLst>
                <a:tab pos="730250" algn="l"/>
              </a:tabLst>
            </a:pPr>
            <a:r>
              <a:rPr sz="1200" dirty="0">
                <a:latin typeface="FreeMono"/>
                <a:cs typeface="FreeMono"/>
              </a:rPr>
              <a:t>Age: Single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Value</a:t>
            </a:r>
            <a:endParaRPr sz="1200">
              <a:latin typeface="FreeMono"/>
              <a:cs typeface="FreeMono"/>
            </a:endParaRPr>
          </a:p>
          <a:p>
            <a:pPr marL="730250" indent="-183515">
              <a:lnSpc>
                <a:spcPct val="100000"/>
              </a:lnSpc>
              <a:spcBef>
                <a:spcPts val="890"/>
              </a:spcBef>
              <a:buChar char="-"/>
              <a:tabLst>
                <a:tab pos="730250" algn="l"/>
              </a:tabLst>
            </a:pPr>
            <a:r>
              <a:rPr sz="1200" dirty="0">
                <a:latin typeface="FreeMono"/>
                <a:cs typeface="FreeMono"/>
              </a:rPr>
              <a:t>DoB: Multiple values, hence separate class is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needed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2421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I</a:t>
            </a:r>
            <a:r>
              <a:rPr spc="-5" dirty="0"/>
              <a:t>nner</a:t>
            </a:r>
            <a:r>
              <a:rPr spc="55" dirty="0"/>
              <a:t> </a:t>
            </a:r>
            <a:r>
              <a:rPr b="1" spc="-5" dirty="0">
                <a:latin typeface="DejaVu Sans"/>
                <a:cs typeface="DejaVu Sans"/>
              </a:rPr>
              <a:t>C</a:t>
            </a:r>
            <a:r>
              <a:rPr spc="-5" dirty="0"/>
              <a:t>lass</a:t>
            </a: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663399"/>
                </a:solidFill>
                <a:latin typeface="DejaVu Sans"/>
                <a:cs typeface="DejaVu Sans"/>
              </a:rPr>
              <a:t>P</a:t>
            </a:r>
            <a:r>
              <a:rPr sz="1800" spc="-10" dirty="0">
                <a:solidFill>
                  <a:srgbClr val="663399"/>
                </a:solidFill>
              </a:rPr>
              <a:t>rogram:</a:t>
            </a:r>
            <a:r>
              <a:rPr sz="1800" spc="-55" dirty="0">
                <a:solidFill>
                  <a:srgbClr val="663399"/>
                </a:solidFill>
              </a:rPr>
              <a:t> </a:t>
            </a:r>
            <a:r>
              <a:rPr sz="1800" spc="-20" dirty="0">
                <a:solidFill>
                  <a:srgbClr val="663399"/>
                </a:solidFill>
              </a:rPr>
              <a:t>Version-1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5900" y="1135024"/>
            <a:ext cx="5464810" cy="4697730"/>
          </a:xfrm>
          <a:custGeom>
            <a:avLst/>
            <a:gdLst/>
            <a:ahLst/>
            <a:cxnLst/>
            <a:rect l="l" t="t" r="r" b="b"/>
            <a:pathLst>
              <a:path w="5464810" h="4697730">
                <a:moveTo>
                  <a:pt x="5464810" y="0"/>
                </a:moveTo>
                <a:lnTo>
                  <a:pt x="0" y="0"/>
                </a:lnTo>
                <a:lnTo>
                  <a:pt x="0" y="4697730"/>
                </a:lnTo>
                <a:lnTo>
                  <a:pt x="5464810" y="4697730"/>
                </a:lnTo>
                <a:lnTo>
                  <a:pt x="546481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3370" y="1138834"/>
            <a:ext cx="2402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#To understand inner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370" y="1546504"/>
            <a:ext cx="2585720" cy="9245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Person:</a:t>
            </a:r>
            <a:endParaRPr sz="1200">
              <a:latin typeface="FreeMono"/>
              <a:cs typeface="FreeMono"/>
            </a:endParaRPr>
          </a:p>
          <a:p>
            <a:pPr marL="744220" marR="5080" indent="-365760">
              <a:lnSpc>
                <a:spcPct val="122900"/>
              </a:lnSpc>
              <a:tabLst>
                <a:tab pos="926465" algn="l"/>
                <a:tab pos="1475105" algn="l"/>
              </a:tabLst>
            </a:pPr>
            <a:r>
              <a:rPr sz="1200" dirty="0">
                <a:latin typeface="FreeMono"/>
                <a:cs typeface="FreeMono"/>
              </a:rPr>
              <a:t>def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latin typeface="FreeMono"/>
                <a:cs typeface="FreeMono"/>
              </a:rPr>
              <a:t>(self):  self.name = "Ram"  self.db =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self.Dob()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130" y="2671724"/>
            <a:ext cx="2768600" cy="204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5760">
              <a:lnSpc>
                <a:spcPct val="1222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def display(self):  print("Name: ",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self.name)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FreeMono"/>
              <a:cs typeface="FreeMono"/>
            </a:endParaRPr>
          </a:p>
          <a:p>
            <a:pPr marL="12700" marR="736600">
              <a:lnSpc>
                <a:spcPct val="122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#Define an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inner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  </a:t>
            </a: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Dob:</a:t>
            </a:r>
            <a:endParaRPr sz="1200">
              <a:latin typeface="FreeMono"/>
              <a:cs typeface="FreeMono"/>
            </a:endParaRPr>
          </a:p>
          <a:p>
            <a:pPr marL="744220" marR="645795" indent="-365760">
              <a:lnSpc>
                <a:spcPct val="122900"/>
              </a:lnSpc>
              <a:tabLst>
                <a:tab pos="926465" algn="l"/>
                <a:tab pos="1475105" algn="l"/>
              </a:tabLst>
            </a:pPr>
            <a:r>
              <a:rPr sz="1200" dirty="0">
                <a:latin typeface="FreeMono"/>
                <a:cs typeface="FreeMono"/>
              </a:rPr>
              <a:t>def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latin typeface="FreeMono"/>
                <a:cs typeface="FreeMono"/>
              </a:rPr>
              <a:t>(self):  self.dd =</a:t>
            </a:r>
            <a:r>
              <a:rPr sz="1200" spc="-4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</a:t>
            </a:r>
            <a:endParaRPr sz="1200">
              <a:latin typeface="FreeMono"/>
              <a:cs typeface="FreeMono"/>
            </a:endParaRPr>
          </a:p>
          <a:p>
            <a:pPr marL="74422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self.mm =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2</a:t>
            </a:r>
            <a:endParaRPr sz="1200">
              <a:latin typeface="FreeMono"/>
              <a:cs typeface="FreeMono"/>
            </a:endParaRPr>
          </a:p>
          <a:p>
            <a:pPr marL="74422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self.yy =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2002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5209" y="5182514"/>
            <a:ext cx="1397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format(self.dd,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370" y="4915813"/>
            <a:ext cx="3225800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9980" marR="5080" indent="-36576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def display(self):  print("DoB: {}/{}/{}"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.</a:t>
            </a:r>
            <a:endParaRPr sz="1200">
              <a:latin typeface="FreeMono"/>
              <a:cs typeface="FreeMono"/>
            </a:endParaRPr>
          </a:p>
          <a:p>
            <a:pPr marL="12700">
              <a:lnSpc>
                <a:spcPts val="1200"/>
              </a:lnSpc>
            </a:pPr>
            <a:r>
              <a:rPr sz="1200" dirty="0">
                <a:latin typeface="FreeMono"/>
                <a:cs typeface="FreeMono"/>
              </a:rPr>
              <a:t>self.mm,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self.yy))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80709" y="1135024"/>
            <a:ext cx="3079750" cy="4697730"/>
          </a:xfrm>
          <a:custGeom>
            <a:avLst/>
            <a:gdLst/>
            <a:ahLst/>
            <a:cxnLst/>
            <a:rect l="l" t="t" r="r" b="b"/>
            <a:pathLst>
              <a:path w="3079750" h="4697730">
                <a:moveTo>
                  <a:pt x="3079749" y="0"/>
                </a:moveTo>
                <a:lnTo>
                  <a:pt x="0" y="0"/>
                </a:lnTo>
                <a:lnTo>
                  <a:pt x="0" y="4697730"/>
                </a:lnTo>
                <a:lnTo>
                  <a:pt x="3079749" y="4697730"/>
                </a:lnTo>
                <a:lnTo>
                  <a:pt x="307974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58179" y="1096924"/>
            <a:ext cx="148844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#Creating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  </a:t>
            </a:r>
            <a:r>
              <a:rPr sz="1200" dirty="0">
                <a:latin typeface="FreeMono"/>
                <a:cs typeface="FreeMono"/>
              </a:rPr>
              <a:t>p = Person()  p.display()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8340" y="2037994"/>
            <a:ext cx="482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86980" y="2037994"/>
            <a:ext cx="574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58179" y="1996083"/>
            <a:ext cx="121412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#Create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inner  </a:t>
            </a:r>
            <a:r>
              <a:rPr sz="1200" dirty="0">
                <a:latin typeface="FreeMono"/>
                <a:cs typeface="FreeMono"/>
              </a:rPr>
              <a:t>i = p.db  i.display()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4669" y="235864"/>
            <a:ext cx="22421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DejaVu Sans"/>
                <a:cs typeface="DejaVu Sans"/>
              </a:rPr>
              <a:t>I</a:t>
            </a:r>
            <a:r>
              <a:rPr spc="-5" dirty="0"/>
              <a:t>nner</a:t>
            </a:r>
            <a:r>
              <a:rPr spc="55" dirty="0"/>
              <a:t> </a:t>
            </a:r>
            <a:r>
              <a:rPr b="1" spc="-5" dirty="0">
                <a:latin typeface="DejaVu Sans"/>
                <a:cs typeface="DejaVu Sans"/>
              </a:rPr>
              <a:t>C</a:t>
            </a:r>
            <a:r>
              <a:rPr spc="-5" dirty="0"/>
              <a:t>lass</a:t>
            </a: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663399"/>
                </a:solidFill>
                <a:latin typeface="DejaVu Sans"/>
                <a:cs typeface="DejaVu Sans"/>
              </a:rPr>
              <a:t>P</a:t>
            </a:r>
            <a:r>
              <a:rPr sz="1800" spc="-10" dirty="0">
                <a:solidFill>
                  <a:srgbClr val="663399"/>
                </a:solidFill>
              </a:rPr>
              <a:t>rogram:</a:t>
            </a:r>
            <a:r>
              <a:rPr sz="1800" spc="-55" dirty="0">
                <a:solidFill>
                  <a:srgbClr val="663399"/>
                </a:solidFill>
              </a:rPr>
              <a:t> </a:t>
            </a:r>
            <a:r>
              <a:rPr sz="1800" spc="-20" dirty="0">
                <a:solidFill>
                  <a:srgbClr val="663399"/>
                </a:solidFill>
              </a:rPr>
              <a:t>Version-2</a:t>
            </a:r>
            <a:endParaRPr sz="1800">
              <a:latin typeface="DejaVu Sans"/>
              <a:cs typeface="DejaVu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5900" y="1135024"/>
            <a:ext cx="5464810" cy="4697730"/>
          </a:xfrm>
          <a:custGeom>
            <a:avLst/>
            <a:gdLst/>
            <a:ahLst/>
            <a:cxnLst/>
            <a:rect l="l" t="t" r="r" b="b"/>
            <a:pathLst>
              <a:path w="5464810" h="4697730">
                <a:moveTo>
                  <a:pt x="5464810" y="0"/>
                </a:moveTo>
                <a:lnTo>
                  <a:pt x="0" y="0"/>
                </a:lnTo>
                <a:lnTo>
                  <a:pt x="0" y="4697730"/>
                </a:lnTo>
                <a:lnTo>
                  <a:pt x="5464810" y="4697730"/>
                </a:lnTo>
                <a:lnTo>
                  <a:pt x="546481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3370" y="1138834"/>
            <a:ext cx="2402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#To understand inner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3370" y="1546504"/>
            <a:ext cx="2585720" cy="9245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Person:</a:t>
            </a:r>
            <a:endParaRPr sz="1200">
              <a:latin typeface="FreeMono"/>
              <a:cs typeface="FreeMono"/>
            </a:endParaRPr>
          </a:p>
          <a:p>
            <a:pPr marL="744220" marR="5080" indent="-365760">
              <a:lnSpc>
                <a:spcPct val="122900"/>
              </a:lnSpc>
              <a:tabLst>
                <a:tab pos="926465" algn="l"/>
                <a:tab pos="1475105" algn="l"/>
              </a:tabLst>
            </a:pPr>
            <a:r>
              <a:rPr sz="1200" dirty="0">
                <a:latin typeface="FreeMono"/>
                <a:cs typeface="FreeMono"/>
              </a:rPr>
              <a:t>def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FreeMono"/>
                <a:cs typeface="FreeMono"/>
              </a:rPr>
              <a:t> 	</a:t>
            </a:r>
            <a:r>
              <a:rPr sz="1200" dirty="0">
                <a:latin typeface="FreeMono"/>
                <a:cs typeface="FreeMono"/>
              </a:rPr>
              <a:t>(self):  self.name = "Ram"  self.db =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self.Dob()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9130" y="2671724"/>
            <a:ext cx="2768600" cy="204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5760">
              <a:lnSpc>
                <a:spcPct val="1222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def display(self):  print("Name: ",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self.name)</a:t>
            </a:r>
            <a:endParaRPr sz="1200">
              <a:latin typeface="FreeMono"/>
              <a:cs typeface="FreeMon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FreeMono"/>
              <a:cs typeface="FreeMono"/>
            </a:endParaRPr>
          </a:p>
          <a:p>
            <a:pPr marL="12700" marR="736600">
              <a:lnSpc>
                <a:spcPct val="122900"/>
              </a:lnSpc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#Define an</a:t>
            </a:r>
            <a:r>
              <a:rPr sz="1200" spc="-7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inner</a:t>
            </a:r>
            <a:r>
              <a:rPr sz="1200" spc="-3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  </a:t>
            </a:r>
            <a:r>
              <a:rPr sz="1200" dirty="0">
                <a:latin typeface="FreeMono"/>
                <a:cs typeface="FreeMono"/>
              </a:rPr>
              <a:t>class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Dob:</a:t>
            </a:r>
            <a:endParaRPr sz="1200">
              <a:latin typeface="FreeMono"/>
              <a:cs typeface="FreeMono"/>
            </a:endParaRPr>
          </a:p>
          <a:p>
            <a:pPr marL="744220" marR="645795" indent="-365760">
              <a:lnSpc>
                <a:spcPct val="122900"/>
              </a:lnSpc>
              <a:tabLst>
                <a:tab pos="926465" algn="l"/>
                <a:tab pos="1475105" algn="l"/>
              </a:tabLst>
            </a:pPr>
            <a:r>
              <a:rPr sz="1200" dirty="0">
                <a:latin typeface="FreeMono"/>
                <a:cs typeface="FreeMono"/>
              </a:rPr>
              <a:t>def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latin typeface="FreeMono"/>
                <a:cs typeface="FreeMono"/>
              </a:rPr>
              <a:t>init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200" dirty="0">
                <a:latin typeface="FreeMono"/>
                <a:cs typeface="FreeMono"/>
              </a:rPr>
              <a:t>(self):  self.dd =</a:t>
            </a:r>
            <a:r>
              <a:rPr sz="1200" spc="-4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10</a:t>
            </a:r>
            <a:endParaRPr sz="1200">
              <a:latin typeface="FreeMono"/>
              <a:cs typeface="FreeMono"/>
            </a:endParaRPr>
          </a:p>
          <a:p>
            <a:pPr marL="74422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self.mm =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2</a:t>
            </a:r>
            <a:endParaRPr sz="1200">
              <a:latin typeface="FreeMono"/>
              <a:cs typeface="FreeMono"/>
            </a:endParaRPr>
          </a:p>
          <a:p>
            <a:pPr marL="744220">
              <a:lnSpc>
                <a:spcPct val="100000"/>
              </a:lnSpc>
              <a:spcBef>
                <a:spcPts val="330"/>
              </a:spcBef>
            </a:pPr>
            <a:r>
              <a:rPr sz="1200" dirty="0">
                <a:latin typeface="FreeMono"/>
                <a:cs typeface="FreeMono"/>
              </a:rPr>
              <a:t>self.yy =</a:t>
            </a:r>
            <a:r>
              <a:rPr sz="1200" spc="-2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2002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85209" y="5182514"/>
            <a:ext cx="1397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format(self.dd,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370" y="4915813"/>
            <a:ext cx="3225800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9980" marR="5080" indent="-36576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latin typeface="FreeMono"/>
                <a:cs typeface="FreeMono"/>
              </a:rPr>
              <a:t>def display(self):  print("DoB: {}/{}/{}"</a:t>
            </a:r>
            <a:r>
              <a:rPr sz="1200" spc="-10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.</a:t>
            </a:r>
            <a:endParaRPr sz="1200">
              <a:latin typeface="FreeMono"/>
              <a:cs typeface="FreeMono"/>
            </a:endParaRPr>
          </a:p>
          <a:p>
            <a:pPr marL="12700">
              <a:lnSpc>
                <a:spcPts val="1200"/>
              </a:lnSpc>
            </a:pPr>
            <a:r>
              <a:rPr sz="1200" dirty="0">
                <a:latin typeface="FreeMono"/>
                <a:cs typeface="FreeMono"/>
              </a:rPr>
              <a:t>self.mm,</a:t>
            </a:r>
            <a:r>
              <a:rPr sz="1200" spc="-10" dirty="0">
                <a:latin typeface="FreeMono"/>
                <a:cs typeface="FreeMono"/>
              </a:rPr>
              <a:t> </a:t>
            </a:r>
            <a:r>
              <a:rPr sz="1200" dirty="0">
                <a:latin typeface="FreeMono"/>
                <a:cs typeface="FreeMono"/>
              </a:rPr>
              <a:t>self.yy))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80709" y="1135024"/>
            <a:ext cx="3079750" cy="4697730"/>
          </a:xfrm>
          <a:custGeom>
            <a:avLst/>
            <a:gdLst/>
            <a:ahLst/>
            <a:cxnLst/>
            <a:rect l="l" t="t" r="r" b="b"/>
            <a:pathLst>
              <a:path w="3079750" h="4697730">
                <a:moveTo>
                  <a:pt x="3079749" y="0"/>
                </a:moveTo>
                <a:lnTo>
                  <a:pt x="0" y="0"/>
                </a:lnTo>
                <a:lnTo>
                  <a:pt x="0" y="4697730"/>
                </a:lnTo>
                <a:lnTo>
                  <a:pt x="3079749" y="4697730"/>
                </a:lnTo>
                <a:lnTo>
                  <a:pt x="307974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58179" y="1096924"/>
            <a:ext cx="148844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#Creating</a:t>
            </a:r>
            <a:r>
              <a:rPr sz="1200" spc="-10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  </a:t>
            </a:r>
            <a:r>
              <a:rPr sz="1200" dirty="0">
                <a:latin typeface="FreeMono"/>
                <a:cs typeface="FreeMono"/>
              </a:rPr>
              <a:t>p = Person()  p.display()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6980" y="2037994"/>
            <a:ext cx="574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object</a:t>
            </a:r>
            <a:endParaRPr sz="1200">
              <a:latin typeface="FreeMono"/>
              <a:cs typeface="FreeMon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58179" y="1996083"/>
            <a:ext cx="1762760" cy="69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900"/>
              </a:lnSpc>
              <a:spcBef>
                <a:spcPts val="100"/>
              </a:spcBef>
            </a:pP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#Create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inner</a:t>
            </a:r>
            <a:r>
              <a:rPr sz="1200" spc="-50" dirty="0">
                <a:solidFill>
                  <a:srgbClr val="CC0066"/>
                </a:solidFill>
                <a:latin typeface="FreeMono"/>
                <a:cs typeface="FreeMono"/>
              </a:rPr>
              <a:t> </a:t>
            </a:r>
            <a:r>
              <a:rPr sz="1200" dirty="0">
                <a:solidFill>
                  <a:srgbClr val="CC0066"/>
                </a:solidFill>
                <a:latin typeface="FreeMono"/>
                <a:cs typeface="FreeMono"/>
              </a:rPr>
              <a:t>class  </a:t>
            </a:r>
            <a:r>
              <a:rPr sz="1200" dirty="0">
                <a:latin typeface="FreeMono"/>
                <a:cs typeface="FreeMono"/>
              </a:rPr>
              <a:t>i = Person().Dob()  i.display()</a:t>
            </a:r>
            <a:endParaRPr sz="1200">
              <a:latin typeface="FreeMono"/>
              <a:cs typeface="Free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1538</Words>
  <Application>Microsoft Office PowerPoint</Application>
  <PresentationFormat>On-screen Show (4:3)</PresentationFormat>
  <Paragraphs>456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Creation of Class</vt:lpstr>
      <vt:lpstr>Creation of Class</vt:lpstr>
      <vt:lpstr>PowerPoint Presentation</vt:lpstr>
      <vt:lpstr>The Self Variable</vt:lpstr>
      <vt:lpstr>PowerPoint Presentation</vt:lpstr>
      <vt:lpstr>Constructor</vt:lpstr>
      <vt:lpstr>Constructor Constructor with parameter</vt:lpstr>
      <vt:lpstr>Constructor</vt:lpstr>
      <vt:lpstr>PowerPoint Presentation</vt:lpstr>
      <vt:lpstr>Types Of Variables</vt:lpstr>
      <vt:lpstr>Types Of Variables Instance Variables</vt:lpstr>
      <vt:lpstr>Types Of Variables Class Variables</vt:lpstr>
      <vt:lpstr>PowerPoint Presentation</vt:lpstr>
      <vt:lpstr>Namespaces</vt:lpstr>
      <vt:lpstr>Namespaces</vt:lpstr>
      <vt:lpstr>Namespaces</vt:lpstr>
      <vt:lpstr>PowerPoint Presentation</vt:lpstr>
      <vt:lpstr>Types of Methods</vt:lpstr>
      <vt:lpstr>Types of Methods</vt:lpstr>
      <vt:lpstr>Types of Methods</vt:lpstr>
      <vt:lpstr>Types of Methods</vt:lpstr>
      <vt:lpstr>Types of Methods Static Methods</vt:lpstr>
      <vt:lpstr>PowerPoint Presentation</vt:lpstr>
      <vt:lpstr>Passing Members</vt:lpstr>
      <vt:lpstr>Passing Members Example</vt:lpstr>
      <vt:lpstr>Passing Members Exercise</vt:lpstr>
      <vt:lpstr>PowerPoint Presentation</vt:lpstr>
      <vt:lpstr>Inner Class Introduction</vt:lpstr>
      <vt:lpstr>Inner Class Program: Version-1</vt:lpstr>
      <vt:lpstr>Inner Class Program: Version-2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HP</cp:lastModifiedBy>
  <cp:revision>2</cp:revision>
  <dcterms:created xsi:type="dcterms:W3CDTF">2023-12-03T12:47:00Z</dcterms:created>
  <dcterms:modified xsi:type="dcterms:W3CDTF">2023-12-03T15:06:22Z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2018-11-21T00:00:00Z</vt:filetime>
  </property>
  <property fmtid="{D5CDD505-2E9C-101B-9397-08002B2CF9AE}" pid="3" name="Creator">
    <vt:lpwstr>Impress</vt:lpwstr>
  </property>
  <property fmtid="{D5CDD505-2E9C-101B-9397-08002B2CF9AE}" pid="4" name="LastSaved">
    <vt:filetime>2023-12-03T00:00:00Z</vt:filetime>
  </property>
</Properties>
</file>