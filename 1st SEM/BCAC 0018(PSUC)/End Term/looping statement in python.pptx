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2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70274" y="1683461"/>
            <a:ext cx="1203451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791961" y="2362961"/>
            <a:ext cx="1981200" cy="3886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9175" y="984249"/>
            <a:ext cx="7705648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23238" y="2820161"/>
            <a:ext cx="6097523" cy="320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81352" y="3163316"/>
            <a:ext cx="623697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6000" spc="-5" dirty="0">
                <a:solidFill>
                  <a:srgbClr val="FFFFFF"/>
                </a:solidFill>
              </a:rPr>
              <a:t>Looping</a:t>
            </a:r>
            <a:r>
              <a:rPr sz="6000" spc="-25" dirty="0">
                <a:solidFill>
                  <a:srgbClr val="FFFFFF"/>
                </a:solidFill>
              </a:rPr>
              <a:t> </a:t>
            </a:r>
            <a:r>
              <a:rPr sz="6000" spc="-40" dirty="0">
                <a:solidFill>
                  <a:srgbClr val="FFFFFF"/>
                </a:solidFill>
              </a:rPr>
              <a:t>statements</a:t>
            </a:r>
            <a:endParaRPr sz="6000" dirty="0"/>
          </a:p>
        </p:txBody>
      </p:sp>
      <p:sp>
        <p:nvSpPr>
          <p:cNvPr id="4" name="object 4"/>
          <p:cNvSpPr/>
          <p:nvPr/>
        </p:nvSpPr>
        <p:spPr>
          <a:xfrm>
            <a:off x="4038600" y="1313145"/>
            <a:ext cx="1837944" cy="1837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2762" y="2896361"/>
            <a:ext cx="7772400" cy="2819400"/>
          </a:xfrm>
          <a:prstGeom prst="rect">
            <a:avLst/>
          </a:prstGeom>
          <a:solidFill>
            <a:srgbClr val="959595"/>
          </a:solidFill>
          <a:ln w="25907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500">
              <a:latin typeface="Times New Roman"/>
              <a:cs typeface="Times New Roman"/>
            </a:endParaRPr>
          </a:p>
          <a:p>
            <a:pPr marL="738505" marR="619760" indent="-6858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loop </a:t>
            </a:r>
            <a:r>
              <a:rPr sz="2400" b="1" spc="-20" dirty="0">
                <a:solidFill>
                  <a:srgbClr val="FFFFFF"/>
                </a:solidFill>
                <a:latin typeface="Carlito"/>
                <a:cs typeface="Carlito"/>
              </a:rPr>
              <a:t>statement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allows us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2400" b="1" spc="-25" dirty="0">
                <a:solidFill>
                  <a:srgbClr val="FFFFFF"/>
                </a:solidFill>
                <a:latin typeface="Carlito"/>
                <a:cs typeface="Carlito"/>
              </a:rPr>
              <a:t>execute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400" b="1" spc="-20" dirty="0">
                <a:solidFill>
                  <a:srgbClr val="FFFFFF"/>
                </a:solidFill>
                <a:latin typeface="Carlito"/>
                <a:cs typeface="Carlito"/>
              </a:rPr>
              <a:t>statement 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or </a:t>
            </a:r>
            <a:r>
              <a:rPr sz="2400" b="1" spc="-10" dirty="0">
                <a:solidFill>
                  <a:srgbClr val="FFFFFF"/>
                </a:solidFill>
                <a:latin typeface="Carlito"/>
                <a:cs typeface="Carlito"/>
              </a:rPr>
              <a:t>group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statements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multiple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times.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18054" y="1068069"/>
            <a:ext cx="4166235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Carlito"/>
                <a:cs typeface="Carlito"/>
              </a:rPr>
              <a:t>Looping</a:t>
            </a:r>
            <a:r>
              <a:rPr sz="4000" b="1" spc="-60" dirty="0">
                <a:latin typeface="Carlito"/>
                <a:cs typeface="Carlito"/>
              </a:rPr>
              <a:t> </a:t>
            </a:r>
            <a:r>
              <a:rPr sz="4000" b="1" spc="-25" dirty="0">
                <a:latin typeface="Carlito"/>
                <a:cs typeface="Carlito"/>
              </a:rPr>
              <a:t>statements</a:t>
            </a:r>
            <a:endParaRPr sz="4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62762"/>
            <a:ext cx="9144000" cy="62483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0600" y="139201"/>
            <a:ext cx="739140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Types </a:t>
            </a:r>
            <a:r>
              <a:rPr spc="-5" dirty="0"/>
              <a:t>of Looping</a:t>
            </a:r>
            <a:r>
              <a:rPr spc="-10" dirty="0"/>
              <a:t> </a:t>
            </a:r>
            <a:r>
              <a:rPr spc="-25" dirty="0"/>
              <a:t>statements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969007" y="1740407"/>
            <a:ext cx="5131435" cy="3378835"/>
            <a:chOff x="1969007" y="1740407"/>
            <a:chExt cx="5131435" cy="3378835"/>
          </a:xfrm>
        </p:grpSpPr>
        <p:sp>
          <p:nvSpPr>
            <p:cNvPr id="5" name="object 5"/>
            <p:cNvSpPr/>
            <p:nvPr/>
          </p:nvSpPr>
          <p:spPr>
            <a:xfrm>
              <a:off x="3658361" y="1753361"/>
              <a:ext cx="1600200" cy="1219200"/>
            </a:xfrm>
            <a:custGeom>
              <a:avLst/>
              <a:gdLst/>
              <a:ahLst/>
              <a:cxnLst/>
              <a:rect l="l" t="t" r="r" b="b"/>
              <a:pathLst>
                <a:path w="1600200" h="1219200">
                  <a:moveTo>
                    <a:pt x="800100" y="0"/>
                  </a:moveTo>
                  <a:lnTo>
                    <a:pt x="745325" y="1406"/>
                  </a:lnTo>
                  <a:lnTo>
                    <a:pt x="691541" y="5564"/>
                  </a:lnTo>
                  <a:lnTo>
                    <a:pt x="638866" y="12384"/>
                  </a:lnTo>
                  <a:lnTo>
                    <a:pt x="587419" y="21775"/>
                  </a:lnTo>
                  <a:lnTo>
                    <a:pt x="537319" y="33645"/>
                  </a:lnTo>
                  <a:lnTo>
                    <a:pt x="488686" y="47904"/>
                  </a:lnTo>
                  <a:lnTo>
                    <a:pt x="441638" y="64462"/>
                  </a:lnTo>
                  <a:lnTo>
                    <a:pt x="396296" y="83227"/>
                  </a:lnTo>
                  <a:lnTo>
                    <a:pt x="352778" y="104108"/>
                  </a:lnTo>
                  <a:lnTo>
                    <a:pt x="311204" y="127016"/>
                  </a:lnTo>
                  <a:lnTo>
                    <a:pt x="271692" y="151859"/>
                  </a:lnTo>
                  <a:lnTo>
                    <a:pt x="234362" y="178546"/>
                  </a:lnTo>
                  <a:lnTo>
                    <a:pt x="199334" y="206986"/>
                  </a:lnTo>
                  <a:lnTo>
                    <a:pt x="166726" y="237089"/>
                  </a:lnTo>
                  <a:lnTo>
                    <a:pt x="136657" y="268764"/>
                  </a:lnTo>
                  <a:lnTo>
                    <a:pt x="109248" y="301921"/>
                  </a:lnTo>
                  <a:lnTo>
                    <a:pt x="84616" y="336468"/>
                  </a:lnTo>
                  <a:lnTo>
                    <a:pt x="62882" y="372314"/>
                  </a:lnTo>
                  <a:lnTo>
                    <a:pt x="44165" y="409369"/>
                  </a:lnTo>
                  <a:lnTo>
                    <a:pt x="28583" y="447542"/>
                  </a:lnTo>
                  <a:lnTo>
                    <a:pt x="16257" y="486743"/>
                  </a:lnTo>
                  <a:lnTo>
                    <a:pt x="7304" y="526880"/>
                  </a:lnTo>
                  <a:lnTo>
                    <a:pt x="1846" y="567862"/>
                  </a:lnTo>
                  <a:lnTo>
                    <a:pt x="0" y="609600"/>
                  </a:lnTo>
                  <a:lnTo>
                    <a:pt x="1846" y="651337"/>
                  </a:lnTo>
                  <a:lnTo>
                    <a:pt x="7304" y="692319"/>
                  </a:lnTo>
                  <a:lnTo>
                    <a:pt x="16257" y="732456"/>
                  </a:lnTo>
                  <a:lnTo>
                    <a:pt x="28583" y="771657"/>
                  </a:lnTo>
                  <a:lnTo>
                    <a:pt x="44165" y="809830"/>
                  </a:lnTo>
                  <a:lnTo>
                    <a:pt x="62882" y="846885"/>
                  </a:lnTo>
                  <a:lnTo>
                    <a:pt x="84616" y="882731"/>
                  </a:lnTo>
                  <a:lnTo>
                    <a:pt x="109248" y="917278"/>
                  </a:lnTo>
                  <a:lnTo>
                    <a:pt x="136657" y="950435"/>
                  </a:lnTo>
                  <a:lnTo>
                    <a:pt x="166726" y="982110"/>
                  </a:lnTo>
                  <a:lnTo>
                    <a:pt x="199334" y="1012213"/>
                  </a:lnTo>
                  <a:lnTo>
                    <a:pt x="234362" y="1040653"/>
                  </a:lnTo>
                  <a:lnTo>
                    <a:pt x="271692" y="1067340"/>
                  </a:lnTo>
                  <a:lnTo>
                    <a:pt x="311204" y="1092183"/>
                  </a:lnTo>
                  <a:lnTo>
                    <a:pt x="352778" y="1115091"/>
                  </a:lnTo>
                  <a:lnTo>
                    <a:pt x="396296" y="1135972"/>
                  </a:lnTo>
                  <a:lnTo>
                    <a:pt x="441638" y="1154737"/>
                  </a:lnTo>
                  <a:lnTo>
                    <a:pt x="488686" y="1171295"/>
                  </a:lnTo>
                  <a:lnTo>
                    <a:pt x="537319" y="1185554"/>
                  </a:lnTo>
                  <a:lnTo>
                    <a:pt x="587419" y="1197424"/>
                  </a:lnTo>
                  <a:lnTo>
                    <a:pt x="638866" y="1206815"/>
                  </a:lnTo>
                  <a:lnTo>
                    <a:pt x="691541" y="1213635"/>
                  </a:lnTo>
                  <a:lnTo>
                    <a:pt x="745325" y="1217793"/>
                  </a:lnTo>
                  <a:lnTo>
                    <a:pt x="800100" y="1219200"/>
                  </a:lnTo>
                  <a:lnTo>
                    <a:pt x="854874" y="1217793"/>
                  </a:lnTo>
                  <a:lnTo>
                    <a:pt x="908658" y="1213635"/>
                  </a:lnTo>
                  <a:lnTo>
                    <a:pt x="961333" y="1206815"/>
                  </a:lnTo>
                  <a:lnTo>
                    <a:pt x="1012780" y="1197424"/>
                  </a:lnTo>
                  <a:lnTo>
                    <a:pt x="1062880" y="1185554"/>
                  </a:lnTo>
                  <a:lnTo>
                    <a:pt x="1111513" y="1171295"/>
                  </a:lnTo>
                  <a:lnTo>
                    <a:pt x="1158561" y="1154737"/>
                  </a:lnTo>
                  <a:lnTo>
                    <a:pt x="1203903" y="1135972"/>
                  </a:lnTo>
                  <a:lnTo>
                    <a:pt x="1247421" y="1115091"/>
                  </a:lnTo>
                  <a:lnTo>
                    <a:pt x="1288995" y="1092183"/>
                  </a:lnTo>
                  <a:lnTo>
                    <a:pt x="1328507" y="1067340"/>
                  </a:lnTo>
                  <a:lnTo>
                    <a:pt x="1365837" y="1040653"/>
                  </a:lnTo>
                  <a:lnTo>
                    <a:pt x="1400865" y="1012213"/>
                  </a:lnTo>
                  <a:lnTo>
                    <a:pt x="1433473" y="982110"/>
                  </a:lnTo>
                  <a:lnTo>
                    <a:pt x="1463542" y="950435"/>
                  </a:lnTo>
                  <a:lnTo>
                    <a:pt x="1490951" y="917278"/>
                  </a:lnTo>
                  <a:lnTo>
                    <a:pt x="1515583" y="882731"/>
                  </a:lnTo>
                  <a:lnTo>
                    <a:pt x="1537317" y="846885"/>
                  </a:lnTo>
                  <a:lnTo>
                    <a:pt x="1556034" y="809830"/>
                  </a:lnTo>
                  <a:lnTo>
                    <a:pt x="1571616" y="771657"/>
                  </a:lnTo>
                  <a:lnTo>
                    <a:pt x="1583942" y="732456"/>
                  </a:lnTo>
                  <a:lnTo>
                    <a:pt x="1592895" y="692319"/>
                  </a:lnTo>
                  <a:lnTo>
                    <a:pt x="1598353" y="651337"/>
                  </a:lnTo>
                  <a:lnTo>
                    <a:pt x="1600200" y="609600"/>
                  </a:lnTo>
                  <a:lnTo>
                    <a:pt x="1598353" y="567862"/>
                  </a:lnTo>
                  <a:lnTo>
                    <a:pt x="1592895" y="526880"/>
                  </a:lnTo>
                  <a:lnTo>
                    <a:pt x="1583942" y="486743"/>
                  </a:lnTo>
                  <a:lnTo>
                    <a:pt x="1571616" y="447542"/>
                  </a:lnTo>
                  <a:lnTo>
                    <a:pt x="1556034" y="409369"/>
                  </a:lnTo>
                  <a:lnTo>
                    <a:pt x="1537317" y="372314"/>
                  </a:lnTo>
                  <a:lnTo>
                    <a:pt x="1515583" y="336468"/>
                  </a:lnTo>
                  <a:lnTo>
                    <a:pt x="1490951" y="301921"/>
                  </a:lnTo>
                  <a:lnTo>
                    <a:pt x="1463542" y="268764"/>
                  </a:lnTo>
                  <a:lnTo>
                    <a:pt x="1433473" y="237089"/>
                  </a:lnTo>
                  <a:lnTo>
                    <a:pt x="1400865" y="206986"/>
                  </a:lnTo>
                  <a:lnTo>
                    <a:pt x="1365837" y="178546"/>
                  </a:lnTo>
                  <a:lnTo>
                    <a:pt x="1328507" y="151859"/>
                  </a:lnTo>
                  <a:lnTo>
                    <a:pt x="1288995" y="127016"/>
                  </a:lnTo>
                  <a:lnTo>
                    <a:pt x="1247421" y="104108"/>
                  </a:lnTo>
                  <a:lnTo>
                    <a:pt x="1203903" y="83227"/>
                  </a:lnTo>
                  <a:lnTo>
                    <a:pt x="1158561" y="64462"/>
                  </a:lnTo>
                  <a:lnTo>
                    <a:pt x="1111513" y="47904"/>
                  </a:lnTo>
                  <a:lnTo>
                    <a:pt x="1062880" y="33645"/>
                  </a:lnTo>
                  <a:lnTo>
                    <a:pt x="1012780" y="21775"/>
                  </a:lnTo>
                  <a:lnTo>
                    <a:pt x="961333" y="12384"/>
                  </a:lnTo>
                  <a:lnTo>
                    <a:pt x="908658" y="5564"/>
                  </a:lnTo>
                  <a:lnTo>
                    <a:pt x="854874" y="1406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8361" y="1753361"/>
              <a:ext cx="1600200" cy="1219200"/>
            </a:xfrm>
            <a:custGeom>
              <a:avLst/>
              <a:gdLst/>
              <a:ahLst/>
              <a:cxnLst/>
              <a:rect l="l" t="t" r="r" b="b"/>
              <a:pathLst>
                <a:path w="1600200" h="1219200">
                  <a:moveTo>
                    <a:pt x="0" y="609600"/>
                  </a:moveTo>
                  <a:lnTo>
                    <a:pt x="1846" y="567862"/>
                  </a:lnTo>
                  <a:lnTo>
                    <a:pt x="7304" y="526880"/>
                  </a:lnTo>
                  <a:lnTo>
                    <a:pt x="16257" y="486743"/>
                  </a:lnTo>
                  <a:lnTo>
                    <a:pt x="28583" y="447542"/>
                  </a:lnTo>
                  <a:lnTo>
                    <a:pt x="44165" y="409369"/>
                  </a:lnTo>
                  <a:lnTo>
                    <a:pt x="62882" y="372314"/>
                  </a:lnTo>
                  <a:lnTo>
                    <a:pt x="84616" y="336468"/>
                  </a:lnTo>
                  <a:lnTo>
                    <a:pt x="109248" y="301921"/>
                  </a:lnTo>
                  <a:lnTo>
                    <a:pt x="136657" y="268764"/>
                  </a:lnTo>
                  <a:lnTo>
                    <a:pt x="166726" y="237089"/>
                  </a:lnTo>
                  <a:lnTo>
                    <a:pt x="199334" y="206986"/>
                  </a:lnTo>
                  <a:lnTo>
                    <a:pt x="234362" y="178546"/>
                  </a:lnTo>
                  <a:lnTo>
                    <a:pt x="271692" y="151859"/>
                  </a:lnTo>
                  <a:lnTo>
                    <a:pt x="311204" y="127016"/>
                  </a:lnTo>
                  <a:lnTo>
                    <a:pt x="352778" y="104108"/>
                  </a:lnTo>
                  <a:lnTo>
                    <a:pt x="396296" y="83227"/>
                  </a:lnTo>
                  <a:lnTo>
                    <a:pt x="441638" y="64462"/>
                  </a:lnTo>
                  <a:lnTo>
                    <a:pt x="488686" y="47904"/>
                  </a:lnTo>
                  <a:lnTo>
                    <a:pt x="537319" y="33645"/>
                  </a:lnTo>
                  <a:lnTo>
                    <a:pt x="587419" y="21775"/>
                  </a:lnTo>
                  <a:lnTo>
                    <a:pt x="638866" y="12384"/>
                  </a:lnTo>
                  <a:lnTo>
                    <a:pt x="691541" y="5564"/>
                  </a:lnTo>
                  <a:lnTo>
                    <a:pt x="745325" y="1406"/>
                  </a:lnTo>
                  <a:lnTo>
                    <a:pt x="800100" y="0"/>
                  </a:lnTo>
                  <a:lnTo>
                    <a:pt x="854874" y="1406"/>
                  </a:lnTo>
                  <a:lnTo>
                    <a:pt x="908658" y="5564"/>
                  </a:lnTo>
                  <a:lnTo>
                    <a:pt x="961333" y="12384"/>
                  </a:lnTo>
                  <a:lnTo>
                    <a:pt x="1012780" y="21775"/>
                  </a:lnTo>
                  <a:lnTo>
                    <a:pt x="1062880" y="33645"/>
                  </a:lnTo>
                  <a:lnTo>
                    <a:pt x="1111513" y="47904"/>
                  </a:lnTo>
                  <a:lnTo>
                    <a:pt x="1158561" y="64462"/>
                  </a:lnTo>
                  <a:lnTo>
                    <a:pt x="1203903" y="83227"/>
                  </a:lnTo>
                  <a:lnTo>
                    <a:pt x="1247421" y="104108"/>
                  </a:lnTo>
                  <a:lnTo>
                    <a:pt x="1288995" y="127016"/>
                  </a:lnTo>
                  <a:lnTo>
                    <a:pt x="1328507" y="151859"/>
                  </a:lnTo>
                  <a:lnTo>
                    <a:pt x="1365837" y="178546"/>
                  </a:lnTo>
                  <a:lnTo>
                    <a:pt x="1400865" y="206986"/>
                  </a:lnTo>
                  <a:lnTo>
                    <a:pt x="1433473" y="237089"/>
                  </a:lnTo>
                  <a:lnTo>
                    <a:pt x="1463542" y="268764"/>
                  </a:lnTo>
                  <a:lnTo>
                    <a:pt x="1490951" y="301921"/>
                  </a:lnTo>
                  <a:lnTo>
                    <a:pt x="1515583" y="336468"/>
                  </a:lnTo>
                  <a:lnTo>
                    <a:pt x="1537317" y="372314"/>
                  </a:lnTo>
                  <a:lnTo>
                    <a:pt x="1556034" y="409369"/>
                  </a:lnTo>
                  <a:lnTo>
                    <a:pt x="1571616" y="447542"/>
                  </a:lnTo>
                  <a:lnTo>
                    <a:pt x="1583942" y="486743"/>
                  </a:lnTo>
                  <a:lnTo>
                    <a:pt x="1592895" y="526880"/>
                  </a:lnTo>
                  <a:lnTo>
                    <a:pt x="1598353" y="567862"/>
                  </a:lnTo>
                  <a:lnTo>
                    <a:pt x="1600200" y="609600"/>
                  </a:lnTo>
                  <a:lnTo>
                    <a:pt x="1598353" y="651337"/>
                  </a:lnTo>
                  <a:lnTo>
                    <a:pt x="1592895" y="692319"/>
                  </a:lnTo>
                  <a:lnTo>
                    <a:pt x="1583942" y="732456"/>
                  </a:lnTo>
                  <a:lnTo>
                    <a:pt x="1571616" y="771657"/>
                  </a:lnTo>
                  <a:lnTo>
                    <a:pt x="1556034" y="809830"/>
                  </a:lnTo>
                  <a:lnTo>
                    <a:pt x="1537317" y="846885"/>
                  </a:lnTo>
                  <a:lnTo>
                    <a:pt x="1515583" y="882731"/>
                  </a:lnTo>
                  <a:lnTo>
                    <a:pt x="1490951" y="917278"/>
                  </a:lnTo>
                  <a:lnTo>
                    <a:pt x="1463542" y="950435"/>
                  </a:lnTo>
                  <a:lnTo>
                    <a:pt x="1433473" y="982110"/>
                  </a:lnTo>
                  <a:lnTo>
                    <a:pt x="1400865" y="1012213"/>
                  </a:lnTo>
                  <a:lnTo>
                    <a:pt x="1365837" y="1040653"/>
                  </a:lnTo>
                  <a:lnTo>
                    <a:pt x="1328507" y="1067340"/>
                  </a:lnTo>
                  <a:lnTo>
                    <a:pt x="1288995" y="1092183"/>
                  </a:lnTo>
                  <a:lnTo>
                    <a:pt x="1247421" y="1115091"/>
                  </a:lnTo>
                  <a:lnTo>
                    <a:pt x="1203903" y="1135972"/>
                  </a:lnTo>
                  <a:lnTo>
                    <a:pt x="1158561" y="1154737"/>
                  </a:lnTo>
                  <a:lnTo>
                    <a:pt x="1111513" y="1171295"/>
                  </a:lnTo>
                  <a:lnTo>
                    <a:pt x="1062880" y="1185554"/>
                  </a:lnTo>
                  <a:lnTo>
                    <a:pt x="1012780" y="1197424"/>
                  </a:lnTo>
                  <a:lnTo>
                    <a:pt x="961333" y="1206815"/>
                  </a:lnTo>
                  <a:lnTo>
                    <a:pt x="908658" y="1213635"/>
                  </a:lnTo>
                  <a:lnTo>
                    <a:pt x="854874" y="1217793"/>
                  </a:lnTo>
                  <a:lnTo>
                    <a:pt x="800100" y="1219200"/>
                  </a:lnTo>
                  <a:lnTo>
                    <a:pt x="745325" y="1217793"/>
                  </a:lnTo>
                  <a:lnTo>
                    <a:pt x="691541" y="1213635"/>
                  </a:lnTo>
                  <a:lnTo>
                    <a:pt x="638866" y="1206815"/>
                  </a:lnTo>
                  <a:lnTo>
                    <a:pt x="587419" y="1197424"/>
                  </a:lnTo>
                  <a:lnTo>
                    <a:pt x="537319" y="1185554"/>
                  </a:lnTo>
                  <a:lnTo>
                    <a:pt x="488686" y="1171295"/>
                  </a:lnTo>
                  <a:lnTo>
                    <a:pt x="441638" y="1154737"/>
                  </a:lnTo>
                  <a:lnTo>
                    <a:pt x="396296" y="1135972"/>
                  </a:lnTo>
                  <a:lnTo>
                    <a:pt x="352778" y="1115091"/>
                  </a:lnTo>
                  <a:lnTo>
                    <a:pt x="311204" y="1092183"/>
                  </a:lnTo>
                  <a:lnTo>
                    <a:pt x="271692" y="1067340"/>
                  </a:lnTo>
                  <a:lnTo>
                    <a:pt x="234362" y="1040653"/>
                  </a:lnTo>
                  <a:lnTo>
                    <a:pt x="199334" y="1012213"/>
                  </a:lnTo>
                  <a:lnTo>
                    <a:pt x="166726" y="982110"/>
                  </a:lnTo>
                  <a:lnTo>
                    <a:pt x="136657" y="950435"/>
                  </a:lnTo>
                  <a:lnTo>
                    <a:pt x="109248" y="917278"/>
                  </a:lnTo>
                  <a:lnTo>
                    <a:pt x="84616" y="882731"/>
                  </a:lnTo>
                  <a:lnTo>
                    <a:pt x="62882" y="846885"/>
                  </a:lnTo>
                  <a:lnTo>
                    <a:pt x="44165" y="809830"/>
                  </a:lnTo>
                  <a:lnTo>
                    <a:pt x="28583" y="771657"/>
                  </a:lnTo>
                  <a:lnTo>
                    <a:pt x="16257" y="732456"/>
                  </a:lnTo>
                  <a:lnTo>
                    <a:pt x="7304" y="692319"/>
                  </a:lnTo>
                  <a:lnTo>
                    <a:pt x="1846" y="651337"/>
                  </a:lnTo>
                  <a:lnTo>
                    <a:pt x="0" y="6096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81961" y="3886961"/>
              <a:ext cx="1600200" cy="1219200"/>
            </a:xfrm>
            <a:custGeom>
              <a:avLst/>
              <a:gdLst/>
              <a:ahLst/>
              <a:cxnLst/>
              <a:rect l="l" t="t" r="r" b="b"/>
              <a:pathLst>
                <a:path w="1600200" h="1219200">
                  <a:moveTo>
                    <a:pt x="800100" y="0"/>
                  </a:moveTo>
                  <a:lnTo>
                    <a:pt x="745325" y="1406"/>
                  </a:lnTo>
                  <a:lnTo>
                    <a:pt x="691541" y="5564"/>
                  </a:lnTo>
                  <a:lnTo>
                    <a:pt x="638866" y="12384"/>
                  </a:lnTo>
                  <a:lnTo>
                    <a:pt x="587419" y="21775"/>
                  </a:lnTo>
                  <a:lnTo>
                    <a:pt x="537319" y="33645"/>
                  </a:lnTo>
                  <a:lnTo>
                    <a:pt x="488686" y="47904"/>
                  </a:lnTo>
                  <a:lnTo>
                    <a:pt x="441638" y="64462"/>
                  </a:lnTo>
                  <a:lnTo>
                    <a:pt x="396296" y="83227"/>
                  </a:lnTo>
                  <a:lnTo>
                    <a:pt x="352778" y="104108"/>
                  </a:lnTo>
                  <a:lnTo>
                    <a:pt x="311204" y="127016"/>
                  </a:lnTo>
                  <a:lnTo>
                    <a:pt x="271692" y="151859"/>
                  </a:lnTo>
                  <a:lnTo>
                    <a:pt x="234362" y="178546"/>
                  </a:lnTo>
                  <a:lnTo>
                    <a:pt x="199334" y="206986"/>
                  </a:lnTo>
                  <a:lnTo>
                    <a:pt x="166726" y="237089"/>
                  </a:lnTo>
                  <a:lnTo>
                    <a:pt x="136657" y="268764"/>
                  </a:lnTo>
                  <a:lnTo>
                    <a:pt x="109248" y="301921"/>
                  </a:lnTo>
                  <a:lnTo>
                    <a:pt x="84616" y="336468"/>
                  </a:lnTo>
                  <a:lnTo>
                    <a:pt x="62882" y="372314"/>
                  </a:lnTo>
                  <a:lnTo>
                    <a:pt x="44165" y="409369"/>
                  </a:lnTo>
                  <a:lnTo>
                    <a:pt x="28583" y="447542"/>
                  </a:lnTo>
                  <a:lnTo>
                    <a:pt x="16257" y="486743"/>
                  </a:lnTo>
                  <a:lnTo>
                    <a:pt x="7304" y="526880"/>
                  </a:lnTo>
                  <a:lnTo>
                    <a:pt x="1846" y="567862"/>
                  </a:lnTo>
                  <a:lnTo>
                    <a:pt x="0" y="609600"/>
                  </a:lnTo>
                  <a:lnTo>
                    <a:pt x="1846" y="651337"/>
                  </a:lnTo>
                  <a:lnTo>
                    <a:pt x="7304" y="692319"/>
                  </a:lnTo>
                  <a:lnTo>
                    <a:pt x="16257" y="732456"/>
                  </a:lnTo>
                  <a:lnTo>
                    <a:pt x="28583" y="771657"/>
                  </a:lnTo>
                  <a:lnTo>
                    <a:pt x="44165" y="809830"/>
                  </a:lnTo>
                  <a:lnTo>
                    <a:pt x="62882" y="846885"/>
                  </a:lnTo>
                  <a:lnTo>
                    <a:pt x="84616" y="882731"/>
                  </a:lnTo>
                  <a:lnTo>
                    <a:pt x="109248" y="917278"/>
                  </a:lnTo>
                  <a:lnTo>
                    <a:pt x="136657" y="950435"/>
                  </a:lnTo>
                  <a:lnTo>
                    <a:pt x="166726" y="982110"/>
                  </a:lnTo>
                  <a:lnTo>
                    <a:pt x="199334" y="1012213"/>
                  </a:lnTo>
                  <a:lnTo>
                    <a:pt x="234362" y="1040653"/>
                  </a:lnTo>
                  <a:lnTo>
                    <a:pt x="271692" y="1067340"/>
                  </a:lnTo>
                  <a:lnTo>
                    <a:pt x="311204" y="1092183"/>
                  </a:lnTo>
                  <a:lnTo>
                    <a:pt x="352778" y="1115091"/>
                  </a:lnTo>
                  <a:lnTo>
                    <a:pt x="396296" y="1135972"/>
                  </a:lnTo>
                  <a:lnTo>
                    <a:pt x="441638" y="1154737"/>
                  </a:lnTo>
                  <a:lnTo>
                    <a:pt x="488686" y="1171295"/>
                  </a:lnTo>
                  <a:lnTo>
                    <a:pt x="537319" y="1185554"/>
                  </a:lnTo>
                  <a:lnTo>
                    <a:pt x="587419" y="1197424"/>
                  </a:lnTo>
                  <a:lnTo>
                    <a:pt x="638866" y="1206815"/>
                  </a:lnTo>
                  <a:lnTo>
                    <a:pt x="691541" y="1213635"/>
                  </a:lnTo>
                  <a:lnTo>
                    <a:pt x="745325" y="1217793"/>
                  </a:lnTo>
                  <a:lnTo>
                    <a:pt x="800100" y="1219200"/>
                  </a:lnTo>
                  <a:lnTo>
                    <a:pt x="854874" y="1217793"/>
                  </a:lnTo>
                  <a:lnTo>
                    <a:pt x="908658" y="1213635"/>
                  </a:lnTo>
                  <a:lnTo>
                    <a:pt x="961333" y="1206815"/>
                  </a:lnTo>
                  <a:lnTo>
                    <a:pt x="1012780" y="1197424"/>
                  </a:lnTo>
                  <a:lnTo>
                    <a:pt x="1062880" y="1185554"/>
                  </a:lnTo>
                  <a:lnTo>
                    <a:pt x="1111513" y="1171295"/>
                  </a:lnTo>
                  <a:lnTo>
                    <a:pt x="1158561" y="1154737"/>
                  </a:lnTo>
                  <a:lnTo>
                    <a:pt x="1203903" y="1135972"/>
                  </a:lnTo>
                  <a:lnTo>
                    <a:pt x="1247421" y="1115091"/>
                  </a:lnTo>
                  <a:lnTo>
                    <a:pt x="1288995" y="1092183"/>
                  </a:lnTo>
                  <a:lnTo>
                    <a:pt x="1328507" y="1067340"/>
                  </a:lnTo>
                  <a:lnTo>
                    <a:pt x="1365837" y="1040653"/>
                  </a:lnTo>
                  <a:lnTo>
                    <a:pt x="1400865" y="1012213"/>
                  </a:lnTo>
                  <a:lnTo>
                    <a:pt x="1433473" y="982110"/>
                  </a:lnTo>
                  <a:lnTo>
                    <a:pt x="1463542" y="950435"/>
                  </a:lnTo>
                  <a:lnTo>
                    <a:pt x="1490951" y="917278"/>
                  </a:lnTo>
                  <a:lnTo>
                    <a:pt x="1515583" y="882731"/>
                  </a:lnTo>
                  <a:lnTo>
                    <a:pt x="1537317" y="846885"/>
                  </a:lnTo>
                  <a:lnTo>
                    <a:pt x="1556034" y="809830"/>
                  </a:lnTo>
                  <a:lnTo>
                    <a:pt x="1571616" y="771657"/>
                  </a:lnTo>
                  <a:lnTo>
                    <a:pt x="1583942" y="732456"/>
                  </a:lnTo>
                  <a:lnTo>
                    <a:pt x="1592895" y="692319"/>
                  </a:lnTo>
                  <a:lnTo>
                    <a:pt x="1598353" y="651337"/>
                  </a:lnTo>
                  <a:lnTo>
                    <a:pt x="1600200" y="609600"/>
                  </a:lnTo>
                  <a:lnTo>
                    <a:pt x="1598353" y="567862"/>
                  </a:lnTo>
                  <a:lnTo>
                    <a:pt x="1592895" y="526880"/>
                  </a:lnTo>
                  <a:lnTo>
                    <a:pt x="1583942" y="486743"/>
                  </a:lnTo>
                  <a:lnTo>
                    <a:pt x="1571616" y="447542"/>
                  </a:lnTo>
                  <a:lnTo>
                    <a:pt x="1556034" y="409369"/>
                  </a:lnTo>
                  <a:lnTo>
                    <a:pt x="1537317" y="372314"/>
                  </a:lnTo>
                  <a:lnTo>
                    <a:pt x="1515583" y="336468"/>
                  </a:lnTo>
                  <a:lnTo>
                    <a:pt x="1490951" y="301921"/>
                  </a:lnTo>
                  <a:lnTo>
                    <a:pt x="1463542" y="268764"/>
                  </a:lnTo>
                  <a:lnTo>
                    <a:pt x="1433473" y="237089"/>
                  </a:lnTo>
                  <a:lnTo>
                    <a:pt x="1400865" y="206986"/>
                  </a:lnTo>
                  <a:lnTo>
                    <a:pt x="1365837" y="178546"/>
                  </a:lnTo>
                  <a:lnTo>
                    <a:pt x="1328507" y="151859"/>
                  </a:lnTo>
                  <a:lnTo>
                    <a:pt x="1288995" y="127016"/>
                  </a:lnTo>
                  <a:lnTo>
                    <a:pt x="1247421" y="104108"/>
                  </a:lnTo>
                  <a:lnTo>
                    <a:pt x="1203903" y="83227"/>
                  </a:lnTo>
                  <a:lnTo>
                    <a:pt x="1158561" y="64462"/>
                  </a:lnTo>
                  <a:lnTo>
                    <a:pt x="1111513" y="47904"/>
                  </a:lnTo>
                  <a:lnTo>
                    <a:pt x="1062880" y="33645"/>
                  </a:lnTo>
                  <a:lnTo>
                    <a:pt x="1012780" y="21775"/>
                  </a:lnTo>
                  <a:lnTo>
                    <a:pt x="961333" y="12384"/>
                  </a:lnTo>
                  <a:lnTo>
                    <a:pt x="908658" y="5564"/>
                  </a:lnTo>
                  <a:lnTo>
                    <a:pt x="854874" y="1406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81961" y="3886961"/>
              <a:ext cx="1600200" cy="1219200"/>
            </a:xfrm>
            <a:custGeom>
              <a:avLst/>
              <a:gdLst/>
              <a:ahLst/>
              <a:cxnLst/>
              <a:rect l="l" t="t" r="r" b="b"/>
              <a:pathLst>
                <a:path w="1600200" h="1219200">
                  <a:moveTo>
                    <a:pt x="0" y="609600"/>
                  </a:moveTo>
                  <a:lnTo>
                    <a:pt x="1846" y="567862"/>
                  </a:lnTo>
                  <a:lnTo>
                    <a:pt x="7304" y="526880"/>
                  </a:lnTo>
                  <a:lnTo>
                    <a:pt x="16257" y="486743"/>
                  </a:lnTo>
                  <a:lnTo>
                    <a:pt x="28583" y="447542"/>
                  </a:lnTo>
                  <a:lnTo>
                    <a:pt x="44165" y="409369"/>
                  </a:lnTo>
                  <a:lnTo>
                    <a:pt x="62882" y="372314"/>
                  </a:lnTo>
                  <a:lnTo>
                    <a:pt x="84616" y="336468"/>
                  </a:lnTo>
                  <a:lnTo>
                    <a:pt x="109248" y="301921"/>
                  </a:lnTo>
                  <a:lnTo>
                    <a:pt x="136657" y="268764"/>
                  </a:lnTo>
                  <a:lnTo>
                    <a:pt x="166726" y="237089"/>
                  </a:lnTo>
                  <a:lnTo>
                    <a:pt x="199334" y="206986"/>
                  </a:lnTo>
                  <a:lnTo>
                    <a:pt x="234362" y="178546"/>
                  </a:lnTo>
                  <a:lnTo>
                    <a:pt x="271692" y="151859"/>
                  </a:lnTo>
                  <a:lnTo>
                    <a:pt x="311204" y="127016"/>
                  </a:lnTo>
                  <a:lnTo>
                    <a:pt x="352778" y="104108"/>
                  </a:lnTo>
                  <a:lnTo>
                    <a:pt x="396296" y="83227"/>
                  </a:lnTo>
                  <a:lnTo>
                    <a:pt x="441638" y="64462"/>
                  </a:lnTo>
                  <a:lnTo>
                    <a:pt x="488686" y="47904"/>
                  </a:lnTo>
                  <a:lnTo>
                    <a:pt x="537319" y="33645"/>
                  </a:lnTo>
                  <a:lnTo>
                    <a:pt x="587419" y="21775"/>
                  </a:lnTo>
                  <a:lnTo>
                    <a:pt x="638866" y="12384"/>
                  </a:lnTo>
                  <a:lnTo>
                    <a:pt x="691541" y="5564"/>
                  </a:lnTo>
                  <a:lnTo>
                    <a:pt x="745325" y="1406"/>
                  </a:lnTo>
                  <a:lnTo>
                    <a:pt x="800100" y="0"/>
                  </a:lnTo>
                  <a:lnTo>
                    <a:pt x="854874" y="1406"/>
                  </a:lnTo>
                  <a:lnTo>
                    <a:pt x="908658" y="5564"/>
                  </a:lnTo>
                  <a:lnTo>
                    <a:pt x="961333" y="12384"/>
                  </a:lnTo>
                  <a:lnTo>
                    <a:pt x="1012780" y="21775"/>
                  </a:lnTo>
                  <a:lnTo>
                    <a:pt x="1062880" y="33645"/>
                  </a:lnTo>
                  <a:lnTo>
                    <a:pt x="1111513" y="47904"/>
                  </a:lnTo>
                  <a:lnTo>
                    <a:pt x="1158561" y="64462"/>
                  </a:lnTo>
                  <a:lnTo>
                    <a:pt x="1203903" y="83227"/>
                  </a:lnTo>
                  <a:lnTo>
                    <a:pt x="1247421" y="104108"/>
                  </a:lnTo>
                  <a:lnTo>
                    <a:pt x="1288995" y="127016"/>
                  </a:lnTo>
                  <a:lnTo>
                    <a:pt x="1328507" y="151859"/>
                  </a:lnTo>
                  <a:lnTo>
                    <a:pt x="1365837" y="178546"/>
                  </a:lnTo>
                  <a:lnTo>
                    <a:pt x="1400865" y="206986"/>
                  </a:lnTo>
                  <a:lnTo>
                    <a:pt x="1433473" y="237089"/>
                  </a:lnTo>
                  <a:lnTo>
                    <a:pt x="1463542" y="268764"/>
                  </a:lnTo>
                  <a:lnTo>
                    <a:pt x="1490951" y="301921"/>
                  </a:lnTo>
                  <a:lnTo>
                    <a:pt x="1515583" y="336468"/>
                  </a:lnTo>
                  <a:lnTo>
                    <a:pt x="1537317" y="372314"/>
                  </a:lnTo>
                  <a:lnTo>
                    <a:pt x="1556034" y="409369"/>
                  </a:lnTo>
                  <a:lnTo>
                    <a:pt x="1571616" y="447542"/>
                  </a:lnTo>
                  <a:lnTo>
                    <a:pt x="1583942" y="486743"/>
                  </a:lnTo>
                  <a:lnTo>
                    <a:pt x="1592895" y="526880"/>
                  </a:lnTo>
                  <a:lnTo>
                    <a:pt x="1598353" y="567862"/>
                  </a:lnTo>
                  <a:lnTo>
                    <a:pt x="1600200" y="609600"/>
                  </a:lnTo>
                  <a:lnTo>
                    <a:pt x="1598353" y="651337"/>
                  </a:lnTo>
                  <a:lnTo>
                    <a:pt x="1592895" y="692319"/>
                  </a:lnTo>
                  <a:lnTo>
                    <a:pt x="1583942" y="732456"/>
                  </a:lnTo>
                  <a:lnTo>
                    <a:pt x="1571616" y="771657"/>
                  </a:lnTo>
                  <a:lnTo>
                    <a:pt x="1556034" y="809830"/>
                  </a:lnTo>
                  <a:lnTo>
                    <a:pt x="1537317" y="846885"/>
                  </a:lnTo>
                  <a:lnTo>
                    <a:pt x="1515583" y="882731"/>
                  </a:lnTo>
                  <a:lnTo>
                    <a:pt x="1490951" y="917278"/>
                  </a:lnTo>
                  <a:lnTo>
                    <a:pt x="1463542" y="950435"/>
                  </a:lnTo>
                  <a:lnTo>
                    <a:pt x="1433473" y="982110"/>
                  </a:lnTo>
                  <a:lnTo>
                    <a:pt x="1400865" y="1012213"/>
                  </a:lnTo>
                  <a:lnTo>
                    <a:pt x="1365837" y="1040653"/>
                  </a:lnTo>
                  <a:lnTo>
                    <a:pt x="1328507" y="1067340"/>
                  </a:lnTo>
                  <a:lnTo>
                    <a:pt x="1288995" y="1092183"/>
                  </a:lnTo>
                  <a:lnTo>
                    <a:pt x="1247421" y="1115091"/>
                  </a:lnTo>
                  <a:lnTo>
                    <a:pt x="1203903" y="1135972"/>
                  </a:lnTo>
                  <a:lnTo>
                    <a:pt x="1158561" y="1154737"/>
                  </a:lnTo>
                  <a:lnTo>
                    <a:pt x="1111513" y="1171295"/>
                  </a:lnTo>
                  <a:lnTo>
                    <a:pt x="1062880" y="1185554"/>
                  </a:lnTo>
                  <a:lnTo>
                    <a:pt x="1012780" y="1197424"/>
                  </a:lnTo>
                  <a:lnTo>
                    <a:pt x="961333" y="1206815"/>
                  </a:lnTo>
                  <a:lnTo>
                    <a:pt x="908658" y="1213635"/>
                  </a:lnTo>
                  <a:lnTo>
                    <a:pt x="854874" y="1217793"/>
                  </a:lnTo>
                  <a:lnTo>
                    <a:pt x="800100" y="1219200"/>
                  </a:lnTo>
                  <a:lnTo>
                    <a:pt x="745325" y="1217793"/>
                  </a:lnTo>
                  <a:lnTo>
                    <a:pt x="691541" y="1213635"/>
                  </a:lnTo>
                  <a:lnTo>
                    <a:pt x="638866" y="1206815"/>
                  </a:lnTo>
                  <a:lnTo>
                    <a:pt x="587419" y="1197424"/>
                  </a:lnTo>
                  <a:lnTo>
                    <a:pt x="537319" y="1185554"/>
                  </a:lnTo>
                  <a:lnTo>
                    <a:pt x="488686" y="1171295"/>
                  </a:lnTo>
                  <a:lnTo>
                    <a:pt x="441638" y="1154737"/>
                  </a:lnTo>
                  <a:lnTo>
                    <a:pt x="396296" y="1135972"/>
                  </a:lnTo>
                  <a:lnTo>
                    <a:pt x="352778" y="1115091"/>
                  </a:lnTo>
                  <a:lnTo>
                    <a:pt x="311204" y="1092183"/>
                  </a:lnTo>
                  <a:lnTo>
                    <a:pt x="271692" y="1067340"/>
                  </a:lnTo>
                  <a:lnTo>
                    <a:pt x="234362" y="1040653"/>
                  </a:lnTo>
                  <a:lnTo>
                    <a:pt x="199334" y="1012213"/>
                  </a:lnTo>
                  <a:lnTo>
                    <a:pt x="166726" y="982110"/>
                  </a:lnTo>
                  <a:lnTo>
                    <a:pt x="136657" y="950435"/>
                  </a:lnTo>
                  <a:lnTo>
                    <a:pt x="109248" y="917278"/>
                  </a:lnTo>
                  <a:lnTo>
                    <a:pt x="84616" y="882731"/>
                  </a:lnTo>
                  <a:lnTo>
                    <a:pt x="62882" y="846885"/>
                  </a:lnTo>
                  <a:lnTo>
                    <a:pt x="44165" y="809830"/>
                  </a:lnTo>
                  <a:lnTo>
                    <a:pt x="28583" y="771657"/>
                  </a:lnTo>
                  <a:lnTo>
                    <a:pt x="16257" y="732456"/>
                  </a:lnTo>
                  <a:lnTo>
                    <a:pt x="7304" y="692319"/>
                  </a:lnTo>
                  <a:lnTo>
                    <a:pt x="1846" y="651337"/>
                  </a:lnTo>
                  <a:lnTo>
                    <a:pt x="0" y="6096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87161" y="3886961"/>
              <a:ext cx="1600200" cy="1219200"/>
            </a:xfrm>
            <a:custGeom>
              <a:avLst/>
              <a:gdLst/>
              <a:ahLst/>
              <a:cxnLst/>
              <a:rect l="l" t="t" r="r" b="b"/>
              <a:pathLst>
                <a:path w="1600200" h="1219200">
                  <a:moveTo>
                    <a:pt x="800100" y="0"/>
                  </a:moveTo>
                  <a:lnTo>
                    <a:pt x="745325" y="1406"/>
                  </a:lnTo>
                  <a:lnTo>
                    <a:pt x="691541" y="5564"/>
                  </a:lnTo>
                  <a:lnTo>
                    <a:pt x="638866" y="12384"/>
                  </a:lnTo>
                  <a:lnTo>
                    <a:pt x="587419" y="21775"/>
                  </a:lnTo>
                  <a:lnTo>
                    <a:pt x="537319" y="33645"/>
                  </a:lnTo>
                  <a:lnTo>
                    <a:pt x="488686" y="47904"/>
                  </a:lnTo>
                  <a:lnTo>
                    <a:pt x="441638" y="64462"/>
                  </a:lnTo>
                  <a:lnTo>
                    <a:pt x="396296" y="83227"/>
                  </a:lnTo>
                  <a:lnTo>
                    <a:pt x="352778" y="104108"/>
                  </a:lnTo>
                  <a:lnTo>
                    <a:pt x="311204" y="127016"/>
                  </a:lnTo>
                  <a:lnTo>
                    <a:pt x="271692" y="151859"/>
                  </a:lnTo>
                  <a:lnTo>
                    <a:pt x="234362" y="178546"/>
                  </a:lnTo>
                  <a:lnTo>
                    <a:pt x="199334" y="206986"/>
                  </a:lnTo>
                  <a:lnTo>
                    <a:pt x="166726" y="237089"/>
                  </a:lnTo>
                  <a:lnTo>
                    <a:pt x="136657" y="268764"/>
                  </a:lnTo>
                  <a:lnTo>
                    <a:pt x="109248" y="301921"/>
                  </a:lnTo>
                  <a:lnTo>
                    <a:pt x="84616" y="336468"/>
                  </a:lnTo>
                  <a:lnTo>
                    <a:pt x="62882" y="372314"/>
                  </a:lnTo>
                  <a:lnTo>
                    <a:pt x="44165" y="409369"/>
                  </a:lnTo>
                  <a:lnTo>
                    <a:pt x="28583" y="447542"/>
                  </a:lnTo>
                  <a:lnTo>
                    <a:pt x="16257" y="486743"/>
                  </a:lnTo>
                  <a:lnTo>
                    <a:pt x="7304" y="526880"/>
                  </a:lnTo>
                  <a:lnTo>
                    <a:pt x="1846" y="567862"/>
                  </a:lnTo>
                  <a:lnTo>
                    <a:pt x="0" y="609600"/>
                  </a:lnTo>
                  <a:lnTo>
                    <a:pt x="1846" y="651337"/>
                  </a:lnTo>
                  <a:lnTo>
                    <a:pt x="7304" y="692319"/>
                  </a:lnTo>
                  <a:lnTo>
                    <a:pt x="16257" y="732456"/>
                  </a:lnTo>
                  <a:lnTo>
                    <a:pt x="28583" y="771657"/>
                  </a:lnTo>
                  <a:lnTo>
                    <a:pt x="44165" y="809830"/>
                  </a:lnTo>
                  <a:lnTo>
                    <a:pt x="62882" y="846885"/>
                  </a:lnTo>
                  <a:lnTo>
                    <a:pt x="84616" y="882731"/>
                  </a:lnTo>
                  <a:lnTo>
                    <a:pt x="109248" y="917278"/>
                  </a:lnTo>
                  <a:lnTo>
                    <a:pt x="136657" y="950435"/>
                  </a:lnTo>
                  <a:lnTo>
                    <a:pt x="166726" y="982110"/>
                  </a:lnTo>
                  <a:lnTo>
                    <a:pt x="199334" y="1012213"/>
                  </a:lnTo>
                  <a:lnTo>
                    <a:pt x="234362" y="1040653"/>
                  </a:lnTo>
                  <a:lnTo>
                    <a:pt x="271692" y="1067340"/>
                  </a:lnTo>
                  <a:lnTo>
                    <a:pt x="311204" y="1092183"/>
                  </a:lnTo>
                  <a:lnTo>
                    <a:pt x="352778" y="1115091"/>
                  </a:lnTo>
                  <a:lnTo>
                    <a:pt x="396296" y="1135972"/>
                  </a:lnTo>
                  <a:lnTo>
                    <a:pt x="441638" y="1154737"/>
                  </a:lnTo>
                  <a:lnTo>
                    <a:pt x="488686" y="1171295"/>
                  </a:lnTo>
                  <a:lnTo>
                    <a:pt x="537319" y="1185554"/>
                  </a:lnTo>
                  <a:lnTo>
                    <a:pt x="587419" y="1197424"/>
                  </a:lnTo>
                  <a:lnTo>
                    <a:pt x="638866" y="1206815"/>
                  </a:lnTo>
                  <a:lnTo>
                    <a:pt x="691541" y="1213635"/>
                  </a:lnTo>
                  <a:lnTo>
                    <a:pt x="745325" y="1217793"/>
                  </a:lnTo>
                  <a:lnTo>
                    <a:pt x="800100" y="1219200"/>
                  </a:lnTo>
                  <a:lnTo>
                    <a:pt x="854874" y="1217793"/>
                  </a:lnTo>
                  <a:lnTo>
                    <a:pt x="908658" y="1213635"/>
                  </a:lnTo>
                  <a:lnTo>
                    <a:pt x="961333" y="1206815"/>
                  </a:lnTo>
                  <a:lnTo>
                    <a:pt x="1012780" y="1197424"/>
                  </a:lnTo>
                  <a:lnTo>
                    <a:pt x="1062880" y="1185554"/>
                  </a:lnTo>
                  <a:lnTo>
                    <a:pt x="1111513" y="1171295"/>
                  </a:lnTo>
                  <a:lnTo>
                    <a:pt x="1158561" y="1154737"/>
                  </a:lnTo>
                  <a:lnTo>
                    <a:pt x="1203903" y="1135972"/>
                  </a:lnTo>
                  <a:lnTo>
                    <a:pt x="1247421" y="1115091"/>
                  </a:lnTo>
                  <a:lnTo>
                    <a:pt x="1288995" y="1092183"/>
                  </a:lnTo>
                  <a:lnTo>
                    <a:pt x="1328507" y="1067340"/>
                  </a:lnTo>
                  <a:lnTo>
                    <a:pt x="1365837" y="1040653"/>
                  </a:lnTo>
                  <a:lnTo>
                    <a:pt x="1400865" y="1012213"/>
                  </a:lnTo>
                  <a:lnTo>
                    <a:pt x="1433473" y="982110"/>
                  </a:lnTo>
                  <a:lnTo>
                    <a:pt x="1463542" y="950435"/>
                  </a:lnTo>
                  <a:lnTo>
                    <a:pt x="1490951" y="917278"/>
                  </a:lnTo>
                  <a:lnTo>
                    <a:pt x="1515583" y="882731"/>
                  </a:lnTo>
                  <a:lnTo>
                    <a:pt x="1537317" y="846885"/>
                  </a:lnTo>
                  <a:lnTo>
                    <a:pt x="1556034" y="809830"/>
                  </a:lnTo>
                  <a:lnTo>
                    <a:pt x="1571616" y="771657"/>
                  </a:lnTo>
                  <a:lnTo>
                    <a:pt x="1583942" y="732456"/>
                  </a:lnTo>
                  <a:lnTo>
                    <a:pt x="1592895" y="692319"/>
                  </a:lnTo>
                  <a:lnTo>
                    <a:pt x="1598353" y="651337"/>
                  </a:lnTo>
                  <a:lnTo>
                    <a:pt x="1600199" y="609600"/>
                  </a:lnTo>
                  <a:lnTo>
                    <a:pt x="1598353" y="567862"/>
                  </a:lnTo>
                  <a:lnTo>
                    <a:pt x="1592895" y="526880"/>
                  </a:lnTo>
                  <a:lnTo>
                    <a:pt x="1583942" y="486743"/>
                  </a:lnTo>
                  <a:lnTo>
                    <a:pt x="1571616" y="447542"/>
                  </a:lnTo>
                  <a:lnTo>
                    <a:pt x="1556034" y="409369"/>
                  </a:lnTo>
                  <a:lnTo>
                    <a:pt x="1537317" y="372314"/>
                  </a:lnTo>
                  <a:lnTo>
                    <a:pt x="1515583" y="336468"/>
                  </a:lnTo>
                  <a:lnTo>
                    <a:pt x="1490951" y="301921"/>
                  </a:lnTo>
                  <a:lnTo>
                    <a:pt x="1463542" y="268764"/>
                  </a:lnTo>
                  <a:lnTo>
                    <a:pt x="1433473" y="237089"/>
                  </a:lnTo>
                  <a:lnTo>
                    <a:pt x="1400865" y="206986"/>
                  </a:lnTo>
                  <a:lnTo>
                    <a:pt x="1365837" y="178546"/>
                  </a:lnTo>
                  <a:lnTo>
                    <a:pt x="1328507" y="151859"/>
                  </a:lnTo>
                  <a:lnTo>
                    <a:pt x="1288995" y="127016"/>
                  </a:lnTo>
                  <a:lnTo>
                    <a:pt x="1247421" y="104108"/>
                  </a:lnTo>
                  <a:lnTo>
                    <a:pt x="1203903" y="83227"/>
                  </a:lnTo>
                  <a:lnTo>
                    <a:pt x="1158561" y="64462"/>
                  </a:lnTo>
                  <a:lnTo>
                    <a:pt x="1111513" y="47904"/>
                  </a:lnTo>
                  <a:lnTo>
                    <a:pt x="1062880" y="33645"/>
                  </a:lnTo>
                  <a:lnTo>
                    <a:pt x="1012780" y="21775"/>
                  </a:lnTo>
                  <a:lnTo>
                    <a:pt x="961333" y="12384"/>
                  </a:lnTo>
                  <a:lnTo>
                    <a:pt x="908658" y="5564"/>
                  </a:lnTo>
                  <a:lnTo>
                    <a:pt x="854874" y="1406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87161" y="3886961"/>
              <a:ext cx="1600200" cy="1219200"/>
            </a:xfrm>
            <a:custGeom>
              <a:avLst/>
              <a:gdLst/>
              <a:ahLst/>
              <a:cxnLst/>
              <a:rect l="l" t="t" r="r" b="b"/>
              <a:pathLst>
                <a:path w="1600200" h="1219200">
                  <a:moveTo>
                    <a:pt x="0" y="609600"/>
                  </a:moveTo>
                  <a:lnTo>
                    <a:pt x="1846" y="567862"/>
                  </a:lnTo>
                  <a:lnTo>
                    <a:pt x="7304" y="526880"/>
                  </a:lnTo>
                  <a:lnTo>
                    <a:pt x="16257" y="486743"/>
                  </a:lnTo>
                  <a:lnTo>
                    <a:pt x="28583" y="447542"/>
                  </a:lnTo>
                  <a:lnTo>
                    <a:pt x="44165" y="409369"/>
                  </a:lnTo>
                  <a:lnTo>
                    <a:pt x="62882" y="372314"/>
                  </a:lnTo>
                  <a:lnTo>
                    <a:pt x="84616" y="336468"/>
                  </a:lnTo>
                  <a:lnTo>
                    <a:pt x="109248" y="301921"/>
                  </a:lnTo>
                  <a:lnTo>
                    <a:pt x="136657" y="268764"/>
                  </a:lnTo>
                  <a:lnTo>
                    <a:pt x="166726" y="237089"/>
                  </a:lnTo>
                  <a:lnTo>
                    <a:pt x="199334" y="206986"/>
                  </a:lnTo>
                  <a:lnTo>
                    <a:pt x="234362" y="178546"/>
                  </a:lnTo>
                  <a:lnTo>
                    <a:pt x="271692" y="151859"/>
                  </a:lnTo>
                  <a:lnTo>
                    <a:pt x="311204" y="127016"/>
                  </a:lnTo>
                  <a:lnTo>
                    <a:pt x="352778" y="104108"/>
                  </a:lnTo>
                  <a:lnTo>
                    <a:pt x="396296" y="83227"/>
                  </a:lnTo>
                  <a:lnTo>
                    <a:pt x="441638" y="64462"/>
                  </a:lnTo>
                  <a:lnTo>
                    <a:pt x="488686" y="47904"/>
                  </a:lnTo>
                  <a:lnTo>
                    <a:pt x="537319" y="33645"/>
                  </a:lnTo>
                  <a:lnTo>
                    <a:pt x="587419" y="21775"/>
                  </a:lnTo>
                  <a:lnTo>
                    <a:pt x="638866" y="12384"/>
                  </a:lnTo>
                  <a:lnTo>
                    <a:pt x="691541" y="5564"/>
                  </a:lnTo>
                  <a:lnTo>
                    <a:pt x="745325" y="1406"/>
                  </a:lnTo>
                  <a:lnTo>
                    <a:pt x="800100" y="0"/>
                  </a:lnTo>
                  <a:lnTo>
                    <a:pt x="854874" y="1406"/>
                  </a:lnTo>
                  <a:lnTo>
                    <a:pt x="908658" y="5564"/>
                  </a:lnTo>
                  <a:lnTo>
                    <a:pt x="961333" y="12384"/>
                  </a:lnTo>
                  <a:lnTo>
                    <a:pt x="1012780" y="21775"/>
                  </a:lnTo>
                  <a:lnTo>
                    <a:pt x="1062880" y="33645"/>
                  </a:lnTo>
                  <a:lnTo>
                    <a:pt x="1111513" y="47904"/>
                  </a:lnTo>
                  <a:lnTo>
                    <a:pt x="1158561" y="64462"/>
                  </a:lnTo>
                  <a:lnTo>
                    <a:pt x="1203903" y="83227"/>
                  </a:lnTo>
                  <a:lnTo>
                    <a:pt x="1247421" y="104108"/>
                  </a:lnTo>
                  <a:lnTo>
                    <a:pt x="1288995" y="127016"/>
                  </a:lnTo>
                  <a:lnTo>
                    <a:pt x="1328507" y="151859"/>
                  </a:lnTo>
                  <a:lnTo>
                    <a:pt x="1365837" y="178546"/>
                  </a:lnTo>
                  <a:lnTo>
                    <a:pt x="1400865" y="206986"/>
                  </a:lnTo>
                  <a:lnTo>
                    <a:pt x="1433473" y="237089"/>
                  </a:lnTo>
                  <a:lnTo>
                    <a:pt x="1463542" y="268764"/>
                  </a:lnTo>
                  <a:lnTo>
                    <a:pt x="1490951" y="301921"/>
                  </a:lnTo>
                  <a:lnTo>
                    <a:pt x="1515583" y="336468"/>
                  </a:lnTo>
                  <a:lnTo>
                    <a:pt x="1537317" y="372314"/>
                  </a:lnTo>
                  <a:lnTo>
                    <a:pt x="1556034" y="409369"/>
                  </a:lnTo>
                  <a:lnTo>
                    <a:pt x="1571616" y="447542"/>
                  </a:lnTo>
                  <a:lnTo>
                    <a:pt x="1583942" y="486743"/>
                  </a:lnTo>
                  <a:lnTo>
                    <a:pt x="1592895" y="526880"/>
                  </a:lnTo>
                  <a:lnTo>
                    <a:pt x="1598353" y="567862"/>
                  </a:lnTo>
                  <a:lnTo>
                    <a:pt x="1600199" y="609600"/>
                  </a:lnTo>
                  <a:lnTo>
                    <a:pt x="1598353" y="651337"/>
                  </a:lnTo>
                  <a:lnTo>
                    <a:pt x="1592895" y="692319"/>
                  </a:lnTo>
                  <a:lnTo>
                    <a:pt x="1583942" y="732456"/>
                  </a:lnTo>
                  <a:lnTo>
                    <a:pt x="1571616" y="771657"/>
                  </a:lnTo>
                  <a:lnTo>
                    <a:pt x="1556034" y="809830"/>
                  </a:lnTo>
                  <a:lnTo>
                    <a:pt x="1537317" y="846885"/>
                  </a:lnTo>
                  <a:lnTo>
                    <a:pt x="1515583" y="882731"/>
                  </a:lnTo>
                  <a:lnTo>
                    <a:pt x="1490951" y="917278"/>
                  </a:lnTo>
                  <a:lnTo>
                    <a:pt x="1463542" y="950435"/>
                  </a:lnTo>
                  <a:lnTo>
                    <a:pt x="1433473" y="982110"/>
                  </a:lnTo>
                  <a:lnTo>
                    <a:pt x="1400865" y="1012213"/>
                  </a:lnTo>
                  <a:lnTo>
                    <a:pt x="1365837" y="1040653"/>
                  </a:lnTo>
                  <a:lnTo>
                    <a:pt x="1328507" y="1067340"/>
                  </a:lnTo>
                  <a:lnTo>
                    <a:pt x="1288995" y="1092183"/>
                  </a:lnTo>
                  <a:lnTo>
                    <a:pt x="1247421" y="1115091"/>
                  </a:lnTo>
                  <a:lnTo>
                    <a:pt x="1203903" y="1135972"/>
                  </a:lnTo>
                  <a:lnTo>
                    <a:pt x="1158561" y="1154737"/>
                  </a:lnTo>
                  <a:lnTo>
                    <a:pt x="1111513" y="1171295"/>
                  </a:lnTo>
                  <a:lnTo>
                    <a:pt x="1062880" y="1185554"/>
                  </a:lnTo>
                  <a:lnTo>
                    <a:pt x="1012780" y="1197424"/>
                  </a:lnTo>
                  <a:lnTo>
                    <a:pt x="961333" y="1206815"/>
                  </a:lnTo>
                  <a:lnTo>
                    <a:pt x="908658" y="1213635"/>
                  </a:lnTo>
                  <a:lnTo>
                    <a:pt x="854874" y="1217793"/>
                  </a:lnTo>
                  <a:lnTo>
                    <a:pt x="800100" y="1219200"/>
                  </a:lnTo>
                  <a:lnTo>
                    <a:pt x="745325" y="1217793"/>
                  </a:lnTo>
                  <a:lnTo>
                    <a:pt x="691541" y="1213635"/>
                  </a:lnTo>
                  <a:lnTo>
                    <a:pt x="638866" y="1206815"/>
                  </a:lnTo>
                  <a:lnTo>
                    <a:pt x="587419" y="1197424"/>
                  </a:lnTo>
                  <a:lnTo>
                    <a:pt x="537319" y="1185554"/>
                  </a:lnTo>
                  <a:lnTo>
                    <a:pt x="488686" y="1171295"/>
                  </a:lnTo>
                  <a:lnTo>
                    <a:pt x="441638" y="1154737"/>
                  </a:lnTo>
                  <a:lnTo>
                    <a:pt x="396296" y="1135972"/>
                  </a:lnTo>
                  <a:lnTo>
                    <a:pt x="352778" y="1115091"/>
                  </a:lnTo>
                  <a:lnTo>
                    <a:pt x="311204" y="1092183"/>
                  </a:lnTo>
                  <a:lnTo>
                    <a:pt x="271692" y="1067340"/>
                  </a:lnTo>
                  <a:lnTo>
                    <a:pt x="234362" y="1040653"/>
                  </a:lnTo>
                  <a:lnTo>
                    <a:pt x="199334" y="1012213"/>
                  </a:lnTo>
                  <a:lnTo>
                    <a:pt x="166726" y="982110"/>
                  </a:lnTo>
                  <a:lnTo>
                    <a:pt x="136657" y="950435"/>
                  </a:lnTo>
                  <a:lnTo>
                    <a:pt x="109248" y="917278"/>
                  </a:lnTo>
                  <a:lnTo>
                    <a:pt x="84616" y="882731"/>
                  </a:lnTo>
                  <a:lnTo>
                    <a:pt x="62882" y="846885"/>
                  </a:lnTo>
                  <a:lnTo>
                    <a:pt x="44165" y="809830"/>
                  </a:lnTo>
                  <a:lnTo>
                    <a:pt x="28583" y="771657"/>
                  </a:lnTo>
                  <a:lnTo>
                    <a:pt x="16257" y="732456"/>
                  </a:lnTo>
                  <a:lnTo>
                    <a:pt x="7304" y="692319"/>
                  </a:lnTo>
                  <a:lnTo>
                    <a:pt x="1846" y="651337"/>
                  </a:lnTo>
                  <a:lnTo>
                    <a:pt x="0" y="6096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847846" y="1925982"/>
            <a:ext cx="124206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800" b="1" spc="-20" dirty="0" smtClean="0">
                <a:solidFill>
                  <a:srgbClr val="FFFFFF"/>
                </a:solidFill>
                <a:latin typeface="Carlito"/>
                <a:cs typeface="Carlito"/>
              </a:rPr>
              <a:t>For</a:t>
            </a:r>
            <a:r>
              <a:rPr sz="2800" b="1" spc="-50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lang="en-US" sz="2800" b="1" spc="-50" dirty="0" smtClean="0">
                <a:solidFill>
                  <a:srgbClr val="FFFFFF"/>
                </a:solidFill>
                <a:latin typeface="Carlito"/>
                <a:cs typeface="Carlito"/>
              </a:rPr>
              <a:t>   </a:t>
            </a:r>
            <a:r>
              <a:rPr sz="2800" b="1" spc="-10" dirty="0" smtClean="0">
                <a:solidFill>
                  <a:srgbClr val="FFFFFF"/>
                </a:solidFill>
                <a:latin typeface="Carlito"/>
                <a:cs typeface="Carlito"/>
              </a:rPr>
              <a:t>loop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74773" y="4049648"/>
            <a:ext cx="978027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300" marR="5080" indent="-102235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Carlito"/>
                <a:cs typeface="Carlito"/>
              </a:rPr>
              <a:t>Whi</a:t>
            </a:r>
            <a:r>
              <a:rPr sz="2800" b="1" spc="-20" dirty="0">
                <a:solidFill>
                  <a:srgbClr val="FFFFFF"/>
                </a:solidFill>
                <a:latin typeface="Carlito"/>
                <a:cs typeface="Carlito"/>
              </a:rPr>
              <a:t>l</a:t>
            </a:r>
            <a:r>
              <a:rPr sz="2800" b="1" spc="-5" dirty="0">
                <a:solidFill>
                  <a:srgbClr val="FFFFFF"/>
                </a:solidFill>
                <a:latin typeface="Carlito"/>
                <a:cs typeface="Carlito"/>
              </a:rPr>
              <a:t>e  </a:t>
            </a:r>
            <a:r>
              <a:rPr sz="2800" b="1" spc="-10" dirty="0">
                <a:solidFill>
                  <a:srgbClr val="FFFFFF"/>
                </a:solidFill>
                <a:latin typeface="Carlito"/>
                <a:cs typeface="Carlito"/>
              </a:rPr>
              <a:t>loop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93740" y="4086225"/>
            <a:ext cx="1293621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295" marR="5080" indent="-18923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arlito"/>
                <a:cs typeface="Carlito"/>
              </a:rPr>
              <a:t>N</a:t>
            </a:r>
            <a:r>
              <a:rPr sz="2800" b="1" spc="-15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r>
              <a:rPr sz="2800" b="1" spc="-45" dirty="0">
                <a:solidFill>
                  <a:srgbClr val="FFFFFF"/>
                </a:solidFill>
                <a:latin typeface="Carlito"/>
                <a:cs typeface="Carlito"/>
              </a:rPr>
              <a:t>s</a:t>
            </a:r>
            <a:r>
              <a:rPr sz="2800" b="1" spc="-40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2800" b="1" spc="-10" dirty="0">
                <a:solidFill>
                  <a:srgbClr val="FFFFFF"/>
                </a:solidFill>
                <a:latin typeface="Carlito"/>
                <a:cs typeface="Carlito"/>
              </a:rPr>
              <a:t>ed  loop</a:t>
            </a:r>
            <a:endParaRPr sz="28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795" y="991362"/>
            <a:ext cx="7924800" cy="5334000"/>
            <a:chOff x="153161" y="991362"/>
            <a:chExt cx="7924800" cy="5334000"/>
          </a:xfrm>
        </p:grpSpPr>
        <p:sp>
          <p:nvSpPr>
            <p:cNvPr id="3" name="object 3"/>
            <p:cNvSpPr/>
            <p:nvPr/>
          </p:nvSpPr>
          <p:spPr>
            <a:xfrm>
              <a:off x="153161" y="991362"/>
              <a:ext cx="7924800" cy="5334000"/>
            </a:xfrm>
            <a:custGeom>
              <a:avLst/>
              <a:gdLst/>
              <a:ahLst/>
              <a:cxnLst/>
              <a:rect l="l" t="t" r="r" b="b"/>
              <a:pathLst>
                <a:path w="7924800" h="5334000">
                  <a:moveTo>
                    <a:pt x="7924800" y="0"/>
                  </a:moveTo>
                  <a:lnTo>
                    <a:pt x="0" y="0"/>
                  </a:lnTo>
                  <a:lnTo>
                    <a:pt x="0" y="5334000"/>
                  </a:lnTo>
                  <a:lnTo>
                    <a:pt x="7924800" y="5334000"/>
                  </a:lnTo>
                  <a:lnTo>
                    <a:pt x="7924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161" y="991362"/>
              <a:ext cx="7924800" cy="5334000"/>
            </a:xfrm>
            <a:custGeom>
              <a:avLst/>
              <a:gdLst/>
              <a:ahLst/>
              <a:cxnLst/>
              <a:rect l="l" t="t" r="r" b="b"/>
              <a:pathLst>
                <a:path w="7924800" h="5334000">
                  <a:moveTo>
                    <a:pt x="0" y="5334000"/>
                  </a:moveTo>
                  <a:lnTo>
                    <a:pt x="7924800" y="5334000"/>
                  </a:lnTo>
                  <a:lnTo>
                    <a:pt x="7924800" y="0"/>
                  </a:lnTo>
                  <a:lnTo>
                    <a:pt x="0" y="0"/>
                  </a:lnTo>
                  <a:lnTo>
                    <a:pt x="0" y="53340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72474" y="1295400"/>
            <a:ext cx="2514600" cy="1013739"/>
          </a:xfrm>
          <a:prstGeom prst="rect">
            <a:avLst/>
          </a:prstGeom>
          <a:solidFill>
            <a:srgbClr val="959595">
              <a:alpha val="25097"/>
            </a:srgbClr>
          </a:solidFill>
        </p:spPr>
        <p:txBody>
          <a:bodyPr vert="horz" wrap="square" lIns="0" tIns="394335" rIns="0" bIns="0" rtlCol="0">
            <a:spAutoFit/>
          </a:bodyPr>
          <a:lstStyle/>
          <a:p>
            <a:pPr marL="304165">
              <a:lnSpc>
                <a:spcPct val="100000"/>
              </a:lnSpc>
              <a:spcBef>
                <a:spcPts val="3105"/>
              </a:spcBef>
            </a:pPr>
            <a:r>
              <a:rPr spc="-20" dirty="0"/>
              <a:t>For </a:t>
            </a:r>
            <a:r>
              <a:rPr spc="-5" dirty="0" smtClean="0"/>
              <a:t>Loop</a:t>
            </a:r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685800" y="3299358"/>
            <a:ext cx="670560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609090" algn="l"/>
                <a:tab pos="2073910" algn="l"/>
              </a:tabLst>
            </a:pPr>
            <a:r>
              <a:rPr sz="2400" b="1" spc="-5" dirty="0">
                <a:latin typeface="Carlito"/>
                <a:cs typeface="Carlito"/>
              </a:rPr>
              <a:t>The </a:t>
            </a:r>
            <a:r>
              <a:rPr sz="2400" b="1" spc="-15" dirty="0">
                <a:latin typeface="Carlito"/>
                <a:cs typeface="Carlito"/>
              </a:rPr>
              <a:t>for </a:t>
            </a:r>
            <a:r>
              <a:rPr sz="2400" b="1" spc="-10" dirty="0">
                <a:latin typeface="Carlito"/>
                <a:cs typeface="Carlito"/>
              </a:rPr>
              <a:t>loop </a:t>
            </a:r>
            <a:r>
              <a:rPr sz="2400" b="1" spc="-5" dirty="0">
                <a:latin typeface="Carlito"/>
                <a:cs typeface="Carlito"/>
              </a:rPr>
              <a:t>in</a:t>
            </a:r>
            <a:r>
              <a:rPr sz="2400" b="1" spc="254" dirty="0">
                <a:latin typeface="Carlito"/>
                <a:cs typeface="Carlito"/>
              </a:rPr>
              <a:t> </a:t>
            </a:r>
            <a:r>
              <a:rPr sz="2400" b="1" spc="-5" dirty="0">
                <a:latin typeface="Carlito"/>
                <a:cs typeface="Carlito"/>
              </a:rPr>
              <a:t>python</a:t>
            </a:r>
            <a:r>
              <a:rPr sz="2400" b="1" spc="60" dirty="0">
                <a:latin typeface="Carlito"/>
                <a:cs typeface="Carlito"/>
              </a:rPr>
              <a:t> </a:t>
            </a:r>
            <a:r>
              <a:rPr sz="2400" b="1" spc="-5" dirty="0">
                <a:latin typeface="Carlito"/>
                <a:cs typeface="Carlito"/>
              </a:rPr>
              <a:t>is  </a:t>
            </a:r>
            <a:r>
              <a:rPr sz="2400" b="1" dirty="0">
                <a:latin typeface="Carlito"/>
                <a:cs typeface="Carlito"/>
              </a:rPr>
              <a:t>used	</a:t>
            </a:r>
            <a:r>
              <a:rPr sz="2400" b="1" spc="-30" dirty="0">
                <a:latin typeface="Carlito"/>
                <a:cs typeface="Carlito"/>
              </a:rPr>
              <a:t>t</a:t>
            </a:r>
            <a:r>
              <a:rPr sz="2400" b="1" dirty="0">
                <a:latin typeface="Carlito"/>
                <a:cs typeface="Carlito"/>
              </a:rPr>
              <a:t>o	</a:t>
            </a:r>
            <a:r>
              <a:rPr sz="2400" b="1" dirty="0" smtClean="0">
                <a:latin typeface="Carlito"/>
                <a:cs typeface="Carlito"/>
              </a:rPr>
              <a:t>i</a:t>
            </a:r>
            <a:r>
              <a:rPr sz="2400" b="1" spc="-35" dirty="0" smtClean="0">
                <a:latin typeface="Carlito"/>
                <a:cs typeface="Carlito"/>
              </a:rPr>
              <a:t>t</a:t>
            </a:r>
            <a:r>
              <a:rPr sz="2400" b="1" spc="-5" dirty="0" smtClean="0">
                <a:latin typeface="Carlito"/>
                <a:cs typeface="Carlito"/>
              </a:rPr>
              <a:t>e</a:t>
            </a:r>
            <a:r>
              <a:rPr sz="2400" b="1" spc="-45" dirty="0" smtClean="0">
                <a:latin typeface="Carlito"/>
                <a:cs typeface="Carlito"/>
              </a:rPr>
              <a:t>r</a:t>
            </a:r>
            <a:r>
              <a:rPr sz="2400" b="1" spc="-25" dirty="0" smtClean="0">
                <a:latin typeface="Carlito"/>
                <a:cs typeface="Carlito"/>
              </a:rPr>
              <a:t>a</a:t>
            </a:r>
            <a:r>
              <a:rPr sz="2400" b="1" spc="-30" dirty="0" smtClean="0">
                <a:latin typeface="Carlito"/>
                <a:cs typeface="Carlito"/>
              </a:rPr>
              <a:t>t</a:t>
            </a:r>
            <a:r>
              <a:rPr sz="2400" b="1" dirty="0" smtClean="0">
                <a:latin typeface="Carlito"/>
                <a:cs typeface="Carlito"/>
              </a:rPr>
              <a:t>e</a:t>
            </a:r>
            <a:r>
              <a:rPr lang="en-US" sz="2400" b="1" dirty="0" smtClean="0">
                <a:latin typeface="Carlito"/>
                <a:cs typeface="Carlito"/>
              </a:rPr>
              <a:t> </a:t>
            </a:r>
            <a:r>
              <a:rPr sz="2400" b="1" dirty="0" smtClean="0">
                <a:latin typeface="Carlito"/>
                <a:cs typeface="Carlito"/>
              </a:rPr>
              <a:t>the</a:t>
            </a:r>
            <a:r>
              <a:rPr lang="en-US" sz="2400" dirty="0" smtClean="0">
                <a:latin typeface="Carlito"/>
                <a:cs typeface="Carlito"/>
              </a:rPr>
              <a:t> </a:t>
            </a:r>
            <a:r>
              <a:rPr lang="en-US" sz="2400" b="1" spc="-15" dirty="0" smtClean="0">
                <a:latin typeface="Carlito"/>
                <a:cs typeface="Carlito"/>
              </a:rPr>
              <a:t>statements </a:t>
            </a:r>
            <a:r>
              <a:rPr lang="en-US" sz="2400" b="1" dirty="0" smtClean="0">
                <a:latin typeface="Carlito"/>
                <a:cs typeface="Carlito"/>
              </a:rPr>
              <a:t>or</a:t>
            </a:r>
            <a:r>
              <a:rPr lang="en-US" sz="2400" b="1" dirty="0">
                <a:latin typeface="Carlito"/>
                <a:cs typeface="Carlito"/>
              </a:rPr>
              <a:t> </a:t>
            </a:r>
            <a:r>
              <a:rPr lang="en-US" sz="2400" b="1" dirty="0" smtClean="0">
                <a:latin typeface="Carlito"/>
                <a:cs typeface="Carlito"/>
              </a:rPr>
              <a:t>part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lang="en-US" sz="2400" b="1" spc="-5" dirty="0" smtClean="0">
                <a:latin typeface="Carlito"/>
                <a:cs typeface="Carlito"/>
              </a:rPr>
              <a:t>th</a:t>
            </a:r>
            <a:r>
              <a:rPr lang="en-US" sz="2400" b="1" dirty="0" smtClean="0">
                <a:latin typeface="Carlito"/>
                <a:cs typeface="Carlito"/>
              </a:rPr>
              <a:t>e</a:t>
            </a:r>
            <a:r>
              <a:rPr lang="en-US" sz="2400" b="1" dirty="0">
                <a:latin typeface="Carlito"/>
                <a:cs typeface="Carlito"/>
              </a:rPr>
              <a:t> </a:t>
            </a:r>
            <a:r>
              <a:rPr lang="en-US" sz="2400" b="1" dirty="0" smtClean="0">
                <a:latin typeface="Carlito"/>
                <a:cs typeface="Carlito"/>
              </a:rPr>
              <a:t>p</a:t>
            </a:r>
            <a:r>
              <a:rPr lang="en-US" sz="2400" b="1" spc="-30" dirty="0" smtClean="0">
                <a:latin typeface="Carlito"/>
                <a:cs typeface="Carlito"/>
              </a:rPr>
              <a:t>r</a:t>
            </a:r>
            <a:r>
              <a:rPr lang="en-US" sz="2400" b="1" dirty="0" smtClean="0">
                <a:latin typeface="Carlito"/>
                <a:cs typeface="Carlito"/>
              </a:rPr>
              <a:t>o</a:t>
            </a:r>
            <a:r>
              <a:rPr lang="en-US" sz="2400" b="1" spc="5" dirty="0" smtClean="0">
                <a:latin typeface="Carlito"/>
                <a:cs typeface="Carlito"/>
              </a:rPr>
              <a:t>g</a:t>
            </a:r>
            <a:r>
              <a:rPr lang="en-US" sz="2400" b="1" spc="-65" dirty="0" smtClean="0">
                <a:latin typeface="Carlito"/>
                <a:cs typeface="Carlito"/>
              </a:rPr>
              <a:t>r</a:t>
            </a:r>
            <a:r>
              <a:rPr lang="en-US" sz="2400" b="1" dirty="0" smtClean="0">
                <a:latin typeface="Carlito"/>
                <a:cs typeface="Carlito"/>
              </a:rPr>
              <a:t>am</a:t>
            </a:r>
            <a:r>
              <a:rPr lang="en-US" sz="2400" b="1" dirty="0">
                <a:latin typeface="Carlito"/>
                <a:cs typeface="Carlito"/>
              </a:rPr>
              <a:t> </a:t>
            </a:r>
            <a:r>
              <a:rPr lang="en-US" sz="2400" b="1" dirty="0" smtClean="0">
                <a:latin typeface="Carlito"/>
                <a:cs typeface="Carlito"/>
              </a:rPr>
              <a:t>se</a:t>
            </a:r>
            <a:r>
              <a:rPr lang="en-US" sz="2400" b="1" spc="-25" dirty="0" smtClean="0">
                <a:latin typeface="Carlito"/>
                <a:cs typeface="Carlito"/>
              </a:rPr>
              <a:t>v</a:t>
            </a:r>
            <a:r>
              <a:rPr lang="en-US" sz="2400" b="1" spc="-5" dirty="0" smtClean="0">
                <a:latin typeface="Carlito"/>
                <a:cs typeface="Carlito"/>
              </a:rPr>
              <a:t>e</a:t>
            </a:r>
            <a:r>
              <a:rPr lang="en-US" sz="2400" b="1" spc="-45" dirty="0" smtClean="0">
                <a:latin typeface="Carlito"/>
                <a:cs typeface="Carlito"/>
              </a:rPr>
              <a:t>r</a:t>
            </a:r>
            <a:r>
              <a:rPr lang="en-US" sz="2400" b="1" spc="-10" dirty="0" smtClean="0">
                <a:latin typeface="Carlito"/>
                <a:cs typeface="Carlito"/>
              </a:rPr>
              <a:t>a</a:t>
            </a:r>
            <a:r>
              <a:rPr lang="en-US" sz="2400" b="1" dirty="0" smtClean="0">
                <a:latin typeface="Carlito"/>
                <a:cs typeface="Carlito"/>
              </a:rPr>
              <a:t>l </a:t>
            </a:r>
            <a:r>
              <a:rPr lang="en-IN" sz="2400" b="1" dirty="0" smtClean="0">
                <a:latin typeface="Carlito"/>
                <a:cs typeface="Carlito"/>
              </a:rPr>
              <a:t>t</a:t>
            </a:r>
            <a:r>
              <a:rPr lang="en-IN" sz="2400" b="1" spc="-10" dirty="0" smtClean="0">
                <a:latin typeface="Carlito"/>
                <a:cs typeface="Carlito"/>
              </a:rPr>
              <a:t>i</a:t>
            </a:r>
            <a:r>
              <a:rPr lang="en-IN" sz="2400" b="1" spc="-5" dirty="0" smtClean="0">
                <a:latin typeface="Carlito"/>
                <a:cs typeface="Carlito"/>
              </a:rPr>
              <a:t>m</a:t>
            </a:r>
            <a:r>
              <a:rPr lang="en-IN" sz="2400" b="1" spc="5" dirty="0" smtClean="0">
                <a:latin typeface="Carlito"/>
                <a:cs typeface="Carlito"/>
              </a:rPr>
              <a:t>es</a:t>
            </a:r>
            <a:r>
              <a:rPr lang="en-IN" sz="2400" b="1" dirty="0" smtClean="0">
                <a:latin typeface="Carlito"/>
                <a:cs typeface="Carlito"/>
              </a:rPr>
              <a:t>. </a:t>
            </a:r>
            <a:r>
              <a:rPr lang="en-US" sz="2400" b="1" spc="-5" dirty="0" smtClean="0">
                <a:latin typeface="Carlito"/>
                <a:cs typeface="Carlito"/>
              </a:rPr>
              <a:t>I</a:t>
            </a:r>
            <a:r>
              <a:rPr lang="en-US" sz="2400" b="1" dirty="0" smtClean="0">
                <a:latin typeface="Carlito"/>
                <a:cs typeface="Carlito"/>
              </a:rPr>
              <a:t>t</a:t>
            </a:r>
            <a:r>
              <a:rPr lang="en-US" sz="2400" b="1" dirty="0">
                <a:latin typeface="Carlito"/>
                <a:cs typeface="Carlito"/>
              </a:rPr>
              <a:t> </a:t>
            </a:r>
            <a:r>
              <a:rPr lang="en-US" sz="2400" b="1" spc="10" dirty="0" smtClean="0">
                <a:latin typeface="Carlito"/>
                <a:cs typeface="Carlito"/>
              </a:rPr>
              <a:t>i</a:t>
            </a:r>
            <a:r>
              <a:rPr lang="en-US" sz="2400" b="1" dirty="0" smtClean="0">
                <a:latin typeface="Carlito"/>
                <a:cs typeface="Carlito"/>
              </a:rPr>
              <a:t>s </a:t>
            </a:r>
            <a:r>
              <a:rPr lang="en-US" sz="2400" b="1" spc="-5" dirty="0" smtClean="0">
                <a:latin typeface="Carlito"/>
                <a:cs typeface="Carlito"/>
              </a:rPr>
              <a:t>f</a:t>
            </a:r>
            <a:r>
              <a:rPr lang="en-US" sz="2400" b="1" spc="-30" dirty="0" smtClean="0">
                <a:latin typeface="Carlito"/>
                <a:cs typeface="Carlito"/>
              </a:rPr>
              <a:t>r</a:t>
            </a:r>
            <a:r>
              <a:rPr lang="en-US" sz="2400" b="1" spc="-5" dirty="0" smtClean="0">
                <a:latin typeface="Carlito"/>
                <a:cs typeface="Carlito"/>
              </a:rPr>
              <a:t>eque</a:t>
            </a:r>
            <a:r>
              <a:rPr lang="en-US" sz="2400" b="1" spc="-20" dirty="0" smtClean="0">
                <a:latin typeface="Carlito"/>
                <a:cs typeface="Carlito"/>
              </a:rPr>
              <a:t>n</a:t>
            </a:r>
            <a:r>
              <a:rPr lang="en-US" sz="2400" b="1" dirty="0" smtClean="0">
                <a:latin typeface="Carlito"/>
                <a:cs typeface="Carlito"/>
              </a:rPr>
              <a:t>t</a:t>
            </a:r>
            <a:r>
              <a:rPr lang="en-US" sz="2400" b="1" spc="-10" dirty="0" smtClean="0">
                <a:latin typeface="Carlito"/>
                <a:cs typeface="Carlito"/>
              </a:rPr>
              <a:t>l</a:t>
            </a:r>
            <a:r>
              <a:rPr lang="en-US" sz="2400" b="1" dirty="0" smtClean="0">
                <a:latin typeface="Carlito"/>
                <a:cs typeface="Carlito"/>
              </a:rPr>
              <a:t>y  </a:t>
            </a:r>
            <a:r>
              <a:rPr lang="en-IN" sz="2400" b="1" dirty="0" smtClean="0">
                <a:latin typeface="Carlito"/>
                <a:cs typeface="Carlito"/>
              </a:rPr>
              <a:t>Used to</a:t>
            </a:r>
            <a:r>
              <a:rPr lang="en-US" sz="2400" b="1" dirty="0" smtClean="0">
                <a:latin typeface="Carlito"/>
                <a:cs typeface="Carlito"/>
              </a:rPr>
              <a:t>	</a:t>
            </a:r>
            <a:r>
              <a:rPr lang="en-US" sz="2400" b="1" spc="-465" dirty="0" smtClean="0">
                <a:latin typeface="Carlito"/>
                <a:cs typeface="Carlito"/>
              </a:rPr>
              <a:t> </a:t>
            </a:r>
            <a:r>
              <a:rPr lang="en-US" sz="2400" b="1" dirty="0" smtClean="0">
                <a:latin typeface="Carlito"/>
                <a:cs typeface="Carlito"/>
              </a:rPr>
              <a:t>t</a:t>
            </a:r>
            <a:r>
              <a:rPr lang="en-US" sz="2400" b="1" spc="-40" dirty="0" smtClean="0">
                <a:latin typeface="Carlito"/>
                <a:cs typeface="Carlito"/>
              </a:rPr>
              <a:t>r</a:t>
            </a:r>
            <a:r>
              <a:rPr lang="en-US" sz="2400" b="1" spc="-35" dirty="0" smtClean="0">
                <a:latin typeface="Carlito"/>
                <a:cs typeface="Carlito"/>
              </a:rPr>
              <a:t>a</a:t>
            </a:r>
            <a:r>
              <a:rPr lang="en-US" sz="2400" b="1" spc="-20" dirty="0" smtClean="0">
                <a:latin typeface="Carlito"/>
                <a:cs typeface="Carlito"/>
              </a:rPr>
              <a:t>v</a:t>
            </a:r>
            <a:r>
              <a:rPr lang="en-US" sz="2400" b="1" spc="-5" dirty="0" smtClean="0">
                <a:latin typeface="Carlito"/>
                <a:cs typeface="Carlito"/>
              </a:rPr>
              <a:t>e</a:t>
            </a:r>
            <a:r>
              <a:rPr lang="en-US" sz="2400" b="1" spc="-25" dirty="0" smtClean="0">
                <a:latin typeface="Carlito"/>
                <a:cs typeface="Carlito"/>
              </a:rPr>
              <a:t>r</a:t>
            </a:r>
            <a:r>
              <a:rPr lang="en-US" sz="2400" b="1" dirty="0" smtClean="0">
                <a:latin typeface="Carlito"/>
                <a:cs typeface="Carlito"/>
              </a:rPr>
              <a:t>se </a:t>
            </a:r>
            <a:r>
              <a:rPr lang="en-US" sz="2400" b="1" spc="-5" dirty="0" smtClean="0">
                <a:latin typeface="Carlito"/>
                <a:cs typeface="Carlito"/>
              </a:rPr>
              <a:t>the </a:t>
            </a:r>
            <a:r>
              <a:rPr lang="en-US" sz="2400" b="1" spc="-15" dirty="0" smtClean="0">
                <a:latin typeface="Carlito"/>
                <a:cs typeface="Carlito"/>
              </a:rPr>
              <a:t>data </a:t>
            </a:r>
            <a:r>
              <a:rPr lang="en-US" sz="2400" b="1" spc="-10" dirty="0" smtClean="0">
                <a:latin typeface="Carlito"/>
                <a:cs typeface="Carlito"/>
              </a:rPr>
              <a:t>structures </a:t>
            </a:r>
            <a:r>
              <a:rPr lang="en-US" sz="2400" b="1" spc="-20" dirty="0" smtClean="0">
                <a:latin typeface="Carlito"/>
                <a:cs typeface="Carlito"/>
              </a:rPr>
              <a:t>like</a:t>
            </a:r>
            <a:r>
              <a:rPr lang="en-US" sz="2400" b="1" spc="-160" dirty="0" smtClean="0">
                <a:latin typeface="Carlito"/>
                <a:cs typeface="Carlito"/>
              </a:rPr>
              <a:t> </a:t>
            </a:r>
            <a:r>
              <a:rPr lang="en-US" sz="2400" b="1" spc="-10" dirty="0" smtClean="0">
                <a:latin typeface="Carlito"/>
                <a:cs typeface="Carlito"/>
              </a:rPr>
              <a:t>list, </a:t>
            </a:r>
            <a:r>
              <a:rPr lang="en-US" sz="2400" b="1" spc="-5" dirty="0" smtClean="0">
                <a:latin typeface="Carlito"/>
                <a:cs typeface="Carlito"/>
              </a:rPr>
              <a:t>tuple, </a:t>
            </a:r>
            <a:r>
              <a:rPr lang="en-US" sz="2400" b="1" dirty="0" smtClean="0">
                <a:latin typeface="Carlito"/>
                <a:cs typeface="Carlito"/>
              </a:rPr>
              <a:t>or</a:t>
            </a:r>
            <a:r>
              <a:rPr lang="en-US" sz="2400" b="1" spc="-25" dirty="0" smtClean="0">
                <a:latin typeface="Carlito"/>
                <a:cs typeface="Carlito"/>
              </a:rPr>
              <a:t> </a:t>
            </a:r>
            <a:r>
              <a:rPr lang="en-US" sz="2400" b="1" spc="-15" dirty="0" smtClean="0">
                <a:latin typeface="Carlito"/>
                <a:cs typeface="Carlito"/>
              </a:rPr>
              <a:t>dictionary.</a:t>
            </a:r>
            <a:endParaRPr lang="en-US" sz="2400" dirty="0" smtClean="0">
              <a:latin typeface="Carlito"/>
              <a:cs typeface="Carlito"/>
            </a:endParaRPr>
          </a:p>
          <a:p>
            <a:pPr>
              <a:spcBef>
                <a:spcPts val="5"/>
              </a:spcBef>
              <a:tabLst>
                <a:tab pos="751205" algn="l"/>
                <a:tab pos="2157730" algn="l"/>
              </a:tabLst>
            </a:pPr>
            <a:endParaRPr sz="2400" dirty="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2586" y="2438400"/>
            <a:ext cx="7334376" cy="3581400"/>
          </a:xfrm>
          <a:custGeom>
            <a:avLst/>
            <a:gdLst/>
            <a:ahLst/>
            <a:cxnLst/>
            <a:rect l="l" t="t" r="r" b="b"/>
            <a:pathLst>
              <a:path w="3886200" h="3429000">
                <a:moveTo>
                  <a:pt x="0" y="3429000"/>
                </a:moveTo>
                <a:lnTo>
                  <a:pt x="3886199" y="3429000"/>
                </a:lnTo>
                <a:lnTo>
                  <a:pt x="3886199" y="0"/>
                </a:lnTo>
                <a:lnTo>
                  <a:pt x="0" y="0"/>
                </a:lnTo>
                <a:lnTo>
                  <a:pt x="0" y="34290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1182" y="664844"/>
            <a:ext cx="2430018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Flowchart</a:t>
            </a:r>
          </a:p>
        </p:txBody>
      </p:sp>
      <p:sp>
        <p:nvSpPr>
          <p:cNvPr id="4" name="object 4"/>
          <p:cNvSpPr/>
          <p:nvPr/>
        </p:nvSpPr>
        <p:spPr>
          <a:xfrm>
            <a:off x="1981200" y="2057400"/>
            <a:ext cx="5334000" cy="4267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-12191" y="0"/>
            <a:ext cx="330835" cy="6884034"/>
            <a:chOff x="-12191" y="0"/>
            <a:chExt cx="330835" cy="6884034"/>
          </a:xfrm>
        </p:grpSpPr>
        <p:sp>
          <p:nvSpPr>
            <p:cNvPr id="6" name="object 6"/>
            <p:cNvSpPr/>
            <p:nvPr/>
          </p:nvSpPr>
          <p:spPr>
            <a:xfrm>
              <a:off x="762" y="761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4800" y="6858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2" y="761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0" y="6858000"/>
                  </a:moveTo>
                  <a:lnTo>
                    <a:pt x="304800" y="68580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827007" y="0"/>
            <a:ext cx="330835" cy="6884034"/>
            <a:chOff x="8827007" y="0"/>
            <a:chExt cx="330835" cy="6884034"/>
          </a:xfrm>
        </p:grpSpPr>
        <p:sp>
          <p:nvSpPr>
            <p:cNvPr id="9" name="object 9"/>
            <p:cNvSpPr/>
            <p:nvPr/>
          </p:nvSpPr>
          <p:spPr>
            <a:xfrm>
              <a:off x="8839961" y="761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4800" y="6858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839961" y="761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0" y="6858000"/>
                  </a:moveTo>
                  <a:lnTo>
                    <a:pt x="304800" y="68580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46248" y="1222247"/>
            <a:ext cx="3727703" cy="17129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77161" y="3886961"/>
            <a:ext cx="6172200" cy="2209800"/>
          </a:xfrm>
          <a:prstGeom prst="rect">
            <a:avLst/>
          </a:prstGeom>
          <a:solidFill>
            <a:srgbClr val="959595"/>
          </a:solidFill>
          <a:ln w="25907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1370965" marR="1214755" indent="-137795">
              <a:lnSpc>
                <a:spcPct val="120000"/>
              </a:lnSpc>
              <a:spcBef>
                <a:spcPts val="1670"/>
              </a:spcBef>
            </a:pP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for iterating_var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in sequence: 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statements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3970274" y="1683461"/>
            <a:ext cx="1592326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S</a:t>
            </a:r>
            <a:r>
              <a:rPr dirty="0"/>
              <a:t>y</a:t>
            </a:r>
            <a:r>
              <a:rPr spc="-40" dirty="0"/>
              <a:t>n</a:t>
            </a:r>
            <a:r>
              <a:rPr spc="-35" dirty="0"/>
              <a:t>t</a:t>
            </a:r>
            <a:r>
              <a:rPr spc="-25" dirty="0"/>
              <a:t>a</a:t>
            </a:r>
            <a:r>
              <a:rPr dirty="0"/>
              <a:t>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191" y="0"/>
            <a:ext cx="7265034" cy="6884034"/>
            <a:chOff x="-12191" y="0"/>
            <a:chExt cx="7265034" cy="6884034"/>
          </a:xfrm>
        </p:grpSpPr>
        <p:sp>
          <p:nvSpPr>
            <p:cNvPr id="3" name="object 3"/>
            <p:cNvSpPr/>
            <p:nvPr/>
          </p:nvSpPr>
          <p:spPr>
            <a:xfrm>
              <a:off x="762" y="761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2" y="761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0" y="6858000"/>
                  </a:moveTo>
                  <a:lnTo>
                    <a:pt x="4572000" y="6858000"/>
                  </a:lnTo>
                  <a:lnTo>
                    <a:pt x="4572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53362" y="4115561"/>
              <a:ext cx="5486400" cy="2286000"/>
            </a:xfrm>
            <a:custGeom>
              <a:avLst/>
              <a:gdLst/>
              <a:ahLst/>
              <a:cxnLst/>
              <a:rect l="l" t="t" r="r" b="b"/>
              <a:pathLst>
                <a:path w="5486400" h="2286000">
                  <a:moveTo>
                    <a:pt x="54863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5486399" y="2286000"/>
                  </a:lnTo>
                  <a:lnTo>
                    <a:pt x="54863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53362" y="4115561"/>
              <a:ext cx="5486400" cy="2286000"/>
            </a:xfrm>
            <a:custGeom>
              <a:avLst/>
              <a:gdLst/>
              <a:ahLst/>
              <a:cxnLst/>
              <a:rect l="l" t="t" r="r" b="b"/>
              <a:pathLst>
                <a:path w="5486400" h="2286000">
                  <a:moveTo>
                    <a:pt x="0" y="2286000"/>
                  </a:moveTo>
                  <a:lnTo>
                    <a:pt x="5486399" y="2286000"/>
                  </a:lnTo>
                  <a:lnTo>
                    <a:pt x="5486399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05662" y="817244"/>
            <a:ext cx="260985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3810" algn="ctr">
              <a:lnSpc>
                <a:spcPct val="100000"/>
              </a:lnSpc>
              <a:spcBef>
                <a:spcPts val="95"/>
              </a:spcBef>
            </a:pPr>
            <a:r>
              <a:rPr sz="4000" b="1" spc="-40" dirty="0">
                <a:solidFill>
                  <a:srgbClr val="FFFFFF"/>
                </a:solidFill>
                <a:latin typeface="Carlito"/>
                <a:cs typeface="Carlito"/>
              </a:rPr>
              <a:t>Write </a:t>
            </a:r>
            <a:r>
              <a:rPr sz="4000" b="1" spc="-5" dirty="0">
                <a:solidFill>
                  <a:srgbClr val="FFFFFF"/>
                </a:solidFill>
                <a:latin typeface="Carlito"/>
                <a:cs typeface="Carlito"/>
              </a:rPr>
              <a:t>a  </a:t>
            </a:r>
            <a:r>
              <a:rPr sz="4000" b="1" spc="-25" dirty="0">
                <a:solidFill>
                  <a:srgbClr val="FFFFFF"/>
                </a:solidFill>
                <a:latin typeface="Carlito"/>
                <a:cs typeface="Carlito"/>
              </a:rPr>
              <a:t>program to  </a:t>
            </a:r>
            <a:r>
              <a:rPr sz="4000" b="1" spc="-10" dirty="0">
                <a:solidFill>
                  <a:srgbClr val="FFFFFF"/>
                </a:solidFill>
                <a:latin typeface="Carlito"/>
                <a:cs typeface="Carlito"/>
              </a:rPr>
              <a:t>print </a:t>
            </a:r>
            <a:r>
              <a:rPr sz="4000" b="1" spc="-5" dirty="0">
                <a:solidFill>
                  <a:srgbClr val="FFFFFF"/>
                </a:solidFill>
                <a:latin typeface="Carlito"/>
                <a:cs typeface="Carlito"/>
              </a:rPr>
              <a:t>1 </a:t>
            </a:r>
            <a:r>
              <a:rPr sz="4000" b="1" spc="-25" dirty="0">
                <a:solidFill>
                  <a:srgbClr val="FFFFFF"/>
                </a:solidFill>
                <a:latin typeface="Carlito"/>
                <a:cs typeface="Carlito"/>
              </a:rPr>
              <a:t>to</a:t>
            </a:r>
            <a:r>
              <a:rPr sz="4000" b="1" spc="-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4000" b="1" spc="-5" dirty="0">
                <a:solidFill>
                  <a:srgbClr val="FFFFFF"/>
                </a:solidFill>
                <a:latin typeface="Carlito"/>
                <a:cs typeface="Carlito"/>
              </a:rPr>
              <a:t>10  series</a:t>
            </a:r>
            <a:endParaRPr sz="40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8428" y="1692211"/>
            <a:ext cx="2476500" cy="134366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b="1" spc="-5" dirty="0">
                <a:latin typeface="Carlito"/>
                <a:cs typeface="Carlito"/>
              </a:rPr>
              <a:t>i=1</a:t>
            </a:r>
            <a:endParaRPr sz="2400">
              <a:latin typeface="Carlito"/>
              <a:cs typeface="Carlito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sz="2400" b="1" spc="-10" dirty="0">
                <a:latin typeface="Carlito"/>
                <a:cs typeface="Carlito"/>
              </a:rPr>
              <a:t>For </a:t>
            </a:r>
            <a:r>
              <a:rPr sz="2400" b="1" dirty="0">
                <a:latin typeface="Carlito"/>
                <a:cs typeface="Carlito"/>
              </a:rPr>
              <a:t>i in</a:t>
            </a:r>
            <a:r>
              <a:rPr sz="2400" b="1" spc="-125" dirty="0">
                <a:latin typeface="Carlito"/>
                <a:cs typeface="Carlito"/>
              </a:rPr>
              <a:t> </a:t>
            </a:r>
            <a:r>
              <a:rPr sz="2400" b="1" spc="-10" dirty="0">
                <a:latin typeface="Carlito"/>
                <a:cs typeface="Carlito"/>
              </a:rPr>
              <a:t>range(0,11):  Print(i)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51175" y="4427601"/>
            <a:ext cx="2917825" cy="1352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Carlito"/>
                <a:cs typeface="Carlito"/>
              </a:rPr>
              <a:t>Output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765"/>
              </a:spcBef>
            </a:pPr>
            <a:r>
              <a:rPr sz="3200" b="1" dirty="0">
                <a:latin typeface="Carlito"/>
                <a:cs typeface="Carlito"/>
              </a:rPr>
              <a:t>0 1 2 3 4 5 6 7 8</a:t>
            </a:r>
            <a:r>
              <a:rPr sz="3200" b="1" spc="-70" dirty="0">
                <a:latin typeface="Carlito"/>
                <a:cs typeface="Carlito"/>
              </a:rPr>
              <a:t> </a:t>
            </a:r>
            <a:r>
              <a:rPr sz="3200" b="1" dirty="0">
                <a:latin typeface="Carlito"/>
                <a:cs typeface="Carlito"/>
              </a:rPr>
              <a:t>9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47028" y="769365"/>
            <a:ext cx="1749172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E</a:t>
            </a:r>
            <a:r>
              <a:rPr sz="3200" spc="-45" dirty="0"/>
              <a:t>x</a:t>
            </a:r>
            <a:r>
              <a:rPr sz="3200" dirty="0"/>
              <a:t>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554" y="761"/>
            <a:ext cx="8305799" cy="6858000"/>
            <a:chOff x="838962" y="761"/>
            <a:chExt cx="8305799" cy="6858000"/>
          </a:xfrm>
        </p:grpSpPr>
        <p:sp>
          <p:nvSpPr>
            <p:cNvPr id="3" name="object 3"/>
            <p:cNvSpPr/>
            <p:nvPr/>
          </p:nvSpPr>
          <p:spPr>
            <a:xfrm>
              <a:off x="4115561" y="761"/>
              <a:ext cx="5029200" cy="6858000"/>
            </a:xfrm>
            <a:custGeom>
              <a:avLst/>
              <a:gdLst/>
              <a:ahLst/>
              <a:cxnLst/>
              <a:rect l="l" t="t" r="r" b="b"/>
              <a:pathLst>
                <a:path w="5029200" h="6858000">
                  <a:moveTo>
                    <a:pt x="502919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5029199" y="6858000"/>
                  </a:lnTo>
                  <a:lnTo>
                    <a:pt x="5029199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15561" y="761"/>
              <a:ext cx="5029200" cy="6858000"/>
            </a:xfrm>
            <a:custGeom>
              <a:avLst/>
              <a:gdLst/>
              <a:ahLst/>
              <a:cxnLst/>
              <a:rect l="l" t="t" r="r" b="b"/>
              <a:pathLst>
                <a:path w="5029200" h="6858000">
                  <a:moveTo>
                    <a:pt x="0" y="6858000"/>
                  </a:moveTo>
                  <a:lnTo>
                    <a:pt x="5029199" y="6858000"/>
                  </a:lnTo>
                  <a:lnTo>
                    <a:pt x="5029199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8962" y="2439162"/>
              <a:ext cx="5397246" cy="3962400"/>
            </a:xfrm>
            <a:custGeom>
              <a:avLst/>
              <a:gdLst/>
              <a:ahLst/>
              <a:cxnLst/>
              <a:rect l="l" t="t" r="r" b="b"/>
              <a:pathLst>
                <a:path w="4343400" h="3962400">
                  <a:moveTo>
                    <a:pt x="4343400" y="0"/>
                  </a:moveTo>
                  <a:lnTo>
                    <a:pt x="0" y="0"/>
                  </a:lnTo>
                  <a:lnTo>
                    <a:pt x="0" y="3962400"/>
                  </a:lnTo>
                  <a:lnTo>
                    <a:pt x="4343400" y="39624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8962" y="2439162"/>
              <a:ext cx="5397246" cy="3962400"/>
            </a:xfrm>
            <a:custGeom>
              <a:avLst/>
              <a:gdLst/>
              <a:ahLst/>
              <a:cxnLst/>
              <a:rect l="l" t="t" r="r" b="b"/>
              <a:pathLst>
                <a:path w="4343400" h="3962400">
                  <a:moveTo>
                    <a:pt x="0" y="3962400"/>
                  </a:moveTo>
                  <a:lnTo>
                    <a:pt x="4343400" y="3962400"/>
                  </a:lnTo>
                  <a:lnTo>
                    <a:pt x="4343400" y="0"/>
                  </a:lnTo>
                  <a:lnTo>
                    <a:pt x="0" y="0"/>
                  </a:lnTo>
                  <a:lnTo>
                    <a:pt x="0" y="39624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490" y="533400"/>
            <a:ext cx="3742054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30935" algn="ctr">
              <a:lnSpc>
                <a:spcPct val="100000"/>
              </a:lnSpc>
              <a:spcBef>
                <a:spcPts val="100"/>
              </a:spcBef>
            </a:pPr>
            <a:r>
              <a:rPr sz="3600" spc="-155" dirty="0"/>
              <a:t>To </a:t>
            </a:r>
            <a:r>
              <a:rPr sz="3600" spc="-10" dirty="0"/>
              <a:t>print  multiplication</a:t>
            </a:r>
            <a:r>
              <a:rPr sz="3600" spc="-20" dirty="0"/>
              <a:t> </a:t>
            </a:r>
            <a:r>
              <a:rPr sz="3600" spc="-10" dirty="0"/>
              <a:t>table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610048" y="3214242"/>
            <a:ext cx="683006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rlito"/>
                <a:cs typeface="Carlito"/>
              </a:rPr>
              <a:t>i</a:t>
            </a:r>
            <a:r>
              <a:rPr sz="2400" b="1" dirty="0">
                <a:latin typeface="Carlito"/>
                <a:cs typeface="Carlito"/>
              </a:rPr>
              <a:t>=0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5853" y="3567872"/>
            <a:ext cx="3614801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rlito"/>
                <a:cs typeface="Carlito"/>
              </a:rPr>
              <a:t>n=int(input("enter</a:t>
            </a:r>
            <a:r>
              <a:rPr sz="2400" b="1" dirty="0">
                <a:latin typeface="Carlito"/>
                <a:cs typeface="Carlito"/>
              </a:rPr>
              <a:t> no"))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0048" y="4050563"/>
            <a:ext cx="3610606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latin typeface="Carlito"/>
                <a:cs typeface="Carlito"/>
              </a:rPr>
              <a:t>for </a:t>
            </a:r>
            <a:r>
              <a:rPr sz="2400" b="1" dirty="0">
                <a:latin typeface="Carlito"/>
                <a:cs typeface="Carlito"/>
              </a:rPr>
              <a:t>i in</a:t>
            </a:r>
            <a:r>
              <a:rPr sz="2400" b="1" spc="-105" dirty="0">
                <a:latin typeface="Carlito"/>
                <a:cs typeface="Carlito"/>
              </a:rPr>
              <a:t> </a:t>
            </a:r>
            <a:r>
              <a:rPr sz="2400" b="1" spc="-10" dirty="0">
                <a:latin typeface="Carlito"/>
                <a:cs typeface="Carlito"/>
              </a:rPr>
              <a:t>range(0,11):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0048" y="4527390"/>
            <a:ext cx="4876352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Carlito"/>
                <a:cs typeface="Carlito"/>
              </a:rPr>
              <a:t>print("%d </a:t>
            </a:r>
            <a:r>
              <a:rPr sz="2400" b="1" dirty="0">
                <a:latin typeface="Carlito"/>
                <a:cs typeface="Carlito"/>
              </a:rPr>
              <a:t>X %d = %d"</a:t>
            </a:r>
            <a:r>
              <a:rPr sz="2400" b="1" spc="-80" dirty="0">
                <a:latin typeface="Carlito"/>
                <a:cs typeface="Carlito"/>
              </a:rPr>
              <a:t> </a:t>
            </a:r>
            <a:r>
              <a:rPr sz="2400" b="1" dirty="0" smtClean="0">
                <a:latin typeface="Carlito"/>
                <a:cs typeface="Carlito"/>
              </a:rPr>
              <a:t>%</a:t>
            </a:r>
            <a:r>
              <a:rPr lang="en-IN" sz="2400" b="1" spc="-5" dirty="0" smtClean="0">
                <a:latin typeface="Carlito"/>
                <a:cs typeface="Carlito"/>
              </a:rPr>
              <a:t>(</a:t>
            </a:r>
            <a:r>
              <a:rPr lang="en-IN" sz="2400" b="1" spc="-5" dirty="0" err="1" smtClean="0">
                <a:latin typeface="Carlito"/>
                <a:cs typeface="Carlito"/>
              </a:rPr>
              <a:t>n,i,n</a:t>
            </a:r>
            <a:r>
              <a:rPr lang="en-IN" sz="2400" b="1" spc="-5" dirty="0" smtClean="0">
                <a:latin typeface="Carlito"/>
                <a:cs typeface="Carlito"/>
              </a:rPr>
              <a:t>*i))</a:t>
            </a:r>
            <a:endParaRPr lang="en-IN" sz="2400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1828" y="1765757"/>
            <a:ext cx="1977772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enter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no</a:t>
            </a:r>
            <a:r>
              <a:rPr sz="2400" b="1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6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6 X 0 =</a:t>
            </a:r>
            <a:r>
              <a:rPr sz="2400" b="1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0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6 X 1 =</a:t>
            </a:r>
            <a:r>
              <a:rPr sz="2400" b="1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6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6 X 2 =</a:t>
            </a:r>
            <a:r>
              <a:rPr sz="2400" b="1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12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6 X 3 =</a:t>
            </a:r>
            <a:r>
              <a:rPr sz="2400" b="1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18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6 X 4 =</a:t>
            </a:r>
            <a:r>
              <a:rPr sz="2400" b="1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24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6 X 5 =</a:t>
            </a:r>
            <a:r>
              <a:rPr sz="2400" b="1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30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6 X 6 =</a:t>
            </a:r>
            <a:r>
              <a:rPr sz="2400" b="1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36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6 X 7 =</a:t>
            </a:r>
            <a:r>
              <a:rPr sz="2400" b="1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42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6 X 8 =</a:t>
            </a:r>
            <a:r>
              <a:rPr sz="2400" b="1" spc="-1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48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6 X 9 =</a:t>
            </a:r>
            <a:r>
              <a:rPr sz="2400" b="1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54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6 X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10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=</a:t>
            </a:r>
            <a:r>
              <a:rPr sz="2400" b="1" spc="-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60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22872" y="769365"/>
            <a:ext cx="1419606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Carlito"/>
                <a:cs typeface="Carlito"/>
              </a:rPr>
              <a:t>Output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2191" y="0"/>
            <a:ext cx="3607435" cy="6884034"/>
            <a:chOff x="-12191" y="0"/>
            <a:chExt cx="3607435" cy="6884034"/>
          </a:xfrm>
        </p:grpSpPr>
        <p:sp>
          <p:nvSpPr>
            <p:cNvPr id="4" name="object 4"/>
            <p:cNvSpPr/>
            <p:nvPr/>
          </p:nvSpPr>
          <p:spPr>
            <a:xfrm>
              <a:off x="762" y="761"/>
              <a:ext cx="3581400" cy="6858000"/>
            </a:xfrm>
            <a:custGeom>
              <a:avLst/>
              <a:gdLst/>
              <a:ahLst/>
              <a:cxnLst/>
              <a:rect l="l" t="t" r="r" b="b"/>
              <a:pathLst>
                <a:path w="3581400" h="6858000">
                  <a:moveTo>
                    <a:pt x="35814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581400" y="6858000"/>
                  </a:lnTo>
                  <a:lnTo>
                    <a:pt x="35814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2" y="761"/>
              <a:ext cx="3581400" cy="6858000"/>
            </a:xfrm>
            <a:custGeom>
              <a:avLst/>
              <a:gdLst/>
              <a:ahLst/>
              <a:cxnLst/>
              <a:rect l="l" t="t" r="r" b="b"/>
              <a:pathLst>
                <a:path w="3581400" h="6858000">
                  <a:moveTo>
                    <a:pt x="0" y="6858000"/>
                  </a:moveTo>
                  <a:lnTo>
                    <a:pt x="3581400" y="6858000"/>
                  </a:lnTo>
                  <a:lnTo>
                    <a:pt x="35814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326765" y="0"/>
            <a:ext cx="5893435" cy="6884034"/>
            <a:chOff x="3264408" y="0"/>
            <a:chExt cx="5893435" cy="6884034"/>
          </a:xfrm>
        </p:grpSpPr>
        <p:sp>
          <p:nvSpPr>
            <p:cNvPr id="7" name="object 7"/>
            <p:cNvSpPr/>
            <p:nvPr/>
          </p:nvSpPr>
          <p:spPr>
            <a:xfrm>
              <a:off x="5868162" y="761"/>
              <a:ext cx="3276600" cy="6858000"/>
            </a:xfrm>
            <a:custGeom>
              <a:avLst/>
              <a:gdLst/>
              <a:ahLst/>
              <a:cxnLst/>
              <a:rect l="l" t="t" r="r" b="b"/>
              <a:pathLst>
                <a:path w="3276600" h="6858000">
                  <a:moveTo>
                    <a:pt x="327659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276599" y="6858000"/>
                  </a:lnTo>
                  <a:lnTo>
                    <a:pt x="3276599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68162" y="761"/>
              <a:ext cx="3276600" cy="6858000"/>
            </a:xfrm>
            <a:custGeom>
              <a:avLst/>
              <a:gdLst/>
              <a:ahLst/>
              <a:cxnLst/>
              <a:rect l="l" t="t" r="r" b="b"/>
              <a:pathLst>
                <a:path w="3276600" h="6858000">
                  <a:moveTo>
                    <a:pt x="0" y="6858000"/>
                  </a:moveTo>
                  <a:lnTo>
                    <a:pt x="3276599" y="6858000"/>
                  </a:lnTo>
                  <a:lnTo>
                    <a:pt x="3276599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25907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77362" y="915162"/>
              <a:ext cx="2971800" cy="5105400"/>
            </a:xfrm>
            <a:custGeom>
              <a:avLst/>
              <a:gdLst/>
              <a:ahLst/>
              <a:cxnLst/>
              <a:rect l="l" t="t" r="r" b="b"/>
              <a:pathLst>
                <a:path w="2971800" h="5105400">
                  <a:moveTo>
                    <a:pt x="2971800" y="0"/>
                  </a:moveTo>
                  <a:lnTo>
                    <a:pt x="0" y="0"/>
                  </a:lnTo>
                  <a:lnTo>
                    <a:pt x="0" y="5105400"/>
                  </a:lnTo>
                  <a:lnTo>
                    <a:pt x="2971800" y="510540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77362" y="915162"/>
              <a:ext cx="2971800" cy="5105400"/>
            </a:xfrm>
            <a:custGeom>
              <a:avLst/>
              <a:gdLst/>
              <a:ahLst/>
              <a:cxnLst/>
              <a:rect l="l" t="t" r="r" b="b"/>
              <a:pathLst>
                <a:path w="2971800" h="5105400">
                  <a:moveTo>
                    <a:pt x="0" y="5105400"/>
                  </a:moveTo>
                  <a:lnTo>
                    <a:pt x="2971800" y="5105400"/>
                  </a:lnTo>
                  <a:lnTo>
                    <a:pt x="2971800" y="0"/>
                  </a:lnTo>
                  <a:lnTo>
                    <a:pt x="0" y="0"/>
                  </a:lnTo>
                  <a:lnTo>
                    <a:pt x="0" y="51054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93997" y="1524965"/>
            <a:ext cx="2302003" cy="3683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latin typeface="Carlito"/>
                <a:cs typeface="Carlito"/>
              </a:rPr>
              <a:t>Program  to    Iterating  </a:t>
            </a:r>
            <a:r>
              <a:rPr sz="4000" b="1" spc="-10" dirty="0">
                <a:latin typeface="Carlito"/>
                <a:cs typeface="Carlito"/>
              </a:rPr>
              <a:t>string  </a:t>
            </a:r>
            <a:r>
              <a:rPr sz="4000" b="1" spc="-5" dirty="0">
                <a:latin typeface="Carlito"/>
                <a:cs typeface="Carlito"/>
              </a:rPr>
              <a:t>using</a:t>
            </a:r>
            <a:r>
              <a:rPr sz="4000" b="1" spc="-75" dirty="0">
                <a:latin typeface="Carlito"/>
                <a:cs typeface="Carlito"/>
              </a:rPr>
              <a:t> </a:t>
            </a:r>
            <a:r>
              <a:rPr sz="4000" b="1" spc="-25" dirty="0">
                <a:latin typeface="Carlito"/>
                <a:cs typeface="Carlito"/>
              </a:rPr>
              <a:t>for  </a:t>
            </a:r>
            <a:r>
              <a:rPr sz="4000" b="1" spc="-5" dirty="0">
                <a:latin typeface="Carlito"/>
                <a:cs typeface="Carlito"/>
              </a:rPr>
              <a:t>loop</a:t>
            </a:r>
            <a:endParaRPr sz="4000" dirty="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2140" y="2912868"/>
            <a:ext cx="2435860" cy="1344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2400" b="1" spc="-10" dirty="0">
                <a:solidFill>
                  <a:srgbClr val="FFFFFF"/>
                </a:solidFill>
                <a:latin typeface="Carlito"/>
                <a:cs typeface="Carlito"/>
              </a:rPr>
              <a:t>str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=</a:t>
            </a:r>
            <a:r>
              <a:rPr sz="2400" b="1" spc="-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"</a:t>
            </a:r>
            <a:r>
              <a:rPr sz="2400" b="1" dirty="0" smtClean="0">
                <a:solidFill>
                  <a:srgbClr val="FFFFFF"/>
                </a:solidFill>
                <a:latin typeface="Carlito"/>
                <a:cs typeface="Carlito"/>
              </a:rPr>
              <a:t>P</a:t>
            </a:r>
            <a:r>
              <a:rPr lang="en-US" sz="2400" b="1" dirty="0" smtClean="0">
                <a:solidFill>
                  <a:srgbClr val="FFFFFF"/>
                </a:solidFill>
                <a:latin typeface="Carlito"/>
                <a:cs typeface="Carlito"/>
              </a:rPr>
              <a:t>YTHON</a:t>
            </a:r>
            <a:r>
              <a:rPr sz="2400" b="1" dirty="0" smtClean="0">
                <a:solidFill>
                  <a:srgbClr val="FFFFFF"/>
                </a:solidFill>
                <a:latin typeface="Carlito"/>
                <a:cs typeface="Carlito"/>
              </a:rPr>
              <a:t>" 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in</a:t>
            </a:r>
            <a:r>
              <a:rPr sz="2400" b="1" spc="-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rlito"/>
                <a:cs typeface="Carlito"/>
              </a:rPr>
              <a:t>str:</a:t>
            </a:r>
            <a:endParaRPr sz="2400" dirty="0">
              <a:latin typeface="Carlito"/>
              <a:cs typeface="Carlito"/>
            </a:endParaRPr>
          </a:p>
          <a:p>
            <a:pPr marL="285115">
              <a:lnSpc>
                <a:spcPct val="100000"/>
              </a:lnSpc>
              <a:spcBef>
                <a:spcPts val="580"/>
              </a:spcBef>
            </a:pPr>
            <a:r>
              <a:rPr sz="2400" b="1" spc="-10" dirty="0">
                <a:solidFill>
                  <a:srgbClr val="FFFFFF"/>
                </a:solidFill>
                <a:latin typeface="Carlito"/>
                <a:cs typeface="Carlito"/>
              </a:rPr>
              <a:t>print(i)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45176" y="2362200"/>
            <a:ext cx="379624" cy="2672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P  Y  T  H  O  N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013828" y="1607261"/>
            <a:ext cx="1444371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FFFF"/>
                </a:solidFill>
              </a:rPr>
              <a:t>Output</a:t>
            </a:r>
            <a:endParaRPr sz="3200" dirty="0"/>
          </a:p>
        </p:txBody>
      </p:sp>
      <p:sp>
        <p:nvSpPr>
          <p:cNvPr id="15" name="object 15"/>
          <p:cNvSpPr txBox="1"/>
          <p:nvPr/>
        </p:nvSpPr>
        <p:spPr>
          <a:xfrm>
            <a:off x="810564" y="1683461"/>
            <a:ext cx="1704036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r>
              <a:rPr sz="3200" b="1" spc="-50" dirty="0">
                <a:solidFill>
                  <a:srgbClr val="FFFFFF"/>
                </a:solidFill>
                <a:latin typeface="Carlito"/>
                <a:cs typeface="Carlito"/>
              </a:rPr>
              <a:t>x</a:t>
            </a:r>
            <a:r>
              <a:rPr sz="3200" b="1" dirty="0">
                <a:solidFill>
                  <a:srgbClr val="FFFFFF"/>
                </a:solidFill>
                <a:latin typeface="Carlito"/>
                <a:cs typeface="Carlito"/>
              </a:rPr>
              <a:t>ample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7578" y="-268796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73608" y="0"/>
            <a:ext cx="8470900" cy="6884034"/>
            <a:chOff x="673608" y="0"/>
            <a:chExt cx="8470900" cy="6884034"/>
          </a:xfrm>
        </p:grpSpPr>
        <p:sp>
          <p:nvSpPr>
            <p:cNvPr id="4" name="object 4"/>
            <p:cNvSpPr/>
            <p:nvPr/>
          </p:nvSpPr>
          <p:spPr>
            <a:xfrm>
              <a:off x="686562" y="1269"/>
              <a:ext cx="6400800" cy="6858000"/>
            </a:xfrm>
            <a:custGeom>
              <a:avLst/>
              <a:gdLst/>
              <a:ahLst/>
              <a:cxnLst/>
              <a:rect l="l" t="t" r="r" b="b"/>
              <a:pathLst>
                <a:path w="6400800" h="6858000">
                  <a:moveTo>
                    <a:pt x="6400800" y="0"/>
                  </a:moveTo>
                  <a:lnTo>
                    <a:pt x="0" y="0"/>
                  </a:lnTo>
                  <a:lnTo>
                    <a:pt x="0" y="2659380"/>
                  </a:lnTo>
                  <a:lnTo>
                    <a:pt x="0" y="6858000"/>
                  </a:lnTo>
                  <a:lnTo>
                    <a:pt x="3906139" y="6858000"/>
                  </a:lnTo>
                  <a:lnTo>
                    <a:pt x="3906139" y="2659380"/>
                  </a:lnTo>
                  <a:lnTo>
                    <a:pt x="6400800" y="2659380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6562" y="762"/>
              <a:ext cx="6400800" cy="6858000"/>
            </a:xfrm>
            <a:custGeom>
              <a:avLst/>
              <a:gdLst/>
              <a:ahLst/>
              <a:cxnLst/>
              <a:rect l="l" t="t" r="r" b="b"/>
              <a:pathLst>
                <a:path w="6400800" h="6858000">
                  <a:moveTo>
                    <a:pt x="6400799" y="0"/>
                  </a:moveTo>
                  <a:lnTo>
                    <a:pt x="6400799" y="2660396"/>
                  </a:lnTo>
                  <a:lnTo>
                    <a:pt x="3906139" y="2660396"/>
                  </a:lnTo>
                  <a:lnTo>
                    <a:pt x="3906139" y="6857999"/>
                  </a:lnTo>
                  <a:lnTo>
                    <a:pt x="0" y="6857999"/>
                  </a:lnTo>
                  <a:lnTo>
                    <a:pt x="0" y="0"/>
                  </a:lnTo>
                  <a:lnTo>
                    <a:pt x="6400799" y="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31108" y="2334766"/>
              <a:ext cx="5612891" cy="45232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81278" y="458469"/>
            <a:ext cx="604837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6485" marR="5080" indent="-1074420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solidFill>
                  <a:srgbClr val="FFFFFF"/>
                </a:solidFill>
              </a:rPr>
              <a:t>Program to </a:t>
            </a:r>
            <a:r>
              <a:rPr spc="-40" dirty="0">
                <a:solidFill>
                  <a:srgbClr val="FFFFFF"/>
                </a:solidFill>
              </a:rPr>
              <a:t>iterate </a:t>
            </a:r>
            <a:r>
              <a:rPr spc="-10" dirty="0">
                <a:solidFill>
                  <a:srgbClr val="FFFFFF"/>
                </a:solidFill>
              </a:rPr>
              <a:t>through </a:t>
            </a:r>
            <a:r>
              <a:rPr spc="-5" dirty="0">
                <a:solidFill>
                  <a:srgbClr val="FFFFFF"/>
                </a:solidFill>
              </a:rPr>
              <a:t>a  </a:t>
            </a:r>
            <a:r>
              <a:rPr spc="-15" dirty="0">
                <a:solidFill>
                  <a:srgbClr val="FFFFFF"/>
                </a:solidFill>
              </a:rPr>
              <a:t>list </a:t>
            </a:r>
            <a:r>
              <a:rPr spc="-5" dirty="0">
                <a:solidFill>
                  <a:srgbClr val="FFFFFF"/>
                </a:solidFill>
              </a:rPr>
              <a:t>using</a:t>
            </a:r>
            <a:r>
              <a:rPr spc="25" dirty="0">
                <a:solidFill>
                  <a:srgbClr val="FFFFFF"/>
                </a:solidFill>
              </a:rPr>
              <a:t> </a:t>
            </a:r>
            <a:r>
              <a:rPr spc="-15" dirty="0">
                <a:solidFill>
                  <a:srgbClr val="FFFFFF"/>
                </a:solidFill>
              </a:rPr>
              <a:t>indexing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657600" y="3729608"/>
            <a:ext cx="51816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rlito"/>
                <a:cs typeface="Carlito"/>
              </a:rPr>
              <a:t>city </a:t>
            </a:r>
            <a:r>
              <a:rPr sz="2400" b="1" dirty="0">
                <a:latin typeface="Carlito"/>
                <a:cs typeface="Carlito"/>
              </a:rPr>
              <a:t>= ['</a:t>
            </a:r>
            <a:r>
              <a:rPr sz="2400" b="1" dirty="0" err="1">
                <a:latin typeface="Carlito"/>
                <a:cs typeface="Carlito"/>
              </a:rPr>
              <a:t>Bhopal</a:t>
            </a:r>
            <a:r>
              <a:rPr sz="2400" b="1" dirty="0" err="1" smtClean="0">
                <a:latin typeface="Carlito"/>
                <a:cs typeface="Carlito"/>
              </a:rPr>
              <a:t>',</a:t>
            </a:r>
            <a:r>
              <a:rPr sz="2400" b="1" spc="-5" dirty="0" err="1" smtClean="0">
                <a:latin typeface="Carlito"/>
                <a:cs typeface="Carlito"/>
              </a:rPr>
              <a:t>'Indore</a:t>
            </a:r>
            <a:r>
              <a:rPr sz="2400" b="1" spc="-5" dirty="0" smtClean="0">
                <a:latin typeface="Carlito"/>
                <a:cs typeface="Carlito"/>
              </a:rPr>
              <a:t>',</a:t>
            </a:r>
            <a:r>
              <a:rPr lang="en-US" sz="2400" b="1" spc="-5" dirty="0" smtClean="0">
                <a:latin typeface="Carlito"/>
                <a:cs typeface="Carlito"/>
              </a:rPr>
              <a:t> </a:t>
            </a:r>
            <a:r>
              <a:rPr sz="2400" b="1" spc="-5" dirty="0" smtClean="0">
                <a:latin typeface="Carlito"/>
                <a:cs typeface="Carlito"/>
              </a:rPr>
              <a:t>'Gwalior'</a:t>
            </a:r>
            <a:r>
              <a:rPr lang="en-US" sz="2400" b="1" spc="-5" dirty="0" smtClean="0">
                <a:latin typeface="Carlito"/>
                <a:cs typeface="Carlito"/>
              </a:rPr>
              <a:t>]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7600" y="4255184"/>
            <a:ext cx="4873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# </a:t>
            </a:r>
            <a:r>
              <a:rPr sz="2400" b="1" spc="-20" dirty="0">
                <a:solidFill>
                  <a:srgbClr val="FF0000"/>
                </a:solidFill>
                <a:latin typeface="Carlito"/>
                <a:cs typeface="Carlito"/>
              </a:rPr>
              <a:t>iterate </a:t>
            </a:r>
            <a:r>
              <a:rPr sz="2400" b="1" spc="-10" dirty="0">
                <a:solidFill>
                  <a:srgbClr val="FF0000"/>
                </a:solidFill>
                <a:latin typeface="Carlito"/>
                <a:cs typeface="Carlito"/>
              </a:rPr>
              <a:t>over </a:t>
            </a: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the </a:t>
            </a:r>
            <a:r>
              <a:rPr sz="2400" b="1" spc="-10" dirty="0">
                <a:solidFill>
                  <a:srgbClr val="FF0000"/>
                </a:solidFill>
                <a:latin typeface="Carlito"/>
                <a:cs typeface="Carlito"/>
              </a:rPr>
              <a:t>list </a:t>
            </a: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using</a:t>
            </a:r>
            <a:r>
              <a:rPr sz="2400" b="1" spc="-2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b="1" spc="-15" dirty="0">
                <a:solidFill>
                  <a:srgbClr val="FF0000"/>
                </a:solidFill>
                <a:latin typeface="Carlito"/>
                <a:cs typeface="Carlito"/>
              </a:rPr>
              <a:t>index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57600" y="4646344"/>
            <a:ext cx="5334000" cy="9042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b="1" spc="-15" dirty="0">
                <a:latin typeface="Carlito"/>
                <a:cs typeface="Carlito"/>
              </a:rPr>
              <a:t>for </a:t>
            </a:r>
            <a:r>
              <a:rPr sz="2400" b="1" dirty="0">
                <a:latin typeface="Carlito"/>
                <a:cs typeface="Carlito"/>
              </a:rPr>
              <a:t>i in</a:t>
            </a:r>
            <a:r>
              <a:rPr sz="2400" b="1" spc="-30" dirty="0">
                <a:latin typeface="Carlito"/>
                <a:cs typeface="Carlito"/>
              </a:rPr>
              <a:t> </a:t>
            </a:r>
            <a:r>
              <a:rPr sz="2400" b="1" spc="-10" dirty="0">
                <a:latin typeface="Carlito"/>
                <a:cs typeface="Carlito"/>
              </a:rPr>
              <a:t>range(len(city)):</a:t>
            </a:r>
            <a:endParaRPr sz="2400" dirty="0">
              <a:latin typeface="Carlito"/>
              <a:cs typeface="Carlito"/>
            </a:endParaRPr>
          </a:p>
          <a:p>
            <a:pPr marL="285115">
              <a:lnSpc>
                <a:spcPct val="100000"/>
              </a:lnSpc>
              <a:spcBef>
                <a:spcPts val="580"/>
              </a:spcBef>
            </a:pPr>
            <a:r>
              <a:rPr lang="en-US" sz="2400" b="1" spc="-10" dirty="0" smtClean="0">
                <a:latin typeface="Carlito"/>
                <a:cs typeface="Carlito"/>
              </a:rPr>
              <a:t>   </a:t>
            </a:r>
            <a:r>
              <a:rPr sz="2400" b="1" spc="-10" dirty="0" smtClean="0">
                <a:latin typeface="Carlito"/>
                <a:cs typeface="Carlito"/>
              </a:rPr>
              <a:t>print</a:t>
            </a:r>
            <a:r>
              <a:rPr sz="2400" b="1" spc="-10" dirty="0">
                <a:latin typeface="Carlito"/>
                <a:cs typeface="Carlito"/>
              </a:rPr>
              <a:t>("I </a:t>
            </a:r>
            <a:r>
              <a:rPr sz="2400" b="1" spc="-15" dirty="0">
                <a:latin typeface="Carlito"/>
                <a:cs typeface="Carlito"/>
              </a:rPr>
              <a:t>go </a:t>
            </a:r>
            <a:r>
              <a:rPr sz="2400" b="1" spc="-10" dirty="0">
                <a:latin typeface="Carlito"/>
                <a:cs typeface="Carlito"/>
              </a:rPr>
              <a:t>to",</a:t>
            </a:r>
            <a:r>
              <a:rPr sz="2400" b="1" spc="-5" dirty="0">
                <a:latin typeface="Carlito"/>
                <a:cs typeface="Carlito"/>
              </a:rPr>
              <a:t> city[i])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4172" y="3070605"/>
            <a:ext cx="2656936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477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go </a:t>
            </a:r>
            <a:r>
              <a:rPr sz="2400" b="1" spc="-15" dirty="0" smtClean="0">
                <a:solidFill>
                  <a:srgbClr val="FFFFFF"/>
                </a:solidFill>
                <a:latin typeface="Carlito"/>
                <a:cs typeface="Carlito"/>
              </a:rPr>
              <a:t>to</a:t>
            </a:r>
            <a:r>
              <a:rPr lang="en-US" sz="2400" b="1" spc="-15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 smtClean="0">
                <a:solidFill>
                  <a:srgbClr val="FFFFFF"/>
                </a:solidFill>
                <a:latin typeface="Carlito"/>
                <a:cs typeface="Carlito"/>
              </a:rPr>
              <a:t>Bhopal</a:t>
            </a:r>
            <a:endParaRPr lang="en-US" sz="2400" b="1" dirty="0" smtClean="0">
              <a:solidFill>
                <a:srgbClr val="FFFFFF"/>
              </a:solidFill>
              <a:latin typeface="Carlito"/>
              <a:cs typeface="Carlito"/>
            </a:endParaRPr>
          </a:p>
          <a:p>
            <a:pPr marL="12700" marR="104775">
              <a:lnSpc>
                <a:spcPct val="100000"/>
              </a:lnSpc>
              <a:spcBef>
                <a:spcPts val="100"/>
              </a:spcBef>
            </a:pPr>
            <a:r>
              <a:rPr sz="2400" b="1" dirty="0" smtClean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go to</a:t>
            </a:r>
            <a:r>
              <a:rPr sz="2400" b="1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rlito"/>
                <a:cs typeface="Carlito"/>
              </a:rPr>
              <a:t>Indore</a:t>
            </a:r>
            <a:endParaRPr sz="2400" dirty="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go </a:t>
            </a:r>
            <a:r>
              <a:rPr sz="2400" b="1" spc="-15" dirty="0" smtClean="0">
                <a:solidFill>
                  <a:srgbClr val="FFFFFF"/>
                </a:solidFill>
                <a:latin typeface="Carlito"/>
                <a:cs typeface="Carlito"/>
              </a:rPr>
              <a:t>to</a:t>
            </a:r>
            <a:r>
              <a:rPr sz="2400" b="1" spc="-80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spc="-10" dirty="0" smtClean="0">
                <a:solidFill>
                  <a:srgbClr val="FFFFFF"/>
                </a:solidFill>
                <a:latin typeface="Carlito"/>
                <a:cs typeface="Carlito"/>
              </a:rPr>
              <a:t>Gwalior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4172" y="2424519"/>
            <a:ext cx="1792828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Carlito"/>
                <a:cs typeface="Carlito"/>
              </a:rPr>
              <a:t>Output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52720" y="2827147"/>
            <a:ext cx="18211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rlito"/>
                <a:cs typeface="Carlito"/>
              </a:rPr>
              <a:t>E</a:t>
            </a:r>
            <a:r>
              <a:rPr sz="3200" b="1" spc="-45" dirty="0">
                <a:latin typeface="Carlito"/>
                <a:cs typeface="Carlito"/>
              </a:rPr>
              <a:t>x</a:t>
            </a:r>
            <a:r>
              <a:rPr sz="3200" b="1" dirty="0">
                <a:latin typeface="Carlito"/>
                <a:cs typeface="Carlito"/>
              </a:rPr>
              <a:t>ample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09369" y="1197940"/>
            <a:ext cx="2322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While</a:t>
            </a:r>
            <a:r>
              <a:rPr spc="-70" dirty="0"/>
              <a:t> </a:t>
            </a:r>
            <a:r>
              <a:rPr spc="-5" dirty="0"/>
              <a:t>loop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15761" y="991361"/>
            <a:ext cx="3048000" cy="4953000"/>
          </a:xfrm>
          <a:prstGeom prst="rect">
            <a:avLst/>
          </a:prstGeom>
          <a:solidFill>
            <a:srgbClr val="959595"/>
          </a:solidFill>
          <a:ln w="25907">
            <a:solidFill>
              <a:srgbClr val="385D89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3750">
              <a:latin typeface="Times New Roman"/>
              <a:cs typeface="Times New Roman"/>
            </a:endParaRPr>
          </a:p>
          <a:p>
            <a:pPr marL="904240">
              <a:lnSpc>
                <a:spcPct val="100000"/>
              </a:lnSpc>
            </a:pPr>
            <a:r>
              <a:rPr sz="3200" b="1" spc="-20" dirty="0">
                <a:solidFill>
                  <a:srgbClr val="FFFFFF"/>
                </a:solidFill>
                <a:latin typeface="Carlito"/>
                <a:cs typeface="Carlito"/>
              </a:rPr>
              <a:t>syntax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Carlito"/>
              <a:cs typeface="Carlito"/>
            </a:endParaRPr>
          </a:p>
          <a:p>
            <a:pPr marL="320040" marR="195580">
              <a:lnSpc>
                <a:spcPct val="200000"/>
              </a:lnSpc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while ( 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test_expres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ion): 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Body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26008" y="2807207"/>
            <a:ext cx="4064635" cy="3302635"/>
            <a:chOff x="826008" y="2807207"/>
            <a:chExt cx="4064635" cy="3302635"/>
          </a:xfrm>
        </p:grpSpPr>
        <p:sp>
          <p:nvSpPr>
            <p:cNvPr id="6" name="object 6"/>
            <p:cNvSpPr/>
            <p:nvPr/>
          </p:nvSpPr>
          <p:spPr>
            <a:xfrm>
              <a:off x="838962" y="2820161"/>
              <a:ext cx="4038600" cy="3276600"/>
            </a:xfrm>
            <a:custGeom>
              <a:avLst/>
              <a:gdLst/>
              <a:ahLst/>
              <a:cxnLst/>
              <a:rect l="l" t="t" r="r" b="b"/>
              <a:pathLst>
                <a:path w="4038600" h="3276600">
                  <a:moveTo>
                    <a:pt x="4038600" y="0"/>
                  </a:moveTo>
                  <a:lnTo>
                    <a:pt x="0" y="0"/>
                  </a:lnTo>
                  <a:lnTo>
                    <a:pt x="0" y="3276600"/>
                  </a:lnTo>
                  <a:lnTo>
                    <a:pt x="4038600" y="3276600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8962" y="2820161"/>
              <a:ext cx="4038600" cy="3276600"/>
            </a:xfrm>
            <a:custGeom>
              <a:avLst/>
              <a:gdLst/>
              <a:ahLst/>
              <a:cxnLst/>
              <a:rect l="l" t="t" r="r" b="b"/>
              <a:pathLst>
                <a:path w="4038600" h="3276600">
                  <a:moveTo>
                    <a:pt x="0" y="3276600"/>
                  </a:moveTo>
                  <a:lnTo>
                    <a:pt x="4038600" y="3276600"/>
                  </a:lnTo>
                  <a:lnTo>
                    <a:pt x="4038600" y="0"/>
                  </a:lnTo>
                  <a:lnTo>
                    <a:pt x="0" y="0"/>
                  </a:lnTo>
                  <a:lnTo>
                    <a:pt x="0" y="32766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20444" y="3366338"/>
            <a:ext cx="3526154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rlito"/>
                <a:cs typeface="Carlito"/>
              </a:rPr>
              <a:t>Repeats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400" b="1" spc="-20" dirty="0">
                <a:solidFill>
                  <a:srgbClr val="FFFFFF"/>
                </a:solidFill>
                <a:latin typeface="Carlito"/>
                <a:cs typeface="Carlito"/>
              </a:rPr>
              <a:t>statement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or  </a:t>
            </a:r>
            <a:r>
              <a:rPr sz="2400" b="1" spc="-10" dirty="0">
                <a:solidFill>
                  <a:srgbClr val="FFFFFF"/>
                </a:solidFill>
                <a:latin typeface="Carlito"/>
                <a:cs typeface="Carlito"/>
              </a:rPr>
              <a:t>group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statements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while 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400" b="1" spc="-10" dirty="0">
                <a:solidFill>
                  <a:srgbClr val="FFFFFF"/>
                </a:solidFill>
                <a:latin typeface="Carlito"/>
                <a:cs typeface="Carlito"/>
              </a:rPr>
              <a:t>given condition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TRUE.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It 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tests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the condition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before  executing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loop</a:t>
            </a:r>
            <a:r>
              <a:rPr sz="2400" b="1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spc="-30" dirty="0">
                <a:solidFill>
                  <a:srgbClr val="FFFFFF"/>
                </a:solidFill>
                <a:latin typeface="Carlito"/>
                <a:cs typeface="Carlito"/>
              </a:rPr>
              <a:t>body.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2191" y="902208"/>
            <a:ext cx="9170035" cy="788035"/>
            <a:chOff x="-12191" y="902208"/>
            <a:chExt cx="9170035" cy="788035"/>
          </a:xfrm>
        </p:grpSpPr>
        <p:sp>
          <p:nvSpPr>
            <p:cNvPr id="4" name="object 4"/>
            <p:cNvSpPr/>
            <p:nvPr/>
          </p:nvSpPr>
          <p:spPr>
            <a:xfrm>
              <a:off x="2972562" y="915162"/>
              <a:ext cx="3352800" cy="762000"/>
            </a:xfrm>
            <a:custGeom>
              <a:avLst/>
              <a:gdLst/>
              <a:ahLst/>
              <a:cxnLst/>
              <a:rect l="l" t="t" r="r" b="b"/>
              <a:pathLst>
                <a:path w="3352800" h="762000">
                  <a:moveTo>
                    <a:pt x="0" y="762000"/>
                  </a:moveTo>
                  <a:lnTo>
                    <a:pt x="3352800" y="762000"/>
                  </a:lnTo>
                  <a:lnTo>
                    <a:pt x="33528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72562" y="915162"/>
              <a:ext cx="3962400" cy="762000"/>
            </a:xfrm>
            <a:custGeom>
              <a:avLst/>
              <a:gdLst/>
              <a:ahLst/>
              <a:cxnLst/>
              <a:rect l="l" t="t" r="r" b="b"/>
              <a:pathLst>
                <a:path w="3962400" h="762000">
                  <a:moveTo>
                    <a:pt x="0" y="762000"/>
                  </a:moveTo>
                  <a:lnTo>
                    <a:pt x="3962399" y="762000"/>
                  </a:lnTo>
                  <a:lnTo>
                    <a:pt x="3962399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2" y="915162"/>
              <a:ext cx="2971800" cy="762000"/>
            </a:xfrm>
            <a:custGeom>
              <a:avLst/>
              <a:gdLst/>
              <a:ahLst/>
              <a:cxnLst/>
              <a:rect l="l" t="t" r="r" b="b"/>
              <a:pathLst>
                <a:path w="2971800" h="762000">
                  <a:moveTo>
                    <a:pt x="29718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2971800" y="762000"/>
                  </a:lnTo>
                  <a:lnTo>
                    <a:pt x="29718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2" y="915162"/>
              <a:ext cx="2971800" cy="762000"/>
            </a:xfrm>
            <a:custGeom>
              <a:avLst/>
              <a:gdLst/>
              <a:ahLst/>
              <a:cxnLst/>
              <a:rect l="l" t="t" r="r" b="b"/>
              <a:pathLst>
                <a:path w="2971800" h="762000">
                  <a:moveTo>
                    <a:pt x="0" y="762000"/>
                  </a:moveTo>
                  <a:lnTo>
                    <a:pt x="2971800" y="762000"/>
                  </a:lnTo>
                  <a:lnTo>
                    <a:pt x="29718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25361" y="915162"/>
              <a:ext cx="2819400" cy="762000"/>
            </a:xfrm>
            <a:custGeom>
              <a:avLst/>
              <a:gdLst/>
              <a:ahLst/>
              <a:cxnLst/>
              <a:rect l="l" t="t" r="r" b="b"/>
              <a:pathLst>
                <a:path w="2819400" h="762000">
                  <a:moveTo>
                    <a:pt x="2819399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2819399" y="762000"/>
                  </a:lnTo>
                  <a:lnTo>
                    <a:pt x="2819399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25361" y="915162"/>
              <a:ext cx="2819400" cy="762000"/>
            </a:xfrm>
            <a:custGeom>
              <a:avLst/>
              <a:gdLst/>
              <a:ahLst/>
              <a:cxnLst/>
              <a:rect l="l" t="t" r="r" b="b"/>
              <a:pathLst>
                <a:path w="2819400" h="762000">
                  <a:moveTo>
                    <a:pt x="0" y="762000"/>
                  </a:moveTo>
                  <a:lnTo>
                    <a:pt x="2819399" y="762000"/>
                  </a:lnTo>
                  <a:lnTo>
                    <a:pt x="2819399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1828800" y="2133600"/>
            <a:ext cx="5410200" cy="4244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592829" y="915670"/>
            <a:ext cx="218440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5" dirty="0"/>
              <a:t>Flow</a:t>
            </a:r>
            <a:r>
              <a:rPr sz="3900" spc="-90" dirty="0"/>
              <a:t> </a:t>
            </a:r>
            <a:r>
              <a:rPr sz="3900" spc="-5" dirty="0"/>
              <a:t>chart</a:t>
            </a:r>
            <a:endParaRPr sz="3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312408" y="3493008"/>
            <a:ext cx="2845435" cy="2616835"/>
            <a:chOff x="6312408" y="3493008"/>
            <a:chExt cx="2845435" cy="2616835"/>
          </a:xfrm>
        </p:grpSpPr>
        <p:sp>
          <p:nvSpPr>
            <p:cNvPr id="4" name="object 4"/>
            <p:cNvSpPr/>
            <p:nvPr/>
          </p:nvSpPr>
          <p:spPr>
            <a:xfrm>
              <a:off x="6325362" y="3505962"/>
              <a:ext cx="2819400" cy="2590800"/>
            </a:xfrm>
            <a:custGeom>
              <a:avLst/>
              <a:gdLst/>
              <a:ahLst/>
              <a:cxnLst/>
              <a:rect l="l" t="t" r="r" b="b"/>
              <a:pathLst>
                <a:path w="2819400" h="2590800">
                  <a:moveTo>
                    <a:pt x="2819399" y="0"/>
                  </a:moveTo>
                  <a:lnTo>
                    <a:pt x="0" y="0"/>
                  </a:lnTo>
                  <a:lnTo>
                    <a:pt x="0" y="2590800"/>
                  </a:lnTo>
                  <a:lnTo>
                    <a:pt x="2819399" y="2590800"/>
                  </a:lnTo>
                  <a:lnTo>
                    <a:pt x="2819399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25362" y="3505962"/>
              <a:ext cx="2819400" cy="2590800"/>
            </a:xfrm>
            <a:custGeom>
              <a:avLst/>
              <a:gdLst/>
              <a:ahLst/>
              <a:cxnLst/>
              <a:rect l="l" t="t" r="r" b="b"/>
              <a:pathLst>
                <a:path w="2819400" h="2590800">
                  <a:moveTo>
                    <a:pt x="0" y="2590800"/>
                  </a:moveTo>
                  <a:lnTo>
                    <a:pt x="2819399" y="2590800"/>
                  </a:lnTo>
                  <a:lnTo>
                    <a:pt x="2819399" y="0"/>
                  </a:lnTo>
                  <a:lnTo>
                    <a:pt x="0" y="0"/>
                  </a:lnTo>
                  <a:lnTo>
                    <a:pt x="0" y="25908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38315" y="3504148"/>
            <a:ext cx="2806700" cy="24453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94615" algn="ctr">
              <a:lnSpc>
                <a:spcPct val="100000"/>
              </a:lnSpc>
              <a:spcBef>
                <a:spcPts val="790"/>
              </a:spcBef>
            </a:pPr>
            <a:r>
              <a:rPr sz="2800" b="1" spc="-10" dirty="0">
                <a:solidFill>
                  <a:srgbClr val="FFFFFF"/>
                </a:solidFill>
                <a:latin typeface="Carlito"/>
                <a:cs typeface="Carlito"/>
              </a:rPr>
              <a:t>Output</a:t>
            </a:r>
            <a:endParaRPr sz="2800">
              <a:latin typeface="Carlito"/>
              <a:cs typeface="Carlito"/>
            </a:endParaRPr>
          </a:p>
          <a:p>
            <a:pPr marR="156210" algn="ctr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1</a:t>
            </a:r>
            <a:endParaRPr sz="2400">
              <a:latin typeface="Carlito"/>
              <a:cs typeface="Carlito"/>
            </a:endParaRPr>
          </a:p>
          <a:p>
            <a:pPr marR="156210" algn="ctr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2</a:t>
            </a:r>
            <a:endParaRPr sz="2400">
              <a:latin typeface="Carlito"/>
              <a:cs typeface="Carlito"/>
            </a:endParaRPr>
          </a:p>
          <a:p>
            <a:pPr marR="156210" algn="ctr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3</a:t>
            </a:r>
            <a:endParaRPr sz="2400">
              <a:latin typeface="Carlito"/>
              <a:cs typeface="Carlito"/>
            </a:endParaRPr>
          </a:p>
          <a:p>
            <a:pPr marR="156210" algn="ctr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4</a:t>
            </a:r>
            <a:endParaRPr sz="2400">
              <a:latin typeface="Carlito"/>
              <a:cs typeface="Carlito"/>
            </a:endParaRPr>
          </a:p>
          <a:p>
            <a:pPr marR="156210" algn="ctr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5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1" y="936801"/>
            <a:ext cx="3118982" cy="1908856"/>
          </a:xfrm>
          <a:prstGeom prst="rect">
            <a:avLst/>
          </a:prstGeom>
          <a:solidFill>
            <a:srgbClr val="959595"/>
          </a:solidFill>
          <a:ln w="25908">
            <a:solidFill>
              <a:srgbClr val="385D89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708025">
              <a:lnSpc>
                <a:spcPct val="100000"/>
              </a:lnSpc>
            </a:pPr>
            <a:r>
              <a:rPr sz="2800" b="1" spc="-10" dirty="0" smtClean="0">
                <a:solidFill>
                  <a:srgbClr val="FFFFFF"/>
                </a:solidFill>
                <a:latin typeface="Carlito"/>
                <a:cs typeface="Carlito"/>
              </a:rPr>
              <a:t>Example</a:t>
            </a:r>
            <a:endParaRPr lang="en-US" sz="2800" dirty="0">
              <a:latin typeface="Carlito"/>
              <a:cs typeface="Carlito"/>
            </a:endParaRPr>
          </a:p>
          <a:p>
            <a:pPr marL="708025">
              <a:lnSpc>
                <a:spcPct val="100000"/>
              </a:lnSpc>
            </a:pPr>
            <a:r>
              <a:rPr sz="2400" b="1" dirty="0" smtClean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=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 smtClean="0">
                <a:solidFill>
                  <a:srgbClr val="FFFFFF"/>
                </a:solidFill>
                <a:latin typeface="Carlito"/>
                <a:cs typeface="Carlito"/>
              </a:rPr>
              <a:t>1</a:t>
            </a:r>
            <a:endParaRPr lang="en-US" sz="2400" dirty="0">
              <a:latin typeface="Carlito"/>
              <a:cs typeface="Carlito"/>
            </a:endParaRPr>
          </a:p>
          <a:p>
            <a:pPr marL="708025">
              <a:lnSpc>
                <a:spcPct val="100000"/>
              </a:lnSpc>
            </a:pPr>
            <a:r>
              <a:rPr lang="en-IN"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w</a:t>
            </a:r>
            <a:r>
              <a:rPr sz="2400" b="1" spc="-5" dirty="0" err="1" smtClean="0">
                <a:solidFill>
                  <a:srgbClr val="FFFFFF"/>
                </a:solidFill>
                <a:latin typeface="Carlito"/>
                <a:cs typeface="Carlito"/>
              </a:rPr>
              <a:t>hile</a:t>
            </a:r>
            <a:r>
              <a:rPr lang="en-US"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 smtClean="0">
                <a:solidFill>
                  <a:srgbClr val="FFFFFF"/>
                </a:solidFill>
                <a:latin typeface="Carlito"/>
                <a:cs typeface="Carlito"/>
              </a:rPr>
              <a:t>i&lt;</a:t>
            </a: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6:  </a:t>
            </a:r>
            <a:r>
              <a:rPr lang="en-US"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           	</a:t>
            </a:r>
            <a:r>
              <a:rPr sz="2400" b="1" spc="-10" dirty="0" smtClean="0">
                <a:solidFill>
                  <a:srgbClr val="FFFFFF"/>
                </a:solidFill>
                <a:latin typeface="Carlito"/>
                <a:cs typeface="Carlito"/>
              </a:rPr>
              <a:t>print(i</a:t>
            </a:r>
            <a:r>
              <a:rPr sz="2400" b="1" spc="-10" dirty="0">
                <a:solidFill>
                  <a:srgbClr val="FFFFFF"/>
                </a:solidFill>
                <a:latin typeface="Carlito"/>
                <a:cs typeface="Carlito"/>
              </a:rPr>
              <a:t>)</a:t>
            </a:r>
            <a:endParaRPr sz="2400" dirty="0">
              <a:latin typeface="Carlito"/>
              <a:cs typeface="Carlito"/>
            </a:endParaRPr>
          </a:p>
          <a:p>
            <a:pPr marL="91313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+=</a:t>
            </a:r>
            <a:r>
              <a:rPr sz="2400" b="1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1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19743" y="1481681"/>
            <a:ext cx="3200400" cy="3124200"/>
          </a:xfrm>
          <a:prstGeom prst="rect">
            <a:avLst/>
          </a:prstGeom>
          <a:solidFill>
            <a:srgbClr val="FFFFFF"/>
          </a:solidFill>
          <a:ln w="25907">
            <a:solidFill>
              <a:srgbClr val="385D89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4750" dirty="0">
              <a:latin typeface="Times New Roman"/>
              <a:cs typeface="Times New Roman"/>
            </a:endParaRPr>
          </a:p>
          <a:p>
            <a:pPr marL="385445" marR="455295" algn="ctr">
              <a:lnSpc>
                <a:spcPct val="100000"/>
              </a:lnSpc>
            </a:pPr>
            <a:r>
              <a:rPr sz="4000" b="1" spc="-25" dirty="0">
                <a:latin typeface="Carlito"/>
                <a:cs typeface="Carlito"/>
              </a:rPr>
              <a:t>Program</a:t>
            </a:r>
            <a:r>
              <a:rPr sz="4000" b="1" spc="-75" dirty="0">
                <a:latin typeface="Carlito"/>
                <a:cs typeface="Carlito"/>
              </a:rPr>
              <a:t> </a:t>
            </a:r>
            <a:r>
              <a:rPr sz="4000" b="1" spc="-25" dirty="0">
                <a:latin typeface="Carlito"/>
                <a:cs typeface="Carlito"/>
              </a:rPr>
              <a:t>to  </a:t>
            </a:r>
            <a:r>
              <a:rPr sz="4000" b="1" spc="-10" dirty="0">
                <a:latin typeface="Carlito"/>
                <a:cs typeface="Carlito"/>
              </a:rPr>
              <a:t>print </a:t>
            </a:r>
            <a:r>
              <a:rPr sz="4000" b="1" spc="-5" dirty="0">
                <a:latin typeface="Carlito"/>
                <a:cs typeface="Carlito"/>
              </a:rPr>
              <a:t>1 </a:t>
            </a:r>
            <a:r>
              <a:rPr sz="4000" b="1" spc="-25" dirty="0">
                <a:latin typeface="Carlito"/>
                <a:cs typeface="Carlito"/>
              </a:rPr>
              <a:t>to </a:t>
            </a:r>
            <a:r>
              <a:rPr sz="4000" b="1" spc="-5" dirty="0">
                <a:latin typeface="Carlito"/>
                <a:cs typeface="Carlito"/>
              </a:rPr>
              <a:t>5  series</a:t>
            </a:r>
            <a:endParaRPr sz="4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75" y="984249"/>
            <a:ext cx="7705648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Program to </a:t>
            </a:r>
            <a:r>
              <a:rPr spc="-10" dirty="0"/>
              <a:t>print </a:t>
            </a:r>
            <a:r>
              <a:rPr spc="-15" dirty="0"/>
              <a:t>list </a:t>
            </a:r>
            <a:r>
              <a:rPr spc="-5" dirty="0"/>
              <a:t>in </a:t>
            </a:r>
            <a:r>
              <a:rPr spc="-30" dirty="0"/>
              <a:t>reverse</a:t>
            </a:r>
            <a:r>
              <a:rPr spc="105" dirty="0"/>
              <a:t> </a:t>
            </a:r>
            <a:r>
              <a:rPr spc="-15" dirty="0"/>
              <a:t>order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701" y="2743961"/>
            <a:ext cx="5164900" cy="2279470"/>
          </a:xfrm>
          <a:prstGeom prst="rect">
            <a:avLst/>
          </a:prstGeom>
          <a:solidFill>
            <a:srgbClr val="959595"/>
          </a:solidFill>
          <a:ln w="25907">
            <a:solidFill>
              <a:srgbClr val="385D89"/>
            </a:solidFill>
          </a:ln>
        </p:spPr>
        <p:txBody>
          <a:bodyPr vert="horz" wrap="square" lIns="0" tIns="248285" rIns="0" bIns="0" rtlCol="0">
            <a:spAutoFit/>
          </a:bodyPr>
          <a:lstStyle/>
          <a:p>
            <a:pPr marL="1240155">
              <a:lnSpc>
                <a:spcPct val="100000"/>
              </a:lnSpc>
              <a:spcBef>
                <a:spcPts val="1955"/>
              </a:spcBef>
            </a:pPr>
            <a:r>
              <a:rPr sz="3200" b="1" spc="-5" dirty="0">
                <a:solidFill>
                  <a:srgbClr val="FFFFFF"/>
                </a:solidFill>
                <a:latin typeface="Carlito"/>
                <a:cs typeface="Carlito"/>
              </a:rPr>
              <a:t>Example</a:t>
            </a:r>
            <a:endParaRPr sz="3200" dirty="0">
              <a:latin typeface="Carlito"/>
              <a:cs typeface="Carlito"/>
            </a:endParaRPr>
          </a:p>
          <a:p>
            <a:pPr marL="242570" marR="66675">
              <a:lnSpc>
                <a:spcPct val="100000"/>
              </a:lnSpc>
              <a:spcBef>
                <a:spcPts val="153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=[‘</a:t>
            </a:r>
            <a:r>
              <a:rPr sz="2400" b="1" dirty="0" smtClean="0">
                <a:solidFill>
                  <a:srgbClr val="FFFFFF"/>
                </a:solidFill>
                <a:latin typeface="Arial"/>
                <a:cs typeface="Arial"/>
              </a:rPr>
              <a:t>stu1',‘stu2',</a:t>
            </a:r>
            <a:r>
              <a:rPr sz="2400" b="1" spc="-5" dirty="0" smtClean="0">
                <a:solidFill>
                  <a:srgbClr val="FFFFFF"/>
                </a:solidFill>
                <a:latin typeface="Arial"/>
                <a:cs typeface="Arial"/>
              </a:rPr>
              <a:t>‘stu3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']</a:t>
            </a:r>
            <a:endParaRPr sz="2400" dirty="0">
              <a:latin typeface="Arial"/>
              <a:cs typeface="Arial"/>
            </a:endParaRPr>
          </a:p>
          <a:p>
            <a:pPr marL="242570" marR="2228850">
              <a:lnSpc>
                <a:spcPts val="2810"/>
              </a:lnSpc>
              <a:spcBef>
                <a:spcPts val="101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while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a:  </a:t>
            </a:r>
            <a:endParaRPr lang="en-US" sz="2400" b="1" spc="-5" dirty="0" smtClean="0">
              <a:solidFill>
                <a:srgbClr val="FFFFFF"/>
              </a:solidFill>
              <a:latin typeface="Arial"/>
              <a:cs typeface="Arial"/>
            </a:endParaRPr>
          </a:p>
          <a:p>
            <a:pPr marL="242570" marR="2228850">
              <a:lnSpc>
                <a:spcPts val="2810"/>
              </a:lnSpc>
              <a:spcBef>
                <a:spcPts val="1015"/>
              </a:spcBef>
            </a:pPr>
            <a:r>
              <a:rPr lang="en-US" sz="2400" b="1" spc="-5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400" b="1" dirty="0" smtClean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a.p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-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1))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1601" y="2743961"/>
            <a:ext cx="3962400" cy="2223044"/>
          </a:xfrm>
          <a:prstGeom prst="rect">
            <a:avLst/>
          </a:prstGeom>
          <a:solidFill>
            <a:srgbClr val="959595"/>
          </a:solidFill>
          <a:ln w="25907">
            <a:solidFill>
              <a:srgbClr val="385D89"/>
            </a:solidFill>
          </a:ln>
        </p:spPr>
        <p:txBody>
          <a:bodyPr vert="horz" wrap="square" lIns="0" tIns="324485" rIns="0" bIns="0" rtlCol="0">
            <a:spAutoFit/>
          </a:bodyPr>
          <a:lstStyle/>
          <a:p>
            <a:pPr marL="1163320">
              <a:lnSpc>
                <a:spcPct val="100000"/>
              </a:lnSpc>
              <a:spcBef>
                <a:spcPts val="2555"/>
              </a:spcBef>
            </a:pPr>
            <a:r>
              <a:rPr sz="3200" b="1" spc="-5" dirty="0">
                <a:solidFill>
                  <a:srgbClr val="FFFFFF"/>
                </a:solidFill>
                <a:latin typeface="Carlito"/>
                <a:cs typeface="Carlito"/>
              </a:rPr>
              <a:t>Output</a:t>
            </a:r>
            <a:endParaRPr sz="3200" dirty="0">
              <a:latin typeface="Carlito"/>
              <a:cs typeface="Carlito"/>
            </a:endParaRPr>
          </a:p>
          <a:p>
            <a:pPr marL="1082040" marR="1569085">
              <a:lnSpc>
                <a:spcPct val="100000"/>
              </a:lnSpc>
              <a:spcBef>
                <a:spcPts val="2305"/>
              </a:spcBef>
            </a:pPr>
            <a:r>
              <a:rPr sz="2400" b="1" dirty="0" smtClean="0">
                <a:solidFill>
                  <a:srgbClr val="FFFFFF"/>
                </a:solidFill>
                <a:latin typeface="Arial"/>
                <a:cs typeface="Arial"/>
              </a:rPr>
              <a:t>Stud</a:t>
            </a:r>
            <a:r>
              <a:rPr sz="2400" b="1" spc="-10" dirty="0" smtClean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dirty="0" smtClean="0">
                <a:solidFill>
                  <a:srgbClr val="FFFFFF"/>
                </a:solidFill>
                <a:latin typeface="Arial"/>
                <a:cs typeface="Arial"/>
              </a:rPr>
              <a:t>nt3 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Stud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nt2  </a:t>
            </a:r>
            <a:r>
              <a:rPr sz="2400" b="1" dirty="0" smtClean="0">
                <a:solidFill>
                  <a:srgbClr val="FFFFFF"/>
                </a:solidFill>
                <a:latin typeface="Arial"/>
                <a:cs typeface="Arial"/>
              </a:rPr>
              <a:t>Stud</a:t>
            </a:r>
            <a:r>
              <a:rPr sz="2400" b="1" spc="-10" dirty="0" smtClean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400" b="1" dirty="0" smtClean="0">
                <a:solidFill>
                  <a:srgbClr val="FFFFFF"/>
                </a:solidFill>
                <a:latin typeface="Arial"/>
                <a:cs typeface="Arial"/>
              </a:rPr>
              <a:t>nt1</a:t>
            </a:r>
            <a:endParaRPr lang="en-US" sz="2400" b="1" dirty="0" smtClean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2255" y="0"/>
            <a:ext cx="4445635" cy="6884034"/>
            <a:chOff x="-12255" y="0"/>
            <a:chExt cx="4445635" cy="6884034"/>
          </a:xfrm>
        </p:grpSpPr>
        <p:sp>
          <p:nvSpPr>
            <p:cNvPr id="4" name="object 4"/>
            <p:cNvSpPr/>
            <p:nvPr/>
          </p:nvSpPr>
          <p:spPr>
            <a:xfrm>
              <a:off x="762" y="761"/>
              <a:ext cx="4419600" cy="6858000"/>
            </a:xfrm>
            <a:custGeom>
              <a:avLst/>
              <a:gdLst/>
              <a:ahLst/>
              <a:cxnLst/>
              <a:rect l="l" t="t" r="r" b="b"/>
              <a:pathLst>
                <a:path w="4419600" h="6858000">
                  <a:moveTo>
                    <a:pt x="44196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419600" y="6858000"/>
                  </a:lnTo>
                  <a:lnTo>
                    <a:pt x="44196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2" y="761"/>
              <a:ext cx="4419600" cy="6858000"/>
            </a:xfrm>
            <a:custGeom>
              <a:avLst/>
              <a:gdLst/>
              <a:ahLst/>
              <a:cxnLst/>
              <a:rect l="l" t="t" r="r" b="b"/>
              <a:pathLst>
                <a:path w="4419600" h="6858000">
                  <a:moveTo>
                    <a:pt x="0" y="6858000"/>
                  </a:moveTo>
                  <a:lnTo>
                    <a:pt x="4419600" y="6858000"/>
                  </a:lnTo>
                  <a:lnTo>
                    <a:pt x="44196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91961" y="2362961"/>
            <a:ext cx="1981200" cy="3886200"/>
          </a:xfrm>
          <a:prstGeom prst="rect">
            <a:avLst/>
          </a:prstGeom>
          <a:solidFill>
            <a:srgbClr val="959595"/>
          </a:solidFill>
          <a:ln w="25907">
            <a:solidFill>
              <a:srgbClr val="385D89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 marL="853440">
              <a:lnSpc>
                <a:spcPct val="100000"/>
              </a:lnSpc>
              <a:spcBef>
                <a:spcPts val="800"/>
              </a:spcBef>
            </a:pP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10</a:t>
            </a:r>
            <a:endParaRPr sz="2400">
              <a:latin typeface="Carlito"/>
              <a:cs typeface="Carlito"/>
            </a:endParaRPr>
          </a:p>
          <a:p>
            <a:pPr marL="85344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9</a:t>
            </a:r>
            <a:endParaRPr sz="2400">
              <a:latin typeface="Carlito"/>
              <a:cs typeface="Carlito"/>
            </a:endParaRPr>
          </a:p>
          <a:p>
            <a:pPr marL="85344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8</a:t>
            </a:r>
            <a:endParaRPr sz="2400">
              <a:latin typeface="Carlito"/>
              <a:cs typeface="Carlito"/>
            </a:endParaRPr>
          </a:p>
          <a:p>
            <a:pPr marL="85344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7</a:t>
            </a:r>
            <a:endParaRPr sz="2400">
              <a:latin typeface="Carlito"/>
              <a:cs typeface="Carlito"/>
            </a:endParaRPr>
          </a:p>
          <a:p>
            <a:pPr marL="85344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6</a:t>
            </a:r>
            <a:endParaRPr sz="2400">
              <a:latin typeface="Carlito"/>
              <a:cs typeface="Carlito"/>
            </a:endParaRPr>
          </a:p>
          <a:p>
            <a:pPr marL="85344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5</a:t>
            </a:r>
            <a:endParaRPr sz="2400">
              <a:latin typeface="Carlito"/>
              <a:cs typeface="Carlito"/>
            </a:endParaRPr>
          </a:p>
          <a:p>
            <a:pPr marL="85344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4</a:t>
            </a:r>
            <a:endParaRPr sz="2400">
              <a:latin typeface="Carlito"/>
              <a:cs typeface="Carlito"/>
            </a:endParaRPr>
          </a:p>
          <a:p>
            <a:pPr marL="85344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3</a:t>
            </a:r>
            <a:endParaRPr sz="2400">
              <a:latin typeface="Carlito"/>
              <a:cs typeface="Carlito"/>
            </a:endParaRPr>
          </a:p>
          <a:p>
            <a:pPr marL="85344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2</a:t>
            </a:r>
            <a:endParaRPr sz="2400">
              <a:latin typeface="Carlito"/>
              <a:cs typeface="Carlito"/>
            </a:endParaRPr>
          </a:p>
          <a:p>
            <a:pPr marL="85344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1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81124" y="2470480"/>
            <a:ext cx="17430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r>
              <a:rPr sz="3200" b="1" spc="-50" dirty="0">
                <a:solidFill>
                  <a:srgbClr val="FFFFFF"/>
                </a:solidFill>
                <a:latin typeface="Carlito"/>
                <a:cs typeface="Carlito"/>
              </a:rPr>
              <a:t>x</a:t>
            </a:r>
            <a:r>
              <a:rPr sz="3200" b="1" dirty="0">
                <a:solidFill>
                  <a:srgbClr val="FFFFFF"/>
                </a:solidFill>
                <a:latin typeface="Carlito"/>
                <a:cs typeface="Carlito"/>
              </a:rPr>
              <a:t>ample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04382" y="1531061"/>
            <a:ext cx="1439418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latin typeface="Carlito"/>
                <a:cs typeface="Carlito"/>
              </a:rPr>
              <a:t>Output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200" y="3505961"/>
            <a:ext cx="3581399" cy="2274982"/>
          </a:xfrm>
          <a:prstGeom prst="rect">
            <a:avLst/>
          </a:prstGeom>
          <a:solidFill>
            <a:srgbClr val="FFFFFF"/>
          </a:solidFill>
          <a:ln w="25907">
            <a:solidFill>
              <a:srgbClr val="385D89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243204">
              <a:lnSpc>
                <a:spcPct val="100000"/>
              </a:lnSpc>
            </a:pPr>
            <a:r>
              <a:rPr sz="2400" b="1" dirty="0">
                <a:latin typeface="Carlito"/>
                <a:cs typeface="Carlito"/>
              </a:rPr>
              <a:t>n=10</a:t>
            </a:r>
            <a:endParaRPr sz="2400" dirty="0">
              <a:latin typeface="Carlito"/>
              <a:cs typeface="Carlito"/>
            </a:endParaRPr>
          </a:p>
          <a:p>
            <a:pPr marL="584200" marR="962660" indent="-341630">
              <a:lnSpc>
                <a:spcPct val="100000"/>
              </a:lnSpc>
            </a:pPr>
            <a:r>
              <a:rPr sz="2400" b="1" spc="-5" dirty="0">
                <a:latin typeface="Carlito"/>
                <a:cs typeface="Carlito"/>
              </a:rPr>
              <a:t>while </a:t>
            </a:r>
            <a:r>
              <a:rPr sz="2400" b="1" dirty="0">
                <a:latin typeface="Carlito"/>
                <a:cs typeface="Carlito"/>
              </a:rPr>
              <a:t>n &gt;</a:t>
            </a:r>
            <a:r>
              <a:rPr sz="2400" b="1" spc="-105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0:  </a:t>
            </a:r>
            <a:endParaRPr lang="en-US" sz="2400" b="1" dirty="0" smtClean="0">
              <a:latin typeface="Carlito"/>
              <a:cs typeface="Carlito"/>
            </a:endParaRPr>
          </a:p>
          <a:p>
            <a:pPr marL="584200" marR="962660" indent="-341630">
              <a:lnSpc>
                <a:spcPct val="100000"/>
              </a:lnSpc>
            </a:pPr>
            <a:r>
              <a:rPr lang="en-US" sz="2400" b="1" dirty="0">
                <a:latin typeface="Carlito"/>
                <a:cs typeface="Carlito"/>
              </a:rPr>
              <a:t>	</a:t>
            </a:r>
            <a:r>
              <a:rPr sz="2400" b="1" dirty="0" smtClean="0">
                <a:latin typeface="Carlito"/>
                <a:cs typeface="Carlito"/>
              </a:rPr>
              <a:t>if </a:t>
            </a:r>
            <a:r>
              <a:rPr lang="en-US" sz="2400" b="1" spc="-30" dirty="0">
                <a:latin typeface="Carlito"/>
                <a:cs typeface="Carlito"/>
              </a:rPr>
              <a:t>n</a:t>
            </a:r>
            <a:r>
              <a:rPr sz="2400" b="1" spc="-30" dirty="0" smtClean="0">
                <a:latin typeface="Carlito"/>
                <a:cs typeface="Carlito"/>
              </a:rPr>
              <a:t>:</a:t>
            </a:r>
            <a:r>
              <a:rPr sz="2400" b="1" spc="-50" dirty="0" smtClean="0">
                <a:latin typeface="Carlito"/>
                <a:cs typeface="Carlito"/>
              </a:rPr>
              <a:t> </a:t>
            </a:r>
            <a:endParaRPr lang="en-US" sz="2400" b="1" spc="-50" dirty="0" smtClean="0">
              <a:latin typeface="Carlito"/>
              <a:cs typeface="Carlito"/>
            </a:endParaRPr>
          </a:p>
          <a:p>
            <a:pPr marL="584200">
              <a:lnSpc>
                <a:spcPct val="100000"/>
              </a:lnSpc>
            </a:pPr>
            <a:r>
              <a:rPr lang="en-US" sz="2400" b="1" spc="-50" dirty="0">
                <a:latin typeface="Carlito"/>
                <a:cs typeface="Carlito"/>
              </a:rPr>
              <a:t>	</a:t>
            </a:r>
            <a:r>
              <a:rPr sz="2400" b="1" spc="-10" dirty="0" smtClean="0">
                <a:latin typeface="Carlito"/>
                <a:cs typeface="Carlito"/>
              </a:rPr>
              <a:t>print(n)</a:t>
            </a:r>
            <a:endParaRPr lang="en-US" sz="2400" b="1" spc="-10" dirty="0" smtClean="0">
              <a:latin typeface="Carlito"/>
              <a:cs typeface="Carlito"/>
            </a:endParaRPr>
          </a:p>
          <a:p>
            <a:pPr marL="584200">
              <a:lnSpc>
                <a:spcPct val="100000"/>
              </a:lnSpc>
            </a:pPr>
            <a:r>
              <a:rPr lang="en-IN" sz="2400" b="1" dirty="0" smtClean="0">
                <a:latin typeface="Carlito"/>
                <a:cs typeface="Carlito"/>
              </a:rPr>
              <a:t>n </a:t>
            </a:r>
            <a:r>
              <a:rPr lang="en-IN" sz="2400" b="1" spc="-5" dirty="0" smtClean="0">
                <a:latin typeface="Carlito"/>
                <a:cs typeface="Carlito"/>
              </a:rPr>
              <a:t>-=</a:t>
            </a:r>
            <a:r>
              <a:rPr lang="en-IN" sz="2400" b="1" spc="-45" dirty="0" smtClean="0">
                <a:latin typeface="Carlito"/>
                <a:cs typeface="Carlito"/>
              </a:rPr>
              <a:t> </a:t>
            </a:r>
            <a:r>
              <a:rPr lang="en-IN" sz="2400" b="1" dirty="0" smtClean="0">
                <a:latin typeface="Carlito"/>
                <a:cs typeface="Carlito"/>
              </a:rPr>
              <a:t>1</a:t>
            </a:r>
            <a:endParaRPr sz="2400" dirty="0">
              <a:latin typeface="Carlito"/>
              <a:cs typeface="Carli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8808" y="445008"/>
            <a:ext cx="8255634" cy="1016635"/>
            <a:chOff x="368808" y="445008"/>
            <a:chExt cx="8255634" cy="1016635"/>
          </a:xfrm>
        </p:grpSpPr>
        <p:sp>
          <p:nvSpPr>
            <p:cNvPr id="11" name="object 11"/>
            <p:cNvSpPr/>
            <p:nvPr/>
          </p:nvSpPr>
          <p:spPr>
            <a:xfrm>
              <a:off x="381762" y="457962"/>
              <a:ext cx="4038600" cy="990600"/>
            </a:xfrm>
            <a:custGeom>
              <a:avLst/>
              <a:gdLst/>
              <a:ahLst/>
              <a:cxnLst/>
              <a:rect l="l" t="t" r="r" b="b"/>
              <a:pathLst>
                <a:path w="4038600" h="990600">
                  <a:moveTo>
                    <a:pt x="40386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4038600" y="990600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1762" y="457962"/>
              <a:ext cx="4038600" cy="990600"/>
            </a:xfrm>
            <a:custGeom>
              <a:avLst/>
              <a:gdLst/>
              <a:ahLst/>
              <a:cxnLst/>
              <a:rect l="l" t="t" r="r" b="b"/>
              <a:pathLst>
                <a:path w="4038600" h="990600">
                  <a:moveTo>
                    <a:pt x="0" y="990600"/>
                  </a:moveTo>
                  <a:lnTo>
                    <a:pt x="4038600" y="990600"/>
                  </a:lnTo>
                  <a:lnTo>
                    <a:pt x="4038600" y="0"/>
                  </a:lnTo>
                  <a:lnTo>
                    <a:pt x="0" y="0"/>
                  </a:lnTo>
                  <a:lnTo>
                    <a:pt x="0" y="9906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20361" y="457962"/>
              <a:ext cx="4191000" cy="990600"/>
            </a:xfrm>
            <a:custGeom>
              <a:avLst/>
              <a:gdLst/>
              <a:ahLst/>
              <a:cxnLst/>
              <a:rect l="l" t="t" r="r" b="b"/>
              <a:pathLst>
                <a:path w="4191000" h="990600">
                  <a:moveTo>
                    <a:pt x="4190999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4190999" y="990600"/>
                  </a:lnTo>
                  <a:lnTo>
                    <a:pt x="4190999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20361" y="457962"/>
              <a:ext cx="4191000" cy="990600"/>
            </a:xfrm>
            <a:custGeom>
              <a:avLst/>
              <a:gdLst/>
              <a:ahLst/>
              <a:cxnLst/>
              <a:rect l="l" t="t" r="r" b="b"/>
              <a:pathLst>
                <a:path w="4191000" h="990600">
                  <a:moveTo>
                    <a:pt x="0" y="990600"/>
                  </a:moveTo>
                  <a:lnTo>
                    <a:pt x="4190999" y="990600"/>
                  </a:lnTo>
                  <a:lnTo>
                    <a:pt x="4190999" y="0"/>
                  </a:lnTo>
                  <a:lnTo>
                    <a:pt x="0" y="0"/>
                  </a:lnTo>
                  <a:lnTo>
                    <a:pt x="0" y="9906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51205" y="577342"/>
            <a:ext cx="7478395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Using if </a:t>
            </a:r>
            <a:r>
              <a:rPr spc="-25" dirty="0"/>
              <a:t>Statement </a:t>
            </a:r>
            <a:r>
              <a:rPr spc="-10" dirty="0"/>
              <a:t>with </a:t>
            </a:r>
            <a:r>
              <a:rPr spc="-5" dirty="0"/>
              <a:t>While</a:t>
            </a:r>
            <a:r>
              <a:rPr spc="65" dirty="0"/>
              <a:t> </a:t>
            </a:r>
            <a:r>
              <a:rPr spc="-5" dirty="0"/>
              <a:t>Loop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165" y="384803"/>
            <a:ext cx="802767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Using </a:t>
            </a:r>
            <a:r>
              <a:rPr spc="-10" dirty="0"/>
              <a:t>else </a:t>
            </a:r>
            <a:r>
              <a:rPr spc="-25" dirty="0"/>
              <a:t>Statement </a:t>
            </a:r>
            <a:r>
              <a:rPr spc="-10" dirty="0"/>
              <a:t>with </a:t>
            </a:r>
            <a:r>
              <a:rPr spc="-5" dirty="0"/>
              <a:t>While</a:t>
            </a:r>
            <a:r>
              <a:rPr spc="60" dirty="0"/>
              <a:t> </a:t>
            </a:r>
            <a:r>
              <a:rPr spc="-5" dirty="0"/>
              <a:t>Loop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-152400" y="762"/>
            <a:ext cx="8000999" cy="5714238"/>
            <a:chOff x="762" y="762"/>
            <a:chExt cx="7315199" cy="6337680"/>
          </a:xfrm>
        </p:grpSpPr>
        <p:sp>
          <p:nvSpPr>
            <p:cNvPr id="5" name="object 5"/>
            <p:cNvSpPr/>
            <p:nvPr/>
          </p:nvSpPr>
          <p:spPr>
            <a:xfrm>
              <a:off x="762" y="76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2" y="76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lnTo>
                    <a:pt x="457200" y="4572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24761" y="1905762"/>
              <a:ext cx="5791200" cy="3886200"/>
            </a:xfrm>
            <a:custGeom>
              <a:avLst/>
              <a:gdLst/>
              <a:ahLst/>
              <a:cxnLst/>
              <a:rect l="l" t="t" r="r" b="b"/>
              <a:pathLst>
                <a:path w="5791200" h="3886200">
                  <a:moveTo>
                    <a:pt x="5791199" y="0"/>
                  </a:moveTo>
                  <a:lnTo>
                    <a:pt x="0" y="0"/>
                  </a:lnTo>
                  <a:lnTo>
                    <a:pt x="0" y="3886200"/>
                  </a:lnTo>
                  <a:lnTo>
                    <a:pt x="5791199" y="3886200"/>
                  </a:lnTo>
                  <a:lnTo>
                    <a:pt x="5791199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24761" y="2452242"/>
              <a:ext cx="5791200" cy="3886200"/>
            </a:xfrm>
            <a:custGeom>
              <a:avLst/>
              <a:gdLst/>
              <a:ahLst/>
              <a:cxnLst/>
              <a:rect l="l" t="t" r="r" b="b"/>
              <a:pathLst>
                <a:path w="5791200" h="3886200">
                  <a:moveTo>
                    <a:pt x="0" y="3886200"/>
                  </a:moveTo>
                  <a:lnTo>
                    <a:pt x="5791199" y="3886200"/>
                  </a:lnTo>
                  <a:lnTo>
                    <a:pt x="5791199" y="0"/>
                  </a:lnTo>
                  <a:lnTo>
                    <a:pt x="0" y="0"/>
                  </a:lnTo>
                  <a:lnTo>
                    <a:pt x="0" y="38862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14473" y="2452242"/>
            <a:ext cx="6334125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>
              <a:lnSpc>
                <a:spcPct val="100000"/>
              </a:lnSpc>
              <a:spcBef>
                <a:spcPts val="100"/>
              </a:spcBef>
              <a:tabLst>
                <a:tab pos="1633855" algn="l"/>
                <a:tab pos="3473450" algn="l"/>
                <a:tab pos="4467225" algn="l"/>
              </a:tabLst>
            </a:pP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P</a:t>
            </a:r>
            <a:r>
              <a:rPr sz="2400" b="1" spc="15" dirty="0" smtClean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r>
              <a:rPr sz="2400" b="1" dirty="0" smtClean="0">
                <a:solidFill>
                  <a:srgbClr val="FFFFFF"/>
                </a:solidFill>
                <a:latin typeface="Carlito"/>
                <a:cs typeface="Carlito"/>
              </a:rPr>
              <a:t>th</a:t>
            </a:r>
            <a:r>
              <a:rPr sz="2400" b="1" spc="5" dirty="0" smtClean="0">
                <a:solidFill>
                  <a:srgbClr val="FFFFFF"/>
                </a:solidFill>
                <a:latin typeface="Carlito"/>
                <a:cs typeface="Carlito"/>
              </a:rPr>
              <a:t>o</a:t>
            </a:r>
            <a:r>
              <a:rPr sz="2400" b="1" dirty="0" smtClean="0">
                <a:solidFill>
                  <a:srgbClr val="FFFFFF"/>
                </a:solidFill>
                <a:latin typeface="Carlito"/>
                <a:cs typeface="Carlito"/>
              </a:rPr>
              <a:t>n</a:t>
            </a:r>
            <a:r>
              <a:rPr lang="en-US" sz="2400" b="1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 smtClean="0">
                <a:solidFill>
                  <a:srgbClr val="FFFFFF"/>
                </a:solidFill>
                <a:latin typeface="Carlito"/>
                <a:cs typeface="Carlito"/>
              </a:rPr>
              <a:t>su</a:t>
            </a:r>
            <a:r>
              <a:rPr sz="2400" b="1" spc="-10" dirty="0" smtClean="0">
                <a:solidFill>
                  <a:srgbClr val="FFFFFF"/>
                </a:solidFill>
                <a:latin typeface="Carlito"/>
                <a:cs typeface="Carlito"/>
              </a:rPr>
              <a:t>p</a:t>
            </a:r>
            <a:r>
              <a:rPr sz="2400" b="1" dirty="0" smtClean="0">
                <a:solidFill>
                  <a:srgbClr val="FFFFFF"/>
                </a:solidFill>
                <a:latin typeface="Carlito"/>
                <a:cs typeface="Carlito"/>
              </a:rPr>
              <a:t>ports</a:t>
            </a:r>
            <a:r>
              <a:rPr lang="en-US" sz="2400" b="1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spc="-30" dirty="0" smtClean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2400" b="1" dirty="0" smtClean="0">
                <a:solidFill>
                  <a:srgbClr val="FFFFFF"/>
                </a:solidFill>
                <a:latin typeface="Carlito"/>
                <a:cs typeface="Carlito"/>
              </a:rPr>
              <a:t>o</a:t>
            </a:r>
            <a:r>
              <a:rPr lang="en-US" sz="2400" b="1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 smtClean="0">
                <a:solidFill>
                  <a:srgbClr val="FFFFFF"/>
                </a:solidFill>
                <a:latin typeface="Carlito"/>
                <a:cs typeface="Carlito"/>
              </a:rPr>
              <a:t>h</a:t>
            </a:r>
            <a:r>
              <a:rPr sz="2400" b="1" spc="-40" dirty="0" smtClean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2400" b="1" spc="-20" dirty="0" smtClean="0">
                <a:solidFill>
                  <a:srgbClr val="FFFFFF"/>
                </a:solidFill>
                <a:latin typeface="Carlito"/>
                <a:cs typeface="Carlito"/>
              </a:rPr>
              <a:t>v</a:t>
            </a:r>
            <a:r>
              <a:rPr sz="2400" b="1" dirty="0" smtClean="0">
                <a:solidFill>
                  <a:srgbClr val="FFFFFF"/>
                </a:solidFill>
                <a:latin typeface="Carlito"/>
                <a:cs typeface="Carlito"/>
              </a:rPr>
              <a:t>e 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an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else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statement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associated with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a  loop</a:t>
            </a:r>
            <a:r>
              <a:rPr sz="2400" b="1" spc="-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statement.</a:t>
            </a:r>
            <a:endParaRPr sz="2400" dirty="0">
              <a:latin typeface="Carlito"/>
              <a:cs typeface="Carlito"/>
            </a:endParaRPr>
          </a:p>
          <a:p>
            <a:pPr marR="5080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If the else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statement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used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with 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a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while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loop,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else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statement </a:t>
            </a:r>
            <a:r>
              <a:rPr sz="2400" b="1" spc="10" dirty="0">
                <a:solidFill>
                  <a:srgbClr val="FFFFFF"/>
                </a:solidFill>
                <a:latin typeface="Carlito"/>
                <a:cs typeface="Carlito"/>
              </a:rPr>
              <a:t>is  </a:t>
            </a:r>
            <a:r>
              <a:rPr sz="2400" b="1" spc="-20" dirty="0">
                <a:solidFill>
                  <a:srgbClr val="FFFFFF"/>
                </a:solidFill>
                <a:latin typeface="Carlito"/>
                <a:cs typeface="Carlito"/>
              </a:rPr>
              <a:t>executed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when the condition becomes  </a:t>
            </a:r>
            <a:r>
              <a:rPr sz="2400" b="1" spc="-10" dirty="0">
                <a:solidFill>
                  <a:srgbClr val="FFFFFF"/>
                </a:solidFill>
                <a:latin typeface="Carlito"/>
                <a:cs typeface="Carlito"/>
              </a:rPr>
              <a:t>false.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5175" y="2002663"/>
            <a:ext cx="13582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"/>
                <a:cs typeface="Arial"/>
              </a:rPr>
              <a:t>Synt</a:t>
            </a:r>
            <a:r>
              <a:rPr sz="3200" spc="-15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x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2191" y="0"/>
            <a:ext cx="2159635" cy="2159635"/>
            <a:chOff x="-12191" y="0"/>
            <a:chExt cx="2159635" cy="2159635"/>
          </a:xfrm>
        </p:grpSpPr>
        <p:sp>
          <p:nvSpPr>
            <p:cNvPr id="4" name="object 4"/>
            <p:cNvSpPr/>
            <p:nvPr/>
          </p:nvSpPr>
          <p:spPr>
            <a:xfrm>
              <a:off x="762" y="762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5334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533400" y="5334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2" y="762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533400"/>
                  </a:moveTo>
                  <a:lnTo>
                    <a:pt x="533400" y="5334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4162" y="534162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5334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533400" y="5334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4162" y="534162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533400"/>
                  </a:moveTo>
                  <a:lnTo>
                    <a:pt x="533400" y="5334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67561" y="1067561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5334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533400" y="5334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7561" y="1067561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533400"/>
                  </a:moveTo>
                  <a:lnTo>
                    <a:pt x="533400" y="5334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00961" y="1600961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5334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533400" y="5334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00961" y="1600961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533400"/>
                  </a:moveTo>
                  <a:lnTo>
                    <a:pt x="533400" y="5334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72561" y="2820161"/>
            <a:ext cx="4648200" cy="3200400"/>
          </a:xfrm>
          <a:prstGeom prst="rect">
            <a:avLst/>
          </a:prstGeom>
          <a:solidFill>
            <a:srgbClr val="959595"/>
          </a:solidFill>
          <a:ln w="25907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700405" marR="1957070">
              <a:lnSpc>
                <a:spcPct val="100000"/>
              </a:lnSpc>
              <a:spcBef>
                <a:spcPts val="2235"/>
              </a:spcBef>
              <a:tabLst>
                <a:tab pos="1630045" algn="l"/>
              </a:tabLst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while	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expr:  statement(s)  else:</a:t>
            </a:r>
            <a:endParaRPr sz="2400">
              <a:latin typeface="Arial"/>
              <a:cs typeface="Arial"/>
            </a:endParaRPr>
          </a:p>
          <a:p>
            <a:pPr marL="784225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additional_statement(s)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9561" y="304799"/>
            <a:ext cx="7085839" cy="6553962"/>
            <a:chOff x="1829561" y="304799"/>
            <a:chExt cx="7085839" cy="6553962"/>
          </a:xfrm>
        </p:grpSpPr>
        <p:sp>
          <p:nvSpPr>
            <p:cNvPr id="3" name="object 3"/>
            <p:cNvSpPr/>
            <p:nvPr/>
          </p:nvSpPr>
          <p:spPr>
            <a:xfrm>
              <a:off x="2286000" y="304799"/>
              <a:ext cx="6629400" cy="6324600"/>
            </a:xfrm>
            <a:custGeom>
              <a:avLst/>
              <a:gdLst/>
              <a:ahLst/>
              <a:cxnLst/>
              <a:rect l="l" t="t" r="r" b="b"/>
              <a:pathLst>
                <a:path w="3733800" h="6324600">
                  <a:moveTo>
                    <a:pt x="3733800" y="0"/>
                  </a:moveTo>
                  <a:lnTo>
                    <a:pt x="0" y="0"/>
                  </a:lnTo>
                  <a:lnTo>
                    <a:pt x="0" y="3810762"/>
                  </a:lnTo>
                  <a:lnTo>
                    <a:pt x="0" y="6324600"/>
                  </a:lnTo>
                  <a:lnTo>
                    <a:pt x="3733800" y="6324600"/>
                  </a:lnTo>
                  <a:lnTo>
                    <a:pt x="3733800" y="3810762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95959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29561" y="4115561"/>
              <a:ext cx="4800600" cy="2743200"/>
            </a:xfrm>
            <a:custGeom>
              <a:avLst/>
              <a:gdLst/>
              <a:ahLst/>
              <a:cxnLst/>
              <a:rect l="l" t="t" r="r" b="b"/>
              <a:pathLst>
                <a:path w="4800600" h="2743200">
                  <a:moveTo>
                    <a:pt x="4800599" y="0"/>
                  </a:moveTo>
                  <a:lnTo>
                    <a:pt x="0" y="0"/>
                  </a:lnTo>
                  <a:lnTo>
                    <a:pt x="0" y="2743200"/>
                  </a:lnTo>
                  <a:lnTo>
                    <a:pt x="4800599" y="2743200"/>
                  </a:lnTo>
                  <a:lnTo>
                    <a:pt x="4800599" y="0"/>
                  </a:lnTo>
                  <a:close/>
                </a:path>
              </a:pathLst>
            </a:custGeom>
            <a:solidFill>
              <a:srgbClr val="FFFFFF">
                <a:alpha val="9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29561" y="4115561"/>
              <a:ext cx="4800600" cy="2743200"/>
            </a:xfrm>
            <a:custGeom>
              <a:avLst/>
              <a:gdLst/>
              <a:ahLst/>
              <a:cxnLst/>
              <a:rect l="l" t="t" r="r" b="b"/>
              <a:pathLst>
                <a:path w="4800600" h="2743200">
                  <a:moveTo>
                    <a:pt x="0" y="2743200"/>
                  </a:moveTo>
                  <a:lnTo>
                    <a:pt x="4800599" y="2743200"/>
                  </a:lnTo>
                  <a:lnTo>
                    <a:pt x="4800599" y="0"/>
                  </a:lnTo>
                  <a:lnTo>
                    <a:pt x="0" y="0"/>
                  </a:lnTo>
                  <a:lnTo>
                    <a:pt x="0" y="27432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286000" y="1064514"/>
            <a:ext cx="6629400" cy="1910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count</a:t>
            </a:r>
            <a:r>
              <a:rPr sz="2000" b="1" dirty="0" smtClean="0">
                <a:solidFill>
                  <a:srgbClr val="FFFFFF"/>
                </a:solidFill>
                <a:latin typeface="Courier New"/>
                <a:cs typeface="Courier New"/>
              </a:rPr>
              <a:t>=0</a:t>
            </a:r>
            <a:endParaRPr lang="en-US"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while count</a:t>
            </a:r>
            <a:r>
              <a:rPr sz="2000" b="1" dirty="0" smtClean="0">
                <a:solidFill>
                  <a:srgbClr val="FFFFFF"/>
                </a:solidFill>
                <a:latin typeface="Courier New"/>
                <a:cs typeface="Courier New"/>
              </a:rPr>
              <a:t>&lt;</a:t>
            </a:r>
            <a:r>
              <a:rPr sz="2000" b="1" spc="-10" dirty="0" smtClean="0">
                <a:solidFill>
                  <a:srgbClr val="FFFFFF"/>
                </a:solidFill>
                <a:latin typeface="Courier New"/>
                <a:cs typeface="Courier New"/>
              </a:rPr>
              <a:t>5:</a:t>
            </a:r>
            <a:endParaRPr lang="en-US"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lang="en-IN"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p</a:t>
            </a:r>
            <a:r>
              <a:rPr sz="2000" b="1" spc="-5" dirty="0" err="1" smtClean="0">
                <a:solidFill>
                  <a:srgbClr val="FFFFFF"/>
                </a:solidFill>
                <a:latin typeface="Courier New"/>
                <a:cs typeface="Courier New"/>
              </a:rPr>
              <a:t>rint</a:t>
            </a:r>
            <a:r>
              <a:rPr lang="en-US"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(</a:t>
            </a:r>
            <a:r>
              <a:rPr sz="2000" b="1" spc="-10" dirty="0" err="1" smtClean="0">
                <a:solidFill>
                  <a:srgbClr val="FFFFFF"/>
                </a:solidFill>
                <a:latin typeface="Courier New"/>
                <a:cs typeface="Courier New"/>
              </a:rPr>
              <a:t>count,</a:t>
            </a:r>
            <a:r>
              <a:rPr sz="2000" b="1" dirty="0" err="1" smtClean="0">
                <a:solidFill>
                  <a:srgbClr val="FFFFFF"/>
                </a:solidFill>
                <a:latin typeface="Courier New"/>
                <a:cs typeface="Courier New"/>
              </a:rPr>
              <a:t>"</a:t>
            </a:r>
            <a:r>
              <a:rPr sz="2000" b="1" spc="-5" dirty="0" err="1" smtClean="0">
                <a:solidFill>
                  <a:srgbClr val="FFFFFF"/>
                </a:solidFill>
                <a:latin typeface="Courier New"/>
                <a:cs typeface="Courier New"/>
              </a:rPr>
              <a:t>is</a:t>
            </a:r>
            <a:r>
              <a:rPr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 less </a:t>
            </a:r>
            <a:r>
              <a:rPr sz="2000" b="1" spc="-10" dirty="0" smtClean="0">
                <a:solidFill>
                  <a:srgbClr val="FFFFFF"/>
                </a:solidFill>
                <a:latin typeface="Courier New"/>
                <a:cs typeface="Courier New"/>
              </a:rPr>
              <a:t>than</a:t>
            </a:r>
            <a:r>
              <a:rPr lang="en-US" sz="2000" b="1" spc="-10" dirty="0" smtClean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5"</a:t>
            </a:r>
            <a:r>
              <a:rPr lang="en-US"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)</a:t>
            </a:r>
            <a:r>
              <a:rPr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lang="en-US"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count</a:t>
            </a:r>
            <a:r>
              <a:rPr sz="2000" b="1" dirty="0" smtClean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count</a:t>
            </a:r>
            <a:r>
              <a:rPr sz="2000" b="1" dirty="0" smtClean="0">
                <a:solidFill>
                  <a:srgbClr val="FFFFFF"/>
                </a:solidFill>
                <a:latin typeface="Courier New"/>
                <a:cs typeface="Courier New"/>
              </a:rPr>
              <a:t>+1  </a:t>
            </a:r>
            <a:endParaRPr lang="en-US" sz="2000" b="1" dirty="0" smtClean="0">
              <a:solidFill>
                <a:srgbClr val="FFFFFF"/>
              </a:solidFill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else:</a:t>
            </a:r>
            <a:endParaRPr lang="en-US"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lang="en-IN"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P</a:t>
            </a:r>
            <a:r>
              <a:rPr sz="2000" b="1" spc="-5" dirty="0" err="1" smtClean="0">
                <a:solidFill>
                  <a:srgbClr val="FFFFFF"/>
                </a:solidFill>
                <a:latin typeface="Courier New"/>
                <a:cs typeface="Courier New"/>
              </a:rPr>
              <a:t>rint</a:t>
            </a:r>
            <a:r>
              <a:rPr lang="en-US"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(</a:t>
            </a:r>
            <a:r>
              <a:rPr sz="2000" b="1" spc="-10" dirty="0" err="1" smtClean="0">
                <a:solidFill>
                  <a:srgbClr val="FFFFFF"/>
                </a:solidFill>
                <a:latin typeface="Courier New"/>
                <a:cs typeface="Courier New"/>
              </a:rPr>
              <a:t>count,</a:t>
            </a:r>
            <a:r>
              <a:rPr sz="2000" b="1" dirty="0" err="1" smtClean="0">
                <a:solidFill>
                  <a:srgbClr val="FFFFFF"/>
                </a:solidFill>
                <a:latin typeface="Courier New"/>
                <a:cs typeface="Courier New"/>
              </a:rPr>
              <a:t>"</a:t>
            </a:r>
            <a:r>
              <a:rPr sz="2000" b="1" spc="-5" dirty="0" err="1" smtClean="0">
                <a:solidFill>
                  <a:srgbClr val="FFFFFF"/>
                </a:solidFill>
                <a:latin typeface="Courier New"/>
                <a:cs typeface="Courier New"/>
              </a:rPr>
              <a:t>is</a:t>
            </a:r>
            <a:r>
              <a:rPr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 not </a:t>
            </a:r>
            <a:r>
              <a:rPr sz="2000" b="1" spc="-5" dirty="0">
                <a:solidFill>
                  <a:srgbClr val="FFFFFF"/>
                </a:solidFill>
                <a:latin typeface="Courier New"/>
                <a:cs typeface="Courier New"/>
              </a:rPr>
              <a:t>less </a:t>
            </a:r>
            <a:r>
              <a:rPr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than</a:t>
            </a:r>
            <a:r>
              <a:rPr lang="en-US"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5"</a:t>
            </a:r>
            <a:r>
              <a:rPr lang="en-US" sz="2000" b="1" spc="-5" dirty="0" smtClean="0">
                <a:solidFill>
                  <a:srgbClr val="FFFFFF"/>
                </a:solidFill>
                <a:latin typeface="Courier New"/>
                <a:cs typeface="Courier New"/>
              </a:rPr>
              <a:t>)</a:t>
            </a:r>
            <a:endParaRPr sz="2000" dirty="0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79344" y="4825572"/>
          <a:ext cx="3117214" cy="18186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8820"/>
                <a:gridCol w="687070"/>
                <a:gridCol w="763270"/>
                <a:gridCol w="687069"/>
                <a:gridCol w="260985"/>
              </a:tblGrid>
              <a:tr h="296554">
                <a:tc>
                  <a:txBody>
                    <a:bodyPr/>
                    <a:lstStyle/>
                    <a:p>
                      <a:pPr marL="31750">
                        <a:lnSpc>
                          <a:spcPts val="207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2000" b="1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is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7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less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7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than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ts val="207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5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304787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2000" b="1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is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3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less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3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than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ts val="213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5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304787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2000" b="1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is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3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less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3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than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ts val="213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5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304952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2000" b="1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is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3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less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3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than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ts val="213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5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607603">
                <a:tc>
                  <a:txBody>
                    <a:bodyPr/>
                    <a:lstStyle/>
                    <a:p>
                      <a:pPr marL="336550" indent="-305435">
                        <a:lnSpc>
                          <a:spcPts val="2135"/>
                        </a:lnSpc>
                        <a:buAutoNum type="arabicPlain" startAt="4"/>
                        <a:tabLst>
                          <a:tab pos="337185" algn="l"/>
                        </a:tabLst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is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36550" indent="-305435">
                        <a:lnSpc>
                          <a:spcPct val="100000"/>
                        </a:lnSpc>
                        <a:spcBef>
                          <a:spcPts val="45"/>
                        </a:spcBef>
                        <a:buAutoNum type="arabicPlain" startAt="4"/>
                        <a:tabLst>
                          <a:tab pos="337185" algn="l"/>
                        </a:tabLst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is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13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less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not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ts val="213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than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less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ts val="213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5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than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5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985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-34447" y="964646"/>
            <a:ext cx="2168048" cy="2080698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 marR="5080" indent="454025" algn="ctr">
              <a:lnSpc>
                <a:spcPts val="3840"/>
              </a:lnSpc>
              <a:spcBef>
                <a:spcPts val="1025"/>
              </a:spcBef>
            </a:pPr>
            <a:r>
              <a:rPr sz="2800" b="1" spc="-25" dirty="0">
                <a:latin typeface="Carlito"/>
                <a:cs typeface="Carlito"/>
              </a:rPr>
              <a:t>Program to </a:t>
            </a:r>
            <a:r>
              <a:rPr sz="2800" b="1" spc="-10" dirty="0">
                <a:latin typeface="Carlito"/>
                <a:cs typeface="Carlito"/>
              </a:rPr>
              <a:t>print  </a:t>
            </a:r>
            <a:r>
              <a:rPr lang="en-US" sz="2800" b="1" spc="-10" dirty="0" smtClean="0">
                <a:latin typeface="Carlito"/>
                <a:cs typeface="Carlito"/>
              </a:rPr>
              <a:t>    </a:t>
            </a:r>
            <a:r>
              <a:rPr sz="2800" b="1" spc="-5" dirty="0" smtClean="0">
                <a:latin typeface="Carlito"/>
                <a:cs typeface="Carlito"/>
              </a:rPr>
              <a:t>series </a:t>
            </a:r>
            <a:r>
              <a:rPr sz="2800" b="1" spc="-10" dirty="0">
                <a:latin typeface="Carlito"/>
                <a:cs typeface="Carlito"/>
              </a:rPr>
              <a:t>with else</a:t>
            </a:r>
            <a:r>
              <a:rPr sz="2800" b="1" dirty="0">
                <a:latin typeface="Carlito"/>
                <a:cs typeface="Carlito"/>
              </a:rPr>
              <a:t> </a:t>
            </a:r>
            <a:r>
              <a:rPr sz="2800" b="1" spc="-45" dirty="0">
                <a:latin typeface="Carlito"/>
                <a:cs typeface="Carlito"/>
              </a:rPr>
              <a:t>state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899593" y="457200"/>
            <a:ext cx="1720407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</a:rPr>
              <a:t>E</a:t>
            </a:r>
            <a:r>
              <a:rPr sz="3200" spc="-45" dirty="0">
                <a:solidFill>
                  <a:srgbClr val="FFFFFF"/>
                </a:solidFill>
              </a:rPr>
              <a:t>x</a:t>
            </a:r>
            <a:r>
              <a:rPr sz="3200" dirty="0">
                <a:solidFill>
                  <a:srgbClr val="FFFFFF"/>
                </a:solidFill>
              </a:rPr>
              <a:t>ample</a:t>
            </a:r>
            <a:endParaRPr sz="3200" dirty="0"/>
          </a:p>
        </p:txBody>
      </p:sp>
      <p:sp>
        <p:nvSpPr>
          <p:cNvPr id="10" name="object 10"/>
          <p:cNvSpPr txBox="1"/>
          <p:nvPr/>
        </p:nvSpPr>
        <p:spPr>
          <a:xfrm>
            <a:off x="3571494" y="4252976"/>
            <a:ext cx="1533906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Carlito"/>
                <a:cs typeface="Carlito"/>
              </a:rPr>
              <a:t>Output</a:t>
            </a:r>
            <a:endParaRPr sz="3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1" y="761"/>
            <a:ext cx="9143999" cy="6858000"/>
            <a:chOff x="761" y="761"/>
            <a:chExt cx="9143999" cy="6858000"/>
          </a:xfrm>
        </p:grpSpPr>
        <p:sp>
          <p:nvSpPr>
            <p:cNvPr id="3" name="object 3"/>
            <p:cNvSpPr/>
            <p:nvPr/>
          </p:nvSpPr>
          <p:spPr>
            <a:xfrm>
              <a:off x="761" y="761"/>
              <a:ext cx="5409437" cy="6858000"/>
            </a:xfrm>
            <a:custGeom>
              <a:avLst/>
              <a:gdLst/>
              <a:ahLst/>
              <a:cxnLst/>
              <a:rect l="l" t="t" r="r" b="b"/>
              <a:pathLst>
                <a:path w="4876800" h="6858000">
                  <a:moveTo>
                    <a:pt x="4876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876800" y="6858000"/>
                  </a:lnTo>
                  <a:lnTo>
                    <a:pt x="4876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762" y="761"/>
              <a:ext cx="5409438" cy="6858000"/>
            </a:xfrm>
            <a:custGeom>
              <a:avLst/>
              <a:gdLst/>
              <a:ahLst/>
              <a:cxnLst/>
              <a:rect l="l" t="t" r="r" b="b"/>
              <a:pathLst>
                <a:path w="4876800" h="6858000">
                  <a:moveTo>
                    <a:pt x="0" y="6858000"/>
                  </a:moveTo>
                  <a:lnTo>
                    <a:pt x="4876800" y="6858000"/>
                  </a:lnTo>
                  <a:lnTo>
                    <a:pt x="48768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42227" y="915161"/>
              <a:ext cx="3502533" cy="5943600"/>
            </a:xfrm>
            <a:custGeom>
              <a:avLst/>
              <a:gdLst/>
              <a:ahLst/>
              <a:cxnLst/>
              <a:rect l="l" t="t" r="r" b="b"/>
              <a:pathLst>
                <a:path w="4267200" h="5943600">
                  <a:moveTo>
                    <a:pt x="4267199" y="0"/>
                  </a:moveTo>
                  <a:lnTo>
                    <a:pt x="0" y="0"/>
                  </a:lnTo>
                  <a:lnTo>
                    <a:pt x="0" y="5943600"/>
                  </a:lnTo>
                  <a:lnTo>
                    <a:pt x="4267199" y="5943600"/>
                  </a:lnTo>
                  <a:lnTo>
                    <a:pt x="4267199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10199" y="915161"/>
              <a:ext cx="3734561" cy="5943600"/>
            </a:xfrm>
            <a:custGeom>
              <a:avLst/>
              <a:gdLst/>
              <a:ahLst/>
              <a:cxnLst/>
              <a:rect l="l" t="t" r="r" b="b"/>
              <a:pathLst>
                <a:path w="4267200" h="5943600">
                  <a:moveTo>
                    <a:pt x="0" y="5943600"/>
                  </a:moveTo>
                  <a:lnTo>
                    <a:pt x="4267199" y="5943600"/>
                  </a:lnTo>
                  <a:lnTo>
                    <a:pt x="4267199" y="0"/>
                  </a:lnTo>
                  <a:lnTo>
                    <a:pt x="0" y="0"/>
                  </a:lnTo>
                  <a:lnTo>
                    <a:pt x="0" y="59436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3415" y="413809"/>
            <a:ext cx="5388811" cy="39029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Carlito"/>
                <a:cs typeface="Carlito"/>
              </a:rPr>
              <a:t>Find </a:t>
            </a:r>
            <a:r>
              <a:rPr sz="3200" b="1" spc="-40" dirty="0">
                <a:latin typeface="Carlito"/>
                <a:cs typeface="Carlito"/>
              </a:rPr>
              <a:t>Even </a:t>
            </a:r>
            <a:r>
              <a:rPr sz="3200" b="1" spc="-5" dirty="0">
                <a:latin typeface="Carlito"/>
                <a:cs typeface="Carlito"/>
              </a:rPr>
              <a:t>odd</a:t>
            </a:r>
            <a:r>
              <a:rPr sz="3200" b="1" spc="15" dirty="0">
                <a:latin typeface="Carlito"/>
                <a:cs typeface="Carlito"/>
              </a:rPr>
              <a:t> </a:t>
            </a:r>
            <a:r>
              <a:rPr sz="3200" b="1" spc="-5" dirty="0">
                <a:latin typeface="Carlito"/>
                <a:cs typeface="Carlito"/>
              </a:rPr>
              <a:t>no</a:t>
            </a:r>
            <a:endParaRPr sz="3200" dirty="0">
              <a:latin typeface="Carlito"/>
              <a:cs typeface="Carlito"/>
            </a:endParaRPr>
          </a:p>
          <a:p>
            <a:pPr marL="118745">
              <a:lnSpc>
                <a:spcPct val="100000"/>
              </a:lnSpc>
              <a:spcBef>
                <a:spcPts val="2500"/>
              </a:spcBef>
            </a:pPr>
            <a:r>
              <a:rPr sz="2000" b="1" spc="-5" dirty="0" smtClean="0">
                <a:latin typeface="Carlito"/>
                <a:cs typeface="Carlito"/>
              </a:rPr>
              <a:t>n </a:t>
            </a:r>
            <a:r>
              <a:rPr sz="2000" b="1" dirty="0">
                <a:latin typeface="Carlito"/>
                <a:cs typeface="Carlito"/>
              </a:rPr>
              <a:t>=</a:t>
            </a:r>
            <a:r>
              <a:rPr sz="2000" b="1" spc="-10" dirty="0">
                <a:latin typeface="Carlito"/>
                <a:cs typeface="Carlito"/>
              </a:rPr>
              <a:t> </a:t>
            </a:r>
            <a:r>
              <a:rPr sz="2000" b="1" dirty="0">
                <a:latin typeface="Carlito"/>
                <a:cs typeface="Carlito"/>
              </a:rPr>
              <a:t>2</a:t>
            </a:r>
            <a:endParaRPr sz="2000" dirty="0">
              <a:latin typeface="Carlito"/>
              <a:cs typeface="Carlito"/>
            </a:endParaRPr>
          </a:p>
          <a:p>
            <a:pPr marL="391160" marR="927100" indent="-273050">
              <a:lnSpc>
                <a:spcPct val="100000"/>
              </a:lnSpc>
            </a:pPr>
            <a:r>
              <a:rPr sz="2000" b="1" spc="-5" dirty="0">
                <a:latin typeface="Carlito"/>
                <a:cs typeface="Carlito"/>
              </a:rPr>
              <a:t>while </a:t>
            </a:r>
            <a:r>
              <a:rPr sz="2000" b="1" spc="-5" dirty="0" smtClean="0">
                <a:latin typeface="Carlito"/>
                <a:cs typeface="Carlito"/>
              </a:rPr>
              <a:t>n</a:t>
            </a:r>
            <a:r>
              <a:rPr sz="2000" b="1" dirty="0" smtClean="0">
                <a:latin typeface="Carlito"/>
                <a:cs typeface="Carlito"/>
              </a:rPr>
              <a:t>&lt;</a:t>
            </a:r>
            <a:r>
              <a:rPr sz="2000" b="1" spc="-5" dirty="0" smtClean="0">
                <a:latin typeface="Carlito"/>
                <a:cs typeface="Carlito"/>
              </a:rPr>
              <a:t>10 </a:t>
            </a:r>
            <a:r>
              <a:rPr sz="2000" b="1" dirty="0">
                <a:latin typeface="Carlito"/>
                <a:cs typeface="Carlito"/>
              </a:rPr>
              <a:t>:  </a:t>
            </a:r>
            <a:endParaRPr lang="en-US" sz="2000" b="1" dirty="0" smtClean="0">
              <a:latin typeface="Carlito"/>
              <a:cs typeface="Carlito"/>
            </a:endParaRPr>
          </a:p>
          <a:p>
            <a:pPr marL="391160" marR="927100" indent="-273050">
              <a:lnSpc>
                <a:spcPct val="100000"/>
              </a:lnSpc>
            </a:pPr>
            <a:r>
              <a:rPr sz="2000" b="1" dirty="0" smtClean="0">
                <a:solidFill>
                  <a:srgbClr val="FF0000"/>
                </a:solidFill>
                <a:latin typeface="Carlito"/>
                <a:cs typeface="Carlito"/>
              </a:rPr>
              <a:t># </a:t>
            </a:r>
            <a:r>
              <a:rPr sz="2000" b="1" dirty="0">
                <a:solidFill>
                  <a:srgbClr val="FF0000"/>
                </a:solidFill>
                <a:latin typeface="Carlito"/>
                <a:cs typeface="Carlito"/>
              </a:rPr>
              <a:t>Find the mod of</a:t>
            </a:r>
            <a:r>
              <a:rPr sz="2000" b="1" spc="-13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rlito"/>
                <a:cs typeface="Carlito"/>
              </a:rPr>
              <a:t>2  </a:t>
            </a:r>
            <a:endParaRPr lang="en-US" sz="2000" b="1" dirty="0" smtClean="0">
              <a:solidFill>
                <a:srgbClr val="FF0000"/>
              </a:solidFill>
              <a:latin typeface="Carlito"/>
              <a:cs typeface="Carlito"/>
            </a:endParaRPr>
          </a:p>
          <a:p>
            <a:pPr marL="391160" marR="927100" indent="-273050">
              <a:lnSpc>
                <a:spcPct val="100000"/>
              </a:lnSpc>
            </a:pPr>
            <a:r>
              <a:rPr lang="en-US" sz="2000" b="1" dirty="0" smtClean="0">
                <a:latin typeface="Carlito"/>
                <a:cs typeface="Carlito"/>
              </a:rPr>
              <a:t>   </a:t>
            </a:r>
            <a:r>
              <a:rPr sz="2000" b="1" dirty="0" smtClean="0">
                <a:latin typeface="Carlito"/>
                <a:cs typeface="Carlito"/>
              </a:rPr>
              <a:t>if </a:t>
            </a:r>
            <a:r>
              <a:rPr sz="2000" b="1" spc="-5" dirty="0" smtClean="0">
                <a:latin typeface="Carlito"/>
                <a:cs typeface="Carlito"/>
              </a:rPr>
              <a:t>n%2 </a:t>
            </a:r>
            <a:r>
              <a:rPr sz="2000" b="1" dirty="0">
                <a:latin typeface="Carlito"/>
                <a:cs typeface="Carlito"/>
              </a:rPr>
              <a:t>==</a:t>
            </a:r>
            <a:r>
              <a:rPr sz="2000" b="1" spc="-55" dirty="0">
                <a:latin typeface="Carlito"/>
                <a:cs typeface="Carlito"/>
              </a:rPr>
              <a:t> </a:t>
            </a:r>
            <a:r>
              <a:rPr sz="2000" b="1" dirty="0" smtClean="0">
                <a:latin typeface="Carlito"/>
                <a:cs typeface="Carlito"/>
              </a:rPr>
              <a:t>0:</a:t>
            </a:r>
            <a:endParaRPr lang="en-US" sz="2000" dirty="0">
              <a:latin typeface="Carlito"/>
              <a:cs typeface="Carlito"/>
            </a:endParaRPr>
          </a:p>
          <a:p>
            <a:pPr marL="391160" marR="927100" indent="-273050">
              <a:lnSpc>
                <a:spcPct val="100000"/>
              </a:lnSpc>
            </a:pPr>
            <a:r>
              <a:rPr lang="en-US" sz="2000" b="1" spc="-10" dirty="0" smtClean="0">
                <a:latin typeface="Carlito"/>
                <a:cs typeface="Carlito"/>
              </a:rPr>
              <a:t>      </a:t>
            </a:r>
            <a:r>
              <a:rPr sz="2000" b="1" spc="-10" dirty="0" smtClean="0">
                <a:latin typeface="Carlito"/>
                <a:cs typeface="Carlito"/>
              </a:rPr>
              <a:t>print</a:t>
            </a:r>
            <a:r>
              <a:rPr sz="2000" b="1" spc="-10" dirty="0">
                <a:latin typeface="Carlito"/>
                <a:cs typeface="Carlito"/>
              </a:rPr>
              <a:t>("The </a:t>
            </a:r>
            <a:r>
              <a:rPr sz="2000" b="1" spc="-5" dirty="0" smtClean="0">
                <a:latin typeface="Carlito"/>
                <a:cs typeface="Carlito"/>
              </a:rPr>
              <a:t>n</a:t>
            </a:r>
            <a:r>
              <a:rPr lang="en-US" sz="2000" b="1" spc="-5" dirty="0" smtClean="0">
                <a:latin typeface="Carlito"/>
                <a:cs typeface="Carlito"/>
              </a:rPr>
              <a:t>o.</a:t>
            </a:r>
            <a:r>
              <a:rPr sz="2000" b="1" spc="-5" dirty="0" smtClean="0">
                <a:latin typeface="Carlito"/>
                <a:cs typeface="Carlito"/>
              </a:rPr>
              <a:t>"+</a:t>
            </a:r>
            <a:r>
              <a:rPr sz="2000" b="1" spc="-5" dirty="0" err="1" smtClean="0">
                <a:latin typeface="Carlito"/>
                <a:cs typeface="Carlito"/>
              </a:rPr>
              <a:t>str</a:t>
            </a:r>
            <a:r>
              <a:rPr sz="2000" b="1" spc="-5" dirty="0" smtClean="0">
                <a:latin typeface="Carlito"/>
                <a:cs typeface="Carlito"/>
              </a:rPr>
              <a:t>(n)+"</a:t>
            </a:r>
            <a:r>
              <a:rPr sz="2000" b="1" dirty="0" smtClean="0">
                <a:latin typeface="Carlito"/>
                <a:cs typeface="Carlito"/>
              </a:rPr>
              <a:t>is</a:t>
            </a:r>
            <a:r>
              <a:rPr lang="en-US" sz="2000" b="1" dirty="0">
                <a:latin typeface="Carlito"/>
                <a:cs typeface="Carlito"/>
              </a:rPr>
              <a:t> </a:t>
            </a:r>
            <a:r>
              <a:rPr sz="2000" b="1" spc="-10" dirty="0" smtClean="0">
                <a:latin typeface="Carlito"/>
                <a:cs typeface="Carlito"/>
              </a:rPr>
              <a:t>even")</a:t>
            </a:r>
            <a:endParaRPr lang="en-US"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US" sz="2000" dirty="0" smtClean="0">
                <a:latin typeface="Carlito"/>
                <a:cs typeface="Carlito"/>
              </a:rPr>
              <a:t>     </a:t>
            </a:r>
            <a:r>
              <a:rPr lang="en-US" sz="2000" b="1" spc="-10" dirty="0" smtClean="0">
                <a:latin typeface="Carlito"/>
                <a:cs typeface="Carlito"/>
              </a:rPr>
              <a:t>else:</a:t>
            </a:r>
            <a:endParaRPr lang="en-US" sz="2000" b="1" spc="-1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US" sz="2000" b="1" spc="-10" dirty="0" smtClean="0">
                <a:latin typeface="Carlito"/>
                <a:cs typeface="Carlito"/>
              </a:rPr>
              <a:t>        </a:t>
            </a:r>
            <a:r>
              <a:rPr sz="2000" b="1" spc="-10" dirty="0" smtClean="0">
                <a:latin typeface="Carlito"/>
                <a:cs typeface="Carlito"/>
              </a:rPr>
              <a:t>print</a:t>
            </a:r>
            <a:r>
              <a:rPr sz="2000" b="1" spc="-10" dirty="0">
                <a:latin typeface="Carlito"/>
                <a:cs typeface="Carlito"/>
              </a:rPr>
              <a:t>("The </a:t>
            </a:r>
            <a:r>
              <a:rPr sz="2000" b="1" spc="-5" dirty="0" smtClean="0">
                <a:latin typeface="Carlito"/>
                <a:cs typeface="Carlito"/>
              </a:rPr>
              <a:t>n</a:t>
            </a:r>
            <a:r>
              <a:rPr lang="en-US" sz="2000" b="1" spc="-5" dirty="0" smtClean="0">
                <a:latin typeface="Carlito"/>
                <a:cs typeface="Carlito"/>
              </a:rPr>
              <a:t>o.</a:t>
            </a:r>
            <a:r>
              <a:rPr sz="2000" b="1" spc="-5" dirty="0" smtClean="0">
                <a:latin typeface="Carlito"/>
                <a:cs typeface="Carlito"/>
              </a:rPr>
              <a:t>"+</a:t>
            </a:r>
            <a:r>
              <a:rPr sz="2000" b="1" spc="-5" dirty="0" err="1" smtClean="0">
                <a:latin typeface="Carlito"/>
                <a:cs typeface="Carlito"/>
              </a:rPr>
              <a:t>str</a:t>
            </a:r>
            <a:r>
              <a:rPr sz="2000" b="1" spc="-5" dirty="0" smtClean="0">
                <a:latin typeface="Carlito"/>
                <a:cs typeface="Carlito"/>
              </a:rPr>
              <a:t>(n)+" </a:t>
            </a:r>
            <a:r>
              <a:rPr sz="2000" b="1" dirty="0">
                <a:latin typeface="Carlito"/>
                <a:cs typeface="Carlito"/>
              </a:rPr>
              <a:t>is</a:t>
            </a:r>
            <a:r>
              <a:rPr sz="2000" b="1" spc="-65" dirty="0">
                <a:latin typeface="Carlito"/>
                <a:cs typeface="Carlito"/>
              </a:rPr>
              <a:t> </a:t>
            </a:r>
            <a:r>
              <a:rPr sz="2000" b="1" spc="-5" dirty="0">
                <a:latin typeface="Carlito"/>
                <a:cs typeface="Carlito"/>
              </a:rPr>
              <a:t>odd</a:t>
            </a:r>
            <a:r>
              <a:rPr sz="2000" b="1" spc="-5" dirty="0" smtClean="0">
                <a:latin typeface="Carlito"/>
                <a:cs typeface="Carlito"/>
              </a:rPr>
              <a:t>")</a:t>
            </a:r>
            <a:endParaRPr lang="en-US" sz="2000" b="1" spc="-5" dirty="0" smtClean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IN" sz="2000" b="1" dirty="0" smtClean="0">
                <a:solidFill>
                  <a:srgbClr val="FF0000"/>
                </a:solidFill>
                <a:latin typeface="Carlito"/>
                <a:cs typeface="Carlito"/>
              </a:rPr>
              <a:t># </a:t>
            </a:r>
            <a:r>
              <a:rPr lang="en-IN" sz="2000" b="1" spc="-10" dirty="0" smtClean="0">
                <a:solidFill>
                  <a:srgbClr val="FF0000"/>
                </a:solidFill>
                <a:latin typeface="Carlito"/>
                <a:cs typeface="Carlito"/>
              </a:rPr>
              <a:t>Increment </a:t>
            </a:r>
            <a:r>
              <a:rPr lang="en-IN" sz="2000" b="1" spc="-5" dirty="0" smtClean="0">
                <a:solidFill>
                  <a:srgbClr val="FF0000"/>
                </a:solidFill>
                <a:latin typeface="Carlito"/>
                <a:cs typeface="Carlito"/>
              </a:rPr>
              <a:t>`n` </a:t>
            </a:r>
            <a:r>
              <a:rPr lang="en-IN" sz="2000" b="1" spc="-10" dirty="0" smtClean="0">
                <a:solidFill>
                  <a:srgbClr val="FF0000"/>
                </a:solidFill>
                <a:latin typeface="Carlito"/>
                <a:cs typeface="Carlito"/>
              </a:rPr>
              <a:t>by </a:t>
            </a:r>
            <a:r>
              <a:rPr lang="en-IN" sz="2000" b="1" dirty="0" smtClean="0">
                <a:solidFill>
                  <a:srgbClr val="FF0000"/>
                </a:solidFill>
                <a:latin typeface="Carlito"/>
                <a:cs typeface="Carlito"/>
              </a:rPr>
              <a:t>1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US" sz="2000" b="1" spc="-5" dirty="0" smtClean="0">
                <a:latin typeface="Carlito"/>
                <a:cs typeface="Carlito"/>
              </a:rPr>
              <a:t>     n=n+1</a:t>
            </a:r>
            <a:endParaRPr lang="en-IN" sz="2000" b="1" dirty="0" smtClean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sz="2000" b="1" dirty="0" smtClean="0">
              <a:solidFill>
                <a:srgbClr val="FF0000"/>
              </a:solidFill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228" y="1004061"/>
            <a:ext cx="2730500" cy="2967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n</a:t>
            </a:r>
            <a:r>
              <a:rPr lang="en-US"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o.</a:t>
            </a: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2 is</a:t>
            </a:r>
            <a:r>
              <a:rPr sz="2400" b="1" spc="-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spc="-15" dirty="0" smtClean="0">
                <a:solidFill>
                  <a:srgbClr val="FFFFFF"/>
                </a:solidFill>
                <a:latin typeface="Carlito"/>
                <a:cs typeface="Carlito"/>
              </a:rPr>
              <a:t>even</a:t>
            </a:r>
            <a:endParaRPr sz="23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n</a:t>
            </a:r>
            <a:r>
              <a:rPr lang="en-US"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o.</a:t>
            </a: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3 is</a:t>
            </a:r>
            <a:r>
              <a:rPr sz="2400" b="1" spc="-1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 smtClean="0">
                <a:solidFill>
                  <a:srgbClr val="FFFFFF"/>
                </a:solidFill>
                <a:latin typeface="Carlito"/>
                <a:cs typeface="Carlito"/>
              </a:rPr>
              <a:t>odd</a:t>
            </a:r>
            <a:endParaRPr lang="en-US" sz="2400" b="1" dirty="0" smtClean="0">
              <a:solidFill>
                <a:srgbClr val="FFFFFF"/>
              </a:solidFill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The n</a:t>
            </a:r>
            <a:r>
              <a:rPr lang="en-US"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o.</a:t>
            </a: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4 is</a:t>
            </a:r>
            <a:r>
              <a:rPr sz="2400" b="1" spc="-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even 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n</a:t>
            </a:r>
            <a:r>
              <a:rPr lang="en-US"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o.</a:t>
            </a: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5 is odd 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n</a:t>
            </a:r>
            <a:r>
              <a:rPr lang="en-US"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o.</a:t>
            </a: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6 is</a:t>
            </a:r>
            <a:r>
              <a:rPr sz="2400" b="1" spc="-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even 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n</a:t>
            </a:r>
            <a:r>
              <a:rPr lang="en-US"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o.</a:t>
            </a: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7 is odd 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n</a:t>
            </a:r>
            <a:r>
              <a:rPr lang="en-US"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o.</a:t>
            </a: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8 is</a:t>
            </a:r>
            <a:r>
              <a:rPr sz="2400" b="1" spc="-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spc="-15" dirty="0">
                <a:solidFill>
                  <a:srgbClr val="FFFFFF"/>
                </a:solidFill>
                <a:latin typeface="Carlito"/>
                <a:cs typeface="Carlito"/>
              </a:rPr>
              <a:t>even  </a:t>
            </a:r>
            <a:r>
              <a:rPr sz="2400" b="1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lang="en-US"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no.</a:t>
            </a:r>
            <a:r>
              <a:rPr sz="2400" b="1" spc="-5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9 is</a:t>
            </a:r>
            <a:r>
              <a:rPr sz="2400" b="1" spc="-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rlito"/>
                <a:cs typeface="Carlito"/>
              </a:rPr>
              <a:t>odd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328028" y="108331"/>
            <a:ext cx="1596772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Output</a:t>
            </a:r>
            <a:endParaRPr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752600"/>
            <a:ext cx="4496562" cy="5486400"/>
            <a:chOff x="0" y="1752600"/>
            <a:chExt cx="4496562" cy="5486400"/>
          </a:xfrm>
        </p:grpSpPr>
        <p:sp>
          <p:nvSpPr>
            <p:cNvPr id="3" name="object 3"/>
            <p:cNvSpPr/>
            <p:nvPr/>
          </p:nvSpPr>
          <p:spPr>
            <a:xfrm>
              <a:off x="0" y="1759624"/>
              <a:ext cx="4495800" cy="5479376"/>
            </a:xfrm>
            <a:custGeom>
              <a:avLst/>
              <a:gdLst/>
              <a:ahLst/>
              <a:cxnLst/>
              <a:rect l="l" t="t" r="r" b="b"/>
              <a:pathLst>
                <a:path w="4495800" h="3657600">
                  <a:moveTo>
                    <a:pt x="4495800" y="0"/>
                  </a:moveTo>
                  <a:lnTo>
                    <a:pt x="0" y="0"/>
                  </a:lnTo>
                  <a:lnTo>
                    <a:pt x="0" y="3657600"/>
                  </a:lnTo>
                  <a:lnTo>
                    <a:pt x="4495800" y="3657600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2" y="1752600"/>
              <a:ext cx="4495800" cy="5106161"/>
            </a:xfrm>
            <a:custGeom>
              <a:avLst/>
              <a:gdLst/>
              <a:ahLst/>
              <a:cxnLst/>
              <a:rect l="l" t="t" r="r" b="b"/>
              <a:pathLst>
                <a:path w="4495800" h="3657600">
                  <a:moveTo>
                    <a:pt x="0" y="3657600"/>
                  </a:moveTo>
                  <a:lnTo>
                    <a:pt x="4495800" y="3657600"/>
                  </a:lnTo>
                  <a:lnTo>
                    <a:pt x="4495800" y="0"/>
                  </a:lnTo>
                  <a:lnTo>
                    <a:pt x="0" y="0"/>
                  </a:lnTo>
                  <a:lnTo>
                    <a:pt x="0" y="36576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788408" y="3569207"/>
            <a:ext cx="4369435" cy="3302635"/>
            <a:chOff x="4788408" y="3569207"/>
            <a:chExt cx="4369435" cy="3302635"/>
          </a:xfrm>
        </p:grpSpPr>
        <p:sp>
          <p:nvSpPr>
            <p:cNvPr id="6" name="object 6"/>
            <p:cNvSpPr/>
            <p:nvPr/>
          </p:nvSpPr>
          <p:spPr>
            <a:xfrm>
              <a:off x="4801362" y="3582161"/>
              <a:ext cx="4343400" cy="3276600"/>
            </a:xfrm>
            <a:custGeom>
              <a:avLst/>
              <a:gdLst/>
              <a:ahLst/>
              <a:cxnLst/>
              <a:rect l="l" t="t" r="r" b="b"/>
              <a:pathLst>
                <a:path w="4343400" h="3276600">
                  <a:moveTo>
                    <a:pt x="4343399" y="0"/>
                  </a:moveTo>
                  <a:lnTo>
                    <a:pt x="0" y="0"/>
                  </a:lnTo>
                  <a:lnTo>
                    <a:pt x="0" y="3276600"/>
                  </a:lnTo>
                  <a:lnTo>
                    <a:pt x="4343399" y="3276600"/>
                  </a:lnTo>
                  <a:lnTo>
                    <a:pt x="43433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01362" y="3582161"/>
              <a:ext cx="4343400" cy="3276600"/>
            </a:xfrm>
            <a:custGeom>
              <a:avLst/>
              <a:gdLst/>
              <a:ahLst/>
              <a:cxnLst/>
              <a:rect l="l" t="t" r="r" b="b"/>
              <a:pathLst>
                <a:path w="4343400" h="3276600">
                  <a:moveTo>
                    <a:pt x="0" y="3276600"/>
                  </a:moveTo>
                  <a:lnTo>
                    <a:pt x="4343399" y="3276600"/>
                  </a:lnTo>
                  <a:lnTo>
                    <a:pt x="4343399" y="0"/>
                  </a:lnTo>
                  <a:lnTo>
                    <a:pt x="0" y="0"/>
                  </a:lnTo>
                  <a:lnTo>
                    <a:pt x="0" y="32766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483608" y="0"/>
            <a:ext cx="4674235" cy="3226435"/>
            <a:chOff x="4483608" y="0"/>
            <a:chExt cx="4674235" cy="3226435"/>
          </a:xfrm>
        </p:grpSpPr>
        <p:sp>
          <p:nvSpPr>
            <p:cNvPr id="9" name="object 9"/>
            <p:cNvSpPr/>
            <p:nvPr/>
          </p:nvSpPr>
          <p:spPr>
            <a:xfrm>
              <a:off x="4496562" y="762"/>
              <a:ext cx="4648200" cy="3200400"/>
            </a:xfrm>
            <a:custGeom>
              <a:avLst/>
              <a:gdLst/>
              <a:ahLst/>
              <a:cxnLst/>
              <a:rect l="l" t="t" r="r" b="b"/>
              <a:pathLst>
                <a:path w="4648200" h="3200400">
                  <a:moveTo>
                    <a:pt x="4648199" y="0"/>
                  </a:moveTo>
                  <a:lnTo>
                    <a:pt x="0" y="0"/>
                  </a:lnTo>
                  <a:lnTo>
                    <a:pt x="0" y="3200400"/>
                  </a:lnTo>
                  <a:lnTo>
                    <a:pt x="4648199" y="3200400"/>
                  </a:lnTo>
                  <a:lnTo>
                    <a:pt x="4648199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96562" y="762"/>
              <a:ext cx="4648200" cy="3200400"/>
            </a:xfrm>
            <a:custGeom>
              <a:avLst/>
              <a:gdLst/>
              <a:ahLst/>
              <a:cxnLst/>
              <a:rect l="l" t="t" r="r" b="b"/>
              <a:pathLst>
                <a:path w="4648200" h="3200400">
                  <a:moveTo>
                    <a:pt x="0" y="3200400"/>
                  </a:moveTo>
                  <a:lnTo>
                    <a:pt x="4648199" y="3200400"/>
                  </a:lnTo>
                  <a:lnTo>
                    <a:pt x="4648199" y="0"/>
                  </a:lnTo>
                  <a:lnTo>
                    <a:pt x="0" y="0"/>
                  </a:lnTo>
                  <a:lnTo>
                    <a:pt x="0" y="32004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51482" y="609600"/>
            <a:ext cx="3235972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Nested</a:t>
            </a:r>
            <a:r>
              <a:rPr spc="-60" dirty="0"/>
              <a:t> </a:t>
            </a:r>
            <a:r>
              <a:rPr spc="-5" dirty="0"/>
              <a:t>loop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050660" y="3662155"/>
            <a:ext cx="1950340" cy="2981325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3200" b="1" dirty="0">
                <a:latin typeface="Carlito"/>
                <a:cs typeface="Carlito"/>
              </a:rPr>
              <a:t>prime</a:t>
            </a:r>
            <a:r>
              <a:rPr sz="3200" b="1" spc="-70" dirty="0">
                <a:latin typeface="Carlito"/>
                <a:cs typeface="Carlito"/>
              </a:rPr>
              <a:t> </a:t>
            </a:r>
            <a:r>
              <a:rPr sz="3200" b="1" spc="-10" dirty="0">
                <a:latin typeface="Carlito"/>
                <a:cs typeface="Carlito"/>
              </a:rPr>
              <a:t>no</a:t>
            </a:r>
            <a:endParaRPr sz="3200" dirty="0">
              <a:latin typeface="Carlito"/>
              <a:cs typeface="Carlito"/>
            </a:endParaRPr>
          </a:p>
          <a:p>
            <a:pPr marL="594360">
              <a:lnSpc>
                <a:spcPct val="100000"/>
              </a:lnSpc>
              <a:spcBef>
                <a:spcPts val="919"/>
              </a:spcBef>
            </a:pPr>
            <a:r>
              <a:rPr sz="2400" b="1" dirty="0">
                <a:latin typeface="Carlito"/>
                <a:cs typeface="Carlito"/>
              </a:rPr>
              <a:t>2</a:t>
            </a:r>
            <a:endParaRPr sz="2400" dirty="0">
              <a:latin typeface="Carlito"/>
              <a:cs typeface="Carlito"/>
            </a:endParaRPr>
          </a:p>
          <a:p>
            <a:pPr marL="594360">
              <a:lnSpc>
                <a:spcPct val="100000"/>
              </a:lnSpc>
            </a:pPr>
            <a:r>
              <a:rPr sz="2400" b="1" dirty="0">
                <a:latin typeface="Carlito"/>
                <a:cs typeface="Carlito"/>
              </a:rPr>
              <a:t>3</a:t>
            </a:r>
            <a:endParaRPr sz="2400" dirty="0">
              <a:latin typeface="Carlito"/>
              <a:cs typeface="Carlito"/>
            </a:endParaRPr>
          </a:p>
          <a:p>
            <a:pPr marL="59436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arlito"/>
                <a:cs typeface="Carlito"/>
              </a:rPr>
              <a:t>5</a:t>
            </a:r>
            <a:endParaRPr sz="2400" dirty="0">
              <a:latin typeface="Carlito"/>
              <a:cs typeface="Carlito"/>
            </a:endParaRPr>
          </a:p>
          <a:p>
            <a:pPr marL="594360">
              <a:lnSpc>
                <a:spcPct val="100000"/>
              </a:lnSpc>
            </a:pPr>
            <a:r>
              <a:rPr sz="2400" b="1" dirty="0">
                <a:latin typeface="Carlito"/>
                <a:cs typeface="Carlito"/>
              </a:rPr>
              <a:t>7</a:t>
            </a:r>
            <a:endParaRPr sz="2400" dirty="0">
              <a:latin typeface="Carlito"/>
              <a:cs typeface="Carlito"/>
            </a:endParaRPr>
          </a:p>
          <a:p>
            <a:pPr marL="594360">
              <a:lnSpc>
                <a:spcPct val="100000"/>
              </a:lnSpc>
            </a:pPr>
            <a:r>
              <a:rPr sz="2400" b="1" spc="-5" dirty="0">
                <a:latin typeface="Carlito"/>
                <a:cs typeface="Carlito"/>
              </a:rPr>
              <a:t>11</a:t>
            </a:r>
            <a:endParaRPr sz="2400" dirty="0">
              <a:latin typeface="Carlito"/>
              <a:cs typeface="Carlito"/>
            </a:endParaRPr>
          </a:p>
          <a:p>
            <a:pPr marL="594360">
              <a:lnSpc>
                <a:spcPct val="100000"/>
              </a:lnSpc>
            </a:pPr>
            <a:r>
              <a:rPr sz="2400" b="1" spc="-5" dirty="0">
                <a:latin typeface="Carlito"/>
                <a:cs typeface="Carlito"/>
              </a:rPr>
              <a:t>13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208" y="2232589"/>
            <a:ext cx="4460592" cy="407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rlito"/>
                <a:cs typeface="Carlito"/>
              </a:rPr>
              <a:t>i =</a:t>
            </a:r>
            <a:r>
              <a:rPr sz="2400" b="1" spc="-15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2</a:t>
            </a:r>
            <a:endParaRPr sz="2400" dirty="0">
              <a:latin typeface="Carlito"/>
              <a:cs typeface="Carlito"/>
            </a:endParaRPr>
          </a:p>
          <a:p>
            <a:pPr marL="12700" marR="31115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Carlito"/>
                <a:cs typeface="Carlito"/>
              </a:rPr>
              <a:t>print("prime</a:t>
            </a:r>
            <a:r>
              <a:rPr sz="2400" b="1" spc="-45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no")  </a:t>
            </a:r>
            <a:endParaRPr lang="en-US" sz="2400" b="1" dirty="0" smtClean="0">
              <a:latin typeface="Carlito"/>
              <a:cs typeface="Carlito"/>
            </a:endParaRPr>
          </a:p>
          <a:p>
            <a:pPr marL="12700" marR="311150">
              <a:lnSpc>
                <a:spcPct val="100000"/>
              </a:lnSpc>
              <a:spcBef>
                <a:spcPts val="5"/>
              </a:spcBef>
            </a:pPr>
            <a:r>
              <a:rPr lang="en-IN" sz="2400" b="1" spc="-5" dirty="0">
                <a:latin typeface="Carlito"/>
                <a:cs typeface="Carlito"/>
              </a:rPr>
              <a:t>w</a:t>
            </a:r>
            <a:r>
              <a:rPr sz="2400" b="1" spc="-5" dirty="0" err="1" smtClean="0">
                <a:latin typeface="Carlito"/>
                <a:cs typeface="Carlito"/>
              </a:rPr>
              <a:t>hile</a:t>
            </a:r>
            <a:r>
              <a:rPr lang="en-US" sz="2400" b="1" spc="-5" dirty="0" smtClean="0">
                <a:latin typeface="Carlito"/>
                <a:cs typeface="Carlito"/>
              </a:rPr>
              <a:t> </a:t>
            </a:r>
            <a:r>
              <a:rPr sz="2400" b="1" spc="-5" dirty="0" smtClean="0">
                <a:latin typeface="Carlito"/>
                <a:cs typeface="Carlito"/>
              </a:rPr>
              <a:t>i</a:t>
            </a:r>
            <a:r>
              <a:rPr sz="2400" b="1" dirty="0" smtClean="0">
                <a:latin typeface="Carlito"/>
                <a:cs typeface="Carlito"/>
              </a:rPr>
              <a:t>&lt;</a:t>
            </a:r>
            <a:r>
              <a:rPr sz="2400" b="1" spc="-5" dirty="0" smtClean="0">
                <a:latin typeface="Carlito"/>
                <a:cs typeface="Carlito"/>
              </a:rPr>
              <a:t>15:</a:t>
            </a:r>
            <a:endParaRPr sz="2400" dirty="0">
              <a:latin typeface="Carlito"/>
              <a:cs typeface="Carlito"/>
            </a:endParaRPr>
          </a:p>
          <a:p>
            <a:pPr marL="216535">
              <a:lnSpc>
                <a:spcPct val="100000"/>
              </a:lnSpc>
            </a:pPr>
            <a:r>
              <a:rPr lang="en-US" sz="2400" b="1" dirty="0" smtClean="0">
                <a:latin typeface="Carlito"/>
                <a:cs typeface="Carlito"/>
              </a:rPr>
              <a:t>     </a:t>
            </a:r>
            <a:r>
              <a:rPr sz="2400" b="1" dirty="0" smtClean="0">
                <a:latin typeface="Carlito"/>
                <a:cs typeface="Carlito"/>
              </a:rPr>
              <a:t>j </a:t>
            </a:r>
            <a:r>
              <a:rPr sz="2400" b="1" dirty="0">
                <a:latin typeface="Carlito"/>
                <a:cs typeface="Carlito"/>
              </a:rPr>
              <a:t>=</a:t>
            </a:r>
            <a:r>
              <a:rPr sz="2400" b="1" spc="-20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2</a:t>
            </a:r>
            <a:endParaRPr sz="2400" dirty="0">
              <a:latin typeface="Carlito"/>
              <a:cs typeface="Carlito"/>
            </a:endParaRPr>
          </a:p>
          <a:p>
            <a:pPr marL="216535">
              <a:lnSpc>
                <a:spcPct val="100000"/>
              </a:lnSpc>
            </a:pPr>
            <a:r>
              <a:rPr lang="en-IN" sz="2400" b="1" spc="5" dirty="0" smtClean="0">
                <a:latin typeface="Carlito"/>
                <a:cs typeface="Carlito"/>
              </a:rPr>
              <a:t>    w</a:t>
            </a:r>
            <a:r>
              <a:rPr sz="2400" b="1" spc="5" dirty="0" err="1" smtClean="0">
                <a:latin typeface="Carlito"/>
                <a:cs typeface="Carlito"/>
              </a:rPr>
              <a:t>hile</a:t>
            </a:r>
            <a:r>
              <a:rPr lang="en-US" sz="2400" b="1" spc="5" dirty="0" smtClean="0">
                <a:latin typeface="Carlito"/>
                <a:cs typeface="Carlito"/>
              </a:rPr>
              <a:t> </a:t>
            </a:r>
            <a:r>
              <a:rPr sz="2400" b="1" spc="5" dirty="0" smtClean="0">
                <a:latin typeface="Carlito"/>
                <a:cs typeface="Carlito"/>
              </a:rPr>
              <a:t>j</a:t>
            </a:r>
            <a:r>
              <a:rPr sz="2400" b="1" spc="-5" dirty="0" smtClean="0">
                <a:latin typeface="Carlito"/>
                <a:cs typeface="Carlito"/>
              </a:rPr>
              <a:t>&lt;=(</a:t>
            </a:r>
            <a:r>
              <a:rPr sz="2400" b="1" spc="-5" dirty="0">
                <a:latin typeface="Carlito"/>
                <a:cs typeface="Carlito"/>
              </a:rPr>
              <a:t>i/j</a:t>
            </a:r>
            <a:r>
              <a:rPr sz="2400" b="1" spc="-5" dirty="0" smtClean="0">
                <a:latin typeface="Carlito"/>
                <a:cs typeface="Carlito"/>
              </a:rPr>
              <a:t>):</a:t>
            </a:r>
            <a:endParaRPr sz="2400" dirty="0">
              <a:latin typeface="Carlito"/>
              <a:cs typeface="Carlito"/>
            </a:endParaRPr>
          </a:p>
          <a:p>
            <a:pPr marL="422275" marR="5080">
              <a:lnSpc>
                <a:spcPct val="100000"/>
              </a:lnSpc>
            </a:pPr>
            <a:r>
              <a:rPr lang="en-US" sz="2400" b="1" dirty="0" smtClean="0">
                <a:latin typeface="Carlito"/>
                <a:cs typeface="Carlito"/>
              </a:rPr>
              <a:t>       </a:t>
            </a:r>
            <a:r>
              <a:rPr sz="2400" b="1" dirty="0" smtClean="0">
                <a:latin typeface="Carlito"/>
                <a:cs typeface="Carlito"/>
              </a:rPr>
              <a:t>if </a:t>
            </a:r>
            <a:r>
              <a:rPr sz="2400" b="1" spc="-5" dirty="0">
                <a:latin typeface="Carlito"/>
                <a:cs typeface="Carlito"/>
              </a:rPr>
              <a:t>not(i%j):</a:t>
            </a:r>
            <a:r>
              <a:rPr sz="2400" b="1" spc="-65" dirty="0">
                <a:latin typeface="Carlito"/>
                <a:cs typeface="Carlito"/>
              </a:rPr>
              <a:t> </a:t>
            </a:r>
            <a:endParaRPr lang="en-US" sz="2400" b="1" spc="-65" dirty="0" smtClean="0">
              <a:latin typeface="Carlito"/>
              <a:cs typeface="Carlito"/>
            </a:endParaRPr>
          </a:p>
          <a:p>
            <a:pPr marL="422275" marR="5080">
              <a:lnSpc>
                <a:spcPct val="100000"/>
              </a:lnSpc>
            </a:pPr>
            <a:r>
              <a:rPr lang="en-US" sz="2400" b="1" spc="-10" dirty="0" smtClean="0">
                <a:latin typeface="Carlito"/>
                <a:cs typeface="Carlito"/>
              </a:rPr>
              <a:t>            </a:t>
            </a:r>
            <a:r>
              <a:rPr sz="2400" b="1" spc="-10" dirty="0" smtClean="0">
                <a:latin typeface="Carlito"/>
                <a:cs typeface="Carlito"/>
              </a:rPr>
              <a:t>break  </a:t>
            </a:r>
            <a:endParaRPr lang="en-US" sz="2400" b="1" spc="-10" dirty="0" smtClean="0">
              <a:latin typeface="Carlito"/>
              <a:cs typeface="Carlito"/>
            </a:endParaRPr>
          </a:p>
          <a:p>
            <a:pPr marL="422275" marR="5080">
              <a:lnSpc>
                <a:spcPct val="100000"/>
              </a:lnSpc>
            </a:pPr>
            <a:r>
              <a:rPr lang="en-US" sz="2400" b="1" spc="-10" dirty="0">
                <a:latin typeface="Carlito"/>
                <a:cs typeface="Carlito"/>
              </a:rPr>
              <a:t> </a:t>
            </a:r>
            <a:r>
              <a:rPr lang="en-US" sz="2400" b="1" spc="-10" dirty="0" smtClean="0">
                <a:latin typeface="Carlito"/>
                <a:cs typeface="Carlito"/>
              </a:rPr>
              <a:t>      </a:t>
            </a:r>
            <a:r>
              <a:rPr sz="2400" b="1" dirty="0" smtClean="0">
                <a:latin typeface="Carlito"/>
                <a:cs typeface="Carlito"/>
              </a:rPr>
              <a:t>j=j+1</a:t>
            </a:r>
            <a:endParaRPr sz="2400" dirty="0">
              <a:latin typeface="Carlito"/>
              <a:cs typeface="Carlito"/>
            </a:endParaRPr>
          </a:p>
          <a:p>
            <a:pPr marL="216535" marR="135255">
              <a:lnSpc>
                <a:spcPct val="100000"/>
              </a:lnSpc>
            </a:pPr>
            <a:r>
              <a:rPr lang="en-US" sz="2400" b="1" dirty="0" smtClean="0">
                <a:latin typeface="Carlito"/>
                <a:cs typeface="Carlito"/>
              </a:rPr>
              <a:t>    </a:t>
            </a:r>
            <a:r>
              <a:rPr sz="2400" b="1" dirty="0" smtClean="0">
                <a:latin typeface="Carlito"/>
                <a:cs typeface="Carlito"/>
              </a:rPr>
              <a:t>if </a:t>
            </a:r>
            <a:r>
              <a:rPr sz="2400" b="1" spc="25" dirty="0" smtClean="0">
                <a:latin typeface="Carlito"/>
                <a:cs typeface="Carlito"/>
              </a:rPr>
              <a:t>j</a:t>
            </a:r>
            <a:r>
              <a:rPr sz="2400" b="1" dirty="0" smtClean="0">
                <a:latin typeface="Carlito"/>
                <a:cs typeface="Carlito"/>
              </a:rPr>
              <a:t>&gt;</a:t>
            </a:r>
            <a:r>
              <a:rPr lang="en-US" sz="2400" b="1" dirty="0" smtClean="0">
                <a:latin typeface="Carlito"/>
                <a:cs typeface="Carlito"/>
              </a:rPr>
              <a:t>(</a:t>
            </a:r>
            <a:r>
              <a:rPr sz="2400" b="1" spc="-5" dirty="0" smtClean="0">
                <a:latin typeface="Carlito"/>
                <a:cs typeface="Carlito"/>
              </a:rPr>
              <a:t>i/j)</a:t>
            </a:r>
            <a:r>
              <a:rPr sz="2400" b="1" dirty="0" smtClean="0">
                <a:latin typeface="Carlito"/>
                <a:cs typeface="Carlito"/>
              </a:rPr>
              <a:t>:</a:t>
            </a:r>
            <a:endParaRPr lang="en-US" sz="2400" b="1" dirty="0" smtClean="0">
              <a:latin typeface="Carlito"/>
              <a:cs typeface="Carlito"/>
            </a:endParaRPr>
          </a:p>
          <a:p>
            <a:pPr marL="216535" marR="135255">
              <a:lnSpc>
                <a:spcPct val="100000"/>
              </a:lnSpc>
            </a:pPr>
            <a:r>
              <a:rPr lang="en-US" sz="2400" b="1" spc="-10" dirty="0" smtClean="0">
                <a:latin typeface="Carlito"/>
                <a:cs typeface="Carlito"/>
              </a:rPr>
              <a:t>         </a:t>
            </a:r>
            <a:r>
              <a:rPr sz="2400" b="1" spc="-10" dirty="0" smtClean="0">
                <a:latin typeface="Carlito"/>
                <a:cs typeface="Carlito"/>
              </a:rPr>
              <a:t>print(i</a:t>
            </a:r>
            <a:r>
              <a:rPr sz="2400" b="1" spc="-10" dirty="0">
                <a:latin typeface="Carlito"/>
                <a:cs typeface="Carlito"/>
              </a:rPr>
              <a:t>)  </a:t>
            </a:r>
            <a:endParaRPr lang="en-US" sz="2400" b="1" spc="-10" dirty="0" smtClean="0">
              <a:latin typeface="Carlito"/>
              <a:cs typeface="Carlito"/>
            </a:endParaRPr>
          </a:p>
          <a:p>
            <a:pPr marL="216535" marR="135255">
              <a:lnSpc>
                <a:spcPct val="100000"/>
              </a:lnSpc>
            </a:pPr>
            <a:r>
              <a:rPr lang="en-US" sz="2400" b="1" spc="-10" dirty="0">
                <a:latin typeface="Carlito"/>
                <a:cs typeface="Carlito"/>
              </a:rPr>
              <a:t> </a:t>
            </a:r>
            <a:r>
              <a:rPr lang="en-US" sz="2400" b="1" spc="-10" dirty="0" smtClean="0">
                <a:latin typeface="Carlito"/>
                <a:cs typeface="Carlito"/>
              </a:rPr>
              <a:t>   </a:t>
            </a:r>
            <a:r>
              <a:rPr sz="2400" b="1" dirty="0" smtClean="0">
                <a:latin typeface="Carlito"/>
                <a:cs typeface="Carlito"/>
              </a:rPr>
              <a:t>i </a:t>
            </a:r>
            <a:r>
              <a:rPr sz="2400" b="1" dirty="0">
                <a:latin typeface="Carlito"/>
                <a:cs typeface="Carlito"/>
              </a:rPr>
              <a:t>= i +</a:t>
            </a:r>
            <a:r>
              <a:rPr sz="2400" b="1" spc="-40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1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30748" y="1015086"/>
            <a:ext cx="337820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 marR="5080" indent="-68580" algn="just">
              <a:lnSpc>
                <a:spcPct val="100000"/>
              </a:lnSpc>
              <a:spcBef>
                <a:spcPts val="100"/>
              </a:spcBef>
            </a:pPr>
            <a:r>
              <a:rPr sz="2400" b="1" spc="-70" dirty="0">
                <a:latin typeface="Carlito"/>
                <a:cs typeface="Carlito"/>
              </a:rPr>
              <a:t>You </a:t>
            </a:r>
            <a:r>
              <a:rPr sz="2400" b="1" spc="-5" dirty="0">
                <a:latin typeface="Carlito"/>
                <a:cs typeface="Carlito"/>
              </a:rPr>
              <a:t>can </a:t>
            </a:r>
            <a:r>
              <a:rPr sz="2400" b="1" dirty="0">
                <a:latin typeface="Carlito"/>
                <a:cs typeface="Carlito"/>
              </a:rPr>
              <a:t>use one or </a:t>
            </a:r>
            <a:r>
              <a:rPr sz="2400" b="1" spc="-10" dirty="0">
                <a:latin typeface="Carlito"/>
                <a:cs typeface="Carlito"/>
              </a:rPr>
              <a:t>more  </a:t>
            </a:r>
            <a:r>
              <a:rPr sz="2400" b="1" dirty="0">
                <a:latin typeface="Carlito"/>
                <a:cs typeface="Carlito"/>
              </a:rPr>
              <a:t>loop </a:t>
            </a:r>
            <a:r>
              <a:rPr sz="2400" b="1" spc="-5" dirty="0">
                <a:latin typeface="Carlito"/>
                <a:cs typeface="Carlito"/>
              </a:rPr>
              <a:t>inside </a:t>
            </a:r>
            <a:r>
              <a:rPr sz="2400" b="1" spc="-20" dirty="0">
                <a:latin typeface="Carlito"/>
                <a:cs typeface="Carlito"/>
              </a:rPr>
              <a:t>any </a:t>
            </a:r>
            <a:r>
              <a:rPr sz="2400" b="1" dirty="0">
                <a:latin typeface="Carlito"/>
                <a:cs typeface="Carlito"/>
              </a:rPr>
              <a:t>another  </a:t>
            </a:r>
            <a:r>
              <a:rPr sz="2400" b="1" spc="-5" dirty="0">
                <a:latin typeface="Carlito"/>
                <a:cs typeface="Carlito"/>
              </a:rPr>
              <a:t>while, </a:t>
            </a:r>
            <a:r>
              <a:rPr sz="2400" b="1" spc="-15" dirty="0">
                <a:latin typeface="Carlito"/>
                <a:cs typeface="Carlito"/>
              </a:rPr>
              <a:t>for </a:t>
            </a:r>
            <a:r>
              <a:rPr sz="2400" b="1" dirty="0">
                <a:latin typeface="Carlito"/>
                <a:cs typeface="Carlito"/>
              </a:rPr>
              <a:t>or </a:t>
            </a:r>
            <a:r>
              <a:rPr sz="2400" b="1" spc="-15" dirty="0">
                <a:latin typeface="Carlito"/>
                <a:cs typeface="Carlito"/>
              </a:rPr>
              <a:t>do..while  </a:t>
            </a:r>
            <a:r>
              <a:rPr sz="2400" b="1" dirty="0">
                <a:latin typeface="Carlito"/>
                <a:cs typeface="Carlito"/>
              </a:rPr>
              <a:t>loop.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5738" y="1759624"/>
            <a:ext cx="1747461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Carlito"/>
                <a:cs typeface="Carlito"/>
              </a:rPr>
              <a:t>E</a:t>
            </a:r>
            <a:r>
              <a:rPr sz="2800" b="1" spc="-50" dirty="0">
                <a:latin typeface="Carlito"/>
                <a:cs typeface="Carlito"/>
              </a:rPr>
              <a:t>x</a:t>
            </a:r>
            <a:r>
              <a:rPr sz="2800" b="1" spc="-5" dirty="0">
                <a:latin typeface="Carlito"/>
                <a:cs typeface="Carlito"/>
              </a:rPr>
              <a:t>ample</a:t>
            </a:r>
            <a:endParaRPr sz="28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255" y="0"/>
            <a:ext cx="9170035" cy="6884034"/>
            <a:chOff x="-12255" y="0"/>
            <a:chExt cx="9170035" cy="6884034"/>
          </a:xfrm>
        </p:grpSpPr>
        <p:sp>
          <p:nvSpPr>
            <p:cNvPr id="3" name="object 3"/>
            <p:cNvSpPr/>
            <p:nvPr/>
          </p:nvSpPr>
          <p:spPr>
            <a:xfrm>
              <a:off x="762" y="1269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4000" y="3571240"/>
                  </a:moveTo>
                  <a:lnTo>
                    <a:pt x="3271774" y="3571240"/>
                  </a:lnTo>
                  <a:lnTo>
                    <a:pt x="3271774" y="0"/>
                  </a:lnTo>
                  <a:lnTo>
                    <a:pt x="0" y="0"/>
                  </a:lnTo>
                  <a:lnTo>
                    <a:pt x="0" y="3571240"/>
                  </a:lnTo>
                  <a:lnTo>
                    <a:pt x="0" y="6858000"/>
                  </a:lnTo>
                  <a:lnTo>
                    <a:pt x="9144000" y="6858000"/>
                  </a:lnTo>
                  <a:lnTo>
                    <a:pt x="9144000" y="357124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2" y="762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0" y="0"/>
                  </a:moveTo>
                  <a:lnTo>
                    <a:pt x="3271774" y="0"/>
                  </a:lnTo>
                  <a:lnTo>
                    <a:pt x="3271774" y="3571875"/>
                  </a:lnTo>
                  <a:lnTo>
                    <a:pt x="9144000" y="3571875"/>
                  </a:lnTo>
                  <a:lnTo>
                    <a:pt x="9144000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11581" y="763269"/>
            <a:ext cx="2376170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4000" b="1" spc="-25" dirty="0">
                <a:latin typeface="Carlito"/>
                <a:cs typeface="Carlito"/>
              </a:rPr>
              <a:t>Program</a:t>
            </a:r>
            <a:r>
              <a:rPr sz="4000" b="1" spc="-80" dirty="0">
                <a:latin typeface="Carlito"/>
                <a:cs typeface="Carlito"/>
              </a:rPr>
              <a:t> </a:t>
            </a:r>
            <a:r>
              <a:rPr sz="4000" b="1" spc="-25" dirty="0">
                <a:latin typeface="Carlito"/>
                <a:cs typeface="Carlito"/>
              </a:rPr>
              <a:t>to  </a:t>
            </a:r>
            <a:r>
              <a:rPr sz="4000" b="1" spc="-10" dirty="0">
                <a:latin typeface="Carlito"/>
                <a:cs typeface="Carlito"/>
              </a:rPr>
              <a:t>print given  </a:t>
            </a:r>
            <a:r>
              <a:rPr sz="4000" b="1" spc="-30" dirty="0">
                <a:latin typeface="Carlito"/>
                <a:cs typeface="Carlito"/>
              </a:rPr>
              <a:t>pattern</a:t>
            </a:r>
            <a:endParaRPr sz="40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8975" y="1198321"/>
            <a:ext cx="4645025" cy="56759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rlito"/>
                <a:cs typeface="Carlito"/>
              </a:rPr>
              <a:t>5 4 3 2</a:t>
            </a:r>
            <a:r>
              <a:rPr sz="2400" b="1" spc="-110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1</a:t>
            </a:r>
            <a:endParaRPr sz="2400" dirty="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arlito"/>
                <a:cs typeface="Carlito"/>
              </a:rPr>
              <a:t>5 4 3</a:t>
            </a:r>
            <a:r>
              <a:rPr sz="2400" b="1" spc="-75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2</a:t>
            </a:r>
            <a:endParaRPr sz="2400" dirty="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</a:pPr>
            <a:r>
              <a:rPr sz="2400" b="1" dirty="0">
                <a:latin typeface="Carlito"/>
                <a:cs typeface="Carlito"/>
              </a:rPr>
              <a:t>5 4</a:t>
            </a:r>
            <a:r>
              <a:rPr sz="2400" b="1" spc="-40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3</a:t>
            </a:r>
            <a:endParaRPr sz="2400" dirty="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</a:pPr>
            <a:r>
              <a:rPr sz="2400" b="1" dirty="0">
                <a:latin typeface="Carlito"/>
                <a:cs typeface="Carlito"/>
              </a:rPr>
              <a:t>5</a:t>
            </a:r>
            <a:r>
              <a:rPr sz="2400" b="1" spc="-20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4</a:t>
            </a:r>
            <a:endParaRPr sz="2400" dirty="0">
              <a:latin typeface="Carlito"/>
              <a:cs typeface="Carlito"/>
            </a:endParaRPr>
          </a:p>
          <a:p>
            <a:pPr marL="927100">
              <a:lnSpc>
                <a:spcPct val="100000"/>
              </a:lnSpc>
            </a:pPr>
            <a:r>
              <a:rPr sz="2400" b="1" dirty="0">
                <a:latin typeface="Carlito"/>
                <a:cs typeface="Carlito"/>
              </a:rPr>
              <a:t>5</a:t>
            </a:r>
            <a:endParaRPr sz="24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24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 dirty="0">
              <a:latin typeface="Carlito"/>
              <a:cs typeface="Carlito"/>
            </a:endParaRPr>
          </a:p>
          <a:p>
            <a:pPr marL="80645" marR="664845" indent="-68580">
              <a:lnSpc>
                <a:spcPct val="100000"/>
              </a:lnSpc>
              <a:spcBef>
                <a:spcPts val="5"/>
              </a:spcBef>
            </a:pPr>
            <a:r>
              <a:rPr lang="en-IN" sz="2400" b="1" spc="-5" dirty="0">
                <a:latin typeface="Carlito"/>
                <a:cs typeface="Carlito"/>
              </a:rPr>
              <a:t>w</a:t>
            </a:r>
            <a:r>
              <a:rPr sz="2400" b="1" spc="-5" dirty="0" err="1" smtClean="0">
                <a:latin typeface="Carlito"/>
                <a:cs typeface="Carlito"/>
              </a:rPr>
              <a:t>h</a:t>
            </a:r>
            <a:r>
              <a:rPr sz="2400" b="1" spc="-10" dirty="0" err="1" smtClean="0">
                <a:latin typeface="Carlito"/>
                <a:cs typeface="Carlito"/>
              </a:rPr>
              <a:t>i</a:t>
            </a:r>
            <a:r>
              <a:rPr sz="2400" b="1" dirty="0" err="1" smtClean="0">
                <a:latin typeface="Carlito"/>
                <a:cs typeface="Carlito"/>
              </a:rPr>
              <a:t>le</a:t>
            </a:r>
            <a:r>
              <a:rPr lang="en-US" sz="2400" b="1" dirty="0" smtClean="0">
                <a:latin typeface="Carlito"/>
                <a:cs typeface="Carlito"/>
              </a:rPr>
              <a:t> </a:t>
            </a:r>
            <a:r>
              <a:rPr sz="2400" b="1" dirty="0" smtClean="0">
                <a:latin typeface="Carlito"/>
                <a:cs typeface="Carlito"/>
              </a:rPr>
              <a:t>(</a:t>
            </a:r>
            <a:r>
              <a:rPr sz="2400" b="1" spc="-5" dirty="0">
                <a:latin typeface="Carlito"/>
                <a:cs typeface="Carlito"/>
              </a:rPr>
              <a:t>i&lt;</a:t>
            </a:r>
            <a:r>
              <a:rPr sz="2400" b="1" spc="5" dirty="0">
                <a:latin typeface="Carlito"/>
                <a:cs typeface="Carlito"/>
              </a:rPr>
              <a:t>=</a:t>
            </a:r>
            <a:r>
              <a:rPr sz="2400" b="1" dirty="0">
                <a:latin typeface="Carlito"/>
                <a:cs typeface="Carlito"/>
              </a:rPr>
              <a:t>5</a:t>
            </a:r>
            <a:r>
              <a:rPr sz="2400" b="1" spc="-10" dirty="0">
                <a:latin typeface="Carlito"/>
                <a:cs typeface="Carlito"/>
              </a:rPr>
              <a:t>)</a:t>
            </a:r>
            <a:r>
              <a:rPr sz="2400" b="1" dirty="0">
                <a:latin typeface="Carlito"/>
                <a:cs typeface="Carlito"/>
              </a:rPr>
              <a:t>:  </a:t>
            </a:r>
            <a:endParaRPr lang="en-US" sz="2400" b="1" dirty="0" smtClean="0">
              <a:latin typeface="Carlito"/>
              <a:cs typeface="Carlito"/>
            </a:endParaRPr>
          </a:p>
          <a:p>
            <a:pPr marL="80645" marR="664845" indent="-68580">
              <a:lnSpc>
                <a:spcPct val="100000"/>
              </a:lnSpc>
              <a:spcBef>
                <a:spcPts val="5"/>
              </a:spcBef>
            </a:pPr>
            <a:r>
              <a:rPr lang="en-US" sz="2400" b="1" spc="-5" dirty="0" smtClean="0">
                <a:latin typeface="Carlito"/>
                <a:cs typeface="Carlito"/>
              </a:rPr>
              <a:t>      </a:t>
            </a:r>
            <a:r>
              <a:rPr sz="2400" b="1" spc="-5" dirty="0" smtClean="0">
                <a:latin typeface="Carlito"/>
                <a:cs typeface="Carlito"/>
              </a:rPr>
              <a:t>j=5  </a:t>
            </a:r>
            <a:endParaRPr lang="en-US" sz="2400" b="1" spc="-5" dirty="0" smtClean="0">
              <a:latin typeface="Carlito"/>
              <a:cs typeface="Carlito"/>
            </a:endParaRPr>
          </a:p>
          <a:p>
            <a:pPr marL="80645" marR="664845" indent="-68580">
              <a:lnSpc>
                <a:spcPct val="100000"/>
              </a:lnSpc>
              <a:spcBef>
                <a:spcPts val="5"/>
              </a:spcBef>
            </a:pPr>
            <a:r>
              <a:rPr lang="en-US" sz="2400" b="1" spc="-5" dirty="0">
                <a:latin typeface="Carlito"/>
                <a:cs typeface="Carlito"/>
              </a:rPr>
              <a:t> </a:t>
            </a:r>
            <a:r>
              <a:rPr lang="en-US" sz="2400" b="1" spc="-5" dirty="0" smtClean="0">
                <a:latin typeface="Carlito"/>
                <a:cs typeface="Carlito"/>
              </a:rPr>
              <a:t>     </a:t>
            </a:r>
            <a:r>
              <a:rPr sz="2400" b="1" spc="-5" dirty="0" smtClean="0">
                <a:latin typeface="Carlito"/>
                <a:cs typeface="Carlito"/>
              </a:rPr>
              <a:t>wh</a:t>
            </a:r>
            <a:r>
              <a:rPr sz="2400" b="1" spc="-10" dirty="0" smtClean="0">
                <a:latin typeface="Carlito"/>
                <a:cs typeface="Carlito"/>
              </a:rPr>
              <a:t>i</a:t>
            </a:r>
            <a:r>
              <a:rPr sz="2400" b="1" dirty="0" smtClean="0">
                <a:latin typeface="Carlito"/>
                <a:cs typeface="Carlito"/>
              </a:rPr>
              <a:t>le</a:t>
            </a:r>
            <a:r>
              <a:rPr sz="2400" b="1" spc="55" dirty="0" smtClean="0">
                <a:latin typeface="Carlito"/>
                <a:cs typeface="Carlito"/>
              </a:rPr>
              <a:t>(</a:t>
            </a:r>
            <a:r>
              <a:rPr sz="2400" b="1" spc="-5" dirty="0" smtClean="0">
                <a:latin typeface="Carlito"/>
                <a:cs typeface="Carlito"/>
              </a:rPr>
              <a:t>j</a:t>
            </a:r>
            <a:r>
              <a:rPr sz="2400" b="1" spc="-5" dirty="0">
                <a:latin typeface="Carlito"/>
                <a:cs typeface="Carlito"/>
              </a:rPr>
              <a:t>&gt;</a:t>
            </a:r>
            <a:r>
              <a:rPr sz="2400" b="1" spc="15" dirty="0">
                <a:latin typeface="Carlito"/>
                <a:cs typeface="Carlito"/>
              </a:rPr>
              <a:t>=</a:t>
            </a:r>
            <a:r>
              <a:rPr sz="2400" b="1" spc="-5" dirty="0">
                <a:latin typeface="Carlito"/>
                <a:cs typeface="Carlito"/>
              </a:rPr>
              <a:t>i):</a:t>
            </a:r>
            <a:endParaRPr sz="2400" dirty="0">
              <a:latin typeface="Carlito"/>
              <a:cs typeface="Carlito"/>
            </a:endParaRPr>
          </a:p>
          <a:p>
            <a:pPr marL="285115">
              <a:lnSpc>
                <a:spcPct val="100000"/>
              </a:lnSpc>
            </a:pPr>
            <a:r>
              <a:rPr lang="en-US" sz="2400" b="1" dirty="0" smtClean="0">
                <a:latin typeface="Carlito"/>
                <a:cs typeface="Carlito"/>
              </a:rPr>
              <a:t>        </a:t>
            </a:r>
            <a:r>
              <a:rPr sz="2400" b="1" dirty="0" smtClean="0">
                <a:latin typeface="Carlito"/>
                <a:cs typeface="Carlito"/>
              </a:rPr>
              <a:t>print(j</a:t>
            </a:r>
            <a:r>
              <a:rPr sz="2400" b="1" dirty="0">
                <a:latin typeface="Carlito"/>
                <a:cs typeface="Carlito"/>
              </a:rPr>
              <a:t>, </a:t>
            </a:r>
            <a:r>
              <a:rPr sz="2400" b="1" spc="-5" dirty="0">
                <a:latin typeface="Carlito"/>
                <a:cs typeface="Carlito"/>
              </a:rPr>
              <a:t>end</a:t>
            </a:r>
            <a:r>
              <a:rPr sz="2400" b="1" spc="-5" dirty="0" smtClean="0">
                <a:latin typeface="Carlito"/>
                <a:cs typeface="Carlito"/>
              </a:rPr>
              <a:t>=</a:t>
            </a:r>
            <a:r>
              <a:rPr lang="en-US" sz="2400" b="1" spc="-5" dirty="0" smtClean="0">
                <a:latin typeface="Carlito"/>
                <a:cs typeface="Carlito"/>
              </a:rPr>
              <a:t>“</a:t>
            </a:r>
            <a:r>
              <a:rPr lang="en-US" sz="2400" b="1" spc="-65" dirty="0" smtClean="0">
                <a:latin typeface="Carlito"/>
                <a:cs typeface="Carlito"/>
              </a:rPr>
              <a:t> “</a:t>
            </a:r>
            <a:r>
              <a:rPr sz="2400" b="1" dirty="0" smtClean="0">
                <a:latin typeface="Carlito"/>
                <a:cs typeface="Carlito"/>
              </a:rPr>
              <a:t>)</a:t>
            </a:r>
            <a:endParaRPr sz="2400" dirty="0">
              <a:latin typeface="Carlito"/>
              <a:cs typeface="Carlito"/>
            </a:endParaRPr>
          </a:p>
          <a:p>
            <a:pPr marL="80645" marR="1412875" indent="203835">
              <a:lnSpc>
                <a:spcPct val="100000"/>
              </a:lnSpc>
            </a:pPr>
            <a:r>
              <a:rPr lang="en-US" sz="2400" b="1" spc="-5" dirty="0" smtClean="0">
                <a:latin typeface="Carlito"/>
                <a:cs typeface="Carlito"/>
              </a:rPr>
              <a:t>        </a:t>
            </a:r>
            <a:r>
              <a:rPr sz="2400" b="1" spc="-5" dirty="0" smtClean="0">
                <a:latin typeface="Carlito"/>
                <a:cs typeface="Carlito"/>
              </a:rPr>
              <a:t>j-</a:t>
            </a:r>
            <a:r>
              <a:rPr sz="2400" b="1" spc="5" dirty="0">
                <a:latin typeface="Carlito"/>
                <a:cs typeface="Carlito"/>
              </a:rPr>
              <a:t>=1 </a:t>
            </a:r>
            <a:endParaRPr lang="en-US" sz="2400" b="1" spc="5" dirty="0" smtClean="0">
              <a:latin typeface="Carlito"/>
              <a:cs typeface="Carlito"/>
            </a:endParaRPr>
          </a:p>
          <a:p>
            <a:pPr marL="80645" marR="1412875" indent="203835"/>
            <a:r>
              <a:rPr lang="en-US" sz="2400" b="1" spc="5" dirty="0">
                <a:latin typeface="Carlito"/>
                <a:cs typeface="Carlito"/>
              </a:rPr>
              <a:t> </a:t>
            </a:r>
            <a:r>
              <a:rPr lang="en-US" sz="2400" b="1" spc="5" dirty="0" smtClean="0">
                <a:latin typeface="Carlito"/>
                <a:cs typeface="Carlito"/>
              </a:rPr>
              <a:t>  </a:t>
            </a:r>
            <a:r>
              <a:rPr lang="en-IN" sz="2400" b="1" spc="-10" dirty="0" smtClean="0">
                <a:latin typeface="Carlito"/>
                <a:cs typeface="Carlito"/>
              </a:rPr>
              <a:t>print(“\n”)</a:t>
            </a:r>
          </a:p>
          <a:p>
            <a:pPr marL="80645" marR="1412875" indent="203835">
              <a:lnSpc>
                <a:spcPct val="100000"/>
              </a:lnSpc>
            </a:pPr>
            <a:r>
              <a:rPr lang="en-US" sz="2400" b="1" spc="5" dirty="0" smtClean="0">
                <a:latin typeface="Carlito"/>
                <a:cs typeface="Carlito"/>
              </a:rPr>
              <a:t>   </a:t>
            </a:r>
            <a:r>
              <a:rPr sz="2400" b="1" spc="-5" dirty="0" smtClean="0">
                <a:latin typeface="Carlito"/>
                <a:cs typeface="Carlito"/>
              </a:rPr>
              <a:t>i</a:t>
            </a:r>
            <a:r>
              <a:rPr sz="2400" b="1" spc="-5" dirty="0">
                <a:latin typeface="Carlito"/>
                <a:cs typeface="Carlito"/>
              </a:rPr>
              <a:t>+=1</a:t>
            </a:r>
            <a:endParaRPr sz="2400" dirty="0">
              <a:latin typeface="Carlito"/>
              <a:cs typeface="Carlito"/>
            </a:endParaRPr>
          </a:p>
          <a:p>
            <a:pPr marL="80645">
              <a:lnSpc>
                <a:spcPct val="100000"/>
              </a:lnSpc>
            </a:pPr>
            <a:endParaRPr sz="2400" dirty="0">
              <a:latin typeface="Carlito"/>
              <a:cs typeface="Carli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24346" y="235407"/>
            <a:ext cx="2448053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Outp</a:t>
            </a:r>
            <a:r>
              <a:rPr sz="3200" spc="-15" dirty="0"/>
              <a:t>u</a:t>
            </a:r>
            <a:r>
              <a:rPr sz="3200" dirty="0"/>
              <a:t>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7905" y="4655896"/>
            <a:ext cx="17966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rlito"/>
                <a:cs typeface="Carlito"/>
              </a:rPr>
              <a:t>E</a:t>
            </a:r>
            <a:r>
              <a:rPr sz="3200" b="1" spc="-45" dirty="0">
                <a:latin typeface="Carlito"/>
                <a:cs typeface="Carlito"/>
              </a:rPr>
              <a:t>x</a:t>
            </a:r>
            <a:r>
              <a:rPr sz="3200" b="1" dirty="0">
                <a:latin typeface="Carlito"/>
                <a:cs typeface="Carlito"/>
              </a:rPr>
              <a:t>ample</a:t>
            </a:r>
            <a:endParaRPr sz="3200" dirty="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31007" y="4788408"/>
            <a:ext cx="1092835" cy="330835"/>
            <a:chOff x="2731007" y="4788408"/>
            <a:chExt cx="1092835" cy="330835"/>
          </a:xfrm>
        </p:grpSpPr>
        <p:sp>
          <p:nvSpPr>
            <p:cNvPr id="10" name="object 10"/>
            <p:cNvSpPr/>
            <p:nvPr/>
          </p:nvSpPr>
          <p:spPr>
            <a:xfrm>
              <a:off x="2743961" y="4801362"/>
              <a:ext cx="1066800" cy="304800"/>
            </a:xfrm>
            <a:custGeom>
              <a:avLst/>
              <a:gdLst/>
              <a:ahLst/>
              <a:cxnLst/>
              <a:rect l="l" t="t" r="r" b="b"/>
              <a:pathLst>
                <a:path w="1066800" h="304800">
                  <a:moveTo>
                    <a:pt x="914400" y="0"/>
                  </a:moveTo>
                  <a:lnTo>
                    <a:pt x="9144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914400" y="228600"/>
                  </a:lnTo>
                  <a:lnTo>
                    <a:pt x="914400" y="304800"/>
                  </a:lnTo>
                  <a:lnTo>
                    <a:pt x="1066800" y="152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961" y="4801362"/>
              <a:ext cx="1066800" cy="304800"/>
            </a:xfrm>
            <a:custGeom>
              <a:avLst/>
              <a:gdLst/>
              <a:ahLst/>
              <a:cxnLst/>
              <a:rect l="l" t="t" r="r" b="b"/>
              <a:pathLst>
                <a:path w="1066800" h="304800">
                  <a:moveTo>
                    <a:pt x="0" y="76200"/>
                  </a:moveTo>
                  <a:lnTo>
                    <a:pt x="914400" y="76200"/>
                  </a:lnTo>
                  <a:lnTo>
                    <a:pt x="914400" y="0"/>
                  </a:lnTo>
                  <a:lnTo>
                    <a:pt x="1066800" y="152400"/>
                  </a:lnTo>
                  <a:lnTo>
                    <a:pt x="914400" y="304800"/>
                  </a:lnTo>
                  <a:lnTo>
                    <a:pt x="9144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07608" y="3797807"/>
            <a:ext cx="3150235" cy="3074035"/>
            <a:chOff x="6007608" y="3797807"/>
            <a:chExt cx="3150235" cy="3074035"/>
          </a:xfrm>
        </p:grpSpPr>
        <p:sp>
          <p:nvSpPr>
            <p:cNvPr id="3" name="object 3"/>
            <p:cNvSpPr/>
            <p:nvPr/>
          </p:nvSpPr>
          <p:spPr>
            <a:xfrm>
              <a:off x="6020562" y="3810761"/>
              <a:ext cx="3124200" cy="3048000"/>
            </a:xfrm>
            <a:custGeom>
              <a:avLst/>
              <a:gdLst/>
              <a:ahLst/>
              <a:cxnLst/>
              <a:rect l="l" t="t" r="r" b="b"/>
              <a:pathLst>
                <a:path w="3124200" h="3048000">
                  <a:moveTo>
                    <a:pt x="3124199" y="0"/>
                  </a:moveTo>
                  <a:lnTo>
                    <a:pt x="0" y="0"/>
                  </a:lnTo>
                  <a:lnTo>
                    <a:pt x="0" y="3048000"/>
                  </a:lnTo>
                  <a:lnTo>
                    <a:pt x="3124199" y="3048000"/>
                  </a:lnTo>
                  <a:lnTo>
                    <a:pt x="31241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20562" y="3810761"/>
              <a:ext cx="3124200" cy="3048000"/>
            </a:xfrm>
            <a:custGeom>
              <a:avLst/>
              <a:gdLst/>
              <a:ahLst/>
              <a:cxnLst/>
              <a:rect l="l" t="t" r="r" b="b"/>
              <a:pathLst>
                <a:path w="3124200" h="3048000">
                  <a:moveTo>
                    <a:pt x="0" y="3048000"/>
                  </a:moveTo>
                  <a:lnTo>
                    <a:pt x="3124199" y="3048000"/>
                  </a:lnTo>
                  <a:lnTo>
                    <a:pt x="3124199" y="0"/>
                  </a:lnTo>
                  <a:lnTo>
                    <a:pt x="0" y="0"/>
                  </a:lnTo>
                  <a:lnTo>
                    <a:pt x="0" y="30480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40271" y="306069"/>
            <a:ext cx="237998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program</a:t>
            </a:r>
            <a:r>
              <a:rPr spc="-65" dirty="0"/>
              <a:t> </a:t>
            </a:r>
            <a:r>
              <a:rPr spc="-25" dirty="0"/>
              <a:t>to  </a:t>
            </a:r>
            <a:r>
              <a:rPr spc="-10" dirty="0"/>
              <a:t>print </a:t>
            </a:r>
            <a:r>
              <a:rPr spc="-15" dirty="0"/>
              <a:t>given  </a:t>
            </a:r>
            <a:r>
              <a:rPr spc="-5" dirty="0"/>
              <a:t>below  </a:t>
            </a:r>
            <a:r>
              <a:rPr spc="-25" dirty="0"/>
              <a:t>pattern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02729" y="4039895"/>
            <a:ext cx="885825" cy="25863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0"/>
              </a:spcBef>
            </a:pPr>
            <a:r>
              <a:rPr sz="2800" b="1" spc="-5" dirty="0">
                <a:latin typeface="Carlito"/>
                <a:cs typeface="Carlito"/>
              </a:rPr>
              <a:t>*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r>
              <a:rPr sz="2800" b="1" spc="-5" dirty="0">
                <a:latin typeface="Carlito"/>
                <a:cs typeface="Carlito"/>
              </a:rPr>
              <a:t>**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r>
              <a:rPr sz="2800" b="1" spc="-5" dirty="0">
                <a:latin typeface="Carlito"/>
                <a:cs typeface="Carlito"/>
              </a:rPr>
              <a:t>***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r>
              <a:rPr sz="2800" b="1" spc="-5" dirty="0">
                <a:latin typeface="Carlito"/>
                <a:cs typeface="Carlito"/>
              </a:rPr>
              <a:t>****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r>
              <a:rPr sz="2800" b="1" spc="-5" dirty="0">
                <a:latin typeface="Carlito"/>
                <a:cs typeface="Carlito"/>
              </a:rPr>
              <a:t>*****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0" y="761"/>
            <a:ext cx="6019802" cy="3987630"/>
          </a:xfrm>
          <a:prstGeom prst="rect">
            <a:avLst/>
          </a:prstGeom>
          <a:solidFill>
            <a:srgbClr val="959595"/>
          </a:solidFill>
          <a:ln w="25907">
            <a:solidFill>
              <a:srgbClr val="385D89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3250" dirty="0">
              <a:latin typeface="Times New Roman"/>
              <a:cs typeface="Times New Roman"/>
            </a:endParaRPr>
          </a:p>
          <a:p>
            <a:pPr marR="296545" algn="ctr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Carlito"/>
                <a:cs typeface="Carlito"/>
              </a:rPr>
              <a:t>Example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50" dirty="0">
              <a:latin typeface="Carlito"/>
              <a:cs typeface="Carlito"/>
            </a:endParaRPr>
          </a:p>
          <a:p>
            <a:pPr marL="318770">
              <a:lnSpc>
                <a:spcPct val="100000"/>
              </a:lnSpc>
            </a:pPr>
            <a:r>
              <a:rPr sz="2000" b="1" spc="-10" dirty="0">
                <a:solidFill>
                  <a:srgbClr val="FFFFFF"/>
                </a:solidFill>
                <a:latin typeface="Carlito"/>
                <a:cs typeface="Carlito"/>
              </a:rPr>
              <a:t>rows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= </a:t>
            </a:r>
            <a:r>
              <a:rPr sz="2000" b="1" spc="-10" dirty="0">
                <a:solidFill>
                  <a:srgbClr val="FFFFFF"/>
                </a:solidFill>
                <a:latin typeface="Carlito"/>
                <a:cs typeface="Carlito"/>
              </a:rPr>
              <a:t>int(input("Enter 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the</a:t>
            </a:r>
            <a:r>
              <a:rPr sz="2000" b="1" spc="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rows</a:t>
            </a:r>
            <a:r>
              <a:rPr sz="2000" b="1" spc="-5" dirty="0" smtClean="0">
                <a:solidFill>
                  <a:srgbClr val="FFFFFF"/>
                </a:solidFill>
                <a:latin typeface="Carlito"/>
                <a:cs typeface="Carlito"/>
              </a:rPr>
              <a:t>:"))</a:t>
            </a:r>
            <a:endParaRPr sz="2000" dirty="0">
              <a:latin typeface="Carlito"/>
              <a:cs typeface="Carlito"/>
            </a:endParaRPr>
          </a:p>
          <a:p>
            <a:pPr marL="318770" marR="63754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# </a:t>
            </a:r>
            <a:r>
              <a:rPr sz="2000" b="1" spc="-10" dirty="0">
                <a:solidFill>
                  <a:srgbClr val="FFFFFF"/>
                </a:solidFill>
                <a:latin typeface="Carlito"/>
                <a:cs typeface="Carlito"/>
              </a:rPr>
              <a:t>Outer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loop 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will </a:t>
            </a:r>
            <a:r>
              <a:rPr sz="2000" b="1" spc="-10" dirty="0">
                <a:solidFill>
                  <a:srgbClr val="FFFFFF"/>
                </a:solidFill>
                <a:latin typeface="Carlito"/>
                <a:cs typeface="Carlito"/>
              </a:rPr>
              <a:t>print 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number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of </a:t>
            </a:r>
            <a:r>
              <a:rPr sz="2000" b="1" spc="-30" dirty="0" smtClean="0">
                <a:solidFill>
                  <a:srgbClr val="FFFFFF"/>
                </a:solidFill>
                <a:latin typeface="Carlito"/>
                <a:cs typeface="Carlito"/>
              </a:rPr>
              <a:t>ro</a:t>
            </a:r>
            <a:r>
              <a:rPr sz="2000" b="1" spc="-15" dirty="0" smtClean="0">
                <a:solidFill>
                  <a:srgbClr val="FFFFFF"/>
                </a:solidFill>
                <a:latin typeface="Carlito"/>
                <a:cs typeface="Carlito"/>
              </a:rPr>
              <a:t>ws</a:t>
            </a:r>
            <a:endParaRPr sz="2000" dirty="0">
              <a:latin typeface="Carlito"/>
              <a:cs typeface="Carlito"/>
            </a:endParaRPr>
          </a:p>
          <a:p>
            <a:pPr marL="318770">
              <a:lnSpc>
                <a:spcPct val="100000"/>
              </a:lnSpc>
              <a:spcBef>
                <a:spcPts val="575"/>
              </a:spcBef>
            </a:pPr>
            <a:r>
              <a:rPr sz="2000" b="1" spc="-1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i 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in</a:t>
            </a:r>
            <a:r>
              <a:rPr sz="2000" b="1" spc="-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rlito"/>
                <a:cs typeface="Carlito"/>
              </a:rPr>
              <a:t>range(0,rows+1):</a:t>
            </a:r>
            <a:endParaRPr sz="2000" dirty="0">
              <a:latin typeface="Carlito"/>
              <a:cs typeface="Carlito"/>
            </a:endParaRPr>
          </a:p>
          <a:p>
            <a:pPr marL="318770">
              <a:lnSpc>
                <a:spcPct val="100000"/>
              </a:lnSpc>
              <a:spcBef>
                <a:spcPts val="575"/>
              </a:spcBef>
            </a:pP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# 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Inner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loop 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will </a:t>
            </a:r>
            <a:r>
              <a:rPr sz="2000" b="1" spc="-10" dirty="0">
                <a:solidFill>
                  <a:srgbClr val="FFFFFF"/>
                </a:solidFill>
                <a:latin typeface="Carlito"/>
                <a:cs typeface="Carlito"/>
              </a:rPr>
              <a:t>print 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number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2000" b="1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spc="-10" dirty="0" err="1" smtClean="0">
                <a:solidFill>
                  <a:srgbClr val="FFFFFF"/>
                </a:solidFill>
                <a:latin typeface="Carlito"/>
                <a:cs typeface="Carlito"/>
              </a:rPr>
              <a:t>Ast</a:t>
            </a:r>
            <a:r>
              <a:rPr sz="2000" b="1" spc="-5" dirty="0" err="1" smtClean="0">
                <a:solidFill>
                  <a:srgbClr val="FFFFFF"/>
                </a:solidFill>
                <a:latin typeface="Carlito"/>
                <a:cs typeface="Carlito"/>
              </a:rPr>
              <a:t>risk</a:t>
            </a:r>
            <a:endParaRPr sz="2000" dirty="0">
              <a:latin typeface="Carlito"/>
              <a:cs typeface="Carlito"/>
            </a:endParaRPr>
          </a:p>
          <a:p>
            <a:pPr marL="864869" marR="2397760" indent="-273050">
              <a:lnSpc>
                <a:spcPct val="120000"/>
              </a:lnSpc>
            </a:pPr>
            <a:r>
              <a:rPr lang="en-US" sz="2000" b="1" spc="-15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spc="-15" dirty="0" smtClean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2000" b="1" dirty="0">
                <a:solidFill>
                  <a:srgbClr val="FFFFFF"/>
                </a:solidFill>
                <a:latin typeface="Carlito"/>
                <a:cs typeface="Carlito"/>
              </a:rPr>
              <a:t>j 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2000" b="1" spc="-15" dirty="0">
                <a:solidFill>
                  <a:srgbClr val="FFFFFF"/>
                </a:solidFill>
                <a:latin typeface="Carlito"/>
                <a:cs typeface="Carlito"/>
              </a:rPr>
              <a:t>range(i):  </a:t>
            </a:r>
            <a:r>
              <a:rPr lang="en-US" sz="2000" b="1" spc="-15" dirty="0" smtClean="0">
                <a:solidFill>
                  <a:srgbClr val="FFFFFF"/>
                </a:solidFill>
                <a:latin typeface="Carlito"/>
                <a:cs typeface="Carlito"/>
              </a:rPr>
              <a:t>      </a:t>
            </a:r>
            <a:r>
              <a:rPr sz="2000" b="1" spc="-5" dirty="0" smtClean="0">
                <a:solidFill>
                  <a:srgbClr val="FFFFFF"/>
                </a:solidFill>
                <a:latin typeface="Carlito"/>
                <a:cs typeface="Carlito"/>
              </a:rPr>
              <a:t>print</a:t>
            </a:r>
            <a:r>
              <a:rPr sz="2000" b="1" spc="-5" dirty="0">
                <a:solidFill>
                  <a:srgbClr val="FFFFFF"/>
                </a:solidFill>
                <a:latin typeface="Carlito"/>
                <a:cs typeface="Carlito"/>
              </a:rPr>
              <a:t>("*",end </a:t>
            </a:r>
            <a:r>
              <a:rPr sz="2000" b="1" dirty="0" smtClean="0">
                <a:solidFill>
                  <a:srgbClr val="FFFFFF"/>
                </a:solidFill>
                <a:latin typeface="Carlito"/>
                <a:cs typeface="Carlito"/>
              </a:rPr>
              <a:t>=</a:t>
            </a:r>
            <a:r>
              <a:rPr lang="en-US" sz="2000" b="1" spc="-75" dirty="0" smtClean="0">
                <a:solidFill>
                  <a:srgbClr val="FFFFFF"/>
                </a:solidFill>
                <a:latin typeface="Carlito"/>
                <a:cs typeface="Carlito"/>
              </a:rPr>
              <a:t>“ “</a:t>
            </a:r>
            <a:r>
              <a:rPr sz="2000" b="1" dirty="0" smtClean="0">
                <a:solidFill>
                  <a:srgbClr val="FFFFFF"/>
                </a:solidFill>
                <a:latin typeface="Carlito"/>
                <a:cs typeface="Carlito"/>
              </a:rPr>
              <a:t>)</a:t>
            </a:r>
            <a:endParaRPr sz="2000" dirty="0">
              <a:latin typeface="Carlito"/>
              <a:cs typeface="Carlito"/>
            </a:endParaRPr>
          </a:p>
          <a:p>
            <a:pPr marL="591820">
              <a:lnSpc>
                <a:spcPct val="100000"/>
              </a:lnSpc>
              <a:spcBef>
                <a:spcPts val="580"/>
              </a:spcBef>
            </a:pPr>
            <a:r>
              <a:rPr lang="en-US" sz="2000" b="1" spc="-10" dirty="0" smtClean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b="1" spc="-10" dirty="0" smtClean="0">
                <a:solidFill>
                  <a:srgbClr val="FFFFFF"/>
                </a:solidFill>
                <a:latin typeface="Carlito"/>
                <a:cs typeface="Carlito"/>
              </a:rPr>
              <a:t>print(</a:t>
            </a:r>
            <a:r>
              <a:rPr lang="en-US" sz="2000" b="1" spc="-10" dirty="0" smtClean="0">
                <a:solidFill>
                  <a:srgbClr val="FFFFFF"/>
                </a:solidFill>
                <a:latin typeface="Carlito"/>
                <a:cs typeface="Carlito"/>
              </a:rPr>
              <a:t>“\n”</a:t>
            </a:r>
            <a:r>
              <a:rPr sz="2000" b="1" spc="-10" dirty="0" smtClean="0">
                <a:solidFill>
                  <a:srgbClr val="FFFFFF"/>
                </a:solidFill>
                <a:latin typeface="Carlito"/>
                <a:cs typeface="Carlito"/>
              </a:rPr>
              <a:t>)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2415" y="6459"/>
            <a:ext cx="8822407" cy="6858000"/>
            <a:chOff x="762" y="761"/>
            <a:chExt cx="7924799" cy="6858000"/>
          </a:xfrm>
        </p:grpSpPr>
        <p:sp>
          <p:nvSpPr>
            <p:cNvPr id="3" name="object 3"/>
            <p:cNvSpPr/>
            <p:nvPr/>
          </p:nvSpPr>
          <p:spPr>
            <a:xfrm>
              <a:off x="762" y="761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6096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096000" y="6858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2" y="761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0" y="6858000"/>
                  </a:moveTo>
                  <a:lnTo>
                    <a:pt x="6096000" y="6858000"/>
                  </a:lnTo>
                  <a:lnTo>
                    <a:pt x="6096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48510" y="2134362"/>
              <a:ext cx="2777051" cy="3352800"/>
            </a:xfrm>
            <a:custGeom>
              <a:avLst/>
              <a:gdLst/>
              <a:ahLst/>
              <a:cxnLst/>
              <a:rect l="l" t="t" r="r" b="b"/>
              <a:pathLst>
                <a:path w="3200400" h="3352800">
                  <a:moveTo>
                    <a:pt x="3200399" y="0"/>
                  </a:moveTo>
                  <a:lnTo>
                    <a:pt x="0" y="0"/>
                  </a:lnTo>
                  <a:lnTo>
                    <a:pt x="0" y="3352800"/>
                  </a:lnTo>
                  <a:lnTo>
                    <a:pt x="3200399" y="3352800"/>
                  </a:lnTo>
                  <a:lnTo>
                    <a:pt x="32003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48510" y="2134362"/>
              <a:ext cx="2777050" cy="3352800"/>
            </a:xfrm>
            <a:custGeom>
              <a:avLst/>
              <a:gdLst/>
              <a:ahLst/>
              <a:cxnLst/>
              <a:rect l="l" t="t" r="r" b="b"/>
              <a:pathLst>
                <a:path w="3200400" h="3352800">
                  <a:moveTo>
                    <a:pt x="0" y="3352800"/>
                  </a:moveTo>
                  <a:lnTo>
                    <a:pt x="3200399" y="3352800"/>
                  </a:lnTo>
                  <a:lnTo>
                    <a:pt x="3200399" y="0"/>
                  </a:lnTo>
                  <a:lnTo>
                    <a:pt x="0" y="0"/>
                  </a:lnTo>
                  <a:lnTo>
                    <a:pt x="0" y="33528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7834" y="763269"/>
            <a:ext cx="351472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indent="-33845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Program to </a:t>
            </a:r>
            <a:r>
              <a:rPr spc="-10" dirty="0"/>
              <a:t>print  </a:t>
            </a:r>
            <a:r>
              <a:rPr spc="-15" dirty="0"/>
              <a:t>given</a:t>
            </a:r>
            <a:r>
              <a:rPr spc="-25" dirty="0"/>
              <a:t> pattern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34988" y="2597442"/>
            <a:ext cx="1596772" cy="22205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dirty="0">
                <a:latin typeface="Carlito"/>
                <a:cs typeface="Carlito"/>
              </a:rPr>
              <a:t>1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latin typeface="Carlito"/>
                <a:cs typeface="Carlito"/>
              </a:rPr>
              <a:t>22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b="1" spc="-5" dirty="0">
                <a:latin typeface="Carlito"/>
                <a:cs typeface="Carlito"/>
              </a:rPr>
              <a:t>333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latin typeface="Carlito"/>
                <a:cs typeface="Carlito"/>
              </a:rPr>
              <a:t>4444</a:t>
            </a:r>
            <a:endParaRPr sz="2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latin typeface="Carlito"/>
                <a:cs typeface="Carlito"/>
              </a:rPr>
              <a:t>55555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140" y="2909442"/>
            <a:ext cx="5255260" cy="21549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</a:pPr>
            <a:r>
              <a:rPr sz="2400" b="1" spc="-10" dirty="0" smtClean="0">
                <a:latin typeface="Carlito"/>
                <a:cs typeface="Carlito"/>
              </a:rPr>
              <a:t>r</a:t>
            </a:r>
            <a:r>
              <a:rPr sz="2400" b="1" dirty="0" smtClean="0">
                <a:latin typeface="Carlito"/>
                <a:cs typeface="Carlito"/>
              </a:rPr>
              <a:t>=</a:t>
            </a:r>
            <a:r>
              <a:rPr sz="2400" b="1" spc="-10" dirty="0" err="1" smtClean="0">
                <a:latin typeface="Carlito"/>
                <a:cs typeface="Carlito"/>
              </a:rPr>
              <a:t>int</a:t>
            </a:r>
            <a:r>
              <a:rPr sz="2400" b="1" spc="-10" dirty="0" smtClean="0">
                <a:latin typeface="Carlito"/>
                <a:cs typeface="Carlito"/>
              </a:rPr>
              <a:t>(input</a:t>
            </a:r>
            <a:r>
              <a:rPr sz="2400" b="1" spc="-10" dirty="0">
                <a:latin typeface="Carlito"/>
                <a:cs typeface="Carlito"/>
              </a:rPr>
              <a:t>("Enter </a:t>
            </a:r>
            <a:r>
              <a:rPr sz="2400" b="1" spc="-5" dirty="0">
                <a:latin typeface="Carlito"/>
                <a:cs typeface="Carlito"/>
              </a:rPr>
              <a:t>the </a:t>
            </a:r>
            <a:r>
              <a:rPr lang="en-US" sz="2400" b="1" spc="-5" dirty="0" smtClean="0">
                <a:latin typeface="Carlito"/>
                <a:cs typeface="Carlito"/>
              </a:rPr>
              <a:t>no. of </a:t>
            </a:r>
            <a:r>
              <a:rPr sz="2400" b="1" spc="-5" dirty="0" smtClean="0">
                <a:latin typeface="Carlito"/>
                <a:cs typeface="Carlito"/>
              </a:rPr>
              <a:t>rows</a:t>
            </a:r>
            <a:r>
              <a:rPr sz="2400" b="1" spc="-5" dirty="0">
                <a:latin typeface="Carlito"/>
                <a:cs typeface="Carlito"/>
              </a:rPr>
              <a:t>"))</a:t>
            </a:r>
            <a:endParaRPr sz="2400" dirty="0">
              <a:latin typeface="Carlito"/>
              <a:cs typeface="Carlito"/>
            </a:endParaRPr>
          </a:p>
          <a:p>
            <a:pPr marL="285115" marR="387350" indent="-273050">
              <a:lnSpc>
                <a:spcPct val="120000"/>
              </a:lnSpc>
            </a:pPr>
            <a:r>
              <a:rPr sz="2400" b="1" spc="-15" dirty="0">
                <a:latin typeface="Carlito"/>
                <a:cs typeface="Carlito"/>
              </a:rPr>
              <a:t>for </a:t>
            </a:r>
            <a:r>
              <a:rPr sz="2400" b="1" dirty="0">
                <a:latin typeface="Carlito"/>
                <a:cs typeface="Carlito"/>
              </a:rPr>
              <a:t>i </a:t>
            </a:r>
            <a:r>
              <a:rPr sz="2400" b="1" spc="-5" dirty="0">
                <a:latin typeface="Carlito"/>
                <a:cs typeface="Carlito"/>
              </a:rPr>
              <a:t>in</a:t>
            </a:r>
            <a:r>
              <a:rPr sz="2400" b="1" spc="-75" dirty="0">
                <a:latin typeface="Carlito"/>
                <a:cs typeface="Carlito"/>
              </a:rPr>
              <a:t> </a:t>
            </a:r>
            <a:r>
              <a:rPr sz="2400" b="1" spc="-10" dirty="0" smtClean="0">
                <a:latin typeface="Carlito"/>
                <a:cs typeface="Carlito"/>
              </a:rPr>
              <a:t>range(0,r+1</a:t>
            </a:r>
            <a:r>
              <a:rPr sz="2400" b="1" spc="-10" dirty="0">
                <a:latin typeface="Carlito"/>
                <a:cs typeface="Carlito"/>
              </a:rPr>
              <a:t>):  </a:t>
            </a:r>
            <a:endParaRPr lang="en-US" sz="2400" b="1" spc="-10" dirty="0" smtClean="0">
              <a:latin typeface="Carlito"/>
              <a:cs typeface="Carlito"/>
            </a:endParaRPr>
          </a:p>
          <a:p>
            <a:pPr marL="285115" marR="387350" indent="-273050">
              <a:lnSpc>
                <a:spcPct val="120000"/>
              </a:lnSpc>
            </a:pPr>
            <a:r>
              <a:rPr lang="en-US" sz="2400" b="1" spc="-10" dirty="0">
                <a:latin typeface="Carlito"/>
                <a:cs typeface="Carlito"/>
              </a:rPr>
              <a:t> </a:t>
            </a:r>
            <a:r>
              <a:rPr lang="en-US" sz="2400" b="1" spc="-10" dirty="0" smtClean="0">
                <a:latin typeface="Carlito"/>
                <a:cs typeface="Carlito"/>
              </a:rPr>
              <a:t>     </a:t>
            </a:r>
            <a:r>
              <a:rPr sz="2400" b="1" spc="-15" dirty="0" smtClean="0">
                <a:latin typeface="Carlito"/>
                <a:cs typeface="Carlito"/>
              </a:rPr>
              <a:t>for </a:t>
            </a:r>
            <a:r>
              <a:rPr sz="2400" b="1" dirty="0">
                <a:latin typeface="Carlito"/>
                <a:cs typeface="Carlito"/>
              </a:rPr>
              <a:t>j </a:t>
            </a:r>
            <a:r>
              <a:rPr sz="2400" b="1" spc="-5" dirty="0">
                <a:latin typeface="Carlito"/>
                <a:cs typeface="Carlito"/>
              </a:rPr>
              <a:t>in</a:t>
            </a:r>
            <a:r>
              <a:rPr sz="2400" b="1" spc="-30" dirty="0">
                <a:latin typeface="Carlito"/>
                <a:cs typeface="Carlito"/>
              </a:rPr>
              <a:t> </a:t>
            </a:r>
            <a:r>
              <a:rPr sz="2400" b="1" spc="-15" dirty="0">
                <a:latin typeface="Carlito"/>
                <a:cs typeface="Carlito"/>
              </a:rPr>
              <a:t>range(i):</a:t>
            </a:r>
            <a:endParaRPr sz="2400" dirty="0">
              <a:latin typeface="Carlito"/>
              <a:cs typeface="Carlito"/>
            </a:endParaRPr>
          </a:p>
          <a:p>
            <a:pPr marL="285115" marR="992505" indent="273050">
              <a:lnSpc>
                <a:spcPct val="120000"/>
              </a:lnSpc>
            </a:pPr>
            <a:r>
              <a:rPr lang="en-US" sz="2400" b="1" spc="-5" dirty="0" smtClean="0">
                <a:latin typeface="Carlito"/>
                <a:cs typeface="Carlito"/>
              </a:rPr>
              <a:t>    </a:t>
            </a:r>
            <a:r>
              <a:rPr sz="2400" b="1" spc="-5" dirty="0" smtClean="0">
                <a:latin typeface="Carlito"/>
                <a:cs typeface="Carlito"/>
              </a:rPr>
              <a:t>print(</a:t>
            </a:r>
            <a:r>
              <a:rPr sz="2400" b="1" spc="-5" dirty="0" err="1" smtClean="0">
                <a:latin typeface="Carlito"/>
                <a:cs typeface="Carlito"/>
              </a:rPr>
              <a:t>i,end</a:t>
            </a:r>
            <a:r>
              <a:rPr sz="2400" b="1" spc="-5" dirty="0" smtClean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=</a:t>
            </a:r>
            <a:r>
              <a:rPr sz="2400" b="1" spc="-80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'')  </a:t>
            </a:r>
            <a:endParaRPr lang="en-US" sz="2400" b="1" dirty="0">
              <a:latin typeface="Carlito"/>
              <a:cs typeface="Carlito"/>
            </a:endParaRPr>
          </a:p>
          <a:p>
            <a:pPr marL="285115" marR="992505" indent="273050">
              <a:lnSpc>
                <a:spcPct val="120000"/>
              </a:lnSpc>
            </a:pPr>
            <a:r>
              <a:rPr sz="2400" b="1" spc="-10" dirty="0" smtClean="0">
                <a:latin typeface="Carlito"/>
                <a:cs typeface="Carlito"/>
              </a:rPr>
              <a:t>print</a:t>
            </a:r>
            <a:r>
              <a:rPr sz="2400" b="1" spc="-10" dirty="0">
                <a:latin typeface="Carlito"/>
                <a:cs typeface="Carlito"/>
              </a:rPr>
              <a:t>()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58111" y="1447800"/>
            <a:ext cx="5961888" cy="396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Words>781</Words>
  <Application>Microsoft Office PowerPoint</Application>
  <PresentationFormat>On-screen Show (4:3)</PresentationFormat>
  <Paragraphs>219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Looping statements</vt:lpstr>
      <vt:lpstr>PowerPoint Presentation</vt:lpstr>
      <vt:lpstr>Types of Looping statements</vt:lpstr>
      <vt:lpstr>For Loop</vt:lpstr>
      <vt:lpstr>Flowchart</vt:lpstr>
      <vt:lpstr>Syntax</vt:lpstr>
      <vt:lpstr>Example</vt:lpstr>
      <vt:lpstr>To print  multiplication table</vt:lpstr>
      <vt:lpstr>Output</vt:lpstr>
      <vt:lpstr>Program to iterate through a  list using indexing</vt:lpstr>
      <vt:lpstr>While loop</vt:lpstr>
      <vt:lpstr>Flow chart</vt:lpstr>
      <vt:lpstr>PowerPoint Presentation</vt:lpstr>
      <vt:lpstr>Program to print list in reverse order</vt:lpstr>
      <vt:lpstr>Using if Statement with While Loop</vt:lpstr>
      <vt:lpstr>Using else Statement with While Loop</vt:lpstr>
      <vt:lpstr>Syntax</vt:lpstr>
      <vt:lpstr>Example</vt:lpstr>
      <vt:lpstr>Output</vt:lpstr>
      <vt:lpstr>Nested loop</vt:lpstr>
      <vt:lpstr>Output</vt:lpstr>
      <vt:lpstr>program to  print given  below  pattern</vt:lpstr>
      <vt:lpstr>Program to print  given pattern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Looping statements</dc:title>
  <cp:lastModifiedBy>HP</cp:lastModifiedBy>
  <cp:revision>33</cp:revision>
  <dcterms:created xsi:type="dcterms:W3CDTF">2023-12-03T06:03:33Z</dcterms:created>
  <dcterms:modified xsi:type="dcterms:W3CDTF">2023-12-03T07:45:59Z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2021-06-28T00:00:00Z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2023-12-03T00:00:00Z</vt:filetime>
  </property>
</Properties>
</file>