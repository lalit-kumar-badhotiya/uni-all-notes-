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9872" y="5945123"/>
            <a:ext cx="4898390" cy="913130"/>
          </a:xfrm>
          <a:custGeom>
            <a:avLst/>
            <a:gdLst/>
            <a:ahLst/>
            <a:cxnLst/>
            <a:rect l="l" t="t" r="r" b="b"/>
            <a:pathLst>
              <a:path w="4898390" h="913129">
                <a:moveTo>
                  <a:pt x="85556" y="21310"/>
                </a:moveTo>
                <a:lnTo>
                  <a:pt x="3637272" y="912874"/>
                </a:lnTo>
                <a:lnTo>
                  <a:pt x="4898144" y="912874"/>
                </a:lnTo>
                <a:lnTo>
                  <a:pt x="85556" y="21310"/>
                </a:lnTo>
                <a:close/>
              </a:path>
              <a:path w="4898390" h="913129">
                <a:moveTo>
                  <a:pt x="660" y="0"/>
                </a:moveTo>
                <a:lnTo>
                  <a:pt x="0" y="5460"/>
                </a:lnTo>
                <a:lnTo>
                  <a:pt x="85556" y="21310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6155" y="5939027"/>
            <a:ext cx="3654425" cy="919480"/>
          </a:xfrm>
          <a:custGeom>
            <a:avLst/>
            <a:gdLst/>
            <a:ahLst/>
            <a:cxnLst/>
            <a:rect l="l" t="t" r="r" b="b"/>
            <a:pathLst>
              <a:path w="3654425" h="919479">
                <a:moveTo>
                  <a:pt x="0" y="0"/>
                </a:moveTo>
                <a:lnTo>
                  <a:pt x="7924" y="6350"/>
                </a:lnTo>
                <a:lnTo>
                  <a:pt x="2870480" y="918970"/>
                </a:lnTo>
                <a:lnTo>
                  <a:pt x="3653984" y="918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789674"/>
            <a:ext cx="3398520" cy="10683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784670"/>
            <a:ext cx="3370852" cy="10733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5668" y="351180"/>
            <a:ext cx="5688330" cy="891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668" y="1712417"/>
            <a:ext cx="5843905" cy="3182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06945" y="6533757"/>
            <a:ext cx="718184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53965" y="6533147"/>
            <a:ext cx="1597659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26423" y="6533147"/>
            <a:ext cx="235584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9144000" cy="1905000"/>
            <a:chOff x="0" y="4953000"/>
            <a:chExt cx="9144000" cy="1905000"/>
          </a:xfrm>
        </p:grpSpPr>
        <p:sp>
          <p:nvSpPr>
            <p:cNvPr id="3" name="object 3"/>
            <p:cNvSpPr/>
            <p:nvPr/>
          </p:nvSpPr>
          <p:spPr>
            <a:xfrm>
              <a:off x="1687067" y="4953000"/>
              <a:ext cx="7457440" cy="487680"/>
            </a:xfrm>
            <a:custGeom>
              <a:avLst/>
              <a:gdLst/>
              <a:ahLst/>
              <a:cxnLst/>
              <a:rect l="l" t="t" r="r" b="b"/>
              <a:pathLst>
                <a:path w="7457440" h="487679">
                  <a:moveTo>
                    <a:pt x="7456932" y="0"/>
                  </a:moveTo>
                  <a:lnTo>
                    <a:pt x="0" y="289687"/>
                  </a:lnTo>
                  <a:lnTo>
                    <a:pt x="7456932" y="487680"/>
                  </a:lnTo>
                  <a:lnTo>
                    <a:pt x="7456932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959" y="5237988"/>
              <a:ext cx="9033510" cy="788035"/>
            </a:xfrm>
            <a:custGeom>
              <a:avLst/>
              <a:gdLst/>
              <a:ahLst/>
              <a:cxnLst/>
              <a:rect l="l" t="t" r="r" b="b"/>
              <a:pathLst>
                <a:path w="9033510" h="788035">
                  <a:moveTo>
                    <a:pt x="9033040" y="0"/>
                  </a:moveTo>
                  <a:lnTo>
                    <a:pt x="0" y="0"/>
                  </a:lnTo>
                  <a:lnTo>
                    <a:pt x="9033040" y="787908"/>
                  </a:lnTo>
                  <a:lnTo>
                    <a:pt x="9033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98718"/>
              <a:ext cx="9144000" cy="18592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991318"/>
              <a:ext cx="9143999" cy="80223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408551" y="367485"/>
            <a:ext cx="6211449" cy="4998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743278"/>
            <a:ext cx="770890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48640" algn="just">
              <a:lnSpc>
                <a:spcPct val="100000"/>
              </a:lnSpc>
              <a:spcBef>
                <a:spcPts val="105"/>
              </a:spcBef>
            </a:pP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Regular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expressions are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a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powerful language for 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matching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text patterns and standardized way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of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searching, 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replacing,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and parsing text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with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complex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patterns </a:t>
            </a:r>
            <a:r>
              <a:rPr sz="26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of  </a:t>
            </a:r>
            <a:r>
              <a:rPr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characters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827526"/>
            <a:ext cx="770826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864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All modern languages have </a:t>
            </a:r>
            <a:r>
              <a:rPr sz="2600" spc="-5" dirty="0">
                <a:latin typeface="Times New Roman"/>
                <a:cs typeface="Times New Roman"/>
              </a:rPr>
              <a:t>similar </a:t>
            </a:r>
            <a:r>
              <a:rPr sz="2600" dirty="0">
                <a:latin typeface="Times New Roman"/>
                <a:cs typeface="Times New Roman"/>
              </a:rPr>
              <a:t>library </a:t>
            </a:r>
            <a:r>
              <a:rPr sz="2600" spc="-5" dirty="0">
                <a:latin typeface="Times New Roman"/>
                <a:cs typeface="Times New Roman"/>
              </a:rPr>
              <a:t>packages  </a:t>
            </a:r>
            <a:r>
              <a:rPr sz="2600" dirty="0">
                <a:latin typeface="Times New Roman"/>
                <a:cs typeface="Times New Roman"/>
              </a:rPr>
              <a:t>for regular expressions </a:t>
            </a:r>
            <a:r>
              <a:rPr sz="2600" spc="-5" dirty="0">
                <a:latin typeface="Times New Roman"/>
                <a:cs typeface="Times New Roman"/>
              </a:rPr>
              <a:t>i.e., </a:t>
            </a:r>
            <a:r>
              <a:rPr sz="2600" b="1" i="1" spc="-5" dirty="0">
                <a:latin typeface="Times New Roman"/>
                <a:cs typeface="Times New Roman"/>
              </a:rPr>
              <a:t>re </a:t>
            </a:r>
            <a:r>
              <a:rPr sz="2600" dirty="0">
                <a:latin typeface="Times New Roman"/>
                <a:cs typeface="Times New Roman"/>
              </a:rPr>
              <a:t>built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module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442" y="955547"/>
            <a:ext cx="7471785" cy="444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503934"/>
            <a:ext cx="7237730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96520" indent="-256540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400" dirty="0">
                <a:latin typeface="Times New Roman"/>
                <a:cs typeface="Times New Roman"/>
              </a:rPr>
              <a:t>Hundreds of code could be reduced to a one line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elegant  regular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expression</a:t>
            </a:r>
            <a:endParaRPr sz="24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395"/>
              </a:spcBef>
              <a:buClr>
                <a:srgbClr val="00AFEF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to construct compilers, interpreters and text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editors</a:t>
            </a:r>
            <a:endParaRPr sz="24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409"/>
              </a:spcBef>
              <a:buClr>
                <a:srgbClr val="00AFEF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to search and </a:t>
            </a:r>
            <a:r>
              <a:rPr sz="2400" spc="-5" dirty="0">
                <a:latin typeface="Times New Roman"/>
                <a:cs typeface="Times New Roman"/>
              </a:rPr>
              <a:t>match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endParaRPr sz="24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395"/>
              </a:spcBef>
              <a:buClr>
                <a:srgbClr val="00AFEF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to validate text data </a:t>
            </a:r>
            <a:r>
              <a:rPr sz="2400" spc="-5" dirty="0">
                <a:latin typeface="Times New Roman"/>
                <a:cs typeface="Times New Roman"/>
              </a:rPr>
              <a:t>formats </a:t>
            </a:r>
            <a:r>
              <a:rPr sz="2400" dirty="0">
                <a:latin typeface="Times New Roman"/>
                <a:cs typeface="Times New Roman"/>
              </a:rPr>
              <a:t>especially input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269240" marR="5080" indent="-269240">
              <a:lnSpc>
                <a:spcPts val="3290"/>
              </a:lnSpc>
              <a:spcBef>
                <a:spcPts val="165"/>
              </a:spcBef>
              <a:buClr>
                <a:srgbClr val="00AFEF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400" dirty="0">
                <a:latin typeface="Times New Roman"/>
                <a:cs typeface="Times New Roman"/>
              </a:rPr>
              <a:t>Popular </a:t>
            </a:r>
            <a:r>
              <a:rPr sz="2400" spc="-5" dirty="0">
                <a:latin typeface="Times New Roman"/>
                <a:cs typeface="Times New Roman"/>
              </a:rPr>
              <a:t>programming </a:t>
            </a:r>
            <a:r>
              <a:rPr sz="2400" dirty="0">
                <a:latin typeface="Times New Roman"/>
                <a:cs typeface="Times New Roman"/>
              </a:rPr>
              <a:t>languages have </a:t>
            </a:r>
            <a:r>
              <a:rPr sz="2400" spc="-5" dirty="0">
                <a:latin typeface="Times New Roman"/>
                <a:cs typeface="Times New Roman"/>
              </a:rPr>
              <a:t>Regex </a:t>
            </a:r>
            <a:r>
              <a:rPr sz="2400" dirty="0">
                <a:latin typeface="Times New Roman"/>
                <a:cs typeface="Times New Roman"/>
              </a:rPr>
              <a:t>capabilities  Python, Perl, JavaScript, Ruby </a:t>
            </a:r>
            <a:r>
              <a:rPr sz="2400" spc="-40" dirty="0">
                <a:latin typeface="Times New Roman"/>
                <a:cs typeface="Times New Roman"/>
              </a:rPr>
              <a:t>,Tcl,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C++,C#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9783" y="696468"/>
            <a:ext cx="3505957" cy="444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3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189734"/>
            <a:ext cx="7534275" cy="30499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2149475" algn="l"/>
              </a:tabLst>
            </a:pPr>
            <a:r>
              <a:rPr sz="2500" spc="-5" dirty="0">
                <a:latin typeface="Times New Roman"/>
                <a:cs typeface="Times New Roman"/>
              </a:rPr>
              <a:t>General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uses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	regular expressions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to:</a:t>
            </a:r>
            <a:endParaRPr sz="2500">
              <a:latin typeface="Times New Roman"/>
              <a:cs typeface="Times New Roman"/>
            </a:endParaRPr>
          </a:p>
          <a:p>
            <a:pPr marL="1099185" indent="-499109">
              <a:lnSpc>
                <a:spcPct val="100000"/>
              </a:lnSpc>
              <a:spcBef>
                <a:spcPts val="409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1099185" algn="l"/>
                <a:tab pos="1099820" algn="l"/>
              </a:tabLst>
            </a:pPr>
            <a:r>
              <a:rPr sz="2500" spc="-5" dirty="0">
                <a:latin typeface="Times New Roman"/>
                <a:cs typeface="Times New Roman"/>
              </a:rPr>
              <a:t>Search a </a:t>
            </a:r>
            <a:r>
              <a:rPr sz="2500" dirty="0">
                <a:latin typeface="Times New Roman"/>
                <a:cs typeface="Times New Roman"/>
              </a:rPr>
              <a:t>string </a:t>
            </a:r>
            <a:r>
              <a:rPr sz="2500" spc="-5" dirty="0">
                <a:latin typeface="Times New Roman"/>
                <a:cs typeface="Times New Roman"/>
              </a:rPr>
              <a:t>(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search and</a:t>
            </a:r>
            <a:r>
              <a:rPr sz="25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match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1099185" indent="-499109">
              <a:lnSpc>
                <a:spcPct val="100000"/>
              </a:lnSpc>
              <a:spcBef>
                <a:spcPts val="395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1099185" algn="l"/>
                <a:tab pos="1099820" algn="l"/>
              </a:tabLst>
            </a:pPr>
            <a:r>
              <a:rPr sz="2500" spc="-5" dirty="0">
                <a:latin typeface="Times New Roman"/>
                <a:cs typeface="Times New Roman"/>
              </a:rPr>
              <a:t>Replace parts of a string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sub</a:t>
            </a:r>
            <a:r>
              <a:rPr sz="2500" spc="-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1099185" indent="-499109">
              <a:lnSpc>
                <a:spcPct val="100000"/>
              </a:lnSpc>
              <a:spcBef>
                <a:spcPts val="400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1099185" algn="l"/>
                <a:tab pos="1099820" algn="l"/>
              </a:tabLst>
            </a:pPr>
            <a:r>
              <a:rPr sz="2500" spc="-5" dirty="0">
                <a:latin typeface="Times New Roman"/>
                <a:cs typeface="Times New Roman"/>
              </a:rPr>
              <a:t>Break string into </a:t>
            </a:r>
            <a:r>
              <a:rPr sz="2500" spc="-10" dirty="0">
                <a:latin typeface="Times New Roman"/>
                <a:cs typeface="Times New Roman"/>
              </a:rPr>
              <a:t>small </a:t>
            </a:r>
            <a:r>
              <a:rPr sz="2500" spc="-5" dirty="0">
                <a:latin typeface="Times New Roman"/>
                <a:cs typeface="Times New Roman"/>
              </a:rPr>
              <a:t>pieces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split</a:t>
            </a:r>
            <a:r>
              <a:rPr sz="2500" spc="-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1178560" indent="-578485">
              <a:lnSpc>
                <a:spcPct val="100000"/>
              </a:lnSpc>
              <a:spcBef>
                <a:spcPts val="405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1178560" algn="l"/>
                <a:tab pos="1179195" algn="l"/>
              </a:tabLst>
            </a:pPr>
            <a:r>
              <a:rPr sz="2500" spc="-5" dirty="0">
                <a:latin typeface="Times New Roman"/>
                <a:cs typeface="Times New Roman"/>
              </a:rPr>
              <a:t>Finding a string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findall</a:t>
            </a:r>
            <a:r>
              <a:rPr sz="2500" spc="-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ts val="3400"/>
              </a:lnSpc>
              <a:spcBef>
                <a:spcPts val="175"/>
              </a:spcBef>
              <a:tabLst>
                <a:tab pos="2272665" algn="l"/>
              </a:tabLst>
            </a:pPr>
            <a:r>
              <a:rPr sz="2500" spc="-5" dirty="0">
                <a:latin typeface="Times New Roman"/>
                <a:cs typeface="Times New Roman"/>
              </a:rPr>
              <a:t>Before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	regular expressions in your </a:t>
            </a:r>
            <a:r>
              <a:rPr sz="2500" spc="-10" dirty="0">
                <a:latin typeface="Times New Roman"/>
                <a:cs typeface="Times New Roman"/>
              </a:rPr>
              <a:t>program, you  must import </a:t>
            </a:r>
            <a:r>
              <a:rPr sz="2500" spc="-5" dirty="0">
                <a:latin typeface="Times New Roman"/>
                <a:cs typeface="Times New Roman"/>
              </a:rPr>
              <a:t>the library using 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"import</a:t>
            </a:r>
            <a:r>
              <a:rPr sz="25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r>
              <a:rPr sz="2500" spc="-10" dirty="0">
                <a:solidFill>
                  <a:srgbClr val="C00000"/>
                </a:solidFill>
                <a:latin typeface="Times New Roman"/>
                <a:cs typeface="Times New Roman"/>
              </a:rPr>
              <a:t>"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4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51863"/>
            <a:ext cx="2481580" cy="26181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Alternative</a:t>
            </a:r>
            <a:endParaRPr sz="25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409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Grouping</a:t>
            </a:r>
            <a:endParaRPr sz="25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395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Quantification</a:t>
            </a:r>
            <a:endParaRPr sz="25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400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Anchors</a:t>
            </a:r>
            <a:endParaRPr sz="25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405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Meta- characters</a:t>
            </a:r>
            <a:endParaRPr sz="25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400"/>
              </a:spcBef>
              <a:buClr>
                <a:srgbClr val="00AFEF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Character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classes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4175" y="1451863"/>
            <a:ext cx="113664" cy="26181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500" spc="-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500" spc="-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500" spc="-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spc="-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500" spc="-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spc="-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8828" y="1451863"/>
            <a:ext cx="1769745" cy="261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38605">
              <a:lnSpc>
                <a:spcPct val="113599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|  </a:t>
            </a:r>
            <a:r>
              <a:rPr sz="2500" spc="-10" dirty="0">
                <a:latin typeface="Times New Roman"/>
                <a:cs typeface="Times New Roman"/>
              </a:rPr>
              <a:t>()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spc="-10" dirty="0">
                <a:latin typeface="Times New Roman"/>
                <a:cs typeface="Times New Roman"/>
              </a:rPr>
              <a:t>?*+{m,n}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500" spc="-5" dirty="0">
                <a:latin typeface="Times New Roman"/>
                <a:cs typeface="Times New Roman"/>
              </a:rPr>
              <a:t>^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$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500" spc="-5" dirty="0">
                <a:latin typeface="Times New Roman"/>
                <a:cs typeface="Times New Roman"/>
              </a:rPr>
              <a:t>.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[][-][^]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spc="-5" dirty="0">
                <a:latin typeface="Times New Roman"/>
                <a:cs typeface="Times New Roman"/>
              </a:rPr>
              <a:t>\d\D\w\W…..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28950" y="826008"/>
            <a:ext cx="3486098" cy="444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5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695283"/>
            <a:ext cx="5681980" cy="13601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700" b="0" i="1" dirty="0">
                <a:solidFill>
                  <a:srgbClr val="000000"/>
                </a:solidFill>
                <a:latin typeface="Times New Roman"/>
                <a:cs typeface="Times New Roman"/>
              </a:rPr>
              <a:t>Alternative:</a:t>
            </a:r>
            <a:endParaRPr sz="2700">
              <a:latin typeface="Times New Roman"/>
              <a:cs typeface="Times New Roman"/>
            </a:endParaRPr>
          </a:p>
          <a:p>
            <a:pPr marL="506730" marR="5080" indent="-494665">
              <a:lnSpc>
                <a:spcPct val="113199"/>
              </a:lnSpc>
              <a:spcBef>
                <a:spcPts val="20"/>
              </a:spcBef>
              <a:tabLst>
                <a:tab pos="629920" algn="l"/>
              </a:tabLst>
            </a:pPr>
            <a:r>
              <a:rPr b="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Eg:		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“cat|mat” ==“cat” or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“mat” 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“python|jython” ==“python” or</a:t>
            </a:r>
            <a:r>
              <a:rPr b="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“jython”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6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2455882"/>
            <a:ext cx="7125334" cy="135699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700" i="1" spc="-10" dirty="0">
                <a:latin typeface="Times New Roman"/>
                <a:cs typeface="Times New Roman"/>
              </a:rPr>
              <a:t>Grouping:</a:t>
            </a:r>
            <a:endParaRPr sz="2700">
              <a:latin typeface="Times New Roman"/>
              <a:cs typeface="Times New Roman"/>
            </a:endParaRPr>
          </a:p>
          <a:p>
            <a:pPr marL="817244" marR="5080" indent="-805180">
              <a:lnSpc>
                <a:spcPct val="113199"/>
              </a:lnSpc>
              <a:spcBef>
                <a:spcPts val="10"/>
              </a:spcBef>
              <a:tabLst>
                <a:tab pos="817244" algn="l"/>
              </a:tabLst>
            </a:pPr>
            <a:r>
              <a:rPr sz="2500" i="1" spc="-5" dirty="0">
                <a:latin typeface="Times New Roman"/>
                <a:cs typeface="Times New Roman"/>
              </a:rPr>
              <a:t>Eg:	</a:t>
            </a:r>
            <a:r>
              <a:rPr sz="2500" spc="-5" dirty="0">
                <a:latin typeface="Times New Roman"/>
                <a:cs typeface="Times New Roman"/>
              </a:rPr>
              <a:t>gr(r|a)y==“grey” or “gray”  </a:t>
            </a:r>
            <a:r>
              <a:rPr sz="2500" dirty="0">
                <a:latin typeface="Times New Roman"/>
                <a:cs typeface="Times New Roman"/>
              </a:rPr>
              <a:t>“ra(mil|n(ny|el))”==“ramil” </a:t>
            </a:r>
            <a:r>
              <a:rPr sz="2500" spc="-5" dirty="0">
                <a:latin typeface="Times New Roman"/>
                <a:cs typeface="Times New Roman"/>
              </a:rPr>
              <a:t>or “ranny” or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“ranel”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302463"/>
            <a:ext cx="24003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solidFill>
                  <a:srgbClr val="000000"/>
                </a:solidFill>
                <a:latin typeface="Times New Roman"/>
                <a:cs typeface="Times New Roman"/>
              </a:rPr>
              <a:t>Qu</a:t>
            </a:r>
            <a:r>
              <a:rPr sz="3200" b="0" i="1" spc="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2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ntificati</a:t>
            </a:r>
            <a:r>
              <a:rPr sz="3200" b="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32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7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778510"/>
            <a:ext cx="552577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80"/>
              </a:lnSpc>
              <a:spcBef>
                <a:spcPts val="95"/>
              </a:spcBef>
            </a:pP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? == zero or one of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preceding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element</a:t>
            </a:r>
            <a:endParaRPr sz="2200">
              <a:latin typeface="Times New Roman"/>
              <a:cs typeface="Times New Roman"/>
            </a:endParaRPr>
          </a:p>
          <a:p>
            <a:pPr marL="817244" marR="1142365" indent="-805180">
              <a:lnSpc>
                <a:spcPts val="2510"/>
              </a:lnSpc>
              <a:spcBef>
                <a:spcPts val="130"/>
              </a:spcBef>
              <a:tabLst>
                <a:tab pos="817244" algn="l"/>
              </a:tabLst>
            </a:pPr>
            <a:r>
              <a:rPr sz="2200" i="1" spc="-5" dirty="0">
                <a:latin typeface="Times New Roman"/>
                <a:cs typeface="Times New Roman"/>
              </a:rPr>
              <a:t>Eg:	</a:t>
            </a:r>
            <a:r>
              <a:rPr sz="2200" spc="-5" dirty="0">
                <a:latin typeface="Times New Roman"/>
                <a:cs typeface="Times New Roman"/>
              </a:rPr>
              <a:t>“rani?el”==“raniel” or “ranel”  “colou?r”==“colour” 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“color”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575"/>
              </a:lnSpc>
            </a:pP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* == zero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or 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more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of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preceding</a:t>
            </a:r>
            <a:r>
              <a:rPr sz="220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element</a:t>
            </a:r>
            <a:endParaRPr sz="2200">
              <a:latin typeface="Times New Roman"/>
              <a:cs typeface="Times New Roman"/>
            </a:endParaRPr>
          </a:p>
          <a:p>
            <a:pPr marL="817244" marR="5080" indent="-805180">
              <a:lnSpc>
                <a:spcPts val="2510"/>
              </a:lnSpc>
              <a:spcBef>
                <a:spcPts val="125"/>
              </a:spcBef>
              <a:tabLst>
                <a:tab pos="817244" algn="l"/>
              </a:tabLst>
            </a:pPr>
            <a:r>
              <a:rPr sz="2200" i="1" spc="-5" dirty="0">
                <a:latin typeface="Times New Roman"/>
                <a:cs typeface="Times New Roman"/>
              </a:rPr>
              <a:t>Eg:	</a:t>
            </a:r>
            <a:r>
              <a:rPr sz="2200" spc="-5" dirty="0">
                <a:latin typeface="Times New Roman"/>
                <a:cs typeface="Times New Roman"/>
              </a:rPr>
              <a:t>“fo*ot”==“foot” or </a:t>
            </a:r>
            <a:r>
              <a:rPr sz="2200" dirty="0">
                <a:latin typeface="Times New Roman"/>
                <a:cs typeface="Times New Roman"/>
              </a:rPr>
              <a:t>“fooot” </a:t>
            </a:r>
            <a:r>
              <a:rPr sz="2200" spc="-5" dirty="0">
                <a:latin typeface="Times New Roman"/>
                <a:cs typeface="Times New Roman"/>
              </a:rPr>
              <a:t>or </a:t>
            </a:r>
            <a:r>
              <a:rPr sz="2200" dirty="0">
                <a:latin typeface="Times New Roman"/>
                <a:cs typeface="Times New Roman"/>
              </a:rPr>
              <a:t>“foooooot”  </a:t>
            </a:r>
            <a:r>
              <a:rPr sz="2200" spc="-5" dirty="0">
                <a:latin typeface="Times New Roman"/>
                <a:cs typeface="Times New Roman"/>
              </a:rPr>
              <a:t>“94*9” ==“99” or “9449” 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“9444449”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575"/>
              </a:lnSpc>
            </a:pP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+ == one or 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more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of the preceding</a:t>
            </a:r>
            <a:r>
              <a:rPr sz="2200" spc="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element</a:t>
            </a:r>
            <a:endParaRPr sz="2200">
              <a:latin typeface="Times New Roman"/>
              <a:cs typeface="Times New Roman"/>
            </a:endParaRPr>
          </a:p>
          <a:p>
            <a:pPr marL="817244" marR="547370" indent="-805180">
              <a:lnSpc>
                <a:spcPts val="2520"/>
              </a:lnSpc>
              <a:spcBef>
                <a:spcPts val="120"/>
              </a:spcBef>
              <a:tabLst>
                <a:tab pos="817244" algn="l"/>
              </a:tabLst>
            </a:pPr>
            <a:r>
              <a:rPr sz="2200" i="1" spc="-5" dirty="0">
                <a:latin typeface="Times New Roman"/>
                <a:cs typeface="Times New Roman"/>
              </a:rPr>
              <a:t>Eg:	</a:t>
            </a:r>
            <a:r>
              <a:rPr sz="2200" spc="-5" dirty="0">
                <a:latin typeface="Times New Roman"/>
                <a:cs typeface="Times New Roman"/>
              </a:rPr>
              <a:t>“too+fan”==“toofan” or </a:t>
            </a:r>
            <a:r>
              <a:rPr sz="2200" dirty="0">
                <a:latin typeface="Times New Roman"/>
                <a:cs typeface="Times New Roman"/>
              </a:rPr>
              <a:t>“tooooofan”  </a:t>
            </a:r>
            <a:r>
              <a:rPr sz="2200" spc="-5" dirty="0">
                <a:latin typeface="Times New Roman"/>
                <a:cs typeface="Times New Roman"/>
              </a:rPr>
              <a:t>“36+40”==“3640” 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“3666640”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580"/>
              </a:lnSpc>
            </a:pP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{m,n} == m to n times of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preceding element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5"/>
              </a:lnSpc>
              <a:tabLst>
                <a:tab pos="817244" algn="l"/>
              </a:tabLst>
            </a:pPr>
            <a:r>
              <a:rPr sz="2200" i="1" spc="-5" dirty="0">
                <a:latin typeface="Times New Roman"/>
                <a:cs typeface="Times New Roman"/>
              </a:rPr>
              <a:t>Eg:	</a:t>
            </a:r>
            <a:r>
              <a:rPr sz="2200" spc="-5" dirty="0">
                <a:latin typeface="Times New Roman"/>
                <a:cs typeface="Times New Roman"/>
              </a:rPr>
              <a:t>“go{2,3}gle”== </a:t>
            </a:r>
            <a:r>
              <a:rPr sz="2200" dirty="0">
                <a:latin typeface="Times New Roman"/>
                <a:cs typeface="Times New Roman"/>
              </a:rPr>
              <a:t>“google”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“gooogle”</a:t>
            </a:r>
            <a:endParaRPr sz="2200">
              <a:latin typeface="Times New Roman"/>
              <a:cs typeface="Times New Roman"/>
            </a:endParaRPr>
          </a:p>
          <a:p>
            <a:pPr marL="817244">
              <a:lnSpc>
                <a:spcPts val="2510"/>
              </a:lnSpc>
            </a:pPr>
            <a:r>
              <a:rPr sz="2200" spc="-5" dirty="0">
                <a:latin typeface="Times New Roman"/>
                <a:cs typeface="Times New Roman"/>
              </a:rPr>
              <a:t>“6{3}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“==“666”</a:t>
            </a:r>
            <a:endParaRPr sz="2200">
              <a:latin typeface="Times New Roman"/>
              <a:cs typeface="Times New Roman"/>
            </a:endParaRPr>
          </a:p>
          <a:p>
            <a:pPr marL="817244">
              <a:lnSpc>
                <a:spcPts val="2575"/>
              </a:lnSpc>
              <a:tabLst>
                <a:tab pos="4563745" algn="l"/>
              </a:tabLst>
            </a:pPr>
            <a:r>
              <a:rPr sz="2200" spc="-5" dirty="0">
                <a:latin typeface="Times New Roman"/>
                <a:cs typeface="Times New Roman"/>
              </a:rPr>
              <a:t>“s{2,}”==“ss” </a:t>
            </a:r>
            <a:r>
              <a:rPr sz="2200" dirty="0">
                <a:latin typeface="Times New Roman"/>
                <a:cs typeface="Times New Roman"/>
              </a:rPr>
              <a:t>or </a:t>
            </a:r>
            <a:r>
              <a:rPr sz="2200" spc="-10" dirty="0">
                <a:latin typeface="Times New Roman"/>
                <a:cs typeface="Times New Roman"/>
              </a:rPr>
              <a:t>“sss”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“ssss”	</a:t>
            </a:r>
            <a:r>
              <a:rPr sz="2200" spc="-5" dirty="0">
                <a:latin typeface="Times New Roman"/>
                <a:cs typeface="Times New Roman"/>
              </a:rPr>
              <a:t>……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1011682"/>
            <a:ext cx="11703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i="1" dirty="0">
                <a:solidFill>
                  <a:srgbClr val="000000"/>
                </a:solidFill>
                <a:latin typeface="Times New Roman"/>
                <a:cs typeface="Times New Roman"/>
              </a:rPr>
              <a:t>Anch</a:t>
            </a:r>
            <a:r>
              <a:rPr sz="2700" b="0" i="1" spc="10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2700" b="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rs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8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1856217"/>
            <a:ext cx="6582409" cy="30492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500" spc="-5" dirty="0">
                <a:solidFill>
                  <a:srgbClr val="006FC0"/>
                </a:solidFill>
                <a:latin typeface="Times New Roman"/>
                <a:cs typeface="Times New Roman"/>
              </a:rPr>
              <a:t>^ == matches the starting position with in the</a:t>
            </a:r>
            <a:r>
              <a:rPr sz="2500" spc="1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6FC0"/>
                </a:solidFill>
                <a:latin typeface="Times New Roman"/>
                <a:cs typeface="Times New Roman"/>
              </a:rPr>
              <a:t>string</a:t>
            </a:r>
            <a:endParaRPr sz="2500">
              <a:latin typeface="Times New Roman"/>
              <a:cs typeface="Times New Roman"/>
            </a:endParaRPr>
          </a:p>
          <a:p>
            <a:pPr marL="817244" marR="516890" indent="-805180">
              <a:lnSpc>
                <a:spcPts val="3410"/>
              </a:lnSpc>
              <a:spcBef>
                <a:spcPts val="170"/>
              </a:spcBef>
              <a:tabLst>
                <a:tab pos="817244" algn="l"/>
              </a:tabLst>
            </a:pPr>
            <a:r>
              <a:rPr sz="2500" i="1" spc="-5" dirty="0">
                <a:latin typeface="Times New Roman"/>
                <a:cs typeface="Times New Roman"/>
              </a:rPr>
              <a:t>Eg:	</a:t>
            </a:r>
            <a:r>
              <a:rPr sz="2500" spc="-5" dirty="0">
                <a:latin typeface="Times New Roman"/>
                <a:cs typeface="Times New Roman"/>
              </a:rPr>
              <a:t>“^obje”==“object” or “object – oriented”  “^2014”==“2014” or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“2014/20/07”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spc="-5" dirty="0">
                <a:solidFill>
                  <a:srgbClr val="006FC0"/>
                </a:solidFill>
                <a:latin typeface="Times New Roman"/>
                <a:cs typeface="Times New Roman"/>
              </a:rPr>
              <a:t>$ == </a:t>
            </a:r>
            <a:r>
              <a:rPr sz="2500" spc="-10" dirty="0">
                <a:solidFill>
                  <a:srgbClr val="006FC0"/>
                </a:solidFill>
                <a:latin typeface="Times New Roman"/>
                <a:cs typeface="Times New Roman"/>
              </a:rPr>
              <a:t>matches </a:t>
            </a:r>
            <a:r>
              <a:rPr sz="2500" spc="-5" dirty="0">
                <a:solidFill>
                  <a:srgbClr val="006FC0"/>
                </a:solidFill>
                <a:latin typeface="Times New Roman"/>
                <a:cs typeface="Times New Roman"/>
              </a:rPr>
              <a:t>the ending position with in the</a:t>
            </a:r>
            <a:r>
              <a:rPr sz="2500" spc="20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6FC0"/>
                </a:solidFill>
                <a:latin typeface="Times New Roman"/>
                <a:cs typeface="Times New Roman"/>
              </a:rPr>
              <a:t>string</a:t>
            </a:r>
            <a:endParaRPr sz="2500">
              <a:latin typeface="Times New Roman"/>
              <a:cs typeface="Times New Roman"/>
            </a:endParaRPr>
          </a:p>
          <a:p>
            <a:pPr marL="817244" marR="619760" indent="-805180">
              <a:lnSpc>
                <a:spcPct val="113199"/>
              </a:lnSpc>
              <a:spcBef>
                <a:spcPts val="15"/>
              </a:spcBef>
              <a:tabLst>
                <a:tab pos="817244" algn="l"/>
              </a:tabLst>
            </a:pPr>
            <a:r>
              <a:rPr sz="2500" i="1" spc="-5" dirty="0">
                <a:latin typeface="Times New Roman"/>
                <a:cs typeface="Times New Roman"/>
              </a:rPr>
              <a:t>Eg:	</a:t>
            </a:r>
            <a:r>
              <a:rPr sz="2500" spc="-5" dirty="0">
                <a:latin typeface="Times New Roman"/>
                <a:cs typeface="Times New Roman"/>
              </a:rPr>
              <a:t>“gram$”==“program” or “kilogram”  “2014$” == “20/07/2014”,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“2013-2014”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455421"/>
            <a:ext cx="27406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solidFill>
                  <a:srgbClr val="000000"/>
                </a:solidFill>
                <a:latin typeface="Times New Roman"/>
                <a:cs typeface="Times New Roman"/>
              </a:rPr>
              <a:t>Meta-characters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9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937006"/>
            <a:ext cx="7647305" cy="470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65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.(dot)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==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matches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any single</a:t>
            </a:r>
            <a:r>
              <a:rPr sz="2000" spc="-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character</a:t>
            </a:r>
            <a:endParaRPr sz="2000">
              <a:latin typeface="Times New Roman"/>
              <a:cs typeface="Times New Roman"/>
            </a:endParaRPr>
          </a:p>
          <a:p>
            <a:pPr marL="817244" marR="2987040" indent="-805180">
              <a:lnSpc>
                <a:spcPts val="2320"/>
              </a:lnSpc>
              <a:spcBef>
                <a:spcPts val="105"/>
              </a:spcBef>
              <a:tabLst>
                <a:tab pos="817244" algn="l"/>
              </a:tabLst>
            </a:pPr>
            <a:r>
              <a:rPr sz="2000" i="1" dirty="0">
                <a:latin typeface="Times New Roman"/>
                <a:cs typeface="Times New Roman"/>
              </a:rPr>
              <a:t>Eg:	</a:t>
            </a:r>
            <a:r>
              <a:rPr sz="2000" dirty="0">
                <a:latin typeface="Times New Roman"/>
                <a:cs typeface="Times New Roman"/>
              </a:rPr>
              <a:t>“bat.”== “bat” or “bats” or “bata”  “87.1”==“8741” or “8751” or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“8761”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15"/>
              </a:lnSpc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[]==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matches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 single character that is contained with in the</a:t>
            </a:r>
            <a:r>
              <a:rPr sz="2000" spc="-2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brackets</a:t>
            </a:r>
            <a:endParaRPr sz="2000">
              <a:latin typeface="Times New Roman"/>
              <a:cs typeface="Times New Roman"/>
            </a:endParaRPr>
          </a:p>
          <a:p>
            <a:pPr marL="817244" marR="3928745" indent="-805180">
              <a:lnSpc>
                <a:spcPts val="2320"/>
              </a:lnSpc>
              <a:spcBef>
                <a:spcPts val="110"/>
              </a:spcBef>
              <a:tabLst>
                <a:tab pos="817244" algn="l"/>
              </a:tabLst>
            </a:pPr>
            <a:r>
              <a:rPr sz="2000" i="1" dirty="0">
                <a:latin typeface="Times New Roman"/>
                <a:cs typeface="Times New Roman"/>
              </a:rPr>
              <a:t>Eg:	</a:t>
            </a:r>
            <a:r>
              <a:rPr sz="2000" spc="-5" dirty="0">
                <a:latin typeface="Times New Roman"/>
                <a:cs typeface="Times New Roman"/>
              </a:rPr>
              <a:t>“[xyz]” </a:t>
            </a:r>
            <a:r>
              <a:rPr sz="2000" dirty="0">
                <a:latin typeface="Times New Roman"/>
                <a:cs typeface="Times New Roman"/>
              </a:rPr>
              <a:t>== “x” or </a:t>
            </a:r>
            <a:r>
              <a:rPr sz="2000" spc="-5" dirty="0">
                <a:latin typeface="Times New Roman"/>
                <a:cs typeface="Times New Roman"/>
              </a:rPr>
              <a:t>“y”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“z”  “[aeiou]”==any vowel  “[0123456789]”==any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  <a:p>
            <a:pPr marL="268605" marR="5080" indent="-256540">
              <a:lnSpc>
                <a:spcPts val="1920"/>
              </a:lnSpc>
              <a:spcBef>
                <a:spcPts val="320"/>
              </a:spcBef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[ - ] ==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matches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 single character that is contained within the brackets</a:t>
            </a:r>
            <a:r>
              <a:rPr sz="2000" spc="-1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and  the specified</a:t>
            </a:r>
            <a:r>
              <a:rPr sz="20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range.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90"/>
              </a:lnSpc>
              <a:tabLst>
                <a:tab pos="817244" algn="l"/>
              </a:tabLst>
            </a:pPr>
            <a:r>
              <a:rPr sz="2000" i="1" dirty="0">
                <a:latin typeface="Times New Roman"/>
                <a:cs typeface="Times New Roman"/>
              </a:rPr>
              <a:t>Eg:	</a:t>
            </a:r>
            <a:r>
              <a:rPr sz="2000" dirty="0">
                <a:latin typeface="Times New Roman"/>
                <a:cs typeface="Times New Roman"/>
              </a:rPr>
              <a:t>“[a-c]” == “a” </a:t>
            </a:r>
            <a:r>
              <a:rPr sz="2000" spc="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“b” or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“c”</a:t>
            </a:r>
            <a:endParaRPr sz="2000">
              <a:latin typeface="Times New Roman"/>
              <a:cs typeface="Times New Roman"/>
            </a:endParaRPr>
          </a:p>
          <a:p>
            <a:pPr marL="817244" marR="1757045">
              <a:lnSpc>
                <a:spcPts val="233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“[a-zA-Z]” == </a:t>
            </a:r>
            <a:r>
              <a:rPr sz="2000" spc="-5" dirty="0">
                <a:latin typeface="Times New Roman"/>
                <a:cs typeface="Times New Roman"/>
              </a:rPr>
              <a:t>all letters </a:t>
            </a:r>
            <a:r>
              <a:rPr sz="2000" dirty="0">
                <a:latin typeface="Times New Roman"/>
                <a:cs typeface="Times New Roman"/>
              </a:rPr>
              <a:t>(lowercase &amp;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uppercase)  “[0-9]” ==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digits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05"/>
              </a:lnSpc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[^ ] ==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matches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 single character that is 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not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contained within the</a:t>
            </a:r>
            <a:r>
              <a:rPr sz="2000" spc="-2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brackets.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20"/>
              </a:lnSpc>
              <a:tabLst>
                <a:tab pos="817244" algn="l"/>
              </a:tabLst>
            </a:pPr>
            <a:r>
              <a:rPr sz="2000" i="1" dirty="0">
                <a:latin typeface="Times New Roman"/>
                <a:cs typeface="Times New Roman"/>
              </a:rPr>
              <a:t>Eg:	</a:t>
            </a:r>
            <a:r>
              <a:rPr sz="2000" dirty="0">
                <a:latin typeface="Times New Roman"/>
                <a:cs typeface="Times New Roman"/>
              </a:rPr>
              <a:t>“[^aeiou]” == any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non-vowel</a:t>
            </a:r>
            <a:endParaRPr sz="2000">
              <a:latin typeface="Times New Roman"/>
              <a:cs typeface="Times New Roman"/>
            </a:endParaRPr>
          </a:p>
          <a:p>
            <a:pPr marL="817244">
              <a:lnSpc>
                <a:spcPts val="2325"/>
              </a:lnSpc>
            </a:pPr>
            <a:r>
              <a:rPr sz="2000" dirty="0">
                <a:latin typeface="Times New Roman"/>
                <a:cs typeface="Times New Roman"/>
              </a:rPr>
              <a:t>“[^0-9]” == any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non-digit</a:t>
            </a:r>
            <a:endParaRPr sz="2000">
              <a:latin typeface="Times New Roman"/>
              <a:cs typeface="Times New Roman"/>
            </a:endParaRPr>
          </a:p>
          <a:p>
            <a:pPr marL="817244">
              <a:lnSpc>
                <a:spcPts val="2360"/>
              </a:lnSpc>
            </a:pPr>
            <a:r>
              <a:rPr sz="2000" dirty="0">
                <a:latin typeface="Times New Roman"/>
                <a:cs typeface="Times New Roman"/>
              </a:rPr>
              <a:t>“[^xyz]” == any </a:t>
            </a:r>
            <a:r>
              <a:rPr sz="2000" spc="-10" dirty="0">
                <a:latin typeface="Times New Roman"/>
                <a:cs typeface="Times New Roman"/>
              </a:rPr>
              <a:t>character, </a:t>
            </a:r>
            <a:r>
              <a:rPr sz="2000" spc="5" dirty="0">
                <a:latin typeface="Times New Roman"/>
                <a:cs typeface="Times New Roman"/>
              </a:rPr>
              <a:t>but not </a:t>
            </a:r>
            <a:r>
              <a:rPr sz="2000" dirty="0">
                <a:latin typeface="Times New Roman"/>
                <a:cs typeface="Times New Roman"/>
              </a:rPr>
              <a:t>“x”, </a:t>
            </a:r>
            <a:r>
              <a:rPr sz="2000" spc="-5" dirty="0">
                <a:latin typeface="Times New Roman"/>
                <a:cs typeface="Times New Roman"/>
              </a:rPr>
              <a:t>“y”,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“z”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325323"/>
            <a:ext cx="25698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i="1" dirty="0">
                <a:solidFill>
                  <a:srgbClr val="000000"/>
                </a:solidFill>
                <a:latin typeface="Times New Roman"/>
                <a:cs typeface="Times New Roman"/>
              </a:rPr>
              <a:t>Character</a:t>
            </a:r>
            <a:r>
              <a:rPr sz="2700" b="0" i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b="0" i="1" dirty="0">
                <a:solidFill>
                  <a:srgbClr val="000000"/>
                </a:solidFill>
                <a:latin typeface="Times New Roman"/>
                <a:cs typeface="Times New Roman"/>
              </a:rPr>
              <a:t>Classes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668" y="790701"/>
            <a:ext cx="69456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Character classes specifies a group of characters to </a:t>
            </a:r>
            <a:r>
              <a:rPr sz="2000" spc="-5" dirty="0">
                <a:latin typeface="Times New Roman"/>
                <a:cs typeface="Times New Roman"/>
              </a:rPr>
              <a:t>match </a:t>
            </a:r>
            <a:r>
              <a:rPr sz="2000" dirty="0">
                <a:latin typeface="Times New Roman"/>
                <a:cs typeface="Times New Roman"/>
              </a:rPr>
              <a:t>in a</a:t>
            </a:r>
            <a:r>
              <a:rPr sz="2000" spc="-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097635"/>
            <a:ext cx="280035" cy="10909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000" spc="-5" dirty="0">
                <a:latin typeface="Times New Roman"/>
                <a:cs typeface="Times New Roman"/>
              </a:rPr>
              <a:t>\d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\</a:t>
            </a: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\s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1097635"/>
            <a:ext cx="6064250" cy="464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0380">
              <a:lnSpc>
                <a:spcPct val="1165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decimal </a:t>
            </a:r>
            <a:r>
              <a:rPr sz="2000" dirty="0">
                <a:latin typeface="Times New Roman"/>
                <a:cs typeface="Times New Roman"/>
              </a:rPr>
              <a:t>digit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[0-9]  </a:t>
            </a: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spc="5" dirty="0">
                <a:latin typeface="Times New Roman"/>
                <a:cs typeface="Times New Roman"/>
              </a:rPr>
              <a:t>non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digits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Times New Roman"/>
                <a:cs typeface="Times New Roman"/>
              </a:rPr>
              <a:t>Matches a single white space character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[\t-tab,\n-newline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\r-return,\v-space,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\f-form]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any non-white space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alphanumeric character </a:t>
            </a:r>
            <a:r>
              <a:rPr sz="2000" spc="-5" dirty="0">
                <a:latin typeface="Times New Roman"/>
                <a:cs typeface="Times New Roman"/>
              </a:rPr>
              <a:t>class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([a-zA-Z0-9_])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16599"/>
              </a:lnSpc>
              <a:spcBef>
                <a:spcPts val="10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non-alphanumeric character </a:t>
            </a:r>
            <a:r>
              <a:rPr sz="2000" spc="-5" dirty="0">
                <a:latin typeface="Times New Roman"/>
                <a:cs typeface="Times New Roman"/>
              </a:rPr>
              <a:t>class ([^a-zA-Z0-9_])  Matches </a:t>
            </a:r>
            <a:r>
              <a:rPr sz="2000" spc="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more </a:t>
            </a:r>
            <a:r>
              <a:rPr sz="2000" dirty="0">
                <a:latin typeface="Times New Roman"/>
                <a:cs typeface="Times New Roman"/>
              </a:rPr>
              <a:t>words /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word boundaries when outside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brackets.</a:t>
            </a:r>
            <a:endParaRPr sz="2000">
              <a:latin typeface="Times New Roman"/>
              <a:cs typeface="Times New Roman"/>
            </a:endParaRPr>
          </a:p>
          <a:p>
            <a:pPr marL="12700" marR="1818005">
              <a:lnSpc>
                <a:spcPct val="116500"/>
              </a:lnSpc>
              <a:spcBef>
                <a:spcPts val="15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backspace when inside brackets  </a:t>
            </a: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spc="5" dirty="0">
                <a:latin typeface="Times New Roman"/>
                <a:cs typeface="Times New Roman"/>
              </a:rPr>
              <a:t>nonword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boundaries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Times New Roman"/>
                <a:cs typeface="Times New Roman"/>
              </a:rPr>
              <a:t>Matches beginning of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Matches </a:t>
            </a:r>
            <a:r>
              <a:rPr sz="2000" dirty="0">
                <a:latin typeface="Times New Roman"/>
                <a:cs typeface="Times New Roman"/>
              </a:rPr>
              <a:t>end 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2519908"/>
            <a:ext cx="424815" cy="180276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000" spc="-5" dirty="0">
                <a:latin typeface="Times New Roman"/>
                <a:cs typeface="Times New Roman"/>
              </a:rPr>
              <a:t>\S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\w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\W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\</a:t>
            </a:r>
            <a:r>
              <a:rPr sz="2000" spc="5" dirty="0">
                <a:latin typeface="Times New Roman"/>
                <a:cs typeface="Times New Roman"/>
              </a:rPr>
              <a:t>w+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\b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4654126"/>
            <a:ext cx="280035" cy="10922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000" spc="-5" dirty="0">
                <a:latin typeface="Times New Roman"/>
                <a:cs typeface="Times New Roman"/>
              </a:rPr>
              <a:t>\B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latin typeface="Times New Roman"/>
                <a:cs typeface="Times New Roman"/>
              </a:rPr>
              <a:t>\</a:t>
            </a:r>
            <a:r>
              <a:rPr sz="200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\z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5400" y="1319911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5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5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5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5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5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5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2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5400" y="1624711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5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5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5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5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5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5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2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95400" y="20057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5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5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5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5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5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5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2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5400" y="26915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5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5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5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5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5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5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2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95400" y="30725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5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5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5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5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5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5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2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5400" y="34535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4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4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4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4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4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4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2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95400" y="37583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4">
                <a:moveTo>
                  <a:pt x="889290" y="51688"/>
                </a:moveTo>
                <a:lnTo>
                  <a:pt x="819404" y="92456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4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4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4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4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4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1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95400" y="41393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4">
                <a:moveTo>
                  <a:pt x="889290" y="51688"/>
                </a:moveTo>
                <a:lnTo>
                  <a:pt x="819404" y="92456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4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4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4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4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4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1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95400" y="48251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4">
                <a:moveTo>
                  <a:pt x="889290" y="51688"/>
                </a:moveTo>
                <a:lnTo>
                  <a:pt x="819404" y="92456"/>
                </a:lnTo>
                <a:lnTo>
                  <a:pt x="818388" y="96265"/>
                </a:lnTo>
                <a:lnTo>
                  <a:pt x="821944" y="102362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4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4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4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4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4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1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95400" y="52061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4">
                <a:moveTo>
                  <a:pt x="889290" y="51688"/>
                </a:moveTo>
                <a:lnTo>
                  <a:pt x="819404" y="92455"/>
                </a:lnTo>
                <a:lnTo>
                  <a:pt x="818388" y="96265"/>
                </a:lnTo>
                <a:lnTo>
                  <a:pt x="821944" y="102361"/>
                </a:lnTo>
                <a:lnTo>
                  <a:pt x="825754" y="103377"/>
                </a:lnTo>
                <a:lnTo>
                  <a:pt x="903509" y="58038"/>
                </a:lnTo>
                <a:lnTo>
                  <a:pt x="901826" y="58038"/>
                </a:lnTo>
                <a:lnTo>
                  <a:pt x="901826" y="57150"/>
                </a:lnTo>
                <a:lnTo>
                  <a:pt x="898651" y="57150"/>
                </a:lnTo>
                <a:lnTo>
                  <a:pt x="889290" y="51688"/>
                </a:lnTo>
                <a:close/>
              </a:path>
              <a:path w="914400" h="103504">
                <a:moveTo>
                  <a:pt x="878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404" y="58038"/>
                </a:lnTo>
                <a:lnTo>
                  <a:pt x="889290" y="51688"/>
                </a:lnTo>
                <a:lnTo>
                  <a:pt x="878404" y="45338"/>
                </a:lnTo>
                <a:close/>
              </a:path>
              <a:path w="914400" h="103504">
                <a:moveTo>
                  <a:pt x="903509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09" y="58038"/>
                </a:lnTo>
                <a:lnTo>
                  <a:pt x="914400" y="51688"/>
                </a:lnTo>
                <a:lnTo>
                  <a:pt x="903509" y="45338"/>
                </a:lnTo>
                <a:close/>
              </a:path>
              <a:path w="914400" h="103504">
                <a:moveTo>
                  <a:pt x="898651" y="46227"/>
                </a:moveTo>
                <a:lnTo>
                  <a:pt x="889290" y="51688"/>
                </a:lnTo>
                <a:lnTo>
                  <a:pt x="898651" y="57150"/>
                </a:lnTo>
                <a:lnTo>
                  <a:pt x="898651" y="46227"/>
                </a:lnTo>
                <a:close/>
              </a:path>
              <a:path w="914400" h="103504">
                <a:moveTo>
                  <a:pt x="901826" y="46227"/>
                </a:moveTo>
                <a:lnTo>
                  <a:pt x="898651" y="46227"/>
                </a:lnTo>
                <a:lnTo>
                  <a:pt x="898651" y="57150"/>
                </a:lnTo>
                <a:lnTo>
                  <a:pt x="901826" y="57150"/>
                </a:lnTo>
                <a:lnTo>
                  <a:pt x="901826" y="46227"/>
                </a:lnTo>
                <a:close/>
              </a:path>
              <a:path w="914400" h="103504">
                <a:moveTo>
                  <a:pt x="825754" y="0"/>
                </a:moveTo>
                <a:lnTo>
                  <a:pt x="821944" y="1015"/>
                </a:lnTo>
                <a:lnTo>
                  <a:pt x="818388" y="7112"/>
                </a:lnTo>
                <a:lnTo>
                  <a:pt x="819404" y="10921"/>
                </a:lnTo>
                <a:lnTo>
                  <a:pt x="889290" y="51688"/>
                </a:lnTo>
                <a:lnTo>
                  <a:pt x="898651" y="46227"/>
                </a:lnTo>
                <a:lnTo>
                  <a:pt x="901826" y="46227"/>
                </a:lnTo>
                <a:lnTo>
                  <a:pt x="901826" y="45338"/>
                </a:lnTo>
                <a:lnTo>
                  <a:pt x="903509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95400" y="5587110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4">
                <a:moveTo>
                  <a:pt x="889244" y="51688"/>
                </a:moveTo>
                <a:lnTo>
                  <a:pt x="819404" y="92417"/>
                </a:lnTo>
                <a:lnTo>
                  <a:pt x="818388" y="96304"/>
                </a:lnTo>
                <a:lnTo>
                  <a:pt x="821944" y="102361"/>
                </a:lnTo>
                <a:lnTo>
                  <a:pt x="825754" y="103390"/>
                </a:lnTo>
                <a:lnTo>
                  <a:pt x="903512" y="58038"/>
                </a:lnTo>
                <a:lnTo>
                  <a:pt x="901826" y="58038"/>
                </a:lnTo>
                <a:lnTo>
                  <a:pt x="901826" y="57175"/>
                </a:lnTo>
                <a:lnTo>
                  <a:pt x="898651" y="57175"/>
                </a:lnTo>
                <a:lnTo>
                  <a:pt x="889244" y="51688"/>
                </a:lnTo>
                <a:close/>
              </a:path>
              <a:path w="914400" h="103504">
                <a:moveTo>
                  <a:pt x="878355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78355" y="58038"/>
                </a:lnTo>
                <a:lnTo>
                  <a:pt x="889244" y="51688"/>
                </a:lnTo>
                <a:lnTo>
                  <a:pt x="878355" y="45338"/>
                </a:lnTo>
                <a:close/>
              </a:path>
              <a:path w="914400" h="103504">
                <a:moveTo>
                  <a:pt x="903515" y="45338"/>
                </a:moveTo>
                <a:lnTo>
                  <a:pt x="901826" y="45338"/>
                </a:lnTo>
                <a:lnTo>
                  <a:pt x="901826" y="58038"/>
                </a:lnTo>
                <a:lnTo>
                  <a:pt x="903512" y="58038"/>
                </a:lnTo>
                <a:lnTo>
                  <a:pt x="914400" y="51688"/>
                </a:lnTo>
                <a:lnTo>
                  <a:pt x="903515" y="45338"/>
                </a:lnTo>
                <a:close/>
              </a:path>
              <a:path w="914400" h="103504">
                <a:moveTo>
                  <a:pt x="898651" y="46202"/>
                </a:moveTo>
                <a:lnTo>
                  <a:pt x="889244" y="51688"/>
                </a:lnTo>
                <a:lnTo>
                  <a:pt x="898651" y="57175"/>
                </a:lnTo>
                <a:lnTo>
                  <a:pt x="898651" y="46202"/>
                </a:lnTo>
                <a:close/>
              </a:path>
              <a:path w="914400" h="103504">
                <a:moveTo>
                  <a:pt x="901826" y="46202"/>
                </a:moveTo>
                <a:lnTo>
                  <a:pt x="898651" y="46202"/>
                </a:lnTo>
                <a:lnTo>
                  <a:pt x="898651" y="57175"/>
                </a:lnTo>
                <a:lnTo>
                  <a:pt x="901826" y="57175"/>
                </a:lnTo>
                <a:lnTo>
                  <a:pt x="901826" y="46202"/>
                </a:lnTo>
                <a:close/>
              </a:path>
              <a:path w="914400" h="103504">
                <a:moveTo>
                  <a:pt x="825754" y="0"/>
                </a:moveTo>
                <a:lnTo>
                  <a:pt x="821944" y="1003"/>
                </a:lnTo>
                <a:lnTo>
                  <a:pt x="818388" y="7073"/>
                </a:lnTo>
                <a:lnTo>
                  <a:pt x="819404" y="10960"/>
                </a:lnTo>
                <a:lnTo>
                  <a:pt x="889244" y="51688"/>
                </a:lnTo>
                <a:lnTo>
                  <a:pt x="898651" y="46202"/>
                </a:lnTo>
                <a:lnTo>
                  <a:pt x="901826" y="46202"/>
                </a:lnTo>
                <a:lnTo>
                  <a:pt x="901826" y="45338"/>
                </a:lnTo>
                <a:lnTo>
                  <a:pt x="903515" y="45338"/>
                </a:lnTo>
                <a:lnTo>
                  <a:pt x="825754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10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211707"/>
            <a:ext cx="77063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8640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Search scans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through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the input string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and tries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to match 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at 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any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location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668" y="1993772"/>
            <a:ext cx="5973445" cy="191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548640">
              <a:lnSpc>
                <a:spcPct val="100000"/>
              </a:lnSpc>
              <a:spcBef>
                <a:spcPts val="100"/>
              </a:spcBef>
              <a:tabLst>
                <a:tab pos="1490980" algn="l"/>
                <a:tab pos="2468245" algn="l"/>
                <a:tab pos="3684270" algn="l"/>
                <a:tab pos="4916170" algn="l"/>
                <a:tab pos="5469255" algn="l"/>
              </a:tabLst>
            </a:pPr>
            <a:r>
              <a:rPr sz="2400" dirty="0">
                <a:latin typeface="Times New Roman"/>
                <a:cs typeface="Times New Roman"/>
              </a:rPr>
              <a:t>The	search	function	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earches	for	first  RE </a:t>
            </a:r>
            <a:r>
              <a:rPr sz="2400" i="1" dirty="0">
                <a:latin typeface="Times New Roman"/>
                <a:cs typeface="Times New Roman"/>
              </a:rPr>
              <a:t>pattern </a:t>
            </a:r>
            <a:r>
              <a:rPr sz="2400" dirty="0">
                <a:latin typeface="Times New Roman"/>
                <a:cs typeface="Times New Roman"/>
              </a:rPr>
              <a:t>within </a:t>
            </a:r>
            <a:r>
              <a:rPr sz="2400" i="1" dirty="0">
                <a:latin typeface="Times New Roman"/>
                <a:cs typeface="Times New Roman"/>
              </a:rPr>
              <a:t>string </a:t>
            </a:r>
            <a:r>
              <a:rPr sz="2400" dirty="0">
                <a:latin typeface="Times New Roman"/>
                <a:cs typeface="Times New Roman"/>
              </a:rPr>
              <a:t>with optional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flags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405"/>
              </a:spcBef>
            </a:pPr>
            <a:r>
              <a:rPr sz="2400" spc="-5" dirty="0">
                <a:solidFill>
                  <a:srgbClr val="C00000"/>
                </a:solidFill>
                <a:latin typeface="Times New Roman"/>
                <a:cs typeface="Times New Roman"/>
              </a:rPr>
              <a:t>syntax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400"/>
              </a:spcBef>
            </a:pP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re.search(pattern,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string,</a:t>
            </a:r>
            <a:r>
              <a:rPr sz="24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flags=0)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Pattern </a:t>
            </a:r>
            <a:r>
              <a:rPr sz="1800" dirty="0">
                <a:latin typeface="Times New Roman"/>
                <a:cs typeface="Times New Roman"/>
              </a:rPr>
              <a:t>--This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the regular </a:t>
            </a:r>
            <a:r>
              <a:rPr sz="1800" spc="-5" dirty="0">
                <a:latin typeface="Times New Roman"/>
                <a:cs typeface="Times New Roman"/>
              </a:rPr>
              <a:t>expression </a:t>
            </a:r>
            <a:r>
              <a:rPr sz="1800" dirty="0">
                <a:latin typeface="Times New Roman"/>
                <a:cs typeface="Times New Roman"/>
              </a:rPr>
              <a:t>to be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matched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4372" y="1993772"/>
            <a:ext cx="1814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47495" algn="l"/>
              </a:tabLst>
            </a:pP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ce	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668" y="3938778"/>
            <a:ext cx="6443345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7244" marR="5080" indent="-805180">
              <a:lnSpc>
                <a:spcPct val="100000"/>
              </a:lnSpc>
              <a:spcBef>
                <a:spcPts val="100"/>
              </a:spcBef>
              <a:tabLst>
                <a:tab pos="5389880" algn="l"/>
                <a:tab pos="5871210" algn="l"/>
              </a:tabLst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String</a:t>
            </a:r>
            <a:r>
              <a:rPr sz="1800" dirty="0">
                <a:latin typeface="Times New Roman"/>
                <a:cs typeface="Times New Roman"/>
              </a:rPr>
              <a:t>--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string,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would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" dirty="0">
                <a:latin typeface="Times New Roman"/>
                <a:cs typeface="Times New Roman"/>
              </a:rPr>
              <a:t> sea</a:t>
            </a:r>
            <a:r>
              <a:rPr sz="1800" dirty="0">
                <a:latin typeface="Times New Roman"/>
                <a:cs typeface="Times New Roman"/>
              </a:rPr>
              <a:t>rched	to	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ch  anywhere in 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</a:t>
            </a:r>
            <a:endParaRPr sz="1800">
              <a:latin typeface="Times New Roman"/>
              <a:cs typeface="Times New Roman"/>
            </a:endParaRPr>
          </a:p>
          <a:p>
            <a:pPr marL="817244" marR="156845" indent="-805180">
              <a:lnSpc>
                <a:spcPct val="100000"/>
              </a:lnSpc>
              <a:spcBef>
                <a:spcPts val="395"/>
              </a:spcBef>
              <a:tabLst>
                <a:tab pos="856615" algn="l"/>
                <a:tab pos="1423670" algn="l"/>
                <a:tab pos="1937385" algn="l"/>
                <a:tab pos="2794000" algn="l"/>
                <a:tab pos="3774440" algn="l"/>
                <a:tab pos="4414520" algn="l"/>
                <a:tab pos="5104765" algn="l"/>
                <a:tab pos="5961380" algn="l"/>
              </a:tabLst>
            </a:pPr>
            <a:r>
              <a:rPr sz="1800" spc="-5" dirty="0">
                <a:solidFill>
                  <a:srgbClr val="C00000"/>
                </a:solidFill>
                <a:latin typeface="Times New Roman"/>
                <a:cs typeface="Times New Roman"/>
              </a:rPr>
              <a:t>Flags</a:t>
            </a:r>
            <a:r>
              <a:rPr sz="1800" dirty="0">
                <a:latin typeface="Times New Roman"/>
                <a:cs typeface="Times New Roman"/>
              </a:rPr>
              <a:t>--		</a:t>
            </a:r>
            <a:r>
              <a:rPr sz="1800" spc="-190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ou	</a:t>
            </a:r>
            <a:r>
              <a:rPr sz="1800" spc="-10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an	speci</a:t>
            </a:r>
            <a:r>
              <a:rPr sz="1800" spc="-10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y	di</a:t>
            </a:r>
            <a:r>
              <a:rPr sz="1800" spc="-4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ferent	</a:t>
            </a:r>
            <a:r>
              <a:rPr sz="1800" spc="-1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gs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sing	bi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spc="-5" dirty="0">
                <a:latin typeface="Times New Roman"/>
                <a:cs typeface="Times New Roman"/>
              </a:rPr>
              <a:t>wise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OR  </a:t>
            </a:r>
            <a:r>
              <a:rPr sz="1800" dirty="0">
                <a:latin typeface="Times New Roman"/>
                <a:cs typeface="Times New Roman"/>
              </a:rPr>
              <a:t>modifiers.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8317" y="4537709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spc="-15" dirty="0">
                <a:latin typeface="Times New Roman"/>
                <a:cs typeface="Times New Roman"/>
              </a:rPr>
              <a:t>|</a:t>
            </a:r>
            <a:r>
              <a:rPr sz="180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6254" y="3938778"/>
            <a:ext cx="1242695" cy="89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581660" algn="l"/>
              </a:tabLst>
            </a:pP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	pattern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  <a:tabLst>
                <a:tab pos="743585" algn="l"/>
              </a:tabLst>
            </a:pPr>
            <a:r>
              <a:rPr sz="1800" dirty="0">
                <a:latin typeface="Times New Roman"/>
                <a:cs typeface="Times New Roman"/>
              </a:rPr>
              <a:t>Th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se</a:t>
            </a:r>
            <a:r>
              <a:rPr sz="1800" dirty="0">
                <a:latin typeface="Times New Roman"/>
                <a:cs typeface="Times New Roman"/>
              </a:rPr>
              <a:t>	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4349" y="490727"/>
            <a:ext cx="3449565" cy="315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11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5650" y="562609"/>
          <a:ext cx="7772400" cy="4765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  <a:gridCol w="647700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Modifier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50" dirty="0">
                          <a:latin typeface="Arial"/>
                          <a:cs typeface="Arial"/>
                        </a:rPr>
                        <a:t>re.I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60" dirty="0">
                          <a:latin typeface="Arial"/>
                          <a:cs typeface="Arial"/>
                        </a:rPr>
                        <a:t>Performs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case-insensitive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00" dirty="0">
                          <a:latin typeface="Arial"/>
                          <a:cs typeface="Arial"/>
                        </a:rPr>
                        <a:t>matching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35" dirty="0">
                          <a:latin typeface="Arial"/>
                          <a:cs typeface="Arial"/>
                        </a:rPr>
                        <a:t>re.L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85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85" dirty="0">
                          <a:latin typeface="Arial"/>
                          <a:cs typeface="Arial"/>
                        </a:rPr>
                        <a:t>Interprets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words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according </a:t>
                      </a:r>
                      <a:r>
                        <a:rPr sz="1800" spc="13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the current </a:t>
                      </a:r>
                      <a:r>
                        <a:rPr sz="1800" spc="55" dirty="0">
                          <a:latin typeface="Arial"/>
                          <a:cs typeface="Arial"/>
                        </a:rPr>
                        <a:t>locale. </a:t>
                      </a:r>
                      <a:r>
                        <a:rPr sz="1800" spc="65" dirty="0">
                          <a:latin typeface="Arial"/>
                          <a:cs typeface="Arial"/>
                        </a:rPr>
                        <a:t>This  </a:t>
                      </a:r>
                      <a:r>
                        <a:rPr sz="1800" spc="100" dirty="0">
                          <a:latin typeface="Arial"/>
                          <a:cs typeface="Arial"/>
                        </a:rPr>
                        <a:t>interpretation </a:t>
                      </a:r>
                      <a:r>
                        <a:rPr sz="1800" spc="70" dirty="0">
                          <a:latin typeface="Arial"/>
                          <a:cs typeface="Arial"/>
                        </a:rPr>
                        <a:t>affects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alphabetic </a:t>
                      </a:r>
                      <a:r>
                        <a:rPr sz="1800" spc="120" dirty="0">
                          <a:latin typeface="Arial"/>
                          <a:cs typeface="Arial"/>
                        </a:rPr>
                        <a:t>group </a:t>
                      </a:r>
                      <a:r>
                        <a:rPr sz="1800" spc="175" dirty="0">
                          <a:latin typeface="Arial"/>
                          <a:cs typeface="Arial"/>
                        </a:rPr>
                        <a:t>(\w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\W), 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well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 </a:t>
                      </a:r>
                      <a:r>
                        <a:rPr sz="1800" spc="114" dirty="0">
                          <a:latin typeface="Arial"/>
                          <a:cs typeface="Arial"/>
                        </a:rPr>
                        <a:t>word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boundary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behavior </a:t>
                      </a:r>
                      <a:r>
                        <a:rPr sz="1800" spc="190" dirty="0">
                          <a:latin typeface="Arial"/>
                          <a:cs typeface="Arial"/>
                        </a:rPr>
                        <a:t>(\b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\B).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60" dirty="0">
                          <a:latin typeface="Arial"/>
                          <a:cs typeface="Arial"/>
                        </a:rPr>
                        <a:t>re.M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8910" algn="just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40" dirty="0">
                          <a:latin typeface="Arial"/>
                          <a:cs typeface="Arial"/>
                        </a:rPr>
                        <a:t>Makes </a:t>
                      </a:r>
                      <a:r>
                        <a:rPr sz="1800" spc="135" dirty="0">
                          <a:latin typeface="Arial"/>
                          <a:cs typeface="Arial"/>
                        </a:rPr>
                        <a:t>$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match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end </a:t>
                      </a:r>
                      <a:r>
                        <a:rPr sz="1800" spc="13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85" dirty="0">
                          <a:latin typeface="Arial"/>
                          <a:cs typeface="Arial"/>
                        </a:rPr>
                        <a:t>line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(not </a:t>
                      </a:r>
                      <a:r>
                        <a:rPr sz="1800" spc="105" dirty="0">
                          <a:latin typeface="Arial"/>
                          <a:cs typeface="Arial"/>
                        </a:rPr>
                        <a:t>just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end </a:t>
                      </a:r>
                      <a:r>
                        <a:rPr sz="1800" spc="13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the  string)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800" spc="65" dirty="0">
                          <a:latin typeface="Arial"/>
                          <a:cs typeface="Arial"/>
                        </a:rPr>
                        <a:t>makes </a:t>
                      </a:r>
                      <a:r>
                        <a:rPr sz="1800" spc="290" dirty="0">
                          <a:latin typeface="Arial"/>
                          <a:cs typeface="Arial"/>
                        </a:rPr>
                        <a:t>^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match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the start </a:t>
                      </a:r>
                      <a:r>
                        <a:rPr sz="1800" spc="13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45" dirty="0">
                          <a:latin typeface="Arial"/>
                          <a:cs typeface="Arial"/>
                        </a:rPr>
                        <a:t>any </a:t>
                      </a:r>
                      <a:r>
                        <a:rPr sz="1800" spc="85" dirty="0">
                          <a:latin typeface="Arial"/>
                          <a:cs typeface="Arial"/>
                        </a:rPr>
                        <a:t>line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(not</a:t>
                      </a:r>
                      <a:r>
                        <a:rPr sz="1800" spc="-25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05" dirty="0">
                          <a:latin typeface="Arial"/>
                          <a:cs typeface="Arial"/>
                        </a:rPr>
                        <a:t>just 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the start </a:t>
                      </a:r>
                      <a:r>
                        <a:rPr sz="1800" spc="13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85" dirty="0">
                          <a:latin typeface="Arial"/>
                          <a:cs typeface="Arial"/>
                        </a:rPr>
                        <a:t>string).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re.S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40" dirty="0">
                          <a:latin typeface="Arial"/>
                          <a:cs typeface="Arial"/>
                        </a:rPr>
                        <a:t>Makes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period </a:t>
                      </a:r>
                      <a:r>
                        <a:rPr sz="1800" spc="70" dirty="0">
                          <a:latin typeface="Arial"/>
                          <a:cs typeface="Arial"/>
                        </a:rPr>
                        <a:t>(dot)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match </a:t>
                      </a:r>
                      <a:r>
                        <a:rPr sz="1800" spc="45" dirty="0">
                          <a:latin typeface="Arial"/>
                          <a:cs typeface="Arial"/>
                        </a:rPr>
                        <a:t>any </a:t>
                      </a:r>
                      <a:r>
                        <a:rPr sz="1800" spc="65" dirty="0">
                          <a:latin typeface="Arial"/>
                          <a:cs typeface="Arial"/>
                        </a:rPr>
                        <a:t>character, </a:t>
                      </a:r>
                      <a:r>
                        <a:rPr sz="1800" spc="100" dirty="0">
                          <a:latin typeface="Arial"/>
                          <a:cs typeface="Arial"/>
                        </a:rPr>
                        <a:t>including</a:t>
                      </a:r>
                      <a:r>
                        <a:rPr sz="1800" spc="2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75" dirty="0">
                          <a:latin typeface="Arial"/>
                          <a:cs typeface="Arial"/>
                        </a:rPr>
                        <a:t>newline.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75" dirty="0">
                          <a:latin typeface="Arial"/>
                          <a:cs typeface="Arial"/>
                        </a:rPr>
                        <a:t>re.u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636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85" dirty="0">
                          <a:latin typeface="Arial"/>
                          <a:cs typeface="Arial"/>
                        </a:rPr>
                        <a:t>Interprets letters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according </a:t>
                      </a:r>
                      <a:r>
                        <a:rPr sz="1800" spc="13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55" dirty="0">
                          <a:latin typeface="Arial"/>
                          <a:cs typeface="Arial"/>
                        </a:rPr>
                        <a:t>Unicode </a:t>
                      </a:r>
                      <a:r>
                        <a:rPr sz="1800" spc="60" dirty="0">
                          <a:latin typeface="Arial"/>
                          <a:cs typeface="Arial"/>
                        </a:rPr>
                        <a:t>character set.  </a:t>
                      </a:r>
                      <a:r>
                        <a:rPr sz="1800" spc="65" dirty="0">
                          <a:latin typeface="Arial"/>
                          <a:cs typeface="Arial"/>
                        </a:rPr>
                        <a:t>This </a:t>
                      </a:r>
                      <a:r>
                        <a:rPr sz="1800" spc="95" dirty="0">
                          <a:latin typeface="Arial"/>
                          <a:cs typeface="Arial"/>
                        </a:rPr>
                        <a:t>flag </a:t>
                      </a:r>
                      <a:r>
                        <a:rPr sz="1800" spc="70" dirty="0">
                          <a:latin typeface="Arial"/>
                          <a:cs typeface="Arial"/>
                        </a:rPr>
                        <a:t>affects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behavior </a:t>
                      </a:r>
                      <a:r>
                        <a:rPr sz="1800" spc="13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200" dirty="0">
                          <a:latin typeface="Arial"/>
                          <a:cs typeface="Arial"/>
                        </a:rPr>
                        <a:t>\w, </a:t>
                      </a:r>
                      <a:r>
                        <a:rPr sz="1800" spc="114" dirty="0">
                          <a:latin typeface="Arial"/>
                          <a:cs typeface="Arial"/>
                        </a:rPr>
                        <a:t>\W, </a:t>
                      </a:r>
                      <a:r>
                        <a:rPr sz="1800" spc="210" dirty="0">
                          <a:latin typeface="Arial"/>
                          <a:cs typeface="Arial"/>
                        </a:rPr>
                        <a:t>\b,</a:t>
                      </a:r>
                      <a:r>
                        <a:rPr sz="18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10" dirty="0">
                          <a:latin typeface="Arial"/>
                          <a:cs typeface="Arial"/>
                        </a:rPr>
                        <a:t>\B.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95" dirty="0">
                          <a:latin typeface="Arial"/>
                          <a:cs typeface="Arial"/>
                        </a:rPr>
                        <a:t>re.x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14350" indent="73025" algn="just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90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ignores </a:t>
                      </a:r>
                      <a:r>
                        <a:rPr sz="1800" spc="60" dirty="0">
                          <a:latin typeface="Arial"/>
                          <a:cs typeface="Arial"/>
                        </a:rPr>
                        <a:t>whitespace </a:t>
                      </a:r>
                      <a:r>
                        <a:rPr sz="1800" spc="70" dirty="0">
                          <a:latin typeface="Arial"/>
                          <a:cs typeface="Arial"/>
                        </a:rPr>
                        <a:t>(except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inside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60" dirty="0">
                          <a:latin typeface="Arial"/>
                          <a:cs typeface="Arial"/>
                        </a:rPr>
                        <a:t>set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[] </a:t>
                      </a:r>
                      <a:r>
                        <a:rPr sz="1800" spc="114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when  </a:t>
                      </a:r>
                      <a:r>
                        <a:rPr sz="1800" spc="40" dirty="0">
                          <a:latin typeface="Arial"/>
                          <a:cs typeface="Arial"/>
                        </a:rPr>
                        <a:t>escaped </a:t>
                      </a:r>
                      <a:r>
                        <a:rPr sz="1800" spc="80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50" dirty="0">
                          <a:latin typeface="Arial"/>
                          <a:cs typeface="Arial"/>
                        </a:rPr>
                        <a:t>backslash) </a:t>
                      </a:r>
                      <a:r>
                        <a:rPr sz="1800" spc="75" dirty="0">
                          <a:latin typeface="Arial"/>
                          <a:cs typeface="Arial"/>
                        </a:rPr>
                        <a:t>and treats </a:t>
                      </a:r>
                      <a:r>
                        <a:rPr sz="1800" spc="55" dirty="0">
                          <a:latin typeface="Arial"/>
                          <a:cs typeface="Arial"/>
                        </a:rPr>
                        <a:t>unescaped </a:t>
                      </a:r>
                      <a:r>
                        <a:rPr sz="1800" spc="135" dirty="0">
                          <a:latin typeface="Arial"/>
                          <a:cs typeface="Arial"/>
                        </a:rPr>
                        <a:t>#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  </a:t>
                      </a:r>
                      <a:r>
                        <a:rPr sz="1800" spc="105" dirty="0">
                          <a:latin typeface="Arial"/>
                          <a:cs typeface="Arial"/>
                        </a:rPr>
                        <a:t>comment</a:t>
                      </a:r>
                      <a:r>
                        <a:rPr sz="1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90" dirty="0">
                          <a:latin typeface="Arial"/>
                          <a:cs typeface="Arial"/>
                        </a:rPr>
                        <a:t>marker.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12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3411473" y="5511495"/>
            <a:ext cx="19399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OPTION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FLAGS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089405"/>
            <a:ext cx="4889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5180" algn="l"/>
                <a:tab pos="2244090" algn="l"/>
                <a:tab pos="3576320" algn="l"/>
                <a:tab pos="4740910" algn="l"/>
              </a:tabLst>
            </a:pPr>
            <a:r>
              <a:rPr sz="2400" dirty="0">
                <a:latin typeface="Times New Roman"/>
                <a:cs typeface="Times New Roman"/>
              </a:rPr>
              <a:t>The	</a:t>
            </a:r>
            <a:r>
              <a:rPr sz="2400" i="1" spc="-90" dirty="0">
                <a:latin typeface="Times New Roman"/>
                <a:cs typeface="Times New Roman"/>
              </a:rPr>
              <a:t>r</a:t>
            </a:r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i="1" dirty="0">
                <a:latin typeface="Times New Roman"/>
                <a:cs typeface="Times New Roman"/>
              </a:rPr>
              <a:t>.</a:t>
            </a:r>
            <a:r>
              <a:rPr sz="2400" i="1" spc="-15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i="1" spc="-90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ch	</a:t>
            </a:r>
            <a:r>
              <a:rPr sz="2400" dirty="0">
                <a:latin typeface="Times New Roman"/>
                <a:cs typeface="Times New Roman"/>
              </a:rPr>
              <a:t>func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	returns	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13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901700" y="1455165"/>
            <a:ext cx="507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7995" algn="l"/>
                <a:tab pos="3150870" algn="l"/>
                <a:tab pos="4190365" algn="l"/>
              </a:tabLst>
            </a:pPr>
            <a:r>
              <a:rPr sz="2400" dirty="0">
                <a:latin typeface="Times New Roman"/>
                <a:cs typeface="Times New Roman"/>
              </a:rPr>
              <a:t>success,	</a:t>
            </a:r>
            <a:r>
              <a:rPr sz="2400" b="1" spc="-5" dirty="0">
                <a:latin typeface="Times New Roman"/>
                <a:cs typeface="Times New Roman"/>
              </a:rPr>
              <a:t>None	</a:t>
            </a:r>
            <a:r>
              <a:rPr sz="2400" dirty="0">
                <a:latin typeface="Times New Roman"/>
                <a:cs typeface="Times New Roman"/>
              </a:rPr>
              <a:t>on	</a:t>
            </a:r>
            <a:r>
              <a:rPr sz="2400" spc="-5" dirty="0">
                <a:latin typeface="Times New Roman"/>
                <a:cs typeface="Times New Roman"/>
              </a:rPr>
              <a:t>failure.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4189" y="1089405"/>
            <a:ext cx="2522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680" marR="5080" indent="-601980">
              <a:lnSpc>
                <a:spcPct val="100000"/>
              </a:lnSpc>
              <a:spcBef>
                <a:spcPts val="100"/>
              </a:spcBef>
              <a:tabLst>
                <a:tab pos="1141730" algn="l"/>
                <a:tab pos="1746885" algn="l"/>
                <a:tab pos="2204085" algn="l"/>
              </a:tabLst>
            </a:pPr>
            <a:r>
              <a:rPr sz="2400" b="1" dirty="0">
                <a:latin typeface="Times New Roman"/>
                <a:cs typeface="Times New Roman"/>
              </a:rPr>
              <a:t>mat</a:t>
            </a:r>
            <a:r>
              <a:rPr sz="2400" b="1" spc="-15" dirty="0">
                <a:latin typeface="Times New Roman"/>
                <a:cs typeface="Times New Roman"/>
              </a:rPr>
              <a:t>c</a:t>
            </a:r>
            <a:r>
              <a:rPr sz="2400" b="1" spc="-5" dirty="0">
                <a:latin typeface="Times New Roman"/>
                <a:cs typeface="Times New Roman"/>
              </a:rPr>
              <a:t>h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object	on  </a:t>
            </a:r>
            <a:r>
              <a:rPr sz="2400" spc="-21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		would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820621"/>
            <a:ext cx="770699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  <a:tab pos="2392045" algn="l"/>
                <a:tab pos="3569970" algn="l"/>
                <a:tab pos="4722495" algn="l"/>
                <a:tab pos="5112385" algn="l"/>
                <a:tab pos="6064885" algn="l"/>
                <a:tab pos="6946265" algn="l"/>
                <a:tab pos="7320915" algn="l"/>
              </a:tabLst>
            </a:pPr>
            <a:r>
              <a:rPr sz="2400" dirty="0">
                <a:latin typeface="Times New Roman"/>
                <a:cs typeface="Times New Roman"/>
              </a:rPr>
              <a:t>use	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85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oup</a:t>
            </a:r>
            <a:r>
              <a:rPr sz="2400" i="1" spc="-15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num</a:t>
            </a:r>
            <a:r>
              <a:rPr sz="2400" i="1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or	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85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i="1" spc="5" dirty="0">
                <a:latin typeface="Times New Roman"/>
                <a:cs typeface="Times New Roman"/>
              </a:rPr>
              <a:t>u</a:t>
            </a:r>
            <a:r>
              <a:rPr sz="2400" i="1" dirty="0">
                <a:latin typeface="Times New Roman"/>
                <a:cs typeface="Times New Roman"/>
              </a:rPr>
              <a:t>ps()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unction	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	</a:t>
            </a:r>
            <a:r>
              <a:rPr sz="2400" b="1" dirty="0">
                <a:latin typeface="Times New Roman"/>
                <a:cs typeface="Times New Roman"/>
              </a:rPr>
              <a:t>match	</a:t>
            </a:r>
            <a:r>
              <a:rPr sz="2400" dirty="0">
                <a:latin typeface="Times New Roman"/>
                <a:cs typeface="Times New Roman"/>
              </a:rPr>
              <a:t>obje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	to	get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matched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expression.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8050" y="2889250"/>
          <a:ext cx="7467600" cy="165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0"/>
                <a:gridCol w="373380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Match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group(num=0)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768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method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returns entire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match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(or  specific subgroup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groups()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method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returns all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matching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subgroups in 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tuple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087882"/>
            <a:ext cx="796290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00000"/>
              </a:lnSpc>
              <a:spcBef>
                <a:spcPts val="100"/>
              </a:spcBef>
            </a:pPr>
            <a:r>
              <a:rPr sz="1800" spc="-505" dirty="0">
                <a:solidFill>
                  <a:srgbClr val="2CA1BE"/>
                </a:solidFill>
                <a:latin typeface="Arial"/>
                <a:cs typeface="Arial"/>
              </a:rPr>
              <a:t></a:t>
            </a:r>
            <a:r>
              <a:rPr sz="1800" spc="2260" dirty="0">
                <a:solidFill>
                  <a:srgbClr val="2CA1BE"/>
                </a:solidFill>
                <a:latin typeface="Arial"/>
                <a:cs typeface="Arial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match object </a:t>
            </a:r>
            <a:r>
              <a:rPr sz="2700" spc="-5" dirty="0">
                <a:latin typeface="Times New Roman"/>
                <a:cs typeface="Times New Roman"/>
              </a:rPr>
              <a:t>for information </a:t>
            </a:r>
            <a:r>
              <a:rPr sz="2700" dirty="0">
                <a:latin typeface="Times New Roman"/>
                <a:cs typeface="Times New Roman"/>
              </a:rPr>
              <a:t>about the </a:t>
            </a:r>
            <a:r>
              <a:rPr sz="2700" spc="-50" dirty="0">
                <a:latin typeface="Times New Roman"/>
                <a:cs typeface="Times New Roman"/>
              </a:rPr>
              <a:t>matching  </a:t>
            </a:r>
            <a:r>
              <a:rPr sz="2700" spc="-5" dirty="0">
                <a:latin typeface="Times New Roman"/>
                <a:cs typeface="Times New Roman"/>
              </a:rPr>
              <a:t>string. </a:t>
            </a:r>
            <a:r>
              <a:rPr sz="2700" i="1" dirty="0">
                <a:latin typeface="Times New Roman"/>
                <a:cs typeface="Times New Roman"/>
              </a:rPr>
              <a:t>match object </a:t>
            </a:r>
            <a:r>
              <a:rPr sz="2700" dirty="0">
                <a:latin typeface="Times New Roman"/>
                <a:cs typeface="Times New Roman"/>
              </a:rPr>
              <a:t>instances also have </a:t>
            </a:r>
            <a:r>
              <a:rPr sz="2700" spc="-5" dirty="0">
                <a:latin typeface="Times New Roman"/>
                <a:cs typeface="Times New Roman"/>
              </a:rPr>
              <a:t>several  </a:t>
            </a:r>
            <a:r>
              <a:rPr sz="2700" dirty="0">
                <a:latin typeface="Times New Roman"/>
                <a:cs typeface="Times New Roman"/>
              </a:rPr>
              <a:t>methods and attributes; the </a:t>
            </a:r>
            <a:r>
              <a:rPr sz="2700" spc="-5" dirty="0">
                <a:latin typeface="Times New Roman"/>
                <a:cs typeface="Times New Roman"/>
              </a:rPr>
              <a:t>most </a:t>
            </a:r>
            <a:r>
              <a:rPr sz="2700" dirty="0">
                <a:latin typeface="Times New Roman"/>
                <a:cs typeface="Times New Roman"/>
              </a:rPr>
              <a:t>important ones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14</a:t>
            </a:fld>
            <a:endParaRPr spc="7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89050" y="2660650"/>
          <a:ext cx="7239635" cy="24688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1530"/>
                <a:gridCol w="5158105"/>
              </a:tblGrid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group(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Return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string matched by the</a:t>
                      </a:r>
                      <a:r>
                        <a:rPr sz="2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RE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start( 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Return the starting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position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of the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match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end ( 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Return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ending position of the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match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span (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35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Return a tuple containing the (start, end)  positions of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match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119276"/>
            <a:ext cx="5689600" cy="48621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spc="-5" dirty="0">
                <a:solidFill>
                  <a:srgbClr val="FF0000"/>
                </a:solidFill>
                <a:latin typeface="Times New Roman"/>
                <a:cs typeface="Times New Roman"/>
              </a:rPr>
              <a:t>""" </a:t>
            </a:r>
            <a:r>
              <a:rPr sz="1650" dirty="0">
                <a:solidFill>
                  <a:srgbClr val="FF0000"/>
                </a:solidFill>
                <a:latin typeface="Times New Roman"/>
                <a:cs typeface="Times New Roman"/>
              </a:rPr>
              <a:t>This program </a:t>
            </a:r>
            <a:r>
              <a:rPr sz="1650" spc="-5" dirty="0">
                <a:solidFill>
                  <a:srgbClr val="FF0000"/>
                </a:solidFill>
                <a:latin typeface="Times New Roman"/>
                <a:cs typeface="Times New Roman"/>
              </a:rPr>
              <a:t>illustrates</a:t>
            </a:r>
            <a:r>
              <a:rPr sz="16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endParaRPr sz="1650">
              <a:latin typeface="Times New Roman"/>
              <a:cs typeface="Times New Roman"/>
            </a:endParaRPr>
          </a:p>
          <a:p>
            <a:pPr marL="12700" marR="935990" indent="255904">
              <a:lnSpc>
                <a:spcPct val="120000"/>
              </a:lnSpc>
            </a:pPr>
            <a:r>
              <a:rPr sz="1650" dirty="0">
                <a:solidFill>
                  <a:srgbClr val="FF0000"/>
                </a:solidFill>
                <a:latin typeface="Times New Roman"/>
                <a:cs typeface="Times New Roman"/>
              </a:rPr>
              <a:t>one of the regular expression </a:t>
            </a:r>
            <a:r>
              <a:rPr sz="1650" spc="-5" dirty="0">
                <a:solidFill>
                  <a:srgbClr val="FF0000"/>
                </a:solidFill>
                <a:latin typeface="Times New Roman"/>
                <a:cs typeface="Times New Roman"/>
              </a:rPr>
              <a:t>method </a:t>
            </a:r>
            <a:r>
              <a:rPr sz="1650" dirty="0">
                <a:solidFill>
                  <a:srgbClr val="FF0000"/>
                </a:solidFill>
                <a:latin typeface="Times New Roman"/>
                <a:cs typeface="Times New Roman"/>
              </a:rPr>
              <a:t>i.e., search()"""  </a:t>
            </a:r>
            <a:r>
              <a:rPr sz="1650" spc="-5" dirty="0">
                <a:solidFill>
                  <a:srgbClr val="C00000"/>
                </a:solidFill>
                <a:latin typeface="Times New Roman"/>
                <a:cs typeface="Times New Roman"/>
              </a:rPr>
              <a:t>import</a:t>
            </a:r>
            <a:r>
              <a:rPr sz="165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endParaRPr sz="1650">
              <a:latin typeface="Times New Roman"/>
              <a:cs typeface="Times New Roman"/>
            </a:endParaRPr>
          </a:p>
          <a:p>
            <a:pPr marL="12700" marR="1349375">
              <a:lnSpc>
                <a:spcPct val="120000"/>
              </a:lnSpc>
              <a:spcBef>
                <a:spcPts val="15"/>
              </a:spcBef>
            </a:pP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#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importing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Regular Expression built-in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module  </a:t>
            </a:r>
            <a:r>
              <a:rPr sz="1650" spc="-5" dirty="0">
                <a:solidFill>
                  <a:srgbClr val="C00000"/>
                </a:solidFill>
                <a:latin typeface="Times New Roman"/>
                <a:cs typeface="Times New Roman"/>
              </a:rPr>
              <a:t>text </a:t>
            </a:r>
            <a:r>
              <a:rPr sz="1650" dirty="0">
                <a:latin typeface="Times New Roman"/>
                <a:cs typeface="Times New Roman"/>
              </a:rPr>
              <a:t>= </a:t>
            </a:r>
            <a:r>
              <a:rPr sz="1650" dirty="0">
                <a:solidFill>
                  <a:srgbClr val="00AF50"/>
                </a:solidFill>
                <a:latin typeface="Times New Roman"/>
                <a:cs typeface="Times New Roman"/>
              </a:rPr>
              <a:t>'This </a:t>
            </a:r>
            <a:r>
              <a:rPr sz="1650" spc="-5" dirty="0">
                <a:solidFill>
                  <a:srgbClr val="00AF50"/>
                </a:solidFill>
                <a:latin typeface="Times New Roman"/>
                <a:cs typeface="Times New Roman"/>
              </a:rPr>
              <a:t>is </a:t>
            </a:r>
            <a:r>
              <a:rPr sz="1650" spc="-10" dirty="0">
                <a:solidFill>
                  <a:srgbClr val="00AF50"/>
                </a:solidFill>
                <a:latin typeface="Times New Roman"/>
                <a:cs typeface="Times New Roman"/>
              </a:rPr>
              <a:t>my </a:t>
            </a:r>
            <a:r>
              <a:rPr sz="1650" dirty="0">
                <a:solidFill>
                  <a:srgbClr val="00AF50"/>
                </a:solidFill>
                <a:latin typeface="Times New Roman"/>
                <a:cs typeface="Times New Roman"/>
              </a:rPr>
              <a:t>First Regulr Expression Program'  </a:t>
            </a:r>
            <a:r>
              <a:rPr sz="1650" spc="-5" dirty="0">
                <a:solidFill>
                  <a:srgbClr val="C00000"/>
                </a:solidFill>
                <a:latin typeface="Times New Roman"/>
                <a:cs typeface="Times New Roman"/>
              </a:rPr>
              <a:t>patterns </a:t>
            </a:r>
            <a:r>
              <a:rPr sz="1650" dirty="0">
                <a:latin typeface="Times New Roman"/>
                <a:cs typeface="Times New Roman"/>
              </a:rPr>
              <a:t>= [ </a:t>
            </a:r>
            <a:r>
              <a:rPr sz="1650" spc="-5" dirty="0">
                <a:latin typeface="Times New Roman"/>
                <a:cs typeface="Times New Roman"/>
              </a:rPr>
              <a:t>'first', 'that‘, 'program'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]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# In the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text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input which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patterns </a:t>
            </a:r>
            <a:r>
              <a:rPr sz="1650" spc="-10" dirty="0">
                <a:solidFill>
                  <a:srgbClr val="6F2F9F"/>
                </a:solidFill>
                <a:latin typeface="Times New Roman"/>
                <a:cs typeface="Times New Roman"/>
              </a:rPr>
              <a:t>you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have to search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-5" dirty="0">
                <a:solidFill>
                  <a:srgbClr val="C00000"/>
                </a:solidFill>
                <a:latin typeface="Times New Roman"/>
                <a:cs typeface="Times New Roman"/>
              </a:rPr>
              <a:t>for </a:t>
            </a:r>
            <a:r>
              <a:rPr sz="1650" dirty="0">
                <a:solidFill>
                  <a:srgbClr val="00AF50"/>
                </a:solidFill>
                <a:latin typeface="Times New Roman"/>
                <a:cs typeface="Times New Roman"/>
              </a:rPr>
              <a:t>pattern </a:t>
            </a: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165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AF50"/>
                </a:solidFill>
                <a:latin typeface="Times New Roman"/>
                <a:cs typeface="Times New Roman"/>
              </a:rPr>
              <a:t>patterns</a:t>
            </a:r>
            <a:r>
              <a:rPr sz="1650" dirty="0"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  <a:p>
            <a:pPr marL="222885" marR="1035685">
              <a:lnSpc>
                <a:spcPct val="120000"/>
              </a:lnSpc>
              <a:spcBef>
                <a:spcPts val="15"/>
              </a:spcBef>
            </a:pP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650" dirty="0">
                <a:latin typeface="Times New Roman"/>
                <a:cs typeface="Times New Roman"/>
              </a:rPr>
              <a:t>'Looking </a:t>
            </a:r>
            <a:r>
              <a:rPr sz="1650" spc="-5" dirty="0">
                <a:latin typeface="Times New Roman"/>
                <a:cs typeface="Times New Roman"/>
              </a:rPr>
              <a:t>for </a:t>
            </a:r>
            <a:r>
              <a:rPr sz="1650" dirty="0">
                <a:latin typeface="Times New Roman"/>
                <a:cs typeface="Times New Roman"/>
              </a:rPr>
              <a:t>"%s" in "%s" -&gt;' </a:t>
            </a:r>
            <a:r>
              <a:rPr sz="1650" spc="5" dirty="0">
                <a:latin typeface="Times New Roman"/>
                <a:cs typeface="Times New Roman"/>
              </a:rPr>
              <a:t>% </a:t>
            </a:r>
            <a:r>
              <a:rPr sz="1650" dirty="0">
                <a:latin typeface="Times New Roman"/>
                <a:cs typeface="Times New Roman"/>
              </a:rPr>
              <a:t>(pattern,</a:t>
            </a:r>
            <a:r>
              <a:rPr sz="1650" spc="-9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text),  </a:t>
            </a:r>
            <a:r>
              <a:rPr sz="1650" spc="-5" dirty="0">
                <a:solidFill>
                  <a:srgbClr val="C00000"/>
                </a:solidFill>
                <a:latin typeface="Times New Roman"/>
                <a:cs typeface="Times New Roman"/>
              </a:rPr>
              <a:t>if </a:t>
            </a:r>
            <a:r>
              <a:rPr sz="1650" dirty="0">
                <a:solidFill>
                  <a:srgbClr val="00AF50"/>
                </a:solidFill>
                <a:latin typeface="Times New Roman"/>
                <a:cs typeface="Times New Roman"/>
              </a:rPr>
              <a:t>re.search</a:t>
            </a: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(pattern,</a:t>
            </a:r>
            <a:r>
              <a:rPr sz="165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text,re.I):</a:t>
            </a:r>
            <a:endParaRPr sz="165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  <a:spcBef>
                <a:spcPts val="395"/>
              </a:spcBef>
            </a:pP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650" dirty="0">
                <a:latin typeface="Times New Roman"/>
                <a:cs typeface="Times New Roman"/>
              </a:rPr>
              <a:t>'found a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match!'</a:t>
            </a:r>
            <a:endParaRPr sz="16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405"/>
              </a:spcBef>
            </a:pP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#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if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given pattern found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in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the text then execute the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'if'</a:t>
            </a:r>
            <a:r>
              <a:rPr sz="1650" spc="1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condition</a:t>
            </a:r>
            <a:endParaRPr sz="165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400"/>
              </a:spcBef>
            </a:pP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else:</a:t>
            </a:r>
            <a:endParaRPr sz="165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  <a:spcBef>
                <a:spcPts val="395"/>
              </a:spcBef>
            </a:pPr>
            <a:r>
              <a:rPr sz="1650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650" dirty="0">
                <a:latin typeface="Times New Roman"/>
                <a:cs typeface="Times New Roman"/>
              </a:rPr>
              <a:t>'no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match'</a:t>
            </a:r>
            <a:endParaRPr sz="16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409"/>
              </a:spcBef>
            </a:pP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#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if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pattern not found </a:t>
            </a:r>
            <a:r>
              <a:rPr sz="1650" spc="-5" dirty="0">
                <a:solidFill>
                  <a:srgbClr val="6F2F9F"/>
                </a:solidFill>
                <a:latin typeface="Times New Roman"/>
                <a:cs typeface="Times New Roman"/>
              </a:rPr>
              <a:t>in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the text then execute the 'else'</a:t>
            </a:r>
            <a:r>
              <a:rPr sz="1650" spc="8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6F2F9F"/>
                </a:solidFill>
                <a:latin typeface="Times New Roman"/>
                <a:cs typeface="Times New Roman"/>
              </a:rPr>
              <a:t>condition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1975" y="414527"/>
            <a:ext cx="7285460" cy="421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15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1503934"/>
            <a:ext cx="796290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00000"/>
              </a:lnSpc>
              <a:spcBef>
                <a:spcPts val="100"/>
              </a:spcBef>
            </a:pPr>
            <a:r>
              <a:rPr sz="1600" b="0" spc="-450" dirty="0">
                <a:solidFill>
                  <a:srgbClr val="2CA1BE"/>
                </a:solidFill>
                <a:latin typeface="Arial"/>
                <a:cs typeface="Arial"/>
              </a:rPr>
              <a:t></a:t>
            </a:r>
            <a:r>
              <a:rPr sz="1600" b="0" spc="700" dirty="0">
                <a:solidFill>
                  <a:srgbClr val="2CA1BE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Till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now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we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have done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simply performed searches against </a:t>
            </a:r>
            <a:r>
              <a:rPr sz="2400" b="0" spc="-275" dirty="0">
                <a:solidFill>
                  <a:srgbClr val="000000"/>
                </a:solidFill>
                <a:latin typeface="Times New Roman"/>
                <a:cs typeface="Times New Roman"/>
              </a:rPr>
              <a:t>a 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static string. Regular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expressions are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also commonly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used 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to 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modify strings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in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various ways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using the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following pattern  methods.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5664" y="794004"/>
            <a:ext cx="386334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36650" y="3194050"/>
          <a:ext cx="7467600" cy="249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5943600"/>
              </a:tblGrid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Split (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10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Split the string into a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list, splitting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 wherever the</a:t>
                      </a:r>
                      <a:r>
                        <a:rPr sz="20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 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matches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Sub (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41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Find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substrings where the RE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matches,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replace  them with a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Subn (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Does the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same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thing as sub(), but returns the new</a:t>
                      </a:r>
                      <a:r>
                        <a:rPr sz="20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and the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replacements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16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399999"/>
            <a:ext cx="7706995" cy="98361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 indent="548640" algn="just">
              <a:lnSpc>
                <a:spcPct val="80900"/>
              </a:lnSpc>
              <a:spcBef>
                <a:spcPts val="650"/>
              </a:spcBef>
            </a:pPr>
            <a:r>
              <a:rPr sz="2400" spc="-5" dirty="0">
                <a:latin typeface="Times New Roman"/>
                <a:cs typeface="Times New Roman"/>
              </a:rPr>
              <a:t>Regular </a:t>
            </a:r>
            <a:r>
              <a:rPr sz="2400" dirty="0">
                <a:latin typeface="Times New Roman"/>
                <a:cs typeface="Times New Roman"/>
              </a:rPr>
              <a:t>expressions are </a:t>
            </a:r>
            <a:r>
              <a:rPr sz="2400" spc="-5" dirty="0">
                <a:latin typeface="Times New Roman"/>
                <a:cs typeface="Times New Roman"/>
              </a:rPr>
              <a:t>compiled into pattern objects,  which </a:t>
            </a:r>
            <a:r>
              <a:rPr sz="2400" dirty="0">
                <a:latin typeface="Times New Roman"/>
                <a:cs typeface="Times New Roman"/>
              </a:rPr>
              <a:t>have </a:t>
            </a:r>
            <a:r>
              <a:rPr sz="2400" spc="-5" dirty="0">
                <a:latin typeface="Times New Roman"/>
                <a:cs typeface="Times New Roman"/>
              </a:rPr>
              <a:t>methods </a:t>
            </a:r>
            <a:r>
              <a:rPr sz="2400" dirty="0">
                <a:latin typeface="Times New Roman"/>
                <a:cs typeface="Times New Roman"/>
              </a:rPr>
              <a:t>for various operations </a:t>
            </a:r>
            <a:r>
              <a:rPr sz="2400" spc="-5" dirty="0">
                <a:latin typeface="Times New Roman"/>
                <a:cs typeface="Times New Roman"/>
              </a:rPr>
              <a:t>such </a:t>
            </a:r>
            <a:r>
              <a:rPr sz="240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searching  </a:t>
            </a:r>
            <a:r>
              <a:rPr sz="2400" dirty="0">
                <a:latin typeface="Times New Roman"/>
                <a:cs typeface="Times New Roman"/>
              </a:rPr>
              <a:t>for pattern </a:t>
            </a:r>
            <a:r>
              <a:rPr sz="2400" spc="-5" dirty="0">
                <a:latin typeface="Times New Roman"/>
                <a:cs typeface="Times New Roman"/>
              </a:rPr>
              <a:t>matches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performing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substitutions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17</a:t>
            </a:fld>
            <a:endParaRPr spc="7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668" y="1325626"/>
            <a:ext cx="19589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i="1" dirty="0">
                <a:solidFill>
                  <a:srgbClr val="000000"/>
                </a:solidFill>
                <a:latin typeface="Times New Roman"/>
                <a:cs typeface="Times New Roman"/>
              </a:rPr>
              <a:t>Split</a:t>
            </a:r>
            <a:r>
              <a:rPr sz="2700" i="1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0000"/>
                </a:solidFill>
                <a:latin typeface="Times New Roman"/>
                <a:cs typeface="Times New Roman"/>
              </a:rPr>
              <a:t>Method: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40"/>
              </a:lnSpc>
              <a:spcBef>
                <a:spcPts val="95"/>
              </a:spcBef>
            </a:pPr>
            <a:r>
              <a:rPr spc="-5" dirty="0"/>
              <a:t>Syntax:</a:t>
            </a:r>
          </a:p>
          <a:p>
            <a:pPr marL="268605">
              <a:lnSpc>
                <a:spcPts val="2580"/>
              </a:lnSpc>
            </a:pPr>
            <a:r>
              <a:rPr sz="2200" b="0" i="0" spc="-5" dirty="0">
                <a:latin typeface="Times New Roman"/>
                <a:cs typeface="Times New Roman"/>
              </a:rPr>
              <a:t>re.split(string,[maxsplit=0])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465"/>
              </a:lnSpc>
            </a:pPr>
            <a:r>
              <a:rPr sz="2100" b="0" dirty="0">
                <a:latin typeface="Times New Roman"/>
                <a:cs typeface="Times New Roman"/>
              </a:rPr>
              <a:t>Eg:</a:t>
            </a:r>
            <a:endParaRPr sz="2100">
              <a:latin typeface="Times New Roman"/>
              <a:cs typeface="Times New Roman"/>
            </a:endParaRPr>
          </a:p>
          <a:p>
            <a:pPr marL="335915">
              <a:lnSpc>
                <a:spcPts val="2410"/>
              </a:lnSpc>
            </a:pPr>
            <a:r>
              <a:rPr sz="2100" b="0" i="0" dirty="0">
                <a:latin typeface="Times New Roman"/>
                <a:cs typeface="Times New Roman"/>
              </a:rPr>
              <a:t>&gt;&gt;&gt;p =</a:t>
            </a:r>
            <a:r>
              <a:rPr sz="2100" b="0" i="0" spc="-5" dirty="0">
                <a:latin typeface="Times New Roman"/>
                <a:cs typeface="Times New Roman"/>
              </a:rPr>
              <a:t> re.compile(r'\W+')</a:t>
            </a:r>
            <a:endParaRPr sz="2100">
              <a:latin typeface="Times New Roman"/>
              <a:cs typeface="Times New Roman"/>
            </a:endParaRPr>
          </a:p>
          <a:p>
            <a:pPr marL="268605">
              <a:lnSpc>
                <a:spcPts val="2420"/>
              </a:lnSpc>
            </a:pPr>
            <a:r>
              <a:rPr sz="2100" i="0" dirty="0">
                <a:latin typeface="Times New Roman"/>
                <a:cs typeface="Times New Roman"/>
              </a:rPr>
              <a:t>&gt;&gt;&gt; </a:t>
            </a:r>
            <a:r>
              <a:rPr sz="2100" b="0" i="0" spc="-5" dirty="0">
                <a:latin typeface="Times New Roman"/>
                <a:cs typeface="Times New Roman"/>
              </a:rPr>
              <a:t>p.split(‘This </a:t>
            </a:r>
            <a:r>
              <a:rPr sz="2100" b="0" i="0" dirty="0">
                <a:latin typeface="Times New Roman"/>
                <a:cs typeface="Times New Roman"/>
              </a:rPr>
              <a:t>is </a:t>
            </a:r>
            <a:r>
              <a:rPr sz="2100" b="0" i="0" spc="-15" dirty="0">
                <a:latin typeface="Times New Roman"/>
                <a:cs typeface="Times New Roman"/>
              </a:rPr>
              <a:t>my </a:t>
            </a:r>
            <a:r>
              <a:rPr sz="2100" b="0" i="0" spc="-5" dirty="0">
                <a:latin typeface="Times New Roman"/>
                <a:cs typeface="Times New Roman"/>
              </a:rPr>
              <a:t>first </a:t>
            </a:r>
            <a:r>
              <a:rPr sz="2100" b="0" i="0" dirty="0">
                <a:latin typeface="Times New Roman"/>
                <a:cs typeface="Times New Roman"/>
              </a:rPr>
              <a:t>split </a:t>
            </a:r>
            <a:r>
              <a:rPr sz="2100" b="0" i="0" spc="-5" dirty="0">
                <a:latin typeface="Times New Roman"/>
                <a:cs typeface="Times New Roman"/>
              </a:rPr>
              <a:t>example</a:t>
            </a:r>
            <a:r>
              <a:rPr sz="2100" b="0" i="0" spc="55" dirty="0">
                <a:latin typeface="Times New Roman"/>
                <a:cs typeface="Times New Roman"/>
              </a:rPr>
              <a:t> </a:t>
            </a:r>
            <a:r>
              <a:rPr sz="2100" b="0" i="0" spc="-5" dirty="0">
                <a:latin typeface="Times New Roman"/>
                <a:cs typeface="Times New Roman"/>
              </a:rPr>
              <a:t>string')</a:t>
            </a:r>
            <a:endParaRPr sz="2100">
              <a:latin typeface="Times New Roman"/>
              <a:cs typeface="Times New Roman"/>
            </a:endParaRPr>
          </a:p>
          <a:p>
            <a:pPr marL="268605">
              <a:lnSpc>
                <a:spcPts val="2475"/>
              </a:lnSpc>
            </a:pPr>
            <a:r>
              <a:rPr sz="2100" b="0" i="0" spc="-5" dirty="0">
                <a:latin typeface="Times New Roman"/>
                <a:cs typeface="Times New Roman"/>
              </a:rPr>
              <a:t>[‘This', </a:t>
            </a:r>
            <a:r>
              <a:rPr sz="2100" b="0" i="0" spc="-10" dirty="0">
                <a:latin typeface="Times New Roman"/>
                <a:cs typeface="Times New Roman"/>
              </a:rPr>
              <a:t>'is', </a:t>
            </a:r>
            <a:r>
              <a:rPr sz="2100" b="0" i="0" spc="-15" dirty="0">
                <a:latin typeface="Times New Roman"/>
                <a:cs typeface="Times New Roman"/>
              </a:rPr>
              <a:t>'my', </a:t>
            </a:r>
            <a:r>
              <a:rPr sz="2100" b="0" i="0" spc="-5" dirty="0">
                <a:latin typeface="Times New Roman"/>
                <a:cs typeface="Times New Roman"/>
              </a:rPr>
              <a:t>'first', 'split',</a:t>
            </a:r>
            <a:r>
              <a:rPr sz="2100" b="0" i="0" spc="170" dirty="0">
                <a:latin typeface="Times New Roman"/>
                <a:cs typeface="Times New Roman"/>
              </a:rPr>
              <a:t> </a:t>
            </a:r>
            <a:r>
              <a:rPr sz="2100" b="0" i="0" spc="-5" dirty="0">
                <a:latin typeface="Times New Roman"/>
                <a:cs typeface="Times New Roman"/>
              </a:rPr>
              <a:t>'example']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00">
              <a:latin typeface="Times New Roman"/>
              <a:cs typeface="Times New Roman"/>
            </a:endParaRPr>
          </a:p>
          <a:p>
            <a:pPr marL="268605" marR="5080">
              <a:lnSpc>
                <a:spcPts val="2420"/>
              </a:lnSpc>
            </a:pPr>
            <a:r>
              <a:rPr sz="2100" i="0" dirty="0">
                <a:latin typeface="Times New Roman"/>
                <a:cs typeface="Times New Roman"/>
              </a:rPr>
              <a:t>&gt;&gt;&gt; </a:t>
            </a:r>
            <a:r>
              <a:rPr sz="2100" b="0" i="0" spc="-5" dirty="0">
                <a:latin typeface="Times New Roman"/>
                <a:cs typeface="Times New Roman"/>
              </a:rPr>
              <a:t>p.split(‘This </a:t>
            </a:r>
            <a:r>
              <a:rPr sz="2100" b="0" i="0" dirty="0">
                <a:latin typeface="Times New Roman"/>
                <a:cs typeface="Times New Roman"/>
              </a:rPr>
              <a:t>is </a:t>
            </a:r>
            <a:r>
              <a:rPr sz="2100" b="0" i="0" spc="-20" dirty="0">
                <a:latin typeface="Times New Roman"/>
                <a:cs typeface="Times New Roman"/>
              </a:rPr>
              <a:t>my </a:t>
            </a:r>
            <a:r>
              <a:rPr sz="2100" b="0" i="0" dirty="0">
                <a:latin typeface="Times New Roman"/>
                <a:cs typeface="Times New Roman"/>
              </a:rPr>
              <a:t>first split </a:t>
            </a:r>
            <a:r>
              <a:rPr sz="2100" b="0" i="0" spc="-5" dirty="0">
                <a:latin typeface="Times New Roman"/>
                <a:cs typeface="Times New Roman"/>
              </a:rPr>
              <a:t>example string', </a:t>
            </a:r>
            <a:r>
              <a:rPr sz="2100" b="0" i="0" dirty="0">
                <a:latin typeface="Times New Roman"/>
                <a:cs typeface="Times New Roman"/>
              </a:rPr>
              <a:t>3)  </a:t>
            </a:r>
            <a:r>
              <a:rPr sz="2100" b="0" i="0" spc="-5" dirty="0">
                <a:latin typeface="Times New Roman"/>
                <a:cs typeface="Times New Roman"/>
              </a:rPr>
              <a:t>[‘This', </a:t>
            </a:r>
            <a:r>
              <a:rPr sz="2100" b="0" i="0" spc="-10" dirty="0">
                <a:latin typeface="Times New Roman"/>
                <a:cs typeface="Times New Roman"/>
              </a:rPr>
              <a:t>'is', </a:t>
            </a:r>
            <a:r>
              <a:rPr sz="2100" b="0" i="0" spc="-15" dirty="0">
                <a:latin typeface="Times New Roman"/>
                <a:cs typeface="Times New Roman"/>
              </a:rPr>
              <a:t>'my', </a:t>
            </a:r>
            <a:r>
              <a:rPr sz="2100" b="0" i="0" spc="-5" dirty="0">
                <a:latin typeface="Times New Roman"/>
                <a:cs typeface="Times New Roman"/>
              </a:rPr>
              <a:t>'first </a:t>
            </a:r>
            <a:r>
              <a:rPr sz="2100" b="0" i="0" dirty="0">
                <a:latin typeface="Times New Roman"/>
                <a:cs typeface="Times New Roman"/>
              </a:rPr>
              <a:t>split</a:t>
            </a:r>
            <a:r>
              <a:rPr sz="2100" b="0" i="0" spc="135" dirty="0">
                <a:latin typeface="Times New Roman"/>
                <a:cs typeface="Times New Roman"/>
              </a:rPr>
              <a:t> </a:t>
            </a:r>
            <a:r>
              <a:rPr sz="2100" b="0" i="0" spc="-5" dirty="0">
                <a:latin typeface="Times New Roman"/>
                <a:cs typeface="Times New Roman"/>
              </a:rPr>
              <a:t>example']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1001732"/>
            <a:ext cx="7962900" cy="21158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40"/>
              </a:spcBef>
            </a:pPr>
            <a:r>
              <a:rPr sz="27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Sub </a:t>
            </a:r>
            <a:r>
              <a:rPr sz="2700" i="1" dirty="0">
                <a:solidFill>
                  <a:srgbClr val="000000"/>
                </a:solidFill>
                <a:latin typeface="Times New Roman"/>
                <a:cs typeface="Times New Roman"/>
              </a:rPr>
              <a:t>Method:</a:t>
            </a:r>
            <a:endParaRPr sz="2700">
              <a:latin typeface="Times New Roman"/>
              <a:cs typeface="Times New Roman"/>
            </a:endParaRPr>
          </a:p>
          <a:p>
            <a:pPr marL="268605" marR="5080" algn="just">
              <a:lnSpc>
                <a:spcPct val="104200"/>
              </a:lnSpc>
              <a:spcBef>
                <a:spcPts val="280"/>
              </a:spcBef>
            </a:pP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The sub method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replaces all occurrences of the 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RE </a:t>
            </a:r>
            <a:r>
              <a:rPr b="0" i="1" dirty="0">
                <a:solidFill>
                  <a:srgbClr val="000000"/>
                </a:solidFill>
                <a:latin typeface="Times New Roman"/>
                <a:cs typeface="Times New Roman"/>
              </a:rPr>
              <a:t>pattern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in </a:t>
            </a:r>
            <a:r>
              <a:rPr b="0" i="1" dirty="0">
                <a:solidFill>
                  <a:srgbClr val="000000"/>
                </a:solidFill>
                <a:latin typeface="Times New Roman"/>
                <a:cs typeface="Times New Roman"/>
              </a:rPr>
              <a:t>string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with </a:t>
            </a:r>
            <a:r>
              <a:rPr b="0" i="1" spc="-20" dirty="0">
                <a:solidFill>
                  <a:srgbClr val="000000"/>
                </a:solidFill>
                <a:latin typeface="Times New Roman"/>
                <a:cs typeface="Times New Roman"/>
              </a:rPr>
              <a:t>repl</a:t>
            </a:r>
            <a:r>
              <a:rPr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substituting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all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occurrences 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unless </a:t>
            </a:r>
            <a:r>
              <a:rPr b="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max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provided.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This method would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return modified 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18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3416294"/>
            <a:ext cx="4192270" cy="98933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500" b="1" i="1" spc="-5" dirty="0">
                <a:latin typeface="Times New Roman"/>
                <a:cs typeface="Times New Roman"/>
              </a:rPr>
              <a:t>Syntax:</a:t>
            </a:r>
            <a:endParaRPr sz="25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915"/>
              </a:spcBef>
            </a:pPr>
            <a:r>
              <a:rPr sz="2200" dirty="0">
                <a:latin typeface="Times New Roman"/>
                <a:cs typeface="Times New Roman"/>
              </a:rPr>
              <a:t>re.sub(pattern, </a:t>
            </a:r>
            <a:r>
              <a:rPr sz="2200" spc="-5" dirty="0">
                <a:latin typeface="Times New Roman"/>
                <a:cs typeface="Times New Roman"/>
              </a:rPr>
              <a:t>repl, </a:t>
            </a:r>
            <a:r>
              <a:rPr sz="2200" dirty="0">
                <a:latin typeface="Times New Roman"/>
                <a:cs typeface="Times New Roman"/>
              </a:rPr>
              <a:t>string,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max=0)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54607"/>
            <a:ext cx="5255260" cy="44399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90"/>
              </a:spcBef>
            </a:pPr>
            <a:r>
              <a:rPr sz="2300" spc="-5" dirty="0">
                <a:solidFill>
                  <a:srgbClr val="C00000"/>
                </a:solidFill>
                <a:latin typeface="Times New Roman"/>
                <a:cs typeface="Times New Roman"/>
              </a:rPr>
              <a:t>import</a:t>
            </a:r>
            <a:r>
              <a:rPr sz="2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endParaRPr sz="23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95"/>
              </a:spcBef>
            </a:pP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DOB </a:t>
            </a:r>
            <a:r>
              <a:rPr sz="2300" dirty="0">
                <a:latin typeface="Times New Roman"/>
                <a:cs typeface="Times New Roman"/>
              </a:rPr>
              <a:t>= "25-01-1991 # </a:t>
            </a:r>
            <a:r>
              <a:rPr sz="2300" spc="-5" dirty="0">
                <a:latin typeface="Times New Roman"/>
                <a:cs typeface="Times New Roman"/>
              </a:rPr>
              <a:t>This </a:t>
            </a:r>
            <a:r>
              <a:rPr sz="2300" dirty="0">
                <a:latin typeface="Times New Roman"/>
                <a:cs typeface="Times New Roman"/>
              </a:rPr>
              <a:t>is </a:t>
            </a:r>
            <a:r>
              <a:rPr sz="2300" spc="-5" dirty="0">
                <a:latin typeface="Times New Roman"/>
                <a:cs typeface="Times New Roman"/>
              </a:rPr>
              <a:t>Date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Birth“</a:t>
            </a:r>
            <a:endParaRPr sz="2300">
              <a:latin typeface="Times New Roman"/>
              <a:cs typeface="Times New Roman"/>
            </a:endParaRPr>
          </a:p>
          <a:p>
            <a:pPr marL="12700" marR="1432560" algn="just">
              <a:lnSpc>
                <a:spcPct val="114300"/>
              </a:lnSpc>
              <a:spcBef>
                <a:spcPts val="20"/>
              </a:spcBef>
            </a:pPr>
            <a:r>
              <a:rPr sz="2300" dirty="0">
                <a:solidFill>
                  <a:srgbClr val="6F2F9F"/>
                </a:solidFill>
                <a:latin typeface="Times New Roman"/>
                <a:cs typeface="Times New Roman"/>
              </a:rPr>
              <a:t># </a:t>
            </a:r>
            <a:r>
              <a:rPr sz="2300" spc="-5" dirty="0">
                <a:solidFill>
                  <a:srgbClr val="6F2F9F"/>
                </a:solidFill>
                <a:latin typeface="Times New Roman"/>
                <a:cs typeface="Times New Roman"/>
              </a:rPr>
              <a:t>Delete </a:t>
            </a:r>
            <a:r>
              <a:rPr sz="2300" dirty="0">
                <a:solidFill>
                  <a:srgbClr val="6F2F9F"/>
                </a:solidFill>
                <a:latin typeface="Times New Roman"/>
                <a:cs typeface="Times New Roman"/>
              </a:rPr>
              <a:t>Python-style</a:t>
            </a:r>
            <a:r>
              <a:rPr sz="2300" spc="-8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6F2F9F"/>
                </a:solidFill>
                <a:latin typeface="Times New Roman"/>
                <a:cs typeface="Times New Roman"/>
              </a:rPr>
              <a:t>comments  </a:t>
            </a:r>
            <a:r>
              <a:rPr sz="2300" spc="-5" dirty="0">
                <a:solidFill>
                  <a:srgbClr val="C00000"/>
                </a:solidFill>
                <a:latin typeface="Times New Roman"/>
                <a:cs typeface="Times New Roman"/>
              </a:rPr>
              <a:t>Birth </a:t>
            </a:r>
            <a:r>
              <a:rPr sz="2300" dirty="0">
                <a:latin typeface="Times New Roman"/>
                <a:cs typeface="Times New Roman"/>
              </a:rPr>
              <a:t>= </a:t>
            </a:r>
            <a:r>
              <a:rPr sz="2300" dirty="0">
                <a:solidFill>
                  <a:srgbClr val="00AF50"/>
                </a:solidFill>
                <a:latin typeface="Times New Roman"/>
                <a:cs typeface="Times New Roman"/>
              </a:rPr>
              <a:t>re.sub </a:t>
            </a:r>
            <a:r>
              <a:rPr sz="2300" spc="-5" dirty="0">
                <a:solidFill>
                  <a:srgbClr val="C00000"/>
                </a:solidFill>
                <a:latin typeface="Times New Roman"/>
                <a:cs typeface="Times New Roman"/>
              </a:rPr>
              <a:t>(r'#.*$', "", </a:t>
            </a: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DOB)  print </a:t>
            </a:r>
            <a:r>
              <a:rPr sz="2300" spc="-5" dirty="0">
                <a:latin typeface="Times New Roman"/>
                <a:cs typeface="Times New Roman"/>
              </a:rPr>
              <a:t>"Date </a:t>
            </a:r>
            <a:r>
              <a:rPr sz="2300" dirty="0">
                <a:latin typeface="Times New Roman"/>
                <a:cs typeface="Times New Roman"/>
              </a:rPr>
              <a:t>of </a:t>
            </a:r>
            <a:r>
              <a:rPr sz="2300" spc="-5" dirty="0">
                <a:latin typeface="Times New Roman"/>
                <a:cs typeface="Times New Roman"/>
              </a:rPr>
              <a:t>Birth </a:t>
            </a:r>
            <a:r>
              <a:rPr sz="2300" dirty="0">
                <a:latin typeface="Times New Roman"/>
                <a:cs typeface="Times New Roman"/>
              </a:rPr>
              <a:t>: </a:t>
            </a:r>
            <a:r>
              <a:rPr sz="2300" spc="-5" dirty="0">
                <a:latin typeface="Times New Roman"/>
                <a:cs typeface="Times New Roman"/>
              </a:rPr>
              <a:t>",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AF50"/>
                </a:solidFill>
                <a:latin typeface="Times New Roman"/>
                <a:cs typeface="Times New Roman"/>
              </a:rPr>
              <a:t>Birth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300" dirty="0">
                <a:solidFill>
                  <a:srgbClr val="6F2F9F"/>
                </a:solidFill>
                <a:latin typeface="Times New Roman"/>
                <a:cs typeface="Times New Roman"/>
              </a:rPr>
              <a:t># </a:t>
            </a:r>
            <a:r>
              <a:rPr sz="2300" spc="-5" dirty="0">
                <a:solidFill>
                  <a:srgbClr val="6F2F9F"/>
                </a:solidFill>
                <a:latin typeface="Times New Roman"/>
                <a:cs typeface="Times New Roman"/>
              </a:rPr>
              <a:t>Remove </a:t>
            </a:r>
            <a:r>
              <a:rPr sz="2300" dirty="0">
                <a:solidFill>
                  <a:srgbClr val="6F2F9F"/>
                </a:solidFill>
                <a:latin typeface="Times New Roman"/>
                <a:cs typeface="Times New Roman"/>
              </a:rPr>
              <a:t>anything other than</a:t>
            </a:r>
            <a:r>
              <a:rPr sz="23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6F2F9F"/>
                </a:solidFill>
                <a:latin typeface="Times New Roman"/>
                <a:cs typeface="Times New Roman"/>
              </a:rPr>
              <a:t>digits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Birth1 </a:t>
            </a:r>
            <a:r>
              <a:rPr sz="2300" dirty="0">
                <a:latin typeface="Times New Roman"/>
                <a:cs typeface="Times New Roman"/>
              </a:rPr>
              <a:t>= </a:t>
            </a:r>
            <a:r>
              <a:rPr sz="2300" dirty="0">
                <a:solidFill>
                  <a:srgbClr val="00AF50"/>
                </a:solidFill>
                <a:latin typeface="Times New Roman"/>
                <a:cs typeface="Times New Roman"/>
              </a:rPr>
              <a:t>re.sub </a:t>
            </a:r>
            <a:r>
              <a:rPr sz="2300" spc="-5" dirty="0">
                <a:solidFill>
                  <a:srgbClr val="C00000"/>
                </a:solidFill>
                <a:latin typeface="Times New Roman"/>
                <a:cs typeface="Times New Roman"/>
              </a:rPr>
              <a:t>(r'\D', "", </a:t>
            </a: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Birth)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2300" dirty="0">
                <a:latin typeface="Times New Roman"/>
                <a:cs typeface="Times New Roman"/>
              </a:rPr>
              <a:t>"Before </a:t>
            </a:r>
            <a:r>
              <a:rPr sz="2300" spc="-5" dirty="0">
                <a:latin typeface="Times New Roman"/>
                <a:cs typeface="Times New Roman"/>
              </a:rPr>
              <a:t>substituting </a:t>
            </a:r>
            <a:r>
              <a:rPr sz="2300" dirty="0">
                <a:latin typeface="Times New Roman"/>
                <a:cs typeface="Times New Roman"/>
              </a:rPr>
              <a:t>DOB : </a:t>
            </a:r>
            <a:r>
              <a:rPr sz="2300" spc="-5" dirty="0">
                <a:latin typeface="Times New Roman"/>
                <a:cs typeface="Times New Roman"/>
              </a:rPr>
              <a:t>",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AF50"/>
                </a:solidFill>
                <a:latin typeface="Times New Roman"/>
                <a:cs typeface="Times New Roman"/>
              </a:rPr>
              <a:t>Birth1</a:t>
            </a:r>
            <a:endParaRPr sz="2300">
              <a:latin typeface="Times New Roman"/>
              <a:cs typeface="Times New Roman"/>
            </a:endParaRPr>
          </a:p>
          <a:p>
            <a:pPr marL="12700" marR="1486535">
              <a:lnSpc>
                <a:spcPct val="114500"/>
              </a:lnSpc>
              <a:spcBef>
                <a:spcPts val="10"/>
              </a:spcBef>
            </a:pPr>
            <a:r>
              <a:rPr sz="2300" dirty="0">
                <a:solidFill>
                  <a:srgbClr val="6F2F9F"/>
                </a:solidFill>
                <a:latin typeface="Times New Roman"/>
                <a:cs typeface="Times New Roman"/>
              </a:rPr>
              <a:t># Substituting the </a:t>
            </a:r>
            <a:r>
              <a:rPr sz="2300" spc="-10" dirty="0">
                <a:solidFill>
                  <a:srgbClr val="6F2F9F"/>
                </a:solidFill>
                <a:latin typeface="Times New Roman"/>
                <a:cs typeface="Times New Roman"/>
              </a:rPr>
              <a:t>'-' </a:t>
            </a:r>
            <a:r>
              <a:rPr sz="2300" dirty="0">
                <a:solidFill>
                  <a:srgbClr val="6F2F9F"/>
                </a:solidFill>
                <a:latin typeface="Times New Roman"/>
                <a:cs typeface="Times New Roman"/>
              </a:rPr>
              <a:t>with</a:t>
            </a:r>
            <a:r>
              <a:rPr sz="2300" spc="-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6F2F9F"/>
                </a:solidFill>
                <a:latin typeface="Times New Roman"/>
                <a:cs typeface="Times New Roman"/>
              </a:rPr>
              <a:t>'.(dot)'  </a:t>
            </a: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New</a:t>
            </a:r>
            <a:r>
              <a:rPr sz="2300" dirty="0">
                <a:latin typeface="Times New Roman"/>
                <a:cs typeface="Times New Roman"/>
              </a:rPr>
              <a:t>=</a:t>
            </a:r>
            <a:r>
              <a:rPr sz="2300" dirty="0">
                <a:solidFill>
                  <a:srgbClr val="00AF50"/>
                </a:solidFill>
                <a:latin typeface="Times New Roman"/>
                <a:cs typeface="Times New Roman"/>
              </a:rPr>
              <a:t>re.sub</a:t>
            </a:r>
            <a:r>
              <a:rPr sz="23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C00000"/>
                </a:solidFill>
                <a:latin typeface="Times New Roman"/>
                <a:cs typeface="Times New Roman"/>
              </a:rPr>
              <a:t>(r'\W',".",Birth)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2300" dirty="0">
                <a:latin typeface="Times New Roman"/>
                <a:cs typeface="Times New Roman"/>
              </a:rPr>
              <a:t>"After </a:t>
            </a:r>
            <a:r>
              <a:rPr sz="2300" spc="-5" dirty="0">
                <a:latin typeface="Times New Roman"/>
                <a:cs typeface="Times New Roman"/>
              </a:rPr>
              <a:t>substituting </a:t>
            </a:r>
            <a:r>
              <a:rPr sz="2300" dirty="0">
                <a:latin typeface="Times New Roman"/>
                <a:cs typeface="Times New Roman"/>
              </a:rPr>
              <a:t>DOB: </a:t>
            </a:r>
            <a:r>
              <a:rPr sz="2300" spc="-5" dirty="0">
                <a:latin typeface="Times New Roman"/>
                <a:cs typeface="Times New Roman"/>
              </a:rPr>
              <a:t>",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AF50"/>
                </a:solidFill>
                <a:latin typeface="Times New Roman"/>
                <a:cs typeface="Times New Roman"/>
              </a:rPr>
              <a:t>New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26274" y="749808"/>
            <a:ext cx="6505167" cy="444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19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51863"/>
            <a:ext cx="7652384" cy="29991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05"/>
              </a:spcBef>
              <a:buClr>
                <a:srgbClr val="2CA1BE"/>
              </a:buClr>
              <a:buSzPct val="68000"/>
              <a:buFont typeface="Wingdings"/>
              <a:buChar char=""/>
              <a:tabLst>
                <a:tab pos="269240" algn="l"/>
              </a:tabLst>
            </a:pPr>
            <a:r>
              <a:rPr sz="2500" spc="-5" dirty="0">
                <a:latin typeface="Times New Roman"/>
                <a:cs typeface="Times New Roman"/>
              </a:rPr>
              <a:t>There are two types of Match Methods in</a:t>
            </a:r>
            <a:r>
              <a:rPr sz="2500" spc="18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</a:t>
            </a:r>
            <a:endParaRPr sz="2500">
              <a:latin typeface="Times New Roman"/>
              <a:cs typeface="Times New Roman"/>
            </a:endParaRPr>
          </a:p>
          <a:p>
            <a:pPr marL="1160780" lvl="1" indent="-344170">
              <a:lnSpc>
                <a:spcPct val="100000"/>
              </a:lnSpc>
              <a:spcBef>
                <a:spcPts val="409"/>
              </a:spcBef>
              <a:buAutoNum type="arabicParenR"/>
              <a:tabLst>
                <a:tab pos="1161415" algn="l"/>
              </a:tabLst>
            </a:pPr>
            <a:r>
              <a:rPr sz="2500" spc="-5" dirty="0">
                <a:latin typeface="Times New Roman"/>
                <a:cs typeface="Times New Roman"/>
              </a:rPr>
              <a:t>Greedy</a:t>
            </a:r>
            <a:endParaRPr sz="2500">
              <a:latin typeface="Times New Roman"/>
              <a:cs typeface="Times New Roman"/>
            </a:endParaRPr>
          </a:p>
          <a:p>
            <a:pPr marL="1161415" lvl="1" indent="-344805">
              <a:lnSpc>
                <a:spcPct val="100000"/>
              </a:lnSpc>
              <a:spcBef>
                <a:spcPts val="395"/>
              </a:spcBef>
              <a:buAutoNum type="arabicParenR"/>
              <a:tabLst>
                <a:tab pos="1162050" algn="l"/>
              </a:tabLst>
            </a:pPr>
            <a:r>
              <a:rPr sz="2500" spc="-5" dirty="0">
                <a:latin typeface="Times New Roman"/>
                <a:cs typeface="Times New Roman"/>
              </a:rPr>
              <a:t>Lazy</a:t>
            </a:r>
            <a:endParaRPr sz="250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spcBef>
                <a:spcPts val="400"/>
              </a:spcBef>
              <a:buClr>
                <a:srgbClr val="2CA1BE"/>
              </a:buClr>
              <a:buSzPct val="68000"/>
              <a:buFont typeface="Wingdings"/>
              <a:buChar char=""/>
              <a:tabLst>
                <a:tab pos="347980" algn="l"/>
                <a:tab pos="348615" algn="l"/>
              </a:tabLst>
            </a:pPr>
            <a:r>
              <a:rPr sz="2500" spc="-5" dirty="0">
                <a:latin typeface="Times New Roman"/>
                <a:cs typeface="Times New Roman"/>
              </a:rPr>
              <a:t>Most flavors of regular expressions are greedy by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default</a:t>
            </a:r>
            <a:endParaRPr sz="2500">
              <a:latin typeface="Times New Roman"/>
              <a:cs typeface="Times New Roman"/>
            </a:endParaRPr>
          </a:p>
          <a:p>
            <a:pPr marL="341630" indent="-329565">
              <a:lnSpc>
                <a:spcPct val="100000"/>
              </a:lnSpc>
              <a:spcBef>
                <a:spcPts val="405"/>
              </a:spcBef>
              <a:buClr>
                <a:srgbClr val="2CA1BE"/>
              </a:buClr>
              <a:buSzPct val="68000"/>
              <a:buFont typeface="Wingdings"/>
              <a:buChar char=""/>
              <a:tabLst>
                <a:tab pos="341630" algn="l"/>
                <a:tab pos="342265" algn="l"/>
              </a:tabLst>
            </a:pPr>
            <a:r>
              <a:rPr sz="2500" spc="-95" dirty="0">
                <a:latin typeface="Times New Roman"/>
                <a:cs typeface="Times New Roman"/>
              </a:rPr>
              <a:t>To </a:t>
            </a:r>
            <a:r>
              <a:rPr sz="2500" spc="-10" dirty="0">
                <a:latin typeface="Times New Roman"/>
                <a:cs typeface="Times New Roman"/>
              </a:rPr>
              <a:t>make </a:t>
            </a:r>
            <a:r>
              <a:rPr sz="2500" spc="-5" dirty="0">
                <a:latin typeface="Times New Roman"/>
                <a:cs typeface="Times New Roman"/>
              </a:rPr>
              <a:t>a Quantifier </a:t>
            </a:r>
            <a:r>
              <a:rPr sz="2500" spc="-40" dirty="0">
                <a:latin typeface="Times New Roman"/>
                <a:cs typeface="Times New Roman"/>
              </a:rPr>
              <a:t>Lazy, </a:t>
            </a:r>
            <a:r>
              <a:rPr sz="2500" spc="-5" dirty="0">
                <a:latin typeface="Times New Roman"/>
                <a:cs typeface="Times New Roman"/>
              </a:rPr>
              <a:t>append a question </a:t>
            </a:r>
            <a:r>
              <a:rPr sz="2500" spc="-10" dirty="0">
                <a:latin typeface="Times New Roman"/>
                <a:cs typeface="Times New Roman"/>
              </a:rPr>
              <a:t>mark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38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endParaRPr sz="2500">
              <a:latin typeface="Times New Roman"/>
              <a:cs typeface="Times New Roman"/>
            </a:endParaRP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buClr>
                <a:srgbClr val="2CA1BE"/>
              </a:buClr>
              <a:buSzPct val="68000"/>
              <a:buFont typeface="Wingdings"/>
              <a:buChar char=""/>
              <a:tabLst>
                <a:tab pos="341630" algn="l"/>
                <a:tab pos="342265" algn="l"/>
              </a:tabLst>
            </a:pPr>
            <a:r>
              <a:rPr dirty="0"/>
              <a:t>	</a:t>
            </a:r>
            <a:r>
              <a:rPr sz="2500" spc="-5" dirty="0">
                <a:latin typeface="Times New Roman"/>
                <a:cs typeface="Times New Roman"/>
              </a:rPr>
              <a:t>The basic </a:t>
            </a:r>
            <a:r>
              <a:rPr sz="2500" spc="-10" dirty="0">
                <a:latin typeface="Times New Roman"/>
                <a:cs typeface="Times New Roman"/>
              </a:rPr>
              <a:t>difference </a:t>
            </a:r>
            <a:r>
              <a:rPr sz="2500" spc="-5" dirty="0">
                <a:latin typeface="Times New Roman"/>
                <a:cs typeface="Times New Roman"/>
              </a:rPr>
              <a:t>is ,Greedy </a:t>
            </a:r>
            <a:r>
              <a:rPr sz="2500" spc="-10" dirty="0">
                <a:latin typeface="Times New Roman"/>
                <a:cs typeface="Times New Roman"/>
              </a:rPr>
              <a:t>mode </a:t>
            </a:r>
            <a:r>
              <a:rPr sz="2500" spc="-5" dirty="0">
                <a:latin typeface="Times New Roman"/>
                <a:cs typeface="Times New Roman"/>
              </a:rPr>
              <a:t>tries to find the last  possible </a:t>
            </a:r>
            <a:r>
              <a:rPr sz="2500" spc="-10" dirty="0">
                <a:latin typeface="Times New Roman"/>
                <a:cs typeface="Times New Roman"/>
              </a:rPr>
              <a:t>match, </a:t>
            </a:r>
            <a:r>
              <a:rPr sz="2500" spc="-5" dirty="0">
                <a:latin typeface="Times New Roman"/>
                <a:cs typeface="Times New Roman"/>
              </a:rPr>
              <a:t>lazy </a:t>
            </a:r>
            <a:r>
              <a:rPr sz="2500" spc="-10" dirty="0">
                <a:latin typeface="Times New Roman"/>
                <a:cs typeface="Times New Roman"/>
              </a:rPr>
              <a:t>mode </a:t>
            </a:r>
            <a:r>
              <a:rPr sz="2500" spc="-5" dirty="0">
                <a:latin typeface="Times New Roman"/>
                <a:cs typeface="Times New Roman"/>
              </a:rPr>
              <a:t>the first possible</a:t>
            </a:r>
            <a:r>
              <a:rPr sz="2500" spc="30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match.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24003" y="748283"/>
            <a:ext cx="3088371" cy="3454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20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pc="-5" dirty="0"/>
              <a:t>Example for </a:t>
            </a:r>
            <a:r>
              <a:rPr spc="-15" dirty="0"/>
              <a:t>Greedy</a:t>
            </a:r>
            <a:r>
              <a:rPr spc="10" dirty="0"/>
              <a:t> </a:t>
            </a:r>
            <a:r>
              <a:rPr spc="-10" dirty="0"/>
              <a:t>Match</a:t>
            </a:r>
          </a:p>
          <a:p>
            <a:pPr marL="268605">
              <a:lnSpc>
                <a:spcPct val="100000"/>
              </a:lnSpc>
              <a:spcBef>
                <a:spcPts val="409"/>
              </a:spcBef>
            </a:pP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&gt;&gt;&gt;s =</a:t>
            </a:r>
            <a:r>
              <a:rPr b="0" spc="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'&lt;html&gt;&lt;head&gt;&lt;title&gt;Title&lt;/title&gt;'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21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901700" y="1217165"/>
            <a:ext cx="4680585" cy="132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075" marR="3315970" indent="-80010">
              <a:lnSpc>
                <a:spcPct val="113199"/>
              </a:lnSpc>
              <a:spcBef>
                <a:spcPts val="95"/>
              </a:spcBef>
            </a:pPr>
            <a:r>
              <a:rPr sz="2500" b="1" dirty="0">
                <a:latin typeface="Times New Roman"/>
                <a:cs typeface="Times New Roman"/>
              </a:rPr>
              <a:t>&gt;&gt;&gt;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len</a:t>
            </a:r>
            <a:r>
              <a:rPr sz="2500" spc="-5" dirty="0">
                <a:latin typeface="Times New Roman"/>
                <a:cs typeface="Times New Roman"/>
              </a:rPr>
              <a:t>(s)  </a:t>
            </a:r>
            <a:r>
              <a:rPr sz="2500" spc="-10" dirty="0">
                <a:latin typeface="Times New Roman"/>
                <a:cs typeface="Times New Roman"/>
              </a:rPr>
              <a:t>32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2500" b="1" dirty="0">
                <a:latin typeface="Times New Roman"/>
                <a:cs typeface="Times New Roman"/>
              </a:rPr>
              <a:t>&gt;&gt;&gt; </a:t>
            </a:r>
            <a:r>
              <a:rPr sz="25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re.match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('&lt;.*&gt;', s).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span(</a:t>
            </a:r>
            <a:r>
              <a:rPr sz="2500" spc="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563494"/>
            <a:ext cx="8724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(0,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32)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7042" y="2601594"/>
            <a:ext cx="53892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6F2F9F"/>
                </a:solidFill>
                <a:latin typeface="Times New Roman"/>
                <a:cs typeface="Times New Roman"/>
              </a:rPr>
              <a:t># it gives the start and end position of the</a:t>
            </a:r>
            <a:r>
              <a:rPr sz="2200" spc="6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6F2F9F"/>
                </a:solidFill>
                <a:latin typeface="Times New Roman"/>
                <a:cs typeface="Times New Roman"/>
              </a:rPr>
              <a:t>match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668" y="2994786"/>
            <a:ext cx="5236845" cy="251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Times New Roman"/>
                <a:cs typeface="Times New Roman"/>
              </a:rPr>
              <a:t>&gt;&gt;&gt; </a:t>
            </a:r>
            <a:r>
              <a:rPr sz="25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re.match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('&lt;.*&gt;', s).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group(</a:t>
            </a:r>
            <a:r>
              <a:rPr sz="2500" spc="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&lt;html&gt;&lt;head&gt;&lt;title&gt;Title&lt;/title&gt;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Example for </a:t>
            </a:r>
            <a:r>
              <a:rPr sz="25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Lazy</a:t>
            </a:r>
            <a:r>
              <a:rPr sz="25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Match</a:t>
            </a:r>
            <a:endParaRPr sz="25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395"/>
              </a:spcBef>
            </a:pPr>
            <a:r>
              <a:rPr sz="2500" b="1" dirty="0">
                <a:latin typeface="Times New Roman"/>
                <a:cs typeface="Times New Roman"/>
              </a:rPr>
              <a:t>&gt;&gt;&gt; </a:t>
            </a:r>
            <a:r>
              <a:rPr sz="25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re.match</a:t>
            </a:r>
            <a:r>
              <a:rPr sz="2500" spc="-5" dirty="0">
                <a:solidFill>
                  <a:srgbClr val="C00000"/>
                </a:solidFill>
                <a:latin typeface="Times New Roman"/>
                <a:cs typeface="Times New Roman"/>
              </a:rPr>
              <a:t>('&lt;.*?&gt;', s).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group(</a:t>
            </a:r>
            <a:r>
              <a:rPr sz="2500" spc="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414"/>
              </a:spcBef>
            </a:pPr>
            <a:r>
              <a:rPr sz="2500" spc="-5" dirty="0">
                <a:latin typeface="Times New Roman"/>
                <a:cs typeface="Times New Roman"/>
              </a:rPr>
              <a:t>&lt;html&gt;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505458"/>
            <a:ext cx="7795259" cy="342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64135" indent="-25654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68181"/>
              <a:buFont typeface="Arial"/>
              <a:buChar char=""/>
              <a:tabLst>
                <a:tab pos="268605" algn="l"/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RE matches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'&lt;' </a:t>
            </a:r>
            <a:r>
              <a:rPr sz="2200" spc="-5" dirty="0">
                <a:latin typeface="Times New Roman"/>
                <a:cs typeface="Times New Roman"/>
              </a:rPr>
              <a:t>in &lt;html&gt;, and the .* consumes the rest of 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string. </a:t>
            </a:r>
            <a:r>
              <a:rPr sz="2200" spc="-20" dirty="0">
                <a:latin typeface="Times New Roman"/>
                <a:cs typeface="Times New Roman"/>
              </a:rPr>
              <a:t>There’s </a:t>
            </a:r>
            <a:r>
              <a:rPr sz="2200" spc="-5" dirty="0">
                <a:latin typeface="Times New Roman"/>
                <a:cs typeface="Times New Roman"/>
              </a:rPr>
              <a:t>still more left </a:t>
            </a:r>
            <a:r>
              <a:rPr sz="2200" dirty="0">
                <a:latin typeface="Times New Roman"/>
                <a:cs typeface="Times New Roman"/>
              </a:rPr>
              <a:t>in the </a:t>
            </a:r>
            <a:r>
              <a:rPr sz="2200" spc="-5" dirty="0">
                <a:latin typeface="Times New Roman"/>
                <a:cs typeface="Times New Roman"/>
              </a:rPr>
              <a:t>RE, </a:t>
            </a:r>
            <a:r>
              <a:rPr sz="2200" dirty="0">
                <a:latin typeface="Times New Roman"/>
                <a:cs typeface="Times New Roman"/>
              </a:rPr>
              <a:t>though,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&gt; </a:t>
            </a:r>
            <a:r>
              <a:rPr sz="2200" spc="-10" dirty="0">
                <a:latin typeface="Times New Roman"/>
                <a:cs typeface="Times New Roman"/>
              </a:rPr>
              <a:t>can’t  </a:t>
            </a:r>
            <a:r>
              <a:rPr sz="2200" spc="-5" dirty="0">
                <a:latin typeface="Times New Roman"/>
                <a:cs typeface="Times New Roman"/>
              </a:rPr>
              <a:t>match at </a:t>
            </a:r>
            <a:r>
              <a:rPr sz="2200" dirty="0">
                <a:latin typeface="Times New Roman"/>
                <a:cs typeface="Times New Roman"/>
              </a:rPr>
              <a:t>the end of the string, </a:t>
            </a:r>
            <a:r>
              <a:rPr sz="2200" spc="-5" dirty="0">
                <a:latin typeface="Times New Roman"/>
                <a:cs typeface="Times New Roman"/>
              </a:rPr>
              <a:t>so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regular expression </a:t>
            </a:r>
            <a:r>
              <a:rPr sz="2200" dirty="0">
                <a:latin typeface="Times New Roman"/>
                <a:cs typeface="Times New Roman"/>
              </a:rPr>
              <a:t>engine has  </a:t>
            </a:r>
            <a:r>
              <a:rPr sz="2200" spc="-5" dirty="0">
                <a:latin typeface="Times New Roman"/>
                <a:cs typeface="Times New Roman"/>
              </a:rPr>
              <a:t>to backtrack character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latin typeface="Times New Roman"/>
                <a:cs typeface="Times New Roman"/>
              </a:rPr>
              <a:t>character </a:t>
            </a:r>
            <a:r>
              <a:rPr sz="2200" dirty="0">
                <a:latin typeface="Times New Roman"/>
                <a:cs typeface="Times New Roman"/>
              </a:rPr>
              <a:t>until </a:t>
            </a:r>
            <a:r>
              <a:rPr sz="2200" spc="-5" dirty="0">
                <a:latin typeface="Times New Roman"/>
                <a:cs typeface="Times New Roman"/>
              </a:rPr>
              <a:t>it </a:t>
            </a:r>
            <a:r>
              <a:rPr sz="2200" dirty="0">
                <a:latin typeface="Times New Roman"/>
                <a:cs typeface="Times New Roman"/>
              </a:rPr>
              <a:t>finds </a:t>
            </a:r>
            <a:r>
              <a:rPr sz="2200" spc="-5" dirty="0">
                <a:latin typeface="Times New Roman"/>
                <a:cs typeface="Times New Roman"/>
              </a:rPr>
              <a:t>a match </a:t>
            </a:r>
            <a:r>
              <a:rPr sz="2200" dirty="0">
                <a:latin typeface="Times New Roman"/>
                <a:cs typeface="Times New Roman"/>
              </a:rPr>
              <a:t>for the </a:t>
            </a:r>
            <a:r>
              <a:rPr sz="2200" spc="-5" dirty="0">
                <a:latin typeface="Times New Roman"/>
                <a:cs typeface="Times New Roman"/>
              </a:rPr>
              <a:t>&gt;.  </a:t>
            </a:r>
            <a:r>
              <a:rPr sz="2200" dirty="0">
                <a:latin typeface="Times New Roman"/>
                <a:cs typeface="Times New Roman"/>
              </a:rPr>
              <a:t>The final </a:t>
            </a:r>
            <a:r>
              <a:rPr sz="2200" spc="-5" dirty="0">
                <a:latin typeface="Times New Roman"/>
                <a:cs typeface="Times New Roman"/>
              </a:rPr>
              <a:t>match </a:t>
            </a:r>
            <a:r>
              <a:rPr sz="2200" dirty="0">
                <a:latin typeface="Times New Roman"/>
                <a:cs typeface="Times New Roman"/>
              </a:rPr>
              <a:t>extends from the </a:t>
            </a:r>
            <a:r>
              <a:rPr sz="2200" spc="-10" dirty="0">
                <a:latin typeface="Times New Roman"/>
                <a:cs typeface="Times New Roman"/>
              </a:rPr>
              <a:t>'&lt;' </a:t>
            </a:r>
            <a:r>
              <a:rPr sz="2200" spc="-5" dirty="0">
                <a:latin typeface="Times New Roman"/>
                <a:cs typeface="Times New Roman"/>
              </a:rPr>
              <a:t>in &lt;html&gt;to the </a:t>
            </a:r>
            <a:r>
              <a:rPr sz="2200" spc="-10" dirty="0">
                <a:latin typeface="Times New Roman"/>
                <a:cs typeface="Times New Roman"/>
              </a:rPr>
              <a:t>'&gt;' </a:t>
            </a:r>
            <a:r>
              <a:rPr sz="2200" spc="-5" dirty="0">
                <a:latin typeface="Times New Roman"/>
                <a:cs typeface="Times New Roman"/>
              </a:rPr>
              <a:t>in &lt;/title&gt;,  which </a:t>
            </a:r>
            <a:r>
              <a:rPr sz="2200" spc="-10" dirty="0">
                <a:latin typeface="Times New Roman"/>
                <a:cs typeface="Times New Roman"/>
              </a:rPr>
              <a:t>isn’t </a:t>
            </a:r>
            <a:r>
              <a:rPr sz="2200" spc="-5" dirty="0">
                <a:latin typeface="Times New Roman"/>
                <a:cs typeface="Times New Roman"/>
              </a:rPr>
              <a:t>what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want.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buClr>
                <a:srgbClr val="2CA1BE"/>
              </a:buClr>
              <a:buSzPct val="68181"/>
              <a:buFont typeface="Arial"/>
              <a:buChar char=""/>
              <a:tabLst>
                <a:tab pos="268605" algn="l"/>
                <a:tab pos="269240" algn="l"/>
                <a:tab pos="4532630" algn="l"/>
              </a:tabLst>
            </a:pP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Lazy (non-greedy) qualifiers </a:t>
            </a:r>
            <a:r>
              <a:rPr sz="2200" dirty="0">
                <a:latin typeface="Times New Roman"/>
                <a:cs typeface="Times New Roman"/>
              </a:rPr>
              <a:t>*?, </a:t>
            </a:r>
            <a:r>
              <a:rPr sz="2200" spc="-5" dirty="0">
                <a:latin typeface="Times New Roman"/>
                <a:cs typeface="Times New Roman"/>
              </a:rPr>
              <a:t>+?, </a:t>
            </a:r>
            <a:r>
              <a:rPr sz="2200" dirty="0">
                <a:latin typeface="Times New Roman"/>
                <a:cs typeface="Times New Roman"/>
              </a:rPr>
              <a:t>??, </a:t>
            </a:r>
            <a:r>
              <a:rPr sz="2200" spc="-5" dirty="0">
                <a:latin typeface="Times New Roman"/>
                <a:cs typeface="Times New Roman"/>
              </a:rPr>
              <a:t>or {m,n}?, which  match as </a:t>
            </a:r>
            <a:r>
              <a:rPr sz="2200" i="1" spc="-5" dirty="0">
                <a:latin typeface="Times New Roman"/>
                <a:cs typeface="Times New Roman"/>
              </a:rPr>
              <a:t>little </a:t>
            </a:r>
            <a:r>
              <a:rPr sz="2200" spc="-5" dirty="0">
                <a:latin typeface="Times New Roman"/>
                <a:cs typeface="Times New Roman"/>
              </a:rPr>
              <a:t>text as possible.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	</a:t>
            </a:r>
            <a:r>
              <a:rPr sz="2200" spc="-5" dirty="0">
                <a:latin typeface="Times New Roman"/>
                <a:cs typeface="Times New Roman"/>
              </a:rPr>
              <a:t>example, the </a:t>
            </a:r>
            <a:r>
              <a:rPr sz="2200" spc="-10" dirty="0">
                <a:latin typeface="Times New Roman"/>
                <a:cs typeface="Times New Roman"/>
              </a:rPr>
              <a:t>'&gt;' </a:t>
            </a:r>
            <a:r>
              <a:rPr sz="2200" spc="-5" dirty="0">
                <a:latin typeface="Times New Roman"/>
                <a:cs typeface="Times New Roman"/>
              </a:rPr>
              <a:t>is tried  immediately after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first </a:t>
            </a:r>
            <a:r>
              <a:rPr sz="2200" spc="-10" dirty="0">
                <a:latin typeface="Times New Roman"/>
                <a:cs typeface="Times New Roman"/>
              </a:rPr>
              <a:t>'&lt;' </a:t>
            </a:r>
            <a:r>
              <a:rPr sz="2200" spc="-5" dirty="0">
                <a:latin typeface="Times New Roman"/>
                <a:cs typeface="Times New Roman"/>
              </a:rPr>
              <a:t>matches, and when it fails,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engine  </a:t>
            </a:r>
            <a:r>
              <a:rPr sz="2200" dirty="0">
                <a:latin typeface="Times New Roman"/>
                <a:cs typeface="Times New Roman"/>
              </a:rPr>
              <a:t>advances </a:t>
            </a:r>
            <a:r>
              <a:rPr sz="2200" spc="-5" dirty="0">
                <a:latin typeface="Times New Roman"/>
                <a:cs typeface="Times New Roman"/>
              </a:rPr>
              <a:t>a character at a time, </a:t>
            </a:r>
            <a:r>
              <a:rPr sz="2200" dirty="0">
                <a:latin typeface="Times New Roman"/>
                <a:cs typeface="Times New Roman"/>
              </a:rPr>
              <a:t>retrying the </a:t>
            </a:r>
            <a:r>
              <a:rPr sz="2200" spc="-10" dirty="0">
                <a:latin typeface="Times New Roman"/>
                <a:cs typeface="Times New Roman"/>
              </a:rPr>
              <a:t>'&gt;' </a:t>
            </a:r>
            <a:r>
              <a:rPr sz="2200" spc="-5" dirty="0">
                <a:latin typeface="Times New Roman"/>
                <a:cs typeface="Times New Roman"/>
              </a:rPr>
              <a:t>at every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step.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18164" y="498348"/>
            <a:ext cx="5100050" cy="444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22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324357"/>
            <a:ext cx="14039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Fi</a:t>
            </a:r>
            <a:r>
              <a:rPr sz="3200" spc="-10" dirty="0">
                <a:solidFill>
                  <a:srgbClr val="000000"/>
                </a:solidFill>
              </a:rPr>
              <a:t>n</a:t>
            </a:r>
            <a:r>
              <a:rPr sz="3200" dirty="0">
                <a:solidFill>
                  <a:srgbClr val="000000"/>
                </a:solidFill>
              </a:rPr>
              <a:t>dall: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23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865378"/>
            <a:ext cx="8116570" cy="4732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715" indent="-256540" algn="just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dirty="0">
                <a:latin typeface="Times New Roman"/>
                <a:cs typeface="Times New Roman"/>
              </a:rPr>
              <a:t>Return all non-overlapping </a:t>
            </a:r>
            <a:r>
              <a:rPr sz="2700" spc="-5" dirty="0">
                <a:latin typeface="Times New Roman"/>
                <a:cs typeface="Times New Roman"/>
              </a:rPr>
              <a:t>matches </a:t>
            </a:r>
            <a:r>
              <a:rPr sz="2700" dirty="0">
                <a:latin typeface="Times New Roman"/>
                <a:cs typeface="Times New Roman"/>
              </a:rPr>
              <a:t>of </a:t>
            </a:r>
            <a:r>
              <a:rPr sz="2700" i="1" spc="-5" dirty="0">
                <a:latin typeface="Times New Roman"/>
                <a:cs typeface="Times New Roman"/>
              </a:rPr>
              <a:t>pattern </a:t>
            </a:r>
            <a:r>
              <a:rPr sz="2700" dirty="0">
                <a:latin typeface="Times New Roman"/>
                <a:cs typeface="Times New Roman"/>
              </a:rPr>
              <a:t>in </a:t>
            </a:r>
            <a:r>
              <a:rPr sz="2700" i="1" dirty="0">
                <a:latin typeface="Times New Roman"/>
                <a:cs typeface="Times New Roman"/>
              </a:rPr>
              <a:t>string</a:t>
            </a:r>
            <a:r>
              <a:rPr sz="2700" dirty="0">
                <a:latin typeface="Times New Roman"/>
                <a:cs typeface="Times New Roman"/>
              </a:rPr>
              <a:t>,  </a:t>
            </a:r>
            <a:r>
              <a:rPr sz="2700" spc="-5" dirty="0">
                <a:latin typeface="Times New Roman"/>
                <a:cs typeface="Times New Roman"/>
              </a:rPr>
              <a:t>as </a:t>
            </a:r>
            <a:r>
              <a:rPr sz="2700" dirty="0">
                <a:latin typeface="Times New Roman"/>
                <a:cs typeface="Times New Roman"/>
              </a:rPr>
              <a:t>a list of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strings.</a:t>
            </a:r>
            <a:endParaRPr sz="27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00000"/>
              </a:lnSpc>
              <a:spcBef>
                <a:spcPts val="395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i="1" spc="-5" dirty="0">
                <a:latin typeface="Times New Roman"/>
                <a:cs typeface="Times New Roman"/>
              </a:rPr>
              <a:t>string </a:t>
            </a:r>
            <a:r>
              <a:rPr sz="2700" dirty="0">
                <a:latin typeface="Times New Roman"/>
                <a:cs typeface="Times New Roman"/>
              </a:rPr>
              <a:t>is </a:t>
            </a:r>
            <a:r>
              <a:rPr sz="2700" spc="-5" dirty="0">
                <a:latin typeface="Times New Roman"/>
                <a:cs typeface="Times New Roman"/>
              </a:rPr>
              <a:t>scanned left-to-right, </a:t>
            </a:r>
            <a:r>
              <a:rPr sz="2700" dirty="0">
                <a:latin typeface="Times New Roman"/>
                <a:cs typeface="Times New Roman"/>
              </a:rPr>
              <a:t>and </a:t>
            </a:r>
            <a:r>
              <a:rPr sz="2700" spc="-5" dirty="0">
                <a:latin typeface="Times New Roman"/>
                <a:cs typeface="Times New Roman"/>
              </a:rPr>
              <a:t>matches </a:t>
            </a:r>
            <a:r>
              <a:rPr sz="2700" dirty="0">
                <a:latin typeface="Times New Roman"/>
                <a:cs typeface="Times New Roman"/>
              </a:rPr>
              <a:t>are  returned in the order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found.</a:t>
            </a:r>
            <a:endParaRPr sz="2700">
              <a:latin typeface="Times New Roman"/>
              <a:cs typeface="Times New Roman"/>
            </a:endParaRPr>
          </a:p>
          <a:p>
            <a:pPr marL="268605" marR="6350" indent="-256540" algn="just">
              <a:lnSpc>
                <a:spcPct val="100000"/>
              </a:lnSpc>
              <a:spcBef>
                <a:spcPts val="400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dirty="0">
                <a:latin typeface="Times New Roman"/>
                <a:cs typeface="Times New Roman"/>
              </a:rPr>
              <a:t>If one or </a:t>
            </a:r>
            <a:r>
              <a:rPr sz="2700" spc="-5" dirty="0">
                <a:latin typeface="Times New Roman"/>
                <a:cs typeface="Times New Roman"/>
              </a:rPr>
              <a:t>more </a:t>
            </a:r>
            <a:r>
              <a:rPr sz="2700" dirty="0">
                <a:latin typeface="Times New Roman"/>
                <a:cs typeface="Times New Roman"/>
              </a:rPr>
              <a:t>groups are present </a:t>
            </a:r>
            <a:r>
              <a:rPr sz="2700" spc="-5" dirty="0">
                <a:latin typeface="Times New Roman"/>
                <a:cs typeface="Times New Roman"/>
              </a:rPr>
              <a:t>in </a:t>
            </a:r>
            <a:r>
              <a:rPr sz="2700" dirty="0">
                <a:latin typeface="Times New Roman"/>
                <a:cs typeface="Times New Roman"/>
              </a:rPr>
              <a:t>the pattern, return a  list of groups; </a:t>
            </a:r>
            <a:r>
              <a:rPr sz="2700" spc="-5" dirty="0">
                <a:latin typeface="Times New Roman"/>
                <a:cs typeface="Times New Roman"/>
              </a:rPr>
              <a:t>this will </a:t>
            </a:r>
            <a:r>
              <a:rPr sz="2700" dirty="0">
                <a:latin typeface="Times New Roman"/>
                <a:cs typeface="Times New Roman"/>
              </a:rPr>
              <a:t>be a </a:t>
            </a:r>
            <a:r>
              <a:rPr sz="2700" spc="-5" dirty="0">
                <a:latin typeface="Times New Roman"/>
                <a:cs typeface="Times New Roman"/>
              </a:rPr>
              <a:t>list </a:t>
            </a:r>
            <a:r>
              <a:rPr sz="2700" dirty="0">
                <a:latin typeface="Times New Roman"/>
                <a:cs typeface="Times New Roman"/>
              </a:rPr>
              <a:t>of </a:t>
            </a:r>
            <a:r>
              <a:rPr sz="2700" spc="-5" dirty="0">
                <a:latin typeface="Times New Roman"/>
                <a:cs typeface="Times New Roman"/>
              </a:rPr>
              <a:t>tuples </a:t>
            </a:r>
            <a:r>
              <a:rPr sz="2700" dirty="0">
                <a:latin typeface="Times New Roman"/>
                <a:cs typeface="Times New Roman"/>
              </a:rPr>
              <a:t>if the pattern  has </a:t>
            </a:r>
            <a:r>
              <a:rPr sz="2700" spc="-5" dirty="0">
                <a:latin typeface="Times New Roman"/>
                <a:cs typeface="Times New Roman"/>
              </a:rPr>
              <a:t>more </a:t>
            </a:r>
            <a:r>
              <a:rPr sz="2700" dirty="0">
                <a:latin typeface="Times New Roman"/>
                <a:cs typeface="Times New Roman"/>
              </a:rPr>
              <a:t>than one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group.</a:t>
            </a:r>
            <a:endParaRPr sz="2700">
              <a:latin typeface="Times New Roman"/>
              <a:cs typeface="Times New Roman"/>
            </a:endParaRPr>
          </a:p>
          <a:p>
            <a:pPr marL="268605" marR="6985" indent="-256540" algn="just">
              <a:lnSpc>
                <a:spcPct val="100000"/>
              </a:lnSpc>
              <a:spcBef>
                <a:spcPts val="409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spc="-5" dirty="0">
                <a:latin typeface="Times New Roman"/>
                <a:cs typeface="Times New Roman"/>
              </a:rPr>
              <a:t>Empty matches </a:t>
            </a:r>
            <a:r>
              <a:rPr sz="2700" dirty="0">
                <a:latin typeface="Times New Roman"/>
                <a:cs typeface="Times New Roman"/>
              </a:rPr>
              <a:t>are included in the result unless </a:t>
            </a:r>
            <a:r>
              <a:rPr sz="2700" spc="-5" dirty="0">
                <a:latin typeface="Times New Roman"/>
                <a:cs typeface="Times New Roman"/>
              </a:rPr>
              <a:t>they  </a:t>
            </a:r>
            <a:r>
              <a:rPr sz="2700" dirty="0">
                <a:latin typeface="Times New Roman"/>
                <a:cs typeface="Times New Roman"/>
              </a:rPr>
              <a:t>touch the beginning of another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match.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377190">
              <a:lnSpc>
                <a:spcPct val="100000"/>
              </a:lnSpc>
              <a:spcBef>
                <a:spcPts val="170"/>
              </a:spcBef>
            </a:pP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re.findall 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700" i="1" dirty="0">
                <a:solidFill>
                  <a:srgbClr val="00AF50"/>
                </a:solidFill>
                <a:latin typeface="Times New Roman"/>
                <a:cs typeface="Times New Roman"/>
              </a:rPr>
              <a:t>pattern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, </a:t>
            </a:r>
            <a:r>
              <a:rPr sz="2700" i="1" dirty="0">
                <a:solidFill>
                  <a:srgbClr val="00AF50"/>
                </a:solidFill>
                <a:latin typeface="Times New Roman"/>
                <a:cs typeface="Times New Roman"/>
              </a:rPr>
              <a:t>string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700" spc="-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AF50"/>
                </a:solidFill>
                <a:latin typeface="Times New Roman"/>
                <a:cs typeface="Times New Roman"/>
              </a:rPr>
              <a:t>flags=0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9069"/>
            <a:ext cx="7280909" cy="4270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50"/>
              </a:lnSpc>
              <a:spcBef>
                <a:spcPts val="95"/>
              </a:spcBef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import</a:t>
            </a:r>
            <a:r>
              <a:rPr sz="19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25"/>
              </a:lnSpc>
            </a:pP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line</a:t>
            </a:r>
            <a:r>
              <a:rPr sz="1900" b="1" spc="-5" dirty="0">
                <a:latin typeface="Times New Roman"/>
                <a:cs typeface="Times New Roman"/>
              </a:rPr>
              <a:t>=</a:t>
            </a:r>
            <a:r>
              <a:rPr sz="1900" spc="-5" dirty="0">
                <a:latin typeface="Times New Roman"/>
                <a:cs typeface="Times New Roman"/>
              </a:rPr>
              <a:t>'Python Orientation course helps professionals fish best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opportunities‘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25"/>
              </a:lnSpc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b="1" spc="-5" dirty="0">
                <a:latin typeface="Times New Roman"/>
                <a:cs typeface="Times New Roman"/>
              </a:rPr>
              <a:t>“Find all </a:t>
            </a:r>
            <a:r>
              <a:rPr sz="1900" b="1" dirty="0">
                <a:latin typeface="Times New Roman"/>
                <a:cs typeface="Times New Roman"/>
              </a:rPr>
              <a:t>words </a:t>
            </a:r>
            <a:r>
              <a:rPr sz="1900" b="1" spc="-5" dirty="0">
                <a:latin typeface="Times New Roman"/>
                <a:cs typeface="Times New Roman"/>
              </a:rPr>
              <a:t>starts </a:t>
            </a:r>
            <a:r>
              <a:rPr sz="1900" b="1" dirty="0">
                <a:latin typeface="Times New Roman"/>
                <a:cs typeface="Times New Roman"/>
              </a:rPr>
              <a:t>with</a:t>
            </a:r>
            <a:r>
              <a:rPr sz="1900" b="1" spc="2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p”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50"/>
              </a:lnSpc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</a:t>
            </a:r>
            <a:r>
              <a:rPr sz="19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findall</a:t>
            </a:r>
            <a:r>
              <a:rPr sz="1900" b="1" spc="-5" dirty="0">
                <a:latin typeface="Times New Roman"/>
                <a:cs typeface="Times New Roman"/>
              </a:rPr>
              <a:t>(</a:t>
            </a:r>
            <a:r>
              <a:rPr sz="1900" spc="-5" dirty="0">
                <a:latin typeface="Times New Roman"/>
                <a:cs typeface="Times New Roman"/>
              </a:rPr>
              <a:t>r"\bp[\w]*"</a:t>
            </a:r>
            <a:r>
              <a:rPr sz="1900" b="1" spc="-5" dirty="0">
                <a:latin typeface="Times New Roman"/>
                <a:cs typeface="Times New Roman"/>
              </a:rPr>
              <a:t>,</a:t>
            </a:r>
            <a:r>
              <a:rPr sz="1900" spc="-5" dirty="0">
                <a:latin typeface="Times New Roman"/>
                <a:cs typeface="Times New Roman"/>
              </a:rPr>
              <a:t>line</a:t>
            </a:r>
            <a:r>
              <a:rPr sz="1900" b="1" spc="-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ts val="2250"/>
              </a:lnSpc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latin typeface="Times New Roman"/>
                <a:cs typeface="Times New Roman"/>
              </a:rPr>
              <a:t>"Find all five characthers long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words"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50"/>
              </a:lnSpc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findall</a:t>
            </a:r>
            <a:r>
              <a:rPr sz="1900" b="1" spc="-5" dirty="0">
                <a:latin typeface="Times New Roman"/>
                <a:cs typeface="Times New Roman"/>
              </a:rPr>
              <a:t>(</a:t>
            </a:r>
            <a:r>
              <a:rPr sz="1900" spc="-5" dirty="0">
                <a:latin typeface="Times New Roman"/>
                <a:cs typeface="Times New Roman"/>
              </a:rPr>
              <a:t>r"\b\w{5}\b"</a:t>
            </a:r>
            <a:r>
              <a:rPr sz="1900" b="1" spc="-5" dirty="0">
                <a:latin typeface="Times New Roman"/>
                <a:cs typeface="Times New Roman"/>
              </a:rPr>
              <a:t>,</a:t>
            </a:r>
            <a:r>
              <a:rPr sz="1900" b="1" spc="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line</a:t>
            </a:r>
            <a:r>
              <a:rPr sz="1900" b="1" spc="-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 marR="3186430">
              <a:lnSpc>
                <a:spcPts val="2220"/>
              </a:lnSpc>
            </a:pP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# Find all </a:t>
            </a:r>
            <a:r>
              <a:rPr sz="1900" spc="-15" dirty="0">
                <a:solidFill>
                  <a:srgbClr val="6F2F9F"/>
                </a:solidFill>
                <a:latin typeface="Times New Roman"/>
                <a:cs typeface="Times New Roman"/>
              </a:rPr>
              <a:t>four,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six characthers long words  </a:t>
            </a: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latin typeface="Times New Roman"/>
                <a:cs typeface="Times New Roman"/>
              </a:rPr>
              <a:t>“find all 4, 6 char long words"  </a:t>
            </a: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findall</a:t>
            </a:r>
            <a:r>
              <a:rPr sz="1900" b="1" spc="-5" dirty="0">
                <a:latin typeface="Times New Roman"/>
                <a:cs typeface="Times New Roman"/>
              </a:rPr>
              <a:t>(</a:t>
            </a:r>
            <a:r>
              <a:rPr sz="1900" spc="-5" dirty="0">
                <a:latin typeface="Times New Roman"/>
                <a:cs typeface="Times New Roman"/>
              </a:rPr>
              <a:t>r"\b\w{4,6}\b"</a:t>
            </a:r>
            <a:r>
              <a:rPr sz="1900" b="1" spc="-5" dirty="0">
                <a:latin typeface="Times New Roman"/>
                <a:cs typeface="Times New Roman"/>
              </a:rPr>
              <a:t>,</a:t>
            </a:r>
            <a:r>
              <a:rPr sz="1900" b="1" spc="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line</a:t>
            </a:r>
            <a:r>
              <a:rPr sz="1900" b="1" spc="-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250"/>
              </a:lnSpc>
              <a:spcBef>
                <a:spcPts val="5"/>
              </a:spcBef>
            </a:pP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# Find all words which </a:t>
            </a:r>
            <a:r>
              <a:rPr sz="1900" dirty="0">
                <a:solidFill>
                  <a:srgbClr val="6F2F9F"/>
                </a:solidFill>
                <a:latin typeface="Times New Roman"/>
                <a:cs typeface="Times New Roman"/>
              </a:rPr>
              <a:t>are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at least 13 characters</a:t>
            </a:r>
            <a:r>
              <a:rPr sz="1900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long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25"/>
              </a:lnSpc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latin typeface="Times New Roman"/>
                <a:cs typeface="Times New Roman"/>
              </a:rPr>
              <a:t>“Find all words with 13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char"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55"/>
              </a:lnSpc>
            </a:pP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findall</a:t>
            </a:r>
            <a:r>
              <a:rPr sz="1900" b="1" spc="-5" dirty="0">
                <a:latin typeface="Times New Roman"/>
                <a:cs typeface="Times New Roman"/>
              </a:rPr>
              <a:t>(</a:t>
            </a:r>
            <a:r>
              <a:rPr sz="1900" spc="-5" dirty="0">
                <a:latin typeface="Times New Roman"/>
                <a:cs typeface="Times New Roman"/>
              </a:rPr>
              <a:t>r"\b\w{13,}\b"</a:t>
            </a:r>
            <a:r>
              <a:rPr sz="1900" b="1" spc="-5" dirty="0">
                <a:latin typeface="Times New Roman"/>
                <a:cs typeface="Times New Roman"/>
              </a:rPr>
              <a:t>,</a:t>
            </a:r>
            <a:r>
              <a:rPr sz="1900" b="1" spc="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line</a:t>
            </a:r>
            <a:r>
              <a:rPr sz="1900" b="1" spc="-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04872" y="679704"/>
            <a:ext cx="4338828" cy="501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24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446658"/>
            <a:ext cx="14484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</a:rPr>
              <a:t>Fi</a:t>
            </a:r>
            <a:r>
              <a:rPr sz="3200" spc="-10" dirty="0">
                <a:solidFill>
                  <a:srgbClr val="000000"/>
                </a:solidFill>
              </a:rPr>
              <a:t>n</a:t>
            </a:r>
            <a:r>
              <a:rPr sz="3200" dirty="0">
                <a:solidFill>
                  <a:srgbClr val="000000"/>
                </a:solidFill>
              </a:rPr>
              <a:t>diter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25</a:t>
            </a:fld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987678"/>
            <a:ext cx="8107680" cy="386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dirty="0">
                <a:latin typeface="Times New Roman"/>
                <a:cs typeface="Times New Roman"/>
              </a:rPr>
              <a:t>Return an </a:t>
            </a:r>
            <a:r>
              <a:rPr sz="2700" i="1" dirty="0">
                <a:latin typeface="Times New Roman"/>
                <a:cs typeface="Times New Roman"/>
              </a:rPr>
              <a:t>iterator </a:t>
            </a:r>
            <a:r>
              <a:rPr sz="2700" dirty="0">
                <a:latin typeface="Times New Roman"/>
                <a:cs typeface="Times New Roman"/>
              </a:rPr>
              <a:t>yielding MatchObject instances over  all non-overlapping </a:t>
            </a:r>
            <a:r>
              <a:rPr sz="2700" spc="-5" dirty="0">
                <a:latin typeface="Times New Roman"/>
                <a:cs typeface="Times New Roman"/>
              </a:rPr>
              <a:t>matches </a:t>
            </a:r>
            <a:r>
              <a:rPr sz="2700" dirty="0">
                <a:latin typeface="Times New Roman"/>
                <a:cs typeface="Times New Roman"/>
              </a:rPr>
              <a:t>for the RE </a:t>
            </a:r>
            <a:r>
              <a:rPr sz="2700" i="1" dirty="0">
                <a:latin typeface="Times New Roman"/>
                <a:cs typeface="Times New Roman"/>
              </a:rPr>
              <a:t>pattern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string</a:t>
            </a:r>
            <a:r>
              <a:rPr sz="270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268605" marR="838835" indent="-256540">
              <a:lnSpc>
                <a:spcPct val="100000"/>
              </a:lnSpc>
              <a:spcBef>
                <a:spcPts val="395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i="1" dirty="0">
                <a:latin typeface="Times New Roman"/>
                <a:cs typeface="Times New Roman"/>
              </a:rPr>
              <a:t>string </a:t>
            </a:r>
            <a:r>
              <a:rPr sz="2700" dirty="0">
                <a:latin typeface="Times New Roman"/>
                <a:cs typeface="Times New Roman"/>
              </a:rPr>
              <a:t>is scanned left-to-right, and </a:t>
            </a:r>
            <a:r>
              <a:rPr sz="2700" spc="-5" dirty="0">
                <a:latin typeface="Times New Roman"/>
                <a:cs typeface="Times New Roman"/>
              </a:rPr>
              <a:t>matches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  returned in the order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found.</a:t>
            </a:r>
            <a:endParaRPr sz="2700">
              <a:latin typeface="Times New Roman"/>
              <a:cs typeface="Times New Roman"/>
            </a:endParaRPr>
          </a:p>
          <a:p>
            <a:pPr marL="268605" marR="601980" indent="-256540">
              <a:lnSpc>
                <a:spcPct val="100000"/>
              </a:lnSpc>
              <a:spcBef>
                <a:spcPts val="400"/>
              </a:spcBef>
              <a:buClr>
                <a:srgbClr val="2CA1BE"/>
              </a:buClr>
              <a:buSzPct val="66666"/>
              <a:buFont typeface="Wingdings"/>
              <a:buChar char=""/>
              <a:tabLst>
                <a:tab pos="269240" algn="l"/>
              </a:tabLst>
            </a:pPr>
            <a:r>
              <a:rPr sz="2700" spc="-5" dirty="0">
                <a:latin typeface="Times New Roman"/>
                <a:cs typeface="Times New Roman"/>
              </a:rPr>
              <a:t>Empty matches </a:t>
            </a:r>
            <a:r>
              <a:rPr sz="2700" dirty="0">
                <a:latin typeface="Times New Roman"/>
                <a:cs typeface="Times New Roman"/>
              </a:rPr>
              <a:t>are included in the result unless they  touch the </a:t>
            </a:r>
            <a:r>
              <a:rPr sz="2700" spc="5" dirty="0">
                <a:latin typeface="Times New Roman"/>
                <a:cs typeface="Times New Roman"/>
              </a:rPr>
              <a:t>beginning </a:t>
            </a:r>
            <a:r>
              <a:rPr sz="2700" dirty="0">
                <a:latin typeface="Times New Roman"/>
                <a:cs typeface="Times New Roman"/>
              </a:rPr>
              <a:t>of another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match.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i="1" spc="-5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170"/>
              </a:spcBef>
            </a:pP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re.finditer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700" i="1" dirty="0">
                <a:solidFill>
                  <a:srgbClr val="00AF50"/>
                </a:solidFill>
                <a:latin typeface="Times New Roman"/>
                <a:cs typeface="Times New Roman"/>
              </a:rPr>
              <a:t>pattern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, </a:t>
            </a:r>
            <a:r>
              <a:rPr sz="2700" i="1" dirty="0">
                <a:solidFill>
                  <a:srgbClr val="00AF50"/>
                </a:solidFill>
                <a:latin typeface="Times New Roman"/>
                <a:cs typeface="Times New Roman"/>
              </a:rPr>
              <a:t>string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700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AF50"/>
                </a:solidFill>
                <a:latin typeface="Times New Roman"/>
                <a:cs typeface="Times New Roman"/>
              </a:rPr>
              <a:t>flags=0</a:t>
            </a:r>
            <a:r>
              <a:rPr sz="2700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56448"/>
            <a:ext cx="5182870" cy="337883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900" spc="-10" dirty="0">
                <a:solidFill>
                  <a:srgbClr val="C00000"/>
                </a:solidFill>
                <a:latin typeface="Times New Roman"/>
                <a:cs typeface="Times New Roman"/>
              </a:rPr>
              <a:t>import</a:t>
            </a:r>
            <a:r>
              <a:rPr sz="19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string</a:t>
            </a:r>
            <a:r>
              <a:rPr sz="1900" spc="-5" dirty="0">
                <a:latin typeface="Times New Roman"/>
                <a:cs typeface="Times New Roman"/>
              </a:rPr>
              <a:t>="Python </a:t>
            </a:r>
            <a:r>
              <a:rPr sz="1900" dirty="0">
                <a:latin typeface="Times New Roman"/>
                <a:cs typeface="Times New Roman"/>
              </a:rPr>
              <a:t>java </a:t>
            </a:r>
            <a:r>
              <a:rPr sz="1900" spc="-5" dirty="0">
                <a:latin typeface="Times New Roman"/>
                <a:cs typeface="Times New Roman"/>
              </a:rPr>
              <a:t>c++ perl shell </a:t>
            </a:r>
            <a:r>
              <a:rPr sz="1900" dirty="0">
                <a:latin typeface="Times New Roman"/>
                <a:cs typeface="Times New Roman"/>
              </a:rPr>
              <a:t>ruby </a:t>
            </a:r>
            <a:r>
              <a:rPr sz="1900" spc="-5" dirty="0">
                <a:latin typeface="Times New Roman"/>
                <a:cs typeface="Times New Roman"/>
              </a:rPr>
              <a:t>tcl c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c#"</a:t>
            </a:r>
            <a:endParaRPr sz="1900">
              <a:latin typeface="Times New Roman"/>
              <a:cs typeface="Times New Roman"/>
            </a:endParaRPr>
          </a:p>
          <a:p>
            <a:pPr marL="12700" marR="815975">
              <a:lnSpc>
                <a:spcPct val="117500"/>
              </a:lnSpc>
              <a:spcBef>
                <a:spcPts val="10"/>
              </a:spcBef>
            </a:pP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re.findall</a:t>
            </a:r>
            <a:r>
              <a:rPr sz="1900" spc="-5" dirty="0">
                <a:latin typeface="Times New Roman"/>
                <a:cs typeface="Times New Roman"/>
              </a:rPr>
              <a:t>(r"\bc[\W+]*",string,re.M|re.I) 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re.findall</a:t>
            </a:r>
            <a:r>
              <a:rPr sz="1900" spc="-5" dirty="0">
                <a:latin typeface="Times New Roman"/>
                <a:cs typeface="Times New Roman"/>
              </a:rPr>
              <a:t>(r"\bp[\w]*",string,re.M|re.I) 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re.findall</a:t>
            </a:r>
            <a:r>
              <a:rPr sz="1900" spc="-5" dirty="0">
                <a:latin typeface="Times New Roman"/>
                <a:cs typeface="Times New Roman"/>
              </a:rPr>
              <a:t>(r"\bs[\w]*",string,re.M|re.I) 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print</a:t>
            </a:r>
            <a:r>
              <a:rPr sz="19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re.sub</a:t>
            </a:r>
            <a:r>
              <a:rPr sz="1900" spc="-5" dirty="0">
                <a:latin typeface="Times New Roman"/>
                <a:cs typeface="Times New Roman"/>
              </a:rPr>
              <a:t>(r'\W+',"",string)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it </a:t>
            </a:r>
            <a:r>
              <a:rPr sz="1900" spc="-5" dirty="0">
                <a:latin typeface="Times New Roman"/>
                <a:cs typeface="Times New Roman"/>
              </a:rPr>
              <a:t>=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re.finditer</a:t>
            </a:r>
            <a:r>
              <a:rPr sz="1900" spc="-5" dirty="0">
                <a:latin typeface="Times New Roman"/>
                <a:cs typeface="Times New Roman"/>
              </a:rPr>
              <a:t>(r"\bc[(\W\s)]*",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string)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for </a:t>
            </a:r>
            <a:r>
              <a:rPr sz="1900" spc="-10" dirty="0">
                <a:solidFill>
                  <a:srgbClr val="00AF50"/>
                </a:solidFill>
                <a:latin typeface="Times New Roman"/>
                <a:cs typeface="Times New Roman"/>
              </a:rPr>
              <a:t>match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19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it:</a:t>
            </a:r>
            <a:endParaRPr sz="190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405"/>
              </a:spcBef>
            </a:pP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print </a:t>
            </a:r>
            <a:r>
              <a:rPr sz="1900" spc="-5" dirty="0">
                <a:latin typeface="Times New Roman"/>
                <a:cs typeface="Times New Roman"/>
              </a:rPr>
              <a:t>"'{g}' was found between the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indices</a:t>
            </a:r>
            <a:endParaRPr sz="19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1900" spc="-5" dirty="0">
                <a:latin typeface="Times New Roman"/>
                <a:cs typeface="Times New Roman"/>
              </a:rPr>
              <a:t>{s}".format(g=match.group(),s=match.span())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96949" y="679704"/>
            <a:ext cx="6153150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20" dirty="0"/>
              <a:t>VYBHAVA</a:t>
            </a:r>
            <a:r>
              <a:rPr spc="-5" dirty="0"/>
              <a:t> </a:t>
            </a:r>
            <a:r>
              <a:rPr spc="-45" dirty="0"/>
              <a:t>TECHNOLOGIES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105" dirty="0"/>
              <a:t>7/22/2014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0" dirty="0"/>
              <a:t>26</a:t>
            </a:fld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1646</Words>
  <Application>Microsoft Office PowerPoint</Application>
  <PresentationFormat>On-screen Show (4:3)</PresentationFormat>
  <Paragraphs>317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Regular expressions are a powerful language for  matching text patterns and standardized way of searching,  replacing, and parsing text with complex patterns of  characters</vt:lpstr>
      <vt:lpstr>PowerPoint Presentation</vt:lpstr>
      <vt:lpstr>PowerPoint Presentation</vt:lpstr>
      <vt:lpstr>PowerPoint Presentation</vt:lpstr>
      <vt:lpstr>Alternative: Eg:  “cat|mat” ==“cat” or “mat”  “python|jython” ==“python” or “jython”</vt:lpstr>
      <vt:lpstr>Quantification</vt:lpstr>
      <vt:lpstr>Anchors</vt:lpstr>
      <vt:lpstr>Meta-characters</vt:lpstr>
      <vt:lpstr>Character Classes</vt:lpstr>
      <vt:lpstr>Search scans through the input string and tries to match at  any location</vt:lpstr>
      <vt:lpstr>PowerPoint Presentation</vt:lpstr>
      <vt:lpstr>PowerPoint Presentation</vt:lpstr>
      <vt:lpstr>PowerPoint Presentation</vt:lpstr>
      <vt:lpstr>PowerPoint Presentation</vt:lpstr>
      <vt:lpstr> Till now we have done simply performed searches against a  static string. Regular expressions are also commonly used to  modify strings in various ways using the following pattern  methods.</vt:lpstr>
      <vt:lpstr>Split Method:</vt:lpstr>
      <vt:lpstr>Sub Method: The sub method replaces all occurrences of the  RE pattern in string with repl, substituting all occurrences  unless max provided. This method would return modified  string</vt:lpstr>
      <vt:lpstr>PowerPoint Presentation</vt:lpstr>
      <vt:lpstr>PowerPoint Presentation</vt:lpstr>
      <vt:lpstr>Example for Greedy Match &gt;&gt;&gt;s = '&lt;html&gt;&lt;head&gt;&lt;title&gt;Title&lt;/title&gt;'</vt:lpstr>
      <vt:lpstr>PowerPoint Presentation</vt:lpstr>
      <vt:lpstr>Findall:</vt:lpstr>
      <vt:lpstr>PowerPoint Presentation</vt:lpstr>
      <vt:lpstr>Finditer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1</cp:revision>
  <dcterms:created xsi:type="dcterms:W3CDTF">2023-12-03T12:52:06Z</dcterms:created>
  <dcterms:modified xsi:type="dcterms:W3CDTF">2023-12-03T15:01:20Z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2023-12-03T00:00:00Z</vt:filetime>
  </property>
</Properties>
</file>