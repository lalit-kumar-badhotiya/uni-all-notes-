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14"/>
            <a:ext cx="9140190" cy="68541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0380" y="1583334"/>
            <a:ext cx="8143239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666666"/>
                </a:solidFill>
                <a:latin typeface="DejaVu Sans"/>
                <a:cs typeface="DejaVu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666666"/>
                </a:solidFill>
                <a:latin typeface="DejaVu Sans"/>
                <a:cs typeface="DejaVu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14"/>
            <a:ext cx="9140190" cy="68541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666666"/>
                </a:solidFill>
                <a:latin typeface="DejaVu Sans"/>
                <a:cs typeface="DejaVu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2700" y="4158894"/>
            <a:ext cx="8540750" cy="17297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11404"/>
            <a:ext cx="478790" cy="847090"/>
          </a:xfrm>
          <a:custGeom>
            <a:avLst/>
            <a:gdLst/>
            <a:ahLst/>
            <a:cxnLst/>
            <a:rect l="l" t="t" r="r" b="b"/>
            <a:pathLst>
              <a:path w="478790" h="847090">
                <a:moveTo>
                  <a:pt x="478790" y="0"/>
                </a:moveTo>
                <a:lnTo>
                  <a:pt x="0" y="0"/>
                </a:lnTo>
                <a:lnTo>
                  <a:pt x="0" y="847090"/>
                </a:lnTo>
                <a:lnTo>
                  <a:pt x="478790" y="847090"/>
                </a:lnTo>
                <a:lnTo>
                  <a:pt x="478790" y="0"/>
                </a:lnTo>
                <a:close/>
              </a:path>
            </a:pathLst>
          </a:custGeom>
          <a:solidFill>
            <a:srgbClr val="D816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118504"/>
            <a:ext cx="339090" cy="605790"/>
          </a:xfrm>
          <a:custGeom>
            <a:avLst/>
            <a:gdLst/>
            <a:ahLst/>
            <a:cxnLst/>
            <a:rect l="l" t="t" r="r" b="b"/>
            <a:pathLst>
              <a:path w="339090" h="605790">
                <a:moveTo>
                  <a:pt x="144002" y="0"/>
                </a:moveTo>
                <a:lnTo>
                  <a:pt x="0" y="0"/>
                </a:lnTo>
                <a:lnTo>
                  <a:pt x="0" y="605789"/>
                </a:lnTo>
                <a:lnTo>
                  <a:pt x="146583" y="605789"/>
                </a:lnTo>
                <a:lnTo>
                  <a:pt x="339089" y="321669"/>
                </a:lnTo>
                <a:lnTo>
                  <a:pt x="339090" y="287930"/>
                </a:lnTo>
                <a:lnTo>
                  <a:pt x="144002" y="0"/>
                </a:lnTo>
                <a:close/>
              </a:path>
            </a:pathLst>
          </a:custGeom>
          <a:solidFill>
            <a:srgbClr val="D816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589519" y="6075324"/>
            <a:ext cx="1334770" cy="61849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867909" y="122834"/>
            <a:ext cx="4184649" cy="84709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69" y="145694"/>
            <a:ext cx="3237229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666666"/>
                </a:solidFill>
                <a:latin typeface="DejaVu Sans"/>
                <a:cs typeface="DejaVu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7840" y="3189884"/>
            <a:ext cx="8141970" cy="2879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file:///\\localhost\path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380" y="1583334"/>
            <a:ext cx="56730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30" dirty="0">
                <a:solidFill>
                  <a:srgbClr val="FFFFFF"/>
                </a:solidFill>
                <a:latin typeface="DejaVu Sans"/>
                <a:cs typeface="DejaVu Sans"/>
              </a:rPr>
              <a:t>Regular</a:t>
            </a:r>
            <a:r>
              <a:rPr sz="4400" spc="-8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DejaVu Sans"/>
                <a:cs typeface="DejaVu Sans"/>
              </a:rPr>
              <a:t>Expressions</a:t>
            </a:r>
            <a:endParaRPr sz="4400"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910" y="4660544"/>
            <a:ext cx="42125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FFFFFF"/>
                </a:solidFill>
                <a:latin typeface="DejaVu Sans"/>
                <a:cs typeface="DejaVu Sans"/>
              </a:rPr>
              <a:t>R</a:t>
            </a:r>
            <a:r>
              <a:rPr sz="3200" spc="-5" dirty="0">
                <a:solidFill>
                  <a:srgbClr val="FFFFFF"/>
                </a:solidFill>
                <a:latin typeface="DejaVu Sans"/>
                <a:cs typeface="DejaVu Sans"/>
              </a:rPr>
              <a:t>egular</a:t>
            </a:r>
            <a:r>
              <a:rPr sz="3200" spc="8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DejaVu Sans"/>
                <a:cs typeface="DejaVu Sans"/>
              </a:rPr>
              <a:t>E</a:t>
            </a:r>
            <a:r>
              <a:rPr sz="3200" spc="-15" dirty="0">
                <a:solidFill>
                  <a:srgbClr val="FFFFFF"/>
                </a:solidFill>
                <a:latin typeface="DejaVu Sans"/>
                <a:cs typeface="DejaVu Sans"/>
              </a:rPr>
              <a:t>xpressions</a:t>
            </a:r>
            <a:endParaRPr sz="3200"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DejaVu Sans"/>
                <a:cs typeface="DejaVu Sans"/>
              </a:rPr>
              <a:t>R</a:t>
            </a:r>
            <a:r>
              <a:rPr dirty="0"/>
              <a:t>egular</a:t>
            </a:r>
            <a:r>
              <a:rPr spc="-50" dirty="0"/>
              <a:t> </a:t>
            </a:r>
            <a:r>
              <a:rPr b="1" spc="-10" dirty="0">
                <a:latin typeface="DejaVu Sans"/>
                <a:cs typeface="DejaVu Sans"/>
              </a:rPr>
              <a:t>E</a:t>
            </a:r>
            <a:r>
              <a:rPr spc="-10" dirty="0"/>
              <a:t>xpressions</a:t>
            </a:r>
            <a:endParaRPr sz="32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4669" y="633374"/>
            <a:ext cx="1736089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solidFill>
                  <a:srgbClr val="663399"/>
                </a:solidFill>
                <a:latin typeface="DejaVu Sans"/>
                <a:cs typeface="DejaVu Sans"/>
              </a:rPr>
              <a:t>I</a:t>
            </a:r>
            <a:r>
              <a:rPr sz="2200" spc="-10" dirty="0">
                <a:solidFill>
                  <a:srgbClr val="663399"/>
                </a:solidFill>
                <a:latin typeface="DejaVu Sans"/>
                <a:cs typeface="DejaVu Sans"/>
              </a:rPr>
              <a:t>ntroduction</a:t>
            </a:r>
            <a:endParaRPr sz="2200"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5319" y="1198524"/>
            <a:ext cx="99060" cy="662940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400" spc="175" dirty="0">
                <a:solidFill>
                  <a:srgbClr val="CC0066"/>
                </a:solidFill>
                <a:latin typeface="OpenSymbol"/>
                <a:cs typeface="OpenSymbol"/>
              </a:rPr>
              <a:t></a:t>
            </a:r>
            <a:endParaRPr sz="1400">
              <a:latin typeface="OpenSymbol"/>
              <a:cs typeface="OpenSymbol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400" spc="175" dirty="0">
                <a:solidFill>
                  <a:srgbClr val="CC0066"/>
                </a:solidFill>
                <a:latin typeface="OpenSymbol"/>
                <a:cs typeface="OpenSymbol"/>
              </a:rPr>
              <a:t></a:t>
            </a:r>
            <a:endParaRPr sz="1400">
              <a:latin typeface="OpenSymbol"/>
              <a:cs typeface="Open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8680" y="1225194"/>
            <a:ext cx="670940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dirty="0">
                <a:solidFill>
                  <a:srgbClr val="CC0066"/>
                </a:solidFill>
                <a:latin typeface="Liberation Serif"/>
                <a:cs typeface="Liberation Serif"/>
              </a:rPr>
              <a:t>RE </a:t>
            </a:r>
            <a:r>
              <a:rPr sz="1400" dirty="0">
                <a:latin typeface="Liberation Serif"/>
                <a:cs typeface="Liberation Serif"/>
              </a:rPr>
              <a:t>is a string that contains special symbols and characters </a:t>
            </a:r>
            <a:r>
              <a:rPr sz="1400" spc="5" dirty="0">
                <a:latin typeface="Liberation Serif"/>
                <a:cs typeface="Liberation Serif"/>
              </a:rPr>
              <a:t>to </a:t>
            </a:r>
            <a:r>
              <a:rPr sz="1400" dirty="0">
                <a:latin typeface="Liberation Serif"/>
                <a:cs typeface="Liberation Serif"/>
              </a:rPr>
              <a:t>find and extract the information  Operations:</a:t>
            </a:r>
            <a:endParaRPr sz="1400">
              <a:latin typeface="Liberation Serif"/>
              <a:cs typeface="Liberation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9950" y="1909724"/>
            <a:ext cx="92075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825" dirty="0">
                <a:latin typeface="OpenSymbol"/>
                <a:cs typeface="OpenSymbol"/>
              </a:rPr>
              <a:t></a:t>
            </a:r>
            <a:endParaRPr sz="600">
              <a:latin typeface="OpenSymbol"/>
              <a:cs typeface="Open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4580" y="1865274"/>
            <a:ext cx="509905" cy="8775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Liberation Serif"/>
                <a:cs typeface="Liberation Serif"/>
              </a:rPr>
              <a:t>S</a:t>
            </a:r>
            <a:r>
              <a:rPr sz="1400" spc="5" dirty="0">
                <a:latin typeface="Liberation Serif"/>
                <a:cs typeface="Liberation Serif"/>
              </a:rPr>
              <a:t>e</a:t>
            </a:r>
            <a:r>
              <a:rPr sz="1400" spc="-5" dirty="0">
                <a:latin typeface="Liberation Serif"/>
                <a:cs typeface="Liberation Serif"/>
              </a:rPr>
              <a:t>a</a:t>
            </a:r>
            <a:r>
              <a:rPr sz="1400" dirty="0">
                <a:latin typeface="Liberation Serif"/>
                <a:cs typeface="Liberation Serif"/>
              </a:rPr>
              <a:t>r</a:t>
            </a:r>
            <a:r>
              <a:rPr sz="1400" spc="-5" dirty="0">
                <a:latin typeface="Liberation Serif"/>
                <a:cs typeface="Liberation Serif"/>
              </a:rPr>
              <a:t>ch  Match  </a:t>
            </a:r>
            <a:r>
              <a:rPr sz="1400" dirty="0">
                <a:latin typeface="Liberation Serif"/>
                <a:cs typeface="Liberation Serif"/>
              </a:rPr>
              <a:t>Find  Split</a:t>
            </a:r>
            <a:endParaRPr sz="1400">
              <a:latin typeface="Liberation Serif"/>
              <a:cs typeface="Liberation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9950" y="2123084"/>
            <a:ext cx="92075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825" dirty="0">
                <a:latin typeface="OpenSymbol"/>
                <a:cs typeface="OpenSymbol"/>
              </a:rPr>
              <a:t></a:t>
            </a:r>
            <a:endParaRPr sz="600">
              <a:latin typeface="OpenSymbol"/>
              <a:cs typeface="Open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9950" y="2336444"/>
            <a:ext cx="92075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825" dirty="0">
                <a:latin typeface="OpenSymbol"/>
                <a:cs typeface="OpenSymbol"/>
              </a:rPr>
              <a:t></a:t>
            </a:r>
            <a:endParaRPr sz="600">
              <a:latin typeface="OpenSymbol"/>
              <a:cs typeface="Open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9950" y="2549804"/>
            <a:ext cx="92075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825" dirty="0">
                <a:latin typeface="OpenSymbol"/>
                <a:cs typeface="OpenSymbol"/>
              </a:rPr>
              <a:t></a:t>
            </a:r>
            <a:endParaRPr sz="600">
              <a:latin typeface="OpenSymbol"/>
              <a:cs typeface="Open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5319" y="2688234"/>
            <a:ext cx="99060" cy="6654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spc="175" dirty="0">
                <a:solidFill>
                  <a:srgbClr val="CC0066"/>
                </a:solidFill>
                <a:latin typeface="OpenSymbol"/>
                <a:cs typeface="OpenSymbol"/>
              </a:rPr>
              <a:t></a:t>
            </a:r>
            <a:endParaRPr sz="1400">
              <a:latin typeface="OpenSymbol"/>
              <a:cs typeface="OpenSymbo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175" dirty="0">
                <a:solidFill>
                  <a:srgbClr val="CC0066"/>
                </a:solidFill>
                <a:latin typeface="OpenSymbol"/>
                <a:cs typeface="OpenSymbol"/>
              </a:rPr>
              <a:t></a:t>
            </a:r>
            <a:endParaRPr sz="1400">
              <a:latin typeface="OpenSymbol"/>
              <a:cs typeface="Open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8680" y="2717444"/>
            <a:ext cx="1464310" cy="6654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dirty="0">
                <a:latin typeface="Liberation Serif"/>
                <a:cs typeface="Liberation Serif"/>
              </a:rPr>
              <a:t>Also called as</a:t>
            </a:r>
            <a:r>
              <a:rPr sz="1400" spc="-60" dirty="0">
                <a:latin typeface="Liberation Serif"/>
                <a:cs typeface="Liberation Serif"/>
              </a:rPr>
              <a:t> </a:t>
            </a:r>
            <a:r>
              <a:rPr sz="1400" i="1" spc="-10" dirty="0">
                <a:solidFill>
                  <a:srgbClr val="CC0066"/>
                </a:solidFill>
                <a:latin typeface="Liberation Serif"/>
                <a:cs typeface="Liberation Serif"/>
              </a:rPr>
              <a:t>regex</a:t>
            </a:r>
            <a:endParaRPr sz="1400">
              <a:latin typeface="Liberation Serif"/>
              <a:cs typeface="Liberation Serif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Liberation Serif"/>
                <a:cs typeface="Liberation Serif"/>
              </a:rPr>
              <a:t>Module:</a:t>
            </a:r>
            <a:r>
              <a:rPr sz="1400" spc="5" dirty="0">
                <a:latin typeface="Liberation Serif"/>
                <a:cs typeface="Liberation Serif"/>
              </a:rPr>
              <a:t> </a:t>
            </a:r>
            <a:r>
              <a:rPr sz="1400" dirty="0">
                <a:solidFill>
                  <a:srgbClr val="CC0066"/>
                </a:solidFill>
                <a:latin typeface="Liberation Serif"/>
                <a:cs typeface="Liberation Serif"/>
              </a:rPr>
              <a:t>re</a:t>
            </a:r>
            <a:endParaRPr sz="1400">
              <a:latin typeface="Liberation Serif"/>
              <a:cs typeface="Liberation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9950" y="3508654"/>
            <a:ext cx="105410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1120" dirty="0">
                <a:latin typeface="OpenSymbol"/>
                <a:cs typeface="OpenSymbol"/>
              </a:rPr>
              <a:t></a:t>
            </a:r>
            <a:endParaRPr sz="600">
              <a:latin typeface="OpenSymbol"/>
              <a:cs typeface="Open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4580" y="3464204"/>
            <a:ext cx="27959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Liberation Serif"/>
                <a:cs typeface="Liberation Serif"/>
              </a:rPr>
              <a:t>This module contains the methods</a:t>
            </a:r>
            <a:r>
              <a:rPr sz="1400" spc="-10" dirty="0">
                <a:latin typeface="Liberation Serif"/>
                <a:cs typeface="Liberation Serif"/>
              </a:rPr>
              <a:t> </a:t>
            </a:r>
            <a:r>
              <a:rPr sz="1400" dirty="0">
                <a:latin typeface="Liberation Serif"/>
                <a:cs typeface="Liberation Serif"/>
              </a:rPr>
              <a:t>like</a:t>
            </a:r>
            <a:endParaRPr sz="1400">
              <a:latin typeface="Liberation Serif"/>
              <a:cs typeface="Liberation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01750" y="3753764"/>
            <a:ext cx="89535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770" dirty="0">
                <a:latin typeface="OpenSymbol"/>
                <a:cs typeface="OpenSymbol"/>
              </a:rPr>
              <a:t></a:t>
            </a:r>
            <a:endParaRPr sz="600">
              <a:latin typeface="OpenSymbol"/>
              <a:cs typeface="Open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16380" y="3676294"/>
            <a:ext cx="721360" cy="1249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700"/>
              </a:lnSpc>
              <a:spcBef>
                <a:spcPts val="100"/>
              </a:spcBef>
            </a:pPr>
            <a:r>
              <a:rPr sz="1400" spc="5" dirty="0">
                <a:latin typeface="Liberation Serif"/>
                <a:cs typeface="Liberation Serif"/>
              </a:rPr>
              <a:t>co</a:t>
            </a:r>
            <a:r>
              <a:rPr sz="1400" dirty="0">
                <a:latin typeface="Liberation Serif"/>
                <a:cs typeface="Liberation Serif"/>
              </a:rPr>
              <a:t>m</a:t>
            </a:r>
            <a:r>
              <a:rPr sz="1400" spc="5" dirty="0">
                <a:latin typeface="Liberation Serif"/>
                <a:cs typeface="Liberation Serif"/>
              </a:rPr>
              <a:t>p</a:t>
            </a:r>
            <a:r>
              <a:rPr sz="1400" dirty="0">
                <a:latin typeface="Liberation Serif"/>
                <a:cs typeface="Liberation Serif"/>
              </a:rPr>
              <a:t>i</a:t>
            </a:r>
            <a:r>
              <a:rPr sz="1400" spc="10" dirty="0">
                <a:latin typeface="Liberation Serif"/>
                <a:cs typeface="Liberation Serif"/>
              </a:rPr>
              <a:t>l</a:t>
            </a:r>
            <a:r>
              <a:rPr sz="1400" spc="-5" dirty="0">
                <a:latin typeface="Liberation Serif"/>
                <a:cs typeface="Liberation Serif"/>
              </a:rPr>
              <a:t>e</a:t>
            </a:r>
            <a:r>
              <a:rPr sz="1400" dirty="0">
                <a:latin typeface="Liberation Serif"/>
                <a:cs typeface="Liberation Serif"/>
              </a:rPr>
              <a:t>()  search()  match()  findall()  split()...</a:t>
            </a:r>
            <a:endParaRPr sz="1400">
              <a:latin typeface="Liberation Serif"/>
              <a:cs typeface="Liberation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1750" y="3997604"/>
            <a:ext cx="89535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770" dirty="0">
                <a:latin typeface="OpenSymbol"/>
                <a:cs typeface="OpenSymbol"/>
              </a:rPr>
              <a:t></a:t>
            </a:r>
            <a:endParaRPr sz="600">
              <a:latin typeface="OpenSymbol"/>
              <a:cs typeface="Open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01750" y="4242714"/>
            <a:ext cx="89535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770" dirty="0">
                <a:latin typeface="OpenSymbol"/>
                <a:cs typeface="OpenSymbol"/>
              </a:rPr>
              <a:t></a:t>
            </a:r>
            <a:endParaRPr sz="600">
              <a:latin typeface="OpenSymbol"/>
              <a:cs typeface="Open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01750" y="4487824"/>
            <a:ext cx="89535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770" dirty="0">
                <a:latin typeface="OpenSymbol"/>
                <a:cs typeface="OpenSymbol"/>
              </a:rPr>
              <a:t></a:t>
            </a:r>
            <a:endParaRPr sz="600">
              <a:latin typeface="OpenSymbol"/>
              <a:cs typeface="Open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01750" y="4732934"/>
            <a:ext cx="89535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770" dirty="0">
                <a:latin typeface="OpenSymbol"/>
                <a:cs typeface="OpenSymbol"/>
              </a:rPr>
              <a:t></a:t>
            </a:r>
            <a:endParaRPr sz="600">
              <a:latin typeface="OpenSymbol"/>
              <a:cs typeface="Open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9950" y="5060594"/>
            <a:ext cx="76835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15" dirty="0">
                <a:solidFill>
                  <a:srgbClr val="CC0066"/>
                </a:solidFill>
                <a:latin typeface="DejaVu Serif"/>
                <a:cs typeface="DejaVu Serif"/>
              </a:rPr>
              <a:t>‒</a:t>
            </a:r>
            <a:endParaRPr sz="600">
              <a:latin typeface="DejaVu Serif"/>
              <a:cs typeface="DejaVu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84580" y="5007254"/>
            <a:ext cx="686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CC0066"/>
                </a:solidFill>
                <a:latin typeface="Liberation Serif"/>
                <a:cs typeface="Liberation Serif"/>
              </a:rPr>
              <a:t>import</a:t>
            </a:r>
            <a:r>
              <a:rPr sz="1400" spc="-65" dirty="0">
                <a:solidFill>
                  <a:srgbClr val="CC0066"/>
                </a:solidFill>
                <a:latin typeface="Liberation Serif"/>
                <a:cs typeface="Liberation Serif"/>
              </a:rPr>
              <a:t> </a:t>
            </a:r>
            <a:r>
              <a:rPr sz="1400" dirty="0">
                <a:solidFill>
                  <a:srgbClr val="CC0066"/>
                </a:solidFill>
                <a:latin typeface="Liberation Serif"/>
                <a:cs typeface="Liberation Serif"/>
              </a:rPr>
              <a:t>re</a:t>
            </a:r>
            <a:endParaRPr sz="1400">
              <a:latin typeface="Liberation Serif"/>
              <a:cs typeface="Liberation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145694"/>
            <a:ext cx="32372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DejaVu Sans"/>
                <a:cs typeface="DejaVu Sans"/>
              </a:rPr>
              <a:t>R</a:t>
            </a:r>
            <a:r>
              <a:rPr dirty="0"/>
              <a:t>egular</a:t>
            </a:r>
            <a:r>
              <a:rPr spc="-50" dirty="0"/>
              <a:t> </a:t>
            </a:r>
            <a:r>
              <a:rPr b="1" spc="-10" dirty="0">
                <a:latin typeface="DejaVu Sans"/>
                <a:cs typeface="DejaVu Sans"/>
              </a:rPr>
              <a:t>E</a:t>
            </a:r>
            <a:r>
              <a:rPr spc="-10" dirty="0"/>
              <a:t>xpressions</a:t>
            </a:r>
            <a:endParaRPr sz="3200">
              <a:latin typeface="DejaVu Sans"/>
              <a:cs typeface="DejaVu Sans"/>
            </a:endParaRPr>
          </a:p>
          <a:p>
            <a:pPr marL="12700">
              <a:lnSpc>
                <a:spcPct val="100000"/>
              </a:lnSpc>
            </a:pPr>
            <a:r>
              <a:rPr sz="2200" b="1" spc="-5" dirty="0">
                <a:solidFill>
                  <a:srgbClr val="663399"/>
                </a:solidFill>
                <a:latin typeface="DejaVu Sans"/>
                <a:cs typeface="DejaVu Sans"/>
              </a:rPr>
              <a:t>S</a:t>
            </a:r>
            <a:r>
              <a:rPr sz="2200" spc="-5" dirty="0">
                <a:solidFill>
                  <a:srgbClr val="663399"/>
                </a:solidFill>
              </a:rPr>
              <a:t>teps</a:t>
            </a:r>
            <a:endParaRPr sz="22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319" y="1303934"/>
            <a:ext cx="990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75" dirty="0">
                <a:solidFill>
                  <a:srgbClr val="CC0066"/>
                </a:solidFill>
                <a:latin typeface="OpenSymbol"/>
                <a:cs typeface="OpenSymbol"/>
              </a:rPr>
              <a:t></a:t>
            </a:r>
            <a:endParaRPr sz="1400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8680" y="1331874"/>
            <a:ext cx="17386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CC0066"/>
                </a:solidFill>
                <a:latin typeface="Liberation Serif"/>
                <a:cs typeface="Liberation Serif"/>
              </a:rPr>
              <a:t>Step-1: Compile the</a:t>
            </a:r>
            <a:r>
              <a:rPr sz="1400" spc="-60" dirty="0">
                <a:solidFill>
                  <a:srgbClr val="CC0066"/>
                </a:solidFill>
                <a:latin typeface="Liberation Serif"/>
                <a:cs typeface="Liberation Serif"/>
              </a:rPr>
              <a:t> </a:t>
            </a:r>
            <a:r>
              <a:rPr sz="1400" dirty="0">
                <a:solidFill>
                  <a:srgbClr val="CC0066"/>
                </a:solidFill>
                <a:latin typeface="Liberation Serif"/>
                <a:cs typeface="Liberation Serif"/>
              </a:rPr>
              <a:t>RE</a:t>
            </a:r>
            <a:endParaRPr sz="1400">
              <a:latin typeface="Liberation Serif"/>
              <a:cs typeface="Liberation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5319" y="2262784"/>
            <a:ext cx="990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75" dirty="0">
                <a:solidFill>
                  <a:srgbClr val="CC0066"/>
                </a:solidFill>
                <a:latin typeface="OpenSymbol"/>
                <a:cs typeface="OpenSymbol"/>
              </a:rPr>
              <a:t></a:t>
            </a:r>
            <a:endParaRPr sz="1400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8680" y="2291994"/>
            <a:ext cx="1858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CC0066"/>
                </a:solidFill>
                <a:latin typeface="Liberation Serif"/>
                <a:cs typeface="Liberation Serif"/>
              </a:rPr>
              <a:t>Step-2: </a:t>
            </a:r>
            <a:r>
              <a:rPr sz="1400" spc="-5" dirty="0">
                <a:solidFill>
                  <a:srgbClr val="CC0066"/>
                </a:solidFill>
                <a:latin typeface="Liberation Serif"/>
                <a:cs typeface="Liberation Serif"/>
              </a:rPr>
              <a:t>Search </a:t>
            </a:r>
            <a:r>
              <a:rPr sz="1400" dirty="0">
                <a:solidFill>
                  <a:srgbClr val="CC0066"/>
                </a:solidFill>
                <a:latin typeface="Liberation Serif"/>
                <a:cs typeface="Liberation Serif"/>
              </a:rPr>
              <a:t>the</a:t>
            </a:r>
            <a:r>
              <a:rPr sz="1400" spc="-35" dirty="0">
                <a:solidFill>
                  <a:srgbClr val="CC0066"/>
                </a:solidFill>
                <a:latin typeface="Liberation Serif"/>
                <a:cs typeface="Liberation Serif"/>
              </a:rPr>
              <a:t> </a:t>
            </a:r>
            <a:r>
              <a:rPr sz="1400" dirty="0">
                <a:solidFill>
                  <a:srgbClr val="CC0066"/>
                </a:solidFill>
                <a:latin typeface="Liberation Serif"/>
                <a:cs typeface="Liberation Serif"/>
              </a:rPr>
              <a:t>strings</a:t>
            </a:r>
            <a:endParaRPr sz="1400">
              <a:latin typeface="Liberation Serif"/>
              <a:cs typeface="Liberation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5319" y="3541674"/>
            <a:ext cx="990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75" dirty="0">
                <a:solidFill>
                  <a:srgbClr val="CC0066"/>
                </a:solidFill>
                <a:latin typeface="OpenSymbol"/>
                <a:cs typeface="OpenSymbol"/>
              </a:rPr>
              <a:t></a:t>
            </a:r>
            <a:endParaRPr sz="1400">
              <a:latin typeface="OpenSymbol"/>
              <a:cs typeface="Open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8680" y="3570884"/>
            <a:ext cx="18497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CC0066"/>
                </a:solidFill>
                <a:latin typeface="Liberation Serif"/>
                <a:cs typeface="Liberation Serif"/>
              </a:rPr>
              <a:t>Step-3: Display the</a:t>
            </a:r>
            <a:r>
              <a:rPr sz="1400" spc="-55" dirty="0">
                <a:solidFill>
                  <a:srgbClr val="CC0066"/>
                </a:solidFill>
                <a:latin typeface="Liberation Serif"/>
                <a:cs typeface="Liberation Serif"/>
              </a:rPr>
              <a:t> </a:t>
            </a:r>
            <a:r>
              <a:rPr sz="1400" dirty="0">
                <a:solidFill>
                  <a:srgbClr val="CC0066"/>
                </a:solidFill>
                <a:latin typeface="Liberation Serif"/>
                <a:cs typeface="Liberation Serif"/>
              </a:rPr>
              <a:t>result</a:t>
            </a:r>
            <a:endParaRPr sz="1400">
              <a:latin typeface="Liberation Serif"/>
              <a:cs typeface="Liberation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7700" y="1584604"/>
            <a:ext cx="8063230" cy="359410"/>
          </a:xfrm>
          <a:prstGeom prst="rect">
            <a:avLst/>
          </a:prstGeom>
          <a:solidFill>
            <a:srgbClr val="EDEDED"/>
          </a:solidFill>
          <a:ln w="3175">
            <a:solidFill>
              <a:srgbClr val="0C1E62"/>
            </a:solidFill>
          </a:ln>
        </p:spPr>
        <p:txBody>
          <a:bodyPr vert="horz" wrap="square" lIns="0" tIns="812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640"/>
              </a:spcBef>
            </a:pPr>
            <a:r>
              <a:rPr sz="1300" dirty="0">
                <a:latin typeface="FreeMono"/>
                <a:cs typeface="FreeMono"/>
              </a:rPr>
              <a:t>prog =</a:t>
            </a:r>
            <a:r>
              <a:rPr sz="1300" spc="-5" dirty="0">
                <a:latin typeface="FreeMono"/>
                <a:cs typeface="FreeMono"/>
              </a:rPr>
              <a:t> </a:t>
            </a:r>
            <a:r>
              <a:rPr sz="1300" dirty="0">
                <a:latin typeface="FreeMono"/>
                <a:cs typeface="FreeMono"/>
              </a:rPr>
              <a:t>re.compile(r’m\w\w’)</a:t>
            </a:r>
            <a:endParaRPr sz="1300">
              <a:latin typeface="FreeMono"/>
              <a:cs typeface="FreeMo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7700" y="2592984"/>
            <a:ext cx="8063230" cy="718820"/>
          </a:xfrm>
          <a:prstGeom prst="rect">
            <a:avLst/>
          </a:prstGeom>
          <a:solidFill>
            <a:srgbClr val="EDEDED"/>
          </a:solidFill>
          <a:ln w="3175">
            <a:solidFill>
              <a:srgbClr val="0C1E62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790"/>
              </a:spcBef>
            </a:pPr>
            <a:r>
              <a:rPr sz="1300" dirty="0">
                <a:latin typeface="FreeMono"/>
                <a:cs typeface="FreeMono"/>
              </a:rPr>
              <a:t>str = “cat mat bat</a:t>
            </a:r>
            <a:r>
              <a:rPr sz="1300" spc="-10" dirty="0">
                <a:latin typeface="FreeMono"/>
                <a:cs typeface="FreeMono"/>
              </a:rPr>
              <a:t> </a:t>
            </a:r>
            <a:r>
              <a:rPr sz="1300" dirty="0">
                <a:latin typeface="FreeMono"/>
                <a:cs typeface="FreeMono"/>
              </a:rPr>
              <a:t>rat”</a:t>
            </a:r>
            <a:endParaRPr sz="13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50">
              <a:latin typeface="FreeMono"/>
              <a:cs typeface="FreeMono"/>
            </a:endParaRPr>
          </a:p>
          <a:p>
            <a:pPr marL="90170">
              <a:lnSpc>
                <a:spcPct val="100000"/>
              </a:lnSpc>
            </a:pPr>
            <a:r>
              <a:rPr sz="1300" dirty="0">
                <a:latin typeface="FreeMono"/>
                <a:cs typeface="FreeMono"/>
              </a:rPr>
              <a:t>result =</a:t>
            </a:r>
            <a:r>
              <a:rPr sz="1300" spc="-5" dirty="0">
                <a:latin typeface="FreeMono"/>
                <a:cs typeface="FreeMono"/>
              </a:rPr>
              <a:t> </a:t>
            </a:r>
            <a:r>
              <a:rPr sz="1300" dirty="0">
                <a:latin typeface="FreeMono"/>
                <a:cs typeface="FreeMono"/>
              </a:rPr>
              <a:t>prog.search(str)</a:t>
            </a:r>
            <a:endParaRPr sz="1300">
              <a:latin typeface="FreeMono"/>
              <a:cs typeface="FreeMo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7700" y="3888384"/>
            <a:ext cx="8063230" cy="575310"/>
          </a:xfrm>
          <a:prstGeom prst="rect">
            <a:avLst/>
          </a:prstGeom>
          <a:solidFill>
            <a:srgbClr val="EDEDED"/>
          </a:solidFill>
          <a:ln w="3175">
            <a:solidFill>
              <a:srgbClr val="0C1E62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55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1300" dirty="0">
                <a:latin typeface="FreeMono"/>
                <a:cs typeface="FreeMono"/>
              </a:rPr>
              <a:t>print(result.group())</a:t>
            </a:r>
            <a:endParaRPr sz="13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176174"/>
            <a:ext cx="323723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DejaVu Sans"/>
                <a:cs typeface="DejaVu Sans"/>
              </a:rPr>
              <a:t>R</a:t>
            </a:r>
            <a:r>
              <a:rPr dirty="0"/>
              <a:t>egular</a:t>
            </a:r>
            <a:r>
              <a:rPr spc="-50" dirty="0"/>
              <a:t> </a:t>
            </a:r>
            <a:r>
              <a:rPr b="1" spc="-10" dirty="0">
                <a:latin typeface="DejaVu Sans"/>
                <a:cs typeface="DejaVu Sans"/>
              </a:rPr>
              <a:t>E</a:t>
            </a:r>
            <a:r>
              <a:rPr spc="-10" dirty="0"/>
              <a:t>xpressions</a:t>
            </a:r>
            <a:endParaRPr sz="3200">
              <a:latin typeface="DejaVu Sans"/>
              <a:cs typeface="DejaVu Sans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xample-1: </a:t>
            </a:r>
            <a:r>
              <a:rPr sz="1800" spc="-10" dirty="0">
                <a:solidFill>
                  <a:srgbClr val="663399"/>
                </a:solidFill>
              </a:rPr>
              <a:t>search()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4190" y="1193444"/>
            <a:ext cx="8135620" cy="1654810"/>
          </a:xfrm>
          <a:prstGeom prst="rect">
            <a:avLst/>
          </a:prstGeom>
          <a:solidFill>
            <a:srgbClr val="EDEDED"/>
          </a:solidFill>
          <a:ln w="3175">
            <a:solidFill>
              <a:srgbClr val="EC1B23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790"/>
              </a:spcBef>
            </a:pPr>
            <a:r>
              <a:rPr sz="1200" dirty="0">
                <a:latin typeface="FreeMono"/>
                <a:cs typeface="FreeMono"/>
              </a:rPr>
              <a:t>import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</a:t>
            </a:r>
            <a:endParaRPr sz="1200">
              <a:latin typeface="FreeMono"/>
              <a:cs typeface="FreeMono"/>
            </a:endParaRPr>
          </a:p>
          <a:p>
            <a:pPr marL="89535">
              <a:lnSpc>
                <a:spcPct val="100000"/>
              </a:lnSpc>
              <a:spcBef>
                <a:spcPts val="570"/>
              </a:spcBef>
            </a:pPr>
            <a:r>
              <a:rPr sz="1200" dirty="0">
                <a:latin typeface="FreeMono"/>
                <a:cs typeface="FreeMono"/>
              </a:rPr>
              <a:t>str = 'man sun mop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run'</a:t>
            </a:r>
            <a:endParaRPr sz="1200">
              <a:latin typeface="FreeMono"/>
              <a:cs typeface="FreeMono"/>
            </a:endParaRPr>
          </a:p>
          <a:p>
            <a:pPr marL="89535" marR="5020945">
              <a:lnSpc>
                <a:spcPct val="13890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result =</a:t>
            </a:r>
            <a:r>
              <a:rPr sz="1200" spc="-7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re.search(r'm\w\w',</a:t>
            </a:r>
            <a:r>
              <a:rPr sz="1200" spc="-3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str)  </a:t>
            </a:r>
            <a:r>
              <a:rPr sz="1200" dirty="0">
                <a:latin typeface="FreeMono"/>
                <a:cs typeface="FreeMono"/>
              </a:rPr>
              <a:t>if result: #if result is not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None</a:t>
            </a:r>
            <a:endParaRPr sz="1200">
              <a:latin typeface="FreeMono"/>
              <a:cs typeface="FreeMono"/>
            </a:endParaRPr>
          </a:p>
          <a:p>
            <a:pPr marL="455295">
              <a:lnSpc>
                <a:spcPct val="100000"/>
              </a:lnSpc>
              <a:spcBef>
                <a:spcPts val="570"/>
              </a:spcBef>
            </a:pPr>
            <a:r>
              <a:rPr sz="1200" dirty="0">
                <a:latin typeface="FreeMono"/>
                <a:cs typeface="FreeMono"/>
              </a:rPr>
              <a:t>print(result.group())</a:t>
            </a:r>
            <a:endParaRPr sz="1200">
              <a:latin typeface="FreeMono"/>
              <a:cs typeface="FreeMon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9409" y="6121044"/>
            <a:ext cx="7199630" cy="575310"/>
            <a:chOff x="359409" y="6121044"/>
            <a:chExt cx="7199630" cy="575310"/>
          </a:xfrm>
        </p:grpSpPr>
        <p:sp>
          <p:nvSpPr>
            <p:cNvPr id="5" name="object 5"/>
            <p:cNvSpPr/>
            <p:nvPr/>
          </p:nvSpPr>
          <p:spPr>
            <a:xfrm>
              <a:off x="359409" y="6121044"/>
              <a:ext cx="7199630" cy="575310"/>
            </a:xfrm>
            <a:custGeom>
              <a:avLst/>
              <a:gdLst/>
              <a:ahLst/>
              <a:cxnLst/>
              <a:rect l="l" t="t" r="r" b="b"/>
              <a:pathLst>
                <a:path w="7199630" h="575309">
                  <a:moveTo>
                    <a:pt x="7104380" y="0"/>
                  </a:moveTo>
                  <a:lnTo>
                    <a:pt x="96519" y="0"/>
                  </a:lnTo>
                  <a:lnTo>
                    <a:pt x="61079" y="8096"/>
                  </a:lnTo>
                  <a:lnTo>
                    <a:pt x="30162" y="29527"/>
                  </a:lnTo>
                  <a:lnTo>
                    <a:pt x="8294" y="60007"/>
                  </a:lnTo>
                  <a:lnTo>
                    <a:pt x="0" y="95250"/>
                  </a:lnTo>
                  <a:lnTo>
                    <a:pt x="0" y="478790"/>
                  </a:lnTo>
                  <a:lnTo>
                    <a:pt x="8294" y="514230"/>
                  </a:lnTo>
                  <a:lnTo>
                    <a:pt x="30162" y="545147"/>
                  </a:lnTo>
                  <a:lnTo>
                    <a:pt x="61079" y="567015"/>
                  </a:lnTo>
                  <a:lnTo>
                    <a:pt x="96519" y="575310"/>
                  </a:lnTo>
                  <a:lnTo>
                    <a:pt x="7104380" y="575310"/>
                  </a:lnTo>
                  <a:lnTo>
                    <a:pt x="7139086" y="567015"/>
                  </a:lnTo>
                  <a:lnTo>
                    <a:pt x="7169626" y="545147"/>
                  </a:lnTo>
                  <a:lnTo>
                    <a:pt x="7191355" y="514230"/>
                  </a:lnTo>
                  <a:lnTo>
                    <a:pt x="7199630" y="478790"/>
                  </a:lnTo>
                  <a:lnTo>
                    <a:pt x="7199630" y="95250"/>
                  </a:lnTo>
                  <a:lnTo>
                    <a:pt x="7191355" y="60007"/>
                  </a:lnTo>
                  <a:lnTo>
                    <a:pt x="7169626" y="29527"/>
                  </a:lnTo>
                  <a:lnTo>
                    <a:pt x="7139086" y="8096"/>
                  </a:lnTo>
                  <a:lnTo>
                    <a:pt x="710438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9409" y="6121044"/>
              <a:ext cx="7199630" cy="575310"/>
            </a:xfrm>
            <a:custGeom>
              <a:avLst/>
              <a:gdLst/>
              <a:ahLst/>
              <a:cxnLst/>
              <a:rect l="l" t="t" r="r" b="b"/>
              <a:pathLst>
                <a:path w="7199630" h="575309">
                  <a:moveTo>
                    <a:pt x="0" y="0"/>
                  </a:moveTo>
                  <a:lnTo>
                    <a:pt x="0" y="0"/>
                  </a:lnTo>
                </a:path>
                <a:path w="7199630" h="575309">
                  <a:moveTo>
                    <a:pt x="7199630" y="575310"/>
                  </a:moveTo>
                  <a:lnTo>
                    <a:pt x="7199630" y="575310"/>
                  </a:lnTo>
                </a:path>
              </a:pathLst>
            </a:custGeom>
            <a:ln w="3175">
              <a:solidFill>
                <a:srgbClr val="0066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36880" y="6099454"/>
            <a:ext cx="7074534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CC0066"/>
                </a:solidFill>
                <a:latin typeface="FreeMono"/>
                <a:cs typeface="FreeMono"/>
              </a:rPr>
              <a:t>search(): Combination of compile and</a:t>
            </a:r>
            <a:r>
              <a:rPr sz="1300" spc="-1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300" dirty="0">
                <a:solidFill>
                  <a:srgbClr val="CC0066"/>
                </a:solidFill>
                <a:latin typeface="FreeMono"/>
                <a:cs typeface="FreeMono"/>
              </a:rPr>
              <a:t>run</a:t>
            </a:r>
            <a:endParaRPr sz="13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50">
              <a:latin typeface="FreeMono"/>
              <a:cs typeface="FreeMono"/>
            </a:endParaRPr>
          </a:p>
          <a:p>
            <a:pPr marL="12700">
              <a:lnSpc>
                <a:spcPct val="100000"/>
              </a:lnSpc>
              <a:tabLst>
                <a:tab pos="7061200" algn="l"/>
              </a:tabLst>
            </a:pPr>
            <a:r>
              <a:rPr sz="1300" u="sng" dirty="0">
                <a:solidFill>
                  <a:srgbClr val="CC0066"/>
                </a:solidFill>
                <a:uFill>
                  <a:solidFill>
                    <a:srgbClr val="0066B2"/>
                  </a:solidFill>
                </a:uFill>
                <a:latin typeface="FreeMono"/>
                <a:cs typeface="FreeMono"/>
              </a:rPr>
              <a:t>- Point: Returns only the first string matching the</a:t>
            </a:r>
            <a:r>
              <a:rPr sz="1300" u="sng" spc="-100" dirty="0">
                <a:solidFill>
                  <a:srgbClr val="CC0066"/>
                </a:solidFill>
                <a:uFill>
                  <a:solidFill>
                    <a:srgbClr val="0066B2"/>
                  </a:solidFill>
                </a:uFill>
                <a:latin typeface="FreeMono"/>
                <a:cs typeface="FreeMono"/>
              </a:rPr>
              <a:t> </a:t>
            </a:r>
            <a:r>
              <a:rPr sz="1300" u="sng" dirty="0">
                <a:solidFill>
                  <a:srgbClr val="CC0066"/>
                </a:solidFill>
                <a:uFill>
                  <a:solidFill>
                    <a:srgbClr val="0066B2"/>
                  </a:solidFill>
                </a:uFill>
                <a:latin typeface="FreeMono"/>
                <a:cs typeface="FreeMono"/>
              </a:rPr>
              <a:t>RE	</a:t>
            </a:r>
            <a:endParaRPr sz="1300">
              <a:latin typeface="FreeMono"/>
              <a:cs typeface="Free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4190" y="3744874"/>
            <a:ext cx="8135620" cy="1654810"/>
          </a:xfrm>
          <a:prstGeom prst="rect">
            <a:avLst/>
          </a:prstGeom>
          <a:solidFill>
            <a:srgbClr val="EDEDED"/>
          </a:solidFill>
          <a:ln w="3175">
            <a:solidFill>
              <a:srgbClr val="EC1B2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1230"/>
              </a:lnSpc>
            </a:pPr>
            <a:r>
              <a:rPr sz="1200" dirty="0">
                <a:latin typeface="FreeMono"/>
                <a:cs typeface="FreeMono"/>
              </a:rPr>
              <a:t>import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</a:t>
            </a:r>
            <a:endParaRPr sz="1200">
              <a:latin typeface="FreeMono"/>
              <a:cs typeface="FreeMono"/>
            </a:endParaRPr>
          </a:p>
          <a:p>
            <a:pPr marL="89535" marR="5569585">
              <a:lnSpc>
                <a:spcPct val="138900"/>
              </a:lnSpc>
            </a:pPr>
            <a:r>
              <a:rPr sz="1200" dirty="0">
                <a:latin typeface="FreeMono"/>
                <a:cs typeface="FreeMono"/>
              </a:rPr>
              <a:t>str = 'man sun mop run' 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prog =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re.compile(r'm\w\w')</a:t>
            </a:r>
            <a:endParaRPr sz="1200">
              <a:latin typeface="FreeMono"/>
              <a:cs typeface="FreeMono"/>
            </a:endParaRPr>
          </a:p>
          <a:p>
            <a:pPr marL="89535">
              <a:lnSpc>
                <a:spcPct val="100000"/>
              </a:lnSpc>
              <a:spcBef>
                <a:spcPts val="57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result =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prog.search(str)</a:t>
            </a:r>
            <a:endParaRPr sz="1200">
              <a:latin typeface="FreeMono"/>
              <a:cs typeface="FreeMono"/>
            </a:endParaRPr>
          </a:p>
          <a:p>
            <a:pPr marL="455295" marR="5020945" indent="-365760">
              <a:lnSpc>
                <a:spcPts val="2010"/>
              </a:lnSpc>
              <a:spcBef>
                <a:spcPts val="150"/>
              </a:spcBef>
            </a:pPr>
            <a:r>
              <a:rPr sz="1200" dirty="0">
                <a:latin typeface="FreeMono"/>
                <a:cs typeface="FreeMono"/>
              </a:rPr>
              <a:t>if result: #if result is</a:t>
            </a:r>
            <a:r>
              <a:rPr sz="1200" spc="-8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not</a:t>
            </a:r>
            <a:r>
              <a:rPr sz="1200" spc="-1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None  print(result.group())</a:t>
            </a:r>
            <a:endParaRPr sz="1200">
              <a:latin typeface="FreeMono"/>
              <a:cs typeface="FreeMon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36440" y="2952394"/>
            <a:ext cx="143510" cy="720090"/>
            <a:chOff x="4536440" y="2952394"/>
            <a:chExt cx="143510" cy="720090"/>
          </a:xfrm>
        </p:grpSpPr>
        <p:sp>
          <p:nvSpPr>
            <p:cNvPr id="10" name="object 10"/>
            <p:cNvSpPr/>
            <p:nvPr/>
          </p:nvSpPr>
          <p:spPr>
            <a:xfrm>
              <a:off x="4536440" y="2952394"/>
              <a:ext cx="142240" cy="720090"/>
            </a:xfrm>
            <a:custGeom>
              <a:avLst/>
              <a:gdLst/>
              <a:ahLst/>
              <a:cxnLst/>
              <a:rect l="l" t="t" r="r" b="b"/>
              <a:pathLst>
                <a:path w="142239" h="720089">
                  <a:moveTo>
                    <a:pt x="142239" y="576579"/>
                  </a:moveTo>
                  <a:lnTo>
                    <a:pt x="0" y="576579"/>
                  </a:lnTo>
                  <a:lnTo>
                    <a:pt x="71120" y="720089"/>
                  </a:lnTo>
                  <a:lnTo>
                    <a:pt x="142239" y="576579"/>
                  </a:lnTo>
                  <a:close/>
                </a:path>
                <a:path w="142239" h="720089">
                  <a:moveTo>
                    <a:pt x="106680" y="143510"/>
                  </a:moveTo>
                  <a:lnTo>
                    <a:pt x="35560" y="143510"/>
                  </a:lnTo>
                  <a:lnTo>
                    <a:pt x="35560" y="576579"/>
                  </a:lnTo>
                  <a:lnTo>
                    <a:pt x="106680" y="576579"/>
                  </a:lnTo>
                  <a:lnTo>
                    <a:pt x="106680" y="143510"/>
                  </a:lnTo>
                  <a:close/>
                </a:path>
                <a:path w="142239" h="720089">
                  <a:moveTo>
                    <a:pt x="71120" y="0"/>
                  </a:moveTo>
                  <a:lnTo>
                    <a:pt x="0" y="143510"/>
                  </a:lnTo>
                  <a:lnTo>
                    <a:pt x="142239" y="143510"/>
                  </a:lnTo>
                  <a:lnTo>
                    <a:pt x="71120" y="0"/>
                  </a:lnTo>
                  <a:close/>
                </a:path>
              </a:pathLst>
            </a:custGeom>
            <a:solidFill>
              <a:srgbClr val="DFE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36440" y="2952394"/>
              <a:ext cx="143510" cy="720090"/>
            </a:xfrm>
            <a:custGeom>
              <a:avLst/>
              <a:gdLst/>
              <a:ahLst/>
              <a:cxnLst/>
              <a:rect l="l" t="t" r="r" b="b"/>
              <a:pathLst>
                <a:path w="143510" h="720089">
                  <a:moveTo>
                    <a:pt x="0" y="143510"/>
                  </a:moveTo>
                  <a:lnTo>
                    <a:pt x="71120" y="0"/>
                  </a:lnTo>
                  <a:lnTo>
                    <a:pt x="142239" y="143510"/>
                  </a:lnTo>
                  <a:lnTo>
                    <a:pt x="106680" y="143510"/>
                  </a:lnTo>
                  <a:lnTo>
                    <a:pt x="106680" y="576579"/>
                  </a:lnTo>
                  <a:lnTo>
                    <a:pt x="142239" y="576579"/>
                  </a:lnTo>
                  <a:lnTo>
                    <a:pt x="71120" y="720089"/>
                  </a:lnTo>
                  <a:lnTo>
                    <a:pt x="0" y="576579"/>
                  </a:lnTo>
                  <a:lnTo>
                    <a:pt x="35560" y="576579"/>
                  </a:lnTo>
                  <a:lnTo>
                    <a:pt x="35560" y="143510"/>
                  </a:lnTo>
                  <a:lnTo>
                    <a:pt x="0" y="143510"/>
                  </a:lnTo>
                  <a:close/>
                </a:path>
                <a:path w="143510" h="720089">
                  <a:moveTo>
                    <a:pt x="0" y="0"/>
                  </a:moveTo>
                  <a:lnTo>
                    <a:pt x="0" y="0"/>
                  </a:lnTo>
                </a:path>
                <a:path w="143510" h="720089">
                  <a:moveTo>
                    <a:pt x="143510" y="720089"/>
                  </a:moveTo>
                  <a:lnTo>
                    <a:pt x="143510" y="720089"/>
                  </a:lnTo>
                </a:path>
              </a:pathLst>
            </a:custGeom>
            <a:ln w="3175">
              <a:solidFill>
                <a:srgbClr val="203F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176174"/>
            <a:ext cx="323723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DejaVu Sans"/>
                <a:cs typeface="DejaVu Sans"/>
              </a:rPr>
              <a:t>R</a:t>
            </a:r>
            <a:r>
              <a:rPr dirty="0"/>
              <a:t>egular</a:t>
            </a:r>
            <a:r>
              <a:rPr spc="-50" dirty="0"/>
              <a:t> </a:t>
            </a:r>
            <a:r>
              <a:rPr b="1" spc="-10" dirty="0">
                <a:latin typeface="DejaVu Sans"/>
                <a:cs typeface="DejaVu Sans"/>
              </a:rPr>
              <a:t>E</a:t>
            </a:r>
            <a:r>
              <a:rPr spc="-10" dirty="0"/>
              <a:t>xpressions</a:t>
            </a:r>
            <a:endParaRPr sz="3200">
              <a:latin typeface="DejaVu Sans"/>
              <a:cs typeface="DejaVu Sans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xample-2:</a:t>
            </a:r>
            <a:r>
              <a:rPr sz="1800" dirty="0">
                <a:solidFill>
                  <a:srgbClr val="663399"/>
                </a:solidFill>
              </a:rPr>
              <a:t> </a:t>
            </a:r>
            <a:r>
              <a:rPr sz="1800" spc="-5" dirty="0">
                <a:solidFill>
                  <a:srgbClr val="663399"/>
                </a:solidFill>
              </a:rPr>
              <a:t>findall()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4190" y="1193444"/>
            <a:ext cx="8135620" cy="1654810"/>
          </a:xfrm>
          <a:prstGeom prst="rect">
            <a:avLst/>
          </a:prstGeom>
          <a:solidFill>
            <a:srgbClr val="EDEDED"/>
          </a:solidFill>
          <a:ln w="3175">
            <a:solidFill>
              <a:srgbClr val="EC1B23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790"/>
              </a:spcBef>
            </a:pPr>
            <a:r>
              <a:rPr sz="1200" dirty="0">
                <a:latin typeface="FreeMono"/>
                <a:cs typeface="FreeMono"/>
              </a:rPr>
              <a:t>import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</a:t>
            </a:r>
            <a:endParaRPr sz="1200">
              <a:latin typeface="FreeMono"/>
              <a:cs typeface="FreeMono"/>
            </a:endParaRPr>
          </a:p>
          <a:p>
            <a:pPr marL="89535">
              <a:lnSpc>
                <a:spcPct val="100000"/>
              </a:lnSpc>
              <a:spcBef>
                <a:spcPts val="570"/>
              </a:spcBef>
            </a:pPr>
            <a:r>
              <a:rPr sz="1200" dirty="0">
                <a:latin typeface="FreeMono"/>
                <a:cs typeface="FreeMono"/>
              </a:rPr>
              <a:t>str = 'man sun mop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run'</a:t>
            </a:r>
            <a:endParaRPr sz="1200">
              <a:latin typeface="FreeMono"/>
              <a:cs typeface="FreeMono"/>
            </a:endParaRPr>
          </a:p>
          <a:p>
            <a:pPr marL="89535" marR="4929505">
              <a:lnSpc>
                <a:spcPct val="13890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result =</a:t>
            </a:r>
            <a:r>
              <a:rPr sz="1200" spc="-7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re.findall(r'm\w\w',</a:t>
            </a:r>
            <a:r>
              <a:rPr sz="1200" spc="-3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str)  </a:t>
            </a:r>
            <a:r>
              <a:rPr sz="1200" dirty="0">
                <a:latin typeface="FreeMono"/>
                <a:cs typeface="FreeMono"/>
              </a:rPr>
              <a:t>print(result)</a:t>
            </a:r>
            <a:endParaRPr sz="1200">
              <a:latin typeface="FreeMono"/>
              <a:cs typeface="FreeMon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9409" y="6121044"/>
            <a:ext cx="7199630" cy="575310"/>
            <a:chOff x="359409" y="6121044"/>
            <a:chExt cx="7199630" cy="575310"/>
          </a:xfrm>
        </p:grpSpPr>
        <p:sp>
          <p:nvSpPr>
            <p:cNvPr id="5" name="object 5"/>
            <p:cNvSpPr/>
            <p:nvPr/>
          </p:nvSpPr>
          <p:spPr>
            <a:xfrm>
              <a:off x="359409" y="6121044"/>
              <a:ext cx="7199630" cy="575310"/>
            </a:xfrm>
            <a:custGeom>
              <a:avLst/>
              <a:gdLst/>
              <a:ahLst/>
              <a:cxnLst/>
              <a:rect l="l" t="t" r="r" b="b"/>
              <a:pathLst>
                <a:path w="7199630" h="575309">
                  <a:moveTo>
                    <a:pt x="7104380" y="0"/>
                  </a:moveTo>
                  <a:lnTo>
                    <a:pt x="96519" y="0"/>
                  </a:lnTo>
                  <a:lnTo>
                    <a:pt x="61079" y="8096"/>
                  </a:lnTo>
                  <a:lnTo>
                    <a:pt x="30162" y="29527"/>
                  </a:lnTo>
                  <a:lnTo>
                    <a:pt x="8294" y="60007"/>
                  </a:lnTo>
                  <a:lnTo>
                    <a:pt x="0" y="95250"/>
                  </a:lnTo>
                  <a:lnTo>
                    <a:pt x="0" y="478790"/>
                  </a:lnTo>
                  <a:lnTo>
                    <a:pt x="8294" y="514230"/>
                  </a:lnTo>
                  <a:lnTo>
                    <a:pt x="30162" y="545147"/>
                  </a:lnTo>
                  <a:lnTo>
                    <a:pt x="61079" y="567015"/>
                  </a:lnTo>
                  <a:lnTo>
                    <a:pt x="96519" y="575310"/>
                  </a:lnTo>
                  <a:lnTo>
                    <a:pt x="7104380" y="575310"/>
                  </a:lnTo>
                  <a:lnTo>
                    <a:pt x="7139086" y="567015"/>
                  </a:lnTo>
                  <a:lnTo>
                    <a:pt x="7169626" y="545147"/>
                  </a:lnTo>
                  <a:lnTo>
                    <a:pt x="7191355" y="514230"/>
                  </a:lnTo>
                  <a:lnTo>
                    <a:pt x="7199630" y="478790"/>
                  </a:lnTo>
                  <a:lnTo>
                    <a:pt x="7199630" y="95250"/>
                  </a:lnTo>
                  <a:lnTo>
                    <a:pt x="7191355" y="60007"/>
                  </a:lnTo>
                  <a:lnTo>
                    <a:pt x="7169626" y="29527"/>
                  </a:lnTo>
                  <a:lnTo>
                    <a:pt x="7139086" y="8096"/>
                  </a:lnTo>
                  <a:lnTo>
                    <a:pt x="710438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9409" y="6121044"/>
              <a:ext cx="7199630" cy="575310"/>
            </a:xfrm>
            <a:custGeom>
              <a:avLst/>
              <a:gdLst/>
              <a:ahLst/>
              <a:cxnLst/>
              <a:rect l="l" t="t" r="r" b="b"/>
              <a:pathLst>
                <a:path w="7199630" h="575309">
                  <a:moveTo>
                    <a:pt x="96519" y="0"/>
                  </a:moveTo>
                  <a:lnTo>
                    <a:pt x="61079" y="8096"/>
                  </a:lnTo>
                  <a:lnTo>
                    <a:pt x="30162" y="29527"/>
                  </a:lnTo>
                  <a:lnTo>
                    <a:pt x="8294" y="60007"/>
                  </a:lnTo>
                  <a:lnTo>
                    <a:pt x="0" y="95250"/>
                  </a:lnTo>
                  <a:lnTo>
                    <a:pt x="0" y="478790"/>
                  </a:lnTo>
                  <a:lnTo>
                    <a:pt x="8294" y="514230"/>
                  </a:lnTo>
                  <a:lnTo>
                    <a:pt x="30162" y="545147"/>
                  </a:lnTo>
                  <a:lnTo>
                    <a:pt x="61079" y="567015"/>
                  </a:lnTo>
                  <a:lnTo>
                    <a:pt x="96519" y="575310"/>
                  </a:lnTo>
                  <a:lnTo>
                    <a:pt x="7104380" y="575310"/>
                  </a:lnTo>
                  <a:lnTo>
                    <a:pt x="7139086" y="567015"/>
                  </a:lnTo>
                  <a:lnTo>
                    <a:pt x="7169626" y="545147"/>
                  </a:lnTo>
                  <a:lnTo>
                    <a:pt x="7191355" y="514230"/>
                  </a:lnTo>
                  <a:lnTo>
                    <a:pt x="7199630" y="478790"/>
                  </a:lnTo>
                  <a:lnTo>
                    <a:pt x="7199630" y="95250"/>
                  </a:lnTo>
                  <a:lnTo>
                    <a:pt x="7191355" y="60007"/>
                  </a:lnTo>
                  <a:lnTo>
                    <a:pt x="7169626" y="29527"/>
                  </a:lnTo>
                  <a:lnTo>
                    <a:pt x="7139086" y="8096"/>
                  </a:lnTo>
                  <a:lnTo>
                    <a:pt x="7104380" y="0"/>
                  </a:lnTo>
                  <a:lnTo>
                    <a:pt x="96519" y="0"/>
                  </a:lnTo>
                  <a:close/>
                </a:path>
                <a:path w="7199630" h="575309">
                  <a:moveTo>
                    <a:pt x="0" y="0"/>
                  </a:moveTo>
                  <a:lnTo>
                    <a:pt x="0" y="0"/>
                  </a:lnTo>
                </a:path>
                <a:path w="7199630" h="575309">
                  <a:moveTo>
                    <a:pt x="7199630" y="575310"/>
                  </a:moveTo>
                  <a:lnTo>
                    <a:pt x="7199630" y="575310"/>
                  </a:lnTo>
                </a:path>
              </a:pathLst>
            </a:custGeom>
            <a:ln w="3175">
              <a:solidFill>
                <a:srgbClr val="0066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36880" y="6091834"/>
            <a:ext cx="2875280" cy="59944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findall()</a:t>
            </a:r>
            <a:endParaRPr sz="1100">
              <a:latin typeface="FreeMono"/>
              <a:cs typeface="FreeMono"/>
            </a:endParaRPr>
          </a:p>
          <a:p>
            <a:pPr marL="180340" indent="-167640">
              <a:lnSpc>
                <a:spcPct val="100000"/>
              </a:lnSpc>
              <a:spcBef>
                <a:spcPts val="280"/>
              </a:spcBef>
              <a:buChar char="-"/>
              <a:tabLst>
                <a:tab pos="180340" algn="l"/>
              </a:tabLst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Returns all the matching</a:t>
            </a:r>
            <a:r>
              <a:rPr sz="11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strings</a:t>
            </a:r>
            <a:endParaRPr sz="1100">
              <a:latin typeface="FreeMono"/>
              <a:cs typeface="FreeMono"/>
            </a:endParaRPr>
          </a:p>
          <a:p>
            <a:pPr marL="180340" indent="-167640">
              <a:lnSpc>
                <a:spcPct val="100000"/>
              </a:lnSpc>
              <a:buChar char="-"/>
              <a:tabLst>
                <a:tab pos="180340" algn="l"/>
              </a:tabLst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Returns in the form of the</a:t>
            </a:r>
            <a:r>
              <a:rPr sz="1100" spc="-8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list</a:t>
            </a:r>
            <a:endParaRPr sz="11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176174"/>
            <a:ext cx="323723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DejaVu Sans"/>
                <a:cs typeface="DejaVu Sans"/>
              </a:rPr>
              <a:t>R</a:t>
            </a:r>
            <a:r>
              <a:rPr dirty="0"/>
              <a:t>egular</a:t>
            </a:r>
            <a:r>
              <a:rPr spc="-50" dirty="0"/>
              <a:t> </a:t>
            </a:r>
            <a:r>
              <a:rPr b="1" spc="-10" dirty="0">
                <a:latin typeface="DejaVu Sans"/>
                <a:cs typeface="DejaVu Sans"/>
              </a:rPr>
              <a:t>E</a:t>
            </a:r>
            <a:r>
              <a:rPr spc="-10" dirty="0"/>
              <a:t>xpressions</a:t>
            </a:r>
            <a:endParaRPr sz="3200">
              <a:latin typeface="DejaVu Sans"/>
              <a:cs typeface="DejaVu Sans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xample-3: match()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4190" y="1193444"/>
            <a:ext cx="8135620" cy="1654810"/>
          </a:xfrm>
          <a:prstGeom prst="rect">
            <a:avLst/>
          </a:prstGeom>
          <a:solidFill>
            <a:srgbClr val="EDEDED"/>
          </a:solidFill>
          <a:ln w="3175">
            <a:solidFill>
              <a:srgbClr val="EC1B2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1200" dirty="0">
                <a:latin typeface="FreeMono"/>
                <a:cs typeface="FreeMono"/>
              </a:rPr>
              <a:t>import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</a:t>
            </a:r>
            <a:endParaRPr sz="1200">
              <a:latin typeface="FreeMono"/>
              <a:cs typeface="FreeMono"/>
            </a:endParaRPr>
          </a:p>
          <a:p>
            <a:pPr marL="89535">
              <a:lnSpc>
                <a:spcPct val="100000"/>
              </a:lnSpc>
              <a:spcBef>
                <a:spcPts val="570"/>
              </a:spcBef>
            </a:pPr>
            <a:r>
              <a:rPr sz="1200" dirty="0">
                <a:latin typeface="FreeMono"/>
                <a:cs typeface="FreeMono"/>
              </a:rPr>
              <a:t>str = 'man sun mop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run'</a:t>
            </a:r>
            <a:endParaRPr sz="1200">
              <a:latin typeface="FreeMono"/>
              <a:cs typeface="FreeMono"/>
            </a:endParaRPr>
          </a:p>
          <a:p>
            <a:pPr marL="89535" marR="5112385">
              <a:lnSpc>
                <a:spcPct val="138900"/>
              </a:lnSpc>
            </a:pPr>
            <a:r>
              <a:rPr sz="1200" dirty="0">
                <a:latin typeface="FreeMono"/>
                <a:cs typeface="FreeMono"/>
              </a:rPr>
              <a:t>result =</a:t>
            </a:r>
            <a:r>
              <a:rPr sz="1200" spc="-7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re.match(r'm\w\w',</a:t>
            </a:r>
            <a:r>
              <a:rPr sz="1200" spc="-3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str)  print(result.group())</a:t>
            </a:r>
            <a:endParaRPr sz="1200">
              <a:latin typeface="FreeMono"/>
              <a:cs typeface="FreeMon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9409" y="6121044"/>
            <a:ext cx="7199630" cy="575310"/>
            <a:chOff x="359409" y="6121044"/>
            <a:chExt cx="7199630" cy="575310"/>
          </a:xfrm>
        </p:grpSpPr>
        <p:sp>
          <p:nvSpPr>
            <p:cNvPr id="5" name="object 5"/>
            <p:cNvSpPr/>
            <p:nvPr/>
          </p:nvSpPr>
          <p:spPr>
            <a:xfrm>
              <a:off x="359409" y="6121044"/>
              <a:ext cx="7199630" cy="575310"/>
            </a:xfrm>
            <a:custGeom>
              <a:avLst/>
              <a:gdLst/>
              <a:ahLst/>
              <a:cxnLst/>
              <a:rect l="l" t="t" r="r" b="b"/>
              <a:pathLst>
                <a:path w="7199630" h="575309">
                  <a:moveTo>
                    <a:pt x="7104380" y="0"/>
                  </a:moveTo>
                  <a:lnTo>
                    <a:pt x="96519" y="0"/>
                  </a:lnTo>
                  <a:lnTo>
                    <a:pt x="61079" y="8096"/>
                  </a:lnTo>
                  <a:lnTo>
                    <a:pt x="30162" y="29527"/>
                  </a:lnTo>
                  <a:lnTo>
                    <a:pt x="8294" y="60007"/>
                  </a:lnTo>
                  <a:lnTo>
                    <a:pt x="0" y="95250"/>
                  </a:lnTo>
                  <a:lnTo>
                    <a:pt x="0" y="478790"/>
                  </a:lnTo>
                  <a:lnTo>
                    <a:pt x="8294" y="514230"/>
                  </a:lnTo>
                  <a:lnTo>
                    <a:pt x="30162" y="545147"/>
                  </a:lnTo>
                  <a:lnTo>
                    <a:pt x="61079" y="567015"/>
                  </a:lnTo>
                  <a:lnTo>
                    <a:pt x="96519" y="575310"/>
                  </a:lnTo>
                  <a:lnTo>
                    <a:pt x="7104380" y="575310"/>
                  </a:lnTo>
                  <a:lnTo>
                    <a:pt x="7139086" y="567015"/>
                  </a:lnTo>
                  <a:lnTo>
                    <a:pt x="7169626" y="545147"/>
                  </a:lnTo>
                  <a:lnTo>
                    <a:pt x="7191355" y="514230"/>
                  </a:lnTo>
                  <a:lnTo>
                    <a:pt x="7199630" y="478790"/>
                  </a:lnTo>
                  <a:lnTo>
                    <a:pt x="7199630" y="95250"/>
                  </a:lnTo>
                  <a:lnTo>
                    <a:pt x="7191355" y="60007"/>
                  </a:lnTo>
                  <a:lnTo>
                    <a:pt x="7169626" y="29527"/>
                  </a:lnTo>
                  <a:lnTo>
                    <a:pt x="7139086" y="8096"/>
                  </a:lnTo>
                  <a:lnTo>
                    <a:pt x="710438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9409" y="6121044"/>
              <a:ext cx="7199630" cy="575310"/>
            </a:xfrm>
            <a:custGeom>
              <a:avLst/>
              <a:gdLst/>
              <a:ahLst/>
              <a:cxnLst/>
              <a:rect l="l" t="t" r="r" b="b"/>
              <a:pathLst>
                <a:path w="7199630" h="575309">
                  <a:moveTo>
                    <a:pt x="96519" y="0"/>
                  </a:moveTo>
                  <a:lnTo>
                    <a:pt x="61079" y="8096"/>
                  </a:lnTo>
                  <a:lnTo>
                    <a:pt x="30162" y="29527"/>
                  </a:lnTo>
                  <a:lnTo>
                    <a:pt x="8294" y="60007"/>
                  </a:lnTo>
                  <a:lnTo>
                    <a:pt x="0" y="95250"/>
                  </a:lnTo>
                  <a:lnTo>
                    <a:pt x="0" y="478790"/>
                  </a:lnTo>
                  <a:lnTo>
                    <a:pt x="8294" y="514230"/>
                  </a:lnTo>
                  <a:lnTo>
                    <a:pt x="30162" y="545147"/>
                  </a:lnTo>
                  <a:lnTo>
                    <a:pt x="61079" y="567015"/>
                  </a:lnTo>
                  <a:lnTo>
                    <a:pt x="96519" y="575310"/>
                  </a:lnTo>
                  <a:lnTo>
                    <a:pt x="7104380" y="575310"/>
                  </a:lnTo>
                  <a:lnTo>
                    <a:pt x="7139086" y="567015"/>
                  </a:lnTo>
                  <a:lnTo>
                    <a:pt x="7169626" y="545147"/>
                  </a:lnTo>
                  <a:lnTo>
                    <a:pt x="7191355" y="514230"/>
                  </a:lnTo>
                  <a:lnTo>
                    <a:pt x="7199630" y="478790"/>
                  </a:lnTo>
                  <a:lnTo>
                    <a:pt x="7199630" y="95250"/>
                  </a:lnTo>
                  <a:lnTo>
                    <a:pt x="7191355" y="60007"/>
                  </a:lnTo>
                  <a:lnTo>
                    <a:pt x="7169626" y="29527"/>
                  </a:lnTo>
                  <a:lnTo>
                    <a:pt x="7139086" y="8096"/>
                  </a:lnTo>
                  <a:lnTo>
                    <a:pt x="7104380" y="0"/>
                  </a:lnTo>
                  <a:lnTo>
                    <a:pt x="96519" y="0"/>
                  </a:lnTo>
                  <a:close/>
                </a:path>
                <a:path w="7199630" h="575309">
                  <a:moveTo>
                    <a:pt x="0" y="0"/>
                  </a:moveTo>
                  <a:lnTo>
                    <a:pt x="0" y="0"/>
                  </a:lnTo>
                </a:path>
                <a:path w="7199630" h="575309">
                  <a:moveTo>
                    <a:pt x="7199630" y="575310"/>
                  </a:moveTo>
                  <a:lnTo>
                    <a:pt x="7199630" y="575310"/>
                  </a:lnTo>
                </a:path>
              </a:pathLst>
            </a:custGeom>
            <a:ln w="3175">
              <a:solidFill>
                <a:srgbClr val="0066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36880" y="6091834"/>
            <a:ext cx="5892800" cy="59944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match()</a:t>
            </a:r>
            <a:endParaRPr sz="1100">
              <a:latin typeface="FreeMono"/>
              <a:cs typeface="FreeMono"/>
            </a:endParaRPr>
          </a:p>
          <a:p>
            <a:pPr marL="180340" indent="-167640">
              <a:lnSpc>
                <a:spcPct val="100000"/>
              </a:lnSpc>
              <a:spcBef>
                <a:spcPts val="280"/>
              </a:spcBef>
              <a:buChar char="-"/>
              <a:tabLst>
                <a:tab pos="180340" algn="l"/>
              </a:tabLst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Returns the string only if it is found in the begining of the</a:t>
            </a:r>
            <a:r>
              <a:rPr sz="11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string</a:t>
            </a:r>
            <a:endParaRPr sz="1100">
              <a:latin typeface="FreeMono"/>
              <a:cs typeface="FreeMono"/>
            </a:endParaRPr>
          </a:p>
          <a:p>
            <a:pPr marL="180340" indent="-167640">
              <a:lnSpc>
                <a:spcPct val="100000"/>
              </a:lnSpc>
              <a:buChar char="-"/>
              <a:tabLst>
                <a:tab pos="180340" algn="l"/>
              </a:tabLst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Returns None, if the string is not</a:t>
            </a:r>
            <a:r>
              <a:rPr sz="1100" spc="-2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found</a:t>
            </a:r>
            <a:endParaRPr sz="11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176174"/>
            <a:ext cx="323723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DejaVu Sans"/>
                <a:cs typeface="DejaVu Sans"/>
              </a:rPr>
              <a:t>R</a:t>
            </a:r>
            <a:r>
              <a:rPr dirty="0"/>
              <a:t>egular</a:t>
            </a:r>
            <a:r>
              <a:rPr spc="-50" dirty="0"/>
              <a:t> </a:t>
            </a:r>
            <a:r>
              <a:rPr b="1" spc="-10" dirty="0">
                <a:latin typeface="DejaVu Sans"/>
                <a:cs typeface="DejaVu Sans"/>
              </a:rPr>
              <a:t>E</a:t>
            </a:r>
            <a:r>
              <a:rPr spc="-10" dirty="0"/>
              <a:t>xpressions</a:t>
            </a:r>
            <a:endParaRPr sz="3200">
              <a:latin typeface="DejaVu Sans"/>
              <a:cs typeface="DejaVu Sans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xample-4: match()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4190" y="1193444"/>
            <a:ext cx="8135620" cy="1654810"/>
          </a:xfrm>
          <a:prstGeom prst="rect">
            <a:avLst/>
          </a:prstGeom>
          <a:solidFill>
            <a:srgbClr val="EDEDED"/>
          </a:solidFill>
          <a:ln w="3175">
            <a:solidFill>
              <a:srgbClr val="EC1B2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1200" dirty="0">
                <a:latin typeface="FreeMono"/>
                <a:cs typeface="FreeMono"/>
              </a:rPr>
              <a:t>import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</a:t>
            </a:r>
            <a:endParaRPr sz="1200">
              <a:latin typeface="FreeMono"/>
              <a:cs typeface="FreeMono"/>
            </a:endParaRPr>
          </a:p>
          <a:p>
            <a:pPr marL="89535">
              <a:lnSpc>
                <a:spcPct val="100000"/>
              </a:lnSpc>
              <a:spcBef>
                <a:spcPts val="570"/>
              </a:spcBef>
            </a:pPr>
            <a:r>
              <a:rPr sz="1200" dirty="0">
                <a:latin typeface="FreeMono"/>
                <a:cs typeface="FreeMono"/>
              </a:rPr>
              <a:t>str = 'sun man mop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run'</a:t>
            </a:r>
            <a:endParaRPr sz="1200">
              <a:latin typeface="FreeMono"/>
              <a:cs typeface="FreeMono"/>
            </a:endParaRPr>
          </a:p>
          <a:p>
            <a:pPr marL="89535" marR="5020945">
              <a:lnSpc>
                <a:spcPct val="138900"/>
              </a:lnSpc>
              <a:tabLst>
                <a:tab pos="1003935" algn="l"/>
              </a:tabLst>
            </a:pPr>
            <a:r>
              <a:rPr sz="1200" dirty="0">
                <a:latin typeface="FreeMono"/>
                <a:cs typeface="FreeMono"/>
              </a:rPr>
              <a:t>result =	re.match(r'm\w\w',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str)  print(result)</a:t>
            </a:r>
            <a:endParaRPr sz="1200">
              <a:latin typeface="FreeMono"/>
              <a:cs typeface="FreeMon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9409" y="6121044"/>
            <a:ext cx="7199630" cy="575310"/>
            <a:chOff x="359409" y="6121044"/>
            <a:chExt cx="7199630" cy="575310"/>
          </a:xfrm>
        </p:grpSpPr>
        <p:sp>
          <p:nvSpPr>
            <p:cNvPr id="5" name="object 5"/>
            <p:cNvSpPr/>
            <p:nvPr/>
          </p:nvSpPr>
          <p:spPr>
            <a:xfrm>
              <a:off x="359409" y="6121044"/>
              <a:ext cx="7199630" cy="575310"/>
            </a:xfrm>
            <a:custGeom>
              <a:avLst/>
              <a:gdLst/>
              <a:ahLst/>
              <a:cxnLst/>
              <a:rect l="l" t="t" r="r" b="b"/>
              <a:pathLst>
                <a:path w="7199630" h="575309">
                  <a:moveTo>
                    <a:pt x="7104380" y="0"/>
                  </a:moveTo>
                  <a:lnTo>
                    <a:pt x="96519" y="0"/>
                  </a:lnTo>
                  <a:lnTo>
                    <a:pt x="61079" y="8096"/>
                  </a:lnTo>
                  <a:lnTo>
                    <a:pt x="30162" y="29527"/>
                  </a:lnTo>
                  <a:lnTo>
                    <a:pt x="8294" y="60007"/>
                  </a:lnTo>
                  <a:lnTo>
                    <a:pt x="0" y="95250"/>
                  </a:lnTo>
                  <a:lnTo>
                    <a:pt x="0" y="478790"/>
                  </a:lnTo>
                  <a:lnTo>
                    <a:pt x="8294" y="514230"/>
                  </a:lnTo>
                  <a:lnTo>
                    <a:pt x="30162" y="545147"/>
                  </a:lnTo>
                  <a:lnTo>
                    <a:pt x="61079" y="567015"/>
                  </a:lnTo>
                  <a:lnTo>
                    <a:pt x="96519" y="575310"/>
                  </a:lnTo>
                  <a:lnTo>
                    <a:pt x="7104380" y="575310"/>
                  </a:lnTo>
                  <a:lnTo>
                    <a:pt x="7139086" y="567015"/>
                  </a:lnTo>
                  <a:lnTo>
                    <a:pt x="7169626" y="545147"/>
                  </a:lnTo>
                  <a:lnTo>
                    <a:pt x="7191355" y="514230"/>
                  </a:lnTo>
                  <a:lnTo>
                    <a:pt x="7199630" y="478790"/>
                  </a:lnTo>
                  <a:lnTo>
                    <a:pt x="7199630" y="95250"/>
                  </a:lnTo>
                  <a:lnTo>
                    <a:pt x="7191355" y="60007"/>
                  </a:lnTo>
                  <a:lnTo>
                    <a:pt x="7169626" y="29527"/>
                  </a:lnTo>
                  <a:lnTo>
                    <a:pt x="7139086" y="8096"/>
                  </a:lnTo>
                  <a:lnTo>
                    <a:pt x="710438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9409" y="6121044"/>
              <a:ext cx="7199630" cy="575310"/>
            </a:xfrm>
            <a:custGeom>
              <a:avLst/>
              <a:gdLst/>
              <a:ahLst/>
              <a:cxnLst/>
              <a:rect l="l" t="t" r="r" b="b"/>
              <a:pathLst>
                <a:path w="7199630" h="575309">
                  <a:moveTo>
                    <a:pt x="96519" y="0"/>
                  </a:moveTo>
                  <a:lnTo>
                    <a:pt x="61079" y="8096"/>
                  </a:lnTo>
                  <a:lnTo>
                    <a:pt x="30162" y="29527"/>
                  </a:lnTo>
                  <a:lnTo>
                    <a:pt x="8294" y="60007"/>
                  </a:lnTo>
                  <a:lnTo>
                    <a:pt x="0" y="95250"/>
                  </a:lnTo>
                  <a:lnTo>
                    <a:pt x="0" y="478790"/>
                  </a:lnTo>
                  <a:lnTo>
                    <a:pt x="8294" y="514230"/>
                  </a:lnTo>
                  <a:lnTo>
                    <a:pt x="30162" y="545147"/>
                  </a:lnTo>
                  <a:lnTo>
                    <a:pt x="61079" y="567015"/>
                  </a:lnTo>
                  <a:lnTo>
                    <a:pt x="96519" y="575310"/>
                  </a:lnTo>
                  <a:lnTo>
                    <a:pt x="7104380" y="575310"/>
                  </a:lnTo>
                  <a:lnTo>
                    <a:pt x="7139086" y="567015"/>
                  </a:lnTo>
                  <a:lnTo>
                    <a:pt x="7169626" y="545147"/>
                  </a:lnTo>
                  <a:lnTo>
                    <a:pt x="7191355" y="514230"/>
                  </a:lnTo>
                  <a:lnTo>
                    <a:pt x="7199630" y="478790"/>
                  </a:lnTo>
                  <a:lnTo>
                    <a:pt x="7199630" y="95250"/>
                  </a:lnTo>
                  <a:lnTo>
                    <a:pt x="7191355" y="60007"/>
                  </a:lnTo>
                  <a:lnTo>
                    <a:pt x="7169626" y="29527"/>
                  </a:lnTo>
                  <a:lnTo>
                    <a:pt x="7139086" y="8096"/>
                  </a:lnTo>
                  <a:lnTo>
                    <a:pt x="7104380" y="0"/>
                  </a:lnTo>
                  <a:lnTo>
                    <a:pt x="96519" y="0"/>
                  </a:lnTo>
                  <a:close/>
                </a:path>
                <a:path w="7199630" h="575309">
                  <a:moveTo>
                    <a:pt x="0" y="0"/>
                  </a:moveTo>
                  <a:lnTo>
                    <a:pt x="0" y="0"/>
                  </a:lnTo>
                </a:path>
                <a:path w="7199630" h="575309">
                  <a:moveTo>
                    <a:pt x="7199630" y="575310"/>
                  </a:moveTo>
                  <a:lnTo>
                    <a:pt x="7199630" y="575310"/>
                  </a:lnTo>
                </a:path>
              </a:pathLst>
            </a:custGeom>
            <a:ln w="3175">
              <a:solidFill>
                <a:srgbClr val="0066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36880" y="6119774"/>
            <a:ext cx="3797300" cy="505459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match()</a:t>
            </a:r>
            <a:endParaRPr sz="1100">
              <a:latin typeface="FreeMono"/>
              <a:cs typeface="FreeMono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- Returns None, since the string is not</a:t>
            </a:r>
            <a:r>
              <a:rPr sz="11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found</a:t>
            </a:r>
            <a:endParaRPr sz="11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176174"/>
            <a:ext cx="323723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DejaVu Sans"/>
                <a:cs typeface="DejaVu Sans"/>
              </a:rPr>
              <a:t>R</a:t>
            </a:r>
            <a:r>
              <a:rPr dirty="0"/>
              <a:t>egular</a:t>
            </a:r>
            <a:r>
              <a:rPr spc="-50" dirty="0"/>
              <a:t> </a:t>
            </a:r>
            <a:r>
              <a:rPr b="1" spc="-10" dirty="0">
                <a:latin typeface="DejaVu Sans"/>
                <a:cs typeface="DejaVu Sans"/>
              </a:rPr>
              <a:t>E</a:t>
            </a:r>
            <a:r>
              <a:rPr spc="-10" dirty="0"/>
              <a:t>xpressions</a:t>
            </a:r>
            <a:endParaRPr sz="3200">
              <a:latin typeface="DejaVu Sans"/>
              <a:cs typeface="DejaVu Sans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xample-5:</a:t>
            </a:r>
            <a:r>
              <a:rPr sz="1800" dirty="0">
                <a:solidFill>
                  <a:srgbClr val="663399"/>
                </a:solidFill>
              </a:rPr>
              <a:t> </a:t>
            </a:r>
            <a:r>
              <a:rPr sz="1800" spc="-5" dirty="0">
                <a:solidFill>
                  <a:srgbClr val="663399"/>
                </a:solidFill>
              </a:rPr>
              <a:t>split()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4190" y="1193444"/>
            <a:ext cx="8135620" cy="1654810"/>
          </a:xfrm>
          <a:prstGeom prst="rect">
            <a:avLst/>
          </a:prstGeom>
          <a:solidFill>
            <a:srgbClr val="EDEDED"/>
          </a:solidFill>
          <a:ln w="3175">
            <a:solidFill>
              <a:srgbClr val="EC1B23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1200" dirty="0">
                <a:latin typeface="FreeMono"/>
                <a:cs typeface="FreeMono"/>
              </a:rPr>
              <a:t>import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</a:t>
            </a:r>
            <a:endParaRPr sz="1200">
              <a:latin typeface="FreeMono"/>
              <a:cs typeface="FreeMono"/>
            </a:endParaRPr>
          </a:p>
          <a:p>
            <a:pPr marL="89535" marR="3740785">
              <a:lnSpc>
                <a:spcPct val="138900"/>
              </a:lnSpc>
              <a:spcBef>
                <a:spcPts val="10"/>
              </a:spcBef>
            </a:pPr>
            <a:r>
              <a:rPr sz="1200" dirty="0">
                <a:latin typeface="FreeMono"/>
                <a:cs typeface="FreeMono"/>
              </a:rPr>
              <a:t>str = 'This; is the: "Core"</a:t>
            </a:r>
            <a:r>
              <a:rPr sz="1200" spc="-9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Python\'s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Lecturer'  result = re.split(r'\w+',</a:t>
            </a:r>
            <a:r>
              <a:rPr sz="1200" spc="-1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str)</a:t>
            </a:r>
            <a:endParaRPr sz="1200">
              <a:latin typeface="FreeMono"/>
              <a:cs typeface="FreeMono"/>
            </a:endParaRPr>
          </a:p>
          <a:p>
            <a:pPr marL="89535">
              <a:lnSpc>
                <a:spcPct val="100000"/>
              </a:lnSpc>
              <a:spcBef>
                <a:spcPts val="570"/>
              </a:spcBef>
            </a:pPr>
            <a:r>
              <a:rPr sz="1200" dirty="0">
                <a:latin typeface="FreeMono"/>
                <a:cs typeface="FreeMono"/>
              </a:rPr>
              <a:t>print(result)</a:t>
            </a:r>
            <a:endParaRPr sz="1200">
              <a:latin typeface="FreeMono"/>
              <a:cs typeface="FreeMon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9409" y="6121044"/>
            <a:ext cx="7199630" cy="575310"/>
            <a:chOff x="359409" y="6121044"/>
            <a:chExt cx="7199630" cy="575310"/>
          </a:xfrm>
        </p:grpSpPr>
        <p:sp>
          <p:nvSpPr>
            <p:cNvPr id="5" name="object 5"/>
            <p:cNvSpPr/>
            <p:nvPr/>
          </p:nvSpPr>
          <p:spPr>
            <a:xfrm>
              <a:off x="359409" y="6121044"/>
              <a:ext cx="7199630" cy="575310"/>
            </a:xfrm>
            <a:custGeom>
              <a:avLst/>
              <a:gdLst/>
              <a:ahLst/>
              <a:cxnLst/>
              <a:rect l="l" t="t" r="r" b="b"/>
              <a:pathLst>
                <a:path w="7199630" h="575309">
                  <a:moveTo>
                    <a:pt x="7104380" y="0"/>
                  </a:moveTo>
                  <a:lnTo>
                    <a:pt x="96519" y="0"/>
                  </a:lnTo>
                  <a:lnTo>
                    <a:pt x="61079" y="8096"/>
                  </a:lnTo>
                  <a:lnTo>
                    <a:pt x="30162" y="29527"/>
                  </a:lnTo>
                  <a:lnTo>
                    <a:pt x="8294" y="60007"/>
                  </a:lnTo>
                  <a:lnTo>
                    <a:pt x="0" y="95250"/>
                  </a:lnTo>
                  <a:lnTo>
                    <a:pt x="0" y="478790"/>
                  </a:lnTo>
                  <a:lnTo>
                    <a:pt x="8294" y="514230"/>
                  </a:lnTo>
                  <a:lnTo>
                    <a:pt x="30162" y="545147"/>
                  </a:lnTo>
                  <a:lnTo>
                    <a:pt x="61079" y="567015"/>
                  </a:lnTo>
                  <a:lnTo>
                    <a:pt x="96519" y="575310"/>
                  </a:lnTo>
                  <a:lnTo>
                    <a:pt x="7104380" y="575310"/>
                  </a:lnTo>
                  <a:lnTo>
                    <a:pt x="7139086" y="567015"/>
                  </a:lnTo>
                  <a:lnTo>
                    <a:pt x="7169626" y="545147"/>
                  </a:lnTo>
                  <a:lnTo>
                    <a:pt x="7191355" y="514230"/>
                  </a:lnTo>
                  <a:lnTo>
                    <a:pt x="7199630" y="478790"/>
                  </a:lnTo>
                  <a:lnTo>
                    <a:pt x="7199630" y="95250"/>
                  </a:lnTo>
                  <a:lnTo>
                    <a:pt x="7191355" y="60007"/>
                  </a:lnTo>
                  <a:lnTo>
                    <a:pt x="7169626" y="29527"/>
                  </a:lnTo>
                  <a:lnTo>
                    <a:pt x="7139086" y="8096"/>
                  </a:lnTo>
                  <a:lnTo>
                    <a:pt x="710438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9409" y="6121044"/>
              <a:ext cx="7199630" cy="575310"/>
            </a:xfrm>
            <a:custGeom>
              <a:avLst/>
              <a:gdLst/>
              <a:ahLst/>
              <a:cxnLst/>
              <a:rect l="l" t="t" r="r" b="b"/>
              <a:pathLst>
                <a:path w="7199630" h="575309">
                  <a:moveTo>
                    <a:pt x="96519" y="0"/>
                  </a:moveTo>
                  <a:lnTo>
                    <a:pt x="61079" y="8096"/>
                  </a:lnTo>
                  <a:lnTo>
                    <a:pt x="30162" y="29527"/>
                  </a:lnTo>
                  <a:lnTo>
                    <a:pt x="8294" y="60007"/>
                  </a:lnTo>
                  <a:lnTo>
                    <a:pt x="0" y="95250"/>
                  </a:lnTo>
                  <a:lnTo>
                    <a:pt x="0" y="478790"/>
                  </a:lnTo>
                  <a:lnTo>
                    <a:pt x="8294" y="514230"/>
                  </a:lnTo>
                  <a:lnTo>
                    <a:pt x="30162" y="545147"/>
                  </a:lnTo>
                  <a:lnTo>
                    <a:pt x="61079" y="567015"/>
                  </a:lnTo>
                  <a:lnTo>
                    <a:pt x="96519" y="575310"/>
                  </a:lnTo>
                  <a:lnTo>
                    <a:pt x="7104380" y="575310"/>
                  </a:lnTo>
                  <a:lnTo>
                    <a:pt x="7139086" y="567015"/>
                  </a:lnTo>
                  <a:lnTo>
                    <a:pt x="7169626" y="545147"/>
                  </a:lnTo>
                  <a:lnTo>
                    <a:pt x="7191355" y="514230"/>
                  </a:lnTo>
                  <a:lnTo>
                    <a:pt x="7199630" y="478790"/>
                  </a:lnTo>
                  <a:lnTo>
                    <a:pt x="7199630" y="95250"/>
                  </a:lnTo>
                  <a:lnTo>
                    <a:pt x="7191355" y="60007"/>
                  </a:lnTo>
                  <a:lnTo>
                    <a:pt x="7169626" y="29527"/>
                  </a:lnTo>
                  <a:lnTo>
                    <a:pt x="7139086" y="8096"/>
                  </a:lnTo>
                  <a:lnTo>
                    <a:pt x="7104380" y="0"/>
                  </a:lnTo>
                  <a:lnTo>
                    <a:pt x="96519" y="0"/>
                  </a:lnTo>
                  <a:close/>
                </a:path>
                <a:path w="7199630" h="575309">
                  <a:moveTo>
                    <a:pt x="0" y="0"/>
                  </a:moveTo>
                  <a:lnTo>
                    <a:pt x="0" y="0"/>
                  </a:lnTo>
                </a:path>
                <a:path w="7199630" h="575309">
                  <a:moveTo>
                    <a:pt x="7199630" y="575310"/>
                  </a:moveTo>
                  <a:lnTo>
                    <a:pt x="7199630" y="575310"/>
                  </a:lnTo>
                </a:path>
              </a:pathLst>
            </a:custGeom>
            <a:ln w="3175">
              <a:solidFill>
                <a:srgbClr val="0066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36880" y="6119774"/>
            <a:ext cx="4803140" cy="505459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split()</a:t>
            </a:r>
            <a:endParaRPr sz="1100">
              <a:latin typeface="FreeMono"/>
              <a:cs typeface="FreeMono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- splits the string into pieces according to the given</a:t>
            </a:r>
            <a:r>
              <a:rPr sz="11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RE</a:t>
            </a:r>
            <a:endParaRPr sz="1100">
              <a:latin typeface="FreeMono"/>
              <a:cs typeface="Free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0540" y="3029864"/>
            <a:ext cx="105410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1120" dirty="0">
                <a:latin typeface="OpenSymbol"/>
                <a:cs typeface="OpenSymbol"/>
              </a:rPr>
              <a:t></a:t>
            </a:r>
            <a:endParaRPr sz="600">
              <a:latin typeface="OpenSymbol"/>
              <a:cs typeface="Open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5169" y="2985414"/>
            <a:ext cx="15170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Liberation Serif"/>
                <a:cs typeface="Liberation Serif"/>
              </a:rPr>
              <a:t>split() - splits the</a:t>
            </a:r>
            <a:r>
              <a:rPr sz="1400" spc="-60" dirty="0">
                <a:latin typeface="Liberation Serif"/>
                <a:cs typeface="Liberation Serif"/>
              </a:rPr>
              <a:t> </a:t>
            </a:r>
            <a:r>
              <a:rPr sz="1400" dirty="0">
                <a:latin typeface="Liberation Serif"/>
                <a:cs typeface="Liberation Serif"/>
              </a:rPr>
              <a:t>RE</a:t>
            </a:r>
            <a:endParaRPr sz="1400">
              <a:latin typeface="Liberation Serif"/>
              <a:cs typeface="Liberation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6440" y="3349904"/>
            <a:ext cx="105410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1120" dirty="0">
                <a:latin typeface="OpenSymbol"/>
                <a:cs typeface="OpenSymbol"/>
              </a:rPr>
              <a:t></a:t>
            </a:r>
            <a:endParaRPr sz="600">
              <a:latin typeface="OpenSymbol"/>
              <a:cs typeface="Open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1069" y="3197504"/>
            <a:ext cx="3450590" cy="6654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dirty="0">
                <a:latin typeface="Liberation Serif"/>
                <a:cs typeface="Liberation Serif"/>
              </a:rPr>
              <a:t>W : Split at non-alphanumeric</a:t>
            </a:r>
            <a:r>
              <a:rPr sz="1400" spc="-35" dirty="0">
                <a:latin typeface="Liberation Serif"/>
                <a:cs typeface="Liberation Serif"/>
              </a:rPr>
              <a:t> </a:t>
            </a:r>
            <a:r>
              <a:rPr sz="1400" spc="-5" dirty="0">
                <a:latin typeface="Liberation Serif"/>
                <a:cs typeface="Liberation Serif"/>
              </a:rPr>
              <a:t>character</a:t>
            </a:r>
            <a:endParaRPr sz="1400">
              <a:latin typeface="Liberation Serif"/>
              <a:cs typeface="Liberation Serif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  <a:tabLst>
                <a:tab pos="245745" algn="l"/>
              </a:tabLst>
            </a:pPr>
            <a:r>
              <a:rPr sz="1400" dirty="0">
                <a:latin typeface="Liberation Serif"/>
                <a:cs typeface="Liberation Serif"/>
              </a:rPr>
              <a:t>+	: Match 1 or more occurrences of</a:t>
            </a:r>
            <a:r>
              <a:rPr sz="1400" spc="-85" dirty="0">
                <a:latin typeface="Liberation Serif"/>
                <a:cs typeface="Liberation Serif"/>
              </a:rPr>
              <a:t> </a:t>
            </a:r>
            <a:r>
              <a:rPr sz="1400" dirty="0">
                <a:latin typeface="Liberation Serif"/>
                <a:cs typeface="Liberation Serif"/>
              </a:rPr>
              <a:t>characters</a:t>
            </a:r>
            <a:endParaRPr sz="1400">
              <a:latin typeface="Liberation Serif"/>
              <a:cs typeface="Liberation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6440" y="3668674"/>
            <a:ext cx="105410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1120" dirty="0">
                <a:latin typeface="OpenSymbol"/>
                <a:cs typeface="OpenSymbol"/>
              </a:rPr>
              <a:t></a:t>
            </a:r>
            <a:endParaRPr sz="600">
              <a:latin typeface="OpenSymbol"/>
              <a:cs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176174"/>
            <a:ext cx="383603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DejaVu Sans"/>
                <a:cs typeface="DejaVu Sans"/>
              </a:rPr>
              <a:t>R</a:t>
            </a:r>
            <a:r>
              <a:rPr dirty="0"/>
              <a:t>egular </a:t>
            </a:r>
            <a:r>
              <a:rPr b="1" spc="-10" dirty="0">
                <a:latin typeface="DejaVu Sans"/>
                <a:cs typeface="DejaVu Sans"/>
              </a:rPr>
              <a:t>E</a:t>
            </a:r>
            <a:r>
              <a:rPr spc="-10" dirty="0"/>
              <a:t>xpressions</a:t>
            </a:r>
            <a:endParaRPr sz="3200">
              <a:latin typeface="DejaVu Sans"/>
              <a:cs typeface="DejaVu Sans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xample-6: </a:t>
            </a:r>
            <a:r>
              <a:rPr sz="1800" spc="-35" dirty="0">
                <a:solidFill>
                  <a:srgbClr val="663399"/>
                </a:solidFill>
              </a:rPr>
              <a:t>Find </a:t>
            </a:r>
            <a:r>
              <a:rPr sz="1800" dirty="0">
                <a:solidFill>
                  <a:srgbClr val="663399"/>
                </a:solidFill>
              </a:rPr>
              <a:t>&amp; </a:t>
            </a:r>
            <a:r>
              <a:rPr sz="1800" spc="-15" dirty="0">
                <a:solidFill>
                  <a:srgbClr val="663399"/>
                </a:solidFill>
              </a:rPr>
              <a:t>Replace:</a:t>
            </a:r>
            <a:r>
              <a:rPr sz="1800" spc="-30" dirty="0">
                <a:solidFill>
                  <a:srgbClr val="663399"/>
                </a:solidFill>
              </a:rPr>
              <a:t> </a:t>
            </a:r>
            <a:r>
              <a:rPr sz="1800" spc="-5" dirty="0">
                <a:solidFill>
                  <a:srgbClr val="663399"/>
                </a:solidFill>
              </a:rPr>
              <a:t>sub()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4190" y="1193444"/>
            <a:ext cx="8135620" cy="1654810"/>
          </a:xfrm>
          <a:prstGeom prst="rect">
            <a:avLst/>
          </a:prstGeom>
          <a:solidFill>
            <a:srgbClr val="EDEDED"/>
          </a:solidFill>
          <a:ln w="3175">
            <a:solidFill>
              <a:srgbClr val="EC1B23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1200" dirty="0">
                <a:latin typeface="FreeMono"/>
                <a:cs typeface="FreeMono"/>
              </a:rPr>
              <a:t>import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</a:t>
            </a:r>
            <a:endParaRPr sz="1200">
              <a:latin typeface="FreeMono"/>
              <a:cs typeface="FreeMono"/>
            </a:endParaRPr>
          </a:p>
          <a:p>
            <a:pPr marL="89535" marR="2734945">
              <a:lnSpc>
                <a:spcPct val="138900"/>
              </a:lnSpc>
              <a:spcBef>
                <a:spcPts val="10"/>
              </a:spcBef>
            </a:pPr>
            <a:r>
              <a:rPr sz="1200" dirty="0">
                <a:latin typeface="FreeMono"/>
                <a:cs typeface="FreeMono"/>
              </a:rPr>
              <a:t>str = 'Kumbhmela will be conducted at Ahmedabad</a:t>
            </a:r>
            <a:r>
              <a:rPr sz="1200" spc="-9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in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India.'  res = re.sub(r'Ahmedabad', 'Allahabad',</a:t>
            </a:r>
            <a:r>
              <a:rPr sz="1200" spc="-2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str)</a:t>
            </a:r>
            <a:endParaRPr sz="1200">
              <a:latin typeface="FreeMono"/>
              <a:cs typeface="FreeMono"/>
            </a:endParaRPr>
          </a:p>
          <a:p>
            <a:pPr marL="89535">
              <a:lnSpc>
                <a:spcPct val="100000"/>
              </a:lnSpc>
              <a:spcBef>
                <a:spcPts val="570"/>
              </a:spcBef>
            </a:pPr>
            <a:r>
              <a:rPr sz="1200" dirty="0">
                <a:latin typeface="FreeMono"/>
                <a:cs typeface="FreeMono"/>
              </a:rPr>
              <a:t>print(res)</a:t>
            </a:r>
            <a:endParaRPr sz="1200">
              <a:latin typeface="FreeMono"/>
              <a:cs typeface="FreeMon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9409" y="6121044"/>
            <a:ext cx="7199630" cy="575310"/>
            <a:chOff x="359409" y="6121044"/>
            <a:chExt cx="7199630" cy="575310"/>
          </a:xfrm>
        </p:grpSpPr>
        <p:sp>
          <p:nvSpPr>
            <p:cNvPr id="5" name="object 5"/>
            <p:cNvSpPr/>
            <p:nvPr/>
          </p:nvSpPr>
          <p:spPr>
            <a:xfrm>
              <a:off x="359409" y="6121044"/>
              <a:ext cx="7199630" cy="575310"/>
            </a:xfrm>
            <a:custGeom>
              <a:avLst/>
              <a:gdLst/>
              <a:ahLst/>
              <a:cxnLst/>
              <a:rect l="l" t="t" r="r" b="b"/>
              <a:pathLst>
                <a:path w="7199630" h="575309">
                  <a:moveTo>
                    <a:pt x="7104380" y="0"/>
                  </a:moveTo>
                  <a:lnTo>
                    <a:pt x="96519" y="0"/>
                  </a:lnTo>
                  <a:lnTo>
                    <a:pt x="61079" y="8096"/>
                  </a:lnTo>
                  <a:lnTo>
                    <a:pt x="30162" y="29527"/>
                  </a:lnTo>
                  <a:lnTo>
                    <a:pt x="8294" y="60007"/>
                  </a:lnTo>
                  <a:lnTo>
                    <a:pt x="0" y="95250"/>
                  </a:lnTo>
                  <a:lnTo>
                    <a:pt x="0" y="478790"/>
                  </a:lnTo>
                  <a:lnTo>
                    <a:pt x="8294" y="514230"/>
                  </a:lnTo>
                  <a:lnTo>
                    <a:pt x="30162" y="545147"/>
                  </a:lnTo>
                  <a:lnTo>
                    <a:pt x="61079" y="567015"/>
                  </a:lnTo>
                  <a:lnTo>
                    <a:pt x="96519" y="575310"/>
                  </a:lnTo>
                  <a:lnTo>
                    <a:pt x="7104380" y="575310"/>
                  </a:lnTo>
                  <a:lnTo>
                    <a:pt x="7139086" y="567015"/>
                  </a:lnTo>
                  <a:lnTo>
                    <a:pt x="7169626" y="545147"/>
                  </a:lnTo>
                  <a:lnTo>
                    <a:pt x="7191355" y="514230"/>
                  </a:lnTo>
                  <a:lnTo>
                    <a:pt x="7199630" y="478790"/>
                  </a:lnTo>
                  <a:lnTo>
                    <a:pt x="7199630" y="95250"/>
                  </a:lnTo>
                  <a:lnTo>
                    <a:pt x="7191355" y="60007"/>
                  </a:lnTo>
                  <a:lnTo>
                    <a:pt x="7169626" y="29527"/>
                  </a:lnTo>
                  <a:lnTo>
                    <a:pt x="7139086" y="8096"/>
                  </a:lnTo>
                  <a:lnTo>
                    <a:pt x="710438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9409" y="6121044"/>
              <a:ext cx="7199630" cy="575310"/>
            </a:xfrm>
            <a:custGeom>
              <a:avLst/>
              <a:gdLst/>
              <a:ahLst/>
              <a:cxnLst/>
              <a:rect l="l" t="t" r="r" b="b"/>
              <a:pathLst>
                <a:path w="7199630" h="575309">
                  <a:moveTo>
                    <a:pt x="96519" y="0"/>
                  </a:moveTo>
                  <a:lnTo>
                    <a:pt x="61079" y="8096"/>
                  </a:lnTo>
                  <a:lnTo>
                    <a:pt x="30162" y="29527"/>
                  </a:lnTo>
                  <a:lnTo>
                    <a:pt x="8294" y="60007"/>
                  </a:lnTo>
                  <a:lnTo>
                    <a:pt x="0" y="95250"/>
                  </a:lnTo>
                  <a:lnTo>
                    <a:pt x="0" y="478790"/>
                  </a:lnTo>
                  <a:lnTo>
                    <a:pt x="8294" y="514230"/>
                  </a:lnTo>
                  <a:lnTo>
                    <a:pt x="30162" y="545147"/>
                  </a:lnTo>
                  <a:lnTo>
                    <a:pt x="61079" y="567015"/>
                  </a:lnTo>
                  <a:lnTo>
                    <a:pt x="96519" y="575310"/>
                  </a:lnTo>
                  <a:lnTo>
                    <a:pt x="7104380" y="575310"/>
                  </a:lnTo>
                  <a:lnTo>
                    <a:pt x="7139086" y="567015"/>
                  </a:lnTo>
                  <a:lnTo>
                    <a:pt x="7169626" y="545147"/>
                  </a:lnTo>
                  <a:lnTo>
                    <a:pt x="7191355" y="514230"/>
                  </a:lnTo>
                  <a:lnTo>
                    <a:pt x="7199630" y="478790"/>
                  </a:lnTo>
                  <a:lnTo>
                    <a:pt x="7199630" y="95250"/>
                  </a:lnTo>
                  <a:lnTo>
                    <a:pt x="7191355" y="60007"/>
                  </a:lnTo>
                  <a:lnTo>
                    <a:pt x="7169626" y="29527"/>
                  </a:lnTo>
                  <a:lnTo>
                    <a:pt x="7139086" y="8096"/>
                  </a:lnTo>
                  <a:lnTo>
                    <a:pt x="7104380" y="0"/>
                  </a:lnTo>
                  <a:lnTo>
                    <a:pt x="96519" y="0"/>
                  </a:lnTo>
                  <a:close/>
                </a:path>
                <a:path w="7199630" h="575309">
                  <a:moveTo>
                    <a:pt x="0" y="0"/>
                  </a:moveTo>
                  <a:lnTo>
                    <a:pt x="0" y="0"/>
                  </a:lnTo>
                </a:path>
                <a:path w="7199630" h="575309">
                  <a:moveTo>
                    <a:pt x="7199630" y="575310"/>
                  </a:moveTo>
                  <a:lnTo>
                    <a:pt x="7199630" y="575310"/>
                  </a:lnTo>
                </a:path>
              </a:pathLst>
            </a:custGeom>
            <a:ln w="3175">
              <a:solidFill>
                <a:srgbClr val="0066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36880" y="6173114"/>
            <a:ext cx="2037080" cy="505459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Syntax:</a:t>
            </a:r>
            <a:endParaRPr sz="1100">
              <a:latin typeface="FreeMono"/>
              <a:cs typeface="FreeMono"/>
            </a:endParaRPr>
          </a:p>
          <a:p>
            <a:pPr marL="598805">
              <a:lnSpc>
                <a:spcPct val="100000"/>
              </a:lnSpc>
              <a:spcBef>
                <a:spcPts val="570"/>
              </a:spcBef>
            </a:pPr>
            <a:r>
              <a:rPr sz="1100" spc="-5" dirty="0">
                <a:solidFill>
                  <a:srgbClr val="CC0066"/>
                </a:solidFill>
                <a:latin typeface="FreeMono"/>
                <a:cs typeface="FreeMono"/>
              </a:rPr>
              <a:t>sub(RE, new,</a:t>
            </a:r>
            <a:r>
              <a:rPr sz="1100" spc="-3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spc="-5" dirty="0">
                <a:solidFill>
                  <a:srgbClr val="CC0066"/>
                </a:solidFill>
                <a:latin typeface="FreeMono"/>
                <a:cs typeface="FreeMono"/>
              </a:rPr>
              <a:t>old)</a:t>
            </a:r>
            <a:endParaRPr sz="11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910" y="4660544"/>
            <a:ext cx="52705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latin typeface="DejaVu Sans"/>
                <a:cs typeface="DejaVu Sans"/>
              </a:rPr>
              <a:t>RE: </a:t>
            </a:r>
            <a:r>
              <a:rPr sz="3200" spc="-10" dirty="0">
                <a:solidFill>
                  <a:srgbClr val="FFFFFF"/>
                </a:solidFill>
                <a:latin typeface="DejaVu Sans"/>
                <a:cs typeface="DejaVu Sans"/>
              </a:rPr>
              <a:t>Sequence</a:t>
            </a:r>
            <a:r>
              <a:rPr sz="3200" spc="-4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DejaVu Sans"/>
                <a:cs typeface="DejaVu Sans"/>
              </a:rPr>
              <a:t>Characters</a:t>
            </a:r>
            <a:endParaRPr sz="3200"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191414"/>
            <a:ext cx="38785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RE: </a:t>
            </a:r>
            <a:r>
              <a:rPr spc="-5" dirty="0"/>
              <a:t>sequence</a:t>
            </a:r>
            <a:r>
              <a:rPr spc="-50" dirty="0"/>
              <a:t> </a:t>
            </a:r>
            <a:r>
              <a:rPr spc="-5" dirty="0"/>
              <a:t>characters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8150" y="1301394"/>
            <a:ext cx="105410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1120" dirty="0">
                <a:latin typeface="OpenSymbol"/>
                <a:cs typeface="OpenSymbol"/>
              </a:rPr>
              <a:t></a:t>
            </a:r>
            <a:endParaRPr sz="600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2780" y="1256944"/>
            <a:ext cx="27482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Liberation Serif"/>
                <a:cs typeface="Liberation Serif"/>
              </a:rPr>
              <a:t>Match only one character in the</a:t>
            </a:r>
            <a:r>
              <a:rPr sz="1400" spc="-35" dirty="0">
                <a:latin typeface="Liberation Serif"/>
                <a:cs typeface="Liberation Serif"/>
              </a:rPr>
              <a:t> </a:t>
            </a:r>
            <a:r>
              <a:rPr sz="1400" dirty="0">
                <a:latin typeface="Liberation Serif"/>
                <a:cs typeface="Liberation Serif"/>
              </a:rPr>
              <a:t>string</a:t>
            </a:r>
            <a:endParaRPr sz="1400">
              <a:latin typeface="Liberation Serif"/>
              <a:cs typeface="Liberation Serif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31800" y="1656994"/>
          <a:ext cx="8280400" cy="43345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3795"/>
                <a:gridCol w="7126605"/>
              </a:tblGrid>
              <a:tr h="4457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Character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8255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spc="-5" dirty="0">
                          <a:latin typeface="FreeMono"/>
                          <a:cs typeface="FreeMono"/>
                        </a:rPr>
                        <a:t>Description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B2B2B2"/>
                    </a:solidFill>
                  </a:tcPr>
                </a:tc>
              </a:tr>
              <a:tr h="433069">
                <a:tc>
                  <a:txBody>
                    <a:bodyPr/>
                    <a:lstStyle/>
                    <a:p>
                      <a:pPr marL="8255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\d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27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Represents any digit(0 -</a:t>
                      </a:r>
                      <a:r>
                        <a:rPr sz="1300" spc="-1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9)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2700" marB="0">
                    <a:solidFill>
                      <a:srgbClr val="CCCCCC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8255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\D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Represents any</a:t>
                      </a:r>
                      <a:r>
                        <a:rPr sz="1300" spc="-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non-digit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E5E5E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8255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\s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Represents white space Ex:</a:t>
                      </a:r>
                      <a:r>
                        <a:rPr sz="1300" spc="-1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\t\n\r\f\v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CCCCCC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8255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\S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Represents non-white space</a:t>
                      </a:r>
                      <a:r>
                        <a:rPr sz="1300" spc="-1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character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E5E5E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8255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\w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Represents any alphanumeric(A-Z, a-z,</a:t>
                      </a:r>
                      <a:r>
                        <a:rPr sz="1300" spc="-1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0-9)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CCCCCC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8255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\W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Represents</a:t>
                      </a:r>
                      <a:r>
                        <a:rPr sz="1300" spc="-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non-alphanumeric\b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E5E5E5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marL="8255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\b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27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Represents a space around</a:t>
                      </a:r>
                      <a:r>
                        <a:rPr sz="1300" spc="-1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words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2700" marB="0">
                    <a:solidFill>
                      <a:srgbClr val="CCCCCC"/>
                    </a:solidFill>
                  </a:tcPr>
                </a:tc>
              </a:tr>
              <a:tr h="431799">
                <a:tc>
                  <a:txBody>
                    <a:bodyPr/>
                    <a:lstStyle/>
                    <a:p>
                      <a:pPr marL="8255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\A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Matches only at start of the</a:t>
                      </a:r>
                      <a:r>
                        <a:rPr sz="1300" spc="-1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string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E5E5E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8255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\Z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Matches only at end of the</a:t>
                      </a:r>
                      <a:r>
                        <a:rPr sz="1300" spc="-1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string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99974"/>
            <a:ext cx="387857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RE: </a:t>
            </a:r>
            <a:r>
              <a:rPr spc="-5" dirty="0"/>
              <a:t>sequence</a:t>
            </a:r>
            <a:r>
              <a:rPr spc="-50" dirty="0"/>
              <a:t> </a:t>
            </a:r>
            <a:r>
              <a:rPr spc="-5" dirty="0"/>
              <a:t>characters</a:t>
            </a: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xample-1: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4190" y="1481734"/>
            <a:ext cx="8135620" cy="1830070"/>
          </a:xfrm>
          <a:prstGeom prst="rect">
            <a:avLst/>
          </a:prstGeom>
          <a:solidFill>
            <a:srgbClr val="EDEDED"/>
          </a:solidFill>
          <a:ln w="3175">
            <a:solidFill>
              <a:srgbClr val="EC1B2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1200" dirty="0">
                <a:latin typeface="FreeMono"/>
                <a:cs typeface="FreeMono"/>
              </a:rPr>
              <a:t>import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</a:t>
            </a:r>
            <a:endParaRPr sz="1200">
              <a:latin typeface="FreeMono"/>
              <a:cs typeface="FreeMono"/>
            </a:endParaRPr>
          </a:p>
          <a:p>
            <a:pPr marL="89535" marR="4015104">
              <a:lnSpc>
                <a:spcPct val="138900"/>
              </a:lnSpc>
              <a:spcBef>
                <a:spcPts val="10"/>
              </a:spcBef>
            </a:pPr>
            <a:r>
              <a:rPr sz="1200" dirty="0">
                <a:latin typeface="FreeMono"/>
                <a:cs typeface="FreeMono"/>
              </a:rPr>
              <a:t>str = 'an apple a day keeps the</a:t>
            </a:r>
            <a:r>
              <a:rPr sz="1200" spc="-9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doctor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away'  result = re.findall(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r'a[\w]*'</a:t>
            </a:r>
            <a:r>
              <a:rPr sz="1200" dirty="0">
                <a:latin typeface="FreeMono"/>
                <a:cs typeface="FreeMono"/>
              </a:rPr>
              <a:t>,</a:t>
            </a:r>
            <a:r>
              <a:rPr sz="1200" spc="-2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str)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</a:pPr>
            <a:endParaRPr sz="1200">
              <a:latin typeface="FreeMono"/>
              <a:cs typeface="FreeMono"/>
            </a:endParaRPr>
          </a:p>
          <a:p>
            <a:pPr marL="89535" marR="2643505">
              <a:lnSpc>
                <a:spcPct val="138900"/>
              </a:lnSpc>
              <a:spcBef>
                <a:spcPts val="81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 findall() returns a list, retrieve the elements</a:t>
            </a:r>
            <a:r>
              <a:rPr sz="1200" spc="-9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from</a:t>
            </a:r>
            <a:r>
              <a:rPr sz="1200" spc="-1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list  </a:t>
            </a:r>
            <a:r>
              <a:rPr sz="1200" dirty="0">
                <a:latin typeface="FreeMono"/>
                <a:cs typeface="FreeMono"/>
              </a:rPr>
              <a:t>for word in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result: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269" y="3241954"/>
            <a:ext cx="7249159" cy="57150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450215">
              <a:lnSpc>
                <a:spcPct val="100000"/>
              </a:lnSpc>
              <a:spcBef>
                <a:spcPts val="810"/>
              </a:spcBef>
            </a:pPr>
            <a:r>
              <a:rPr sz="1200" dirty="0">
                <a:latin typeface="FreeMono"/>
                <a:cs typeface="FreeMono"/>
              </a:rPr>
              <a:t>print(word)</a:t>
            </a:r>
            <a:endParaRPr sz="1200">
              <a:latin typeface="FreeMono"/>
              <a:cs typeface="FreeMono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To match all words starting with ‘a’, not sub-words then RE will look like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this</a:t>
            </a:r>
            <a:endParaRPr sz="1200">
              <a:latin typeface="FreeMono"/>
              <a:cs typeface="FreeMon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60679" y="6121044"/>
            <a:ext cx="7199630" cy="575310"/>
            <a:chOff x="360679" y="6121044"/>
            <a:chExt cx="7199630" cy="575310"/>
          </a:xfrm>
        </p:grpSpPr>
        <p:sp>
          <p:nvSpPr>
            <p:cNvPr id="6" name="object 6"/>
            <p:cNvSpPr/>
            <p:nvPr/>
          </p:nvSpPr>
          <p:spPr>
            <a:xfrm>
              <a:off x="360679" y="6121044"/>
              <a:ext cx="7198359" cy="575310"/>
            </a:xfrm>
            <a:custGeom>
              <a:avLst/>
              <a:gdLst/>
              <a:ahLst/>
              <a:cxnLst/>
              <a:rect l="l" t="t" r="r" b="b"/>
              <a:pathLst>
                <a:path w="7198359" h="575309">
                  <a:moveTo>
                    <a:pt x="7103110" y="0"/>
                  </a:moveTo>
                  <a:lnTo>
                    <a:pt x="95250" y="0"/>
                  </a:lnTo>
                  <a:lnTo>
                    <a:pt x="60007" y="8274"/>
                  </a:lnTo>
                  <a:lnTo>
                    <a:pt x="29527" y="30003"/>
                  </a:lnTo>
                  <a:lnTo>
                    <a:pt x="8096" y="60543"/>
                  </a:lnTo>
                  <a:lnTo>
                    <a:pt x="0" y="95250"/>
                  </a:lnTo>
                  <a:lnTo>
                    <a:pt x="0" y="480059"/>
                  </a:lnTo>
                  <a:lnTo>
                    <a:pt x="8096" y="514766"/>
                  </a:lnTo>
                  <a:lnTo>
                    <a:pt x="29527" y="545306"/>
                  </a:lnTo>
                  <a:lnTo>
                    <a:pt x="60007" y="567035"/>
                  </a:lnTo>
                  <a:lnTo>
                    <a:pt x="95250" y="575310"/>
                  </a:lnTo>
                  <a:lnTo>
                    <a:pt x="7103110" y="575310"/>
                  </a:lnTo>
                  <a:lnTo>
                    <a:pt x="7137816" y="567035"/>
                  </a:lnTo>
                  <a:lnTo>
                    <a:pt x="7168356" y="545306"/>
                  </a:lnTo>
                  <a:lnTo>
                    <a:pt x="7190085" y="514766"/>
                  </a:lnTo>
                  <a:lnTo>
                    <a:pt x="7198360" y="480059"/>
                  </a:lnTo>
                  <a:lnTo>
                    <a:pt x="7198360" y="95250"/>
                  </a:lnTo>
                  <a:lnTo>
                    <a:pt x="7190085" y="60543"/>
                  </a:lnTo>
                  <a:lnTo>
                    <a:pt x="7168356" y="30003"/>
                  </a:lnTo>
                  <a:lnTo>
                    <a:pt x="7137816" y="8274"/>
                  </a:lnTo>
                  <a:lnTo>
                    <a:pt x="710311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0679" y="6121044"/>
              <a:ext cx="7199630" cy="575310"/>
            </a:xfrm>
            <a:custGeom>
              <a:avLst/>
              <a:gdLst/>
              <a:ahLst/>
              <a:cxnLst/>
              <a:rect l="l" t="t" r="r" b="b"/>
              <a:pathLst>
                <a:path w="7199630" h="575309">
                  <a:moveTo>
                    <a:pt x="95250" y="0"/>
                  </a:moveTo>
                  <a:lnTo>
                    <a:pt x="60007" y="8274"/>
                  </a:lnTo>
                  <a:lnTo>
                    <a:pt x="29527" y="30003"/>
                  </a:lnTo>
                  <a:lnTo>
                    <a:pt x="8096" y="60543"/>
                  </a:lnTo>
                  <a:lnTo>
                    <a:pt x="0" y="95250"/>
                  </a:lnTo>
                  <a:lnTo>
                    <a:pt x="0" y="480059"/>
                  </a:lnTo>
                  <a:lnTo>
                    <a:pt x="8096" y="514766"/>
                  </a:lnTo>
                  <a:lnTo>
                    <a:pt x="29527" y="545306"/>
                  </a:lnTo>
                  <a:lnTo>
                    <a:pt x="60007" y="567035"/>
                  </a:lnTo>
                  <a:lnTo>
                    <a:pt x="95250" y="575310"/>
                  </a:lnTo>
                  <a:lnTo>
                    <a:pt x="7103110" y="575310"/>
                  </a:lnTo>
                  <a:lnTo>
                    <a:pt x="7137816" y="567035"/>
                  </a:lnTo>
                  <a:lnTo>
                    <a:pt x="7168356" y="545306"/>
                  </a:lnTo>
                  <a:lnTo>
                    <a:pt x="7190085" y="514766"/>
                  </a:lnTo>
                  <a:lnTo>
                    <a:pt x="7198360" y="480059"/>
                  </a:lnTo>
                  <a:lnTo>
                    <a:pt x="7198360" y="95250"/>
                  </a:lnTo>
                  <a:lnTo>
                    <a:pt x="7190085" y="60543"/>
                  </a:lnTo>
                  <a:lnTo>
                    <a:pt x="7168356" y="30003"/>
                  </a:lnTo>
                  <a:lnTo>
                    <a:pt x="7137816" y="8274"/>
                  </a:lnTo>
                  <a:lnTo>
                    <a:pt x="7103110" y="0"/>
                  </a:lnTo>
                  <a:lnTo>
                    <a:pt x="95250" y="0"/>
                  </a:lnTo>
                  <a:close/>
                </a:path>
                <a:path w="7199630" h="575309">
                  <a:moveTo>
                    <a:pt x="0" y="0"/>
                  </a:moveTo>
                  <a:lnTo>
                    <a:pt x="0" y="0"/>
                  </a:lnTo>
                </a:path>
                <a:path w="7199630" h="575309">
                  <a:moveTo>
                    <a:pt x="7199630" y="575310"/>
                  </a:moveTo>
                  <a:lnTo>
                    <a:pt x="7199630" y="575310"/>
                  </a:lnTo>
                </a:path>
              </a:pathLst>
            </a:custGeom>
            <a:ln w="3175">
              <a:solidFill>
                <a:srgbClr val="0066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38150" y="6366154"/>
            <a:ext cx="44678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* Matches with 0 or more occurrences of the</a:t>
            </a:r>
            <a:r>
              <a:rPr sz="11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character</a:t>
            </a:r>
            <a:endParaRPr sz="1100">
              <a:latin typeface="FreeMono"/>
              <a:cs typeface="FreeMo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9269" y="1184554"/>
            <a:ext cx="33172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To match all words starting with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‘a’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4190" y="3856634"/>
            <a:ext cx="8135620" cy="1831339"/>
          </a:xfrm>
          <a:prstGeom prst="rect">
            <a:avLst/>
          </a:prstGeom>
          <a:solidFill>
            <a:srgbClr val="EDEDED"/>
          </a:solidFill>
          <a:ln w="3175">
            <a:solidFill>
              <a:srgbClr val="EC1B2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1200" dirty="0">
                <a:latin typeface="FreeMono"/>
                <a:cs typeface="FreeMono"/>
              </a:rPr>
              <a:t>import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</a:t>
            </a:r>
            <a:endParaRPr sz="1200">
              <a:latin typeface="FreeMono"/>
              <a:cs typeface="FreeMono"/>
            </a:endParaRPr>
          </a:p>
          <a:p>
            <a:pPr marL="89535" marR="4015104">
              <a:lnSpc>
                <a:spcPct val="138900"/>
              </a:lnSpc>
              <a:spcBef>
                <a:spcPts val="10"/>
              </a:spcBef>
            </a:pPr>
            <a:r>
              <a:rPr sz="1200" dirty="0">
                <a:latin typeface="FreeMono"/>
                <a:cs typeface="FreeMono"/>
              </a:rPr>
              <a:t>str = 'an apple a day keeps the</a:t>
            </a:r>
            <a:r>
              <a:rPr sz="1200" spc="-9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doctor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away'  result = re.findall(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r'\ba[\w]*\b'</a:t>
            </a:r>
            <a:r>
              <a:rPr sz="1200" dirty="0">
                <a:latin typeface="FreeMono"/>
                <a:cs typeface="FreeMono"/>
              </a:rPr>
              <a:t>,</a:t>
            </a:r>
            <a:r>
              <a:rPr sz="1200" spc="-4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str)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</a:pPr>
            <a:endParaRPr sz="1200">
              <a:latin typeface="FreeMono"/>
              <a:cs typeface="FreeMono"/>
            </a:endParaRPr>
          </a:p>
          <a:p>
            <a:pPr marL="89535" marR="2643505">
              <a:lnSpc>
                <a:spcPct val="138900"/>
              </a:lnSpc>
              <a:spcBef>
                <a:spcPts val="81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 findall() returns a list, retrieve the elements</a:t>
            </a:r>
            <a:r>
              <a:rPr sz="1200" spc="-9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from</a:t>
            </a:r>
            <a:r>
              <a:rPr sz="1200" spc="-1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list  </a:t>
            </a:r>
            <a:r>
              <a:rPr sz="1200" dirty="0">
                <a:latin typeface="FreeMono"/>
                <a:cs typeface="FreeMono"/>
              </a:rPr>
              <a:t>for word in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result: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7419" y="5708294"/>
            <a:ext cx="10312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print(word)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99974"/>
            <a:ext cx="387857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RE: </a:t>
            </a:r>
            <a:r>
              <a:rPr spc="-5" dirty="0"/>
              <a:t>sequence</a:t>
            </a:r>
            <a:r>
              <a:rPr spc="-50" dirty="0"/>
              <a:t> </a:t>
            </a:r>
            <a:r>
              <a:rPr spc="-5" dirty="0"/>
              <a:t>characters</a:t>
            </a: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xample-2: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4190" y="1481734"/>
            <a:ext cx="8135620" cy="1830070"/>
          </a:xfrm>
          <a:prstGeom prst="rect">
            <a:avLst/>
          </a:prstGeom>
          <a:solidFill>
            <a:srgbClr val="EDEDED"/>
          </a:solidFill>
          <a:ln w="3175">
            <a:solidFill>
              <a:srgbClr val="EC1B2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1200" dirty="0">
                <a:latin typeface="FreeMono"/>
                <a:cs typeface="FreeMono"/>
              </a:rPr>
              <a:t>import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</a:t>
            </a:r>
            <a:endParaRPr sz="1200">
              <a:latin typeface="FreeMono"/>
              <a:cs typeface="FreeMono"/>
            </a:endParaRPr>
          </a:p>
          <a:p>
            <a:pPr marL="89535" marR="1820545">
              <a:lnSpc>
                <a:spcPct val="178500"/>
              </a:lnSpc>
            </a:pPr>
            <a:r>
              <a:rPr sz="1200" dirty="0">
                <a:latin typeface="FreeMono"/>
                <a:cs typeface="FreeMono"/>
              </a:rPr>
              <a:t>str = 'The meeting will be conducted on 1st and 21st of</a:t>
            </a:r>
            <a:r>
              <a:rPr sz="1200" spc="-9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every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month'  result = re.findall(r'\d[\w]*',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str)</a:t>
            </a:r>
            <a:endParaRPr sz="1200">
              <a:latin typeface="FreeMono"/>
              <a:cs typeface="FreeMono"/>
            </a:endParaRPr>
          </a:p>
          <a:p>
            <a:pPr marL="89535" marR="6209665">
              <a:lnSpc>
                <a:spcPts val="2570"/>
              </a:lnSpc>
              <a:spcBef>
                <a:spcPts val="285"/>
              </a:spcBef>
            </a:pPr>
            <a:r>
              <a:rPr sz="1200" dirty="0">
                <a:latin typeface="FreeMono"/>
                <a:cs typeface="FreeMono"/>
              </a:rPr>
              <a:t>#for word</a:t>
            </a:r>
            <a:r>
              <a:rPr sz="1200" spc="-7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in</a:t>
            </a:r>
            <a:r>
              <a:rPr sz="1200" spc="-3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result:  print(word)</a:t>
            </a:r>
            <a:endParaRPr sz="1200">
              <a:latin typeface="FreeMono"/>
              <a:cs typeface="FreeMon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60679" y="6121044"/>
            <a:ext cx="7199630" cy="575310"/>
            <a:chOff x="360679" y="6121044"/>
            <a:chExt cx="7199630" cy="575310"/>
          </a:xfrm>
        </p:grpSpPr>
        <p:sp>
          <p:nvSpPr>
            <p:cNvPr id="5" name="object 5"/>
            <p:cNvSpPr/>
            <p:nvPr/>
          </p:nvSpPr>
          <p:spPr>
            <a:xfrm>
              <a:off x="360679" y="6121044"/>
              <a:ext cx="7198359" cy="575310"/>
            </a:xfrm>
            <a:custGeom>
              <a:avLst/>
              <a:gdLst/>
              <a:ahLst/>
              <a:cxnLst/>
              <a:rect l="l" t="t" r="r" b="b"/>
              <a:pathLst>
                <a:path w="7198359" h="575309">
                  <a:moveTo>
                    <a:pt x="7103110" y="0"/>
                  </a:moveTo>
                  <a:lnTo>
                    <a:pt x="95250" y="0"/>
                  </a:lnTo>
                  <a:lnTo>
                    <a:pt x="60007" y="8274"/>
                  </a:lnTo>
                  <a:lnTo>
                    <a:pt x="29527" y="30003"/>
                  </a:lnTo>
                  <a:lnTo>
                    <a:pt x="8096" y="60543"/>
                  </a:lnTo>
                  <a:lnTo>
                    <a:pt x="0" y="95250"/>
                  </a:lnTo>
                  <a:lnTo>
                    <a:pt x="0" y="480059"/>
                  </a:lnTo>
                  <a:lnTo>
                    <a:pt x="8096" y="514766"/>
                  </a:lnTo>
                  <a:lnTo>
                    <a:pt x="29527" y="545306"/>
                  </a:lnTo>
                  <a:lnTo>
                    <a:pt x="60007" y="567035"/>
                  </a:lnTo>
                  <a:lnTo>
                    <a:pt x="95250" y="575310"/>
                  </a:lnTo>
                  <a:lnTo>
                    <a:pt x="7103110" y="575310"/>
                  </a:lnTo>
                  <a:lnTo>
                    <a:pt x="7137816" y="567035"/>
                  </a:lnTo>
                  <a:lnTo>
                    <a:pt x="7168356" y="545306"/>
                  </a:lnTo>
                  <a:lnTo>
                    <a:pt x="7190085" y="514766"/>
                  </a:lnTo>
                  <a:lnTo>
                    <a:pt x="7198360" y="480059"/>
                  </a:lnTo>
                  <a:lnTo>
                    <a:pt x="7198360" y="95250"/>
                  </a:lnTo>
                  <a:lnTo>
                    <a:pt x="7190085" y="60543"/>
                  </a:lnTo>
                  <a:lnTo>
                    <a:pt x="7168356" y="30003"/>
                  </a:lnTo>
                  <a:lnTo>
                    <a:pt x="7137816" y="8274"/>
                  </a:lnTo>
                  <a:lnTo>
                    <a:pt x="710311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0679" y="6121044"/>
              <a:ext cx="7199630" cy="575310"/>
            </a:xfrm>
            <a:custGeom>
              <a:avLst/>
              <a:gdLst/>
              <a:ahLst/>
              <a:cxnLst/>
              <a:rect l="l" t="t" r="r" b="b"/>
              <a:pathLst>
                <a:path w="7199630" h="575309">
                  <a:moveTo>
                    <a:pt x="95250" y="0"/>
                  </a:moveTo>
                  <a:lnTo>
                    <a:pt x="60007" y="8274"/>
                  </a:lnTo>
                  <a:lnTo>
                    <a:pt x="29527" y="30003"/>
                  </a:lnTo>
                  <a:lnTo>
                    <a:pt x="8096" y="60543"/>
                  </a:lnTo>
                  <a:lnTo>
                    <a:pt x="0" y="95250"/>
                  </a:lnTo>
                  <a:lnTo>
                    <a:pt x="0" y="480059"/>
                  </a:lnTo>
                  <a:lnTo>
                    <a:pt x="8096" y="514766"/>
                  </a:lnTo>
                  <a:lnTo>
                    <a:pt x="29527" y="545306"/>
                  </a:lnTo>
                  <a:lnTo>
                    <a:pt x="60007" y="567035"/>
                  </a:lnTo>
                  <a:lnTo>
                    <a:pt x="95250" y="575310"/>
                  </a:lnTo>
                  <a:lnTo>
                    <a:pt x="7103110" y="575310"/>
                  </a:lnTo>
                  <a:lnTo>
                    <a:pt x="7137816" y="567035"/>
                  </a:lnTo>
                  <a:lnTo>
                    <a:pt x="7168356" y="545306"/>
                  </a:lnTo>
                  <a:lnTo>
                    <a:pt x="7190085" y="514766"/>
                  </a:lnTo>
                  <a:lnTo>
                    <a:pt x="7198360" y="480059"/>
                  </a:lnTo>
                  <a:lnTo>
                    <a:pt x="7198360" y="95250"/>
                  </a:lnTo>
                  <a:lnTo>
                    <a:pt x="7190085" y="60543"/>
                  </a:lnTo>
                  <a:lnTo>
                    <a:pt x="7168356" y="30003"/>
                  </a:lnTo>
                  <a:lnTo>
                    <a:pt x="7137816" y="8274"/>
                  </a:lnTo>
                  <a:lnTo>
                    <a:pt x="7103110" y="0"/>
                  </a:lnTo>
                  <a:lnTo>
                    <a:pt x="95250" y="0"/>
                  </a:lnTo>
                  <a:close/>
                </a:path>
                <a:path w="7199630" h="575309">
                  <a:moveTo>
                    <a:pt x="0" y="0"/>
                  </a:moveTo>
                  <a:lnTo>
                    <a:pt x="0" y="0"/>
                  </a:lnTo>
                </a:path>
                <a:path w="7199630" h="575309">
                  <a:moveTo>
                    <a:pt x="7199630" y="575310"/>
                  </a:moveTo>
                  <a:lnTo>
                    <a:pt x="7199630" y="575310"/>
                  </a:lnTo>
                </a:path>
              </a:pathLst>
            </a:custGeom>
            <a:ln w="3175">
              <a:solidFill>
                <a:srgbClr val="0066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38150" y="6366154"/>
            <a:ext cx="44678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* Matches with 0 or more occurrences of the</a:t>
            </a:r>
            <a:r>
              <a:rPr sz="11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character</a:t>
            </a:r>
            <a:endParaRPr sz="1100">
              <a:latin typeface="FreeMono"/>
              <a:cs typeface="Free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9269" y="1184554"/>
            <a:ext cx="43230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To match all words starting with numeric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digits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99974"/>
            <a:ext cx="387857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RE: </a:t>
            </a:r>
            <a:r>
              <a:rPr spc="-5" dirty="0"/>
              <a:t>sequence</a:t>
            </a:r>
            <a:r>
              <a:rPr spc="-50" dirty="0"/>
              <a:t> </a:t>
            </a:r>
            <a:r>
              <a:rPr spc="-5" dirty="0"/>
              <a:t>characters</a:t>
            </a: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xample-3: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4190" y="1481734"/>
            <a:ext cx="8135620" cy="1614170"/>
          </a:xfrm>
          <a:prstGeom prst="rect">
            <a:avLst/>
          </a:prstGeom>
          <a:solidFill>
            <a:srgbClr val="EDEDED"/>
          </a:solidFill>
          <a:ln w="3175">
            <a:solidFill>
              <a:srgbClr val="EC1B2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  <a:spcBef>
                <a:spcPts val="910"/>
              </a:spcBef>
            </a:pPr>
            <a:r>
              <a:rPr sz="1200" dirty="0">
                <a:latin typeface="FreeMono"/>
                <a:cs typeface="FreeMono"/>
              </a:rPr>
              <a:t>import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</a:t>
            </a:r>
            <a:endParaRPr sz="1200">
              <a:latin typeface="FreeMono"/>
              <a:cs typeface="FreeMono"/>
            </a:endParaRPr>
          </a:p>
          <a:p>
            <a:pPr marL="89535" marR="3649345">
              <a:lnSpc>
                <a:spcPct val="178500"/>
              </a:lnSpc>
            </a:pPr>
            <a:r>
              <a:rPr sz="1200" dirty="0">
                <a:latin typeface="FreeMono"/>
                <a:cs typeface="FreeMono"/>
              </a:rPr>
              <a:t>str = 'one two three four five six seven 8</a:t>
            </a:r>
            <a:r>
              <a:rPr sz="1200" spc="-9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9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10'  result = re.findall(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r'\b\w{5}\b'</a:t>
            </a:r>
            <a:r>
              <a:rPr sz="1200" dirty="0">
                <a:latin typeface="FreeMono"/>
                <a:cs typeface="FreeMono"/>
              </a:rPr>
              <a:t>, str)  print(result)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269" y="1184554"/>
            <a:ext cx="3774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To retrieve all words having 5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characters</a:t>
            </a:r>
            <a:endParaRPr sz="1200">
              <a:latin typeface="FreeMono"/>
              <a:cs typeface="FreeMono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97840" y="3189884"/>
          <a:ext cx="8141969" cy="28790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5870"/>
                <a:gridCol w="2664460"/>
                <a:gridCol w="4231639"/>
              </a:tblGrid>
              <a:tr h="720089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character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Description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B2B2B2"/>
                    </a:solidFill>
                  </a:tcPr>
                </a:tc>
              </a:tr>
              <a:tr h="71882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\b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Matches only one</a:t>
                      </a:r>
                      <a:r>
                        <a:rPr sz="1200" spc="-5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space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CCCC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\w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Matches any alpha</a:t>
                      </a:r>
                      <a:r>
                        <a:rPr sz="1200" spc="-9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numeric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character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E5E5E5"/>
                    </a:solidFill>
                  </a:tcPr>
                </a:tc>
              </a:tr>
              <a:tr h="720089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{5}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Repetition</a:t>
                      </a:r>
                      <a:r>
                        <a:rPr sz="1200" spc="-2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character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99974"/>
            <a:ext cx="387857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RE: </a:t>
            </a:r>
            <a:r>
              <a:rPr spc="-5" dirty="0"/>
              <a:t>sequence</a:t>
            </a:r>
            <a:r>
              <a:rPr spc="-50" dirty="0"/>
              <a:t> </a:t>
            </a:r>
            <a:r>
              <a:rPr spc="-5" dirty="0"/>
              <a:t>characters</a:t>
            </a: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xample-4:</a:t>
            </a:r>
            <a:r>
              <a:rPr sz="1800" dirty="0">
                <a:solidFill>
                  <a:srgbClr val="663399"/>
                </a:solidFill>
              </a:rPr>
              <a:t> </a:t>
            </a:r>
            <a:r>
              <a:rPr sz="1800" spc="-10" dirty="0">
                <a:solidFill>
                  <a:srgbClr val="663399"/>
                </a:solidFill>
              </a:rPr>
              <a:t>search()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4190" y="1251864"/>
            <a:ext cx="8135620" cy="1844039"/>
          </a:xfrm>
          <a:prstGeom prst="rect">
            <a:avLst/>
          </a:prstGeom>
          <a:solidFill>
            <a:srgbClr val="EDEDED"/>
          </a:solidFill>
          <a:ln w="3175">
            <a:solidFill>
              <a:srgbClr val="EC1B2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89535" marR="3466465">
              <a:lnSpc>
                <a:spcPct val="179200"/>
              </a:lnSpc>
              <a:spcBef>
                <a:spcPts val="1030"/>
              </a:spcBef>
            </a:pPr>
            <a:r>
              <a:rPr sz="1200" dirty="0">
                <a:latin typeface="FreeMono"/>
                <a:cs typeface="FreeMono"/>
              </a:rPr>
              <a:t># search() will give the first matching</a:t>
            </a:r>
            <a:r>
              <a:rPr sz="1200" spc="-9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word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only.  import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</a:t>
            </a:r>
            <a:endParaRPr sz="1200">
              <a:latin typeface="FreeMono"/>
              <a:cs typeface="FreeMono"/>
            </a:endParaRPr>
          </a:p>
          <a:p>
            <a:pPr marL="89535" marR="3649345">
              <a:lnSpc>
                <a:spcPct val="178500"/>
              </a:lnSpc>
            </a:pPr>
            <a:r>
              <a:rPr sz="1200" dirty="0">
                <a:latin typeface="FreeMono"/>
                <a:cs typeface="FreeMono"/>
              </a:rPr>
              <a:t>str = 'one two three four five six seven 8</a:t>
            </a:r>
            <a:r>
              <a:rPr sz="1200" spc="-9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9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10'  result = re.search(r'\b\w{5}',</a:t>
            </a:r>
            <a:r>
              <a:rPr sz="1200" spc="-2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str)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4359" y="3215284"/>
            <a:ext cx="13716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200" dirty="0">
                <a:latin typeface="FreeMono"/>
                <a:cs typeface="FreeMono"/>
              </a:rPr>
              <a:t>print(result.gr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7400" y="3215284"/>
            <a:ext cx="4572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200" dirty="0">
                <a:latin typeface="FreeMono"/>
                <a:cs typeface="FreeMono"/>
              </a:rPr>
              <a:t>up())</a:t>
            </a:r>
            <a:endParaRPr sz="1200">
              <a:latin typeface="FreeMono"/>
              <a:cs typeface="FreeMon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97840" y="3189884"/>
          <a:ext cx="8141968" cy="28790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0625"/>
                <a:gridCol w="2719704"/>
                <a:gridCol w="4231639"/>
              </a:tblGrid>
              <a:tr h="720089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character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27749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baseline="6944" dirty="0">
                          <a:latin typeface="FreeMono"/>
                          <a:cs typeface="FreeMono"/>
                        </a:rPr>
                        <a:t>o</a:t>
                      </a:r>
                      <a:r>
                        <a:rPr sz="1800" spc="-862" baseline="6944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Description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B2B2B2"/>
                    </a:solidFill>
                  </a:tcPr>
                </a:tc>
              </a:tr>
              <a:tr h="71882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\b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3873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Matches only one</a:t>
                      </a:r>
                      <a:r>
                        <a:rPr sz="1200" spc="-5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space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CCCC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\w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3873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Matches any alpha</a:t>
                      </a:r>
                      <a:r>
                        <a:rPr sz="1200" spc="-9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numeric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character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E5E5E5"/>
                    </a:solidFill>
                  </a:tcPr>
                </a:tc>
              </a:tr>
              <a:tr h="720089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{5}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3873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Repetition</a:t>
                      </a:r>
                      <a:r>
                        <a:rPr sz="1200" spc="-2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character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09269" y="1041044"/>
            <a:ext cx="5146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To retrieve all words having 5 characters using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search()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99974"/>
            <a:ext cx="387857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RE: </a:t>
            </a:r>
            <a:r>
              <a:rPr spc="-5" dirty="0"/>
              <a:t>sequence</a:t>
            </a:r>
            <a:r>
              <a:rPr spc="-50" dirty="0"/>
              <a:t> </a:t>
            </a:r>
            <a:r>
              <a:rPr spc="-5" dirty="0"/>
              <a:t>characters</a:t>
            </a: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xample-5:</a:t>
            </a:r>
            <a:r>
              <a:rPr sz="1800" dirty="0">
                <a:solidFill>
                  <a:srgbClr val="663399"/>
                </a:solidFill>
              </a:rPr>
              <a:t> </a:t>
            </a:r>
            <a:r>
              <a:rPr sz="1800" spc="-5" dirty="0">
                <a:solidFill>
                  <a:srgbClr val="663399"/>
                </a:solidFill>
              </a:rPr>
              <a:t>findall()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4190" y="1251864"/>
            <a:ext cx="8135620" cy="1844039"/>
          </a:xfrm>
          <a:prstGeom prst="rect">
            <a:avLst/>
          </a:prstGeom>
          <a:solidFill>
            <a:srgbClr val="EDEDED"/>
          </a:solidFill>
          <a:ln w="3175">
            <a:solidFill>
              <a:srgbClr val="EC1B2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  <a:spcBef>
                <a:spcPts val="790"/>
              </a:spcBef>
            </a:pPr>
            <a:r>
              <a:rPr sz="1200" dirty="0">
                <a:latin typeface="FreeMono"/>
                <a:cs typeface="FreeMono"/>
              </a:rPr>
              <a:t>import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</a:t>
            </a:r>
            <a:endParaRPr sz="1200">
              <a:latin typeface="FreeMono"/>
              <a:cs typeface="FreeMono"/>
            </a:endParaRPr>
          </a:p>
          <a:p>
            <a:pPr marL="89535" marR="3649345">
              <a:lnSpc>
                <a:spcPct val="178500"/>
              </a:lnSpc>
              <a:spcBef>
                <a:spcPts val="10"/>
              </a:spcBef>
            </a:pPr>
            <a:r>
              <a:rPr sz="1200" dirty="0">
                <a:latin typeface="FreeMono"/>
                <a:cs typeface="FreeMono"/>
              </a:rPr>
              <a:t>str = 'one two three four five six seven 8</a:t>
            </a:r>
            <a:r>
              <a:rPr sz="1200" spc="-9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9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10'  result = re.findall(r'\b\w{4,}\b', str)  print(result)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269" y="1041044"/>
            <a:ext cx="61518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To retrieve all words having 4 and above characters using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findall()</a:t>
            </a:r>
            <a:endParaRPr sz="1200">
              <a:latin typeface="FreeMono"/>
              <a:cs typeface="FreeMono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97840" y="3189884"/>
          <a:ext cx="8141970" cy="28790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5870"/>
                <a:gridCol w="6896100"/>
              </a:tblGrid>
              <a:tr h="720089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character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Description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B2B2B2"/>
                    </a:solidFill>
                  </a:tcPr>
                </a:tc>
              </a:tr>
              <a:tr h="71882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\b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Matches only one</a:t>
                      </a:r>
                      <a:r>
                        <a:rPr sz="1200" spc="-1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space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\w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Matches any alpha numeric</a:t>
                      </a:r>
                      <a:r>
                        <a:rPr sz="1200" spc="-1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character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E5E5E5"/>
                    </a:solidFill>
                  </a:tcPr>
                </a:tc>
              </a:tr>
              <a:tr h="720089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{4,</a:t>
                      </a:r>
                      <a:r>
                        <a:rPr sz="1200" spc="-1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}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Retrieve 4 or more</a:t>
                      </a:r>
                      <a:r>
                        <a:rPr sz="1200" spc="-1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characters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99974"/>
            <a:ext cx="387857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RE: </a:t>
            </a:r>
            <a:r>
              <a:rPr spc="-5" dirty="0"/>
              <a:t>sequence</a:t>
            </a:r>
            <a:r>
              <a:rPr spc="-50" dirty="0"/>
              <a:t> </a:t>
            </a:r>
            <a:r>
              <a:rPr spc="-5" dirty="0"/>
              <a:t>characters</a:t>
            </a: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xample-6:</a:t>
            </a:r>
            <a:r>
              <a:rPr sz="1800" dirty="0">
                <a:solidFill>
                  <a:srgbClr val="663399"/>
                </a:solidFill>
              </a:rPr>
              <a:t> </a:t>
            </a:r>
            <a:r>
              <a:rPr sz="1800" spc="-5" dirty="0">
                <a:solidFill>
                  <a:srgbClr val="663399"/>
                </a:solidFill>
              </a:rPr>
              <a:t>findall()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4190" y="1251864"/>
            <a:ext cx="8135620" cy="1844039"/>
          </a:xfrm>
          <a:prstGeom prst="rect">
            <a:avLst/>
          </a:prstGeom>
          <a:solidFill>
            <a:srgbClr val="EDEDED"/>
          </a:solidFill>
          <a:ln w="3175">
            <a:solidFill>
              <a:srgbClr val="EC1B2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  <a:spcBef>
                <a:spcPts val="790"/>
              </a:spcBef>
            </a:pPr>
            <a:r>
              <a:rPr sz="1200" dirty="0">
                <a:latin typeface="FreeMono"/>
                <a:cs typeface="FreeMono"/>
              </a:rPr>
              <a:t>import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</a:t>
            </a:r>
            <a:endParaRPr sz="1200">
              <a:latin typeface="FreeMono"/>
              <a:cs typeface="FreeMono"/>
            </a:endParaRPr>
          </a:p>
          <a:p>
            <a:pPr marL="89535" marR="3649345">
              <a:lnSpc>
                <a:spcPct val="178500"/>
              </a:lnSpc>
              <a:spcBef>
                <a:spcPts val="10"/>
              </a:spcBef>
            </a:pPr>
            <a:r>
              <a:rPr sz="1200" dirty="0">
                <a:latin typeface="FreeMono"/>
                <a:cs typeface="FreeMono"/>
              </a:rPr>
              <a:t>str = 'one two three four five six seven 8</a:t>
            </a:r>
            <a:r>
              <a:rPr sz="1200" spc="-9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9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10'  result = re.findall(r'\b\w{3, 5}\b', str)  print(result)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269" y="1041044"/>
            <a:ext cx="57861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To retrieve all words having 3, 4, 5 characters using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findall()</a:t>
            </a:r>
            <a:endParaRPr sz="1200">
              <a:latin typeface="FreeMono"/>
              <a:cs typeface="FreeMono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97840" y="3189884"/>
          <a:ext cx="8141969" cy="28790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5870"/>
                <a:gridCol w="1887220"/>
                <a:gridCol w="5008879"/>
              </a:tblGrid>
              <a:tr h="720089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character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Description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B2B2B2"/>
                    </a:solidFill>
                  </a:tcPr>
                </a:tc>
              </a:tr>
              <a:tr h="71882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\b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Matches only</a:t>
                      </a:r>
                      <a:r>
                        <a:rPr sz="1200" spc="-7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one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space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\w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Matches any</a:t>
                      </a:r>
                      <a:r>
                        <a:rPr sz="1200" spc="-10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alpha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numeric</a:t>
                      </a:r>
                      <a:r>
                        <a:rPr sz="1200" spc="-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character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E5E5E5"/>
                    </a:solidFill>
                  </a:tcPr>
                </a:tc>
              </a:tr>
              <a:tr h="720089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{3,</a:t>
                      </a:r>
                      <a:r>
                        <a:rPr sz="1200" spc="-1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5}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Retrieve 3, 4,</a:t>
                      </a:r>
                      <a:r>
                        <a:rPr sz="1200" spc="-7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5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characters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99974"/>
            <a:ext cx="387857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RE: </a:t>
            </a:r>
            <a:r>
              <a:rPr spc="-5" dirty="0"/>
              <a:t>sequence</a:t>
            </a:r>
            <a:r>
              <a:rPr spc="-50" dirty="0"/>
              <a:t> </a:t>
            </a:r>
            <a:r>
              <a:rPr spc="-5" dirty="0"/>
              <a:t>characters</a:t>
            </a: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xample-7:</a:t>
            </a:r>
            <a:r>
              <a:rPr sz="1800" dirty="0">
                <a:solidFill>
                  <a:srgbClr val="663399"/>
                </a:solidFill>
              </a:rPr>
              <a:t> </a:t>
            </a:r>
            <a:r>
              <a:rPr sz="1800" spc="-5" dirty="0">
                <a:solidFill>
                  <a:srgbClr val="663399"/>
                </a:solidFill>
              </a:rPr>
              <a:t>findall()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4190" y="1251864"/>
            <a:ext cx="8135620" cy="1844039"/>
          </a:xfrm>
          <a:prstGeom prst="rect">
            <a:avLst/>
          </a:prstGeom>
          <a:solidFill>
            <a:srgbClr val="EDEDED"/>
          </a:solidFill>
          <a:ln w="3175">
            <a:solidFill>
              <a:srgbClr val="EC1B2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1200" dirty="0">
                <a:latin typeface="FreeMono"/>
                <a:cs typeface="FreeMono"/>
              </a:rPr>
              <a:t>import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</a:t>
            </a:r>
            <a:endParaRPr sz="1200">
              <a:latin typeface="FreeMono"/>
              <a:cs typeface="FreeMono"/>
            </a:endParaRPr>
          </a:p>
          <a:p>
            <a:pPr marL="89535" marR="3649345">
              <a:lnSpc>
                <a:spcPct val="178500"/>
              </a:lnSpc>
            </a:pPr>
            <a:r>
              <a:rPr sz="1200" dirty="0">
                <a:latin typeface="FreeMono"/>
                <a:cs typeface="FreeMono"/>
              </a:rPr>
              <a:t>str = 'one two three four five six seven 8</a:t>
            </a:r>
            <a:r>
              <a:rPr sz="1200" spc="-9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9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10'  result = re.findall(r'\b\d\b', str)  print(result)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269" y="1041044"/>
            <a:ext cx="4140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To retrieve only single digit using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findall()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7840" y="3189883"/>
            <a:ext cx="8141970" cy="720090"/>
          </a:xfrm>
          <a:custGeom>
            <a:avLst/>
            <a:gdLst/>
            <a:ahLst/>
            <a:cxnLst/>
            <a:rect l="l" t="t" r="r" b="b"/>
            <a:pathLst>
              <a:path w="8141970" h="720089">
                <a:moveTo>
                  <a:pt x="8141970" y="0"/>
                </a:moveTo>
                <a:lnTo>
                  <a:pt x="1488440" y="0"/>
                </a:lnTo>
                <a:lnTo>
                  <a:pt x="0" y="0"/>
                </a:lnTo>
                <a:lnTo>
                  <a:pt x="0" y="720090"/>
                </a:lnTo>
                <a:lnTo>
                  <a:pt x="1488440" y="720090"/>
                </a:lnTo>
                <a:lnTo>
                  <a:pt x="8141970" y="720090"/>
                </a:lnTo>
                <a:lnTo>
                  <a:pt x="8141970" y="0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88009" y="3192424"/>
            <a:ext cx="25069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487805" algn="l"/>
              </a:tabLst>
            </a:pPr>
            <a:r>
              <a:rPr sz="1200" dirty="0">
                <a:latin typeface="FreeMono"/>
                <a:cs typeface="FreeMono"/>
              </a:rPr>
              <a:t>character	Description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7840" y="3909974"/>
            <a:ext cx="1488440" cy="718820"/>
          </a:xfrm>
          <a:custGeom>
            <a:avLst/>
            <a:gdLst/>
            <a:ahLst/>
            <a:cxnLst/>
            <a:rect l="l" t="t" r="r" b="b"/>
            <a:pathLst>
              <a:path w="1488439" h="718820">
                <a:moveTo>
                  <a:pt x="1488440" y="0"/>
                </a:moveTo>
                <a:lnTo>
                  <a:pt x="0" y="0"/>
                </a:lnTo>
                <a:lnTo>
                  <a:pt x="0" y="718820"/>
                </a:lnTo>
                <a:lnTo>
                  <a:pt x="1488440" y="718820"/>
                </a:lnTo>
                <a:lnTo>
                  <a:pt x="148844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8009" y="3912514"/>
            <a:ext cx="195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\b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86279" y="3909974"/>
            <a:ext cx="6653530" cy="718820"/>
          </a:xfrm>
          <a:custGeom>
            <a:avLst/>
            <a:gdLst/>
            <a:ahLst/>
            <a:cxnLst/>
            <a:rect l="l" t="t" r="r" b="b"/>
            <a:pathLst>
              <a:path w="6653530" h="718820">
                <a:moveTo>
                  <a:pt x="6653530" y="0"/>
                </a:moveTo>
                <a:lnTo>
                  <a:pt x="0" y="0"/>
                </a:lnTo>
                <a:lnTo>
                  <a:pt x="0" y="718820"/>
                </a:lnTo>
                <a:lnTo>
                  <a:pt x="6653530" y="718820"/>
                </a:lnTo>
                <a:lnTo>
                  <a:pt x="665353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76450" y="3912514"/>
            <a:ext cx="20243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Matches only one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space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7840" y="4628794"/>
            <a:ext cx="1488440" cy="720090"/>
          </a:xfrm>
          <a:custGeom>
            <a:avLst/>
            <a:gdLst/>
            <a:ahLst/>
            <a:cxnLst/>
            <a:rect l="l" t="t" r="r" b="b"/>
            <a:pathLst>
              <a:path w="1488439" h="720089">
                <a:moveTo>
                  <a:pt x="1488440" y="0"/>
                </a:moveTo>
                <a:lnTo>
                  <a:pt x="0" y="0"/>
                </a:lnTo>
                <a:lnTo>
                  <a:pt x="0" y="720090"/>
                </a:lnTo>
                <a:lnTo>
                  <a:pt x="1488440" y="720090"/>
                </a:lnTo>
                <a:lnTo>
                  <a:pt x="1488440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88009" y="4631334"/>
            <a:ext cx="195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\d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86279" y="4628794"/>
            <a:ext cx="6653530" cy="720090"/>
          </a:xfrm>
          <a:custGeom>
            <a:avLst/>
            <a:gdLst/>
            <a:ahLst/>
            <a:cxnLst/>
            <a:rect l="l" t="t" r="r" b="b"/>
            <a:pathLst>
              <a:path w="6653530" h="720089">
                <a:moveTo>
                  <a:pt x="6653530" y="0"/>
                </a:moveTo>
                <a:lnTo>
                  <a:pt x="0" y="0"/>
                </a:lnTo>
                <a:lnTo>
                  <a:pt x="0" y="720090"/>
                </a:lnTo>
                <a:lnTo>
                  <a:pt x="6653530" y="720090"/>
                </a:lnTo>
                <a:lnTo>
                  <a:pt x="6653530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076450" y="4631334"/>
            <a:ext cx="16586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Matches only</a:t>
            </a:r>
            <a:r>
              <a:rPr sz="1200" spc="-9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digit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99974"/>
            <a:ext cx="387857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RE: </a:t>
            </a:r>
            <a:r>
              <a:rPr spc="-5" dirty="0"/>
              <a:t>sequence</a:t>
            </a:r>
            <a:r>
              <a:rPr spc="-50" dirty="0"/>
              <a:t> </a:t>
            </a:r>
            <a:r>
              <a:rPr spc="-5" dirty="0"/>
              <a:t>characters</a:t>
            </a: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xample-7:</a:t>
            </a:r>
            <a:r>
              <a:rPr sz="1800" dirty="0">
                <a:solidFill>
                  <a:srgbClr val="663399"/>
                </a:solidFill>
              </a:rPr>
              <a:t> </a:t>
            </a:r>
            <a:r>
              <a:rPr sz="1800" spc="-5" dirty="0">
                <a:solidFill>
                  <a:srgbClr val="663399"/>
                </a:solidFill>
              </a:rPr>
              <a:t>findall()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4190" y="1251864"/>
            <a:ext cx="8135620" cy="1844039"/>
          </a:xfrm>
          <a:prstGeom prst="rect">
            <a:avLst/>
          </a:prstGeom>
          <a:solidFill>
            <a:srgbClr val="EDEDED"/>
          </a:solidFill>
          <a:ln w="3175">
            <a:solidFill>
              <a:srgbClr val="EC1B2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  <a:spcBef>
                <a:spcPts val="790"/>
              </a:spcBef>
            </a:pPr>
            <a:r>
              <a:rPr sz="1200" dirty="0">
                <a:latin typeface="FreeMono"/>
                <a:cs typeface="FreeMono"/>
              </a:rPr>
              <a:t>import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</a:t>
            </a:r>
            <a:endParaRPr sz="1200">
              <a:latin typeface="FreeMono"/>
              <a:cs typeface="FreeMono"/>
            </a:endParaRPr>
          </a:p>
          <a:p>
            <a:pPr marL="89535" marR="4655185">
              <a:lnSpc>
                <a:spcPct val="178500"/>
              </a:lnSpc>
              <a:spcBef>
                <a:spcPts val="10"/>
              </a:spcBef>
            </a:pPr>
            <a:r>
              <a:rPr sz="1200" dirty="0">
                <a:latin typeface="FreeMono"/>
                <a:cs typeface="FreeMono"/>
              </a:rPr>
              <a:t>str = 'one two three one two three'  result =</a:t>
            </a:r>
            <a:r>
              <a:rPr sz="1200" spc="-7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re.findall(r't{\w}*\z',</a:t>
            </a:r>
            <a:r>
              <a:rPr sz="1200" spc="-3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str)  print(result)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269" y="1041044"/>
            <a:ext cx="58775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To retrieve all words starts with ‘t’ from the end of the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string</a:t>
            </a:r>
            <a:endParaRPr sz="1200">
              <a:latin typeface="FreeMono"/>
              <a:cs typeface="FreeMono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97840" y="3189884"/>
          <a:ext cx="8141970" cy="28790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5870"/>
                <a:gridCol w="6896100"/>
              </a:tblGrid>
              <a:tr h="720089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character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Description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B2B2B2"/>
                    </a:solidFill>
                  </a:tcPr>
                </a:tc>
              </a:tr>
              <a:tr h="71882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\z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Matches from end of the</a:t>
                      </a:r>
                      <a:r>
                        <a:rPr sz="1200" spc="-1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string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\w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Matches any alpha numeric</a:t>
                      </a:r>
                      <a:r>
                        <a:rPr sz="1200" spc="-1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character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E5E5E5"/>
                    </a:solidFill>
                  </a:tcPr>
                </a:tc>
              </a:tr>
              <a:tr h="720089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t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Starting character is</a:t>
                      </a:r>
                      <a:r>
                        <a:rPr sz="1200" spc="-1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‘t’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910" y="4660544"/>
            <a:ext cx="31635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latin typeface="DejaVu Sans"/>
                <a:cs typeface="DejaVu Sans"/>
              </a:rPr>
              <a:t>RE:</a:t>
            </a:r>
            <a:r>
              <a:rPr sz="3200" b="1" spc="-6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DejaVu Sans"/>
                <a:cs typeface="DejaVu Sans"/>
              </a:rPr>
              <a:t>Quantifiers</a:t>
            </a:r>
            <a:endParaRPr sz="3200"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191414"/>
            <a:ext cx="2378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RE:</a:t>
            </a:r>
            <a:r>
              <a:rPr b="1" spc="-60" dirty="0">
                <a:latin typeface="DejaVu Sans"/>
                <a:cs typeface="DejaVu Sans"/>
              </a:rPr>
              <a:t> </a:t>
            </a:r>
            <a:r>
              <a:rPr spc="-5" dirty="0"/>
              <a:t>Quantifiers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301394"/>
            <a:ext cx="105410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1120" dirty="0">
                <a:latin typeface="OpenSymbol"/>
                <a:cs typeface="OpenSymbol"/>
              </a:rPr>
              <a:t></a:t>
            </a:r>
            <a:endParaRPr sz="600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2780" y="1256944"/>
            <a:ext cx="558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Liberation Serif"/>
                <a:cs typeface="Liberation Serif"/>
              </a:rPr>
              <a:t>Characters which represents more than 1 character </a:t>
            </a:r>
            <a:r>
              <a:rPr sz="1400" spc="5" dirty="0">
                <a:latin typeface="Liberation Serif"/>
                <a:cs typeface="Liberation Serif"/>
              </a:rPr>
              <a:t>to </a:t>
            </a:r>
            <a:r>
              <a:rPr sz="1400" dirty="0">
                <a:latin typeface="Liberation Serif"/>
                <a:cs typeface="Liberation Serif"/>
              </a:rPr>
              <a:t>be matched in the</a:t>
            </a:r>
            <a:r>
              <a:rPr sz="1400" spc="-30" dirty="0">
                <a:latin typeface="Liberation Serif"/>
                <a:cs typeface="Liberation Serif"/>
              </a:rPr>
              <a:t> </a:t>
            </a:r>
            <a:r>
              <a:rPr sz="1400" dirty="0">
                <a:latin typeface="Liberation Serif"/>
                <a:cs typeface="Liberation Serif"/>
              </a:rPr>
              <a:t>string</a:t>
            </a:r>
            <a:endParaRPr sz="1400">
              <a:latin typeface="Liberation Serif"/>
              <a:cs typeface="Liberation Serif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31800" y="1656994"/>
          <a:ext cx="8280400" cy="27597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80400"/>
              </a:tblGrid>
              <a:tr h="4457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90"/>
                        </a:spcBef>
                        <a:tabLst>
                          <a:tab pos="4213225" algn="l"/>
                        </a:tabLst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Character	</a:t>
                      </a:r>
                      <a:r>
                        <a:rPr sz="1300" spc="-5" dirty="0">
                          <a:latin typeface="FreeMono"/>
                          <a:cs typeface="FreeMono"/>
                        </a:rPr>
                        <a:t>Description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B2B2B2"/>
                    </a:solidFill>
                  </a:tcPr>
                </a:tc>
              </a:tr>
              <a:tr h="433069">
                <a:tc>
                  <a:txBody>
                    <a:bodyPr/>
                    <a:lstStyle/>
                    <a:p>
                      <a:pPr marR="2489835"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756285" algn="l"/>
                        </a:tabLst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+	1 or more repetitions of the preceding</a:t>
                      </a:r>
                      <a:r>
                        <a:rPr sz="1300" spc="-10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regexp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2700" marB="0">
                    <a:solidFill>
                      <a:srgbClr val="CCCCCC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R="2489835" algn="r">
                        <a:lnSpc>
                          <a:spcPct val="100000"/>
                        </a:lnSpc>
                        <a:spcBef>
                          <a:spcPts val="90"/>
                        </a:spcBef>
                        <a:tabLst>
                          <a:tab pos="756285" algn="l"/>
                        </a:tabLst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*	0 or more repetitions of the preceding</a:t>
                      </a:r>
                      <a:r>
                        <a:rPr sz="1300" spc="-10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regexp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E5E5E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568960">
                        <a:lnSpc>
                          <a:spcPct val="100000"/>
                        </a:lnSpc>
                        <a:spcBef>
                          <a:spcPts val="90"/>
                        </a:spcBef>
                        <a:tabLst>
                          <a:tab pos="1325245" algn="l"/>
                        </a:tabLst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?	0 or 1 repetitions of the preceding</a:t>
                      </a:r>
                      <a:r>
                        <a:rPr sz="1300" spc="-2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regexp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CCCCCC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469900">
                        <a:lnSpc>
                          <a:spcPct val="100000"/>
                        </a:lnSpc>
                        <a:spcBef>
                          <a:spcPts val="90"/>
                        </a:spcBef>
                        <a:tabLst>
                          <a:tab pos="1325245" algn="l"/>
                        </a:tabLst>
                      </a:pPr>
                      <a:r>
                        <a:rPr sz="1300" spc="-5" dirty="0">
                          <a:latin typeface="FreeMono"/>
                          <a:cs typeface="FreeMono"/>
                        </a:rPr>
                        <a:t>{m}	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Exactly m</a:t>
                      </a:r>
                      <a:r>
                        <a:rPr sz="1300" spc="-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occurrences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E5E5E5"/>
                    </a:solidFill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320675">
                        <a:lnSpc>
                          <a:spcPts val="1430"/>
                        </a:lnSpc>
                        <a:spcBef>
                          <a:spcPts val="90"/>
                        </a:spcBef>
                        <a:tabLst>
                          <a:tab pos="1325245" algn="l"/>
                        </a:tabLst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{m, n}	From m to</a:t>
                      </a:r>
                      <a:r>
                        <a:rPr sz="1300" spc="-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n.</a:t>
                      </a:r>
                      <a:endParaRPr sz="1300">
                        <a:latin typeface="FreeMono"/>
                        <a:cs typeface="FreeMono"/>
                      </a:endParaRPr>
                    </a:p>
                    <a:p>
                      <a:pPr marL="1524000" indent="-198120">
                        <a:lnSpc>
                          <a:spcPts val="1295"/>
                        </a:lnSpc>
                        <a:buAutoNum type="alphaLcPeriod" startAt="13"/>
                        <a:tabLst>
                          <a:tab pos="1524000" algn="l"/>
                        </a:tabLst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defaults to</a:t>
                      </a:r>
                      <a:r>
                        <a:rPr sz="1300" spc="-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0</a:t>
                      </a:r>
                      <a:endParaRPr sz="1300">
                        <a:latin typeface="FreeMono"/>
                        <a:cs typeface="FreeMono"/>
                      </a:endParaRPr>
                    </a:p>
                    <a:p>
                      <a:pPr marL="1524000" indent="-198120">
                        <a:lnSpc>
                          <a:spcPts val="1425"/>
                        </a:lnSpc>
                        <a:buAutoNum type="alphaLcPeriod" startAt="13"/>
                        <a:tabLst>
                          <a:tab pos="1524000" algn="l"/>
                        </a:tabLst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defaults to</a:t>
                      </a:r>
                      <a:r>
                        <a:rPr sz="1300" spc="-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infinity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99974"/>
            <a:ext cx="237807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RE:</a:t>
            </a:r>
            <a:r>
              <a:rPr b="1" spc="-60" dirty="0">
                <a:latin typeface="DejaVu Sans"/>
                <a:cs typeface="DejaVu Sans"/>
              </a:rPr>
              <a:t> </a:t>
            </a:r>
            <a:r>
              <a:rPr spc="-5" dirty="0"/>
              <a:t>Quantifiers</a:t>
            </a: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xample-1: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4190" y="1251864"/>
            <a:ext cx="8135620" cy="1844039"/>
          </a:xfrm>
          <a:prstGeom prst="rect">
            <a:avLst/>
          </a:prstGeom>
          <a:solidFill>
            <a:srgbClr val="EDEDED"/>
          </a:solidFill>
          <a:ln w="3175">
            <a:solidFill>
              <a:srgbClr val="EC1B2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1200" dirty="0">
                <a:latin typeface="FreeMono"/>
                <a:cs typeface="FreeMono"/>
              </a:rPr>
              <a:t>import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FreeMono"/>
              <a:cs typeface="FreeMono"/>
            </a:endParaRPr>
          </a:p>
          <a:p>
            <a:pPr marL="89535">
              <a:lnSpc>
                <a:spcPct val="100000"/>
              </a:lnSpc>
            </a:pPr>
            <a:r>
              <a:rPr sz="1200" dirty="0">
                <a:latin typeface="FreeMono"/>
                <a:cs typeface="FreeMono"/>
              </a:rPr>
              <a:t>str = 'Tomy: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9706612345'</a:t>
            </a:r>
            <a:endParaRPr sz="1200">
              <a:latin typeface="FreeMono"/>
              <a:cs typeface="FreeMono"/>
            </a:endParaRPr>
          </a:p>
          <a:p>
            <a:pPr marL="89535" marR="5478145">
              <a:lnSpc>
                <a:spcPct val="178500"/>
              </a:lnSpc>
            </a:pPr>
            <a:r>
              <a:rPr sz="1200" dirty="0">
                <a:latin typeface="FreeMono"/>
                <a:cs typeface="FreeMono"/>
              </a:rPr>
              <a:t>res =</a:t>
            </a:r>
            <a:r>
              <a:rPr sz="1200" spc="-7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re.serach(r'\d+',</a:t>
            </a:r>
            <a:r>
              <a:rPr sz="1200" spc="-3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str)  print(res.group())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269" y="1041044"/>
            <a:ext cx="33172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To retrieve phone number of a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person</a:t>
            </a:r>
            <a:endParaRPr sz="1200">
              <a:latin typeface="FreeMono"/>
              <a:cs typeface="FreeMono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97840" y="3189884"/>
          <a:ext cx="8145142" cy="2158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6505"/>
                <a:gridCol w="2461895"/>
                <a:gridCol w="297814"/>
                <a:gridCol w="396239"/>
                <a:gridCol w="990600"/>
                <a:gridCol w="2752089"/>
              </a:tblGrid>
              <a:tr h="72009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character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33274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Description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B2B2B2"/>
                    </a:solidFill>
                  </a:tcPr>
                </a:tc>
              </a:tr>
              <a:tr h="720089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\d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33274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Matches from any</a:t>
                      </a:r>
                      <a:r>
                        <a:rPr sz="1200" spc="-7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digit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CCCC"/>
                    </a:solidFill>
                  </a:tcPr>
                </a:tc>
              </a:tr>
              <a:tr h="71882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+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3327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1 or </a:t>
                      </a:r>
                      <a:r>
                        <a:rPr sz="1300" spc="-5" dirty="0">
                          <a:latin typeface="FreeMono"/>
                          <a:cs typeface="FreeMono"/>
                        </a:rPr>
                        <a:t>more</a:t>
                      </a:r>
                      <a:r>
                        <a:rPr sz="1300" spc="-6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spc="-5" dirty="0">
                          <a:latin typeface="FreeMono"/>
                          <a:cs typeface="FreeMono"/>
                        </a:rPr>
                        <a:t>repetitions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of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spc="-5" dirty="0">
                          <a:latin typeface="FreeMono"/>
                          <a:cs typeface="FreeMono"/>
                        </a:rPr>
                        <a:t>the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spc="-5" dirty="0">
                          <a:latin typeface="FreeMono"/>
                          <a:cs typeface="FreeMono"/>
                        </a:rPr>
                        <a:t>preceding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spc="-5" dirty="0">
                          <a:latin typeface="FreeMono"/>
                          <a:cs typeface="FreeMono"/>
                        </a:rPr>
                        <a:t>regexp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E5E5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99974"/>
            <a:ext cx="237807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RE:</a:t>
            </a:r>
            <a:r>
              <a:rPr b="1" spc="-60" dirty="0">
                <a:latin typeface="DejaVu Sans"/>
                <a:cs typeface="DejaVu Sans"/>
              </a:rPr>
              <a:t> </a:t>
            </a:r>
            <a:r>
              <a:rPr spc="-5" dirty="0"/>
              <a:t>Quantifiers</a:t>
            </a: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xample-2: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4190" y="1251864"/>
            <a:ext cx="8135620" cy="1844039"/>
          </a:xfrm>
          <a:prstGeom prst="rect">
            <a:avLst/>
          </a:prstGeom>
          <a:solidFill>
            <a:srgbClr val="EDEDED"/>
          </a:solidFill>
          <a:ln w="3175">
            <a:solidFill>
              <a:srgbClr val="EC1B2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1200" dirty="0">
                <a:latin typeface="FreeMono"/>
                <a:cs typeface="FreeMono"/>
              </a:rPr>
              <a:t>import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FreeMono"/>
              <a:cs typeface="FreeMono"/>
            </a:endParaRPr>
          </a:p>
          <a:p>
            <a:pPr marL="89535">
              <a:lnSpc>
                <a:spcPct val="100000"/>
              </a:lnSpc>
            </a:pPr>
            <a:r>
              <a:rPr sz="1200" dirty="0">
                <a:latin typeface="FreeMono"/>
                <a:cs typeface="FreeMono"/>
              </a:rPr>
              <a:t>str = 'Tomy: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9706612345'</a:t>
            </a:r>
            <a:endParaRPr sz="1200">
              <a:latin typeface="FreeMono"/>
              <a:cs typeface="FreeMono"/>
            </a:endParaRPr>
          </a:p>
          <a:p>
            <a:pPr marL="89535" marR="5478145">
              <a:lnSpc>
                <a:spcPct val="178500"/>
              </a:lnSpc>
            </a:pPr>
            <a:r>
              <a:rPr sz="1200" dirty="0">
                <a:latin typeface="FreeMono"/>
                <a:cs typeface="FreeMono"/>
              </a:rPr>
              <a:t>res =</a:t>
            </a:r>
            <a:r>
              <a:rPr sz="1200" spc="-7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re.serach(r'\D+',</a:t>
            </a:r>
            <a:r>
              <a:rPr sz="1200" spc="-3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str)  print(res.group())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269" y="1041044"/>
            <a:ext cx="19456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To retrieve only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name</a:t>
            </a:r>
            <a:endParaRPr sz="1200">
              <a:latin typeface="FreeMono"/>
              <a:cs typeface="FreeMono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97840" y="3189884"/>
          <a:ext cx="8143238" cy="2158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6505"/>
                <a:gridCol w="2759710"/>
                <a:gridCol w="395604"/>
                <a:gridCol w="989964"/>
                <a:gridCol w="2751455"/>
              </a:tblGrid>
              <a:tr h="72009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character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33274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Description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B2B2B2"/>
                    </a:solidFill>
                  </a:tcPr>
                </a:tc>
              </a:tr>
              <a:tr h="720089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\D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33274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Matches from any</a:t>
                      </a:r>
                      <a:r>
                        <a:rPr sz="1200" spc="-8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non-digit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CCCC"/>
                    </a:solidFill>
                  </a:tcPr>
                </a:tc>
              </a:tr>
              <a:tr h="71882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+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3327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1 or </a:t>
                      </a:r>
                      <a:r>
                        <a:rPr sz="1300" spc="-5" dirty="0">
                          <a:latin typeface="FreeMono"/>
                          <a:cs typeface="FreeMono"/>
                        </a:rPr>
                        <a:t>more repetitions</a:t>
                      </a:r>
                      <a:r>
                        <a:rPr sz="1300" spc="-5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of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spc="-5" dirty="0">
                          <a:latin typeface="FreeMono"/>
                          <a:cs typeface="FreeMono"/>
                        </a:rPr>
                        <a:t>the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spc="-5" dirty="0">
                          <a:latin typeface="FreeMono"/>
                          <a:cs typeface="FreeMono"/>
                        </a:rPr>
                        <a:t>preceding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spc="-5" dirty="0">
                          <a:latin typeface="FreeMono"/>
                          <a:cs typeface="FreeMono"/>
                        </a:rPr>
                        <a:t>regexp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E5E5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99974"/>
            <a:ext cx="237807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RE:</a:t>
            </a:r>
            <a:r>
              <a:rPr b="1" spc="-60" dirty="0">
                <a:latin typeface="DejaVu Sans"/>
                <a:cs typeface="DejaVu Sans"/>
              </a:rPr>
              <a:t> </a:t>
            </a:r>
            <a:r>
              <a:rPr spc="-5" dirty="0"/>
              <a:t>Quantifiers</a:t>
            </a: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xample-3: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4190" y="1251864"/>
            <a:ext cx="8135620" cy="1844039"/>
          </a:xfrm>
          <a:prstGeom prst="rect">
            <a:avLst/>
          </a:prstGeom>
          <a:solidFill>
            <a:srgbClr val="EDEDED"/>
          </a:solidFill>
          <a:ln w="3175">
            <a:solidFill>
              <a:srgbClr val="EC1B2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  <a:spcBef>
                <a:spcPts val="880"/>
              </a:spcBef>
            </a:pPr>
            <a:r>
              <a:rPr sz="1200" dirty="0">
                <a:latin typeface="FreeMono"/>
                <a:cs typeface="FreeMono"/>
              </a:rPr>
              <a:t>import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</a:t>
            </a:r>
            <a:endParaRPr sz="1200">
              <a:latin typeface="FreeMono"/>
              <a:cs typeface="FreeMono"/>
            </a:endParaRPr>
          </a:p>
          <a:p>
            <a:pPr marL="89535" marR="2643505">
              <a:lnSpc>
                <a:spcPct val="178500"/>
              </a:lnSpc>
              <a:spcBef>
                <a:spcPts val="10"/>
              </a:spcBef>
            </a:pPr>
            <a:r>
              <a:rPr sz="1200" dirty="0">
                <a:latin typeface="FreeMono"/>
                <a:cs typeface="FreeMono"/>
              </a:rPr>
              <a:t>str = 'anil akhil anant arun arati arundhati</a:t>
            </a:r>
            <a:r>
              <a:rPr sz="1200" spc="-9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abhijit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ankur'  res = re.findall(r'a[nk][\w]*',</a:t>
            </a:r>
            <a:r>
              <a:rPr sz="1200" spc="-1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str)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FreeMono"/>
              <a:cs typeface="FreeMono"/>
            </a:endParaRPr>
          </a:p>
          <a:p>
            <a:pPr marL="89535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FreeMono"/>
                <a:cs typeface="FreeMono"/>
              </a:rPr>
              <a:t>print(res)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269" y="1041044"/>
            <a:ext cx="44145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To retrieve all words starting with “an” or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“ak”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99974"/>
            <a:ext cx="237807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RE:</a:t>
            </a:r>
            <a:r>
              <a:rPr b="1" spc="-60" dirty="0">
                <a:latin typeface="DejaVu Sans"/>
                <a:cs typeface="DejaVu Sans"/>
              </a:rPr>
              <a:t> </a:t>
            </a:r>
            <a:r>
              <a:rPr spc="-5" dirty="0"/>
              <a:t>Quantifiers</a:t>
            </a: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xample-4: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4190" y="1251864"/>
            <a:ext cx="8135620" cy="1844039"/>
          </a:xfrm>
          <a:prstGeom prst="rect">
            <a:avLst/>
          </a:prstGeom>
          <a:solidFill>
            <a:srgbClr val="EDEDED"/>
          </a:solidFill>
          <a:ln w="3175">
            <a:solidFill>
              <a:srgbClr val="EC1B2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1200" dirty="0">
                <a:latin typeface="FreeMono"/>
                <a:cs typeface="FreeMono"/>
              </a:rPr>
              <a:t>import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FreeMono"/>
              <a:cs typeface="FreeMono"/>
            </a:endParaRPr>
          </a:p>
          <a:p>
            <a:pPr marL="89535">
              <a:lnSpc>
                <a:spcPct val="100000"/>
              </a:lnSpc>
            </a:pPr>
            <a:r>
              <a:rPr sz="1200" dirty="0">
                <a:latin typeface="FreeMono"/>
                <a:cs typeface="FreeMono"/>
              </a:rPr>
              <a:t>str = 'Vijay 20 1-5-2001, Rohit 21 22-10-1990, Sita 22</a:t>
            </a:r>
            <a:r>
              <a:rPr sz="1200" spc="-3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15-09-2000'</a:t>
            </a:r>
            <a:endParaRPr sz="1200">
              <a:latin typeface="FreeMono"/>
              <a:cs typeface="FreeMono"/>
            </a:endParaRPr>
          </a:p>
          <a:p>
            <a:pPr marL="89535" marR="4106545">
              <a:lnSpc>
                <a:spcPct val="178500"/>
              </a:lnSpc>
            </a:pPr>
            <a:r>
              <a:rPr sz="1200" dirty="0">
                <a:latin typeface="FreeMono"/>
                <a:cs typeface="FreeMono"/>
              </a:rPr>
              <a:t>res =</a:t>
            </a:r>
            <a:r>
              <a:rPr sz="1200" spc="-7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re.findall(r'\d{2}-\d{2}-\d{4}',</a:t>
            </a:r>
            <a:r>
              <a:rPr sz="1200" spc="-3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str)  print(res)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269" y="1041044"/>
            <a:ext cx="26771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To retrieve DoB from a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string</a:t>
            </a:r>
            <a:endParaRPr sz="1200">
              <a:latin typeface="FreeMono"/>
              <a:cs typeface="FreeMono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97840" y="3189884"/>
          <a:ext cx="8145778" cy="14401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4039"/>
                <a:gridCol w="1083310"/>
                <a:gridCol w="488314"/>
                <a:gridCol w="763270"/>
                <a:gridCol w="671195"/>
                <a:gridCol w="305435"/>
                <a:gridCol w="397510"/>
                <a:gridCol w="671195"/>
                <a:gridCol w="305435"/>
                <a:gridCol w="1616075"/>
              </a:tblGrid>
              <a:tr h="720090">
                <a:tc gridSpan="10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2042795" algn="l"/>
                        </a:tabLst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RE	Description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B2B2B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720089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\d{2}-\d{2}-\d{4}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98755" marR="52705">
                        <a:lnSpc>
                          <a:spcPts val="1200"/>
                        </a:lnSpc>
                        <a:spcBef>
                          <a:spcPts val="36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Retrieves  4digits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only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numeric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digits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in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the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format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of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2digits-2digits-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910" y="4660544"/>
            <a:ext cx="45199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latin typeface="DejaVu Sans"/>
                <a:cs typeface="DejaVu Sans"/>
              </a:rPr>
              <a:t>RE: </a:t>
            </a:r>
            <a:r>
              <a:rPr sz="3200" spc="-10" dirty="0">
                <a:solidFill>
                  <a:srgbClr val="FFFFFF"/>
                </a:solidFill>
                <a:latin typeface="DejaVu Sans"/>
                <a:cs typeface="DejaVu Sans"/>
              </a:rPr>
              <a:t>Special</a:t>
            </a:r>
            <a:r>
              <a:rPr sz="3200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DejaVu Sans"/>
                <a:cs typeface="DejaVu Sans"/>
              </a:rPr>
              <a:t>Character</a:t>
            </a:r>
            <a:endParaRPr sz="3200"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191414"/>
            <a:ext cx="3556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RE: </a:t>
            </a:r>
            <a:r>
              <a:rPr spc="-5" dirty="0"/>
              <a:t>Special</a:t>
            </a:r>
            <a:r>
              <a:rPr spc="-30" dirty="0"/>
              <a:t> </a:t>
            </a:r>
            <a:r>
              <a:rPr spc="-5" dirty="0"/>
              <a:t>Characters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16229" y="1037234"/>
          <a:ext cx="8539480" cy="39014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39480"/>
              </a:tblGrid>
              <a:tr h="4457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90"/>
                        </a:spcBef>
                        <a:tabLst>
                          <a:tab pos="4361815" algn="l"/>
                        </a:tabLst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Character	Description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B2B2B2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586105">
                        <a:lnSpc>
                          <a:spcPct val="100000"/>
                        </a:lnSpc>
                        <a:spcBef>
                          <a:spcPts val="90"/>
                        </a:spcBef>
                        <a:tabLst>
                          <a:tab pos="1363345" algn="l"/>
                        </a:tabLst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\	Escape special character</a:t>
                      </a:r>
                      <a:r>
                        <a:rPr sz="1300" spc="-1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nature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CCCCCC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586105">
                        <a:lnSpc>
                          <a:spcPct val="100000"/>
                        </a:lnSpc>
                        <a:spcBef>
                          <a:spcPts val="90"/>
                        </a:spcBef>
                        <a:tabLst>
                          <a:tab pos="1363345" algn="l"/>
                        </a:tabLst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.	Matches any character except new</a:t>
                      </a:r>
                      <a:r>
                        <a:rPr sz="1300" spc="-1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line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E5E5E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586105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1363345" algn="l"/>
                        </a:tabLst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^	Matches begining of the</a:t>
                      </a:r>
                      <a:r>
                        <a:rPr sz="1300" spc="-1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string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2700" marB="0">
                    <a:solidFill>
                      <a:srgbClr val="CCCCCC"/>
                    </a:solidFill>
                  </a:tcPr>
                </a:tc>
              </a:tr>
              <a:tr h="433069">
                <a:tc>
                  <a:txBody>
                    <a:bodyPr/>
                    <a:lstStyle/>
                    <a:p>
                      <a:pPr marL="586105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1363345" algn="l"/>
                        </a:tabLst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$	Matches ending of a</a:t>
                      </a:r>
                      <a:r>
                        <a:rPr sz="1300" spc="-1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string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2700" marB="0">
                    <a:solidFill>
                      <a:srgbClr val="E5E5E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389890">
                        <a:lnSpc>
                          <a:spcPts val="1425"/>
                        </a:lnSpc>
                        <a:spcBef>
                          <a:spcPts val="90"/>
                        </a:spcBef>
                        <a:tabLst>
                          <a:tab pos="1363345" algn="l"/>
                          <a:tab pos="2453005" algn="l"/>
                        </a:tabLst>
                      </a:pPr>
                      <a:r>
                        <a:rPr sz="1300" spc="-5" dirty="0">
                          <a:latin typeface="FreeMono"/>
                          <a:cs typeface="FreeMono"/>
                        </a:rPr>
                        <a:t>[...]	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Denotes a	set of possible</a:t>
                      </a:r>
                      <a:r>
                        <a:rPr sz="1300" spc="-1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characters</a:t>
                      </a:r>
                      <a:endParaRPr sz="1300">
                        <a:latin typeface="FreeMono"/>
                        <a:cs typeface="FreeMono"/>
                      </a:endParaRPr>
                    </a:p>
                    <a:p>
                      <a:pPr marL="1363980">
                        <a:lnSpc>
                          <a:spcPts val="1425"/>
                        </a:lnSpc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Ex: [6b-d] matches any characters 6, b, c,</a:t>
                      </a:r>
                      <a:r>
                        <a:rPr sz="1300" spc="-2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d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CCCCCC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1363980" marR="1720214" indent="-1024890">
                        <a:lnSpc>
                          <a:spcPts val="1300"/>
                        </a:lnSpc>
                        <a:spcBef>
                          <a:spcPts val="350"/>
                        </a:spcBef>
                        <a:tabLst>
                          <a:tab pos="1363345" algn="l"/>
                        </a:tabLst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[^...]	Matches every character except the ones</a:t>
                      </a:r>
                      <a:r>
                        <a:rPr sz="1300" spc="-9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inside</a:t>
                      </a:r>
                      <a:r>
                        <a:rPr sz="1300" spc="-1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brackets  Ex: [^a-c6] matches any character except a, b, c or</a:t>
                      </a:r>
                      <a:r>
                        <a:rPr sz="1300" spc="-8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6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44450" marB="0">
                    <a:solidFill>
                      <a:srgbClr val="E5E5E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389890">
                        <a:lnSpc>
                          <a:spcPct val="100000"/>
                        </a:lnSpc>
                        <a:spcBef>
                          <a:spcPts val="90"/>
                        </a:spcBef>
                        <a:tabLst>
                          <a:tab pos="1363345" algn="l"/>
                        </a:tabLst>
                      </a:pPr>
                      <a:r>
                        <a:rPr sz="1300" spc="-5" dirty="0">
                          <a:latin typeface="FreeMono"/>
                          <a:cs typeface="FreeMono"/>
                        </a:rPr>
                        <a:t>(...)	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Matches the RE inside the parentheses and the result can be</a:t>
                      </a:r>
                      <a:r>
                        <a:rPr sz="1300" spc="-7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captured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CCCCCC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389890">
                        <a:lnSpc>
                          <a:spcPct val="100000"/>
                        </a:lnSpc>
                        <a:spcBef>
                          <a:spcPts val="90"/>
                        </a:spcBef>
                        <a:tabLst>
                          <a:tab pos="1363345" algn="l"/>
                        </a:tabLst>
                      </a:pPr>
                      <a:r>
                        <a:rPr sz="1300" dirty="0">
                          <a:latin typeface="FreeMono"/>
                          <a:cs typeface="FreeMono"/>
                        </a:rPr>
                        <a:t>R</a:t>
                      </a:r>
                      <a:r>
                        <a:rPr sz="1300" spc="-1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|</a:t>
                      </a:r>
                      <a:r>
                        <a:rPr sz="1300" spc="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S	matches either regex R or regex</a:t>
                      </a:r>
                      <a:r>
                        <a:rPr sz="1300" spc="-1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300" dirty="0">
                          <a:latin typeface="FreeMono"/>
                          <a:cs typeface="FreeMono"/>
                        </a:rPr>
                        <a:t>S</a:t>
                      </a:r>
                      <a:endParaRPr sz="1300">
                        <a:latin typeface="FreeMono"/>
                        <a:cs typeface="FreeMono"/>
                      </a:endParaRPr>
                    </a:p>
                  </a:txBody>
                  <a:tcPr marL="0" marR="0" marT="11430" marB="0">
                    <a:solidFill>
                      <a:srgbClr val="E5E5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99974"/>
            <a:ext cx="35560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RE: </a:t>
            </a:r>
            <a:r>
              <a:rPr spc="-5" dirty="0"/>
              <a:t>Special</a:t>
            </a:r>
            <a:r>
              <a:rPr spc="-30" dirty="0"/>
              <a:t> </a:t>
            </a:r>
            <a:r>
              <a:rPr spc="-5" dirty="0"/>
              <a:t>Characters</a:t>
            </a: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xample-1: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4190" y="1251864"/>
            <a:ext cx="8135620" cy="2419350"/>
          </a:xfrm>
          <a:prstGeom prst="rect">
            <a:avLst/>
          </a:prstGeom>
          <a:solidFill>
            <a:srgbClr val="EDEDED"/>
          </a:solidFill>
          <a:ln w="3175">
            <a:solidFill>
              <a:srgbClr val="EC1B2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1200" dirty="0">
                <a:latin typeface="FreeMono"/>
                <a:cs typeface="FreeMono"/>
              </a:rPr>
              <a:t>import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FreeMono"/>
              <a:cs typeface="FreeMono"/>
            </a:endParaRPr>
          </a:p>
          <a:p>
            <a:pPr marL="89535">
              <a:lnSpc>
                <a:spcPct val="100000"/>
              </a:lnSpc>
            </a:pPr>
            <a:r>
              <a:rPr sz="1200" dirty="0">
                <a:latin typeface="FreeMono"/>
                <a:cs typeface="FreeMono"/>
              </a:rPr>
              <a:t>str = "Hello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World"</a:t>
            </a:r>
            <a:endParaRPr sz="1200">
              <a:latin typeface="FreeMono"/>
              <a:cs typeface="FreeMono"/>
            </a:endParaRPr>
          </a:p>
          <a:p>
            <a:pPr marL="89535" marR="5478145">
              <a:lnSpc>
                <a:spcPct val="178500"/>
              </a:lnSpc>
            </a:pPr>
            <a:r>
              <a:rPr sz="1200" dirty="0">
                <a:latin typeface="FreeMono"/>
                <a:cs typeface="FreeMono"/>
              </a:rPr>
              <a:t>res =</a:t>
            </a:r>
            <a:r>
              <a:rPr sz="1200" spc="-7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re.search(r"^He",</a:t>
            </a:r>
            <a:r>
              <a:rPr sz="1200" spc="-3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str)  if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res:</a:t>
            </a:r>
            <a:endParaRPr sz="1200">
              <a:latin typeface="FreeMono"/>
              <a:cs typeface="FreeMono"/>
            </a:endParaRPr>
          </a:p>
          <a:p>
            <a:pPr marL="89535" marR="4746625" indent="365760">
              <a:lnSpc>
                <a:spcPct val="178500"/>
              </a:lnSpc>
            </a:pPr>
            <a:r>
              <a:rPr sz="1200" dirty="0">
                <a:latin typeface="FreeMono"/>
                <a:cs typeface="FreeMono"/>
              </a:rPr>
              <a:t>print("String starts</a:t>
            </a:r>
            <a:r>
              <a:rPr sz="1200" spc="-7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with</a:t>
            </a:r>
            <a:r>
              <a:rPr sz="1200" spc="-3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'He'")  else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7419" y="3805834"/>
            <a:ext cx="3683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print("String does not start with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'He'")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9269" y="1041044"/>
            <a:ext cx="56032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To search whether a given string is starting with ‘He’ or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not</a:t>
            </a:r>
            <a:endParaRPr sz="1200">
              <a:latin typeface="FreeMono"/>
              <a:cs typeface="FreeMon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94030" y="4348124"/>
          <a:ext cx="8143240" cy="8915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4765"/>
                <a:gridCol w="1341755"/>
                <a:gridCol w="457200"/>
                <a:gridCol w="365760"/>
                <a:gridCol w="4683760"/>
              </a:tblGrid>
              <a:tr h="243839">
                <a:tc gridSpan="5"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2041525" algn="l"/>
                        </a:tabLst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RE	Description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B2B2B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4770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“^He”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74676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Search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from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the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begining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99974"/>
            <a:ext cx="35560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RE: </a:t>
            </a:r>
            <a:r>
              <a:rPr spc="-5" dirty="0"/>
              <a:t>Special</a:t>
            </a:r>
            <a:r>
              <a:rPr spc="-30" dirty="0"/>
              <a:t> </a:t>
            </a:r>
            <a:r>
              <a:rPr spc="-5" dirty="0"/>
              <a:t>Characters</a:t>
            </a: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xample-2: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4190" y="1251864"/>
            <a:ext cx="8135620" cy="2419350"/>
          </a:xfrm>
          <a:prstGeom prst="rect">
            <a:avLst/>
          </a:prstGeom>
          <a:solidFill>
            <a:srgbClr val="EDEDED"/>
          </a:solidFill>
          <a:ln w="3175">
            <a:solidFill>
              <a:srgbClr val="EC1B2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1200" dirty="0">
                <a:latin typeface="FreeMono"/>
                <a:cs typeface="FreeMono"/>
              </a:rPr>
              <a:t>import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FreeMono"/>
              <a:cs typeface="FreeMono"/>
            </a:endParaRPr>
          </a:p>
          <a:p>
            <a:pPr marL="89535">
              <a:lnSpc>
                <a:spcPct val="100000"/>
              </a:lnSpc>
            </a:pPr>
            <a:r>
              <a:rPr sz="1200" dirty="0">
                <a:latin typeface="FreeMono"/>
                <a:cs typeface="FreeMono"/>
              </a:rPr>
              <a:t>str = "Hello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World"</a:t>
            </a:r>
            <a:endParaRPr sz="1200">
              <a:latin typeface="FreeMono"/>
              <a:cs typeface="FreeMono"/>
            </a:endParaRPr>
          </a:p>
          <a:p>
            <a:pPr marL="89535" marR="5203825">
              <a:lnSpc>
                <a:spcPct val="178500"/>
              </a:lnSpc>
            </a:pPr>
            <a:r>
              <a:rPr sz="1200" dirty="0">
                <a:latin typeface="FreeMono"/>
                <a:cs typeface="FreeMono"/>
              </a:rPr>
              <a:t>res =</a:t>
            </a:r>
            <a:r>
              <a:rPr sz="1200" spc="-7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re.search(r"World$",</a:t>
            </a:r>
            <a:r>
              <a:rPr sz="1200" spc="-3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str)  if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res:</a:t>
            </a:r>
            <a:endParaRPr sz="1200">
              <a:latin typeface="FreeMono"/>
              <a:cs typeface="FreeMono"/>
            </a:endParaRPr>
          </a:p>
          <a:p>
            <a:pPr marL="89535" marR="4655185" indent="365760">
              <a:lnSpc>
                <a:spcPts val="2580"/>
              </a:lnSpc>
              <a:spcBef>
                <a:spcPts val="265"/>
              </a:spcBef>
            </a:pPr>
            <a:r>
              <a:rPr sz="1200" dirty="0">
                <a:latin typeface="FreeMono"/>
                <a:cs typeface="FreeMono"/>
              </a:rPr>
              <a:t>print("String ends</a:t>
            </a:r>
            <a:r>
              <a:rPr sz="1200" spc="-7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with</a:t>
            </a:r>
            <a:r>
              <a:rPr sz="1200" spc="-3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'World'")  else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7419" y="3597554"/>
            <a:ext cx="3774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print("String does not end with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'World'")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9269" y="1041044"/>
            <a:ext cx="679195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To search whether a given string is starting with ‘He’ or not from the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end</a:t>
            </a:r>
            <a:endParaRPr sz="1200">
              <a:latin typeface="FreeMono"/>
              <a:cs typeface="FreeMon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94030" y="4348124"/>
          <a:ext cx="8143239" cy="8915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1925"/>
                <a:gridCol w="1204595"/>
                <a:gridCol w="457200"/>
                <a:gridCol w="365759"/>
                <a:gridCol w="4683760"/>
              </a:tblGrid>
              <a:tr h="243839">
                <a:tc gridSpan="5"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2041525" algn="l"/>
                        </a:tabLst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RE	Description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B2B2B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4770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“World$”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6096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Search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from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the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end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99974"/>
            <a:ext cx="35560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RE: </a:t>
            </a:r>
            <a:r>
              <a:rPr spc="-5" dirty="0"/>
              <a:t>Special</a:t>
            </a:r>
            <a:r>
              <a:rPr spc="-30" dirty="0"/>
              <a:t> </a:t>
            </a:r>
            <a:r>
              <a:rPr spc="-5" dirty="0"/>
              <a:t>Characters</a:t>
            </a: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xample-3: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04190" y="1540154"/>
            <a:ext cx="8135620" cy="2419350"/>
            <a:chOff x="504190" y="1540154"/>
            <a:chExt cx="8135620" cy="2419350"/>
          </a:xfrm>
        </p:grpSpPr>
        <p:sp>
          <p:nvSpPr>
            <p:cNvPr id="4" name="object 4"/>
            <p:cNvSpPr/>
            <p:nvPr/>
          </p:nvSpPr>
          <p:spPr>
            <a:xfrm>
              <a:off x="504190" y="1540154"/>
              <a:ext cx="8135620" cy="2419350"/>
            </a:xfrm>
            <a:custGeom>
              <a:avLst/>
              <a:gdLst/>
              <a:ahLst/>
              <a:cxnLst/>
              <a:rect l="l" t="t" r="r" b="b"/>
              <a:pathLst>
                <a:path w="8135620" h="2419350">
                  <a:moveTo>
                    <a:pt x="8135619" y="0"/>
                  </a:moveTo>
                  <a:lnTo>
                    <a:pt x="0" y="0"/>
                  </a:lnTo>
                  <a:lnTo>
                    <a:pt x="0" y="2419350"/>
                  </a:lnTo>
                  <a:lnTo>
                    <a:pt x="8135619" y="241935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4190" y="1540154"/>
              <a:ext cx="8135620" cy="2419350"/>
            </a:xfrm>
            <a:custGeom>
              <a:avLst/>
              <a:gdLst/>
              <a:ahLst/>
              <a:cxnLst/>
              <a:rect l="l" t="t" r="r" b="b"/>
              <a:pathLst>
                <a:path w="8135620" h="2419350">
                  <a:moveTo>
                    <a:pt x="4067810" y="2419350"/>
                  </a:moveTo>
                  <a:lnTo>
                    <a:pt x="0" y="2419350"/>
                  </a:lnTo>
                  <a:lnTo>
                    <a:pt x="0" y="0"/>
                  </a:lnTo>
                  <a:lnTo>
                    <a:pt x="8135619" y="0"/>
                  </a:lnTo>
                  <a:lnTo>
                    <a:pt x="8135619" y="2419350"/>
                  </a:lnTo>
                  <a:lnTo>
                    <a:pt x="4067810" y="2419350"/>
                  </a:lnTo>
                  <a:close/>
                </a:path>
              </a:pathLst>
            </a:custGeom>
            <a:ln w="3175">
              <a:solidFill>
                <a:srgbClr val="EC1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81659" y="2181504"/>
            <a:ext cx="4231640" cy="2166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import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FreeMono"/>
              <a:cs typeface="FreeMono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FreeMono"/>
                <a:cs typeface="FreeMono"/>
              </a:rPr>
              <a:t>str = "Hello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World"</a:t>
            </a:r>
            <a:endParaRPr sz="1200">
              <a:latin typeface="FreeMono"/>
              <a:cs typeface="FreeMono"/>
            </a:endParaRPr>
          </a:p>
          <a:p>
            <a:pPr marL="12700" marR="5080">
              <a:lnSpc>
                <a:spcPct val="178500"/>
              </a:lnSpc>
            </a:pPr>
            <a:r>
              <a:rPr sz="1200" dirty="0">
                <a:latin typeface="FreeMono"/>
                <a:cs typeface="FreeMono"/>
              </a:rPr>
              <a:t>res = re.search(r"world$",</a:t>
            </a:r>
            <a:r>
              <a:rPr sz="1200" spc="-7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str,</a:t>
            </a:r>
            <a:r>
              <a:rPr sz="1200" spc="-2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re.IGNORECASE)  if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res:</a:t>
            </a:r>
            <a:endParaRPr sz="1200">
              <a:latin typeface="FreeMono"/>
              <a:cs typeface="FreeMono"/>
            </a:endParaRPr>
          </a:p>
          <a:p>
            <a:pPr marL="12700" marR="828040" indent="365760">
              <a:lnSpc>
                <a:spcPct val="178500"/>
              </a:lnSpc>
            </a:pPr>
            <a:r>
              <a:rPr sz="1200" dirty="0">
                <a:latin typeface="FreeMono"/>
                <a:cs typeface="FreeMono"/>
              </a:rPr>
              <a:t>print("String ends</a:t>
            </a:r>
            <a:r>
              <a:rPr sz="1200" spc="-7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with</a:t>
            </a:r>
            <a:r>
              <a:rPr sz="1200" spc="-3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'world'")  else: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FreeMono"/>
              <a:cs typeface="FreeMono"/>
            </a:endParaRPr>
          </a:p>
          <a:p>
            <a:pPr marL="377825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FreeMono"/>
                <a:cs typeface="FreeMono"/>
              </a:rPr>
              <a:t>print("String does not end with</a:t>
            </a:r>
            <a:r>
              <a:rPr sz="1200" spc="-8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'world'")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1659" y="6099454"/>
            <a:ext cx="12141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re.IGNORECASE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9269" y="1041044"/>
            <a:ext cx="7340600" cy="38989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To search whether a given string is starting with ‘World’ or not from the</a:t>
            </a:r>
            <a:r>
              <a:rPr sz="1200" spc="-9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end</a:t>
            </a:r>
            <a:r>
              <a:rPr sz="1200" spc="-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by  ignoring the</a:t>
            </a:r>
            <a:r>
              <a:rPr sz="1200" spc="-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case</a:t>
            </a:r>
            <a:endParaRPr sz="1200">
              <a:latin typeface="FreeMono"/>
              <a:cs typeface="FreeMono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94030" y="4348124"/>
          <a:ext cx="8143238" cy="1610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0525"/>
                <a:gridCol w="975994"/>
                <a:gridCol w="365760"/>
                <a:gridCol w="457199"/>
                <a:gridCol w="4683760"/>
              </a:tblGrid>
              <a:tr h="24384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RE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B2B2B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3810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Description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B2B2B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84529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“World$”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R="38100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Search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from</a:t>
                      </a:r>
                      <a:r>
                        <a:rPr sz="1200" spc="-7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the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end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</a:tr>
              <a:tr h="681989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re.IGNORECASE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R="38100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Ignore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the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E5E5E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case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E5E5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99974"/>
            <a:ext cx="35560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RE: </a:t>
            </a:r>
            <a:r>
              <a:rPr spc="-5" dirty="0"/>
              <a:t>Special</a:t>
            </a:r>
            <a:r>
              <a:rPr spc="-30" dirty="0"/>
              <a:t> </a:t>
            </a:r>
            <a:r>
              <a:rPr spc="-5" dirty="0"/>
              <a:t>Characters</a:t>
            </a: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xample-4: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4190" y="1540154"/>
            <a:ext cx="8135620" cy="2419350"/>
          </a:xfrm>
          <a:prstGeom prst="rect">
            <a:avLst/>
          </a:prstGeom>
          <a:solidFill>
            <a:srgbClr val="EDEDED"/>
          </a:solidFill>
          <a:ln w="3175">
            <a:solidFill>
              <a:srgbClr val="EC1B2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  <a:spcBef>
                <a:spcPts val="819"/>
              </a:spcBef>
            </a:pPr>
            <a:r>
              <a:rPr sz="1200" dirty="0">
                <a:latin typeface="FreeMono"/>
                <a:cs typeface="FreeMono"/>
              </a:rPr>
              <a:t>import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</a:t>
            </a:r>
            <a:endParaRPr sz="1200">
              <a:latin typeface="FreeMono"/>
              <a:cs typeface="FreeMono"/>
            </a:endParaRPr>
          </a:p>
          <a:p>
            <a:pPr marL="89535" marR="3009265">
              <a:lnSpc>
                <a:spcPct val="178500"/>
              </a:lnSpc>
            </a:pPr>
            <a:r>
              <a:rPr sz="1200" dirty="0">
                <a:latin typeface="FreeMono"/>
                <a:cs typeface="FreeMono"/>
              </a:rPr>
              <a:t>str = 'The meeting may be at 8am or 9am or 4pm</a:t>
            </a:r>
            <a:r>
              <a:rPr sz="1200" spc="-9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or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5pm.'  res = re.findall(r'\dam|\dpm',</a:t>
            </a:r>
            <a:r>
              <a:rPr sz="1200" spc="-1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str)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FreeMono"/>
              <a:cs typeface="FreeMono"/>
            </a:endParaRPr>
          </a:p>
          <a:p>
            <a:pPr marL="89535">
              <a:lnSpc>
                <a:spcPct val="100000"/>
              </a:lnSpc>
            </a:pPr>
            <a:r>
              <a:rPr sz="1200" dirty="0">
                <a:latin typeface="FreeMono"/>
                <a:cs typeface="FreeMono"/>
              </a:rPr>
              <a:t>print(res)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269" y="1041044"/>
            <a:ext cx="29514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To retrieve the timings am or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pm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910" y="4660544"/>
            <a:ext cx="25184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latin typeface="DejaVu Sans"/>
                <a:cs typeface="DejaVu Sans"/>
              </a:rPr>
              <a:t>RE: </a:t>
            </a:r>
            <a:r>
              <a:rPr sz="3200" spc="-5" dirty="0">
                <a:solidFill>
                  <a:srgbClr val="FFFFFF"/>
                </a:solidFill>
                <a:latin typeface="DejaVu Sans"/>
                <a:cs typeface="DejaVu Sans"/>
              </a:rPr>
              <a:t>On</a:t>
            </a:r>
            <a:r>
              <a:rPr sz="3200" spc="-7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DejaVu Sans"/>
                <a:cs typeface="DejaVu Sans"/>
              </a:rPr>
              <a:t>Files</a:t>
            </a:r>
            <a:endParaRPr sz="3200"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99974"/>
            <a:ext cx="189674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RE: </a:t>
            </a:r>
            <a:r>
              <a:rPr spc="-5" dirty="0"/>
              <a:t>On</a:t>
            </a:r>
            <a:r>
              <a:rPr spc="-60" dirty="0"/>
              <a:t> </a:t>
            </a:r>
            <a:r>
              <a:rPr spc="-40" dirty="0"/>
              <a:t>Files</a:t>
            </a: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xample-1: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04190" y="1441094"/>
            <a:ext cx="8135620" cy="4507230"/>
            <a:chOff x="504190" y="1441094"/>
            <a:chExt cx="8135620" cy="4507230"/>
          </a:xfrm>
        </p:grpSpPr>
        <p:sp>
          <p:nvSpPr>
            <p:cNvPr id="4" name="object 4"/>
            <p:cNvSpPr/>
            <p:nvPr/>
          </p:nvSpPr>
          <p:spPr>
            <a:xfrm>
              <a:off x="504190" y="1441094"/>
              <a:ext cx="8135620" cy="4507230"/>
            </a:xfrm>
            <a:custGeom>
              <a:avLst/>
              <a:gdLst/>
              <a:ahLst/>
              <a:cxnLst/>
              <a:rect l="l" t="t" r="r" b="b"/>
              <a:pathLst>
                <a:path w="8135620" h="4507230">
                  <a:moveTo>
                    <a:pt x="8135619" y="0"/>
                  </a:moveTo>
                  <a:lnTo>
                    <a:pt x="0" y="0"/>
                  </a:lnTo>
                  <a:lnTo>
                    <a:pt x="0" y="4507230"/>
                  </a:lnTo>
                  <a:lnTo>
                    <a:pt x="8135619" y="450723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4190" y="1441094"/>
              <a:ext cx="8135620" cy="4507230"/>
            </a:xfrm>
            <a:custGeom>
              <a:avLst/>
              <a:gdLst/>
              <a:ahLst/>
              <a:cxnLst/>
              <a:rect l="l" t="t" r="r" b="b"/>
              <a:pathLst>
                <a:path w="8135620" h="4507230">
                  <a:moveTo>
                    <a:pt x="4067810" y="4507230"/>
                  </a:moveTo>
                  <a:lnTo>
                    <a:pt x="0" y="4507230"/>
                  </a:lnTo>
                  <a:lnTo>
                    <a:pt x="0" y="0"/>
                  </a:lnTo>
                  <a:lnTo>
                    <a:pt x="8135619" y="0"/>
                  </a:lnTo>
                  <a:lnTo>
                    <a:pt x="8135619" y="4507230"/>
                  </a:lnTo>
                  <a:lnTo>
                    <a:pt x="4067810" y="4507230"/>
                  </a:lnTo>
                  <a:close/>
                </a:path>
              </a:pathLst>
            </a:custGeom>
            <a:ln w="3175">
              <a:solidFill>
                <a:srgbClr val="EC1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81659" y="2074824"/>
            <a:ext cx="2402840" cy="861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import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FreeMono"/>
              <a:cs typeface="FreeMono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FreeMono"/>
                <a:cs typeface="FreeMono"/>
              </a:rPr>
              <a:t># open file for</a:t>
            </a:r>
            <a:r>
              <a:rPr sz="1200" spc="-6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reading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FreeMono"/>
              <a:cs typeface="FreeMono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FreeMono"/>
                <a:cs typeface="FreeMono"/>
              </a:rPr>
              <a:t>f = open('mails.txt',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'r')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1659" y="3381654"/>
            <a:ext cx="3500120" cy="861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# repeat for each line of the</a:t>
            </a:r>
            <a:r>
              <a:rPr sz="1200" spc="-6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file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FreeMono"/>
              <a:cs typeface="FreeMono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FreeMono"/>
                <a:cs typeface="FreeMono"/>
              </a:rPr>
              <a:t>for line in</a:t>
            </a:r>
            <a:r>
              <a:rPr sz="1200" spc="-1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f: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FreeMono"/>
              <a:cs typeface="FreeMono"/>
            </a:endParaRPr>
          </a:p>
          <a:p>
            <a:pPr marL="377825">
              <a:lnSpc>
                <a:spcPct val="100000"/>
              </a:lnSpc>
            </a:pPr>
            <a:r>
              <a:rPr sz="1200" dirty="0">
                <a:latin typeface="FreeMono"/>
                <a:cs typeface="FreeMono"/>
              </a:rPr>
              <a:t>res = re.findall(r'\s+@\S+',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line)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659" y="4687214"/>
            <a:ext cx="4231640" cy="861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# display if there ara some elements in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result</a:t>
            </a:r>
            <a:endParaRPr sz="1200">
              <a:latin typeface="FreeMono"/>
              <a:cs typeface="FreeMono"/>
            </a:endParaRPr>
          </a:p>
          <a:p>
            <a:pPr marL="377825" marR="2931160" indent="-365760">
              <a:lnSpc>
                <a:spcPct val="178500"/>
              </a:lnSpc>
            </a:pPr>
            <a:r>
              <a:rPr sz="1200" dirty="0">
                <a:latin typeface="FreeMono"/>
                <a:cs typeface="FreeMono"/>
              </a:rPr>
              <a:t>if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len(res)&gt;0:  print(res)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1659" y="5992774"/>
            <a:ext cx="1488440" cy="534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# close the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file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FreeMono"/>
              <a:cs typeface="FreeMono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FreeMono"/>
                <a:cs typeface="FreeMono"/>
              </a:rPr>
              <a:t>f.close()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9269" y="1041044"/>
            <a:ext cx="33172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To retrieve the emails from the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file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99974"/>
            <a:ext cx="189674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RE: </a:t>
            </a:r>
            <a:r>
              <a:rPr spc="-5" dirty="0"/>
              <a:t>On</a:t>
            </a:r>
            <a:r>
              <a:rPr spc="-60" dirty="0"/>
              <a:t> </a:t>
            </a:r>
            <a:r>
              <a:rPr spc="-40" dirty="0"/>
              <a:t>Files</a:t>
            </a: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xample-2: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04190" y="1441094"/>
            <a:ext cx="8135620" cy="4462780"/>
            <a:chOff x="504190" y="1441094"/>
            <a:chExt cx="8135620" cy="4462780"/>
          </a:xfrm>
        </p:grpSpPr>
        <p:sp>
          <p:nvSpPr>
            <p:cNvPr id="4" name="object 4"/>
            <p:cNvSpPr/>
            <p:nvPr/>
          </p:nvSpPr>
          <p:spPr>
            <a:xfrm>
              <a:off x="504190" y="1441094"/>
              <a:ext cx="8135620" cy="4462780"/>
            </a:xfrm>
            <a:custGeom>
              <a:avLst/>
              <a:gdLst/>
              <a:ahLst/>
              <a:cxnLst/>
              <a:rect l="l" t="t" r="r" b="b"/>
              <a:pathLst>
                <a:path w="8135620" h="4462780">
                  <a:moveTo>
                    <a:pt x="8135619" y="0"/>
                  </a:moveTo>
                  <a:lnTo>
                    <a:pt x="0" y="0"/>
                  </a:lnTo>
                  <a:lnTo>
                    <a:pt x="0" y="4462780"/>
                  </a:lnTo>
                  <a:lnTo>
                    <a:pt x="8135619" y="446278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4190" y="1441094"/>
              <a:ext cx="8135620" cy="4462780"/>
            </a:xfrm>
            <a:custGeom>
              <a:avLst/>
              <a:gdLst/>
              <a:ahLst/>
              <a:cxnLst/>
              <a:rect l="l" t="t" r="r" b="b"/>
              <a:pathLst>
                <a:path w="8135620" h="4462780">
                  <a:moveTo>
                    <a:pt x="4067810" y="4462780"/>
                  </a:moveTo>
                  <a:lnTo>
                    <a:pt x="0" y="4462780"/>
                  </a:lnTo>
                  <a:lnTo>
                    <a:pt x="0" y="0"/>
                  </a:lnTo>
                  <a:lnTo>
                    <a:pt x="8135619" y="0"/>
                  </a:lnTo>
                  <a:lnTo>
                    <a:pt x="8135619" y="4462780"/>
                  </a:lnTo>
                  <a:lnTo>
                    <a:pt x="4067810" y="4462780"/>
                  </a:lnTo>
                  <a:close/>
                </a:path>
              </a:pathLst>
            </a:custGeom>
            <a:ln w="3175">
              <a:solidFill>
                <a:srgbClr val="EC1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81659" y="2275484"/>
            <a:ext cx="2402205" cy="79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FreeMono"/>
                <a:cs typeface="FreeMono"/>
              </a:rPr>
              <a:t># </a:t>
            </a:r>
            <a:r>
              <a:rPr sz="1050" spc="-5" dirty="0">
                <a:latin typeface="FreeMono"/>
                <a:cs typeface="FreeMono"/>
              </a:rPr>
              <a:t>Open </a:t>
            </a:r>
            <a:r>
              <a:rPr sz="1050" spc="-10" dirty="0">
                <a:latin typeface="FreeMono"/>
                <a:cs typeface="FreeMono"/>
              </a:rPr>
              <a:t>the</a:t>
            </a:r>
            <a:r>
              <a:rPr sz="1050" spc="-65" dirty="0">
                <a:latin typeface="FreeMono"/>
                <a:cs typeface="FreeMono"/>
              </a:rPr>
              <a:t> </a:t>
            </a:r>
            <a:r>
              <a:rPr sz="1050" spc="-10" dirty="0">
                <a:latin typeface="FreeMono"/>
                <a:cs typeface="FreeMono"/>
              </a:rPr>
              <a:t>files</a:t>
            </a:r>
            <a:endParaRPr sz="1050">
              <a:latin typeface="FreeMono"/>
              <a:cs typeface="FreeMono"/>
            </a:endParaRPr>
          </a:p>
          <a:p>
            <a:pPr marL="12700" marR="5080">
              <a:lnSpc>
                <a:spcPts val="2400"/>
              </a:lnSpc>
              <a:spcBef>
                <a:spcPts val="259"/>
              </a:spcBef>
            </a:pPr>
            <a:r>
              <a:rPr sz="1050" spc="-10" dirty="0">
                <a:latin typeface="FreeMono"/>
                <a:cs typeface="FreeMono"/>
              </a:rPr>
              <a:t>f1 </a:t>
            </a:r>
            <a:r>
              <a:rPr sz="1050" dirty="0">
                <a:latin typeface="FreeMono"/>
                <a:cs typeface="FreeMono"/>
              </a:rPr>
              <a:t>= </a:t>
            </a:r>
            <a:r>
              <a:rPr sz="1050" spc="-10" dirty="0">
                <a:latin typeface="FreeMono"/>
                <a:cs typeface="FreeMono"/>
              </a:rPr>
              <a:t>open('salaries.txt',</a:t>
            </a:r>
            <a:r>
              <a:rPr sz="1050" spc="-100" dirty="0">
                <a:latin typeface="FreeMono"/>
                <a:cs typeface="FreeMono"/>
              </a:rPr>
              <a:t> </a:t>
            </a:r>
            <a:r>
              <a:rPr sz="1050" spc="-10" dirty="0">
                <a:latin typeface="FreeMono"/>
                <a:cs typeface="FreeMono"/>
              </a:rPr>
              <a:t>'r')  f1 </a:t>
            </a:r>
            <a:r>
              <a:rPr sz="1050" dirty="0">
                <a:latin typeface="FreeMono"/>
                <a:cs typeface="FreeMono"/>
              </a:rPr>
              <a:t>= </a:t>
            </a:r>
            <a:r>
              <a:rPr sz="1050" spc="-10" dirty="0">
                <a:latin typeface="FreeMono"/>
                <a:cs typeface="FreeMono"/>
              </a:rPr>
              <a:t>open('newfile.txt',</a:t>
            </a:r>
            <a:r>
              <a:rPr sz="1050" spc="-80" dirty="0">
                <a:latin typeface="FreeMono"/>
                <a:cs typeface="FreeMono"/>
              </a:rPr>
              <a:t> </a:t>
            </a:r>
            <a:r>
              <a:rPr sz="1050" spc="-10" dirty="0">
                <a:latin typeface="FreeMono"/>
                <a:cs typeface="FreeMono"/>
              </a:rPr>
              <a:t>'w')</a:t>
            </a:r>
            <a:endParaRPr sz="1050">
              <a:latin typeface="FreeMono"/>
              <a:cs typeface="Free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1659" y="3490874"/>
            <a:ext cx="5413375" cy="2007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FreeMono"/>
                <a:cs typeface="FreeMono"/>
              </a:rPr>
              <a:t># </a:t>
            </a:r>
            <a:r>
              <a:rPr sz="1050" spc="-5" dirty="0">
                <a:latin typeface="FreeMono"/>
                <a:cs typeface="FreeMono"/>
              </a:rPr>
              <a:t>repeat for </a:t>
            </a:r>
            <a:r>
              <a:rPr sz="1050" spc="-10" dirty="0">
                <a:latin typeface="FreeMono"/>
                <a:cs typeface="FreeMono"/>
              </a:rPr>
              <a:t>each line of </a:t>
            </a:r>
            <a:r>
              <a:rPr sz="1050" spc="-5" dirty="0">
                <a:latin typeface="FreeMono"/>
                <a:cs typeface="FreeMono"/>
              </a:rPr>
              <a:t>the </a:t>
            </a:r>
            <a:r>
              <a:rPr sz="1050" spc="-10" dirty="0">
                <a:latin typeface="FreeMono"/>
                <a:cs typeface="FreeMono"/>
              </a:rPr>
              <a:t>file</a:t>
            </a:r>
            <a:r>
              <a:rPr sz="1050" spc="-110" dirty="0">
                <a:latin typeface="FreeMono"/>
                <a:cs typeface="FreeMono"/>
              </a:rPr>
              <a:t> </a:t>
            </a:r>
            <a:r>
              <a:rPr sz="1050" spc="-10" dirty="0">
                <a:latin typeface="FreeMono"/>
                <a:cs typeface="FreeMono"/>
              </a:rPr>
              <a:t>f1</a:t>
            </a:r>
            <a:endParaRPr sz="105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FreeMono"/>
              <a:cs typeface="FreeMono"/>
            </a:endParaRPr>
          </a:p>
          <a:p>
            <a:pPr marL="12700">
              <a:lnSpc>
                <a:spcPct val="100000"/>
              </a:lnSpc>
            </a:pPr>
            <a:r>
              <a:rPr sz="1050" spc="-10" dirty="0">
                <a:latin typeface="FreeMono"/>
                <a:cs typeface="FreeMono"/>
              </a:rPr>
              <a:t>for </a:t>
            </a:r>
            <a:r>
              <a:rPr sz="1050" spc="-5" dirty="0">
                <a:latin typeface="FreeMono"/>
                <a:cs typeface="FreeMono"/>
              </a:rPr>
              <a:t>line </a:t>
            </a:r>
            <a:r>
              <a:rPr sz="1050" dirty="0">
                <a:latin typeface="FreeMono"/>
                <a:cs typeface="FreeMono"/>
              </a:rPr>
              <a:t>in</a:t>
            </a:r>
            <a:r>
              <a:rPr sz="1050" spc="-45" dirty="0">
                <a:latin typeface="FreeMono"/>
                <a:cs typeface="FreeMono"/>
              </a:rPr>
              <a:t> </a:t>
            </a:r>
            <a:r>
              <a:rPr sz="1050" spc="-10" dirty="0">
                <a:latin typeface="FreeMono"/>
                <a:cs typeface="FreeMono"/>
              </a:rPr>
              <a:t>fi:</a:t>
            </a:r>
            <a:endParaRPr sz="105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FreeMono"/>
              <a:cs typeface="FreeMono"/>
            </a:endParaRPr>
          </a:p>
          <a:p>
            <a:pPr marL="328930">
              <a:lnSpc>
                <a:spcPct val="100000"/>
              </a:lnSpc>
            </a:pPr>
            <a:r>
              <a:rPr sz="1050" spc="-5" dirty="0">
                <a:latin typeface="FreeMono"/>
                <a:cs typeface="FreeMono"/>
              </a:rPr>
              <a:t>res1 </a:t>
            </a:r>
            <a:r>
              <a:rPr sz="1050" dirty="0">
                <a:latin typeface="FreeMono"/>
                <a:cs typeface="FreeMono"/>
              </a:rPr>
              <a:t>= </a:t>
            </a:r>
            <a:r>
              <a:rPr sz="1050" spc="-10" dirty="0">
                <a:latin typeface="FreeMono"/>
                <a:cs typeface="FreeMono"/>
              </a:rPr>
              <a:t>re.search(r'\d{4}', line) </a:t>
            </a:r>
            <a:r>
              <a:rPr sz="1050" dirty="0">
                <a:latin typeface="FreeMono"/>
                <a:cs typeface="FreeMono"/>
              </a:rPr>
              <a:t># </a:t>
            </a:r>
            <a:r>
              <a:rPr sz="1050" spc="-10" dirty="0">
                <a:latin typeface="FreeMono"/>
                <a:cs typeface="FreeMono"/>
              </a:rPr>
              <a:t>exptract id </a:t>
            </a:r>
            <a:r>
              <a:rPr sz="1050" dirty="0">
                <a:latin typeface="FreeMono"/>
                <a:cs typeface="FreeMono"/>
              </a:rPr>
              <a:t>no </a:t>
            </a:r>
            <a:r>
              <a:rPr sz="1050" spc="-10" dirty="0">
                <a:latin typeface="FreeMono"/>
                <a:cs typeface="FreeMono"/>
              </a:rPr>
              <a:t>from</a:t>
            </a:r>
            <a:r>
              <a:rPr sz="1050" spc="-130" dirty="0">
                <a:latin typeface="FreeMono"/>
                <a:cs typeface="FreeMono"/>
              </a:rPr>
              <a:t> </a:t>
            </a:r>
            <a:r>
              <a:rPr sz="1050" dirty="0">
                <a:latin typeface="FreeMono"/>
                <a:cs typeface="FreeMono"/>
              </a:rPr>
              <a:t>f1</a:t>
            </a:r>
            <a:endParaRPr sz="1050">
              <a:latin typeface="FreeMono"/>
              <a:cs typeface="FreeMono"/>
            </a:endParaRPr>
          </a:p>
          <a:p>
            <a:pPr marL="328930" marR="5080">
              <a:lnSpc>
                <a:spcPct val="189700"/>
              </a:lnSpc>
              <a:spcBef>
                <a:spcPts val="10"/>
              </a:spcBef>
            </a:pPr>
            <a:r>
              <a:rPr sz="1050" spc="-5" dirty="0">
                <a:latin typeface="FreeMono"/>
                <a:cs typeface="FreeMono"/>
              </a:rPr>
              <a:t>res2 </a:t>
            </a:r>
            <a:r>
              <a:rPr sz="1050" dirty="0">
                <a:latin typeface="FreeMono"/>
                <a:cs typeface="FreeMono"/>
              </a:rPr>
              <a:t>= </a:t>
            </a:r>
            <a:r>
              <a:rPr sz="1050" spc="-10" dirty="0">
                <a:latin typeface="FreeMono"/>
                <a:cs typeface="FreeMono"/>
              </a:rPr>
              <a:t>re.search(r'\d{4,}.\d{2}', line) </a:t>
            </a:r>
            <a:r>
              <a:rPr sz="1050" dirty="0">
                <a:latin typeface="FreeMono"/>
                <a:cs typeface="FreeMono"/>
              </a:rPr>
              <a:t># </a:t>
            </a:r>
            <a:r>
              <a:rPr sz="1050" spc="-10" dirty="0">
                <a:latin typeface="FreeMono"/>
                <a:cs typeface="FreeMono"/>
              </a:rPr>
              <a:t>extract salary from </a:t>
            </a:r>
            <a:r>
              <a:rPr sz="1050" dirty="0">
                <a:latin typeface="FreeMono"/>
                <a:cs typeface="FreeMono"/>
              </a:rPr>
              <a:t>f1  </a:t>
            </a:r>
            <a:r>
              <a:rPr sz="1050" spc="-10" dirty="0">
                <a:latin typeface="FreeMono"/>
                <a:cs typeface="FreeMono"/>
              </a:rPr>
              <a:t>print(res1.group(), res2.group()) </a:t>
            </a:r>
            <a:r>
              <a:rPr sz="1050" dirty="0">
                <a:latin typeface="FreeMono"/>
                <a:cs typeface="FreeMono"/>
              </a:rPr>
              <a:t># </a:t>
            </a:r>
            <a:r>
              <a:rPr sz="1050" spc="-10" dirty="0">
                <a:latin typeface="FreeMono"/>
                <a:cs typeface="FreeMono"/>
              </a:rPr>
              <a:t>display them  f2.write(res1.group()+"\t") </a:t>
            </a:r>
            <a:r>
              <a:rPr sz="1050" dirty="0">
                <a:latin typeface="FreeMono"/>
                <a:cs typeface="FreeMono"/>
              </a:rPr>
              <a:t># </a:t>
            </a:r>
            <a:r>
              <a:rPr sz="1050" spc="-10" dirty="0">
                <a:latin typeface="FreeMono"/>
                <a:cs typeface="FreeMono"/>
              </a:rPr>
              <a:t>write id no into </a:t>
            </a:r>
            <a:r>
              <a:rPr sz="1050" dirty="0">
                <a:latin typeface="FreeMono"/>
                <a:cs typeface="FreeMono"/>
              </a:rPr>
              <a:t>f2  </a:t>
            </a:r>
            <a:r>
              <a:rPr sz="1050" spc="-10" dirty="0">
                <a:latin typeface="FreeMono"/>
                <a:cs typeface="FreeMono"/>
              </a:rPr>
              <a:t>f2.write(res2.group()+"\n") </a:t>
            </a:r>
            <a:r>
              <a:rPr sz="1050" dirty="0">
                <a:latin typeface="FreeMono"/>
                <a:cs typeface="FreeMono"/>
              </a:rPr>
              <a:t># </a:t>
            </a:r>
            <a:r>
              <a:rPr sz="1050" spc="-10" dirty="0">
                <a:latin typeface="FreeMono"/>
                <a:cs typeface="FreeMono"/>
              </a:rPr>
              <a:t>write salary into</a:t>
            </a:r>
            <a:r>
              <a:rPr sz="1050" spc="-60" dirty="0">
                <a:latin typeface="FreeMono"/>
                <a:cs typeface="FreeMono"/>
              </a:rPr>
              <a:t> </a:t>
            </a:r>
            <a:r>
              <a:rPr sz="1050" spc="-10" dirty="0">
                <a:latin typeface="FreeMono"/>
                <a:cs typeface="FreeMono"/>
              </a:rPr>
              <a:t>f2</a:t>
            </a:r>
            <a:endParaRPr sz="1050">
              <a:latin typeface="FreeMono"/>
              <a:cs typeface="Free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659" y="5921654"/>
            <a:ext cx="1372235" cy="792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FreeMono"/>
                <a:cs typeface="FreeMono"/>
              </a:rPr>
              <a:t># </a:t>
            </a:r>
            <a:r>
              <a:rPr sz="1050" spc="-10" dirty="0">
                <a:latin typeface="FreeMono"/>
                <a:cs typeface="FreeMono"/>
              </a:rPr>
              <a:t>close </a:t>
            </a:r>
            <a:r>
              <a:rPr sz="1050" spc="-5" dirty="0">
                <a:latin typeface="FreeMono"/>
                <a:cs typeface="FreeMono"/>
              </a:rPr>
              <a:t>the</a:t>
            </a:r>
            <a:r>
              <a:rPr sz="1050" spc="-114" dirty="0">
                <a:latin typeface="FreeMono"/>
                <a:cs typeface="FreeMono"/>
              </a:rPr>
              <a:t> </a:t>
            </a:r>
            <a:r>
              <a:rPr sz="1050" spc="-10" dirty="0">
                <a:latin typeface="FreeMono"/>
                <a:cs typeface="FreeMono"/>
              </a:rPr>
              <a:t>files</a:t>
            </a:r>
            <a:endParaRPr sz="1050">
              <a:latin typeface="FreeMono"/>
              <a:cs typeface="FreeMono"/>
            </a:endParaRPr>
          </a:p>
          <a:p>
            <a:pPr marL="12700" marR="559435">
              <a:lnSpc>
                <a:spcPct val="189700"/>
              </a:lnSpc>
            </a:pPr>
            <a:r>
              <a:rPr sz="1050" spc="-15" dirty="0">
                <a:latin typeface="FreeMono"/>
                <a:cs typeface="FreeMono"/>
              </a:rPr>
              <a:t>f1</a:t>
            </a:r>
            <a:r>
              <a:rPr sz="1050" dirty="0">
                <a:latin typeface="FreeMono"/>
                <a:cs typeface="FreeMono"/>
              </a:rPr>
              <a:t>.</a:t>
            </a:r>
            <a:r>
              <a:rPr sz="1050" spc="-15" dirty="0">
                <a:latin typeface="FreeMono"/>
                <a:cs typeface="FreeMono"/>
              </a:rPr>
              <a:t>c</a:t>
            </a:r>
            <a:r>
              <a:rPr sz="1050" dirty="0">
                <a:latin typeface="FreeMono"/>
                <a:cs typeface="FreeMono"/>
              </a:rPr>
              <a:t>l</a:t>
            </a:r>
            <a:r>
              <a:rPr sz="1050" spc="-15" dirty="0">
                <a:latin typeface="FreeMono"/>
                <a:cs typeface="FreeMono"/>
              </a:rPr>
              <a:t>o</a:t>
            </a:r>
            <a:r>
              <a:rPr sz="1050" dirty="0">
                <a:latin typeface="FreeMono"/>
                <a:cs typeface="FreeMono"/>
              </a:rPr>
              <a:t>s</a:t>
            </a:r>
            <a:r>
              <a:rPr sz="1050" spc="-15" dirty="0">
                <a:latin typeface="FreeMono"/>
                <a:cs typeface="FreeMono"/>
              </a:rPr>
              <a:t>e(</a:t>
            </a:r>
            <a:r>
              <a:rPr sz="1050" dirty="0">
                <a:latin typeface="FreeMono"/>
                <a:cs typeface="FreeMono"/>
              </a:rPr>
              <a:t>)  </a:t>
            </a:r>
            <a:r>
              <a:rPr sz="1050" spc="-15" dirty="0">
                <a:latin typeface="FreeMono"/>
                <a:cs typeface="FreeMono"/>
              </a:rPr>
              <a:t>f2</a:t>
            </a:r>
            <a:r>
              <a:rPr sz="1050" dirty="0">
                <a:latin typeface="FreeMono"/>
                <a:cs typeface="FreeMono"/>
              </a:rPr>
              <a:t>.</a:t>
            </a:r>
            <a:r>
              <a:rPr sz="1050" spc="-15" dirty="0">
                <a:latin typeface="FreeMono"/>
                <a:cs typeface="FreeMono"/>
              </a:rPr>
              <a:t>c</a:t>
            </a:r>
            <a:r>
              <a:rPr sz="1050" dirty="0">
                <a:latin typeface="FreeMono"/>
                <a:cs typeface="FreeMono"/>
              </a:rPr>
              <a:t>l</a:t>
            </a:r>
            <a:r>
              <a:rPr sz="1050" spc="-15" dirty="0">
                <a:latin typeface="FreeMono"/>
                <a:cs typeface="FreeMono"/>
              </a:rPr>
              <a:t>o</a:t>
            </a:r>
            <a:r>
              <a:rPr sz="1050" dirty="0">
                <a:latin typeface="FreeMono"/>
                <a:cs typeface="FreeMono"/>
              </a:rPr>
              <a:t>s</a:t>
            </a:r>
            <a:r>
              <a:rPr sz="1050" spc="-15" dirty="0">
                <a:latin typeface="FreeMono"/>
                <a:cs typeface="FreeMono"/>
              </a:rPr>
              <a:t>e(</a:t>
            </a:r>
            <a:r>
              <a:rPr sz="1050" dirty="0">
                <a:latin typeface="FreeMono"/>
                <a:cs typeface="FreeMono"/>
              </a:rPr>
              <a:t>)</a:t>
            </a:r>
            <a:endParaRPr sz="1050">
              <a:latin typeface="FreeMono"/>
              <a:cs typeface="FreeMo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9269" y="1041044"/>
            <a:ext cx="4231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To retrieve the data and write to another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file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910" y="4660544"/>
            <a:ext cx="37788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latin typeface="DejaVu Sans"/>
                <a:cs typeface="DejaVu Sans"/>
              </a:rPr>
              <a:t>RE: </a:t>
            </a:r>
            <a:r>
              <a:rPr sz="3200" spc="-5" dirty="0">
                <a:solidFill>
                  <a:srgbClr val="FFFFFF"/>
                </a:solidFill>
                <a:latin typeface="DejaVu Sans"/>
                <a:cs typeface="DejaVu Sans"/>
              </a:rPr>
              <a:t>On HTML</a:t>
            </a:r>
            <a:r>
              <a:rPr sz="3200" spc="-6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DejaVu Sans"/>
                <a:cs typeface="DejaVu Sans"/>
              </a:rPr>
              <a:t>Files</a:t>
            </a:r>
            <a:endParaRPr sz="3200"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99974"/>
            <a:ext cx="284099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RE: </a:t>
            </a:r>
            <a:r>
              <a:rPr spc="-5" dirty="0"/>
              <a:t>On HTML</a:t>
            </a:r>
            <a:r>
              <a:rPr spc="-55" dirty="0"/>
              <a:t> </a:t>
            </a:r>
            <a:r>
              <a:rPr spc="-40" dirty="0"/>
              <a:t>Files</a:t>
            </a: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xample-1: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5759" y="1041044"/>
            <a:ext cx="3225800" cy="572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To retrieve info from the HTML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file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FreeMono"/>
              <a:cs typeface="FreeMono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Step-1:</a:t>
            </a:r>
            <a:endParaRPr sz="1200">
              <a:latin typeface="FreeMono"/>
              <a:cs typeface="FreeMon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85750" y="1627784"/>
          <a:ext cx="8448040" cy="39484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8360"/>
                <a:gridCol w="6329680"/>
              </a:tblGrid>
              <a:tr h="35179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import</a:t>
                      </a:r>
                      <a:r>
                        <a:rPr sz="1200" spc="-5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urllib.request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Import this</a:t>
                      </a:r>
                      <a:r>
                        <a:rPr sz="1200" spc="-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module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B2B2B2"/>
                    </a:solidFill>
                  </a:tcPr>
                </a:tc>
              </a:tr>
              <a:tr h="720090">
                <a:tc gridSpan="2">
                  <a:txBody>
                    <a:bodyPr/>
                    <a:lstStyle/>
                    <a:p>
                      <a:pPr marL="88900" marR="4420235">
                        <a:lnSpc>
                          <a:spcPts val="1200"/>
                        </a:lnSpc>
                        <a:spcBef>
                          <a:spcPts val="36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f</a:t>
                      </a:r>
                      <a:r>
                        <a:rPr sz="1200" spc="-5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=</a:t>
                      </a:r>
                      <a:r>
                        <a:rPr sz="1200" spc="-5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urllib.request.urlopen(r’</a:t>
                      </a:r>
                      <a:r>
                        <a:rPr sz="1200" u="sng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FreeMono"/>
                          <a:cs typeface="FreeMono"/>
                          <a:hlinkClick r:id="rId2"/>
                        </a:rPr>
                        <a:t>file:///path</a:t>
                      </a:r>
                      <a:r>
                        <a:rPr sz="1200" dirty="0">
                          <a:solidFill>
                            <a:srgbClr val="0000FF"/>
                          </a:solidFill>
                          <a:latin typeface="FreeMono"/>
                          <a:cs typeface="FreeMono"/>
                        </a:rPr>
                        <a:t>’)  Ex:</a:t>
                      </a:r>
                      <a:endParaRPr sz="1200">
                        <a:latin typeface="FreeMono"/>
                        <a:cs typeface="FreeMono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0000FF"/>
                          </a:solidFill>
                          <a:latin typeface="FreeMono"/>
                          <a:cs typeface="FreeMono"/>
                        </a:rPr>
                        <a:t>f =</a:t>
                      </a:r>
                      <a:r>
                        <a:rPr sz="1200" spc="-10" dirty="0">
                          <a:solidFill>
                            <a:srgbClr val="0000FF"/>
                          </a:solidFill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solidFill>
                            <a:srgbClr val="0000FF"/>
                          </a:solidFill>
                          <a:latin typeface="FreeMono"/>
                          <a:cs typeface="FreeMono"/>
                        </a:rPr>
                        <a:t>urllib.request.urlopen(r’file:///~|Python\sample.html’)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B="0"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718819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urllib.request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Module</a:t>
                      </a:r>
                      <a:r>
                        <a:rPr sz="1200" spc="-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name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E5E5E5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urlopen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651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To open the html</a:t>
                      </a:r>
                      <a:r>
                        <a:rPr sz="1200" spc="-1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files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6510" marB="0">
                    <a:solidFill>
                      <a:srgbClr val="CCCCCC"/>
                    </a:solidFill>
                  </a:tcPr>
                </a:tc>
              </a:tr>
              <a:tr h="720089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file:///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Protocol to open the local</a:t>
                      </a:r>
                      <a:r>
                        <a:rPr sz="1200" spc="-1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files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E5E5E5"/>
                    </a:solidFill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~|Python\sample.html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08585" marR="727075">
                        <a:lnSpc>
                          <a:spcPts val="1200"/>
                        </a:lnSpc>
                        <a:spcBef>
                          <a:spcPts val="36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Under home DIR, under Python sub-DIR the sample.html</a:t>
                      </a:r>
                      <a:r>
                        <a:rPr sz="1200" spc="-9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file</a:t>
                      </a:r>
                      <a:r>
                        <a:rPr sz="1200" spc="-1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is  present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B="0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99974"/>
            <a:ext cx="284099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RE: </a:t>
            </a:r>
            <a:r>
              <a:rPr spc="-5" dirty="0"/>
              <a:t>On HTML</a:t>
            </a:r>
            <a:r>
              <a:rPr spc="-55" dirty="0"/>
              <a:t> </a:t>
            </a:r>
            <a:r>
              <a:rPr spc="-40" dirty="0"/>
              <a:t>Files</a:t>
            </a: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xample-1: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5759" y="1041044"/>
            <a:ext cx="230378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CC0066"/>
                </a:solidFill>
                <a:latin typeface="FreeMono"/>
                <a:cs typeface="FreeMono"/>
              </a:rPr>
              <a:t>Step-2: read and</a:t>
            </a:r>
            <a:r>
              <a:rPr sz="13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300" dirty="0">
                <a:solidFill>
                  <a:srgbClr val="CC0066"/>
                </a:solidFill>
                <a:latin typeface="FreeMono"/>
                <a:cs typeface="FreeMono"/>
              </a:rPr>
              <a:t>decode</a:t>
            </a:r>
            <a:endParaRPr sz="1300">
              <a:latin typeface="FreeMono"/>
              <a:cs typeface="FreeMon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85750" y="1627784"/>
          <a:ext cx="8448038" cy="14389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8940"/>
                <a:gridCol w="182879"/>
                <a:gridCol w="1435100"/>
                <a:gridCol w="703580"/>
                <a:gridCol w="365760"/>
                <a:gridCol w="457200"/>
                <a:gridCol w="457200"/>
                <a:gridCol w="822960"/>
                <a:gridCol w="365760"/>
                <a:gridCol w="1097280"/>
                <a:gridCol w="274320"/>
                <a:gridCol w="365759"/>
                <a:gridCol w="457200"/>
                <a:gridCol w="1054100"/>
              </a:tblGrid>
              <a:tr h="718819">
                <a:tc gridSpan="14"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2226945" algn="l"/>
                        </a:tabLst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text = f.read()	To read the file</a:t>
                      </a:r>
                      <a:r>
                        <a:rPr sz="1200" spc="-1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content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B2B2B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72009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str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=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text.decode()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Since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the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HTML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file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contains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the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information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in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the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byte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strings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65759" y="3376574"/>
            <a:ext cx="161036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CC0066"/>
                </a:solidFill>
                <a:latin typeface="FreeMono"/>
                <a:cs typeface="FreeMono"/>
              </a:rPr>
              <a:t>Step-3: Apply</a:t>
            </a:r>
            <a:r>
              <a:rPr sz="1300" spc="-9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300" dirty="0">
                <a:solidFill>
                  <a:srgbClr val="CC0066"/>
                </a:solidFill>
                <a:latin typeface="FreeMono"/>
                <a:cs typeface="FreeMono"/>
              </a:rPr>
              <a:t>RE</a:t>
            </a:r>
            <a:endParaRPr sz="1300">
              <a:latin typeface="FreeMono"/>
              <a:cs typeface="Free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2570" y="3650894"/>
            <a:ext cx="8450580" cy="72009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1143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90"/>
              </a:spcBef>
            </a:pPr>
            <a:r>
              <a:rPr sz="1300" dirty="0">
                <a:solidFill>
                  <a:srgbClr val="CC0066"/>
                </a:solidFill>
                <a:latin typeface="FreeMono"/>
                <a:cs typeface="FreeMono"/>
              </a:rPr>
              <a:t>r'&lt;td&gt;\w+&lt;/td&gt;\s&lt;td&gt;(\w+)&lt;\td&gt;\s&lt;td&gt;(\d\d.\d\d)&lt;\td&gt;'</a:t>
            </a:r>
            <a:endParaRPr sz="13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1889</Words>
  <Application>Microsoft Office PowerPoint</Application>
  <PresentationFormat>On-screen Show (4:3)</PresentationFormat>
  <Paragraphs>483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PowerPoint Presentation</vt:lpstr>
      <vt:lpstr>PowerPoint Presentation</vt:lpstr>
      <vt:lpstr>Regular Expressions</vt:lpstr>
      <vt:lpstr>Regular Expressions Steps</vt:lpstr>
      <vt:lpstr>Regular Expressions Example-1: search()</vt:lpstr>
      <vt:lpstr>Regular Expressions Example-2: findall()</vt:lpstr>
      <vt:lpstr>Regular Expressions Example-3: match()</vt:lpstr>
      <vt:lpstr>Regular Expressions Example-4: match()</vt:lpstr>
      <vt:lpstr>Regular Expressions Example-5: split()</vt:lpstr>
      <vt:lpstr>Regular Expressions Example-6: Find &amp; Replace: sub()</vt:lpstr>
      <vt:lpstr>PowerPoint Presentation</vt:lpstr>
      <vt:lpstr>RE: sequence characters</vt:lpstr>
      <vt:lpstr>RE: sequence characters Example-1:</vt:lpstr>
      <vt:lpstr>RE: sequence characters Example-2:</vt:lpstr>
      <vt:lpstr>RE: sequence characters Example-3:</vt:lpstr>
      <vt:lpstr>RE: sequence characters Example-4: search()</vt:lpstr>
      <vt:lpstr>RE: sequence characters Example-5: findall()</vt:lpstr>
      <vt:lpstr>RE: sequence characters Example-6: findall()</vt:lpstr>
      <vt:lpstr>RE: sequence characters Example-7: findall()</vt:lpstr>
      <vt:lpstr>RE: sequence characters Example-7: findall()</vt:lpstr>
      <vt:lpstr>PowerPoint Presentation</vt:lpstr>
      <vt:lpstr>RE: Quantifiers</vt:lpstr>
      <vt:lpstr>RE: Quantifiers Example-1:</vt:lpstr>
      <vt:lpstr>RE: Quantifiers Example-2:</vt:lpstr>
      <vt:lpstr>RE: Quantifiers Example-3:</vt:lpstr>
      <vt:lpstr>RE: Quantifiers Example-4:</vt:lpstr>
      <vt:lpstr>PowerPoint Presentation</vt:lpstr>
      <vt:lpstr>RE: Special Characters</vt:lpstr>
      <vt:lpstr>RE: Special Characters Example-1:</vt:lpstr>
      <vt:lpstr>RE: Special Characters Example-2:</vt:lpstr>
      <vt:lpstr>RE: Special Characters Example-3:</vt:lpstr>
      <vt:lpstr>RE: Special Characters Example-4:</vt:lpstr>
      <vt:lpstr>PowerPoint Presentation</vt:lpstr>
      <vt:lpstr>RE: On Files Example-1:</vt:lpstr>
      <vt:lpstr>RE: On Files Example-2:</vt:lpstr>
      <vt:lpstr>PowerPoint Presentation</vt:lpstr>
      <vt:lpstr>RE: On HTML Files Example-1:</vt:lpstr>
      <vt:lpstr>RE: On HTML Files Example-1: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HP</cp:lastModifiedBy>
  <cp:revision>2</cp:revision>
  <dcterms:created xsi:type="dcterms:W3CDTF">2023-12-03T16:27:00Z</dcterms:created>
  <dcterms:modified xsi:type="dcterms:W3CDTF">2023-12-03T16:31:44Z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2018-12-12T00:00:00Z</vt:filetime>
  </property>
  <property fmtid="{D5CDD505-2E9C-101B-9397-08002B2CF9AE}" pid="3" name="Creator">
    <vt:lpwstr>Impress</vt:lpwstr>
  </property>
  <property fmtid="{D5CDD505-2E9C-101B-9397-08002B2CF9AE}" pid="4" name="LastSaved">
    <vt:filetime>2023-12-03T00:00:00Z</vt:filetime>
  </property>
</Properties>
</file>