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77" r:id="rId8"/>
    <p:sldId id="262" r:id="rId9"/>
    <p:sldId id="263" r:id="rId10"/>
    <p:sldId id="264" r:id="rId11"/>
    <p:sldId id="265" r:id="rId12"/>
    <p:sldId id="266" r:id="rId13"/>
    <p:sldId id="278" r:id="rId14"/>
    <p:sldId id="267" r:id="rId15"/>
    <p:sldId id="268" r:id="rId16"/>
    <p:sldId id="280" r:id="rId17"/>
    <p:sldId id="281" r:id="rId18"/>
    <p:sldId id="282" r:id="rId19"/>
    <p:sldId id="270" r:id="rId20"/>
    <p:sldId id="271" r:id="rId21"/>
    <p:sldId id="272" r:id="rId22"/>
    <p:sldId id="273" r:id="rId23"/>
    <p:sldId id="274" r:id="rId24"/>
    <p:sldId id="275" r:id="rId25"/>
    <p:sldId id="276" r:id="rId26"/>
    <p:sldId id="284" r:id="rId27"/>
    <p:sldId id="283" r:id="rId28"/>
    <p:sldId id="285" r:id="rId29"/>
    <p:sldId id="286" r:id="rId30"/>
    <p:sldId id="287" r:id="rId31"/>
    <p:sldId id="288" r:id="rId32"/>
    <p:sldId id="289" r:id="rId33"/>
    <p:sldId id="290" r:id="rId34"/>
    <p:sldId id="292" r:id="rId35"/>
    <p:sldId id="297" r:id="rId36"/>
    <p:sldId id="293" r:id="rId37"/>
    <p:sldId id="295" r:id="rId38"/>
    <p:sldId id="298" r:id="rId39"/>
    <p:sldId id="296" r:id="rId40"/>
    <p:sldId id="291" r:id="rId41"/>
    <p:sldId id="299" r:id="rId42"/>
    <p:sldId id="300" r:id="rId43"/>
    <p:sldId id="302" r:id="rId44"/>
    <p:sldId id="303" r:id="rId45"/>
    <p:sldId id="304" r:id="rId46"/>
    <p:sldId id="305" r:id="rId47"/>
    <p:sldId id="306"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76" d="100"/>
          <a:sy n="76" d="100"/>
        </p:scale>
        <p:origin x="-480" y="21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B50F958-C45D-501F-E53F-1CA752A1470E}"/>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 xmlns:a16="http://schemas.microsoft.com/office/drawing/2014/main" id="{53E1C749-9B6E-9889-23A9-5B1F5659ECF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 xmlns:a16="http://schemas.microsoft.com/office/drawing/2014/main" id="{DBD27851-CC78-6C5B-5017-1F7EA01B2869}"/>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5" name="Footer Placeholder 4">
            <a:extLst>
              <a:ext uri="{FF2B5EF4-FFF2-40B4-BE49-F238E27FC236}">
                <a16:creationId xmlns="" xmlns:a16="http://schemas.microsoft.com/office/drawing/2014/main" id="{63B91C7E-2103-2DCE-D89C-524BF6E38E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CE953E6B-25C3-4313-5694-3DF6B7003D45}"/>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2047921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8A2744-D531-6363-5A30-4DC88A9B55F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8AA42A0E-D002-BD54-ABC7-3D739BED5AA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9BC1E91E-9F03-E1B3-2785-8D9EB34AFE14}"/>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5" name="Footer Placeholder 4">
            <a:extLst>
              <a:ext uri="{FF2B5EF4-FFF2-40B4-BE49-F238E27FC236}">
                <a16:creationId xmlns="" xmlns:a16="http://schemas.microsoft.com/office/drawing/2014/main" id="{7C84A8BF-A880-3462-9827-9470C3B6C1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DEAD0132-3FC9-94F7-65B6-B51606ED381D}"/>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16082141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A63DF7-2F51-0ADA-CA8B-0FB185D1AF1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 xmlns:a16="http://schemas.microsoft.com/office/drawing/2014/main" id="{1ED3A4A2-EF66-1091-3195-CD40472929D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 xmlns:a16="http://schemas.microsoft.com/office/drawing/2014/main" id="{26337B95-34F3-F95F-3EE6-8A0D50EE6797}"/>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5" name="Footer Placeholder 4">
            <a:extLst>
              <a:ext uri="{FF2B5EF4-FFF2-40B4-BE49-F238E27FC236}">
                <a16:creationId xmlns="" xmlns:a16="http://schemas.microsoft.com/office/drawing/2014/main" id="{D9B27A0F-496C-0BF4-0A04-07D2D3887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E2A930D2-A14A-195F-66E4-F0A034E7574C}"/>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21321400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EF74E49-EB62-2196-A4AE-5E058F7FCCE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5806DAA2-4B16-074A-6534-BF73414433A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 xmlns:a16="http://schemas.microsoft.com/office/drawing/2014/main" id="{23AF362D-E3B9-815B-6385-E23DA1C3872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 xmlns:a16="http://schemas.microsoft.com/office/drawing/2014/main" id="{1D4B15E5-EC11-0C40-1E33-62CBCF085715}"/>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6" name="Footer Placeholder 5">
            <a:extLst>
              <a:ext uri="{FF2B5EF4-FFF2-40B4-BE49-F238E27FC236}">
                <a16:creationId xmlns="" xmlns:a16="http://schemas.microsoft.com/office/drawing/2014/main" id="{4EFCA1CE-3E62-429D-8392-0C21D27F2CF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57D77621-64B8-E1D1-0EA3-5D3BE7ED5EB6}"/>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39623516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F0C952A-330E-058D-D7AD-C07214DAA957}"/>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2896C712-FDF3-BFD4-B31E-05200709117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 xmlns:a16="http://schemas.microsoft.com/office/drawing/2014/main" id="{A29C42D7-FD6A-F3EF-B949-DFCED20A69E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 xmlns:a16="http://schemas.microsoft.com/office/drawing/2014/main" id="{6CA34834-9573-D500-1345-7BCB69F2E7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 xmlns:a16="http://schemas.microsoft.com/office/drawing/2014/main" id="{031B8600-D266-B846-0A0C-1D759AD79749}"/>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 xmlns:a16="http://schemas.microsoft.com/office/drawing/2014/main" id="{6669E254-2159-D575-B3CB-DD3F8FC38F60}"/>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8" name="Footer Placeholder 7">
            <a:extLst>
              <a:ext uri="{FF2B5EF4-FFF2-40B4-BE49-F238E27FC236}">
                <a16:creationId xmlns="" xmlns:a16="http://schemas.microsoft.com/office/drawing/2014/main" id="{66C7C18E-DEEB-827B-1872-703A0913199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 xmlns:a16="http://schemas.microsoft.com/office/drawing/2014/main" id="{FBB31AB9-644E-64E4-AD5C-412A40EC2603}"/>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10516771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89DFA13-8EEA-9822-B5AE-0ACEADFA0568}"/>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 xmlns:a16="http://schemas.microsoft.com/office/drawing/2014/main" id="{D2F67B8C-4081-2C01-C0C9-BBAE394EA794}"/>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4" name="Footer Placeholder 3">
            <a:extLst>
              <a:ext uri="{FF2B5EF4-FFF2-40B4-BE49-F238E27FC236}">
                <a16:creationId xmlns="" xmlns:a16="http://schemas.microsoft.com/office/drawing/2014/main" id="{0C6F585A-75F1-E658-FA54-4A40BDA4092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 xmlns:a16="http://schemas.microsoft.com/office/drawing/2014/main" id="{D6D925F2-54BD-DAD3-275B-E6DC67032A7A}"/>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41845641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B5FBDA83-2296-121F-453B-98DFF965B517}"/>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3" name="Footer Placeholder 2">
            <a:extLst>
              <a:ext uri="{FF2B5EF4-FFF2-40B4-BE49-F238E27FC236}">
                <a16:creationId xmlns="" xmlns:a16="http://schemas.microsoft.com/office/drawing/2014/main" id="{38BC0479-ECBF-35FD-D434-8C6E5EB322D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 xmlns:a16="http://schemas.microsoft.com/office/drawing/2014/main" id="{1545DF66-1F2B-5A76-6623-3B5C41D66915}"/>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25145184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9A1B1BC-8E53-F3A3-D7F7-47BB064BC62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 xmlns:a16="http://schemas.microsoft.com/office/drawing/2014/main" id="{26370BA0-294A-42FF-8464-61263F780B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 xmlns:a16="http://schemas.microsoft.com/office/drawing/2014/main" id="{603E7DC3-183A-F6DC-EDA8-CB1F0F477D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AD7B9A81-F93F-0F28-0AD6-3280BC9DA5A6}"/>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6" name="Footer Placeholder 5">
            <a:extLst>
              <a:ext uri="{FF2B5EF4-FFF2-40B4-BE49-F238E27FC236}">
                <a16:creationId xmlns="" xmlns:a16="http://schemas.microsoft.com/office/drawing/2014/main" id="{77574AFA-ADE5-49E7-4C27-06577DA1F2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D7E9FB06-EB0B-D89B-D26C-CBE44D2B1877}"/>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37665549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39CC37B-0BDD-1414-85A0-2851CF28FC7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 xmlns:a16="http://schemas.microsoft.com/office/drawing/2014/main" id="{B59D9417-DD45-F5AD-1CF3-1E14E25310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 xmlns:a16="http://schemas.microsoft.com/office/drawing/2014/main" id="{677C1606-ACEC-E9D9-8B83-5DC382E292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 xmlns:a16="http://schemas.microsoft.com/office/drawing/2014/main" id="{0605DAA3-929B-CDC8-61F9-8550A8EA48E7}"/>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6" name="Footer Placeholder 5">
            <a:extLst>
              <a:ext uri="{FF2B5EF4-FFF2-40B4-BE49-F238E27FC236}">
                <a16:creationId xmlns="" xmlns:a16="http://schemas.microsoft.com/office/drawing/2014/main" id="{7741263E-FDE3-A7BC-06D8-73DCA8850A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 xmlns:a16="http://schemas.microsoft.com/office/drawing/2014/main" id="{156B1272-BA86-D0F5-E049-5C6FD1F82C65}"/>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2963726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7B2D70-B519-F91A-08F6-56911FA65E4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59515DA5-2128-367F-D23A-DA5AD5DCF21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08902AF3-E50A-2350-DB35-902CFA0B27A5}"/>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5" name="Footer Placeholder 4">
            <a:extLst>
              <a:ext uri="{FF2B5EF4-FFF2-40B4-BE49-F238E27FC236}">
                <a16:creationId xmlns="" xmlns:a16="http://schemas.microsoft.com/office/drawing/2014/main" id="{5011D1AB-60A9-9056-74AB-868550B3C0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5C90E651-EF64-46EF-71C1-2AE2F3841C95}"/>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896941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14BE05F2-1242-7762-CF5F-11F9D3928BA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 xmlns:a16="http://schemas.microsoft.com/office/drawing/2014/main" id="{55C6D518-EB81-FE14-EA33-EE8657CD386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52895054-1871-2262-B69C-61ADAE0A911A}"/>
              </a:ext>
            </a:extLst>
          </p:cNvPr>
          <p:cNvSpPr>
            <a:spLocks noGrp="1"/>
          </p:cNvSpPr>
          <p:nvPr>
            <p:ph type="dt" sz="half" idx="10"/>
          </p:nvPr>
        </p:nvSpPr>
        <p:spPr/>
        <p:txBody>
          <a:bodyPr/>
          <a:lstStyle/>
          <a:p>
            <a:fld id="{3C79BD8F-6476-F247-93C0-D66427999AC5}" type="datetimeFigureOut">
              <a:rPr lang="en-US" smtClean="0"/>
              <a:t>12/6/2023</a:t>
            </a:fld>
            <a:endParaRPr lang="en-US"/>
          </a:p>
        </p:txBody>
      </p:sp>
      <p:sp>
        <p:nvSpPr>
          <p:cNvPr id="5" name="Footer Placeholder 4">
            <a:extLst>
              <a:ext uri="{FF2B5EF4-FFF2-40B4-BE49-F238E27FC236}">
                <a16:creationId xmlns="" xmlns:a16="http://schemas.microsoft.com/office/drawing/2014/main" id="{3A2ED4DC-9CA6-F799-EAA2-4B342331C3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 xmlns:a16="http://schemas.microsoft.com/office/drawing/2014/main" id="{28A9519E-C527-745F-406F-A40E884D13B9}"/>
              </a:ext>
            </a:extLst>
          </p:cNvPr>
          <p:cNvSpPr>
            <a:spLocks noGrp="1"/>
          </p:cNvSpPr>
          <p:nvPr>
            <p:ph type="sldNum" sz="quarter" idx="12"/>
          </p:nvPr>
        </p:nvSpPr>
        <p:spPr/>
        <p:txBody>
          <a:bodyPr/>
          <a:lstStyle/>
          <a:p>
            <a:fld id="{C69655BB-A83C-D641-A553-1E114AA876ED}" type="slidenum">
              <a:rPr lang="en-US" smtClean="0"/>
              <a:t>‹#›</a:t>
            </a:fld>
            <a:endParaRPr lang="en-US"/>
          </a:p>
        </p:txBody>
      </p:sp>
    </p:spTree>
    <p:extLst>
      <p:ext uri="{BB962C8B-B14F-4D97-AF65-F5344CB8AC3E}">
        <p14:creationId xmlns:p14="http://schemas.microsoft.com/office/powerpoint/2010/main" val="2267825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31DE7524-AAC7-0DD2-BB38-A9C88AFC10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 xmlns:a16="http://schemas.microsoft.com/office/drawing/2014/main" id="{9081BA92-CCB3-73DD-8E02-1266D692E3C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 xmlns:a16="http://schemas.microsoft.com/office/drawing/2014/main" id="{2D9D96D7-DC2D-D56D-4537-B2DA29AA69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79BD8F-6476-F247-93C0-D66427999AC5}" type="datetimeFigureOut">
              <a:rPr lang="en-US" smtClean="0"/>
              <a:t>12/6/2023</a:t>
            </a:fld>
            <a:endParaRPr lang="en-US"/>
          </a:p>
        </p:txBody>
      </p:sp>
      <p:sp>
        <p:nvSpPr>
          <p:cNvPr id="5" name="Footer Placeholder 4">
            <a:extLst>
              <a:ext uri="{FF2B5EF4-FFF2-40B4-BE49-F238E27FC236}">
                <a16:creationId xmlns="" xmlns:a16="http://schemas.microsoft.com/office/drawing/2014/main" id="{7D0A2B9C-A4F9-0CE6-4DC6-22A855846F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 xmlns:a16="http://schemas.microsoft.com/office/drawing/2014/main" id="{6F24D28F-880E-61D5-B649-408E8856BD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9655BB-A83C-D641-A553-1E114AA876ED}" type="slidenum">
              <a:rPr lang="en-US" smtClean="0"/>
              <a:t>‹#›</a:t>
            </a:fld>
            <a:endParaRPr lang="en-US"/>
          </a:p>
        </p:txBody>
      </p:sp>
    </p:spTree>
    <p:extLst>
      <p:ext uri="{BB962C8B-B14F-4D97-AF65-F5344CB8AC3E}">
        <p14:creationId xmlns:p14="http://schemas.microsoft.com/office/powerpoint/2010/main" val="1727978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geeksforgeeks.org/introduction-of-object-oriented-programm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s://www.geeksforgeeks.org/data-structures/"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python-classes-and-objects/"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geeksforgeeks.org/python-keywords-and-identifiers/"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www.geeksforgeeks.org/python-programming-language/"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geeksforgeeks.org/function-overloading-c/"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1F9295A-929E-20D5-A06C-29BF9ADC249F}"/>
              </a:ext>
            </a:extLst>
          </p:cNvPr>
          <p:cNvSpPr>
            <a:spLocks noGrp="1"/>
          </p:cNvSpPr>
          <p:nvPr>
            <p:ph type="ctrTitle"/>
          </p:nvPr>
        </p:nvSpPr>
        <p:spPr/>
        <p:txBody>
          <a:bodyPr/>
          <a:lstStyle/>
          <a:p>
            <a:r>
              <a:rPr lang="en-US" b="1" dirty="0">
                <a:solidFill>
                  <a:srgbClr val="FF0000"/>
                </a:solidFill>
              </a:rPr>
              <a:t>OOPs in Python</a:t>
            </a:r>
          </a:p>
        </p:txBody>
      </p:sp>
    </p:spTree>
    <p:extLst>
      <p:ext uri="{BB962C8B-B14F-4D97-AF65-F5344CB8AC3E}">
        <p14:creationId xmlns:p14="http://schemas.microsoft.com/office/powerpoint/2010/main" val="1618202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44F11AF3-95F9-8561-FF96-8DE554B454C7}"/>
              </a:ext>
            </a:extLst>
          </p:cNvPr>
          <p:cNvSpPr>
            <a:spLocks noGrp="1"/>
          </p:cNvSpPr>
          <p:nvPr>
            <p:ph idx="1"/>
          </p:nvPr>
        </p:nvSpPr>
        <p:spPr>
          <a:xfrm>
            <a:off x="838200" y="666060"/>
            <a:ext cx="10515600" cy="4351338"/>
          </a:xfrm>
        </p:spPr>
        <p:txBody>
          <a:bodyPr/>
          <a:lstStyle/>
          <a:p>
            <a:pPr marL="0" indent="0">
              <a:buNone/>
            </a:pPr>
            <a:r>
              <a:rPr lang="en-US" b="1" i="0" dirty="0">
                <a:solidFill>
                  <a:srgbClr val="00B050"/>
                </a:solidFill>
                <a:effectLst/>
                <a:latin typeface="Nunito" panose="02000000000000000000" pitchFamily="2" charset="0"/>
              </a:rPr>
              <a:t>What is OOP??</a:t>
            </a:r>
          </a:p>
          <a:p>
            <a:endParaRPr lang="en-US" b="0" i="0" dirty="0">
              <a:solidFill>
                <a:srgbClr val="273239"/>
              </a:solidFill>
              <a:effectLst/>
              <a:latin typeface="Nunito" panose="02000000000000000000" pitchFamily="2" charset="0"/>
            </a:endParaRPr>
          </a:p>
          <a:p>
            <a:r>
              <a:rPr lang="en-GB" b="0" i="0" dirty="0">
                <a:solidFill>
                  <a:srgbClr val="273239"/>
                </a:solidFill>
                <a:effectLst/>
                <a:latin typeface="Nunito" panose="02000000000000000000" pitchFamily="2" charset="0"/>
              </a:rPr>
              <a:t>OOP stands for </a:t>
            </a:r>
            <a:r>
              <a:rPr lang="en-GB" b="0" i="0" u="sng" dirty="0">
                <a:effectLst/>
                <a:latin typeface="Nunito" panose="02000000000000000000" pitchFamily="2" charset="0"/>
                <a:hlinkClick r:id="rId2"/>
              </a:rPr>
              <a:t>Object-Oriented Programming</a:t>
            </a:r>
            <a:r>
              <a:rPr lang="en-GB" b="0" i="0" u="sng" dirty="0">
                <a:solidFill>
                  <a:srgbClr val="273239"/>
                </a:solidFill>
                <a:effectLst/>
                <a:latin typeface="Nunito" panose="02000000000000000000" pitchFamily="2" charset="0"/>
              </a:rPr>
              <a:t>.</a:t>
            </a:r>
            <a:endParaRPr lang="en-US" b="0" i="0" u="sng" dirty="0">
              <a:solidFill>
                <a:srgbClr val="273239"/>
              </a:solidFill>
              <a:effectLst/>
              <a:latin typeface="Nunito" panose="02000000000000000000" pitchFamily="2" charset="0"/>
            </a:endParaRPr>
          </a:p>
          <a:p>
            <a:r>
              <a:rPr lang="en-US" dirty="0">
                <a:solidFill>
                  <a:srgbClr val="273239"/>
                </a:solidFill>
                <a:latin typeface="Nunito" panose="02000000000000000000" pitchFamily="2" charset="0"/>
              </a:rPr>
              <a:t>It mainly works on Class, Object, Polymorphism, Abstraction, Encapsulation and Inheritance. Its aim is to bind together the data and functions to operate on them.</a:t>
            </a:r>
          </a:p>
          <a:p>
            <a:r>
              <a:rPr lang="en-US" dirty="0">
                <a:solidFill>
                  <a:srgbClr val="273239"/>
                </a:solidFill>
                <a:latin typeface="Nunito" panose="02000000000000000000" pitchFamily="2" charset="0"/>
              </a:rPr>
              <a:t>Some of the well-known object-oriented languages are Objective C, Perl, Java, Python, Modula, Ada, </a:t>
            </a:r>
            <a:r>
              <a:rPr lang="en-US" dirty="0" err="1">
                <a:solidFill>
                  <a:srgbClr val="273239"/>
                </a:solidFill>
                <a:latin typeface="Nunito" panose="02000000000000000000" pitchFamily="2" charset="0"/>
              </a:rPr>
              <a:t>Simula</a:t>
            </a:r>
            <a:r>
              <a:rPr lang="en-US" dirty="0">
                <a:solidFill>
                  <a:srgbClr val="273239"/>
                </a:solidFill>
                <a:latin typeface="Nunito" panose="02000000000000000000" pitchFamily="2" charset="0"/>
              </a:rPr>
              <a:t>, C++, Smalltalk and some Common Lisp Object Standard.</a:t>
            </a:r>
            <a:endParaRPr lang="en-US" dirty="0"/>
          </a:p>
        </p:txBody>
      </p:sp>
    </p:spTree>
    <p:extLst>
      <p:ext uri="{BB962C8B-B14F-4D97-AF65-F5344CB8AC3E}">
        <p14:creationId xmlns:p14="http://schemas.microsoft.com/office/powerpoint/2010/main" val="3725155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B3F283-61EC-D136-9B8B-5C4A2914E3C1}"/>
              </a:ext>
            </a:extLst>
          </p:cNvPr>
          <p:cNvSpPr>
            <a:spLocks noGrp="1"/>
          </p:cNvSpPr>
          <p:nvPr>
            <p:ph type="title"/>
          </p:nvPr>
        </p:nvSpPr>
        <p:spPr/>
        <p:txBody>
          <a:bodyPr/>
          <a:lstStyle/>
          <a:p>
            <a:r>
              <a:rPr lang="en-US" b="1" dirty="0"/>
              <a:t>Why oops ….????</a:t>
            </a:r>
          </a:p>
        </p:txBody>
      </p:sp>
      <p:sp>
        <p:nvSpPr>
          <p:cNvPr id="3" name="Content Placeholder 2">
            <a:extLst>
              <a:ext uri="{FF2B5EF4-FFF2-40B4-BE49-F238E27FC236}">
                <a16:creationId xmlns="" xmlns:a16="http://schemas.microsoft.com/office/drawing/2014/main" id="{672165FF-334D-3B07-AC75-E3C3DB04B0EC}"/>
              </a:ext>
            </a:extLst>
          </p:cNvPr>
          <p:cNvSpPr>
            <a:spLocks noGrp="1"/>
          </p:cNvSpPr>
          <p:nvPr>
            <p:ph idx="1"/>
          </p:nvPr>
        </p:nvSpPr>
        <p:spPr/>
        <p:txBody>
          <a:bodyPr>
            <a:normAutofit/>
          </a:bodyPr>
          <a:lstStyle/>
          <a:p>
            <a:pPr fontAlgn="base"/>
            <a:r>
              <a:rPr lang="en-GB" b="0" i="0">
                <a:solidFill>
                  <a:srgbClr val="00B050"/>
                </a:solidFill>
                <a:effectLst/>
                <a:latin typeface="Nunito" panose="02000000000000000000" pitchFamily="2" charset="0"/>
              </a:rPr>
              <a:t>We can build the programs from standard working modules that communicate with one another, rather than having to start writing the code from scratch which leads to saving of development time and higher productivity,</a:t>
            </a:r>
          </a:p>
          <a:p>
            <a:pPr fontAlgn="base"/>
            <a:r>
              <a:rPr lang="en-GB" b="0" i="0">
                <a:solidFill>
                  <a:srgbClr val="00B050"/>
                </a:solidFill>
                <a:effectLst/>
                <a:latin typeface="Nunito" panose="02000000000000000000" pitchFamily="2" charset="0"/>
              </a:rPr>
              <a:t>OOP language allows to break the program into the bit-sized problems that can be solved easily (one object at a time).</a:t>
            </a:r>
          </a:p>
          <a:p>
            <a:pPr fontAlgn="base"/>
            <a:r>
              <a:rPr lang="en-GB" b="0" i="0">
                <a:solidFill>
                  <a:srgbClr val="00B050"/>
                </a:solidFill>
                <a:effectLst/>
                <a:latin typeface="Nunito" panose="02000000000000000000" pitchFamily="2" charset="0"/>
              </a:rPr>
              <a:t>The new technology promises greater programmer productivity, better quality of software and lesser maintenance cost.</a:t>
            </a:r>
          </a:p>
          <a:p>
            <a:pPr fontAlgn="base"/>
            <a:r>
              <a:rPr lang="en-GB" b="0" i="0">
                <a:solidFill>
                  <a:srgbClr val="00B050"/>
                </a:solidFill>
                <a:effectLst/>
                <a:latin typeface="Nunito" panose="02000000000000000000" pitchFamily="2" charset="0"/>
              </a:rPr>
              <a:t>OOP systems can be easily upgraded from small to large systems.</a:t>
            </a:r>
          </a:p>
        </p:txBody>
      </p:sp>
    </p:spTree>
    <p:extLst>
      <p:ext uri="{BB962C8B-B14F-4D97-AF65-F5344CB8AC3E}">
        <p14:creationId xmlns:p14="http://schemas.microsoft.com/office/powerpoint/2010/main" val="1967638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B177A8E-353F-4081-ACA1-8C694B2E03AF}"/>
              </a:ext>
            </a:extLst>
          </p:cNvPr>
          <p:cNvSpPr>
            <a:spLocks noGrp="1"/>
          </p:cNvSpPr>
          <p:nvPr>
            <p:ph type="title"/>
          </p:nvPr>
        </p:nvSpPr>
        <p:spPr/>
        <p:txBody>
          <a:bodyPr/>
          <a:lstStyle/>
          <a:p>
            <a:r>
              <a:rPr lang="en-GB" b="1" i="0">
                <a:solidFill>
                  <a:srgbClr val="273239"/>
                </a:solidFill>
                <a:effectLst/>
                <a:latin typeface="Nunito" panose="02000000000000000000" pitchFamily="2" charset="0"/>
              </a:rPr>
              <a:t>Disadvantages of OOP</a:t>
            </a:r>
            <a:endParaRPr lang="en-US"/>
          </a:p>
        </p:txBody>
      </p:sp>
      <p:sp>
        <p:nvSpPr>
          <p:cNvPr id="3" name="Content Placeholder 2">
            <a:extLst>
              <a:ext uri="{FF2B5EF4-FFF2-40B4-BE49-F238E27FC236}">
                <a16:creationId xmlns="" xmlns:a16="http://schemas.microsoft.com/office/drawing/2014/main" id="{61F984EB-85F5-371E-1208-3C215D983539}"/>
              </a:ext>
            </a:extLst>
          </p:cNvPr>
          <p:cNvSpPr>
            <a:spLocks noGrp="1"/>
          </p:cNvSpPr>
          <p:nvPr>
            <p:ph idx="1"/>
          </p:nvPr>
        </p:nvSpPr>
        <p:spPr/>
        <p:txBody>
          <a:bodyPr/>
          <a:lstStyle/>
          <a:p>
            <a:r>
              <a:rPr lang="en-GB" b="0" i="0" dirty="0">
                <a:solidFill>
                  <a:srgbClr val="00B050"/>
                </a:solidFill>
                <a:effectLst/>
                <a:latin typeface="Nunito" panose="02000000000000000000" pitchFamily="2" charset="0"/>
              </a:rPr>
              <a:t>The length of the programmes developed using OOP language is much larger than the procedural approach</a:t>
            </a:r>
            <a:r>
              <a:rPr lang="en-US" b="0" i="0" dirty="0">
                <a:solidFill>
                  <a:srgbClr val="00B050"/>
                </a:solidFill>
                <a:effectLst/>
                <a:latin typeface="Nunito" panose="02000000000000000000" pitchFamily="2" charset="0"/>
              </a:rPr>
              <a:t>.</a:t>
            </a:r>
          </a:p>
          <a:p>
            <a:r>
              <a:rPr lang="en-US" dirty="0">
                <a:solidFill>
                  <a:srgbClr val="00B050"/>
                </a:solidFill>
                <a:latin typeface="Nunito" panose="02000000000000000000" pitchFamily="2" charset="0"/>
              </a:rPr>
              <a:t>We can not apply OOP everywhere as it is not a universal language.</a:t>
            </a:r>
            <a:endParaRPr lang="en-US" dirty="0">
              <a:solidFill>
                <a:srgbClr val="00B050"/>
              </a:solidFill>
            </a:endParaRPr>
          </a:p>
        </p:txBody>
      </p:sp>
    </p:spTree>
    <p:extLst>
      <p:ext uri="{BB962C8B-B14F-4D97-AF65-F5344CB8AC3E}">
        <p14:creationId xmlns:p14="http://schemas.microsoft.com/office/powerpoint/2010/main" val="3402188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135CE6B-1FEB-C524-83F8-EB66C8D122DE}"/>
              </a:ext>
            </a:extLst>
          </p:cNvPr>
          <p:cNvSpPr>
            <a:spLocks noGrp="1"/>
          </p:cNvSpPr>
          <p:nvPr>
            <p:ph type="title"/>
          </p:nvPr>
        </p:nvSpPr>
        <p:spPr/>
        <p:txBody>
          <a:bodyPr/>
          <a:lstStyle/>
          <a:p>
            <a:pPr fontAlgn="base"/>
            <a:r>
              <a:rPr lang="en-GB" b="1" i="0">
                <a:solidFill>
                  <a:srgbClr val="273239"/>
                </a:solidFill>
                <a:effectLst/>
                <a:latin typeface="Nunito" panose="02000000000000000000" pitchFamily="2" charset="0"/>
              </a:rPr>
              <a:t>OOPs Concepts in Python</a:t>
            </a:r>
          </a:p>
        </p:txBody>
      </p:sp>
      <p:sp>
        <p:nvSpPr>
          <p:cNvPr id="3" name="Content Placeholder 2">
            <a:extLst>
              <a:ext uri="{FF2B5EF4-FFF2-40B4-BE49-F238E27FC236}">
                <a16:creationId xmlns="" xmlns:a16="http://schemas.microsoft.com/office/drawing/2014/main" id="{10087243-B917-2879-64FA-64264A5ED6C1}"/>
              </a:ext>
            </a:extLst>
          </p:cNvPr>
          <p:cNvSpPr>
            <a:spLocks noGrp="1"/>
          </p:cNvSpPr>
          <p:nvPr>
            <p:ph idx="1"/>
          </p:nvPr>
        </p:nvSpPr>
        <p:spPr/>
        <p:txBody>
          <a:bodyPr/>
          <a:lstStyle/>
          <a:p>
            <a:pPr fontAlgn="base"/>
            <a:r>
              <a:rPr lang="en-GB" b="0" i="0">
                <a:solidFill>
                  <a:srgbClr val="00B050"/>
                </a:solidFill>
                <a:effectLst/>
                <a:latin typeface="Nunito" panose="02000000000000000000" pitchFamily="2" charset="0"/>
              </a:rPr>
              <a:t>Class</a:t>
            </a:r>
          </a:p>
          <a:p>
            <a:pPr fontAlgn="base"/>
            <a:r>
              <a:rPr lang="en-GB" b="0" i="0">
                <a:solidFill>
                  <a:srgbClr val="00B050"/>
                </a:solidFill>
                <a:effectLst/>
                <a:latin typeface="Nunito" panose="02000000000000000000" pitchFamily="2" charset="0"/>
              </a:rPr>
              <a:t>Objects</a:t>
            </a:r>
          </a:p>
          <a:p>
            <a:pPr fontAlgn="base"/>
            <a:r>
              <a:rPr lang="en-GB" b="0" i="0">
                <a:solidFill>
                  <a:srgbClr val="00B050"/>
                </a:solidFill>
                <a:effectLst/>
                <a:latin typeface="Nunito" panose="02000000000000000000" pitchFamily="2" charset="0"/>
              </a:rPr>
              <a:t>Polymorphism</a:t>
            </a:r>
          </a:p>
          <a:p>
            <a:pPr fontAlgn="base"/>
            <a:r>
              <a:rPr lang="en-GB" b="0" i="0">
                <a:solidFill>
                  <a:srgbClr val="00B050"/>
                </a:solidFill>
                <a:effectLst/>
                <a:latin typeface="Nunito" panose="02000000000000000000" pitchFamily="2" charset="0"/>
              </a:rPr>
              <a:t>Encapsulation</a:t>
            </a:r>
          </a:p>
          <a:p>
            <a:pPr fontAlgn="base"/>
            <a:r>
              <a:rPr lang="en-GB" b="0" i="0">
                <a:solidFill>
                  <a:srgbClr val="00B050"/>
                </a:solidFill>
                <a:effectLst/>
                <a:latin typeface="Nunito" panose="02000000000000000000" pitchFamily="2" charset="0"/>
              </a:rPr>
              <a:t>Inheritance</a:t>
            </a:r>
          </a:p>
          <a:p>
            <a:pPr fontAlgn="base"/>
            <a:r>
              <a:rPr lang="en-GB" b="0" i="0">
                <a:solidFill>
                  <a:srgbClr val="00B050"/>
                </a:solidFill>
                <a:effectLst/>
                <a:latin typeface="Nunito" panose="02000000000000000000" pitchFamily="2" charset="0"/>
              </a:rPr>
              <a:t>Data Abstraction</a:t>
            </a:r>
          </a:p>
        </p:txBody>
      </p:sp>
      <p:pic>
        <p:nvPicPr>
          <p:cNvPr id="4" name="Picture 3">
            <a:extLst>
              <a:ext uri="{FF2B5EF4-FFF2-40B4-BE49-F238E27FC236}">
                <a16:creationId xmlns="" xmlns:a16="http://schemas.microsoft.com/office/drawing/2014/main" id="{F9FB07C4-C2B3-9671-E220-7A9986BD6D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44394" y="1536868"/>
            <a:ext cx="4343466" cy="4521269"/>
          </a:xfrm>
          <a:prstGeom prst="rect">
            <a:avLst/>
          </a:prstGeom>
        </p:spPr>
      </p:pic>
    </p:spTree>
    <p:extLst>
      <p:ext uri="{BB962C8B-B14F-4D97-AF65-F5344CB8AC3E}">
        <p14:creationId xmlns:p14="http://schemas.microsoft.com/office/powerpoint/2010/main" val="395942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C12F0E-3E32-3653-8FF8-05A4CC9E9075}"/>
              </a:ext>
            </a:extLst>
          </p:cNvPr>
          <p:cNvSpPr>
            <a:spLocks noGrp="1"/>
          </p:cNvSpPr>
          <p:nvPr>
            <p:ph type="title"/>
          </p:nvPr>
        </p:nvSpPr>
        <p:spPr/>
        <p:txBody>
          <a:bodyPr/>
          <a:lstStyle/>
          <a:p>
            <a:pPr fontAlgn="base"/>
            <a:r>
              <a:rPr lang="en-GB" b="1" i="0">
                <a:solidFill>
                  <a:srgbClr val="FF0000"/>
                </a:solidFill>
                <a:effectLst/>
                <a:latin typeface="Nunito" pitchFamily="2" charset="0"/>
              </a:rPr>
              <a:t>Python Class </a:t>
            </a:r>
          </a:p>
        </p:txBody>
      </p:sp>
      <p:sp>
        <p:nvSpPr>
          <p:cNvPr id="3" name="Content Placeholder 2">
            <a:extLst>
              <a:ext uri="{FF2B5EF4-FFF2-40B4-BE49-F238E27FC236}">
                <a16:creationId xmlns="" xmlns:a16="http://schemas.microsoft.com/office/drawing/2014/main" id="{D2D93368-A39A-FEC1-B379-F7694530B39F}"/>
              </a:ext>
            </a:extLst>
          </p:cNvPr>
          <p:cNvSpPr>
            <a:spLocks noGrp="1"/>
          </p:cNvSpPr>
          <p:nvPr>
            <p:ph idx="1"/>
          </p:nvPr>
        </p:nvSpPr>
        <p:spPr/>
        <p:txBody>
          <a:bodyPr>
            <a:normAutofit lnSpcReduction="10000"/>
          </a:bodyPr>
          <a:lstStyle/>
          <a:p>
            <a:r>
              <a:rPr lang="en-GB" b="0" i="0" dirty="0">
                <a:solidFill>
                  <a:srgbClr val="0070C0"/>
                </a:solidFill>
                <a:effectLst/>
                <a:latin typeface="Nunito" pitchFamily="2" charset="0"/>
              </a:rPr>
              <a:t>A class is a collection of objects. A class contains the blueprints or the prototype from which the objects are being created. It is a logical entity that contains some attributes and methods</a:t>
            </a:r>
            <a:r>
              <a:rPr lang="en-US" b="0" i="0" dirty="0">
                <a:solidFill>
                  <a:srgbClr val="0070C0"/>
                </a:solidFill>
                <a:effectLst/>
                <a:latin typeface="Nunito" pitchFamily="2" charset="0"/>
              </a:rPr>
              <a:t>.</a:t>
            </a:r>
          </a:p>
          <a:p>
            <a:r>
              <a:rPr lang="en-US" dirty="0">
                <a:solidFill>
                  <a:srgbClr val="0070C0"/>
                </a:solidFill>
                <a:latin typeface="Nunito" pitchFamily="2" charset="0"/>
              </a:rPr>
              <a:t>Creating a new class creates a new type of object, allowing new instances of that type to be made. Each class instance can have attributes attached to it for maintaining its state</a:t>
            </a:r>
            <a:endParaRPr lang="en-US" b="0" i="0" dirty="0">
              <a:solidFill>
                <a:srgbClr val="0070C0"/>
              </a:solidFill>
              <a:effectLst/>
              <a:latin typeface="Nunito" pitchFamily="2" charset="0"/>
            </a:endParaRPr>
          </a:p>
          <a:p>
            <a:r>
              <a:rPr lang="en-US" dirty="0">
                <a:solidFill>
                  <a:srgbClr val="FF0000"/>
                </a:solidFill>
                <a:latin typeface="Nunito" pitchFamily="2" charset="0"/>
              </a:rPr>
              <a:t>Classes are created by keyword class.
Attributes are the variables that belong to a class.
Attributes are always public and can be accessed using the dot (.) operator. </a:t>
            </a:r>
            <a:r>
              <a:rPr lang="en-US" dirty="0" err="1">
                <a:solidFill>
                  <a:srgbClr val="FF0000"/>
                </a:solidFill>
                <a:latin typeface="Nunito" pitchFamily="2" charset="0"/>
              </a:rPr>
              <a:t>Eg</a:t>
            </a:r>
            <a:r>
              <a:rPr lang="en-US" dirty="0">
                <a:solidFill>
                  <a:srgbClr val="FF0000"/>
                </a:solidFill>
                <a:latin typeface="Nunito" pitchFamily="2" charset="0"/>
              </a:rPr>
              <a:t>.: </a:t>
            </a:r>
            <a:r>
              <a:rPr lang="en-US" dirty="0" err="1">
                <a:solidFill>
                  <a:srgbClr val="FF0000"/>
                </a:solidFill>
                <a:latin typeface="Nunito" pitchFamily="2" charset="0"/>
              </a:rPr>
              <a:t>Myclass.Myattribute</a:t>
            </a:r>
            <a:endParaRPr lang="en-US" dirty="0">
              <a:solidFill>
                <a:srgbClr val="FF0000"/>
              </a:solidFill>
            </a:endParaRPr>
          </a:p>
        </p:txBody>
      </p:sp>
    </p:spTree>
    <p:extLst>
      <p:ext uri="{BB962C8B-B14F-4D97-AF65-F5344CB8AC3E}">
        <p14:creationId xmlns:p14="http://schemas.microsoft.com/office/powerpoint/2010/main" val="2249981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799513C1-3E03-579B-3383-6645CF9FCC55}"/>
              </a:ext>
            </a:extLst>
          </p:cNvPr>
          <p:cNvSpPr>
            <a:spLocks noGrp="1"/>
          </p:cNvSpPr>
          <p:nvPr>
            <p:ph idx="1"/>
          </p:nvPr>
        </p:nvSpPr>
        <p:spPr>
          <a:xfrm>
            <a:off x="1287827" y="1253330"/>
            <a:ext cx="10515600" cy="5195271"/>
          </a:xfrm>
        </p:spPr>
        <p:txBody>
          <a:bodyPr>
            <a:noAutofit/>
          </a:bodyPr>
          <a:lstStyle/>
          <a:p>
            <a:pPr marL="0" indent="0">
              <a:buNone/>
            </a:pPr>
            <a:r>
              <a:rPr lang="en-GB" sz="4800" b="1" i="0">
                <a:solidFill>
                  <a:srgbClr val="FF0000"/>
                </a:solidFill>
                <a:effectLst/>
                <a:latin typeface="Nunito" pitchFamily="2" charset="0"/>
              </a:rPr>
              <a:t>The class creates a user-defined </a:t>
            </a:r>
            <a:r>
              <a:rPr lang="en-GB" sz="4800" b="1" i="0" u="sng">
                <a:solidFill>
                  <a:srgbClr val="FF0000"/>
                </a:solidFill>
                <a:effectLst/>
                <a:latin typeface="Nunito" pitchFamily="2" charset="0"/>
                <a:hlinkClick r:id="rId2">
                  <a:extLst>
                    <a:ext uri="{A12FA001-AC4F-418D-AE19-62706E023703}">
                      <ahyp:hlinkClr xmlns="" xmlns:ahyp="http://schemas.microsoft.com/office/drawing/2018/hyperlinkcolor" val="tx"/>
                    </a:ext>
                  </a:extLst>
                </a:hlinkClick>
              </a:rPr>
              <a:t>data structure</a:t>
            </a:r>
            <a:r>
              <a:rPr lang="en-GB" sz="4800" b="1" i="0">
                <a:solidFill>
                  <a:srgbClr val="FF0000"/>
                </a:solidFill>
                <a:effectLst/>
                <a:latin typeface="Nunito" pitchFamily="2" charset="0"/>
              </a:rPr>
              <a:t>, which holds its own data members and member functions, which can be accessed and used by creating an instance of that class. A class is like a blueprint for an object.</a:t>
            </a:r>
            <a:endParaRPr lang="en-US" sz="4800" b="1">
              <a:solidFill>
                <a:srgbClr val="FF0000"/>
              </a:solidFill>
            </a:endParaRPr>
          </a:p>
        </p:txBody>
      </p:sp>
    </p:spTree>
    <p:extLst>
      <p:ext uri="{BB962C8B-B14F-4D97-AF65-F5344CB8AC3E}">
        <p14:creationId xmlns:p14="http://schemas.microsoft.com/office/powerpoint/2010/main" val="1534530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46F9F37-9660-05A5-47DC-889A20C53E58}"/>
              </a:ext>
            </a:extLst>
          </p:cNvPr>
          <p:cNvSpPr>
            <a:spLocks noGrp="1"/>
          </p:cNvSpPr>
          <p:nvPr>
            <p:ph type="title"/>
          </p:nvPr>
        </p:nvSpPr>
        <p:spPr/>
        <p:txBody>
          <a:bodyPr/>
          <a:lstStyle/>
          <a:p>
            <a:r>
              <a:rPr lang="en-GB" b="1" i="0">
                <a:solidFill>
                  <a:srgbClr val="273239"/>
                </a:solidFill>
                <a:effectLst/>
                <a:latin typeface="Nunito" pitchFamily="2" charset="0"/>
              </a:rPr>
              <a:t>Class Definition Syntax:</a:t>
            </a:r>
            <a:endParaRPr lang="en-US"/>
          </a:p>
        </p:txBody>
      </p:sp>
      <p:sp>
        <p:nvSpPr>
          <p:cNvPr id="3" name="Content Placeholder 2">
            <a:extLst>
              <a:ext uri="{FF2B5EF4-FFF2-40B4-BE49-F238E27FC236}">
                <a16:creationId xmlns="" xmlns:a16="http://schemas.microsoft.com/office/drawing/2014/main" id="{1F1A2A30-5409-FCA3-2F2E-07B00C1970C3}"/>
              </a:ext>
            </a:extLst>
          </p:cNvPr>
          <p:cNvSpPr>
            <a:spLocks noGrp="1"/>
          </p:cNvSpPr>
          <p:nvPr>
            <p:ph idx="1"/>
          </p:nvPr>
        </p:nvSpPr>
        <p:spPr/>
        <p:txBody>
          <a:bodyPr/>
          <a:lstStyle/>
          <a:p>
            <a:pPr marL="0" indent="0">
              <a:buNone/>
            </a:pPr>
            <a:r>
              <a:rPr lang="en-GB">
                <a:solidFill>
                  <a:srgbClr val="00B050"/>
                </a:solidFill>
                <a:effectLst/>
              </a:rPr>
              <a:t>class ClassName:</a:t>
            </a:r>
            <a:r>
              <a:rPr lang="en-GB">
                <a:solidFill>
                  <a:srgbClr val="00B050"/>
                </a:solidFill>
              </a:rPr>
              <a:t/>
            </a:r>
            <a:br>
              <a:rPr lang="en-GB">
                <a:solidFill>
                  <a:srgbClr val="00B050"/>
                </a:solidFill>
              </a:rPr>
            </a:br>
            <a:r>
              <a:rPr lang="en-GB">
                <a:solidFill>
                  <a:srgbClr val="00B050"/>
                </a:solidFill>
                <a:effectLst/>
              </a:rPr>
              <a:t># Statement-1</a:t>
            </a:r>
            <a:r>
              <a:rPr lang="en-GB">
                <a:solidFill>
                  <a:srgbClr val="00B050"/>
                </a:solidFill>
              </a:rPr>
              <a:t/>
            </a:r>
            <a:br>
              <a:rPr lang="en-GB">
                <a:solidFill>
                  <a:srgbClr val="00B050"/>
                </a:solidFill>
              </a:rPr>
            </a:br>
            <a:r>
              <a:rPr lang="en-GB">
                <a:solidFill>
                  <a:srgbClr val="00B050"/>
                </a:solidFill>
                <a:effectLst/>
              </a:rPr>
              <a:t>.</a:t>
            </a:r>
            <a:r>
              <a:rPr lang="en-GB">
                <a:solidFill>
                  <a:srgbClr val="00B050"/>
                </a:solidFill>
              </a:rPr>
              <a:t/>
            </a:r>
            <a:br>
              <a:rPr lang="en-GB">
                <a:solidFill>
                  <a:srgbClr val="00B050"/>
                </a:solidFill>
              </a:rPr>
            </a:br>
            <a:r>
              <a:rPr lang="en-GB">
                <a:solidFill>
                  <a:srgbClr val="00B050"/>
                </a:solidFill>
                <a:effectLst/>
              </a:rPr>
              <a:t>.</a:t>
            </a:r>
            <a:r>
              <a:rPr lang="en-GB">
                <a:solidFill>
                  <a:srgbClr val="00B050"/>
                </a:solidFill>
              </a:rPr>
              <a:t/>
            </a:r>
            <a:br>
              <a:rPr lang="en-GB">
                <a:solidFill>
                  <a:srgbClr val="00B050"/>
                </a:solidFill>
              </a:rPr>
            </a:br>
            <a:r>
              <a:rPr lang="en-GB">
                <a:solidFill>
                  <a:srgbClr val="00B050"/>
                </a:solidFill>
                <a:effectLst/>
              </a:rPr>
              <a:t>.</a:t>
            </a:r>
            <a:r>
              <a:rPr lang="en-GB">
                <a:solidFill>
                  <a:srgbClr val="00B050"/>
                </a:solidFill>
              </a:rPr>
              <a:t/>
            </a:r>
            <a:br>
              <a:rPr lang="en-GB">
                <a:solidFill>
                  <a:srgbClr val="00B050"/>
                </a:solidFill>
              </a:rPr>
            </a:br>
            <a:r>
              <a:rPr lang="en-GB">
                <a:solidFill>
                  <a:srgbClr val="00B050"/>
                </a:solidFill>
                <a:effectLst/>
              </a:rPr>
              <a:t># Statement-N</a:t>
            </a:r>
            <a:endParaRPr lang="en-US">
              <a:solidFill>
                <a:srgbClr val="00B050"/>
              </a:solidFill>
            </a:endParaRPr>
          </a:p>
        </p:txBody>
      </p:sp>
    </p:spTree>
    <p:extLst>
      <p:ext uri="{BB962C8B-B14F-4D97-AF65-F5344CB8AC3E}">
        <p14:creationId xmlns:p14="http://schemas.microsoft.com/office/powerpoint/2010/main" val="1697613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249A9A1-C3B1-560F-1BF4-13031A1E715E}"/>
              </a:ext>
            </a:extLst>
          </p:cNvPr>
          <p:cNvSpPr>
            <a:spLocks noGrp="1"/>
          </p:cNvSpPr>
          <p:nvPr>
            <p:ph type="title"/>
          </p:nvPr>
        </p:nvSpPr>
        <p:spPr/>
        <p:txBody>
          <a:bodyPr/>
          <a:lstStyle/>
          <a:p>
            <a:pPr fontAlgn="base"/>
            <a:r>
              <a:rPr lang="en-GB" b="1" i="0">
                <a:solidFill>
                  <a:srgbClr val="273239"/>
                </a:solidFill>
                <a:effectLst/>
                <a:latin typeface="Nunito" pitchFamily="2" charset="0"/>
              </a:rPr>
              <a:t>Creating an Empty Class in Python</a:t>
            </a:r>
          </a:p>
        </p:txBody>
      </p:sp>
      <p:sp>
        <p:nvSpPr>
          <p:cNvPr id="3" name="Content Placeholder 2">
            <a:extLst>
              <a:ext uri="{FF2B5EF4-FFF2-40B4-BE49-F238E27FC236}">
                <a16:creationId xmlns="" xmlns:a16="http://schemas.microsoft.com/office/drawing/2014/main" id="{594C22CF-F394-91E6-FBCF-99D4787FF6C2}"/>
              </a:ext>
            </a:extLst>
          </p:cNvPr>
          <p:cNvSpPr>
            <a:spLocks noGrp="1"/>
          </p:cNvSpPr>
          <p:nvPr>
            <p:ph idx="1"/>
          </p:nvPr>
        </p:nvSpPr>
        <p:spPr/>
        <p:txBody>
          <a:bodyPr/>
          <a:lstStyle/>
          <a:p>
            <a:pPr marL="0" indent="0" rtl="0" fontAlgn="base">
              <a:buNone/>
            </a:pPr>
            <a:r>
              <a:rPr lang="en-GB" b="0" i="0">
                <a:solidFill>
                  <a:srgbClr val="00B050"/>
                </a:solidFill>
                <a:effectLst/>
                <a:latin typeface="Consolas" panose="020B0609020204030204" pitchFamily="49" charset="0"/>
              </a:rPr>
              <a:t># Python3 program to</a:t>
            </a:r>
          </a:p>
          <a:p>
            <a:pPr marL="0" indent="0" rtl="0" fontAlgn="base">
              <a:buNone/>
            </a:pPr>
            <a:r>
              <a:rPr lang="en-GB" b="0" i="0">
                <a:solidFill>
                  <a:srgbClr val="00B050"/>
                </a:solidFill>
                <a:effectLst/>
                <a:latin typeface="Consolas" panose="020B0609020204030204" pitchFamily="49" charset="0"/>
              </a:rPr>
              <a:t># demonstrate defining</a:t>
            </a:r>
          </a:p>
          <a:p>
            <a:pPr marL="0" indent="0" rtl="0" fontAlgn="base">
              <a:buNone/>
            </a:pPr>
            <a:r>
              <a:rPr lang="en-GB" b="0" i="0">
                <a:solidFill>
                  <a:srgbClr val="00B050"/>
                </a:solidFill>
                <a:effectLst/>
                <a:latin typeface="Consolas" panose="020B0609020204030204" pitchFamily="49" charset="0"/>
              </a:rPr>
              <a:t># a class</a:t>
            </a:r>
          </a:p>
          <a:p>
            <a:pPr marL="0" indent="0" rtl="0" fontAlgn="base">
              <a:buNone/>
            </a:pPr>
            <a:r>
              <a:rPr lang="en-GB" b="0" i="0">
                <a:solidFill>
                  <a:srgbClr val="00B050"/>
                </a:solidFill>
                <a:effectLst/>
                <a:latin typeface="Consolas" panose="020B0609020204030204" pitchFamily="49" charset="0"/>
              </a:rPr>
              <a:t> </a:t>
            </a:r>
          </a:p>
          <a:p>
            <a:pPr marL="0" indent="0" rtl="0" fontAlgn="base">
              <a:buNone/>
            </a:pPr>
            <a:r>
              <a:rPr lang="en-GB" b="0" i="0">
                <a:solidFill>
                  <a:srgbClr val="00B050"/>
                </a:solidFill>
                <a:effectLst/>
                <a:latin typeface="Consolas" panose="020B0609020204030204" pitchFamily="49" charset="0"/>
              </a:rPr>
              <a:t>class Dog:</a:t>
            </a:r>
          </a:p>
          <a:p>
            <a:pPr marL="0" indent="0" rtl="0" fontAlgn="base">
              <a:buNone/>
            </a:pPr>
            <a:r>
              <a:rPr lang="en-GB" b="0" i="0">
                <a:solidFill>
                  <a:srgbClr val="00B050"/>
                </a:solidFill>
                <a:effectLst/>
                <a:latin typeface="Consolas" panose="020B0609020204030204" pitchFamily="49" charset="0"/>
              </a:rPr>
              <a:t>    pass</a:t>
            </a:r>
          </a:p>
        </p:txBody>
      </p:sp>
      <p:pic>
        <p:nvPicPr>
          <p:cNvPr id="4" name="Picture 3">
            <a:extLst>
              <a:ext uri="{FF2B5EF4-FFF2-40B4-BE49-F238E27FC236}">
                <a16:creationId xmlns="" xmlns:a16="http://schemas.microsoft.com/office/drawing/2014/main" id="{83882C3A-F40B-A6E1-425D-D1D6F6E208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6552" y="4121150"/>
            <a:ext cx="4793797" cy="2190750"/>
          </a:xfrm>
          <a:prstGeom prst="rect">
            <a:avLst/>
          </a:prstGeom>
        </p:spPr>
      </p:pic>
    </p:spTree>
    <p:extLst>
      <p:ext uri="{BB962C8B-B14F-4D97-AF65-F5344CB8AC3E}">
        <p14:creationId xmlns:p14="http://schemas.microsoft.com/office/powerpoint/2010/main" val="2445521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9626016-A565-EFD6-6276-C58F003E970B}"/>
              </a:ext>
            </a:extLst>
          </p:cNvPr>
          <p:cNvSpPr>
            <a:spLocks noGrp="1"/>
          </p:cNvSpPr>
          <p:nvPr>
            <p:ph type="title"/>
          </p:nvPr>
        </p:nvSpPr>
        <p:spPr/>
        <p:txBody>
          <a:bodyPr/>
          <a:lstStyle/>
          <a:p>
            <a:pPr fontAlgn="base"/>
            <a:r>
              <a:rPr lang="en-GB" b="1" i="0" dirty="0">
                <a:solidFill>
                  <a:srgbClr val="273239"/>
                </a:solidFill>
                <a:effectLst/>
                <a:latin typeface="Nunito" pitchFamily="2" charset="0"/>
              </a:rPr>
              <a:t>Python Objects</a:t>
            </a:r>
            <a:r>
              <a:rPr lang="en-US" b="1" i="0" dirty="0">
                <a:solidFill>
                  <a:srgbClr val="273239"/>
                </a:solidFill>
                <a:effectLst/>
                <a:latin typeface="Nunito" pitchFamily="2" charset="0"/>
              </a:rPr>
              <a:t>: </a:t>
            </a:r>
            <a:r>
              <a:rPr lang="en-GB" b="0" i="0" dirty="0">
                <a:solidFill>
                  <a:srgbClr val="273239"/>
                </a:solidFill>
                <a:effectLst/>
                <a:latin typeface="Nunito" pitchFamily="2" charset="0"/>
              </a:rPr>
              <a:t>An Object is an instance of a Class</a:t>
            </a:r>
            <a:endParaRPr lang="en-GB" b="1" i="0" dirty="0">
              <a:solidFill>
                <a:srgbClr val="273239"/>
              </a:solidFill>
              <a:effectLst/>
              <a:latin typeface="Nunito" pitchFamily="2" charset="0"/>
            </a:endParaRPr>
          </a:p>
        </p:txBody>
      </p:sp>
      <p:sp>
        <p:nvSpPr>
          <p:cNvPr id="3" name="Content Placeholder 2">
            <a:extLst>
              <a:ext uri="{FF2B5EF4-FFF2-40B4-BE49-F238E27FC236}">
                <a16:creationId xmlns="" xmlns:a16="http://schemas.microsoft.com/office/drawing/2014/main" id="{0A139D78-7F3D-67BB-A41D-D2C62B1EA1B8}"/>
              </a:ext>
            </a:extLst>
          </p:cNvPr>
          <p:cNvSpPr>
            <a:spLocks noGrp="1"/>
          </p:cNvSpPr>
          <p:nvPr>
            <p:ph idx="1"/>
          </p:nvPr>
        </p:nvSpPr>
        <p:spPr/>
        <p:txBody>
          <a:bodyPr/>
          <a:lstStyle/>
          <a:p>
            <a:r>
              <a:rPr lang="en-US" b="0" i="0" dirty="0">
                <a:solidFill>
                  <a:srgbClr val="00B050"/>
                </a:solidFill>
                <a:effectLst/>
                <a:latin typeface="Nunito" pitchFamily="2" charset="0"/>
              </a:rPr>
              <a:t>A class is like a blueprint while an </a:t>
            </a:r>
            <a:r>
              <a:rPr lang="en-US" b="0" i="0" dirty="0">
                <a:solidFill>
                  <a:srgbClr val="FF0000"/>
                </a:solidFill>
                <a:effectLst/>
                <a:latin typeface="Nunito" pitchFamily="2" charset="0"/>
              </a:rPr>
              <a:t>instance</a:t>
            </a:r>
            <a:r>
              <a:rPr lang="en-US" b="0" i="0" dirty="0">
                <a:solidFill>
                  <a:srgbClr val="00B050"/>
                </a:solidFill>
                <a:effectLst/>
                <a:latin typeface="Nunito" pitchFamily="2" charset="0"/>
              </a:rPr>
              <a:t> is a copy of the class with actual values</a:t>
            </a:r>
          </a:p>
          <a:p>
            <a:r>
              <a:rPr lang="en-GB" b="0" i="0" dirty="0">
                <a:solidFill>
                  <a:srgbClr val="00B050"/>
                </a:solidFill>
                <a:effectLst/>
                <a:latin typeface="Nunito" pitchFamily="2" charset="0"/>
              </a:rPr>
              <a:t>The object is an entity that has a state and </a:t>
            </a:r>
            <a:r>
              <a:rPr lang="en-GB" b="0" i="0" dirty="0" err="1">
                <a:solidFill>
                  <a:srgbClr val="00B050"/>
                </a:solidFill>
                <a:effectLst/>
                <a:latin typeface="Nunito" pitchFamily="2" charset="0"/>
              </a:rPr>
              <a:t>behavior</a:t>
            </a:r>
            <a:r>
              <a:rPr lang="en-GB" b="0" i="0" dirty="0">
                <a:solidFill>
                  <a:srgbClr val="00B050"/>
                </a:solidFill>
                <a:effectLst/>
                <a:latin typeface="Nunito" pitchFamily="2" charset="0"/>
              </a:rPr>
              <a:t> associated with it. It may be any real-world object like a mouse, keyboard, chair, table, pen, etc.</a:t>
            </a:r>
            <a:endParaRPr lang="en-US" b="0" i="0" dirty="0">
              <a:solidFill>
                <a:srgbClr val="00B050"/>
              </a:solidFill>
              <a:effectLst/>
              <a:latin typeface="Nunito" pitchFamily="2" charset="0"/>
            </a:endParaRPr>
          </a:p>
          <a:p>
            <a:r>
              <a:rPr lang="en-US" dirty="0">
                <a:solidFill>
                  <a:srgbClr val="00B050"/>
                </a:solidFill>
                <a:latin typeface="Nunito" pitchFamily="2" charset="0"/>
              </a:rPr>
              <a:t>Integers, strings, floating-point numbers, even arrays, and dictionaries, are all objects.</a:t>
            </a:r>
          </a:p>
          <a:p>
            <a:r>
              <a:rPr lang="en-US" dirty="0">
                <a:solidFill>
                  <a:srgbClr val="00B050"/>
                </a:solidFill>
              </a:rPr>
              <a:t>More specifically, any single integer or any single string is an object. The number 12 is an object, the string “Hello, world” is an object, a list is an object that can hold other objects, and so on. </a:t>
            </a:r>
          </a:p>
        </p:txBody>
      </p:sp>
    </p:spTree>
    <p:extLst>
      <p:ext uri="{BB962C8B-B14F-4D97-AF65-F5344CB8AC3E}">
        <p14:creationId xmlns:p14="http://schemas.microsoft.com/office/powerpoint/2010/main" val="20027344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447AD20-ED76-06FA-5E9A-20735AEF6CA3}"/>
              </a:ext>
            </a:extLst>
          </p:cNvPr>
          <p:cNvSpPr>
            <a:spLocks noGrp="1"/>
          </p:cNvSpPr>
          <p:nvPr>
            <p:ph type="title"/>
          </p:nvPr>
        </p:nvSpPr>
        <p:spPr/>
        <p:txBody>
          <a:bodyPr/>
          <a:lstStyle/>
          <a:p>
            <a:r>
              <a:rPr lang="en-GB" b="1" i="0" dirty="0">
                <a:solidFill>
                  <a:srgbClr val="273239"/>
                </a:solidFill>
                <a:effectLst/>
                <a:latin typeface="Nunito" pitchFamily="2" charset="0"/>
              </a:rPr>
              <a:t>An object </a:t>
            </a:r>
            <a:r>
              <a:rPr lang="en-US" b="1" i="0" dirty="0">
                <a:solidFill>
                  <a:srgbClr val="273239"/>
                </a:solidFill>
                <a:effectLst/>
                <a:latin typeface="Nunito" pitchFamily="2" charset="0"/>
              </a:rPr>
              <a:t>of python class </a:t>
            </a:r>
            <a:r>
              <a:rPr lang="en-GB" b="1" i="0" dirty="0">
                <a:solidFill>
                  <a:srgbClr val="273239"/>
                </a:solidFill>
                <a:effectLst/>
                <a:latin typeface="Nunito" pitchFamily="2" charset="0"/>
              </a:rPr>
              <a:t>consists of:</a:t>
            </a:r>
            <a:endParaRPr lang="en-US" dirty="0"/>
          </a:p>
        </p:txBody>
      </p:sp>
      <p:sp>
        <p:nvSpPr>
          <p:cNvPr id="3" name="Content Placeholder 2">
            <a:extLst>
              <a:ext uri="{FF2B5EF4-FFF2-40B4-BE49-F238E27FC236}">
                <a16:creationId xmlns="" xmlns:a16="http://schemas.microsoft.com/office/drawing/2014/main" id="{828E5B65-5908-E7E9-C9CA-E2AD9750945F}"/>
              </a:ext>
            </a:extLst>
          </p:cNvPr>
          <p:cNvSpPr>
            <a:spLocks noGrp="1"/>
          </p:cNvSpPr>
          <p:nvPr>
            <p:ph idx="1"/>
          </p:nvPr>
        </p:nvSpPr>
        <p:spPr/>
        <p:txBody>
          <a:bodyPr/>
          <a:lstStyle/>
          <a:p>
            <a:pPr fontAlgn="base"/>
            <a:r>
              <a:rPr lang="en-GB" b="1" i="0">
                <a:solidFill>
                  <a:srgbClr val="00B050"/>
                </a:solidFill>
                <a:effectLst/>
                <a:latin typeface="Nunito" pitchFamily="2" charset="0"/>
              </a:rPr>
              <a:t>State:</a:t>
            </a:r>
            <a:r>
              <a:rPr lang="en-GB" b="0" i="0">
                <a:solidFill>
                  <a:srgbClr val="00B050"/>
                </a:solidFill>
                <a:effectLst/>
                <a:latin typeface="Nunito" pitchFamily="2" charset="0"/>
              </a:rPr>
              <a:t> It is represented by the attributes of an object. It also reflects the properties of an object.</a:t>
            </a:r>
          </a:p>
          <a:p>
            <a:pPr fontAlgn="base"/>
            <a:r>
              <a:rPr lang="en-GB" b="1" i="0">
                <a:solidFill>
                  <a:srgbClr val="00B050"/>
                </a:solidFill>
                <a:effectLst/>
                <a:latin typeface="Nunito" pitchFamily="2" charset="0"/>
              </a:rPr>
              <a:t>Behavior:</a:t>
            </a:r>
            <a:r>
              <a:rPr lang="en-GB" b="0" i="0">
                <a:solidFill>
                  <a:srgbClr val="00B050"/>
                </a:solidFill>
                <a:effectLst/>
                <a:latin typeface="Nunito" pitchFamily="2" charset="0"/>
              </a:rPr>
              <a:t> It is represented by the methods of an object. It also reflects the response of an object to other objects.</a:t>
            </a:r>
          </a:p>
          <a:p>
            <a:pPr fontAlgn="base"/>
            <a:r>
              <a:rPr lang="en-GB" b="1" i="0">
                <a:solidFill>
                  <a:srgbClr val="00B050"/>
                </a:solidFill>
                <a:effectLst/>
                <a:latin typeface="Nunito" pitchFamily="2" charset="0"/>
              </a:rPr>
              <a:t>Identity:</a:t>
            </a:r>
            <a:r>
              <a:rPr lang="en-GB" b="0" i="0">
                <a:solidFill>
                  <a:srgbClr val="00B050"/>
                </a:solidFill>
                <a:effectLst/>
                <a:latin typeface="Nunito" pitchFamily="2" charset="0"/>
              </a:rPr>
              <a:t> It gives a unique name to an object and enables one object to interact with other objects.</a:t>
            </a:r>
          </a:p>
        </p:txBody>
      </p:sp>
    </p:spTree>
    <p:extLst>
      <p:ext uri="{BB962C8B-B14F-4D97-AF65-F5344CB8AC3E}">
        <p14:creationId xmlns:p14="http://schemas.microsoft.com/office/powerpoint/2010/main" val="32563126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A6FAE3E-52D5-4956-2F99-695FA3A08BFE}"/>
              </a:ext>
            </a:extLst>
          </p:cNvPr>
          <p:cNvSpPr>
            <a:spLocks noGrp="1"/>
          </p:cNvSpPr>
          <p:nvPr>
            <p:ph type="title"/>
          </p:nvPr>
        </p:nvSpPr>
        <p:spPr>
          <a:xfrm>
            <a:off x="838200" y="365125"/>
            <a:ext cx="10515600" cy="1965838"/>
          </a:xfrm>
        </p:spPr>
        <p:txBody>
          <a:bodyPr>
            <a:normAutofit/>
          </a:bodyPr>
          <a:lstStyle/>
          <a:p>
            <a:r>
              <a:rPr lang="en-GB" b="1" i="0">
                <a:solidFill>
                  <a:srgbClr val="0070C0"/>
                </a:solidFill>
                <a:effectLst/>
                <a:latin typeface="Nunito" pitchFamily="2" charset="0"/>
              </a:rPr>
              <a:t>To understand the state, behavior, and identity let us take the example of the class dog (explained above).</a:t>
            </a:r>
            <a:endParaRPr lang="en-US" b="1">
              <a:solidFill>
                <a:srgbClr val="0070C0"/>
              </a:solidFill>
            </a:endParaRPr>
          </a:p>
        </p:txBody>
      </p:sp>
      <p:sp>
        <p:nvSpPr>
          <p:cNvPr id="3" name="Content Placeholder 2">
            <a:extLst>
              <a:ext uri="{FF2B5EF4-FFF2-40B4-BE49-F238E27FC236}">
                <a16:creationId xmlns="" xmlns:a16="http://schemas.microsoft.com/office/drawing/2014/main" id="{EB67A19A-CD83-D268-F5FE-FF8519BD96B6}"/>
              </a:ext>
            </a:extLst>
          </p:cNvPr>
          <p:cNvSpPr>
            <a:spLocks noGrp="1"/>
          </p:cNvSpPr>
          <p:nvPr>
            <p:ph idx="1"/>
          </p:nvPr>
        </p:nvSpPr>
        <p:spPr>
          <a:xfrm>
            <a:off x="838200" y="2543943"/>
            <a:ext cx="10515600" cy="3633019"/>
          </a:xfrm>
        </p:spPr>
        <p:txBody>
          <a:bodyPr/>
          <a:lstStyle/>
          <a:p>
            <a:pPr fontAlgn="base"/>
            <a:r>
              <a:rPr lang="en-GB" b="0" i="0">
                <a:solidFill>
                  <a:srgbClr val="00B050"/>
                </a:solidFill>
                <a:effectLst/>
                <a:latin typeface="Nunito" pitchFamily="2" charset="0"/>
              </a:rPr>
              <a:t>The identity can be considered as the name of the dog.</a:t>
            </a:r>
          </a:p>
          <a:p>
            <a:pPr fontAlgn="base"/>
            <a:r>
              <a:rPr lang="en-GB" b="0" i="0">
                <a:solidFill>
                  <a:srgbClr val="00B050"/>
                </a:solidFill>
                <a:effectLst/>
                <a:latin typeface="Nunito" pitchFamily="2" charset="0"/>
              </a:rPr>
              <a:t>State or Attributes can be considered as the breed, age, or color of the dog.</a:t>
            </a:r>
          </a:p>
          <a:p>
            <a:pPr fontAlgn="base"/>
            <a:r>
              <a:rPr lang="en-GB" b="0" i="0">
                <a:solidFill>
                  <a:srgbClr val="00B050"/>
                </a:solidFill>
                <a:effectLst/>
                <a:latin typeface="Nunito" pitchFamily="2" charset="0"/>
              </a:rPr>
              <a:t>The behavior can be considered as to whether the dog is eating or sleeping</a:t>
            </a:r>
          </a:p>
        </p:txBody>
      </p:sp>
      <p:pic>
        <p:nvPicPr>
          <p:cNvPr id="4" name="Picture 3">
            <a:extLst>
              <a:ext uri="{FF2B5EF4-FFF2-40B4-BE49-F238E27FC236}">
                <a16:creationId xmlns="" xmlns:a16="http://schemas.microsoft.com/office/drawing/2014/main" id="{39190697-CAC1-18F0-899C-2267B4964A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4049" y="4886867"/>
            <a:ext cx="8747223" cy="1879221"/>
          </a:xfrm>
          <a:prstGeom prst="rect">
            <a:avLst/>
          </a:prstGeom>
        </p:spPr>
      </p:pic>
    </p:spTree>
    <p:extLst>
      <p:ext uri="{BB962C8B-B14F-4D97-AF65-F5344CB8AC3E}">
        <p14:creationId xmlns:p14="http://schemas.microsoft.com/office/powerpoint/2010/main" val="37943397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CB6BBB5-6548-1820-4A31-A4F3374F64C8}"/>
              </a:ext>
            </a:extLst>
          </p:cNvPr>
          <p:cNvSpPr>
            <a:spLocks noGrp="1"/>
          </p:cNvSpPr>
          <p:nvPr>
            <p:ph type="title"/>
          </p:nvPr>
        </p:nvSpPr>
        <p:spPr/>
        <p:txBody>
          <a:bodyPr/>
          <a:lstStyle/>
          <a:p>
            <a:pPr fontAlgn="base"/>
            <a:r>
              <a:rPr lang="en-GB" b="1" i="0">
                <a:solidFill>
                  <a:srgbClr val="273239"/>
                </a:solidFill>
                <a:effectLst/>
                <a:latin typeface="Nunito" pitchFamily="2" charset="0"/>
              </a:rPr>
              <a:t>Declaring Claas Objects (Also called instantiating a class)</a:t>
            </a:r>
          </a:p>
        </p:txBody>
      </p:sp>
      <p:sp>
        <p:nvSpPr>
          <p:cNvPr id="3" name="Content Placeholder 2">
            <a:extLst>
              <a:ext uri="{FF2B5EF4-FFF2-40B4-BE49-F238E27FC236}">
                <a16:creationId xmlns="" xmlns:a16="http://schemas.microsoft.com/office/drawing/2014/main" id="{2B63A22D-4424-68F7-F196-F74501263D72}"/>
              </a:ext>
            </a:extLst>
          </p:cNvPr>
          <p:cNvSpPr>
            <a:spLocks noGrp="1"/>
          </p:cNvSpPr>
          <p:nvPr>
            <p:ph idx="1"/>
          </p:nvPr>
        </p:nvSpPr>
        <p:spPr/>
        <p:txBody>
          <a:bodyPr/>
          <a:lstStyle/>
          <a:p>
            <a:r>
              <a:rPr lang="en-GB" b="0" i="0">
                <a:solidFill>
                  <a:srgbClr val="273239"/>
                </a:solidFill>
                <a:effectLst/>
                <a:latin typeface="Nunito" pitchFamily="2" charset="0"/>
              </a:rPr>
              <a:t>When an object of a class is created, the class is said to be instantiated. All the instances share the attributes and the behavior of the class. But the values of those attributes, i.e. the state are unique for each object. A single class may have any number of instances.</a:t>
            </a:r>
            <a:endParaRPr lang="en-US"/>
          </a:p>
        </p:txBody>
      </p:sp>
      <p:pic>
        <p:nvPicPr>
          <p:cNvPr id="4" name="Picture 3">
            <a:extLst>
              <a:ext uri="{FF2B5EF4-FFF2-40B4-BE49-F238E27FC236}">
                <a16:creationId xmlns="" xmlns:a16="http://schemas.microsoft.com/office/drawing/2014/main" id="{C1314DDE-7D91-38A2-30A1-77C785082F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00695" y="3911535"/>
            <a:ext cx="8652565" cy="2844707"/>
          </a:xfrm>
          <a:prstGeom prst="rect">
            <a:avLst/>
          </a:prstGeom>
        </p:spPr>
      </p:pic>
    </p:spTree>
    <p:extLst>
      <p:ext uri="{BB962C8B-B14F-4D97-AF65-F5344CB8AC3E}">
        <p14:creationId xmlns:p14="http://schemas.microsoft.com/office/powerpoint/2010/main" val="11484717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A9EF72-4C6A-019E-A1B9-1DA9C13CFFF8}"/>
              </a:ext>
            </a:extLst>
          </p:cNvPr>
          <p:cNvSpPr>
            <a:spLocks noGrp="1"/>
          </p:cNvSpPr>
          <p:nvPr>
            <p:ph type="title"/>
          </p:nvPr>
        </p:nvSpPr>
        <p:spPr/>
        <p:txBody>
          <a:bodyPr/>
          <a:lstStyle/>
          <a:p>
            <a:pPr fontAlgn="base"/>
            <a:r>
              <a:rPr lang="en-GB" b="1" i="0">
                <a:solidFill>
                  <a:srgbClr val="273239"/>
                </a:solidFill>
                <a:effectLst/>
                <a:latin typeface="Nunito" pitchFamily="2" charset="0"/>
              </a:rPr>
              <a:t>Creating an Object</a:t>
            </a:r>
          </a:p>
        </p:txBody>
      </p:sp>
      <p:sp>
        <p:nvSpPr>
          <p:cNvPr id="3" name="Content Placeholder 2">
            <a:extLst>
              <a:ext uri="{FF2B5EF4-FFF2-40B4-BE49-F238E27FC236}">
                <a16:creationId xmlns="" xmlns:a16="http://schemas.microsoft.com/office/drawing/2014/main" id="{01749B92-94EE-9558-DB34-944E1C910A50}"/>
              </a:ext>
            </a:extLst>
          </p:cNvPr>
          <p:cNvSpPr>
            <a:spLocks noGrp="1"/>
          </p:cNvSpPr>
          <p:nvPr>
            <p:ph idx="1"/>
          </p:nvPr>
        </p:nvSpPr>
        <p:spPr/>
        <p:txBody>
          <a:bodyPr/>
          <a:lstStyle/>
          <a:p>
            <a:r>
              <a:rPr lang="en-GB" b="0" i="0" dirty="0">
                <a:solidFill>
                  <a:srgbClr val="273239"/>
                </a:solidFill>
                <a:effectLst/>
                <a:latin typeface="Nunito" pitchFamily="2" charset="0"/>
              </a:rPr>
              <a:t>This will create an object named </a:t>
            </a:r>
            <a:r>
              <a:rPr lang="en-GB" b="0" i="0" dirty="0" err="1">
                <a:solidFill>
                  <a:srgbClr val="273239"/>
                </a:solidFill>
                <a:effectLst/>
                <a:latin typeface="Nunito" pitchFamily="2" charset="0"/>
              </a:rPr>
              <a:t>obj</a:t>
            </a:r>
            <a:r>
              <a:rPr lang="en-GB" b="0" i="0" dirty="0">
                <a:solidFill>
                  <a:srgbClr val="273239"/>
                </a:solidFill>
                <a:effectLst/>
                <a:latin typeface="Nunito" pitchFamily="2" charset="0"/>
              </a:rPr>
              <a:t> of the class Dog defined above</a:t>
            </a:r>
            <a:r>
              <a:rPr lang="en-US" b="0" i="0" dirty="0">
                <a:solidFill>
                  <a:srgbClr val="273239"/>
                </a:solidFill>
                <a:effectLst/>
                <a:latin typeface="Nunito" pitchFamily="2" charset="0"/>
              </a:rPr>
              <a:t>.</a:t>
            </a:r>
          </a:p>
          <a:p>
            <a:r>
              <a:rPr lang="en-US" b="0" i="0" dirty="0">
                <a:solidFill>
                  <a:srgbClr val="273239"/>
                </a:solidFill>
                <a:effectLst/>
                <a:latin typeface="Nunito" pitchFamily="2" charset="0"/>
              </a:rPr>
              <a:t>Before diving deep into objects and classes let us understand some basic keywords that will we used while working with objects and classes.</a:t>
            </a:r>
          </a:p>
          <a:p>
            <a:endParaRPr lang="en-US" dirty="0">
              <a:solidFill>
                <a:srgbClr val="273239"/>
              </a:solidFill>
              <a:latin typeface="Nunito" pitchFamily="2" charset="0"/>
            </a:endParaRPr>
          </a:p>
          <a:p>
            <a:pPr marL="0" indent="0">
              <a:buNone/>
            </a:pPr>
            <a:r>
              <a:rPr lang="en-US" dirty="0" err="1">
                <a:solidFill>
                  <a:srgbClr val="273239"/>
                </a:solidFill>
                <a:latin typeface="Nunito" pitchFamily="2" charset="0"/>
              </a:rPr>
              <a:t>Obj</a:t>
            </a:r>
            <a:r>
              <a:rPr lang="en-US" dirty="0">
                <a:solidFill>
                  <a:srgbClr val="273239"/>
                </a:solidFill>
                <a:latin typeface="Nunito" pitchFamily="2" charset="0"/>
              </a:rPr>
              <a:t> = Dog()</a:t>
            </a:r>
          </a:p>
          <a:p>
            <a:pPr marL="0" indent="0">
              <a:buNone/>
            </a:pPr>
            <a:endParaRPr lang="en-US" dirty="0">
              <a:solidFill>
                <a:srgbClr val="273239"/>
              </a:solidFill>
              <a:latin typeface="Nunito" pitchFamily="2" charset="0"/>
            </a:endParaRPr>
          </a:p>
          <a:p>
            <a:pPr marL="0" indent="0">
              <a:buNone/>
            </a:pPr>
            <a:endParaRPr lang="en-US" dirty="0"/>
          </a:p>
        </p:txBody>
      </p:sp>
    </p:spTree>
    <p:extLst>
      <p:ext uri="{BB962C8B-B14F-4D97-AF65-F5344CB8AC3E}">
        <p14:creationId xmlns:p14="http://schemas.microsoft.com/office/powerpoint/2010/main" val="3844849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6E9B8EE-5793-13B9-401E-9DF2841672CA}"/>
              </a:ext>
            </a:extLst>
          </p:cNvPr>
          <p:cNvSpPr>
            <a:spLocks noGrp="1"/>
          </p:cNvSpPr>
          <p:nvPr>
            <p:ph type="title"/>
          </p:nvPr>
        </p:nvSpPr>
        <p:spPr/>
        <p:txBody>
          <a:bodyPr/>
          <a:lstStyle/>
          <a:p>
            <a:pPr fontAlgn="base"/>
            <a:r>
              <a:rPr lang="en-GB" b="1" i="0">
                <a:solidFill>
                  <a:srgbClr val="273239"/>
                </a:solidFill>
                <a:effectLst/>
                <a:latin typeface="Nunito" pitchFamily="2" charset="0"/>
              </a:rPr>
              <a:t>The Python self  </a:t>
            </a:r>
          </a:p>
        </p:txBody>
      </p:sp>
      <p:sp>
        <p:nvSpPr>
          <p:cNvPr id="3" name="Content Placeholder 2">
            <a:extLst>
              <a:ext uri="{FF2B5EF4-FFF2-40B4-BE49-F238E27FC236}">
                <a16:creationId xmlns="" xmlns:a16="http://schemas.microsoft.com/office/drawing/2014/main" id="{51F8BD9A-0CEE-7FD6-95AE-B81BA18BC578}"/>
              </a:ext>
            </a:extLst>
          </p:cNvPr>
          <p:cNvSpPr>
            <a:spLocks noGrp="1"/>
          </p:cNvSpPr>
          <p:nvPr>
            <p:ph idx="1"/>
          </p:nvPr>
        </p:nvSpPr>
        <p:spPr>
          <a:xfrm>
            <a:off x="838200" y="1825625"/>
            <a:ext cx="10515600" cy="4895120"/>
          </a:xfrm>
        </p:spPr>
        <p:txBody>
          <a:bodyPr>
            <a:noAutofit/>
          </a:bodyPr>
          <a:lstStyle/>
          <a:p>
            <a:pPr fontAlgn="base"/>
            <a:r>
              <a:rPr lang="en-GB" sz="2400" i="0" dirty="0">
                <a:solidFill>
                  <a:srgbClr val="0070C0"/>
                </a:solidFill>
                <a:effectLst/>
                <a:latin typeface="Nunito" pitchFamily="2" charset="0"/>
              </a:rPr>
              <a:t>Class methods must have an extra first parameter in the method definition. We do not give a value for this parameter when we call the method, Python provides it</a:t>
            </a:r>
          </a:p>
          <a:p>
            <a:pPr fontAlgn="base"/>
            <a:r>
              <a:rPr lang="en-GB" sz="2400" i="0" dirty="0">
                <a:solidFill>
                  <a:srgbClr val="0070C0"/>
                </a:solidFill>
                <a:effectLst/>
                <a:latin typeface="Nunito" pitchFamily="2" charset="0"/>
              </a:rPr>
              <a:t>If we have a method that takes no arguments, then we still have to have one argument.</a:t>
            </a:r>
          </a:p>
          <a:p>
            <a:pPr fontAlgn="base"/>
            <a:r>
              <a:rPr lang="en-GB" sz="2400" i="0" dirty="0">
                <a:solidFill>
                  <a:srgbClr val="0070C0"/>
                </a:solidFill>
                <a:effectLst/>
                <a:latin typeface="Nunito" pitchFamily="2" charset="0"/>
              </a:rPr>
              <a:t>This is similar to this pointer in C++ and this reference in Java.</a:t>
            </a:r>
            <a:endParaRPr lang="en-US" sz="2400" i="0" dirty="0">
              <a:solidFill>
                <a:srgbClr val="0070C0"/>
              </a:solidFill>
              <a:effectLst/>
              <a:latin typeface="Nunito" pitchFamily="2" charset="0"/>
            </a:endParaRPr>
          </a:p>
          <a:p>
            <a:pPr fontAlgn="base"/>
            <a:r>
              <a:rPr lang="en-US" sz="2400" dirty="0">
                <a:solidFill>
                  <a:srgbClr val="0070C0"/>
                </a:solidFill>
                <a:latin typeface="Nunito" pitchFamily="2" charset="0"/>
              </a:rPr>
              <a:t>Self represents the instance of the class. By using the “self”  we can access the attributes and methods of the class in Python. It binds the attributes with the given arguments.</a:t>
            </a:r>
          </a:p>
          <a:p>
            <a:pPr fontAlgn="base"/>
            <a:r>
              <a:rPr lang="en-US" sz="2400" i="0" dirty="0">
                <a:solidFill>
                  <a:srgbClr val="0070C0"/>
                </a:solidFill>
                <a:effectLst/>
                <a:latin typeface="Nunito" pitchFamily="2" charset="0"/>
              </a:rPr>
              <a:t>When we call a method of this object as </a:t>
            </a:r>
            <a:r>
              <a:rPr lang="en-US" sz="2400" i="0" dirty="0" err="1">
                <a:solidFill>
                  <a:srgbClr val="0070C0"/>
                </a:solidFill>
                <a:effectLst/>
                <a:latin typeface="Nunito" pitchFamily="2" charset="0"/>
              </a:rPr>
              <a:t>myobject.method</a:t>
            </a:r>
            <a:r>
              <a:rPr lang="en-US" sz="2400" i="0" dirty="0">
                <a:solidFill>
                  <a:srgbClr val="0070C0"/>
                </a:solidFill>
                <a:effectLst/>
                <a:latin typeface="Nunito" pitchFamily="2" charset="0"/>
              </a:rPr>
              <a:t>(arg1, arg2), this is automatically converted by Python into </a:t>
            </a:r>
            <a:r>
              <a:rPr lang="en-US" sz="2400" i="0" dirty="0" err="1">
                <a:solidFill>
                  <a:srgbClr val="0070C0"/>
                </a:solidFill>
                <a:effectLst/>
                <a:latin typeface="Nunito" pitchFamily="2" charset="0"/>
              </a:rPr>
              <a:t>MyClass.method</a:t>
            </a:r>
            <a:r>
              <a:rPr lang="en-US" sz="2400" i="0" dirty="0">
                <a:solidFill>
                  <a:srgbClr val="0070C0"/>
                </a:solidFill>
                <a:effectLst/>
                <a:latin typeface="Nunito" pitchFamily="2" charset="0"/>
              </a:rPr>
              <a:t>(</a:t>
            </a:r>
            <a:r>
              <a:rPr lang="en-US" sz="2400" i="0" dirty="0" err="1">
                <a:solidFill>
                  <a:srgbClr val="0070C0"/>
                </a:solidFill>
                <a:effectLst/>
                <a:latin typeface="Nunito" pitchFamily="2" charset="0"/>
              </a:rPr>
              <a:t>myobject</a:t>
            </a:r>
            <a:r>
              <a:rPr lang="en-US" sz="2400" i="0" dirty="0">
                <a:solidFill>
                  <a:srgbClr val="0070C0"/>
                </a:solidFill>
                <a:effectLst/>
                <a:latin typeface="Nunito" pitchFamily="2" charset="0"/>
              </a:rPr>
              <a:t>, arg1, arg2) – this is all the special self is about.</a:t>
            </a:r>
            <a:endParaRPr lang="en-GB" sz="2400" i="0" dirty="0">
              <a:solidFill>
                <a:srgbClr val="0070C0"/>
              </a:solidFill>
              <a:effectLst/>
              <a:latin typeface="Nunito" pitchFamily="2" charset="0"/>
            </a:endParaRPr>
          </a:p>
        </p:txBody>
      </p:sp>
    </p:spTree>
    <p:extLst>
      <p:ext uri="{BB962C8B-B14F-4D97-AF65-F5344CB8AC3E}">
        <p14:creationId xmlns:p14="http://schemas.microsoft.com/office/powerpoint/2010/main" val="41333457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 xmlns:a16="http://schemas.microsoft.com/office/drawing/2014/main" id="{6D9D8438-4273-5161-F16A-91CC8D02E1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76200"/>
            <a:ext cx="11277600" cy="6934201"/>
          </a:xfrm>
        </p:spPr>
      </p:pic>
    </p:spTree>
    <p:extLst>
      <p:ext uri="{BB962C8B-B14F-4D97-AF65-F5344CB8AC3E}">
        <p14:creationId xmlns:p14="http://schemas.microsoft.com/office/powerpoint/2010/main" val="1706542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C05B12D-4F8D-F6BC-58A9-7C693970E106}"/>
              </a:ext>
            </a:extLst>
          </p:cNvPr>
          <p:cNvSpPr>
            <a:spLocks noGrp="1"/>
          </p:cNvSpPr>
          <p:nvPr>
            <p:ph type="title"/>
          </p:nvPr>
        </p:nvSpPr>
        <p:spPr/>
        <p:txBody>
          <a:bodyPr>
            <a:normAutofit/>
          </a:bodyPr>
          <a:lstStyle/>
          <a:p>
            <a:r>
              <a:rPr lang="en-GB" sz="2000" b="0" i="0">
                <a:solidFill>
                  <a:srgbClr val="273239"/>
                </a:solidFill>
                <a:effectLst/>
                <a:latin typeface="Nunito" pitchFamily="2" charset="0"/>
              </a:rPr>
              <a:t>When an object of a class is created, the class is said to be instantiated. All the instances share the attributes and the behavior of the class. But the values of those attributes, i.e. the state are unique for each object. A single class may have any number of instances.</a:t>
            </a:r>
            <a:endParaRPr lang="en-US" sz="2000"/>
          </a:p>
        </p:txBody>
      </p:sp>
      <p:pic>
        <p:nvPicPr>
          <p:cNvPr id="4" name="Content Placeholder 3">
            <a:extLst>
              <a:ext uri="{FF2B5EF4-FFF2-40B4-BE49-F238E27FC236}">
                <a16:creationId xmlns="" xmlns:a16="http://schemas.microsoft.com/office/drawing/2014/main" id="{76518041-3D47-ECCB-DCAF-ADE5BF50D12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1371600"/>
            <a:ext cx="11353800" cy="5121275"/>
          </a:xfrm>
        </p:spPr>
      </p:pic>
    </p:spTree>
    <p:extLst>
      <p:ext uri="{BB962C8B-B14F-4D97-AF65-F5344CB8AC3E}">
        <p14:creationId xmlns:p14="http://schemas.microsoft.com/office/powerpoint/2010/main" val="34772051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CC8BDC7-C71F-725E-8EE2-75C8091E1DE8}"/>
              </a:ext>
            </a:extLst>
          </p:cNvPr>
          <p:cNvSpPr>
            <a:spLocks noGrp="1"/>
          </p:cNvSpPr>
          <p:nvPr>
            <p:ph type="title"/>
          </p:nvPr>
        </p:nvSpPr>
        <p:spPr/>
        <p:txBody>
          <a:bodyPr/>
          <a:lstStyle/>
          <a:p>
            <a:r>
              <a:rPr lang="en-GB" b="1" i="0">
                <a:solidFill>
                  <a:srgbClr val="273239"/>
                </a:solidFill>
                <a:effectLst/>
                <a:latin typeface="Nunito" pitchFamily="2" charset="0"/>
              </a:rPr>
              <a:t>Explanation:</a:t>
            </a:r>
            <a:endParaRPr lang="en-US"/>
          </a:p>
        </p:txBody>
      </p:sp>
      <p:sp>
        <p:nvSpPr>
          <p:cNvPr id="3" name="Content Placeholder 2">
            <a:extLst>
              <a:ext uri="{FF2B5EF4-FFF2-40B4-BE49-F238E27FC236}">
                <a16:creationId xmlns="" xmlns:a16="http://schemas.microsoft.com/office/drawing/2014/main" id="{3A82E109-240A-0E35-2393-0146BFD3BDCB}"/>
              </a:ext>
            </a:extLst>
          </p:cNvPr>
          <p:cNvSpPr>
            <a:spLocks noGrp="1"/>
          </p:cNvSpPr>
          <p:nvPr>
            <p:ph idx="1"/>
          </p:nvPr>
        </p:nvSpPr>
        <p:spPr/>
        <p:txBody>
          <a:bodyPr/>
          <a:lstStyle/>
          <a:p>
            <a:r>
              <a:rPr lang="en-GB" b="0" i="0">
                <a:solidFill>
                  <a:srgbClr val="273239"/>
                </a:solidFill>
                <a:effectLst/>
                <a:latin typeface="Nunito" pitchFamily="2" charset="0"/>
              </a:rPr>
              <a:t>In this example, we are creating a GFG class and we have created the </a:t>
            </a:r>
            <a:r>
              <a:rPr lang="en-GB" b="1" i="0">
                <a:solidFill>
                  <a:srgbClr val="273239"/>
                </a:solidFill>
                <a:effectLst/>
                <a:latin typeface="Nunito" pitchFamily="2" charset="0"/>
              </a:rPr>
              <a:t>name, and company</a:t>
            </a:r>
            <a:r>
              <a:rPr lang="en-GB" b="0" i="0">
                <a:solidFill>
                  <a:srgbClr val="273239"/>
                </a:solidFill>
                <a:effectLst/>
                <a:latin typeface="Nunito" pitchFamily="2" charset="0"/>
              </a:rPr>
              <a:t> instance variables in the constructor. We have created a method named </a:t>
            </a:r>
            <a:r>
              <a:rPr lang="en-GB" b="1" i="0">
                <a:solidFill>
                  <a:srgbClr val="273239"/>
                </a:solidFill>
                <a:effectLst/>
                <a:latin typeface="Nunito" pitchFamily="2" charset="0"/>
              </a:rPr>
              <a:t>say_hi()</a:t>
            </a:r>
            <a:r>
              <a:rPr lang="en-GB" b="0" i="0">
                <a:solidFill>
                  <a:srgbClr val="273239"/>
                </a:solidFill>
                <a:effectLst/>
                <a:latin typeface="Nunito" pitchFamily="2" charset="0"/>
              </a:rPr>
              <a:t> which returns the string “Hello my name is ” + {name} +” and I work in “+{company}+”.”.We have created a person class object and we passing the name </a:t>
            </a:r>
            <a:r>
              <a:rPr lang="en-GB" b="1" i="0">
                <a:solidFill>
                  <a:srgbClr val="273239"/>
                </a:solidFill>
                <a:effectLst/>
                <a:latin typeface="Nunito" pitchFamily="2" charset="0"/>
              </a:rPr>
              <a:t>John and Company </a:t>
            </a:r>
            <a:r>
              <a:rPr lang="en-GB" b="0" i="0">
                <a:solidFill>
                  <a:srgbClr val="273239"/>
                </a:solidFill>
                <a:effectLst/>
                <a:latin typeface="Nunito" pitchFamily="2" charset="0"/>
              </a:rPr>
              <a:t>GeeksForGeeks to the instance variable. Finally, we are calling the </a:t>
            </a:r>
            <a:r>
              <a:rPr lang="en-GB" b="1" i="0">
                <a:solidFill>
                  <a:srgbClr val="273239"/>
                </a:solidFill>
                <a:effectLst/>
                <a:latin typeface="Nunito" pitchFamily="2" charset="0"/>
              </a:rPr>
              <a:t>show()</a:t>
            </a:r>
            <a:r>
              <a:rPr lang="en-GB" b="0" i="0">
                <a:solidFill>
                  <a:srgbClr val="273239"/>
                </a:solidFill>
                <a:effectLst/>
                <a:latin typeface="Nunito" pitchFamily="2" charset="0"/>
              </a:rPr>
              <a:t> of the class.</a:t>
            </a:r>
            <a:endParaRPr lang="en-US"/>
          </a:p>
        </p:txBody>
      </p:sp>
    </p:spTree>
    <p:extLst>
      <p:ext uri="{BB962C8B-B14F-4D97-AF65-F5344CB8AC3E}">
        <p14:creationId xmlns:p14="http://schemas.microsoft.com/office/powerpoint/2010/main" val="63706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740DF9-AF66-8A15-8B63-AAFF824AFCF4}"/>
              </a:ext>
            </a:extLst>
          </p:cNvPr>
          <p:cNvSpPr>
            <a:spLocks noGrp="1"/>
          </p:cNvSpPr>
          <p:nvPr>
            <p:ph type="title"/>
          </p:nvPr>
        </p:nvSpPr>
        <p:spPr/>
        <p:txBody>
          <a:bodyPr/>
          <a:lstStyle/>
          <a:p>
            <a:pPr fontAlgn="base"/>
            <a:r>
              <a:rPr lang="en-GB" b="1" i="0">
                <a:solidFill>
                  <a:srgbClr val="273239"/>
                </a:solidFill>
                <a:effectLst/>
                <a:latin typeface="Nunito" pitchFamily="2" charset="0"/>
              </a:rPr>
              <a:t>What is the use of self in Python?</a:t>
            </a:r>
          </a:p>
        </p:txBody>
      </p:sp>
      <p:sp>
        <p:nvSpPr>
          <p:cNvPr id="3" name="Content Placeholder 2">
            <a:extLst>
              <a:ext uri="{FF2B5EF4-FFF2-40B4-BE49-F238E27FC236}">
                <a16:creationId xmlns="" xmlns:a16="http://schemas.microsoft.com/office/drawing/2014/main" id="{57D92159-E20E-2C76-5E9E-D6FFCE9EC6AD}"/>
              </a:ext>
            </a:extLst>
          </p:cNvPr>
          <p:cNvSpPr>
            <a:spLocks noGrp="1"/>
          </p:cNvSpPr>
          <p:nvPr>
            <p:ph idx="1"/>
          </p:nvPr>
        </p:nvSpPr>
        <p:spPr/>
        <p:txBody>
          <a:bodyPr/>
          <a:lstStyle/>
          <a:p>
            <a:pPr marL="0" indent="0">
              <a:buNone/>
            </a:pPr>
            <a:r>
              <a:rPr lang="en-GB" b="0" i="0">
                <a:solidFill>
                  <a:srgbClr val="273239"/>
                </a:solidFill>
                <a:effectLst/>
                <a:latin typeface="Nunito" pitchFamily="2" charset="0"/>
              </a:rPr>
              <a:t>When working with classes in Python, the term “self” refers to the instance of the class that is currently being used. It is customary to use “self” as the first parameter in instance methods of a class. Whenever you call a method of an object created from a </a:t>
            </a:r>
            <a:r>
              <a:rPr lang="en-GB" b="0" i="0" u="sng">
                <a:effectLst/>
                <a:latin typeface="Nunito" pitchFamily="2" charset="0"/>
                <a:hlinkClick r:id="rId2"/>
              </a:rPr>
              <a:t>class</a:t>
            </a:r>
            <a:r>
              <a:rPr lang="en-GB" b="0" i="0">
                <a:solidFill>
                  <a:srgbClr val="273239"/>
                </a:solidFill>
                <a:effectLst/>
                <a:latin typeface="Nunito" pitchFamily="2" charset="0"/>
              </a:rPr>
              <a:t>, the object is automatically passed as the first argument using the “self” parameter. This enables you to modify the object’s properties and execute tasks unique to that particular instance.</a:t>
            </a:r>
            <a:endParaRPr lang="en-US"/>
          </a:p>
        </p:txBody>
      </p:sp>
    </p:spTree>
    <p:extLst>
      <p:ext uri="{BB962C8B-B14F-4D97-AF65-F5344CB8AC3E}">
        <p14:creationId xmlns:p14="http://schemas.microsoft.com/office/powerpoint/2010/main" val="1928595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0EC7B7-B6CA-C6CA-2E46-E630D5A78D49}"/>
              </a:ext>
            </a:extLst>
          </p:cNvPr>
          <p:cNvSpPr>
            <a:spLocks noGrp="1"/>
          </p:cNvSpPr>
          <p:nvPr>
            <p:ph type="title"/>
          </p:nvPr>
        </p:nvSpPr>
        <p:spPr/>
        <p:txBody>
          <a:bodyPr/>
          <a:lstStyle/>
          <a:p>
            <a:pPr fontAlgn="base"/>
            <a:r>
              <a:rPr lang="en-GB" b="1" i="0">
                <a:solidFill>
                  <a:srgbClr val="273239"/>
                </a:solidFill>
                <a:effectLst/>
                <a:latin typeface="Nunito" pitchFamily="2" charset="0"/>
              </a:rPr>
              <a:t>Is self in Python a Keyword?</a:t>
            </a:r>
          </a:p>
        </p:txBody>
      </p:sp>
      <p:sp>
        <p:nvSpPr>
          <p:cNvPr id="3" name="Content Placeholder 2">
            <a:extLst>
              <a:ext uri="{FF2B5EF4-FFF2-40B4-BE49-F238E27FC236}">
                <a16:creationId xmlns="" xmlns:a16="http://schemas.microsoft.com/office/drawing/2014/main" id="{9362EA04-0B60-470D-03A2-07C785A3ACE3}"/>
              </a:ext>
            </a:extLst>
          </p:cNvPr>
          <p:cNvSpPr>
            <a:spLocks noGrp="1"/>
          </p:cNvSpPr>
          <p:nvPr>
            <p:ph idx="1"/>
          </p:nvPr>
        </p:nvSpPr>
        <p:spPr/>
        <p:txBody>
          <a:bodyPr/>
          <a:lstStyle/>
          <a:p>
            <a:r>
              <a:rPr lang="en-GB" b="0" i="0" dirty="0">
                <a:solidFill>
                  <a:srgbClr val="273239"/>
                </a:solidFill>
                <a:effectLst/>
                <a:latin typeface="Nunito" pitchFamily="2" charset="0"/>
              </a:rPr>
              <a:t>No,</a:t>
            </a:r>
            <a:r>
              <a:rPr lang="en-GB" b="1" i="0" dirty="0">
                <a:solidFill>
                  <a:srgbClr val="273239"/>
                </a:solidFill>
                <a:effectLst/>
                <a:latin typeface="Nunito" pitchFamily="2" charset="0"/>
              </a:rPr>
              <a:t> ‘ self ‘</a:t>
            </a:r>
            <a:r>
              <a:rPr lang="en-GB" b="0" i="0" dirty="0">
                <a:solidFill>
                  <a:srgbClr val="273239"/>
                </a:solidFill>
                <a:effectLst/>
                <a:latin typeface="Nunito" pitchFamily="2" charset="0"/>
              </a:rPr>
              <a:t> is not a </a:t>
            </a:r>
            <a:r>
              <a:rPr lang="en-GB" b="0" i="0" u="sng" dirty="0">
                <a:effectLst/>
                <a:latin typeface="Nunito" pitchFamily="2" charset="0"/>
                <a:hlinkClick r:id="rId2"/>
              </a:rPr>
              <a:t>keyword</a:t>
            </a:r>
            <a:r>
              <a:rPr lang="en-GB" b="0" i="0" dirty="0">
                <a:solidFill>
                  <a:srgbClr val="273239"/>
                </a:solidFill>
                <a:effectLst/>
                <a:latin typeface="Nunito" pitchFamily="2" charset="0"/>
              </a:rPr>
              <a:t> in Python. S</a:t>
            </a:r>
            <a:r>
              <a:rPr lang="en-GB" dirty="0">
                <a:effectLst/>
              </a:rPr>
              <a:t>elf</a:t>
            </a:r>
            <a:r>
              <a:rPr lang="en-GB" b="0" i="0" dirty="0">
                <a:solidFill>
                  <a:srgbClr val="273239"/>
                </a:solidFill>
                <a:effectLst/>
                <a:latin typeface="Nunito" pitchFamily="2" charset="0"/>
              </a:rPr>
              <a:t> is just a parameter name used in instance methods to refer to the instance itself.</a:t>
            </a:r>
            <a:endParaRPr lang="en-US" b="0" i="0" dirty="0">
              <a:solidFill>
                <a:srgbClr val="273239"/>
              </a:solidFill>
              <a:effectLst/>
              <a:latin typeface="Nunito" pitchFamily="2" charset="0"/>
            </a:endParaRPr>
          </a:p>
          <a:p>
            <a:r>
              <a:rPr lang="en-US" dirty="0">
                <a:solidFill>
                  <a:srgbClr val="273239"/>
                </a:solidFill>
                <a:latin typeface="Nunito" pitchFamily="2" charset="0"/>
              </a:rPr>
              <a:t>The self is always pointing to the Current Object. When you create an instance of a class, you’re essentially creating an object with its own set of attributes and methods.</a:t>
            </a:r>
            <a:endParaRPr lang="en-US" dirty="0"/>
          </a:p>
        </p:txBody>
      </p:sp>
    </p:spTree>
    <p:extLst>
      <p:ext uri="{BB962C8B-B14F-4D97-AF65-F5344CB8AC3E}">
        <p14:creationId xmlns:p14="http://schemas.microsoft.com/office/powerpoint/2010/main" val="28517017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B02F9D2-ADD5-56DA-9477-4316972A8F56}"/>
              </a:ext>
            </a:extLst>
          </p:cNvPr>
          <p:cNvSpPr>
            <a:spLocks noGrp="1"/>
          </p:cNvSpPr>
          <p:nvPr>
            <p:ph type="title"/>
          </p:nvPr>
        </p:nvSpPr>
        <p:spPr/>
        <p:txBody>
          <a:bodyPr/>
          <a:lstStyle/>
          <a:p>
            <a:pPr fontAlgn="base"/>
            <a:r>
              <a:rPr lang="en-GB" b="1" i="0">
                <a:solidFill>
                  <a:srgbClr val="273239"/>
                </a:solidFill>
                <a:effectLst/>
                <a:latin typeface="Nunito" pitchFamily="2" charset="0"/>
              </a:rPr>
              <a:t>The Python __init__ Method </a:t>
            </a:r>
          </a:p>
        </p:txBody>
      </p:sp>
      <p:sp>
        <p:nvSpPr>
          <p:cNvPr id="3" name="Content Placeholder 2">
            <a:extLst>
              <a:ext uri="{FF2B5EF4-FFF2-40B4-BE49-F238E27FC236}">
                <a16:creationId xmlns="" xmlns:a16="http://schemas.microsoft.com/office/drawing/2014/main" id="{D630188C-F8A9-077D-7957-20487285736A}"/>
              </a:ext>
            </a:extLst>
          </p:cNvPr>
          <p:cNvSpPr>
            <a:spLocks noGrp="1"/>
          </p:cNvSpPr>
          <p:nvPr>
            <p:ph idx="1"/>
          </p:nvPr>
        </p:nvSpPr>
        <p:spPr/>
        <p:txBody>
          <a:bodyPr/>
          <a:lstStyle/>
          <a:p>
            <a:r>
              <a:rPr lang="en-GB" b="1" i="0">
                <a:solidFill>
                  <a:srgbClr val="273239"/>
                </a:solidFill>
                <a:effectLst/>
                <a:latin typeface="Nunito" pitchFamily="2" charset="0"/>
              </a:rPr>
              <a:t>The Default __init__ Constructor </a:t>
            </a:r>
            <a:r>
              <a:rPr lang="en-GB" b="0" i="0">
                <a:solidFill>
                  <a:srgbClr val="273239"/>
                </a:solidFill>
                <a:effectLst/>
                <a:latin typeface="Nunito" pitchFamily="2" charset="0"/>
              </a:rPr>
              <a:t>in C++ and Java. Constructors are used to initializing the object’s state. The task of constructors is to initialize(assign values) to the data members of the class when an object of the class is created. Like methods, a constructor also contains a collection of statements(i.e. instructions) that are executed at the time of Object creation. It is run as soon as an object of a class is instantiated. The method is useful to do any initialization you want to do with your object.</a:t>
            </a:r>
            <a:endParaRPr lang="en-US"/>
          </a:p>
        </p:txBody>
      </p:sp>
    </p:spTree>
    <p:extLst>
      <p:ext uri="{BB962C8B-B14F-4D97-AF65-F5344CB8AC3E}">
        <p14:creationId xmlns:p14="http://schemas.microsoft.com/office/powerpoint/2010/main" val="1061828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3388A5F-ED9E-68D2-41E6-CB11A92612FF}"/>
              </a:ext>
            </a:extLst>
          </p:cNvPr>
          <p:cNvSpPr>
            <a:spLocks noGrp="1"/>
          </p:cNvSpPr>
          <p:nvPr>
            <p:ph type="title"/>
          </p:nvPr>
        </p:nvSpPr>
        <p:spPr>
          <a:xfrm>
            <a:off x="0" y="228601"/>
            <a:ext cx="11963400" cy="685800"/>
          </a:xfrm>
        </p:spPr>
        <p:txBody>
          <a:bodyPr>
            <a:normAutofit/>
          </a:bodyPr>
          <a:lstStyle/>
          <a:p>
            <a:pPr fontAlgn="base"/>
            <a:r>
              <a:rPr lang="en-GB" sz="3200" b="1" i="0" dirty="0">
                <a:solidFill>
                  <a:srgbClr val="273239"/>
                </a:solidFill>
                <a:effectLst/>
                <a:latin typeface="Nunito" pitchFamily="2" charset="0"/>
              </a:rPr>
              <a:t>Creating a class and object with class and instance attributes</a:t>
            </a:r>
          </a:p>
        </p:txBody>
      </p:sp>
      <p:pic>
        <p:nvPicPr>
          <p:cNvPr id="4" name="Content Placeholder 3">
            <a:extLst>
              <a:ext uri="{FF2B5EF4-FFF2-40B4-BE49-F238E27FC236}">
                <a16:creationId xmlns="" xmlns:a16="http://schemas.microsoft.com/office/drawing/2014/main" id="{41F43206-9B35-9487-93F6-6A109D63240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 y="762000"/>
            <a:ext cx="8763000" cy="5840422"/>
          </a:xfrm>
        </p:spPr>
      </p:pic>
      <p:pic>
        <p:nvPicPr>
          <p:cNvPr id="5" name="Picture 4">
            <a:extLst>
              <a:ext uri="{FF2B5EF4-FFF2-40B4-BE49-F238E27FC236}">
                <a16:creationId xmlns="" xmlns:a16="http://schemas.microsoft.com/office/drawing/2014/main" id="{04ECF911-A757-5886-B667-BFC339050A8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15400" y="1295400"/>
            <a:ext cx="3023388" cy="5257799"/>
          </a:xfrm>
          <a:prstGeom prst="rect">
            <a:avLst/>
          </a:prstGeom>
        </p:spPr>
      </p:pic>
    </p:spTree>
    <p:extLst>
      <p:ext uri="{BB962C8B-B14F-4D97-AF65-F5344CB8AC3E}">
        <p14:creationId xmlns:p14="http://schemas.microsoft.com/office/powerpoint/2010/main" val="1667998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79111BB-2ED3-88F0-4FBE-6F022F6BCA19}"/>
              </a:ext>
            </a:extLst>
          </p:cNvPr>
          <p:cNvSpPr>
            <a:spLocks noGrp="1"/>
          </p:cNvSpPr>
          <p:nvPr>
            <p:ph type="title"/>
          </p:nvPr>
        </p:nvSpPr>
        <p:spPr/>
        <p:txBody>
          <a:bodyPr/>
          <a:lstStyle/>
          <a:p>
            <a:pPr fontAlgn="base"/>
            <a:r>
              <a:rPr lang="en-GB" b="1" i="0">
                <a:solidFill>
                  <a:srgbClr val="273239"/>
                </a:solidFill>
                <a:effectLst/>
                <a:latin typeface="Nunito" pitchFamily="2" charset="0"/>
              </a:rPr>
              <a:t>Creating Classes and objects with methods</a:t>
            </a:r>
          </a:p>
        </p:txBody>
      </p:sp>
      <p:sp>
        <p:nvSpPr>
          <p:cNvPr id="3" name="Content Placeholder 2">
            <a:extLst>
              <a:ext uri="{FF2B5EF4-FFF2-40B4-BE49-F238E27FC236}">
                <a16:creationId xmlns="" xmlns:a16="http://schemas.microsoft.com/office/drawing/2014/main" id="{28E8A9D9-6E13-E41F-A8DF-6D5D10A671AE}"/>
              </a:ext>
            </a:extLst>
          </p:cNvPr>
          <p:cNvSpPr>
            <a:spLocks noGrp="1"/>
          </p:cNvSpPr>
          <p:nvPr>
            <p:ph idx="1"/>
          </p:nvPr>
        </p:nvSpPr>
        <p:spPr/>
        <p:txBody>
          <a:bodyPr/>
          <a:lstStyle/>
          <a:p>
            <a:pPr rtl="0" fontAlgn="base"/>
            <a:r>
              <a:rPr lang="en-GB" b="0" i="0">
                <a:solidFill>
                  <a:srgbClr val="273239"/>
                </a:solidFill>
                <a:effectLst/>
                <a:latin typeface="Nunito" pitchFamily="2" charset="0"/>
              </a:rPr>
              <a:t>Here, The Dog class is defined with two attributes:</a:t>
            </a:r>
          </a:p>
          <a:p>
            <a:pPr fontAlgn="base"/>
            <a:r>
              <a:rPr lang="en-GB" b="0" i="0">
                <a:solidFill>
                  <a:srgbClr val="273239"/>
                </a:solidFill>
                <a:effectLst/>
                <a:latin typeface="Nunito" pitchFamily="2" charset="0"/>
              </a:rPr>
              <a:t>attr1 is a class attribute set to the value “mammal”. Class attributes are shared by all instances of the class.</a:t>
            </a:r>
          </a:p>
          <a:p>
            <a:pPr fontAlgn="base"/>
            <a:r>
              <a:rPr lang="en-GB" b="0" i="0">
                <a:solidFill>
                  <a:srgbClr val="273239"/>
                </a:solidFill>
                <a:effectLst/>
                <a:latin typeface="Nunito" pitchFamily="2" charset="0"/>
              </a:rPr>
              <a:t>__init__ is a special method (constructor) that initializes an instance of the Dog class. It takes two parameters: self (referring to the instance being created) and name (representing the name of the dog). The name parameter is used to assign a name attribute to each instance of Dog.</a:t>
            </a:r>
            <a:br>
              <a:rPr lang="en-GB" b="0" i="0">
                <a:solidFill>
                  <a:srgbClr val="273239"/>
                </a:solidFill>
                <a:effectLst/>
                <a:latin typeface="Nunito" pitchFamily="2" charset="0"/>
              </a:rPr>
            </a:br>
            <a:r>
              <a:rPr lang="en-GB" b="0" i="0">
                <a:solidFill>
                  <a:srgbClr val="273239"/>
                </a:solidFill>
                <a:effectLst/>
                <a:latin typeface="Nunito" pitchFamily="2" charset="0"/>
              </a:rPr>
              <a:t>The speak method is defined within the Dog class. This method prints a string that includes the name of the dog instance.</a:t>
            </a:r>
          </a:p>
        </p:txBody>
      </p:sp>
    </p:spTree>
    <p:extLst>
      <p:ext uri="{BB962C8B-B14F-4D97-AF65-F5344CB8AC3E}">
        <p14:creationId xmlns:p14="http://schemas.microsoft.com/office/powerpoint/2010/main" val="3286224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9E6D2BDA-A553-EF98-BBC3-E0443550F916}"/>
              </a:ext>
            </a:extLst>
          </p:cNvPr>
          <p:cNvSpPr>
            <a:spLocks noGrp="1"/>
          </p:cNvSpPr>
          <p:nvPr>
            <p:ph idx="1"/>
          </p:nvPr>
        </p:nvSpPr>
        <p:spPr>
          <a:xfrm>
            <a:off x="743542" y="216432"/>
            <a:ext cx="10515600" cy="4351338"/>
          </a:xfrm>
        </p:spPr>
        <p:txBody>
          <a:bodyPr>
            <a:normAutofit/>
          </a:bodyPr>
          <a:lstStyle/>
          <a:p>
            <a:r>
              <a:rPr lang="en-GB" sz="2000" b="0" i="0">
                <a:solidFill>
                  <a:srgbClr val="273239"/>
                </a:solidFill>
                <a:effectLst/>
                <a:latin typeface="Nunito" pitchFamily="2" charset="0"/>
              </a:rPr>
              <a:t>The driver code starts by creating two instances of the Dog class: Rodger and Tommy. The __init__ method is called for each instance to initialize their name attributes with the provided names. The speak method is called in both instances (Rodger.speak() and Tommy.speak()), causing each dog to print a statement with its name.</a:t>
            </a:r>
            <a:endParaRPr lang="en-US" sz="2000"/>
          </a:p>
        </p:txBody>
      </p:sp>
      <p:pic>
        <p:nvPicPr>
          <p:cNvPr id="4" name="Picture 3">
            <a:extLst>
              <a:ext uri="{FF2B5EF4-FFF2-40B4-BE49-F238E27FC236}">
                <a16:creationId xmlns="" xmlns:a16="http://schemas.microsoft.com/office/drawing/2014/main" id="{1609A30A-9C95-F950-C40D-CE5CE14E60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1" y="1536094"/>
            <a:ext cx="9677400" cy="5321905"/>
          </a:xfrm>
          <a:prstGeom prst="rect">
            <a:avLst/>
          </a:prstGeom>
        </p:spPr>
      </p:pic>
      <p:pic>
        <p:nvPicPr>
          <p:cNvPr id="5" name="Picture 4">
            <a:extLst>
              <a:ext uri="{FF2B5EF4-FFF2-40B4-BE49-F238E27FC236}">
                <a16:creationId xmlns="" xmlns:a16="http://schemas.microsoft.com/office/drawing/2014/main" id="{1F102C41-79F9-6CB6-C4ED-41A0B0ACA1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53600" y="1845016"/>
            <a:ext cx="2190271" cy="3869984"/>
          </a:xfrm>
          <a:prstGeom prst="rect">
            <a:avLst/>
          </a:prstGeom>
        </p:spPr>
      </p:pic>
    </p:spTree>
    <p:extLst>
      <p:ext uri="{BB962C8B-B14F-4D97-AF65-F5344CB8AC3E}">
        <p14:creationId xmlns:p14="http://schemas.microsoft.com/office/powerpoint/2010/main" val="2611455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9E8B049-CFE0-2036-409B-006FE1A0506A}"/>
              </a:ext>
            </a:extLst>
          </p:cNvPr>
          <p:cNvSpPr>
            <a:spLocks noGrp="1"/>
          </p:cNvSpPr>
          <p:nvPr>
            <p:ph type="title"/>
          </p:nvPr>
        </p:nvSpPr>
        <p:spPr/>
        <p:txBody>
          <a:bodyPr>
            <a:normAutofit/>
          </a:bodyPr>
          <a:lstStyle/>
          <a:p>
            <a:pPr fontAlgn="base"/>
            <a:r>
              <a:rPr lang="en-GB" sz="5400" b="1" i="0">
                <a:solidFill>
                  <a:srgbClr val="FF0000"/>
                </a:solidFill>
                <a:effectLst/>
                <a:latin typeface="Nunito" pitchFamily="2" charset="0"/>
              </a:rPr>
              <a:t>Python Inheritance</a:t>
            </a:r>
          </a:p>
        </p:txBody>
      </p:sp>
      <p:sp>
        <p:nvSpPr>
          <p:cNvPr id="3" name="Content Placeholder 2">
            <a:extLst>
              <a:ext uri="{FF2B5EF4-FFF2-40B4-BE49-F238E27FC236}">
                <a16:creationId xmlns="" xmlns:a16="http://schemas.microsoft.com/office/drawing/2014/main" id="{120F41A1-9334-CC80-74B6-ABB13EF9B4A3}"/>
              </a:ext>
            </a:extLst>
          </p:cNvPr>
          <p:cNvSpPr>
            <a:spLocks noGrp="1"/>
          </p:cNvSpPr>
          <p:nvPr>
            <p:ph idx="1"/>
          </p:nvPr>
        </p:nvSpPr>
        <p:spPr/>
        <p:txBody>
          <a:bodyPr>
            <a:normAutofit fontScale="92500" lnSpcReduction="10000"/>
          </a:bodyPr>
          <a:lstStyle/>
          <a:p>
            <a:pPr rtl="0" fontAlgn="base"/>
            <a:r>
              <a:rPr lang="en-GB" b="0" i="0">
                <a:solidFill>
                  <a:srgbClr val="273239"/>
                </a:solidFill>
                <a:effectLst/>
                <a:latin typeface="Nunito" pitchFamily="2" charset="0"/>
              </a:rPr>
              <a:t>Inheritance is the capability of one class to derive or inherit the properties from another class. The class that derives properties is called the derived class or child class and the class from which the properties are being derived is called the base class or parent class. The benefits of inheritance are:</a:t>
            </a:r>
          </a:p>
          <a:p>
            <a:pPr fontAlgn="base"/>
            <a:r>
              <a:rPr lang="en-GB" b="0" i="0">
                <a:solidFill>
                  <a:srgbClr val="273239"/>
                </a:solidFill>
                <a:effectLst/>
                <a:latin typeface="Nunito" pitchFamily="2" charset="0"/>
              </a:rPr>
              <a:t>It represents real-world relationships well.</a:t>
            </a:r>
          </a:p>
          <a:p>
            <a:pPr fontAlgn="base"/>
            <a:r>
              <a:rPr lang="en-GB" b="0" i="0">
                <a:solidFill>
                  <a:srgbClr val="273239"/>
                </a:solidFill>
                <a:effectLst/>
                <a:latin typeface="Nunito" pitchFamily="2" charset="0"/>
              </a:rPr>
              <a:t>It provides the reusability of a code. We don’t have to write the same code again and again. Also, it allows us to add more features to a class without modifying it.</a:t>
            </a:r>
          </a:p>
          <a:p>
            <a:pPr fontAlgn="base"/>
            <a:r>
              <a:rPr lang="en-GB" b="0" i="0">
                <a:solidFill>
                  <a:srgbClr val="273239"/>
                </a:solidFill>
                <a:effectLst/>
                <a:latin typeface="Nunito" pitchFamily="2" charset="0"/>
              </a:rPr>
              <a:t>It is transitive in nature, which means that if class B inherits from another class A, then all the subclasses of B would automatically inherit from class A.</a:t>
            </a:r>
          </a:p>
        </p:txBody>
      </p:sp>
    </p:spTree>
    <p:extLst>
      <p:ext uri="{BB962C8B-B14F-4D97-AF65-F5344CB8AC3E}">
        <p14:creationId xmlns:p14="http://schemas.microsoft.com/office/powerpoint/2010/main" val="1556029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9990E83-5A24-CC8A-A484-3B0624B72F08}"/>
              </a:ext>
            </a:extLst>
          </p:cNvPr>
          <p:cNvSpPr>
            <a:spLocks noGrp="1"/>
          </p:cNvSpPr>
          <p:nvPr>
            <p:ph type="title"/>
          </p:nvPr>
        </p:nvSpPr>
        <p:spPr/>
        <p:txBody>
          <a:bodyPr/>
          <a:lstStyle/>
          <a:p>
            <a:pPr fontAlgn="base"/>
            <a:r>
              <a:rPr lang="en-GB" b="1" i="0">
                <a:solidFill>
                  <a:srgbClr val="273239"/>
                </a:solidFill>
                <a:effectLst/>
                <a:latin typeface="Nunito" pitchFamily="2" charset="0"/>
              </a:rPr>
              <a:t>Benefits of inheritance are:</a:t>
            </a:r>
          </a:p>
        </p:txBody>
      </p:sp>
      <p:sp>
        <p:nvSpPr>
          <p:cNvPr id="3" name="Content Placeholder 2">
            <a:extLst>
              <a:ext uri="{FF2B5EF4-FFF2-40B4-BE49-F238E27FC236}">
                <a16:creationId xmlns="" xmlns:a16="http://schemas.microsoft.com/office/drawing/2014/main" id="{112607F3-1C31-396A-FD31-9B1FA63E1174}"/>
              </a:ext>
            </a:extLst>
          </p:cNvPr>
          <p:cNvSpPr>
            <a:spLocks noGrp="1"/>
          </p:cNvSpPr>
          <p:nvPr>
            <p:ph idx="1"/>
          </p:nvPr>
        </p:nvSpPr>
        <p:spPr/>
        <p:txBody>
          <a:bodyPr>
            <a:normAutofit fontScale="92500" lnSpcReduction="20000"/>
          </a:bodyPr>
          <a:lstStyle/>
          <a:p>
            <a:pPr fontAlgn="base"/>
            <a:r>
              <a:rPr lang="en-GB" b="0" i="0">
                <a:solidFill>
                  <a:srgbClr val="273239"/>
                </a:solidFill>
                <a:effectLst/>
                <a:latin typeface="Nunito" pitchFamily="2" charset="0"/>
              </a:rPr>
              <a:t>Inheritance allows you to inherit the properties of a class, i.e., base class to another, i.e., derived class. The benefits of Inheritance in </a:t>
            </a:r>
            <a:r>
              <a:rPr lang="en-GB" b="0" i="0" u="sng">
                <a:solidFill>
                  <a:srgbClr val="273239"/>
                </a:solidFill>
                <a:effectLst/>
                <a:latin typeface="Nunito" pitchFamily="2" charset="0"/>
                <a:hlinkClick r:id="rId2"/>
              </a:rPr>
              <a:t>Python</a:t>
            </a:r>
            <a:r>
              <a:rPr lang="en-GB" b="0" i="0">
                <a:solidFill>
                  <a:srgbClr val="273239"/>
                </a:solidFill>
                <a:effectLst/>
                <a:latin typeface="Nunito" pitchFamily="2" charset="0"/>
              </a:rPr>
              <a:t> are as follows:</a:t>
            </a:r>
          </a:p>
          <a:p>
            <a:pPr fontAlgn="base"/>
            <a:r>
              <a:rPr lang="en-GB" b="0" i="0">
                <a:solidFill>
                  <a:srgbClr val="273239"/>
                </a:solidFill>
                <a:effectLst/>
                <a:latin typeface="Nunito" pitchFamily="2" charset="0"/>
              </a:rPr>
              <a:t>It represents real-world relationships well.</a:t>
            </a:r>
          </a:p>
          <a:p>
            <a:pPr fontAlgn="base"/>
            <a:r>
              <a:rPr lang="en-GB" b="0" i="0">
                <a:solidFill>
                  <a:srgbClr val="273239"/>
                </a:solidFill>
                <a:effectLst/>
                <a:latin typeface="Nunito" pitchFamily="2" charset="0"/>
              </a:rPr>
              <a:t>It provides the </a:t>
            </a:r>
            <a:r>
              <a:rPr lang="en-GB" b="1" i="0">
                <a:solidFill>
                  <a:srgbClr val="273239"/>
                </a:solidFill>
                <a:effectLst/>
                <a:latin typeface="Nunito" pitchFamily="2" charset="0"/>
              </a:rPr>
              <a:t>reusability</a:t>
            </a:r>
            <a:r>
              <a:rPr lang="en-GB" b="0" i="0">
                <a:solidFill>
                  <a:srgbClr val="273239"/>
                </a:solidFill>
                <a:effectLst/>
                <a:latin typeface="Nunito" pitchFamily="2" charset="0"/>
              </a:rPr>
              <a:t> of a code. We don’t have to write the same code again and again. Also, it allows us to add more features to a class without modifying it.</a:t>
            </a:r>
          </a:p>
          <a:p>
            <a:pPr fontAlgn="base"/>
            <a:r>
              <a:rPr lang="en-GB" b="0" i="0">
                <a:solidFill>
                  <a:srgbClr val="273239"/>
                </a:solidFill>
                <a:effectLst/>
                <a:latin typeface="Nunito" pitchFamily="2" charset="0"/>
              </a:rPr>
              <a:t>It is transitive in nature, which means that if class B inherits from another class A, then all the subclasses of B would automatically inherit from class A.</a:t>
            </a:r>
          </a:p>
          <a:p>
            <a:pPr fontAlgn="base"/>
            <a:r>
              <a:rPr lang="en-GB" b="0" i="0">
                <a:solidFill>
                  <a:srgbClr val="273239"/>
                </a:solidFill>
                <a:effectLst/>
                <a:latin typeface="Nunito" pitchFamily="2" charset="0"/>
              </a:rPr>
              <a:t>Inheritance offers a simple, understandable model structure. </a:t>
            </a:r>
          </a:p>
          <a:p>
            <a:pPr fontAlgn="base"/>
            <a:r>
              <a:rPr lang="en-GB" b="0" i="0">
                <a:solidFill>
                  <a:srgbClr val="273239"/>
                </a:solidFill>
                <a:effectLst/>
                <a:latin typeface="Nunito" pitchFamily="2" charset="0"/>
              </a:rPr>
              <a:t>Less development and maintenance expenses result from an inheritance. </a:t>
            </a:r>
          </a:p>
        </p:txBody>
      </p:sp>
    </p:spTree>
    <p:extLst>
      <p:ext uri="{BB962C8B-B14F-4D97-AF65-F5344CB8AC3E}">
        <p14:creationId xmlns:p14="http://schemas.microsoft.com/office/powerpoint/2010/main" val="28583097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1B80F8B-77DA-24B7-7EE0-94D469160323}"/>
              </a:ext>
            </a:extLst>
          </p:cNvPr>
          <p:cNvSpPr>
            <a:spLocks noGrp="1"/>
          </p:cNvSpPr>
          <p:nvPr>
            <p:ph type="title"/>
          </p:nvPr>
        </p:nvSpPr>
        <p:spPr/>
        <p:txBody>
          <a:bodyPr/>
          <a:lstStyle/>
          <a:p>
            <a:pPr fontAlgn="base"/>
            <a:r>
              <a:rPr lang="en-GB" b="1" i="0">
                <a:solidFill>
                  <a:srgbClr val="273239"/>
                </a:solidFill>
                <a:effectLst/>
                <a:latin typeface="Nunito" pitchFamily="2" charset="0"/>
              </a:rPr>
              <a:t>Types of Inheritance</a:t>
            </a:r>
          </a:p>
        </p:txBody>
      </p:sp>
      <p:sp>
        <p:nvSpPr>
          <p:cNvPr id="3" name="Content Placeholder 2">
            <a:extLst>
              <a:ext uri="{FF2B5EF4-FFF2-40B4-BE49-F238E27FC236}">
                <a16:creationId xmlns="" xmlns:a16="http://schemas.microsoft.com/office/drawing/2014/main" id="{7FABCE8C-82AB-26BD-E27E-A4A7FDCE064D}"/>
              </a:ext>
            </a:extLst>
          </p:cNvPr>
          <p:cNvSpPr>
            <a:spLocks noGrp="1"/>
          </p:cNvSpPr>
          <p:nvPr>
            <p:ph idx="1"/>
          </p:nvPr>
        </p:nvSpPr>
        <p:spPr/>
        <p:txBody>
          <a:bodyPr>
            <a:normAutofit fontScale="92500" lnSpcReduction="10000"/>
          </a:bodyPr>
          <a:lstStyle/>
          <a:p>
            <a:pPr fontAlgn="base"/>
            <a:r>
              <a:rPr lang="en-GB" b="1" i="0" dirty="0">
                <a:solidFill>
                  <a:srgbClr val="0070C0"/>
                </a:solidFill>
                <a:effectLst/>
                <a:latin typeface="Nunito" pitchFamily="2" charset="0"/>
              </a:rPr>
              <a:t>Single Inheritance</a:t>
            </a:r>
            <a:r>
              <a:rPr lang="en-GB" b="0" i="0" dirty="0">
                <a:solidFill>
                  <a:srgbClr val="0070C0"/>
                </a:solidFill>
                <a:effectLst/>
                <a:latin typeface="Nunito" pitchFamily="2" charset="0"/>
              </a:rPr>
              <a:t>: Single-level inheritance enables a derived class to inherit characteristics from a single-parent class.</a:t>
            </a:r>
          </a:p>
          <a:p>
            <a:pPr fontAlgn="base"/>
            <a:r>
              <a:rPr lang="en-GB" b="1" i="0" dirty="0">
                <a:solidFill>
                  <a:srgbClr val="0070C0"/>
                </a:solidFill>
                <a:effectLst/>
                <a:latin typeface="Nunito" pitchFamily="2" charset="0"/>
              </a:rPr>
              <a:t>Multilevel Inheritance: </a:t>
            </a:r>
            <a:r>
              <a:rPr lang="en-GB" b="0" i="0" dirty="0">
                <a:solidFill>
                  <a:srgbClr val="0070C0"/>
                </a:solidFill>
                <a:effectLst/>
                <a:latin typeface="Nunito" pitchFamily="2" charset="0"/>
              </a:rPr>
              <a:t>Multi-level inheritance enables a derived class to inherit properties from an immediate parent class which in turn inherits properties from his parent class. </a:t>
            </a:r>
          </a:p>
          <a:p>
            <a:pPr fontAlgn="base"/>
            <a:r>
              <a:rPr lang="en-GB" b="1" i="0" dirty="0">
                <a:solidFill>
                  <a:srgbClr val="0070C0"/>
                </a:solidFill>
                <a:effectLst/>
                <a:latin typeface="Nunito" pitchFamily="2" charset="0"/>
              </a:rPr>
              <a:t>Hierarchical Inheritance: </a:t>
            </a:r>
            <a:r>
              <a:rPr lang="en-GB" b="0" i="0" dirty="0">
                <a:solidFill>
                  <a:srgbClr val="0070C0"/>
                </a:solidFill>
                <a:effectLst/>
                <a:latin typeface="Nunito" pitchFamily="2" charset="0"/>
              </a:rPr>
              <a:t>Hierarchical-level inheritance enables more than one derived class to inherit properties from a parent class.</a:t>
            </a:r>
          </a:p>
          <a:p>
            <a:pPr fontAlgn="base"/>
            <a:r>
              <a:rPr lang="en-GB" b="1" i="0" dirty="0">
                <a:solidFill>
                  <a:srgbClr val="0070C0"/>
                </a:solidFill>
                <a:effectLst/>
                <a:latin typeface="Nunito" pitchFamily="2" charset="0"/>
              </a:rPr>
              <a:t>Multiple Inheritance: </a:t>
            </a:r>
            <a:r>
              <a:rPr lang="en-GB" b="0" i="0" dirty="0">
                <a:solidFill>
                  <a:srgbClr val="0070C0"/>
                </a:solidFill>
                <a:effectLst/>
                <a:latin typeface="Nunito" pitchFamily="2" charset="0"/>
              </a:rPr>
              <a:t>Multiple-level inheritance enables one derived class to inherit properties from more than one base class.</a:t>
            </a:r>
          </a:p>
          <a:p>
            <a:pPr marL="0" indent="0">
              <a:buNone/>
            </a:pPr>
            <a:r>
              <a:rPr lang="en-GB" dirty="0">
                <a:solidFill>
                  <a:srgbClr val="0070C0"/>
                </a:solidFill>
              </a:rPr>
              <a:t/>
            </a:r>
            <a:br>
              <a:rPr lang="en-GB" dirty="0">
                <a:solidFill>
                  <a:srgbClr val="0070C0"/>
                </a:solidFill>
              </a:rPr>
            </a:br>
            <a:endParaRPr lang="en-US" dirty="0">
              <a:solidFill>
                <a:srgbClr val="0070C0"/>
              </a:solidFill>
            </a:endParaRPr>
          </a:p>
        </p:txBody>
      </p:sp>
    </p:spTree>
    <p:extLst>
      <p:ext uri="{BB962C8B-B14F-4D97-AF65-F5344CB8AC3E}">
        <p14:creationId xmlns:p14="http://schemas.microsoft.com/office/powerpoint/2010/main" val="17730429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F374CB0-1307-1349-438E-F99B5BFE5A71}"/>
              </a:ext>
            </a:extLst>
          </p:cNvPr>
          <p:cNvSpPr>
            <a:spLocks noGrp="1"/>
          </p:cNvSpPr>
          <p:nvPr>
            <p:ph type="title"/>
          </p:nvPr>
        </p:nvSpPr>
        <p:spPr/>
        <p:txBody>
          <a:bodyPr/>
          <a:lstStyle/>
          <a:p>
            <a:pPr fontAlgn="base"/>
            <a:r>
              <a:rPr lang="en-GB" b="1" i="0">
                <a:solidFill>
                  <a:srgbClr val="273239"/>
                </a:solidFill>
                <a:effectLst/>
                <a:latin typeface="Nunito" pitchFamily="2" charset="0"/>
              </a:rPr>
              <a:t>Python Inheritance Syntax</a:t>
            </a:r>
          </a:p>
        </p:txBody>
      </p:sp>
      <p:sp>
        <p:nvSpPr>
          <p:cNvPr id="3" name="Content Placeholder 2">
            <a:extLst>
              <a:ext uri="{FF2B5EF4-FFF2-40B4-BE49-F238E27FC236}">
                <a16:creationId xmlns="" xmlns:a16="http://schemas.microsoft.com/office/drawing/2014/main" id="{225B896B-D178-5B95-6D51-9A47BA8B7C28}"/>
              </a:ext>
            </a:extLst>
          </p:cNvPr>
          <p:cNvSpPr>
            <a:spLocks noGrp="1"/>
          </p:cNvSpPr>
          <p:nvPr>
            <p:ph idx="1"/>
          </p:nvPr>
        </p:nvSpPr>
        <p:spPr>
          <a:xfrm>
            <a:off x="1559970" y="2539792"/>
            <a:ext cx="10515600" cy="4351338"/>
          </a:xfrm>
        </p:spPr>
        <p:txBody>
          <a:bodyPr/>
          <a:lstStyle/>
          <a:p>
            <a:pPr marL="0" indent="0">
              <a:buNone/>
            </a:pPr>
            <a:r>
              <a:rPr lang="en-GB" dirty="0"/>
              <a:t>Class </a:t>
            </a:r>
            <a:r>
              <a:rPr lang="en-GB" dirty="0" err="1"/>
              <a:t>BaseClass</a:t>
            </a:r>
            <a:r>
              <a:rPr lang="en-GB" dirty="0"/>
              <a:t>: </a:t>
            </a:r>
            <a:endParaRPr lang="en-US" dirty="0"/>
          </a:p>
          <a:p>
            <a:pPr marL="0" indent="0">
              <a:buNone/>
            </a:pPr>
            <a:r>
              <a:rPr lang="en-US" dirty="0"/>
              <a:t>          </a:t>
            </a:r>
            <a:r>
              <a:rPr lang="en-GB" dirty="0"/>
              <a:t>{Body} </a:t>
            </a:r>
            <a:endParaRPr lang="en-US" dirty="0"/>
          </a:p>
          <a:p>
            <a:pPr marL="0" indent="0">
              <a:buNone/>
            </a:pPr>
            <a:r>
              <a:rPr lang="en-GB" dirty="0"/>
              <a:t>Class </a:t>
            </a:r>
            <a:r>
              <a:rPr lang="en-GB" dirty="0" err="1"/>
              <a:t>DerivedClass</a:t>
            </a:r>
            <a:r>
              <a:rPr lang="en-GB" dirty="0"/>
              <a:t>(</a:t>
            </a:r>
            <a:r>
              <a:rPr lang="en-GB" dirty="0" err="1"/>
              <a:t>BaseClass</a:t>
            </a:r>
            <a:r>
              <a:rPr lang="en-GB" dirty="0"/>
              <a:t>): </a:t>
            </a:r>
            <a:endParaRPr lang="en-US" dirty="0"/>
          </a:p>
          <a:p>
            <a:pPr marL="0" indent="0">
              <a:buNone/>
            </a:pPr>
            <a:r>
              <a:rPr lang="en-US" dirty="0"/>
              <a:t>          </a:t>
            </a:r>
            <a:r>
              <a:rPr lang="en-GB" dirty="0"/>
              <a:t>{Body}</a:t>
            </a:r>
            <a:endParaRPr lang="en-US" dirty="0"/>
          </a:p>
        </p:txBody>
      </p:sp>
    </p:spTree>
    <p:extLst>
      <p:ext uri="{BB962C8B-B14F-4D97-AF65-F5344CB8AC3E}">
        <p14:creationId xmlns:p14="http://schemas.microsoft.com/office/powerpoint/2010/main" val="194107849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6889C4B-8913-9F00-4B1D-EFD71106D396}"/>
              </a:ext>
            </a:extLst>
          </p:cNvPr>
          <p:cNvSpPr>
            <a:spLocks noGrp="1"/>
          </p:cNvSpPr>
          <p:nvPr>
            <p:ph type="title"/>
          </p:nvPr>
        </p:nvSpPr>
        <p:spPr>
          <a:xfrm>
            <a:off x="838200" y="365125"/>
            <a:ext cx="10515600" cy="1006475"/>
          </a:xfrm>
        </p:spPr>
        <p:txBody>
          <a:bodyPr/>
          <a:lstStyle/>
          <a:p>
            <a:pPr fontAlgn="base"/>
            <a:r>
              <a:rPr lang="en-GB" sz="3600" b="1" i="0" dirty="0">
                <a:solidFill>
                  <a:srgbClr val="273239"/>
                </a:solidFill>
                <a:effectLst/>
                <a:latin typeface="Nunito" pitchFamily="2" charset="0"/>
              </a:rPr>
              <a:t>Creating a Parent Class</a:t>
            </a:r>
          </a:p>
        </p:txBody>
      </p:sp>
      <p:sp>
        <p:nvSpPr>
          <p:cNvPr id="3" name="Content Placeholder 2">
            <a:extLst>
              <a:ext uri="{FF2B5EF4-FFF2-40B4-BE49-F238E27FC236}">
                <a16:creationId xmlns="" xmlns:a16="http://schemas.microsoft.com/office/drawing/2014/main" id="{1A3F7410-E2FF-44DD-1A47-127D26F9AE74}"/>
              </a:ext>
            </a:extLst>
          </p:cNvPr>
          <p:cNvSpPr>
            <a:spLocks noGrp="1"/>
          </p:cNvSpPr>
          <p:nvPr>
            <p:ph idx="1"/>
          </p:nvPr>
        </p:nvSpPr>
        <p:spPr>
          <a:xfrm>
            <a:off x="228600" y="1143000"/>
            <a:ext cx="11658600" cy="990601"/>
          </a:xfrm>
        </p:spPr>
        <p:txBody>
          <a:bodyPr>
            <a:normAutofit fontScale="92500" lnSpcReduction="20000"/>
          </a:bodyPr>
          <a:lstStyle/>
          <a:p>
            <a:r>
              <a:rPr lang="en-GB" b="0" i="0" dirty="0">
                <a:solidFill>
                  <a:srgbClr val="273239"/>
                </a:solidFill>
                <a:effectLst/>
                <a:latin typeface="Nunito" pitchFamily="2" charset="0"/>
              </a:rPr>
              <a:t>A parent class is a class whose properties are inherited by the child class. Let’s create a parent class called </a:t>
            </a:r>
            <a:r>
              <a:rPr lang="en-GB" b="1" i="0" dirty="0">
                <a:solidFill>
                  <a:srgbClr val="273239"/>
                </a:solidFill>
                <a:effectLst/>
                <a:latin typeface="Nunito" pitchFamily="2" charset="0"/>
              </a:rPr>
              <a:t>Person </a:t>
            </a:r>
            <a:r>
              <a:rPr lang="en-GB" b="0" i="0" dirty="0">
                <a:solidFill>
                  <a:srgbClr val="273239"/>
                </a:solidFill>
                <a:effectLst/>
                <a:latin typeface="Nunito" pitchFamily="2" charset="0"/>
              </a:rPr>
              <a:t>which has a </a:t>
            </a:r>
            <a:r>
              <a:rPr lang="en-GB" b="1" i="0" dirty="0">
                <a:solidFill>
                  <a:srgbClr val="273239"/>
                </a:solidFill>
                <a:effectLst/>
                <a:latin typeface="Nunito" pitchFamily="2" charset="0"/>
              </a:rPr>
              <a:t>Display </a:t>
            </a:r>
            <a:r>
              <a:rPr lang="en-GB" b="0" i="0" dirty="0">
                <a:solidFill>
                  <a:srgbClr val="273239"/>
                </a:solidFill>
                <a:effectLst/>
                <a:latin typeface="Nunito" pitchFamily="2" charset="0"/>
              </a:rPr>
              <a:t>method to display the person’s information.</a:t>
            </a:r>
            <a:endParaRPr lang="en-US" dirty="0"/>
          </a:p>
        </p:txBody>
      </p:sp>
      <p:pic>
        <p:nvPicPr>
          <p:cNvPr id="4" name="Picture 3">
            <a:extLst>
              <a:ext uri="{FF2B5EF4-FFF2-40B4-BE49-F238E27FC236}">
                <a16:creationId xmlns="" xmlns:a16="http://schemas.microsoft.com/office/drawing/2014/main" id="{6AD0C64E-F2FD-EC77-CA9B-48D79E2526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8822" y="2133600"/>
            <a:ext cx="9918177" cy="4876799"/>
          </a:xfrm>
          <a:prstGeom prst="rect">
            <a:avLst/>
          </a:prstGeom>
        </p:spPr>
      </p:pic>
      <p:pic>
        <p:nvPicPr>
          <p:cNvPr id="5" name="Picture 4">
            <a:extLst>
              <a:ext uri="{FF2B5EF4-FFF2-40B4-BE49-F238E27FC236}">
                <a16:creationId xmlns="" xmlns:a16="http://schemas.microsoft.com/office/drawing/2014/main" id="{5DB5B119-50DA-AA9A-41CB-ECE2E9B266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86999" y="2667000"/>
            <a:ext cx="1910219" cy="3352800"/>
          </a:xfrm>
          <a:prstGeom prst="rect">
            <a:avLst/>
          </a:prstGeom>
        </p:spPr>
      </p:pic>
    </p:spTree>
    <p:extLst>
      <p:ext uri="{BB962C8B-B14F-4D97-AF65-F5344CB8AC3E}">
        <p14:creationId xmlns:p14="http://schemas.microsoft.com/office/powerpoint/2010/main" val="1586464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6328B92-BCF9-583E-1055-F6A36D1570C0}"/>
              </a:ext>
            </a:extLst>
          </p:cNvPr>
          <p:cNvSpPr>
            <a:spLocks noGrp="1"/>
          </p:cNvSpPr>
          <p:nvPr>
            <p:ph type="title"/>
          </p:nvPr>
        </p:nvSpPr>
        <p:spPr>
          <a:xfrm>
            <a:off x="838200" y="152400"/>
            <a:ext cx="10515600" cy="762000"/>
          </a:xfrm>
        </p:spPr>
        <p:txBody>
          <a:bodyPr>
            <a:normAutofit/>
          </a:bodyPr>
          <a:lstStyle/>
          <a:p>
            <a:pPr fontAlgn="base"/>
            <a:r>
              <a:rPr lang="en-GB" sz="3600" b="1" i="0" dirty="0">
                <a:solidFill>
                  <a:srgbClr val="273239"/>
                </a:solidFill>
                <a:effectLst/>
                <a:latin typeface="Nunito" pitchFamily="2" charset="0"/>
              </a:rPr>
              <a:t>Creating a Child Class</a:t>
            </a:r>
          </a:p>
        </p:txBody>
      </p:sp>
      <p:sp>
        <p:nvSpPr>
          <p:cNvPr id="3" name="Content Placeholder 2">
            <a:extLst>
              <a:ext uri="{FF2B5EF4-FFF2-40B4-BE49-F238E27FC236}">
                <a16:creationId xmlns="" xmlns:a16="http://schemas.microsoft.com/office/drawing/2014/main" id="{869A6247-514F-B2A6-3B1A-81542D3ACD7E}"/>
              </a:ext>
            </a:extLst>
          </p:cNvPr>
          <p:cNvSpPr>
            <a:spLocks noGrp="1"/>
          </p:cNvSpPr>
          <p:nvPr>
            <p:ph idx="1"/>
          </p:nvPr>
        </p:nvSpPr>
        <p:spPr>
          <a:xfrm>
            <a:off x="685800" y="838200"/>
            <a:ext cx="10515600" cy="1295400"/>
          </a:xfrm>
        </p:spPr>
        <p:txBody>
          <a:bodyPr/>
          <a:lstStyle/>
          <a:p>
            <a:r>
              <a:rPr lang="en-GB" b="0" i="0" dirty="0">
                <a:solidFill>
                  <a:srgbClr val="273239"/>
                </a:solidFill>
                <a:effectLst/>
                <a:latin typeface="Nunito" pitchFamily="2" charset="0"/>
              </a:rPr>
              <a:t>A child class is a class that drives the properties from its parent class. Here </a:t>
            </a:r>
            <a:r>
              <a:rPr lang="en-GB" b="1" i="0" dirty="0" err="1">
                <a:solidFill>
                  <a:srgbClr val="273239"/>
                </a:solidFill>
                <a:effectLst/>
                <a:latin typeface="Nunito" pitchFamily="2" charset="0"/>
              </a:rPr>
              <a:t>Emp</a:t>
            </a:r>
            <a:r>
              <a:rPr lang="en-GB" b="0" i="0" dirty="0">
                <a:solidFill>
                  <a:srgbClr val="273239"/>
                </a:solidFill>
                <a:effectLst/>
                <a:latin typeface="Nunito" pitchFamily="2" charset="0"/>
              </a:rPr>
              <a:t> is another class that is going to inherit the properties of the </a:t>
            </a:r>
            <a:r>
              <a:rPr lang="en-GB" b="1" i="0" dirty="0">
                <a:solidFill>
                  <a:srgbClr val="273239"/>
                </a:solidFill>
                <a:effectLst/>
                <a:latin typeface="Nunito" pitchFamily="2" charset="0"/>
              </a:rPr>
              <a:t>Person </a:t>
            </a:r>
            <a:r>
              <a:rPr lang="en-GB" b="0" i="0" dirty="0">
                <a:solidFill>
                  <a:srgbClr val="273239"/>
                </a:solidFill>
                <a:effectLst/>
                <a:latin typeface="Nunito" pitchFamily="2" charset="0"/>
              </a:rPr>
              <a:t>class(base class).</a:t>
            </a:r>
            <a:endParaRPr lang="en-US" dirty="0"/>
          </a:p>
        </p:txBody>
      </p:sp>
      <p:pic>
        <p:nvPicPr>
          <p:cNvPr id="4" name="Picture 3">
            <a:extLst>
              <a:ext uri="{FF2B5EF4-FFF2-40B4-BE49-F238E27FC236}">
                <a16:creationId xmlns="" xmlns:a16="http://schemas.microsoft.com/office/drawing/2014/main" id="{900BECAF-7EAD-7DAD-921E-5249E9132B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808" y="2133599"/>
            <a:ext cx="9305392" cy="4631825"/>
          </a:xfrm>
          <a:prstGeom prst="rect">
            <a:avLst/>
          </a:prstGeom>
        </p:spPr>
      </p:pic>
      <p:pic>
        <p:nvPicPr>
          <p:cNvPr id="5" name="Picture 4">
            <a:extLst>
              <a:ext uri="{FF2B5EF4-FFF2-40B4-BE49-F238E27FC236}">
                <a16:creationId xmlns="" xmlns:a16="http://schemas.microsoft.com/office/drawing/2014/main" id="{AE8DEB86-C54F-0D61-834B-8F75DB66F9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01200" y="1981200"/>
            <a:ext cx="2590800" cy="4038599"/>
          </a:xfrm>
          <a:prstGeom prst="rect">
            <a:avLst/>
          </a:prstGeom>
        </p:spPr>
      </p:pic>
    </p:spTree>
    <p:extLst>
      <p:ext uri="{BB962C8B-B14F-4D97-AF65-F5344CB8AC3E}">
        <p14:creationId xmlns:p14="http://schemas.microsoft.com/office/powerpoint/2010/main" val="40825930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30214A11-F5E9-A18D-AAA1-B084AABA3E20}"/>
              </a:ext>
            </a:extLst>
          </p:cNvPr>
          <p:cNvSpPr>
            <a:spLocks noGrp="1"/>
          </p:cNvSpPr>
          <p:nvPr>
            <p:ph type="title"/>
          </p:nvPr>
        </p:nvSpPr>
        <p:spPr/>
        <p:txBody>
          <a:bodyPr/>
          <a:lstStyle/>
          <a:p>
            <a:pPr fontAlgn="base"/>
            <a:r>
              <a:rPr lang="en-GB" b="1" i="0">
                <a:solidFill>
                  <a:srgbClr val="273239"/>
                </a:solidFill>
                <a:effectLst/>
                <a:latin typeface="Nunito" pitchFamily="2" charset="0"/>
              </a:rPr>
              <a:t>Example of Inheritance in Python </a:t>
            </a:r>
          </a:p>
        </p:txBody>
      </p:sp>
      <p:sp>
        <p:nvSpPr>
          <p:cNvPr id="3" name="Content Placeholder 2">
            <a:extLst>
              <a:ext uri="{FF2B5EF4-FFF2-40B4-BE49-F238E27FC236}">
                <a16:creationId xmlns="" xmlns:a16="http://schemas.microsoft.com/office/drawing/2014/main" id="{6754DCA5-DA02-8090-7ECB-1BFE75161F11}"/>
              </a:ext>
            </a:extLst>
          </p:cNvPr>
          <p:cNvSpPr>
            <a:spLocks noGrp="1"/>
          </p:cNvSpPr>
          <p:nvPr>
            <p:ph idx="1"/>
          </p:nvPr>
        </p:nvSpPr>
        <p:spPr>
          <a:xfrm>
            <a:off x="685800" y="1600200"/>
            <a:ext cx="10515600" cy="4351338"/>
          </a:xfrm>
        </p:spPr>
        <p:txBody>
          <a:bodyPr>
            <a:normAutofit/>
          </a:bodyPr>
          <a:lstStyle/>
          <a:p>
            <a:r>
              <a:rPr lang="en-GB" sz="3200" b="0" i="0" dirty="0">
                <a:solidFill>
                  <a:srgbClr val="273239"/>
                </a:solidFill>
                <a:effectLst/>
                <a:latin typeface="Nunito" pitchFamily="2" charset="0"/>
              </a:rPr>
              <a:t>Let us see an example of simple Python inheritance in which a child class is inheriting the properties of its parent class. In this example, ‘Person’ is the parent class, and ‘Employee’ is its child class.</a:t>
            </a:r>
            <a:endParaRPr lang="en-US" sz="3200" dirty="0"/>
          </a:p>
        </p:txBody>
      </p:sp>
    </p:spTree>
    <p:extLst>
      <p:ext uri="{BB962C8B-B14F-4D97-AF65-F5344CB8AC3E}">
        <p14:creationId xmlns:p14="http://schemas.microsoft.com/office/powerpoint/2010/main" val="23618200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312FF8C1-E4CE-9A94-6C4B-E823A43744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82826"/>
            <a:ext cx="10439400" cy="6775174"/>
          </a:xfrm>
          <a:prstGeom prst="rect">
            <a:avLst/>
          </a:prstGeom>
        </p:spPr>
      </p:pic>
      <p:pic>
        <p:nvPicPr>
          <p:cNvPr id="5" name="Picture 4">
            <a:extLst>
              <a:ext uri="{FF2B5EF4-FFF2-40B4-BE49-F238E27FC236}">
                <a16:creationId xmlns="" xmlns:a16="http://schemas.microsoft.com/office/drawing/2014/main" id="{F149824C-8F00-3E30-C344-318E39C953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15600" y="762000"/>
            <a:ext cx="1648216" cy="5486400"/>
          </a:xfrm>
          <a:prstGeom prst="rect">
            <a:avLst/>
          </a:prstGeom>
        </p:spPr>
      </p:pic>
    </p:spTree>
    <p:extLst>
      <p:ext uri="{BB962C8B-B14F-4D97-AF65-F5344CB8AC3E}">
        <p14:creationId xmlns:p14="http://schemas.microsoft.com/office/powerpoint/2010/main" val="62858292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10FE8E0-CAF1-4FCC-B758-81A9CEE365B5}"/>
              </a:ext>
            </a:extLst>
          </p:cNvPr>
          <p:cNvSpPr>
            <a:spLocks noGrp="1"/>
          </p:cNvSpPr>
          <p:nvPr>
            <p:ph type="title"/>
          </p:nvPr>
        </p:nvSpPr>
        <p:spPr/>
        <p:txBody>
          <a:bodyPr/>
          <a:lstStyle/>
          <a:p>
            <a:r>
              <a:rPr lang="en-US" b="1" dirty="0">
                <a:solidFill>
                  <a:srgbClr val="FF0000"/>
                </a:solidFill>
              </a:rPr>
              <a:t>Overloading &amp; Overriding</a:t>
            </a:r>
          </a:p>
        </p:txBody>
      </p:sp>
      <p:sp>
        <p:nvSpPr>
          <p:cNvPr id="3" name="Content Placeholder 2">
            <a:extLst>
              <a:ext uri="{FF2B5EF4-FFF2-40B4-BE49-F238E27FC236}">
                <a16:creationId xmlns="" xmlns:a16="http://schemas.microsoft.com/office/drawing/2014/main" id="{7893C79E-39B1-03F4-65CA-52D11B29AE42}"/>
              </a:ext>
            </a:extLst>
          </p:cNvPr>
          <p:cNvSpPr>
            <a:spLocks noGrp="1"/>
          </p:cNvSpPr>
          <p:nvPr>
            <p:ph idx="1"/>
          </p:nvPr>
        </p:nvSpPr>
        <p:spPr>
          <a:xfrm>
            <a:off x="838200" y="3068016"/>
            <a:ext cx="10515600" cy="4351338"/>
          </a:xfrm>
        </p:spPr>
        <p:txBody>
          <a:bodyPr/>
          <a:lstStyle/>
          <a:p>
            <a:pPr marL="0" indent="0">
              <a:buNone/>
            </a:pPr>
            <a:r>
              <a:rPr lang="en-GB" b="1" i="0" dirty="0">
                <a:solidFill>
                  <a:srgbClr val="0070C0"/>
                </a:solidFill>
                <a:effectLst/>
                <a:latin typeface="Libre Franklin" panose="02000000000000000000" pitchFamily="2" charset="0"/>
              </a:rPr>
              <a:t>Method overloading </a:t>
            </a:r>
            <a:r>
              <a:rPr lang="en-GB" b="1" i="0" dirty="0">
                <a:solidFill>
                  <a:srgbClr val="363940"/>
                </a:solidFill>
                <a:effectLst/>
                <a:latin typeface="Libre Franklin" panose="02000000000000000000" pitchFamily="2" charset="0"/>
              </a:rPr>
              <a:t>allows multiple methods in the same class to have the same name but different parameters. </a:t>
            </a:r>
            <a:r>
              <a:rPr lang="en-GB" b="1" i="0" dirty="0">
                <a:solidFill>
                  <a:srgbClr val="0070C0"/>
                </a:solidFill>
                <a:effectLst/>
                <a:latin typeface="Libre Franklin" panose="02000000000000000000" pitchFamily="2" charset="0"/>
              </a:rPr>
              <a:t>Method overriding </a:t>
            </a:r>
            <a:r>
              <a:rPr lang="en-GB" b="1" i="0" dirty="0">
                <a:solidFill>
                  <a:srgbClr val="363940"/>
                </a:solidFill>
                <a:effectLst/>
                <a:latin typeface="Libre Franklin" panose="02000000000000000000" pitchFamily="2" charset="0"/>
              </a:rPr>
              <a:t>allows a parent class and a child class to have methods with the same name and same parameters.</a:t>
            </a:r>
            <a:r>
              <a:rPr lang="en-GB" b="0" i="0" dirty="0">
                <a:solidFill>
                  <a:srgbClr val="363940"/>
                </a:solidFill>
                <a:effectLst/>
                <a:latin typeface="Libre Franklin" panose="02000000000000000000" pitchFamily="2" charset="0"/>
              </a:rPr>
              <a:t> </a:t>
            </a:r>
            <a:endParaRPr lang="en-US" b="0" i="0" dirty="0">
              <a:solidFill>
                <a:srgbClr val="363940"/>
              </a:solidFill>
              <a:effectLst/>
              <a:latin typeface="Libre Franklin" panose="02000000000000000000" pitchFamily="2" charset="0"/>
            </a:endParaRPr>
          </a:p>
          <a:p>
            <a:pPr marL="0" indent="0">
              <a:buNone/>
            </a:pPr>
            <a:endParaRPr lang="en-US" dirty="0">
              <a:solidFill>
                <a:srgbClr val="363940"/>
              </a:solidFill>
              <a:latin typeface="Libre Franklin" panose="02000000000000000000" pitchFamily="2" charset="0"/>
            </a:endParaRPr>
          </a:p>
          <a:p>
            <a:pPr marL="0" indent="0">
              <a:buNone/>
            </a:pPr>
            <a:r>
              <a:rPr lang="en-GB" b="0" i="0" dirty="0">
                <a:solidFill>
                  <a:srgbClr val="363940"/>
                </a:solidFill>
                <a:effectLst/>
                <a:latin typeface="Libre Franklin" panose="02000000000000000000" pitchFamily="2" charset="0"/>
              </a:rPr>
              <a:t>The child class method will override the parent class method.</a:t>
            </a:r>
            <a:endParaRPr lang="en-US" dirty="0"/>
          </a:p>
        </p:txBody>
      </p:sp>
    </p:spTree>
    <p:extLst>
      <p:ext uri="{BB962C8B-B14F-4D97-AF65-F5344CB8AC3E}">
        <p14:creationId xmlns:p14="http://schemas.microsoft.com/office/powerpoint/2010/main" val="2359796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5235165-DBA5-4E35-B123-F7F64F51E976}"/>
              </a:ext>
            </a:extLst>
          </p:cNvPr>
          <p:cNvSpPr>
            <a:spLocks noGrp="1"/>
          </p:cNvSpPr>
          <p:nvPr>
            <p:ph type="title"/>
          </p:nvPr>
        </p:nvSpPr>
        <p:spPr/>
        <p:txBody>
          <a:bodyPr/>
          <a:lstStyle/>
          <a:p>
            <a:r>
              <a:rPr lang="en-GB" b="1" i="0">
                <a:solidFill>
                  <a:srgbClr val="273239"/>
                </a:solidFill>
                <a:effectLst/>
                <a:latin typeface="Nunito" pitchFamily="2" charset="0"/>
              </a:rPr>
              <a:t>Method Overloading:</a:t>
            </a:r>
            <a:endParaRPr lang="en-US"/>
          </a:p>
        </p:txBody>
      </p:sp>
      <p:sp>
        <p:nvSpPr>
          <p:cNvPr id="3" name="Content Placeholder 2">
            <a:extLst>
              <a:ext uri="{FF2B5EF4-FFF2-40B4-BE49-F238E27FC236}">
                <a16:creationId xmlns="" xmlns:a16="http://schemas.microsoft.com/office/drawing/2014/main" id="{76BC4D15-9EAF-CB1A-13D5-8C37EDD517A9}"/>
              </a:ext>
            </a:extLst>
          </p:cNvPr>
          <p:cNvSpPr>
            <a:spLocks noGrp="1"/>
          </p:cNvSpPr>
          <p:nvPr>
            <p:ph idx="1"/>
          </p:nvPr>
        </p:nvSpPr>
        <p:spPr/>
        <p:txBody>
          <a:bodyPr>
            <a:normAutofit/>
          </a:bodyPr>
          <a:lstStyle/>
          <a:p>
            <a:pPr marL="0" indent="0" fontAlgn="base">
              <a:buNone/>
            </a:pPr>
            <a:r>
              <a:rPr lang="en-GB" b="0" i="0" dirty="0">
                <a:solidFill>
                  <a:srgbClr val="273239"/>
                </a:solidFill>
                <a:effectLst/>
                <a:latin typeface="Nunito" pitchFamily="2" charset="0"/>
              </a:rPr>
              <a:t>Method Overloading is an example of Compile time polymorphism. </a:t>
            </a:r>
            <a:endParaRPr lang="en-US" b="0" i="0" dirty="0">
              <a:solidFill>
                <a:srgbClr val="273239"/>
              </a:solidFill>
              <a:effectLst/>
              <a:latin typeface="Nunito" pitchFamily="2" charset="0"/>
            </a:endParaRPr>
          </a:p>
          <a:p>
            <a:pPr marL="0" indent="0" fontAlgn="base">
              <a:buNone/>
            </a:pPr>
            <a:endParaRPr lang="en-US" dirty="0">
              <a:solidFill>
                <a:srgbClr val="273239"/>
              </a:solidFill>
              <a:latin typeface="Nunito" pitchFamily="2" charset="0"/>
            </a:endParaRPr>
          </a:p>
          <a:p>
            <a:pPr marL="0" indent="0" fontAlgn="base">
              <a:buNone/>
            </a:pPr>
            <a:r>
              <a:rPr lang="en-GB" b="0" i="0" dirty="0">
                <a:solidFill>
                  <a:srgbClr val="273239"/>
                </a:solidFill>
                <a:effectLst/>
                <a:latin typeface="Nunito" pitchFamily="2" charset="0"/>
              </a:rPr>
              <a:t>In this, more than one method of the same class shares the same method name having different signatures. Method overloading is used to add more to the </a:t>
            </a:r>
            <a:r>
              <a:rPr lang="en-GB" b="0" i="0" dirty="0" err="1">
                <a:solidFill>
                  <a:srgbClr val="273239"/>
                </a:solidFill>
                <a:effectLst/>
                <a:latin typeface="Nunito" pitchFamily="2" charset="0"/>
              </a:rPr>
              <a:t>behavior</a:t>
            </a:r>
            <a:r>
              <a:rPr lang="en-GB" b="0" i="0" dirty="0">
                <a:solidFill>
                  <a:srgbClr val="273239"/>
                </a:solidFill>
                <a:effectLst/>
                <a:latin typeface="Nunito" pitchFamily="2" charset="0"/>
              </a:rPr>
              <a:t> of methods and there is no need of more than one class for method overloading.</a:t>
            </a:r>
          </a:p>
        </p:txBody>
      </p:sp>
    </p:spTree>
    <p:extLst>
      <p:ext uri="{BB962C8B-B14F-4D97-AF65-F5344CB8AC3E}">
        <p14:creationId xmlns:p14="http://schemas.microsoft.com/office/powerpoint/2010/main" val="41108976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 xmlns:a16="http://schemas.microsoft.com/office/drawing/2014/main" id="{376A90DB-F3C8-D51D-6EF1-D371AFA0A421}"/>
              </a:ext>
            </a:extLst>
          </p:cNvPr>
          <p:cNvSpPr txBox="1">
            <a:spLocks noGrp="1"/>
          </p:cNvSpPr>
          <p:nvPr>
            <p:ph idx="1"/>
          </p:nvPr>
        </p:nvSpPr>
        <p:spPr>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base"/>
            <a:r>
              <a:rPr lang="en-GB" dirty="0">
                <a:solidFill>
                  <a:srgbClr val="273239"/>
                </a:solidFill>
                <a:latin typeface="Nunito" pitchFamily="2" charset="0"/>
              </a:rPr>
              <a:t>Two or more methods have the same name but different numbers of parameters or different types of parameters, or both. These methods are called overloaded methods and this is called method </a:t>
            </a:r>
            <a:r>
              <a:rPr lang="en-GB" b="1" dirty="0">
                <a:solidFill>
                  <a:srgbClr val="273239"/>
                </a:solidFill>
                <a:latin typeface="Nunito" pitchFamily="2" charset="0"/>
              </a:rPr>
              <a:t>overloading</a:t>
            </a:r>
            <a:r>
              <a:rPr lang="en-GB" dirty="0">
                <a:solidFill>
                  <a:srgbClr val="273239"/>
                </a:solidFill>
                <a:latin typeface="Nunito" pitchFamily="2" charset="0"/>
              </a:rPr>
              <a:t>. </a:t>
            </a:r>
          </a:p>
          <a:p>
            <a:pPr fontAlgn="base"/>
            <a:r>
              <a:rPr lang="en-GB" dirty="0">
                <a:solidFill>
                  <a:srgbClr val="273239"/>
                </a:solidFill>
                <a:latin typeface="Nunito" pitchFamily="2" charset="0"/>
              </a:rPr>
              <a:t>Like other languages (for example, </a:t>
            </a:r>
            <a:r>
              <a:rPr lang="en-GB" u="sng" dirty="0">
                <a:solidFill>
                  <a:srgbClr val="273239"/>
                </a:solidFill>
                <a:latin typeface="Nunito" pitchFamily="2" charset="0"/>
                <a:hlinkClick r:id="rId2"/>
              </a:rPr>
              <a:t>method overloading in C++</a:t>
            </a:r>
            <a:r>
              <a:rPr lang="en-GB" dirty="0">
                <a:solidFill>
                  <a:srgbClr val="273239"/>
                </a:solidFill>
                <a:latin typeface="Nunito" pitchFamily="2" charset="0"/>
              </a:rPr>
              <a:t>) do, python does not support method overloading by default. But there are different ways to achieve method overloading in Python</a:t>
            </a:r>
            <a:endParaRPr lang="en-US" dirty="0">
              <a:solidFill>
                <a:srgbClr val="273239"/>
              </a:solidFill>
              <a:latin typeface="Nunito" pitchFamily="2" charset="0"/>
            </a:endParaRPr>
          </a:p>
          <a:p>
            <a:pPr fontAlgn="base"/>
            <a:r>
              <a:rPr lang="en-US" dirty="0">
                <a:solidFill>
                  <a:srgbClr val="273239"/>
                </a:solidFill>
                <a:latin typeface="Nunito" pitchFamily="2" charset="0"/>
              </a:rPr>
              <a:t>The problem with method overloading in Python is that we may overload the methods but can only use the latest defined method</a:t>
            </a:r>
            <a:endParaRPr lang="en-GB" dirty="0">
              <a:solidFill>
                <a:srgbClr val="273239"/>
              </a:solidFill>
              <a:latin typeface="Nunito" pitchFamily="2" charset="0"/>
            </a:endParaRPr>
          </a:p>
        </p:txBody>
      </p:sp>
    </p:spTree>
    <p:extLst>
      <p:ext uri="{BB962C8B-B14F-4D97-AF65-F5344CB8AC3E}">
        <p14:creationId xmlns:p14="http://schemas.microsoft.com/office/powerpoint/2010/main" val="31853927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 xmlns:a16="http://schemas.microsoft.com/office/drawing/2014/main" id="{92921251-7EDE-2459-51E1-DE56EA9520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5261" y="0"/>
            <a:ext cx="7581012" cy="6945559"/>
          </a:xfrm>
          <a:prstGeom prst="rect">
            <a:avLst/>
          </a:prstGeom>
        </p:spPr>
      </p:pic>
      <p:pic>
        <p:nvPicPr>
          <p:cNvPr id="9" name="Picture 8">
            <a:extLst>
              <a:ext uri="{FF2B5EF4-FFF2-40B4-BE49-F238E27FC236}">
                <a16:creationId xmlns="" xmlns:a16="http://schemas.microsoft.com/office/drawing/2014/main" id="{B38916B4-5CED-1793-622C-1BFAA7239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71125" y="2261921"/>
            <a:ext cx="3020875" cy="3926371"/>
          </a:xfrm>
          <a:prstGeom prst="rect">
            <a:avLst/>
          </a:prstGeom>
        </p:spPr>
      </p:pic>
    </p:spTree>
    <p:extLst>
      <p:ext uri="{BB962C8B-B14F-4D97-AF65-F5344CB8AC3E}">
        <p14:creationId xmlns:p14="http://schemas.microsoft.com/office/powerpoint/2010/main" val="32391326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259B400-E5A8-FFC2-84D9-C123BE592437}"/>
              </a:ext>
            </a:extLst>
          </p:cNvPr>
          <p:cNvSpPr>
            <a:spLocks noGrp="1"/>
          </p:cNvSpPr>
          <p:nvPr>
            <p:ph type="title"/>
          </p:nvPr>
        </p:nvSpPr>
        <p:spPr/>
        <p:txBody>
          <a:bodyPr/>
          <a:lstStyle/>
          <a:p>
            <a:pPr fontAlgn="base"/>
            <a:r>
              <a:rPr lang="en-GB" b="1" i="0">
                <a:solidFill>
                  <a:srgbClr val="273239"/>
                </a:solidFill>
                <a:effectLst/>
                <a:latin typeface="Source Sans 3"/>
              </a:rPr>
              <a:t>Method Overriding in Python</a:t>
            </a:r>
          </a:p>
        </p:txBody>
      </p:sp>
      <p:sp>
        <p:nvSpPr>
          <p:cNvPr id="3" name="Content Placeholder 2">
            <a:extLst>
              <a:ext uri="{FF2B5EF4-FFF2-40B4-BE49-F238E27FC236}">
                <a16:creationId xmlns="" xmlns:a16="http://schemas.microsoft.com/office/drawing/2014/main" id="{B929C9C0-38AC-3C9A-2DF1-AF560F193905}"/>
              </a:ext>
            </a:extLst>
          </p:cNvPr>
          <p:cNvSpPr>
            <a:spLocks noGrp="1"/>
          </p:cNvSpPr>
          <p:nvPr>
            <p:ph idx="1"/>
          </p:nvPr>
        </p:nvSpPr>
        <p:spPr/>
        <p:txBody>
          <a:bodyPr/>
          <a:lstStyle/>
          <a:p>
            <a:r>
              <a:rPr lang="en-GB" b="0" i="0">
                <a:solidFill>
                  <a:srgbClr val="273239"/>
                </a:solidFill>
                <a:effectLst/>
                <a:latin typeface="Nunito" pitchFamily="2" charset="0"/>
              </a:rPr>
              <a:t>Method overriding is an ability of any object-oriented programming language that allows a subclass or child class to provide a specific implementation of a method that is already provided by one of its super-classes or parent classes. When a method in a subclass has the same name, same parameters or signature and same return type(or sub-type) as a method in its super-class, then the method in the subclass is said to </a:t>
            </a:r>
            <a:r>
              <a:rPr lang="en-GB" b="1" i="0">
                <a:solidFill>
                  <a:srgbClr val="273239"/>
                </a:solidFill>
                <a:effectLst/>
                <a:latin typeface="Nunito" pitchFamily="2" charset="0"/>
              </a:rPr>
              <a:t>override</a:t>
            </a:r>
            <a:r>
              <a:rPr lang="en-GB" b="0" i="0">
                <a:solidFill>
                  <a:srgbClr val="273239"/>
                </a:solidFill>
                <a:effectLst/>
                <a:latin typeface="Nunito" pitchFamily="2" charset="0"/>
              </a:rPr>
              <a:t> the method in the super-class.</a:t>
            </a:r>
            <a:endParaRPr lang="en-US"/>
          </a:p>
        </p:txBody>
      </p:sp>
    </p:spTree>
    <p:extLst>
      <p:ext uri="{BB962C8B-B14F-4D97-AF65-F5344CB8AC3E}">
        <p14:creationId xmlns:p14="http://schemas.microsoft.com/office/powerpoint/2010/main" val="10035214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AE03B56-446A-B763-2FEC-D707BB87F887}"/>
              </a:ext>
            </a:extLst>
          </p:cNvPr>
          <p:cNvSpPr>
            <a:spLocks noGrp="1"/>
          </p:cNvSpPr>
          <p:nvPr>
            <p:ph type="title"/>
          </p:nvPr>
        </p:nvSpPr>
        <p:spPr>
          <a:xfrm>
            <a:off x="648883" y="4964487"/>
            <a:ext cx="10515600" cy="1771739"/>
          </a:xfrm>
        </p:spPr>
        <p:txBody>
          <a:bodyPr>
            <a:noAutofit/>
          </a:bodyPr>
          <a:lstStyle/>
          <a:p>
            <a:pPr fontAlgn="base"/>
            <a:r>
              <a:rPr lang="en-GB" sz="2400" b="1" i="0">
                <a:solidFill>
                  <a:srgbClr val="273239"/>
                </a:solidFill>
                <a:effectLst/>
                <a:latin typeface="Nunito" pitchFamily="2" charset="0"/>
              </a:rPr>
              <a:t>The version of a method that is executed will be determined by the object that is used to invoke it. If an object of a parent class is used to invoke the method, then the version in the parent class will be executed, but if an object of the subclass is used to invoke the method, then the version in the child class will be executed. In other words, it is the type of the object being referred to (not the type of the reference variable) that determines which version of an overridden method will be executed.</a:t>
            </a:r>
            <a:br>
              <a:rPr lang="en-GB" sz="2400" b="1" i="0">
                <a:solidFill>
                  <a:srgbClr val="273239"/>
                </a:solidFill>
                <a:effectLst/>
                <a:latin typeface="Nunito" pitchFamily="2" charset="0"/>
              </a:rPr>
            </a:br>
            <a:r>
              <a:rPr lang="en-GB" sz="2400" b="1"/>
              <a:t/>
            </a:r>
            <a:br>
              <a:rPr lang="en-GB" sz="2400" b="1"/>
            </a:br>
            <a:endParaRPr lang="en-US" sz="2400" b="1"/>
          </a:p>
        </p:txBody>
      </p:sp>
      <p:pic>
        <p:nvPicPr>
          <p:cNvPr id="4" name="Content Placeholder 3">
            <a:extLst>
              <a:ext uri="{FF2B5EF4-FFF2-40B4-BE49-F238E27FC236}">
                <a16:creationId xmlns="" xmlns:a16="http://schemas.microsoft.com/office/drawing/2014/main" id="{9B15C211-3723-AF41-F875-3DD729B0579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80647" y="121774"/>
            <a:ext cx="8660782" cy="3806549"/>
          </a:xfrm>
        </p:spPr>
      </p:pic>
    </p:spTree>
    <p:extLst>
      <p:ext uri="{BB962C8B-B14F-4D97-AF65-F5344CB8AC3E}">
        <p14:creationId xmlns:p14="http://schemas.microsoft.com/office/powerpoint/2010/main" val="3798233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EE01FA8-D12C-EEDA-7BD0-03F2D8275821}"/>
              </a:ext>
            </a:extLst>
          </p:cNvPr>
          <p:cNvSpPr>
            <a:spLocks noGrp="1"/>
          </p:cNvSpPr>
          <p:nvPr>
            <p:ph type="title"/>
          </p:nvPr>
        </p:nvSpPr>
        <p:spPr>
          <a:xfrm>
            <a:off x="2577548" y="5542755"/>
            <a:ext cx="10515600" cy="1325563"/>
          </a:xfrm>
        </p:spPr>
        <p:txBody>
          <a:bodyPr/>
          <a:lstStyle/>
          <a:p>
            <a:r>
              <a:rPr lang="en-US" dirty="0"/>
              <a:t>Output:</a:t>
            </a:r>
          </a:p>
        </p:txBody>
      </p:sp>
      <p:pic>
        <p:nvPicPr>
          <p:cNvPr id="4" name="Picture 3">
            <a:extLst>
              <a:ext uri="{FF2B5EF4-FFF2-40B4-BE49-F238E27FC236}">
                <a16:creationId xmlns="" xmlns:a16="http://schemas.microsoft.com/office/drawing/2014/main" id="{D1DAD32B-86E9-6763-CD21-13491C704C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856" y="134408"/>
            <a:ext cx="8861518" cy="5178294"/>
          </a:xfrm>
          <a:prstGeom prst="rect">
            <a:avLst/>
          </a:prstGeom>
        </p:spPr>
      </p:pic>
      <p:pic>
        <p:nvPicPr>
          <p:cNvPr id="5" name="Picture 4">
            <a:extLst>
              <a:ext uri="{FF2B5EF4-FFF2-40B4-BE49-F238E27FC236}">
                <a16:creationId xmlns="" xmlns:a16="http://schemas.microsoft.com/office/drawing/2014/main" id="{6A716D0F-E3AD-9710-13F6-26E170BD6C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62613" y="5553075"/>
            <a:ext cx="5972175" cy="1304925"/>
          </a:xfrm>
          <a:prstGeom prst="rect">
            <a:avLst/>
          </a:prstGeom>
        </p:spPr>
      </p:pic>
    </p:spTree>
    <p:extLst>
      <p:ext uri="{BB962C8B-B14F-4D97-AF65-F5344CB8AC3E}">
        <p14:creationId xmlns:p14="http://schemas.microsoft.com/office/powerpoint/2010/main" val="31314287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 xmlns:a16="http://schemas.microsoft.com/office/drawing/2014/main" id="{ED99BC2F-E8CC-13FC-7BAD-66CE0BCE74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8060" y="518517"/>
            <a:ext cx="10700945" cy="6072988"/>
          </a:xfrm>
          <a:prstGeom prst="rect">
            <a:avLst/>
          </a:prstGeom>
        </p:spPr>
      </p:pic>
    </p:spTree>
    <p:extLst>
      <p:ext uri="{BB962C8B-B14F-4D97-AF65-F5344CB8AC3E}">
        <p14:creationId xmlns:p14="http://schemas.microsoft.com/office/powerpoint/2010/main" val="19201311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A68A5CA-9B1F-8419-5B09-FB20CE3DFD12}"/>
              </a:ext>
            </a:extLst>
          </p:cNvPr>
          <p:cNvSpPr>
            <a:spLocks noGrp="1"/>
          </p:cNvSpPr>
          <p:nvPr>
            <p:ph type="title"/>
          </p:nvPr>
        </p:nvSpPr>
        <p:spPr/>
        <p:txBody>
          <a:bodyPr/>
          <a:lstStyle/>
          <a:p>
            <a:r>
              <a:rPr lang="en-US" b="1" dirty="0"/>
              <a:t>Data Hiding</a:t>
            </a:r>
          </a:p>
        </p:txBody>
      </p:sp>
      <p:sp>
        <p:nvSpPr>
          <p:cNvPr id="3" name="Content Placeholder 2">
            <a:extLst>
              <a:ext uri="{FF2B5EF4-FFF2-40B4-BE49-F238E27FC236}">
                <a16:creationId xmlns="" xmlns:a16="http://schemas.microsoft.com/office/drawing/2014/main" id="{B4680384-74FA-85CB-77F2-0B4300C73EC7}"/>
              </a:ext>
            </a:extLst>
          </p:cNvPr>
          <p:cNvSpPr>
            <a:spLocks noGrp="1"/>
          </p:cNvSpPr>
          <p:nvPr>
            <p:ph idx="1"/>
          </p:nvPr>
        </p:nvSpPr>
        <p:spPr/>
        <p:txBody>
          <a:bodyPr/>
          <a:lstStyle/>
          <a:p>
            <a:r>
              <a:rPr lang="en-GB" b="0" i="0">
                <a:solidFill>
                  <a:srgbClr val="273239"/>
                </a:solidFill>
                <a:effectLst/>
                <a:latin typeface="Nunito" pitchFamily="2" charset="0"/>
              </a:rPr>
              <a:t>Data hiding is a concept which underlines the hiding of data or information from the user. It is one of the key aspects of Object-Oriented programming strategies. It includes object details such as data members, internal work. Data hiding excludes full data entry to class members and defends object integrity by preventing unintended changes</a:t>
            </a:r>
            <a:endParaRPr lang="en-US"/>
          </a:p>
        </p:txBody>
      </p:sp>
    </p:spTree>
    <p:extLst>
      <p:ext uri="{BB962C8B-B14F-4D97-AF65-F5344CB8AC3E}">
        <p14:creationId xmlns:p14="http://schemas.microsoft.com/office/powerpoint/2010/main" val="12301987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21D6ED1-ECF6-C4B4-3FAF-57D6C583A587}"/>
              </a:ext>
            </a:extLst>
          </p:cNvPr>
          <p:cNvSpPr>
            <a:spLocks noGrp="1"/>
          </p:cNvSpPr>
          <p:nvPr>
            <p:ph type="title"/>
          </p:nvPr>
        </p:nvSpPr>
        <p:spPr/>
        <p:txBody>
          <a:bodyPr/>
          <a:lstStyle/>
          <a:p>
            <a:r>
              <a:rPr lang="en-GB" b="1" i="0">
                <a:solidFill>
                  <a:srgbClr val="273239"/>
                </a:solidFill>
                <a:effectLst/>
                <a:latin typeface="Nunito" pitchFamily="2" charset="0"/>
              </a:rPr>
              <a:t>Data Hiding in Python:</a:t>
            </a:r>
            <a:endParaRPr lang="en-US"/>
          </a:p>
        </p:txBody>
      </p:sp>
      <p:sp>
        <p:nvSpPr>
          <p:cNvPr id="3" name="Content Placeholder 2">
            <a:extLst>
              <a:ext uri="{FF2B5EF4-FFF2-40B4-BE49-F238E27FC236}">
                <a16:creationId xmlns="" xmlns:a16="http://schemas.microsoft.com/office/drawing/2014/main" id="{D8EA1076-7723-66AC-320A-7EF5481C877F}"/>
              </a:ext>
            </a:extLst>
          </p:cNvPr>
          <p:cNvSpPr>
            <a:spLocks noGrp="1"/>
          </p:cNvSpPr>
          <p:nvPr>
            <p:ph idx="1"/>
          </p:nvPr>
        </p:nvSpPr>
        <p:spPr>
          <a:xfrm>
            <a:off x="838200" y="1825624"/>
            <a:ext cx="10515600" cy="5032375"/>
          </a:xfrm>
        </p:spPr>
        <p:txBody>
          <a:bodyPr>
            <a:normAutofit fontScale="92500" lnSpcReduction="20000"/>
          </a:bodyPr>
          <a:lstStyle/>
          <a:p>
            <a:r>
              <a:rPr lang="en-GB" b="0" i="0" dirty="0">
                <a:solidFill>
                  <a:srgbClr val="273239"/>
                </a:solidFill>
                <a:effectLst/>
                <a:latin typeface="Nunito" pitchFamily="2" charset="0"/>
              </a:rPr>
              <a:t>The Python document introduces Data Hiding as isolating the user from a part of program implementation. Some objects in the module are kept internal, unseen, and unreachable to the user. Modules in the program are easy enough to understand how to use the application, but the client cannot know how the application functions. </a:t>
            </a:r>
            <a:endParaRPr lang="en-US" b="0" i="0" dirty="0">
              <a:solidFill>
                <a:srgbClr val="273239"/>
              </a:solidFill>
              <a:effectLst/>
              <a:latin typeface="Nunito" pitchFamily="2" charset="0"/>
            </a:endParaRPr>
          </a:p>
          <a:p>
            <a:r>
              <a:rPr lang="en-GB" b="0" i="0" dirty="0">
                <a:solidFill>
                  <a:srgbClr val="273239"/>
                </a:solidFill>
                <a:effectLst/>
                <a:latin typeface="Nunito" pitchFamily="2" charset="0"/>
              </a:rPr>
              <a:t>Thus, data hiding imparts security, along with discarding dependency. Data hiding in Python is the technique to defend access to specific users in the application</a:t>
            </a:r>
            <a:endParaRPr lang="en-US" b="0" i="0" dirty="0">
              <a:solidFill>
                <a:srgbClr val="273239"/>
              </a:solidFill>
              <a:effectLst/>
              <a:latin typeface="Nunito" pitchFamily="2" charset="0"/>
            </a:endParaRPr>
          </a:p>
          <a:p>
            <a:pPr fontAlgn="base"/>
            <a:r>
              <a:rPr lang="en-GB" b="0" i="0" dirty="0">
                <a:solidFill>
                  <a:srgbClr val="273239"/>
                </a:solidFill>
                <a:effectLst/>
                <a:latin typeface="Nunito" pitchFamily="2" charset="0"/>
              </a:rPr>
              <a:t>Data hiding in Python is performed using the __ double underscore before done prefix. This makes the class members non-public and isolated from the other classes.</a:t>
            </a:r>
            <a:endParaRPr lang="en-US" b="0" i="0" dirty="0">
              <a:solidFill>
                <a:srgbClr val="273239"/>
              </a:solidFill>
              <a:effectLst/>
              <a:latin typeface="Nunito" pitchFamily="2" charset="0"/>
            </a:endParaRPr>
          </a:p>
          <a:p>
            <a:pPr fontAlgn="base"/>
            <a:r>
              <a:rPr lang="en-US" dirty="0">
                <a:solidFill>
                  <a:srgbClr val="FF0000"/>
                </a:solidFill>
                <a:latin typeface="Nunito" pitchFamily="2" charset="0"/>
              </a:rPr>
              <a:t>Data hiding in Python is performed using the __ double underscore before done prefix. This makes the class members non-public and isolated from the other classes.</a:t>
            </a:r>
            <a:endParaRPr lang="en-GB" b="0" i="0" dirty="0">
              <a:solidFill>
                <a:srgbClr val="FF0000"/>
              </a:solidFill>
              <a:effectLst/>
              <a:latin typeface="Nunito" pitchFamily="2" charset="0"/>
            </a:endParaRPr>
          </a:p>
          <a:p>
            <a:endParaRPr lang="en-US" dirty="0">
              <a:solidFill>
                <a:srgbClr val="273239"/>
              </a:solidFill>
              <a:latin typeface="Nunito" pitchFamily="2" charset="0"/>
            </a:endParaRPr>
          </a:p>
          <a:p>
            <a:pPr marL="0" indent="0">
              <a:buNone/>
            </a:pPr>
            <a:endParaRPr lang="en-US" dirty="0"/>
          </a:p>
        </p:txBody>
      </p:sp>
    </p:spTree>
    <p:extLst>
      <p:ext uri="{BB962C8B-B14F-4D97-AF65-F5344CB8AC3E}">
        <p14:creationId xmlns:p14="http://schemas.microsoft.com/office/powerpoint/2010/main" val="2673043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E3EA5FAE-1D09-450C-B8F1-010183A9EE3C}"/>
              </a:ext>
            </a:extLst>
          </p:cNvPr>
          <p:cNvSpPr>
            <a:spLocks noGrp="1"/>
          </p:cNvSpPr>
          <p:nvPr>
            <p:ph idx="1"/>
          </p:nvPr>
        </p:nvSpPr>
        <p:spPr/>
        <p:txBody>
          <a:bodyPr/>
          <a:lstStyle/>
          <a:p>
            <a:pPr fontAlgn="base"/>
            <a:r>
              <a:rPr lang="en-GB" b="0" i="0">
                <a:solidFill>
                  <a:srgbClr val="273239"/>
                </a:solidFill>
                <a:effectLst/>
                <a:latin typeface="Nunito" pitchFamily="2" charset="0"/>
              </a:rPr>
              <a:t>It helps to prevent damage or misuse of volatile data by hiding it from the public.</a:t>
            </a:r>
          </a:p>
          <a:p>
            <a:pPr fontAlgn="base"/>
            <a:r>
              <a:rPr lang="en-GB" b="0" i="0">
                <a:solidFill>
                  <a:srgbClr val="273239"/>
                </a:solidFill>
                <a:effectLst/>
                <a:latin typeface="Nunito" pitchFamily="2" charset="0"/>
              </a:rPr>
              <a:t>The class objects are disconnected from the irrelevant data.</a:t>
            </a:r>
          </a:p>
          <a:p>
            <a:pPr fontAlgn="base"/>
            <a:r>
              <a:rPr lang="en-GB" b="0" i="0">
                <a:solidFill>
                  <a:srgbClr val="273239"/>
                </a:solidFill>
                <a:effectLst/>
                <a:latin typeface="Nunito" pitchFamily="2" charset="0"/>
              </a:rPr>
              <a:t>It isolates objects as the basic concept of OOP.</a:t>
            </a:r>
          </a:p>
          <a:p>
            <a:pPr fontAlgn="base"/>
            <a:r>
              <a:rPr lang="en-GB" b="0" i="0">
                <a:solidFill>
                  <a:srgbClr val="273239"/>
                </a:solidFill>
                <a:effectLst/>
                <a:latin typeface="Nunito" pitchFamily="2" charset="0"/>
              </a:rPr>
              <a:t>It increases the security against hackers that are unable to access important data.</a:t>
            </a:r>
          </a:p>
        </p:txBody>
      </p:sp>
      <p:sp>
        <p:nvSpPr>
          <p:cNvPr id="5" name="Title 1">
            <a:extLst>
              <a:ext uri="{FF2B5EF4-FFF2-40B4-BE49-F238E27FC236}">
                <a16:creationId xmlns="" xmlns:a16="http://schemas.microsoft.com/office/drawing/2014/main" id="{0EEDCC0E-582C-76FC-53FD-C43D6BF9B302}"/>
              </a:ext>
            </a:extLst>
          </p:cNvPr>
          <p:cNvSpPr txBox="1">
            <a:spLocks noGrp="1"/>
          </p:cNvSpPr>
          <p:nvPr>
            <p:ph type="title"/>
          </p:nvPr>
        </p:nvSpPr>
        <p:spPr>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base"/>
            <a:r>
              <a:rPr lang="en-GB" b="1" dirty="0">
                <a:solidFill>
                  <a:srgbClr val="273239"/>
                </a:solidFill>
                <a:latin typeface="Nunito" pitchFamily="2" charset="0"/>
              </a:rPr>
              <a:t>Advantages of Data Hiding:</a:t>
            </a:r>
          </a:p>
        </p:txBody>
      </p:sp>
    </p:spTree>
    <p:extLst>
      <p:ext uri="{BB962C8B-B14F-4D97-AF65-F5344CB8AC3E}">
        <p14:creationId xmlns:p14="http://schemas.microsoft.com/office/powerpoint/2010/main" val="32171937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E2D2E9-91A2-1707-9256-E3762528569B}"/>
              </a:ext>
            </a:extLst>
          </p:cNvPr>
          <p:cNvSpPr>
            <a:spLocks noGrp="1"/>
          </p:cNvSpPr>
          <p:nvPr>
            <p:ph type="title"/>
          </p:nvPr>
        </p:nvSpPr>
        <p:spPr/>
        <p:txBody>
          <a:bodyPr/>
          <a:lstStyle/>
          <a:p>
            <a:pPr fontAlgn="base"/>
            <a:r>
              <a:rPr lang="en-GB" b="1" i="0">
                <a:solidFill>
                  <a:srgbClr val="273239"/>
                </a:solidFill>
                <a:effectLst/>
                <a:latin typeface="Nunito" pitchFamily="2" charset="0"/>
              </a:rPr>
              <a:t>Disadvantages of Data Hiding:</a:t>
            </a:r>
          </a:p>
        </p:txBody>
      </p:sp>
      <p:sp>
        <p:nvSpPr>
          <p:cNvPr id="3" name="Content Placeholder 2">
            <a:extLst>
              <a:ext uri="{FF2B5EF4-FFF2-40B4-BE49-F238E27FC236}">
                <a16:creationId xmlns="" xmlns:a16="http://schemas.microsoft.com/office/drawing/2014/main" id="{F9122AE5-25E2-C099-FD97-A68116CCC8AF}"/>
              </a:ext>
            </a:extLst>
          </p:cNvPr>
          <p:cNvSpPr>
            <a:spLocks noGrp="1"/>
          </p:cNvSpPr>
          <p:nvPr>
            <p:ph idx="1"/>
          </p:nvPr>
        </p:nvSpPr>
        <p:spPr/>
        <p:txBody>
          <a:bodyPr/>
          <a:lstStyle/>
          <a:p>
            <a:pPr fontAlgn="base"/>
            <a:r>
              <a:rPr lang="en-GB" b="0" i="0">
                <a:solidFill>
                  <a:srgbClr val="273239"/>
                </a:solidFill>
                <a:effectLst/>
                <a:latin typeface="Nunito" pitchFamily="2" charset="0"/>
              </a:rPr>
              <a:t>It enables programmers to write lengthy code to hide important data from common clients.</a:t>
            </a:r>
          </a:p>
          <a:p>
            <a:pPr fontAlgn="base"/>
            <a:r>
              <a:rPr lang="en-GB" b="0" i="0">
                <a:solidFill>
                  <a:srgbClr val="273239"/>
                </a:solidFill>
                <a:effectLst/>
                <a:latin typeface="Nunito" pitchFamily="2" charset="0"/>
              </a:rPr>
              <a:t>The linkage between the visible and invisible data makes the objects work faster, but data hiding prevents this linkage.</a:t>
            </a:r>
          </a:p>
        </p:txBody>
      </p:sp>
    </p:spTree>
    <p:extLst>
      <p:ext uri="{BB962C8B-B14F-4D97-AF65-F5344CB8AC3E}">
        <p14:creationId xmlns:p14="http://schemas.microsoft.com/office/powerpoint/2010/main" val="2119909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 xmlns:a16="http://schemas.microsoft.com/office/drawing/2014/main" id="{FA078496-CF9E-96D3-E7CA-7E6E6166D0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6744" y="309830"/>
            <a:ext cx="9465213" cy="4751338"/>
          </a:xfrm>
          <a:prstGeom prst="rect">
            <a:avLst/>
          </a:prstGeom>
        </p:spPr>
      </p:pic>
      <p:pic>
        <p:nvPicPr>
          <p:cNvPr id="5" name="Picture 4">
            <a:extLst>
              <a:ext uri="{FF2B5EF4-FFF2-40B4-BE49-F238E27FC236}">
                <a16:creationId xmlns="" xmlns:a16="http://schemas.microsoft.com/office/drawing/2014/main" id="{6C46816F-51F4-AF99-50AC-523B30DFD6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4111" y="5216246"/>
            <a:ext cx="8128000" cy="1641754"/>
          </a:xfrm>
          <a:prstGeom prst="rect">
            <a:avLst/>
          </a:prstGeom>
        </p:spPr>
      </p:pic>
    </p:spTree>
    <p:extLst>
      <p:ext uri="{BB962C8B-B14F-4D97-AF65-F5344CB8AC3E}">
        <p14:creationId xmlns:p14="http://schemas.microsoft.com/office/powerpoint/2010/main" val="31324968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762D99A-17BA-1359-0E39-991EA17820D6}"/>
              </a:ext>
            </a:extLst>
          </p:cNvPr>
          <p:cNvSpPr>
            <a:spLocks noGrp="1"/>
          </p:cNvSpPr>
          <p:nvPr>
            <p:ph type="title"/>
          </p:nvPr>
        </p:nvSpPr>
        <p:spPr>
          <a:xfrm>
            <a:off x="838200" y="0"/>
            <a:ext cx="10515600" cy="1325563"/>
          </a:xfrm>
        </p:spPr>
        <p:txBody>
          <a:bodyPr>
            <a:normAutofit fontScale="90000"/>
          </a:bodyPr>
          <a:lstStyle/>
          <a:p>
            <a:r>
              <a:rPr lang="en-GB" b="1" i="0">
                <a:solidFill>
                  <a:srgbClr val="273239"/>
                </a:solidFill>
                <a:effectLst/>
                <a:latin typeface="Nunito" pitchFamily="2" charset="0"/>
              </a:rPr>
              <a:t>To rectify the error, we can access the private member through the class name :</a:t>
            </a:r>
            <a:endParaRPr lang="en-US"/>
          </a:p>
        </p:txBody>
      </p:sp>
      <p:pic>
        <p:nvPicPr>
          <p:cNvPr id="4" name="Picture 3">
            <a:extLst>
              <a:ext uri="{FF2B5EF4-FFF2-40B4-BE49-F238E27FC236}">
                <a16:creationId xmlns="" xmlns:a16="http://schemas.microsoft.com/office/drawing/2014/main" id="{5431635A-9E89-8AC2-3B06-85DFC55283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4035" y="1690689"/>
            <a:ext cx="7242145" cy="5167312"/>
          </a:xfrm>
          <a:prstGeom prst="rect">
            <a:avLst/>
          </a:prstGeom>
        </p:spPr>
      </p:pic>
      <p:pic>
        <p:nvPicPr>
          <p:cNvPr id="5" name="Picture 4">
            <a:extLst>
              <a:ext uri="{FF2B5EF4-FFF2-40B4-BE49-F238E27FC236}">
                <a16:creationId xmlns="" xmlns:a16="http://schemas.microsoft.com/office/drawing/2014/main" id="{4B84FB17-0C48-0F37-43C5-31D5EB1B5C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73489" y="1690688"/>
            <a:ext cx="2905125" cy="4610100"/>
          </a:xfrm>
          <a:prstGeom prst="rect">
            <a:avLst/>
          </a:prstGeom>
        </p:spPr>
      </p:pic>
    </p:spTree>
    <p:extLst>
      <p:ext uri="{BB962C8B-B14F-4D97-AF65-F5344CB8AC3E}">
        <p14:creationId xmlns:p14="http://schemas.microsoft.com/office/powerpoint/2010/main" val="92083604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26E262-08A8-5F6C-16F7-9ABFB72CFAFE}"/>
              </a:ext>
            </a:extLst>
          </p:cNvPr>
          <p:cNvSpPr>
            <a:spLocks noGrp="1"/>
          </p:cNvSpPr>
          <p:nvPr>
            <p:ph type="title"/>
          </p:nvPr>
        </p:nvSpPr>
        <p:spPr>
          <a:xfrm>
            <a:off x="3086336" y="2589597"/>
            <a:ext cx="10515600" cy="1325563"/>
          </a:xfrm>
        </p:spPr>
        <p:txBody>
          <a:bodyPr>
            <a:noAutofit/>
          </a:bodyPr>
          <a:lstStyle/>
          <a:p>
            <a:r>
              <a:rPr lang="en-US" sz="9600" b="1" dirty="0">
                <a:solidFill>
                  <a:schemeClr val="accent6">
                    <a:lumMod val="60000"/>
                    <a:lumOff val="40000"/>
                  </a:schemeClr>
                </a:solidFill>
              </a:rPr>
              <a:t>Thank you!</a:t>
            </a:r>
          </a:p>
        </p:txBody>
      </p:sp>
    </p:spTree>
    <p:extLst>
      <p:ext uri="{BB962C8B-B14F-4D97-AF65-F5344CB8AC3E}">
        <p14:creationId xmlns:p14="http://schemas.microsoft.com/office/powerpoint/2010/main" val="39911406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TotalTime>
  <Words>1923</Words>
  <Application>Microsoft Office PowerPoint</Application>
  <PresentationFormat>Custom</PresentationFormat>
  <Paragraphs>138</Paragraphs>
  <Slides>47</Slides>
  <Notes>0</Notes>
  <HiddenSlides>0</HiddenSlides>
  <MMClips>0</MMClips>
  <ScaleCrop>false</ScaleCrop>
  <HeadingPairs>
    <vt:vector size="4" baseType="variant">
      <vt:variant>
        <vt:lpstr>Theme</vt:lpstr>
      </vt:variant>
      <vt:variant>
        <vt:i4>1</vt:i4>
      </vt:variant>
      <vt:variant>
        <vt:lpstr>Slide Titles</vt:lpstr>
      </vt:variant>
      <vt:variant>
        <vt:i4>47</vt:i4>
      </vt:variant>
    </vt:vector>
  </HeadingPairs>
  <TitlesOfParts>
    <vt:vector size="48" baseType="lpstr">
      <vt:lpstr>Office Theme</vt:lpstr>
      <vt:lpstr>OOPs in Python</vt:lpstr>
      <vt:lpstr>PowerPoint Presentation</vt:lpstr>
      <vt:lpstr>Why oops ….????</vt:lpstr>
      <vt:lpstr>Disadvantages of OOP</vt:lpstr>
      <vt:lpstr>OOPs Concepts in Python</vt:lpstr>
      <vt:lpstr>Python Class </vt:lpstr>
      <vt:lpstr>PowerPoint Presentation</vt:lpstr>
      <vt:lpstr>Class Definition Syntax:</vt:lpstr>
      <vt:lpstr>Creating an Empty Class in Python</vt:lpstr>
      <vt:lpstr>Python Objects: An Object is an instance of a Class</vt:lpstr>
      <vt:lpstr>An object of python class consists of:</vt:lpstr>
      <vt:lpstr>To understand the state, behavior, and identity let us take the example of the class dog (explained above).</vt:lpstr>
      <vt:lpstr>Declaring Claas Objects (Also called instantiating a class)</vt:lpstr>
      <vt:lpstr>Creating an Object</vt:lpstr>
      <vt:lpstr>The Python self  </vt:lpstr>
      <vt:lpstr>PowerPoint Presentation</vt:lpstr>
      <vt:lpstr>When an object of a class is created, the class is said to be instantiated. All the instances share the attributes and the behavior of the class. But the values of those attributes, i.e. the state are unique for each object. A single class may have any number of instances.</vt:lpstr>
      <vt:lpstr>Explanation:</vt:lpstr>
      <vt:lpstr>What is the use of self in Python?</vt:lpstr>
      <vt:lpstr>Is self in Python a Keyword?</vt:lpstr>
      <vt:lpstr>The Python __init__ Method </vt:lpstr>
      <vt:lpstr>Creating a class and object with class and instance attributes</vt:lpstr>
      <vt:lpstr>Creating Classes and objects with methods</vt:lpstr>
      <vt:lpstr>PowerPoint Presentation</vt:lpstr>
      <vt:lpstr>Python Inheritance</vt:lpstr>
      <vt:lpstr>Benefits of inheritance are:</vt:lpstr>
      <vt:lpstr>Types of Inheritance</vt:lpstr>
      <vt:lpstr>Python Inheritance Syntax</vt:lpstr>
      <vt:lpstr>Creating a Parent Class</vt:lpstr>
      <vt:lpstr>Creating a Child Class</vt:lpstr>
      <vt:lpstr>Example of Inheritance in Python </vt:lpstr>
      <vt:lpstr>PowerPoint Presentation</vt:lpstr>
      <vt:lpstr>Overloading &amp; Overriding</vt:lpstr>
      <vt:lpstr>Method Overloading:</vt:lpstr>
      <vt:lpstr>PowerPoint Presentation</vt:lpstr>
      <vt:lpstr>PowerPoint Presentation</vt:lpstr>
      <vt:lpstr>Method Overriding in Python</vt:lpstr>
      <vt:lpstr>The version of a method that is executed will be determined by the object that is used to invoke it. If an object of a parent class is used to invoke the method, then the version in the parent class will be executed, but if an object of the subclass is used to invoke the method, then the version in the child class will be executed. In other words, it is the type of the object being referred to (not the type of the reference variable) that determines which version of an overridden method will be executed.  </vt:lpstr>
      <vt:lpstr>Output:</vt:lpstr>
      <vt:lpstr>PowerPoint Presentation</vt:lpstr>
      <vt:lpstr>Data Hiding</vt:lpstr>
      <vt:lpstr>Data Hiding in Python:</vt:lpstr>
      <vt:lpstr>Advantages of Data Hiding:</vt:lpstr>
      <vt:lpstr>Disadvantages of Data Hiding:</vt:lpstr>
      <vt:lpstr>PowerPoint Presentation</vt:lpstr>
      <vt:lpstr>To rectify the error, we can access the private member through the class name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OOPs in Python</dc:title>
  <dc:creator>Jaipuria School Pratapgarh Campus</dc:creator>
  <cp:lastModifiedBy>HP</cp:lastModifiedBy>
  <cp:revision>12</cp:revision>
  <dcterms:created xsi:type="dcterms:W3CDTF">2023-11-29T15:26:12Z</dcterms:created>
  <dcterms:modified xsi:type="dcterms:W3CDTF">2023-12-06T17:24:24Z</dcterms:modified>
</cp:coreProperties>
</file>