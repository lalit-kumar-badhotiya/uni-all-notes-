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6F33D-0C04-4603-8D7A-B36EAF892099}" type="datetimeFigureOut">
              <a:rPr lang="en-IN" smtClean="0"/>
              <a:t>04-12-2023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200A6-2CB3-46E5-AC68-575100A97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619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6F33D-0C04-4603-8D7A-B36EAF892099}" type="datetimeFigureOut">
              <a:rPr lang="en-IN" smtClean="0"/>
              <a:t>04-12-2023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200A6-2CB3-46E5-AC68-575100A97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981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6F33D-0C04-4603-8D7A-B36EAF892099}" type="datetimeFigureOut">
              <a:rPr lang="en-IN" smtClean="0"/>
              <a:t>04-12-2023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200A6-2CB3-46E5-AC68-575100A97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10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6F33D-0C04-4603-8D7A-B36EAF892099}" type="datetimeFigureOut">
              <a:rPr lang="en-IN" smtClean="0"/>
              <a:t>04-12-2023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200A6-2CB3-46E5-AC68-575100A97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396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6F33D-0C04-4603-8D7A-B36EAF892099}" type="datetimeFigureOut">
              <a:rPr lang="en-IN" smtClean="0"/>
              <a:t>04-12-2023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200A6-2CB3-46E5-AC68-575100A97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113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6F33D-0C04-4603-8D7A-B36EAF892099}" type="datetimeFigureOut">
              <a:rPr lang="en-IN" smtClean="0"/>
              <a:t>04-12-2023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200A6-2CB3-46E5-AC68-575100A97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212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6F33D-0C04-4603-8D7A-B36EAF892099}" type="datetimeFigureOut">
              <a:rPr lang="en-IN" smtClean="0"/>
              <a:t>04-12-2023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200A6-2CB3-46E5-AC68-575100A97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275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6F33D-0C04-4603-8D7A-B36EAF892099}" type="datetimeFigureOut">
              <a:rPr lang="en-IN" smtClean="0"/>
              <a:t>04-12-2023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200A6-2CB3-46E5-AC68-575100A97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187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6F33D-0C04-4603-8D7A-B36EAF892099}" type="datetimeFigureOut">
              <a:rPr lang="en-IN" smtClean="0"/>
              <a:t>04-12-2023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200A6-2CB3-46E5-AC68-575100A97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456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6F33D-0C04-4603-8D7A-B36EAF892099}" type="datetimeFigureOut">
              <a:rPr lang="en-IN" smtClean="0"/>
              <a:t>04-12-2023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200A6-2CB3-46E5-AC68-575100A97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575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6F33D-0C04-4603-8D7A-B36EAF892099}" type="datetimeFigureOut">
              <a:rPr lang="en-IN" smtClean="0"/>
              <a:t>04-12-2023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200A6-2CB3-46E5-AC68-575100A97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055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F6F33D-0C04-4603-8D7A-B36EAF892099}" type="datetimeFigureOut">
              <a:rPr lang="en-IN" smtClean="0"/>
              <a:t>04-12-2023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F200A6-2CB3-46E5-AC68-575100A97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001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1963" y="214045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N" dirty="0"/>
              <a:t>Python Graphical Programming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1646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1506"/>
          </a:xfrm>
        </p:spPr>
        <p:txBody>
          <a:bodyPr/>
          <a:lstStyle/>
          <a:p>
            <a:r>
              <a:rPr lang="en-US" dirty="0"/>
              <a:t>What is Python Graphical Programming</a:t>
            </a:r>
            <a:r>
              <a:rPr lang="en-US" dirty="0" smtClean="0"/>
              <a:t>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+mj-lt"/>
              </a:rPr>
              <a:t>Create </a:t>
            </a:r>
            <a:r>
              <a:rPr lang="en-US" dirty="0">
                <a:latin typeface="+mj-lt"/>
              </a:rPr>
              <a:t>graphical user interfaces (GUIs) for different </a:t>
            </a:r>
            <a:r>
              <a:rPr lang="en-US" dirty="0" smtClean="0">
                <a:latin typeface="+mj-lt"/>
              </a:rPr>
              <a:t>applications</a:t>
            </a:r>
          </a:p>
          <a:p>
            <a:r>
              <a:rPr lang="en-US" dirty="0">
                <a:latin typeface="+mj-lt"/>
              </a:rPr>
              <a:t>This can include desktop applications, web applications, and mobile applications</a:t>
            </a:r>
            <a:r>
              <a:rPr lang="en-US" dirty="0" smtClean="0">
                <a:latin typeface="+mj-lt"/>
              </a:rPr>
              <a:t>.</a:t>
            </a:r>
          </a:p>
          <a:p>
            <a:r>
              <a:rPr lang="en-US" dirty="0">
                <a:latin typeface="+mj-lt"/>
              </a:rPr>
              <a:t>Python provides various libraries and frameworks for creating graphical interfaces, such as Tkinter, </a:t>
            </a:r>
            <a:r>
              <a:rPr lang="en-US" dirty="0" err="1">
                <a:latin typeface="+mj-lt"/>
              </a:rPr>
              <a:t>PyQt</a:t>
            </a:r>
            <a:r>
              <a:rPr lang="en-US" dirty="0">
                <a:latin typeface="+mj-lt"/>
              </a:rPr>
              <a:t>, </a:t>
            </a:r>
            <a:r>
              <a:rPr lang="en-US" dirty="0" err="1">
                <a:latin typeface="+mj-lt"/>
              </a:rPr>
              <a:t>wxPython</a:t>
            </a:r>
            <a:r>
              <a:rPr lang="en-US" dirty="0">
                <a:latin typeface="+mj-lt"/>
              </a:rPr>
              <a:t>, </a:t>
            </a:r>
            <a:r>
              <a:rPr lang="en-US" dirty="0" err="1">
                <a:latin typeface="+mj-lt"/>
              </a:rPr>
              <a:t>PyGTK</a:t>
            </a:r>
            <a:r>
              <a:rPr lang="en-US" dirty="0">
                <a:latin typeface="+mj-lt"/>
              </a:rPr>
              <a:t>, </a:t>
            </a:r>
            <a:r>
              <a:rPr lang="en-US" dirty="0" err="1">
                <a:latin typeface="+mj-lt"/>
              </a:rPr>
              <a:t>PySide</a:t>
            </a:r>
            <a:r>
              <a:rPr lang="en-US" dirty="0">
                <a:latin typeface="+mj-lt"/>
              </a:rPr>
              <a:t>, and </a:t>
            </a:r>
            <a:r>
              <a:rPr lang="en-US" dirty="0" err="1" smtClean="0">
                <a:latin typeface="+mj-lt"/>
              </a:rPr>
              <a:t>Kivy</a:t>
            </a:r>
            <a:endParaRPr lang="en-US" dirty="0" smtClean="0">
              <a:latin typeface="+mj-lt"/>
            </a:endParaRPr>
          </a:p>
          <a:p>
            <a:r>
              <a:rPr lang="en-US" dirty="0">
                <a:latin typeface="+mj-lt"/>
              </a:rPr>
              <a:t>These libraries and frameworks provide various widgets, such as buttons, labels, text boxes, and menus, that can be used to create visually appealing and user-friendly </a:t>
            </a:r>
            <a:r>
              <a:rPr lang="en-US" dirty="0" smtClean="0">
                <a:latin typeface="+mj-lt"/>
              </a:rPr>
              <a:t>interfaces.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9700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156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Python GUI </a:t>
            </a:r>
            <a:r>
              <a:rPr lang="en-IN" b="1" dirty="0" smtClean="0"/>
              <a:t>–  </a:t>
            </a:r>
            <a:r>
              <a:rPr lang="en-IN" b="1" dirty="0" err="1" smtClean="0"/>
              <a:t>tkinter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a standard Python interface to the </a:t>
            </a:r>
            <a:r>
              <a:rPr lang="en-US" dirty="0" err="1"/>
              <a:t>Tk</a:t>
            </a:r>
            <a:r>
              <a:rPr lang="en-US" dirty="0"/>
              <a:t> GUI toolkit shipped with </a:t>
            </a:r>
            <a:r>
              <a:rPr lang="en-US" dirty="0" smtClean="0"/>
              <a:t>Python</a:t>
            </a:r>
          </a:p>
          <a:p>
            <a:r>
              <a:rPr lang="en-US" dirty="0"/>
              <a:t>tkinter is the fastest and easiest way to create GUI </a:t>
            </a:r>
            <a:r>
              <a:rPr lang="en-US" dirty="0" smtClean="0"/>
              <a:t>applications</a:t>
            </a:r>
          </a:p>
          <a:p>
            <a:pPr fontAlgn="base"/>
            <a:r>
              <a:rPr lang="en-US" b="1" dirty="0"/>
              <a:t>To create a tkinter Python app:</a:t>
            </a:r>
            <a:endParaRPr lang="en-US" dirty="0"/>
          </a:p>
          <a:p>
            <a:pPr marL="971550" lvl="1" indent="-514350" fontAlgn="base">
              <a:buFont typeface="+mj-lt"/>
              <a:buAutoNum type="arabicPeriod"/>
            </a:pPr>
            <a:r>
              <a:rPr lang="en-US" sz="2600" dirty="0"/>
              <a:t>Importing the module – tkinter</a:t>
            </a:r>
          </a:p>
          <a:p>
            <a:pPr marL="971550" lvl="1" indent="-514350" fontAlgn="base">
              <a:buFont typeface="+mj-lt"/>
              <a:buAutoNum type="arabicPeriod"/>
            </a:pPr>
            <a:r>
              <a:rPr lang="en-US" sz="2600" dirty="0"/>
              <a:t>Create the main window (container)</a:t>
            </a:r>
          </a:p>
          <a:p>
            <a:pPr marL="971550" lvl="1" indent="-514350" fontAlgn="base">
              <a:buFont typeface="+mj-lt"/>
              <a:buAutoNum type="arabicPeriod"/>
            </a:pPr>
            <a:r>
              <a:rPr lang="en-US" sz="2600" dirty="0"/>
              <a:t>Add any number of widgets to the main window</a:t>
            </a:r>
          </a:p>
          <a:p>
            <a:pPr marL="971550" lvl="1" indent="-514350" fontAlgn="base">
              <a:buFont typeface="+mj-lt"/>
              <a:buAutoNum type="arabicPeriod"/>
            </a:pPr>
            <a:r>
              <a:rPr lang="en-US" sz="2600" dirty="0"/>
              <a:t>Apply the event Trigger on the widgets.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5325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7072"/>
            <a:ext cx="10515600" cy="5799891"/>
          </a:xfrm>
        </p:spPr>
        <p:txBody>
          <a:bodyPr/>
          <a:lstStyle/>
          <a:p>
            <a:r>
              <a:rPr lang="en-US" dirty="0"/>
              <a:t>Importing a tkinter is the same as importing any other module in the Python code</a:t>
            </a:r>
            <a:r>
              <a:rPr lang="en-US" dirty="0" smtClean="0"/>
              <a:t>.</a:t>
            </a:r>
          </a:p>
          <a:p>
            <a:pPr lvl="1"/>
            <a:r>
              <a:rPr lang="en-US" altLang="en-US" dirty="0">
                <a:solidFill>
                  <a:srgbClr val="273239"/>
                </a:solidFill>
                <a:latin typeface="Consolas" panose="020B0609020204030204" pitchFamily="49" charset="0"/>
              </a:rPr>
              <a:t>import </a:t>
            </a:r>
            <a:r>
              <a:rPr lang="en-US" altLang="en-US" dirty="0" smtClean="0">
                <a:solidFill>
                  <a:srgbClr val="273239"/>
                </a:solidFill>
                <a:latin typeface="Consolas" panose="020B0609020204030204" pitchFamily="49" charset="0"/>
              </a:rPr>
              <a:t>tkinter</a:t>
            </a:r>
          </a:p>
          <a:p>
            <a:pPr marL="228600" lvl="1">
              <a:spcBef>
                <a:spcPts val="1000"/>
              </a:spcBef>
            </a:pPr>
            <a:r>
              <a:rPr lang="en-US" sz="2800" dirty="0"/>
              <a:t>There are two main methods used which the user needs to remember while creating the </a:t>
            </a:r>
            <a:r>
              <a:rPr lang="en-US" sz="2800" dirty="0" smtClean="0"/>
              <a:t>Python </a:t>
            </a:r>
            <a:r>
              <a:rPr lang="en-US" sz="2800" dirty="0"/>
              <a:t>application with GUI</a:t>
            </a:r>
            <a:r>
              <a:rPr lang="en-US" sz="2800" dirty="0" smtClean="0"/>
              <a:t>.</a:t>
            </a:r>
          </a:p>
          <a:p>
            <a:pPr marL="685800" lvl="2">
              <a:spcBef>
                <a:spcPts val="1000"/>
              </a:spcBef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m=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tkinter.Tk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#where m is the name of the main window object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85800" lvl="2">
              <a:spcBef>
                <a:spcPts val="1000"/>
              </a:spcBef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m.mainloop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2" indent="0">
              <a:spcBef>
                <a:spcPts val="1000"/>
              </a:spcBef>
              <a:buNone/>
            </a:pPr>
            <a:endParaRPr lang="en-IN" alt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1106078" y="4031846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smtClean="0"/>
              <a:t>import tkinter</a:t>
            </a:r>
          </a:p>
          <a:p>
            <a:r>
              <a:rPr lang="en-IN" dirty="0" smtClean="0"/>
              <a:t>m = </a:t>
            </a:r>
            <a:r>
              <a:rPr lang="en-IN" dirty="0" err="1" smtClean="0"/>
              <a:t>tkinter.Tk</a:t>
            </a:r>
            <a:r>
              <a:rPr lang="en-IN" dirty="0" smtClean="0"/>
              <a:t>()</a:t>
            </a:r>
          </a:p>
          <a:p>
            <a:r>
              <a:rPr lang="en-IN" dirty="0" smtClean="0"/>
              <a:t>'''</a:t>
            </a:r>
          </a:p>
          <a:p>
            <a:r>
              <a:rPr lang="en-IN" dirty="0" smtClean="0"/>
              <a:t>Widgets are added here</a:t>
            </a:r>
          </a:p>
          <a:p>
            <a:r>
              <a:rPr lang="en-IN" dirty="0" smtClean="0"/>
              <a:t>'''</a:t>
            </a:r>
          </a:p>
          <a:p>
            <a:r>
              <a:rPr lang="en-IN" dirty="0" err="1" smtClean="0"/>
              <a:t>m.mainloop</a:t>
            </a:r>
            <a:r>
              <a:rPr lang="en-IN" dirty="0" smtClean="0"/>
              <a:t>()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9138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14779"/>
            <a:ext cx="10515600" cy="5762184"/>
          </a:xfrm>
        </p:spPr>
        <p:txBody>
          <a:bodyPr/>
          <a:lstStyle/>
          <a:p>
            <a:r>
              <a:rPr lang="en-IN" dirty="0"/>
              <a:t> </a:t>
            </a:r>
            <a:r>
              <a:rPr lang="en-IN" dirty="0" smtClean="0"/>
              <a:t>Three </a:t>
            </a:r>
            <a:r>
              <a:rPr lang="en-IN" dirty="0"/>
              <a:t>geometry manager </a:t>
            </a:r>
            <a:r>
              <a:rPr lang="en-IN" dirty="0" smtClean="0"/>
              <a:t>classes</a:t>
            </a:r>
          </a:p>
          <a:p>
            <a:endParaRPr lang="en-IN" dirty="0" smtClean="0"/>
          </a:p>
          <a:p>
            <a:pPr fontAlgn="base"/>
            <a:r>
              <a:rPr lang="en-US" b="1" dirty="0"/>
              <a:t>pack() method</a:t>
            </a:r>
            <a:r>
              <a:rPr lang="en-US" b="1" dirty="0" smtClean="0"/>
              <a:t>: </a:t>
            </a:r>
            <a:r>
              <a:rPr lang="en-US" dirty="0" smtClean="0"/>
              <a:t>It organises </a:t>
            </a:r>
            <a:r>
              <a:rPr lang="en-US" dirty="0"/>
              <a:t>the widgets in blocks before placing </a:t>
            </a:r>
            <a:r>
              <a:rPr lang="en-US" dirty="0" smtClean="0"/>
              <a:t>them in </a:t>
            </a:r>
            <a:r>
              <a:rPr lang="en-US" dirty="0"/>
              <a:t>the parent widget</a:t>
            </a:r>
            <a:r>
              <a:rPr lang="en-US" dirty="0" smtClean="0"/>
              <a:t>.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grid() method</a:t>
            </a:r>
            <a:r>
              <a:rPr lang="en-US" b="1" dirty="0" smtClean="0"/>
              <a:t>: </a:t>
            </a:r>
            <a:r>
              <a:rPr lang="en-US" dirty="0" smtClean="0"/>
              <a:t>It organises </a:t>
            </a:r>
            <a:r>
              <a:rPr lang="en-US" dirty="0"/>
              <a:t>the widgets in </a:t>
            </a:r>
            <a:r>
              <a:rPr lang="en-US" dirty="0" smtClean="0"/>
              <a:t>the grid </a:t>
            </a:r>
            <a:r>
              <a:rPr lang="en-US" dirty="0"/>
              <a:t>(table-like structure) before placing </a:t>
            </a:r>
            <a:r>
              <a:rPr lang="en-US" dirty="0" smtClean="0"/>
              <a:t>them in </a:t>
            </a:r>
            <a:r>
              <a:rPr lang="en-US" dirty="0"/>
              <a:t>the parent widget</a:t>
            </a:r>
            <a:r>
              <a:rPr lang="en-US" dirty="0" smtClean="0"/>
              <a:t>.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place() method</a:t>
            </a:r>
            <a:r>
              <a:rPr lang="en-US" b="1" dirty="0" smtClean="0"/>
              <a:t>: </a:t>
            </a:r>
            <a:r>
              <a:rPr lang="en-US" dirty="0" smtClean="0"/>
              <a:t>It organises </a:t>
            </a:r>
            <a:r>
              <a:rPr lang="en-US" dirty="0"/>
              <a:t>the widgets by placing them </a:t>
            </a:r>
            <a:r>
              <a:rPr lang="en-US" dirty="0" smtClean="0"/>
              <a:t>in </a:t>
            </a:r>
            <a:r>
              <a:rPr lang="en-US" dirty="0"/>
              <a:t>specific positions directed by the programmer.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0184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7555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 smtClean="0"/>
              <a:t>Widgets which you can put in your tkinter application.</a:t>
            </a:r>
            <a:endParaRPr lang="en-IN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7466" y="1264763"/>
            <a:ext cx="4374823" cy="5064600"/>
          </a:xfrm>
        </p:spPr>
        <p:txBody>
          <a:bodyPr>
            <a:normAutofit/>
          </a:bodyPr>
          <a:lstStyle/>
          <a:p>
            <a:r>
              <a:rPr lang="en-IN" b="1" dirty="0" err="1" smtClean="0"/>
              <a:t>RadioButton</a:t>
            </a:r>
            <a:endParaRPr lang="en-IN" b="1" dirty="0" smtClean="0"/>
          </a:p>
          <a:p>
            <a:r>
              <a:rPr lang="en-IN" b="1" dirty="0" smtClean="0"/>
              <a:t>Scale</a:t>
            </a:r>
          </a:p>
          <a:p>
            <a:r>
              <a:rPr lang="en-IN" b="1" dirty="0" smtClean="0"/>
              <a:t>Scrollbar</a:t>
            </a:r>
          </a:p>
          <a:p>
            <a:r>
              <a:rPr lang="en-IN" b="1" dirty="0" smtClean="0"/>
              <a:t>Text</a:t>
            </a:r>
          </a:p>
          <a:p>
            <a:r>
              <a:rPr lang="en-IN" b="1" dirty="0" err="1" smtClean="0"/>
              <a:t>TopLevel</a:t>
            </a:r>
            <a:endParaRPr lang="en-IN" b="1" dirty="0" smtClean="0"/>
          </a:p>
          <a:p>
            <a:r>
              <a:rPr lang="en-IN" b="1" dirty="0" err="1" smtClean="0"/>
              <a:t>SpinBox</a:t>
            </a:r>
            <a:endParaRPr lang="en-IN" b="1" dirty="0" smtClean="0"/>
          </a:p>
          <a:p>
            <a:endParaRPr lang="en-IN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990600" y="1264763"/>
            <a:ext cx="4374823" cy="50646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 smtClean="0"/>
              <a:t>Button</a:t>
            </a:r>
          </a:p>
          <a:p>
            <a:r>
              <a:rPr lang="en-IN" b="1" dirty="0" smtClean="0"/>
              <a:t>Canvas</a:t>
            </a:r>
          </a:p>
          <a:p>
            <a:r>
              <a:rPr lang="en-IN" b="1" dirty="0" err="1" smtClean="0"/>
              <a:t>CheckButton</a:t>
            </a:r>
            <a:endParaRPr lang="en-IN" b="1" dirty="0" smtClean="0"/>
          </a:p>
          <a:p>
            <a:r>
              <a:rPr lang="en-IN" b="1" dirty="0" smtClean="0"/>
              <a:t>Entry</a:t>
            </a:r>
          </a:p>
          <a:p>
            <a:r>
              <a:rPr lang="en-IN" b="1" dirty="0" smtClean="0"/>
              <a:t>Frame</a:t>
            </a:r>
          </a:p>
          <a:p>
            <a:r>
              <a:rPr lang="en-IN" b="1" dirty="0" smtClean="0"/>
              <a:t>Label</a:t>
            </a:r>
          </a:p>
          <a:p>
            <a:r>
              <a:rPr lang="en-IN" b="1" dirty="0" err="1" smtClean="0"/>
              <a:t>Listbox</a:t>
            </a:r>
            <a:endParaRPr lang="en-IN" b="1" dirty="0" smtClean="0"/>
          </a:p>
          <a:p>
            <a:r>
              <a:rPr lang="en-IN" b="1" dirty="0" err="1" smtClean="0"/>
              <a:t>MenuButton</a:t>
            </a:r>
            <a:endParaRPr lang="en-IN" b="1" dirty="0" smtClean="0"/>
          </a:p>
          <a:p>
            <a:r>
              <a:rPr lang="en-IN" b="1" dirty="0" smtClean="0"/>
              <a:t>Menu</a:t>
            </a:r>
          </a:p>
          <a:p>
            <a:r>
              <a:rPr lang="en-IN" b="1" dirty="0" smtClean="0"/>
              <a:t>Message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7454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5442"/>
            <a:ext cx="10515600" cy="624689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Button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6887"/>
            <a:ext cx="9917784" cy="507162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altLang="en-US" dirty="0" smtClean="0">
                <a:solidFill>
                  <a:srgbClr val="273239"/>
                </a:solidFill>
                <a:latin typeface="Consolas" panose="020B0609020204030204" pitchFamily="49" charset="0"/>
              </a:rPr>
              <a:t>	w=Button(m, </a:t>
            </a:r>
            <a:r>
              <a:rPr lang="en-US" altLang="en-US" dirty="0">
                <a:solidFill>
                  <a:srgbClr val="273239"/>
                </a:solidFill>
                <a:latin typeface="Consolas" panose="020B0609020204030204" pitchFamily="49" charset="0"/>
              </a:rPr>
              <a:t>option=value)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dirty="0"/>
              <a:t>Some of them are listed </a:t>
            </a:r>
            <a:r>
              <a:rPr lang="en-US" dirty="0" smtClean="0"/>
              <a:t>below</a:t>
            </a:r>
          </a:p>
          <a:p>
            <a:pPr lvl="1" fontAlgn="base"/>
            <a:r>
              <a:rPr lang="en-US" b="1" dirty="0" err="1"/>
              <a:t>activebackground</a:t>
            </a:r>
            <a:r>
              <a:rPr lang="en-US" dirty="0"/>
              <a:t>: to set the background color when button is under the cursor.</a:t>
            </a:r>
          </a:p>
          <a:p>
            <a:pPr lvl="1" fontAlgn="base"/>
            <a:r>
              <a:rPr lang="en-US" b="1" dirty="0" err="1"/>
              <a:t>activeforeground</a:t>
            </a:r>
            <a:r>
              <a:rPr lang="en-US" dirty="0"/>
              <a:t>: to set the foreground color when button is under the cursor.</a:t>
            </a:r>
          </a:p>
          <a:p>
            <a:pPr lvl="1" fontAlgn="base"/>
            <a:r>
              <a:rPr lang="en-US" b="1" dirty="0" err="1"/>
              <a:t>bg</a:t>
            </a:r>
            <a:r>
              <a:rPr lang="en-US" dirty="0"/>
              <a:t>: to set the normal background color.</a:t>
            </a:r>
          </a:p>
          <a:p>
            <a:pPr lvl="1" fontAlgn="base"/>
            <a:r>
              <a:rPr lang="en-US" b="1" dirty="0"/>
              <a:t>command</a:t>
            </a:r>
            <a:r>
              <a:rPr lang="en-US" dirty="0"/>
              <a:t>: to call a function.</a:t>
            </a:r>
          </a:p>
          <a:p>
            <a:pPr lvl="1" fontAlgn="base"/>
            <a:r>
              <a:rPr lang="en-US" b="1" dirty="0"/>
              <a:t>font</a:t>
            </a:r>
            <a:r>
              <a:rPr lang="en-US" dirty="0"/>
              <a:t>: to set the font on the button label.</a:t>
            </a:r>
          </a:p>
          <a:p>
            <a:pPr lvl="1" fontAlgn="base"/>
            <a:r>
              <a:rPr lang="en-US" b="1" dirty="0"/>
              <a:t>image</a:t>
            </a:r>
            <a:r>
              <a:rPr lang="en-US" dirty="0"/>
              <a:t>: to set the image on the button.</a:t>
            </a:r>
          </a:p>
          <a:p>
            <a:pPr lvl="1" fontAlgn="base"/>
            <a:r>
              <a:rPr lang="en-US" b="1" dirty="0"/>
              <a:t>width</a:t>
            </a:r>
            <a:r>
              <a:rPr lang="en-US" dirty="0"/>
              <a:t>: to set the width of the button.</a:t>
            </a:r>
          </a:p>
          <a:p>
            <a:pPr lvl="1" fontAlgn="base"/>
            <a:r>
              <a:rPr lang="en-US" b="1" dirty="0"/>
              <a:t>height</a:t>
            </a:r>
            <a:r>
              <a:rPr lang="en-US" dirty="0"/>
              <a:t>: to set the height of the button.</a:t>
            </a:r>
          </a:p>
          <a:p>
            <a:pPr lvl="1"/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010211"/>
              </p:ext>
            </p:extLst>
          </p:nvPr>
        </p:nvGraphicFramePr>
        <p:xfrm>
          <a:off x="7698442" y="4279769"/>
          <a:ext cx="3655358" cy="2158738"/>
        </p:xfrm>
        <a:graphic>
          <a:graphicData uri="http://schemas.openxmlformats.org/drawingml/2006/table">
            <a:tbl>
              <a:tblPr/>
              <a:tblGrid>
                <a:gridCol w="3655358">
                  <a:extLst>
                    <a:ext uri="{9D8B030D-6E8A-4147-A177-3AD203B41FA5}">
                      <a16:colId xmlns:a16="http://schemas.microsoft.com/office/drawing/2014/main" val="2067489478"/>
                    </a:ext>
                  </a:extLst>
                </a:gridCol>
              </a:tblGrid>
              <a:tr h="2158738"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1400" b="0" i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import tkinter as </a:t>
                      </a:r>
                      <a:r>
                        <a:rPr lang="en-IN" sz="1400" b="0" i="0" dirty="0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tk</a:t>
                      </a:r>
                      <a:endParaRPr lang="en-IN" sz="1400" b="0" i="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 rtl="0" fontAlgn="base"/>
                      <a:r>
                        <a:rPr lang="en-IN" sz="1400" b="0" i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 = </a:t>
                      </a:r>
                      <a:r>
                        <a:rPr lang="en-IN" sz="1400" b="0" i="0" dirty="0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tk.Tk</a:t>
                      </a:r>
                      <a:r>
                        <a:rPr lang="en-IN" sz="1400" b="0" i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()</a:t>
                      </a:r>
                    </a:p>
                    <a:p>
                      <a:pPr algn="l" rtl="0" fontAlgn="base"/>
                      <a:r>
                        <a:rPr lang="en-IN" sz="1400" b="0" i="0" dirty="0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r.title</a:t>
                      </a:r>
                      <a:r>
                        <a:rPr lang="en-IN" sz="1400" b="0" i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('Counting Seconds')</a:t>
                      </a:r>
                    </a:p>
                    <a:p>
                      <a:pPr algn="l" rtl="0" fontAlgn="base"/>
                      <a:r>
                        <a:rPr lang="en-IN" sz="1400" b="0" i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button = </a:t>
                      </a:r>
                      <a:r>
                        <a:rPr lang="en-IN" sz="1400" b="0" i="0" dirty="0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tk.Button</a:t>
                      </a:r>
                      <a:r>
                        <a:rPr lang="en-IN" sz="1400" b="0" i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(r, text='Stop', width=25, command=</a:t>
                      </a:r>
                      <a:r>
                        <a:rPr lang="en-IN" sz="1400" b="0" i="0" dirty="0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r.destroy</a:t>
                      </a:r>
                      <a:r>
                        <a:rPr lang="en-IN" sz="1400" b="0" i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algn="l" rtl="0" fontAlgn="base"/>
                      <a:r>
                        <a:rPr lang="en-IN" sz="1400" b="0" i="0" dirty="0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button.pack</a:t>
                      </a:r>
                      <a:r>
                        <a:rPr lang="en-IN" sz="1400" b="0" i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()</a:t>
                      </a:r>
                    </a:p>
                    <a:p>
                      <a:pPr algn="l" rtl="0" fontAlgn="base"/>
                      <a:r>
                        <a:rPr lang="en-IN" sz="1400" b="0" i="0" dirty="0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r.mainloop</a:t>
                      </a:r>
                      <a:r>
                        <a:rPr lang="en-IN" sz="1400" b="0" i="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5246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4997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156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Canvas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0070"/>
            <a:ext cx="5826551" cy="5026893"/>
          </a:xfrm>
        </p:spPr>
        <p:txBody>
          <a:bodyPr/>
          <a:lstStyle/>
          <a:p>
            <a:pPr fontAlgn="base"/>
            <a:r>
              <a:rPr lang="en-US" b="1" dirty="0" err="1"/>
              <a:t>bd</a:t>
            </a:r>
            <a:r>
              <a:rPr lang="en-US" dirty="0"/>
              <a:t>: to set the border width in pixels.</a:t>
            </a:r>
          </a:p>
          <a:p>
            <a:pPr fontAlgn="base"/>
            <a:r>
              <a:rPr lang="en-US" b="1" dirty="0" err="1"/>
              <a:t>bg</a:t>
            </a:r>
            <a:r>
              <a:rPr lang="en-US" dirty="0"/>
              <a:t>: to set the normal background color.</a:t>
            </a:r>
          </a:p>
          <a:p>
            <a:pPr fontAlgn="base"/>
            <a:r>
              <a:rPr lang="en-US" b="1" dirty="0"/>
              <a:t>cursor</a:t>
            </a:r>
            <a:r>
              <a:rPr lang="en-US" dirty="0"/>
              <a:t>: to set the cursor used in the canvas.</a:t>
            </a:r>
          </a:p>
          <a:p>
            <a:pPr fontAlgn="base"/>
            <a:r>
              <a:rPr lang="en-US" b="1" dirty="0" err="1"/>
              <a:t>highlightcolor</a:t>
            </a:r>
            <a:r>
              <a:rPr lang="en-US" dirty="0"/>
              <a:t>: to set the color shown in the focus highlight.</a:t>
            </a:r>
          </a:p>
          <a:p>
            <a:pPr fontAlgn="base"/>
            <a:r>
              <a:rPr lang="en-US" b="1" dirty="0"/>
              <a:t>width</a:t>
            </a:r>
            <a:r>
              <a:rPr lang="en-US" dirty="0"/>
              <a:t>: to set the width of the widget.</a:t>
            </a:r>
          </a:p>
          <a:p>
            <a:pPr fontAlgn="base"/>
            <a:r>
              <a:rPr lang="en-US" b="1" dirty="0"/>
              <a:t>height</a:t>
            </a:r>
            <a:r>
              <a:rPr lang="en-US" dirty="0"/>
              <a:t>: to set the height of the widget.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484883" y="1989974"/>
            <a:ext cx="4355184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tkinter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*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master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Canvas(master, width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height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w.pack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mainloop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61234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IN" b="1" dirty="0" err="1"/>
              <a:t>CheckButton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5802"/>
            <a:ext cx="6213049" cy="5121161"/>
          </a:xfrm>
        </p:spPr>
        <p:txBody>
          <a:bodyPr/>
          <a:lstStyle/>
          <a:p>
            <a:pPr fontAlgn="base"/>
            <a:r>
              <a:rPr lang="en-US" b="1" dirty="0"/>
              <a:t>Title</a:t>
            </a:r>
            <a:r>
              <a:rPr lang="en-US" dirty="0"/>
              <a:t>: To set the title of the widget.</a:t>
            </a:r>
          </a:p>
          <a:p>
            <a:pPr fontAlgn="base"/>
            <a:r>
              <a:rPr lang="en-US" b="1" dirty="0" err="1"/>
              <a:t>activebackground</a:t>
            </a:r>
            <a:r>
              <a:rPr lang="en-US" dirty="0"/>
              <a:t>: to set the background color when widget is under the cursor.</a:t>
            </a:r>
          </a:p>
          <a:p>
            <a:pPr fontAlgn="base"/>
            <a:r>
              <a:rPr lang="en-US" b="1" dirty="0" err="1"/>
              <a:t>activeforeground</a:t>
            </a:r>
            <a:r>
              <a:rPr lang="en-US" dirty="0"/>
              <a:t>: to set the foreground color when widget is under the cursor.</a:t>
            </a:r>
          </a:p>
          <a:p>
            <a:pPr fontAlgn="base"/>
            <a:r>
              <a:rPr lang="en-US" b="1" dirty="0" err="1"/>
              <a:t>bg</a:t>
            </a:r>
            <a:r>
              <a:rPr lang="en-US" dirty="0"/>
              <a:t>: to set the normal background color.</a:t>
            </a:r>
          </a:p>
          <a:p>
            <a:pPr fontAlgn="base"/>
            <a:r>
              <a:rPr lang="en-US" b="1" dirty="0"/>
              <a:t>command</a:t>
            </a:r>
            <a:r>
              <a:rPr lang="en-US" dirty="0"/>
              <a:t>: to call a function.</a:t>
            </a:r>
          </a:p>
          <a:p>
            <a:pPr fontAlgn="base"/>
            <a:r>
              <a:rPr lang="en-US" b="1" dirty="0"/>
              <a:t>font</a:t>
            </a:r>
            <a:r>
              <a:rPr lang="en-US" dirty="0"/>
              <a:t>: to set the font on the button label.</a:t>
            </a:r>
          </a:p>
          <a:p>
            <a:pPr fontAlgn="base"/>
            <a:r>
              <a:rPr lang="en-US" b="1" dirty="0"/>
              <a:t>image</a:t>
            </a:r>
            <a:r>
              <a:rPr lang="en-US" dirty="0"/>
              <a:t>: to set the image on the widget.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7569724" y="1556218"/>
            <a:ext cx="406295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c_button1=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Checkbutton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gui,</a:t>
            </a:r>
            <a:r>
              <a:rPr lang="en-IN" dirty="0" err="1">
                <a:solidFill>
                  <a:srgbClr val="001080"/>
                </a:solidFill>
                <a:latin typeface="Consolas" panose="020B0609020204030204" pitchFamily="49" charset="0"/>
              </a:rPr>
              <a:t>text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'Male'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c_button2=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Checkbutton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gui,</a:t>
            </a:r>
            <a:r>
              <a:rPr lang="en-IN" dirty="0" err="1">
                <a:solidFill>
                  <a:srgbClr val="001080"/>
                </a:solidFill>
                <a:latin typeface="Consolas" panose="020B0609020204030204" pitchFamily="49" charset="0"/>
              </a:rPr>
              <a:t>text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'Female'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c_button1.pack()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c_button2.pack()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719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500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Entry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86120"/>
            <a:ext cx="8833701" cy="529084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It is used to input the </a:t>
            </a:r>
            <a:r>
              <a:rPr lang="en-US" dirty="0" smtClean="0"/>
              <a:t>single-line </a:t>
            </a:r>
            <a:r>
              <a:rPr lang="en-US" dirty="0"/>
              <a:t>text entry from the </a:t>
            </a:r>
            <a:r>
              <a:rPr lang="en-US" dirty="0" smtClean="0"/>
              <a:t>user. </a:t>
            </a:r>
            <a:r>
              <a:rPr lang="en-US" dirty="0"/>
              <a:t>For multi-line text input, </a:t>
            </a:r>
            <a:r>
              <a:rPr lang="en-US" dirty="0" smtClean="0"/>
              <a:t>a Text </a:t>
            </a:r>
            <a:r>
              <a:rPr lang="en-US" dirty="0"/>
              <a:t>widget is used</a:t>
            </a:r>
            <a:r>
              <a:rPr lang="en-US" dirty="0" smtClean="0"/>
              <a:t>.</a:t>
            </a:r>
          </a:p>
          <a:p>
            <a:pPr fontAlgn="base"/>
            <a:r>
              <a:rPr lang="en-US" dirty="0"/>
              <a:t>Some of them are listed below.</a:t>
            </a:r>
          </a:p>
          <a:p>
            <a:pPr fontAlgn="base"/>
            <a:r>
              <a:rPr lang="en-US" b="1" dirty="0" err="1"/>
              <a:t>bd</a:t>
            </a:r>
            <a:r>
              <a:rPr lang="en-US" dirty="0"/>
              <a:t>: to set the border width in pixels.</a:t>
            </a:r>
          </a:p>
          <a:p>
            <a:pPr fontAlgn="base"/>
            <a:r>
              <a:rPr lang="en-US" b="1" dirty="0" err="1"/>
              <a:t>bg</a:t>
            </a:r>
            <a:r>
              <a:rPr lang="en-US" dirty="0"/>
              <a:t>: to set the </a:t>
            </a:r>
            <a:r>
              <a:rPr lang="en-US" dirty="0" smtClean="0"/>
              <a:t>standard </a:t>
            </a:r>
            <a:r>
              <a:rPr lang="en-US" dirty="0"/>
              <a:t>background color.</a:t>
            </a:r>
          </a:p>
          <a:p>
            <a:pPr fontAlgn="base"/>
            <a:r>
              <a:rPr lang="en-US" b="1" dirty="0"/>
              <a:t>cursor</a:t>
            </a:r>
            <a:r>
              <a:rPr lang="en-US" dirty="0"/>
              <a:t>: to set the cursor used.</a:t>
            </a:r>
          </a:p>
          <a:p>
            <a:pPr fontAlgn="base"/>
            <a:r>
              <a:rPr lang="en-US" b="1" dirty="0"/>
              <a:t>command</a:t>
            </a:r>
            <a:r>
              <a:rPr lang="en-US" dirty="0"/>
              <a:t>: to call a function.</a:t>
            </a:r>
          </a:p>
          <a:p>
            <a:pPr fontAlgn="base"/>
            <a:r>
              <a:rPr lang="en-US" b="1" dirty="0" err="1"/>
              <a:t>highlightcolor</a:t>
            </a:r>
            <a:r>
              <a:rPr lang="en-US" dirty="0"/>
              <a:t>: to set the color shown in the focus highlight.</a:t>
            </a:r>
          </a:p>
          <a:p>
            <a:pPr fontAlgn="base"/>
            <a:r>
              <a:rPr lang="en-US" b="1" dirty="0"/>
              <a:t>width</a:t>
            </a:r>
            <a:r>
              <a:rPr lang="en-US" dirty="0"/>
              <a:t>: to set the width of the button.</a:t>
            </a:r>
          </a:p>
          <a:p>
            <a:pPr fontAlgn="base"/>
            <a:r>
              <a:rPr lang="en-US" b="1" dirty="0"/>
              <a:t>height</a:t>
            </a:r>
            <a:r>
              <a:rPr lang="en-US" dirty="0"/>
              <a:t>: to set the height of the button.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4271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506</Words>
  <Application>Microsoft Office PowerPoint</Application>
  <PresentationFormat>Widescreen</PresentationFormat>
  <Paragraphs>100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Office Theme</vt:lpstr>
      <vt:lpstr>Python Graphical Programming </vt:lpstr>
      <vt:lpstr>What is Python Graphical Programming?</vt:lpstr>
      <vt:lpstr>Python GUI –  tkinter</vt:lpstr>
      <vt:lpstr>PowerPoint Presentation</vt:lpstr>
      <vt:lpstr>PowerPoint Presentation</vt:lpstr>
      <vt:lpstr>Widgets which you can put in your tkinter application.</vt:lpstr>
      <vt:lpstr>Button</vt:lpstr>
      <vt:lpstr>Canvas</vt:lpstr>
      <vt:lpstr>CheckButton</vt:lpstr>
      <vt:lpstr>Entry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Graphical Programming </dc:title>
  <dc:creator>user</dc:creator>
  <cp:lastModifiedBy>user</cp:lastModifiedBy>
  <cp:revision>18</cp:revision>
  <dcterms:created xsi:type="dcterms:W3CDTF">2023-12-02T04:28:41Z</dcterms:created>
  <dcterms:modified xsi:type="dcterms:W3CDTF">2023-12-04T07:46:12Z</dcterms:modified>
</cp:coreProperties>
</file>