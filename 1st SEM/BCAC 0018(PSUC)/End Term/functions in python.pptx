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948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069" y="118313"/>
            <a:ext cx="108178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688" y="1069594"/>
            <a:ext cx="11252200" cy="2440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9930" y="1440180"/>
            <a:ext cx="5841365" cy="789940"/>
            <a:chOff x="2749930" y="1440180"/>
            <a:chExt cx="5841365" cy="789940"/>
          </a:xfrm>
        </p:grpSpPr>
        <p:sp>
          <p:nvSpPr>
            <p:cNvPr id="3" name="object 3"/>
            <p:cNvSpPr/>
            <p:nvPr/>
          </p:nvSpPr>
          <p:spPr>
            <a:xfrm>
              <a:off x="2776727" y="1467612"/>
              <a:ext cx="5814060" cy="762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9930" y="1440180"/>
              <a:ext cx="5811266" cy="7590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01158" y="2671826"/>
            <a:ext cx="901065" cy="763270"/>
            <a:chOff x="5201158" y="2671826"/>
            <a:chExt cx="901065" cy="763270"/>
          </a:xfrm>
        </p:grpSpPr>
        <p:sp>
          <p:nvSpPr>
            <p:cNvPr id="6" name="object 6"/>
            <p:cNvSpPr/>
            <p:nvPr/>
          </p:nvSpPr>
          <p:spPr>
            <a:xfrm>
              <a:off x="5227320" y="2699004"/>
              <a:ext cx="874776" cy="7360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04206" y="2674874"/>
              <a:ext cx="865505" cy="727710"/>
            </a:xfrm>
            <a:custGeom>
              <a:avLst/>
              <a:gdLst/>
              <a:ahLst/>
              <a:cxnLst/>
              <a:rect l="l" t="t" r="r" b="b"/>
              <a:pathLst>
                <a:path w="865504" h="727710">
                  <a:moveTo>
                    <a:pt x="430784" y="0"/>
                  </a:moveTo>
                  <a:lnTo>
                    <a:pt x="287909" y="0"/>
                  </a:lnTo>
                  <a:lnTo>
                    <a:pt x="287909" y="727583"/>
                  </a:lnTo>
                  <a:lnTo>
                    <a:pt x="424434" y="727583"/>
                  </a:lnTo>
                  <a:lnTo>
                    <a:pt x="424434" y="253111"/>
                  </a:lnTo>
                  <a:lnTo>
                    <a:pt x="585918" y="253111"/>
                  </a:lnTo>
                  <a:lnTo>
                    <a:pt x="430784" y="0"/>
                  </a:lnTo>
                  <a:close/>
                </a:path>
                <a:path w="865504" h="727710">
                  <a:moveTo>
                    <a:pt x="585918" y="253111"/>
                  </a:moveTo>
                  <a:lnTo>
                    <a:pt x="424434" y="253111"/>
                  </a:lnTo>
                  <a:lnTo>
                    <a:pt x="717677" y="727583"/>
                  </a:lnTo>
                  <a:lnTo>
                    <a:pt x="865124" y="727583"/>
                  </a:lnTo>
                  <a:lnTo>
                    <a:pt x="865124" y="485901"/>
                  </a:lnTo>
                  <a:lnTo>
                    <a:pt x="728599" y="485901"/>
                  </a:lnTo>
                  <a:lnTo>
                    <a:pt x="585918" y="253111"/>
                  </a:lnTo>
                  <a:close/>
                </a:path>
                <a:path w="865504" h="727710">
                  <a:moveTo>
                    <a:pt x="865124" y="0"/>
                  </a:moveTo>
                  <a:lnTo>
                    <a:pt x="728599" y="0"/>
                  </a:lnTo>
                  <a:lnTo>
                    <a:pt x="728599" y="485901"/>
                  </a:lnTo>
                  <a:lnTo>
                    <a:pt x="865124" y="485901"/>
                  </a:lnTo>
                  <a:lnTo>
                    <a:pt x="865124" y="0"/>
                  </a:lnTo>
                  <a:close/>
                </a:path>
                <a:path w="865504" h="727710">
                  <a:moveTo>
                    <a:pt x="146939" y="0"/>
                  </a:moveTo>
                  <a:lnTo>
                    <a:pt x="0" y="0"/>
                  </a:lnTo>
                  <a:lnTo>
                    <a:pt x="0" y="727583"/>
                  </a:lnTo>
                  <a:lnTo>
                    <a:pt x="146939" y="727583"/>
                  </a:lnTo>
                  <a:lnTo>
                    <a:pt x="146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04206" y="2674874"/>
              <a:ext cx="865505" cy="727710"/>
            </a:xfrm>
            <a:custGeom>
              <a:avLst/>
              <a:gdLst/>
              <a:ahLst/>
              <a:cxnLst/>
              <a:rect l="l" t="t" r="r" b="b"/>
              <a:pathLst>
                <a:path w="865504" h="727710">
                  <a:moveTo>
                    <a:pt x="287909" y="0"/>
                  </a:moveTo>
                  <a:lnTo>
                    <a:pt x="430784" y="0"/>
                  </a:lnTo>
                  <a:lnTo>
                    <a:pt x="728599" y="485901"/>
                  </a:lnTo>
                  <a:lnTo>
                    <a:pt x="728599" y="0"/>
                  </a:lnTo>
                  <a:lnTo>
                    <a:pt x="865124" y="0"/>
                  </a:lnTo>
                  <a:lnTo>
                    <a:pt x="865124" y="727583"/>
                  </a:lnTo>
                  <a:lnTo>
                    <a:pt x="717677" y="727583"/>
                  </a:lnTo>
                  <a:lnTo>
                    <a:pt x="424434" y="253111"/>
                  </a:lnTo>
                  <a:lnTo>
                    <a:pt x="424434" y="727583"/>
                  </a:lnTo>
                  <a:lnTo>
                    <a:pt x="287909" y="727583"/>
                  </a:lnTo>
                  <a:lnTo>
                    <a:pt x="287909" y="0"/>
                  </a:lnTo>
                  <a:close/>
                </a:path>
                <a:path w="865504" h="727710">
                  <a:moveTo>
                    <a:pt x="0" y="0"/>
                  </a:moveTo>
                  <a:lnTo>
                    <a:pt x="146939" y="0"/>
                  </a:lnTo>
                  <a:lnTo>
                    <a:pt x="146939" y="727583"/>
                  </a:lnTo>
                  <a:lnTo>
                    <a:pt x="0" y="727583"/>
                  </a:lnTo>
                  <a:lnTo>
                    <a:pt x="0" y="0"/>
                  </a:lnTo>
                  <a:close/>
                </a:path>
              </a:pathLst>
            </a:custGeom>
            <a:ln w="6096">
              <a:solidFill>
                <a:srgbClr val="339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96259" y="3878579"/>
            <a:ext cx="4116704" cy="788035"/>
            <a:chOff x="3596259" y="3878579"/>
            <a:chExt cx="4116704" cy="788035"/>
          </a:xfrm>
        </p:grpSpPr>
        <p:sp>
          <p:nvSpPr>
            <p:cNvPr id="10" name="object 10"/>
            <p:cNvSpPr/>
            <p:nvPr/>
          </p:nvSpPr>
          <p:spPr>
            <a:xfrm>
              <a:off x="3622548" y="3906011"/>
              <a:ext cx="4090415" cy="7604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99307" y="3881627"/>
              <a:ext cx="4081145" cy="752475"/>
            </a:xfrm>
            <a:custGeom>
              <a:avLst/>
              <a:gdLst/>
              <a:ahLst/>
              <a:cxnLst/>
              <a:rect l="l" t="t" r="r" b="b"/>
              <a:pathLst>
                <a:path w="4081145" h="752475">
                  <a:moveTo>
                    <a:pt x="235712" y="12446"/>
                  </a:moveTo>
                  <a:lnTo>
                    <a:pt x="0" y="12446"/>
                  </a:lnTo>
                  <a:lnTo>
                    <a:pt x="0" y="740029"/>
                  </a:lnTo>
                  <a:lnTo>
                    <a:pt x="146938" y="740029"/>
                  </a:lnTo>
                  <a:lnTo>
                    <a:pt x="146938" y="465582"/>
                  </a:lnTo>
                  <a:lnTo>
                    <a:pt x="242696" y="465582"/>
                  </a:lnTo>
                  <a:lnTo>
                    <a:pt x="289655" y="464919"/>
                  </a:lnTo>
                  <a:lnTo>
                    <a:pt x="330707" y="462946"/>
                  </a:lnTo>
                  <a:lnTo>
                    <a:pt x="395096" y="455168"/>
                  </a:lnTo>
                  <a:lnTo>
                    <a:pt x="433482" y="442277"/>
                  </a:lnTo>
                  <a:lnTo>
                    <a:pt x="471296" y="420624"/>
                  </a:lnTo>
                  <a:lnTo>
                    <a:pt x="505491" y="389651"/>
                  </a:lnTo>
                  <a:lnTo>
                    <a:pt x="533018" y="348869"/>
                  </a:lnTo>
                  <a:lnTo>
                    <a:pt x="536052" y="342011"/>
                  </a:lnTo>
                  <a:lnTo>
                    <a:pt x="146938" y="342011"/>
                  </a:lnTo>
                  <a:lnTo>
                    <a:pt x="146938" y="135509"/>
                  </a:lnTo>
                  <a:lnTo>
                    <a:pt x="538235" y="135509"/>
                  </a:lnTo>
                  <a:lnTo>
                    <a:pt x="533667" y="123920"/>
                  </a:lnTo>
                  <a:lnTo>
                    <a:pt x="492831" y="69480"/>
                  </a:lnTo>
                  <a:lnTo>
                    <a:pt x="440443" y="33944"/>
                  </a:lnTo>
                  <a:lnTo>
                    <a:pt x="384319" y="18553"/>
                  </a:lnTo>
                  <a:lnTo>
                    <a:pt x="296931" y="13116"/>
                  </a:lnTo>
                  <a:lnTo>
                    <a:pt x="235712" y="12446"/>
                  </a:lnTo>
                  <a:close/>
                </a:path>
                <a:path w="4081145" h="752475">
                  <a:moveTo>
                    <a:pt x="538235" y="135509"/>
                  </a:moveTo>
                  <a:lnTo>
                    <a:pt x="217931" y="135509"/>
                  </a:lnTo>
                  <a:lnTo>
                    <a:pt x="254319" y="135818"/>
                  </a:lnTo>
                  <a:lnTo>
                    <a:pt x="284051" y="136747"/>
                  </a:lnTo>
                  <a:lnTo>
                    <a:pt x="323595" y="140462"/>
                  </a:lnTo>
                  <a:lnTo>
                    <a:pt x="370244" y="161000"/>
                  </a:lnTo>
                  <a:lnTo>
                    <a:pt x="400192" y="201961"/>
                  </a:lnTo>
                  <a:lnTo>
                    <a:pt x="406018" y="238252"/>
                  </a:lnTo>
                  <a:lnTo>
                    <a:pt x="404973" y="253869"/>
                  </a:lnTo>
                  <a:lnTo>
                    <a:pt x="389381" y="294767"/>
                  </a:lnTo>
                  <a:lnTo>
                    <a:pt x="357342" y="324056"/>
                  </a:lnTo>
                  <a:lnTo>
                    <a:pt x="299815" y="339153"/>
                  </a:lnTo>
                  <a:lnTo>
                    <a:pt x="227329" y="342011"/>
                  </a:lnTo>
                  <a:lnTo>
                    <a:pt x="536052" y="342011"/>
                  </a:lnTo>
                  <a:lnTo>
                    <a:pt x="543686" y="324748"/>
                  </a:lnTo>
                  <a:lnTo>
                    <a:pt x="551306" y="297926"/>
                  </a:lnTo>
                  <a:lnTo>
                    <a:pt x="555878" y="268412"/>
                  </a:lnTo>
                  <a:lnTo>
                    <a:pt x="557402" y="236220"/>
                  </a:lnTo>
                  <a:lnTo>
                    <a:pt x="554761" y="194786"/>
                  </a:lnTo>
                  <a:lnTo>
                    <a:pt x="546846" y="157353"/>
                  </a:lnTo>
                  <a:lnTo>
                    <a:pt x="538235" y="135509"/>
                  </a:lnTo>
                  <a:close/>
                </a:path>
                <a:path w="4081145" h="752475">
                  <a:moveTo>
                    <a:pt x="3033267" y="0"/>
                  </a:moveTo>
                  <a:lnTo>
                    <a:pt x="2990171" y="1789"/>
                  </a:lnTo>
                  <a:lnTo>
                    <a:pt x="2949670" y="7175"/>
                  </a:lnTo>
                  <a:lnTo>
                    <a:pt x="2911788" y="16180"/>
                  </a:lnTo>
                  <a:lnTo>
                    <a:pt x="2851451" y="40923"/>
                  </a:lnTo>
                  <a:lnTo>
                    <a:pt x="2804398" y="73638"/>
                  </a:lnTo>
                  <a:lnTo>
                    <a:pt x="2762130" y="117046"/>
                  </a:lnTo>
                  <a:lnTo>
                    <a:pt x="2728221" y="166957"/>
                  </a:lnTo>
                  <a:lnTo>
                    <a:pt x="2700123" y="234011"/>
                  </a:lnTo>
                  <a:lnTo>
                    <a:pt x="2689764" y="278431"/>
                  </a:lnTo>
                  <a:lnTo>
                    <a:pt x="2683549" y="327304"/>
                  </a:lnTo>
                  <a:lnTo>
                    <a:pt x="2681478" y="380619"/>
                  </a:lnTo>
                  <a:lnTo>
                    <a:pt x="2684135" y="436456"/>
                  </a:lnTo>
                  <a:lnTo>
                    <a:pt x="2692108" y="488145"/>
                  </a:lnTo>
                  <a:lnTo>
                    <a:pt x="2705401" y="535686"/>
                  </a:lnTo>
                  <a:lnTo>
                    <a:pt x="2724018" y="579077"/>
                  </a:lnTo>
                  <a:lnTo>
                    <a:pt x="2747961" y="618320"/>
                  </a:lnTo>
                  <a:lnTo>
                    <a:pt x="2777235" y="653415"/>
                  </a:lnTo>
                  <a:lnTo>
                    <a:pt x="2811018" y="683683"/>
                  </a:lnTo>
                  <a:lnTo>
                    <a:pt x="2848487" y="708448"/>
                  </a:lnTo>
                  <a:lnTo>
                    <a:pt x="2889646" y="727709"/>
                  </a:lnTo>
                  <a:lnTo>
                    <a:pt x="2934499" y="741468"/>
                  </a:lnTo>
                  <a:lnTo>
                    <a:pt x="2983049" y="749723"/>
                  </a:lnTo>
                  <a:lnTo>
                    <a:pt x="3035299" y="752475"/>
                  </a:lnTo>
                  <a:lnTo>
                    <a:pt x="3086968" y="749712"/>
                  </a:lnTo>
                  <a:lnTo>
                    <a:pt x="3135042" y="741421"/>
                  </a:lnTo>
                  <a:lnTo>
                    <a:pt x="3179524" y="727598"/>
                  </a:lnTo>
                  <a:lnTo>
                    <a:pt x="3220418" y="708241"/>
                  </a:lnTo>
                  <a:lnTo>
                    <a:pt x="3257729" y="683345"/>
                  </a:lnTo>
                  <a:lnTo>
                    <a:pt x="3291459" y="652907"/>
                  </a:lnTo>
                  <a:lnTo>
                    <a:pt x="3313059" y="626872"/>
                  </a:lnTo>
                  <a:lnTo>
                    <a:pt x="3034791" y="626872"/>
                  </a:lnTo>
                  <a:lnTo>
                    <a:pt x="2992808" y="622893"/>
                  </a:lnTo>
                  <a:lnTo>
                    <a:pt x="2954670" y="610949"/>
                  </a:lnTo>
                  <a:lnTo>
                    <a:pt x="2920366" y="591028"/>
                  </a:lnTo>
                  <a:lnTo>
                    <a:pt x="2889884" y="563118"/>
                  </a:lnTo>
                  <a:lnTo>
                    <a:pt x="2864901" y="527470"/>
                  </a:lnTo>
                  <a:lnTo>
                    <a:pt x="2847085" y="484346"/>
                  </a:lnTo>
                  <a:lnTo>
                    <a:pt x="2836425" y="433799"/>
                  </a:lnTo>
                  <a:lnTo>
                    <a:pt x="2832955" y="377190"/>
                  </a:lnTo>
                  <a:lnTo>
                    <a:pt x="2832973" y="373761"/>
                  </a:lnTo>
                  <a:lnTo>
                    <a:pt x="2836318" y="316849"/>
                  </a:lnTo>
                  <a:lnTo>
                    <a:pt x="2846705" y="265938"/>
                  </a:lnTo>
                  <a:lnTo>
                    <a:pt x="2864044" y="222932"/>
                  </a:lnTo>
                  <a:lnTo>
                    <a:pt x="2888360" y="187833"/>
                  </a:lnTo>
                  <a:lnTo>
                    <a:pt x="2918366" y="160589"/>
                  </a:lnTo>
                  <a:lnTo>
                    <a:pt x="2952765" y="141144"/>
                  </a:lnTo>
                  <a:lnTo>
                    <a:pt x="2991570" y="129486"/>
                  </a:lnTo>
                  <a:lnTo>
                    <a:pt x="3034791" y="125603"/>
                  </a:lnTo>
                  <a:lnTo>
                    <a:pt x="3312271" y="125603"/>
                  </a:lnTo>
                  <a:lnTo>
                    <a:pt x="3290696" y="99695"/>
                  </a:lnTo>
                  <a:lnTo>
                    <a:pt x="3256723" y="69247"/>
                  </a:lnTo>
                  <a:lnTo>
                    <a:pt x="3219186" y="44327"/>
                  </a:lnTo>
                  <a:lnTo>
                    <a:pt x="3178079" y="24939"/>
                  </a:lnTo>
                  <a:lnTo>
                    <a:pt x="3133395" y="11086"/>
                  </a:lnTo>
                  <a:lnTo>
                    <a:pt x="3085127" y="2772"/>
                  </a:lnTo>
                  <a:lnTo>
                    <a:pt x="3033267" y="0"/>
                  </a:lnTo>
                  <a:close/>
                </a:path>
                <a:path w="4081145" h="752475">
                  <a:moveTo>
                    <a:pt x="3312271" y="125603"/>
                  </a:moveTo>
                  <a:lnTo>
                    <a:pt x="3034791" y="125603"/>
                  </a:lnTo>
                  <a:lnTo>
                    <a:pt x="3077966" y="129438"/>
                  </a:lnTo>
                  <a:lnTo>
                    <a:pt x="3116627" y="140954"/>
                  </a:lnTo>
                  <a:lnTo>
                    <a:pt x="3150788" y="160160"/>
                  </a:lnTo>
                  <a:lnTo>
                    <a:pt x="3180461" y="187071"/>
                  </a:lnTo>
                  <a:lnTo>
                    <a:pt x="3204464" y="221813"/>
                  </a:lnTo>
                  <a:lnTo>
                    <a:pt x="3221609" y="264509"/>
                  </a:lnTo>
                  <a:lnTo>
                    <a:pt x="3231895" y="315158"/>
                  </a:lnTo>
                  <a:lnTo>
                    <a:pt x="3235324" y="373761"/>
                  </a:lnTo>
                  <a:lnTo>
                    <a:pt x="3231802" y="433056"/>
                  </a:lnTo>
                  <a:lnTo>
                    <a:pt x="3221243" y="484457"/>
                  </a:lnTo>
                  <a:lnTo>
                    <a:pt x="3203660" y="527976"/>
                  </a:lnTo>
                  <a:lnTo>
                    <a:pt x="3179064" y="563626"/>
                  </a:lnTo>
                  <a:lnTo>
                    <a:pt x="3148895" y="591296"/>
                  </a:lnTo>
                  <a:lnTo>
                    <a:pt x="3114786" y="611060"/>
                  </a:lnTo>
                  <a:lnTo>
                    <a:pt x="3076747" y="622919"/>
                  </a:lnTo>
                  <a:lnTo>
                    <a:pt x="3034791" y="626872"/>
                  </a:lnTo>
                  <a:lnTo>
                    <a:pt x="3313059" y="626872"/>
                  </a:lnTo>
                  <a:lnTo>
                    <a:pt x="3344676" y="578066"/>
                  </a:lnTo>
                  <a:lnTo>
                    <a:pt x="3363293" y="534241"/>
                  </a:lnTo>
                  <a:lnTo>
                    <a:pt x="3376586" y="486151"/>
                  </a:lnTo>
                  <a:lnTo>
                    <a:pt x="3384559" y="433799"/>
                  </a:lnTo>
                  <a:lnTo>
                    <a:pt x="3387216" y="377190"/>
                  </a:lnTo>
                  <a:lnTo>
                    <a:pt x="3384538" y="320113"/>
                  </a:lnTo>
                  <a:lnTo>
                    <a:pt x="3376501" y="267372"/>
                  </a:lnTo>
                  <a:lnTo>
                    <a:pt x="3363102" y="218963"/>
                  </a:lnTo>
                  <a:lnTo>
                    <a:pt x="3344338" y="174883"/>
                  </a:lnTo>
                  <a:lnTo>
                    <a:pt x="3320203" y="135128"/>
                  </a:lnTo>
                  <a:lnTo>
                    <a:pt x="3312271" y="125603"/>
                  </a:lnTo>
                  <a:close/>
                </a:path>
                <a:path w="4081145" h="752475">
                  <a:moveTo>
                    <a:pt x="3646550" y="12446"/>
                  </a:moveTo>
                  <a:lnTo>
                    <a:pt x="3503675" y="12446"/>
                  </a:lnTo>
                  <a:lnTo>
                    <a:pt x="3503675" y="740029"/>
                  </a:lnTo>
                  <a:lnTo>
                    <a:pt x="3640200" y="740029"/>
                  </a:lnTo>
                  <a:lnTo>
                    <a:pt x="3640200" y="265557"/>
                  </a:lnTo>
                  <a:lnTo>
                    <a:pt x="3801685" y="265557"/>
                  </a:lnTo>
                  <a:lnTo>
                    <a:pt x="3646550" y="12446"/>
                  </a:lnTo>
                  <a:close/>
                </a:path>
                <a:path w="4081145" h="752475">
                  <a:moveTo>
                    <a:pt x="3801685" y="265557"/>
                  </a:moveTo>
                  <a:lnTo>
                    <a:pt x="3640200" y="265557"/>
                  </a:lnTo>
                  <a:lnTo>
                    <a:pt x="3933443" y="740029"/>
                  </a:lnTo>
                  <a:lnTo>
                    <a:pt x="4080891" y="740029"/>
                  </a:lnTo>
                  <a:lnTo>
                    <a:pt x="4080891" y="498348"/>
                  </a:lnTo>
                  <a:lnTo>
                    <a:pt x="3944366" y="498348"/>
                  </a:lnTo>
                  <a:lnTo>
                    <a:pt x="3801685" y="265557"/>
                  </a:lnTo>
                  <a:close/>
                </a:path>
                <a:path w="4081145" h="752475">
                  <a:moveTo>
                    <a:pt x="4080891" y="12446"/>
                  </a:moveTo>
                  <a:lnTo>
                    <a:pt x="3944366" y="12446"/>
                  </a:lnTo>
                  <a:lnTo>
                    <a:pt x="3944366" y="498348"/>
                  </a:lnTo>
                  <a:lnTo>
                    <a:pt x="4080891" y="498348"/>
                  </a:lnTo>
                  <a:lnTo>
                    <a:pt x="4080891" y="12446"/>
                  </a:lnTo>
                  <a:close/>
                </a:path>
                <a:path w="4081145" h="752475">
                  <a:moveTo>
                    <a:pt x="2124075" y="12446"/>
                  </a:moveTo>
                  <a:lnTo>
                    <a:pt x="1977135" y="12446"/>
                  </a:lnTo>
                  <a:lnTo>
                    <a:pt x="1977135" y="740029"/>
                  </a:lnTo>
                  <a:lnTo>
                    <a:pt x="2124075" y="740029"/>
                  </a:lnTo>
                  <a:lnTo>
                    <a:pt x="2124075" y="421894"/>
                  </a:lnTo>
                  <a:lnTo>
                    <a:pt x="2558795" y="421894"/>
                  </a:lnTo>
                  <a:lnTo>
                    <a:pt x="2558795" y="298831"/>
                  </a:lnTo>
                  <a:lnTo>
                    <a:pt x="2124075" y="298831"/>
                  </a:lnTo>
                  <a:lnTo>
                    <a:pt x="2124075" y="12446"/>
                  </a:lnTo>
                  <a:close/>
                </a:path>
                <a:path w="4081145" h="752475">
                  <a:moveTo>
                    <a:pt x="2558795" y="421894"/>
                  </a:moveTo>
                  <a:lnTo>
                    <a:pt x="2411983" y="421894"/>
                  </a:lnTo>
                  <a:lnTo>
                    <a:pt x="2411983" y="740029"/>
                  </a:lnTo>
                  <a:lnTo>
                    <a:pt x="2558795" y="740029"/>
                  </a:lnTo>
                  <a:lnTo>
                    <a:pt x="2558795" y="421894"/>
                  </a:lnTo>
                  <a:close/>
                </a:path>
                <a:path w="4081145" h="752475">
                  <a:moveTo>
                    <a:pt x="2558795" y="12446"/>
                  </a:moveTo>
                  <a:lnTo>
                    <a:pt x="2411983" y="12446"/>
                  </a:lnTo>
                  <a:lnTo>
                    <a:pt x="2411983" y="298831"/>
                  </a:lnTo>
                  <a:lnTo>
                    <a:pt x="2558795" y="298831"/>
                  </a:lnTo>
                  <a:lnTo>
                    <a:pt x="2558795" y="12446"/>
                  </a:lnTo>
                  <a:close/>
                </a:path>
                <a:path w="4081145" h="752475">
                  <a:moveTo>
                    <a:pt x="1667128" y="135509"/>
                  </a:moveTo>
                  <a:lnTo>
                    <a:pt x="1520189" y="135509"/>
                  </a:lnTo>
                  <a:lnTo>
                    <a:pt x="1520189" y="740029"/>
                  </a:lnTo>
                  <a:lnTo>
                    <a:pt x="1667128" y="740029"/>
                  </a:lnTo>
                  <a:lnTo>
                    <a:pt x="1667128" y="135509"/>
                  </a:lnTo>
                  <a:close/>
                </a:path>
                <a:path w="4081145" h="752475">
                  <a:moveTo>
                    <a:pt x="1882520" y="12446"/>
                  </a:moveTo>
                  <a:lnTo>
                    <a:pt x="1304289" y="12446"/>
                  </a:lnTo>
                  <a:lnTo>
                    <a:pt x="1304289" y="135509"/>
                  </a:lnTo>
                  <a:lnTo>
                    <a:pt x="1882520" y="135509"/>
                  </a:lnTo>
                  <a:lnTo>
                    <a:pt x="1882520" y="12446"/>
                  </a:lnTo>
                  <a:close/>
                </a:path>
                <a:path w="4081145" h="752475">
                  <a:moveTo>
                    <a:pt x="774953" y="12446"/>
                  </a:moveTo>
                  <a:lnTo>
                    <a:pt x="602741" y="12446"/>
                  </a:lnTo>
                  <a:lnTo>
                    <a:pt x="869314" y="433832"/>
                  </a:lnTo>
                  <a:lnTo>
                    <a:pt x="869314" y="740029"/>
                  </a:lnTo>
                  <a:lnTo>
                    <a:pt x="1015745" y="740029"/>
                  </a:lnTo>
                  <a:lnTo>
                    <a:pt x="1015745" y="434721"/>
                  </a:lnTo>
                  <a:lnTo>
                    <a:pt x="1100931" y="300228"/>
                  </a:lnTo>
                  <a:lnTo>
                    <a:pt x="946150" y="300228"/>
                  </a:lnTo>
                  <a:lnTo>
                    <a:pt x="774953" y="12446"/>
                  </a:lnTo>
                  <a:close/>
                </a:path>
                <a:path w="4081145" h="752475">
                  <a:moveTo>
                    <a:pt x="1283207" y="12446"/>
                  </a:moveTo>
                  <a:lnTo>
                    <a:pt x="1113916" y="12446"/>
                  </a:lnTo>
                  <a:lnTo>
                    <a:pt x="946150" y="300228"/>
                  </a:lnTo>
                  <a:lnTo>
                    <a:pt x="1100931" y="300228"/>
                  </a:lnTo>
                  <a:lnTo>
                    <a:pt x="1283207" y="12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99307" y="3881627"/>
              <a:ext cx="4081145" cy="752475"/>
            </a:xfrm>
            <a:custGeom>
              <a:avLst/>
              <a:gdLst/>
              <a:ahLst/>
              <a:cxnLst/>
              <a:rect l="l" t="t" r="r" b="b"/>
              <a:pathLst>
                <a:path w="4081145" h="752475">
                  <a:moveTo>
                    <a:pt x="146938" y="135509"/>
                  </a:moveTo>
                  <a:lnTo>
                    <a:pt x="146938" y="342011"/>
                  </a:lnTo>
                  <a:lnTo>
                    <a:pt x="227329" y="342011"/>
                  </a:lnTo>
                  <a:lnTo>
                    <a:pt x="267168" y="341296"/>
                  </a:lnTo>
                  <a:lnTo>
                    <a:pt x="325270" y="335581"/>
                  </a:lnTo>
                  <a:lnTo>
                    <a:pt x="369601" y="315912"/>
                  </a:lnTo>
                  <a:lnTo>
                    <a:pt x="396642" y="282150"/>
                  </a:lnTo>
                  <a:lnTo>
                    <a:pt x="406018" y="238252"/>
                  </a:lnTo>
                  <a:lnTo>
                    <a:pt x="404564" y="219225"/>
                  </a:lnTo>
                  <a:lnTo>
                    <a:pt x="382650" y="172720"/>
                  </a:lnTo>
                  <a:lnTo>
                    <a:pt x="340717" y="144895"/>
                  </a:lnTo>
                  <a:lnTo>
                    <a:pt x="284051" y="136747"/>
                  </a:lnTo>
                  <a:lnTo>
                    <a:pt x="217931" y="135509"/>
                  </a:lnTo>
                  <a:lnTo>
                    <a:pt x="146938" y="135509"/>
                  </a:lnTo>
                  <a:close/>
                </a:path>
                <a:path w="4081145" h="752475">
                  <a:moveTo>
                    <a:pt x="3034791" y="125603"/>
                  </a:moveTo>
                  <a:lnTo>
                    <a:pt x="2991570" y="129486"/>
                  </a:lnTo>
                  <a:lnTo>
                    <a:pt x="2952765" y="141144"/>
                  </a:lnTo>
                  <a:lnTo>
                    <a:pt x="2918366" y="160589"/>
                  </a:lnTo>
                  <a:lnTo>
                    <a:pt x="2888360" y="187833"/>
                  </a:lnTo>
                  <a:lnTo>
                    <a:pt x="2864044" y="222932"/>
                  </a:lnTo>
                  <a:lnTo>
                    <a:pt x="2846705" y="265938"/>
                  </a:lnTo>
                  <a:lnTo>
                    <a:pt x="2836318" y="316849"/>
                  </a:lnTo>
                  <a:lnTo>
                    <a:pt x="2832862" y="375666"/>
                  </a:lnTo>
                  <a:lnTo>
                    <a:pt x="2836414" y="433744"/>
                  </a:lnTo>
                  <a:lnTo>
                    <a:pt x="2847085" y="484346"/>
                  </a:lnTo>
                  <a:lnTo>
                    <a:pt x="2864901" y="527470"/>
                  </a:lnTo>
                  <a:lnTo>
                    <a:pt x="2889884" y="563118"/>
                  </a:lnTo>
                  <a:lnTo>
                    <a:pt x="2920366" y="591028"/>
                  </a:lnTo>
                  <a:lnTo>
                    <a:pt x="2954670" y="610949"/>
                  </a:lnTo>
                  <a:lnTo>
                    <a:pt x="2992808" y="622893"/>
                  </a:lnTo>
                  <a:lnTo>
                    <a:pt x="3034791" y="626872"/>
                  </a:lnTo>
                  <a:lnTo>
                    <a:pt x="3076747" y="622919"/>
                  </a:lnTo>
                  <a:lnTo>
                    <a:pt x="3114786" y="611060"/>
                  </a:lnTo>
                  <a:lnTo>
                    <a:pt x="3148895" y="591296"/>
                  </a:lnTo>
                  <a:lnTo>
                    <a:pt x="3179064" y="563626"/>
                  </a:lnTo>
                  <a:lnTo>
                    <a:pt x="3203660" y="527976"/>
                  </a:lnTo>
                  <a:lnTo>
                    <a:pt x="3221243" y="484457"/>
                  </a:lnTo>
                  <a:lnTo>
                    <a:pt x="3231802" y="433056"/>
                  </a:lnTo>
                  <a:lnTo>
                    <a:pt x="3235324" y="373761"/>
                  </a:lnTo>
                  <a:lnTo>
                    <a:pt x="3231895" y="315158"/>
                  </a:lnTo>
                  <a:lnTo>
                    <a:pt x="3221609" y="264509"/>
                  </a:lnTo>
                  <a:lnTo>
                    <a:pt x="3204464" y="221813"/>
                  </a:lnTo>
                  <a:lnTo>
                    <a:pt x="3180461" y="187071"/>
                  </a:lnTo>
                  <a:lnTo>
                    <a:pt x="3150788" y="160160"/>
                  </a:lnTo>
                  <a:lnTo>
                    <a:pt x="3116627" y="140954"/>
                  </a:lnTo>
                  <a:lnTo>
                    <a:pt x="3077966" y="129438"/>
                  </a:lnTo>
                  <a:lnTo>
                    <a:pt x="3034791" y="125603"/>
                  </a:lnTo>
                  <a:close/>
                </a:path>
                <a:path w="4081145" h="752475">
                  <a:moveTo>
                    <a:pt x="3503675" y="12446"/>
                  </a:moveTo>
                  <a:lnTo>
                    <a:pt x="3646550" y="12446"/>
                  </a:lnTo>
                  <a:lnTo>
                    <a:pt x="3944366" y="498348"/>
                  </a:lnTo>
                  <a:lnTo>
                    <a:pt x="3944366" y="12446"/>
                  </a:lnTo>
                  <a:lnTo>
                    <a:pt x="4080891" y="12446"/>
                  </a:lnTo>
                  <a:lnTo>
                    <a:pt x="4080891" y="740029"/>
                  </a:lnTo>
                  <a:lnTo>
                    <a:pt x="3933443" y="740029"/>
                  </a:lnTo>
                  <a:lnTo>
                    <a:pt x="3640200" y="265557"/>
                  </a:lnTo>
                  <a:lnTo>
                    <a:pt x="3640200" y="740029"/>
                  </a:lnTo>
                  <a:lnTo>
                    <a:pt x="3503675" y="740029"/>
                  </a:lnTo>
                  <a:lnTo>
                    <a:pt x="3503675" y="12446"/>
                  </a:lnTo>
                  <a:close/>
                </a:path>
                <a:path w="4081145" h="752475">
                  <a:moveTo>
                    <a:pt x="1304289" y="12446"/>
                  </a:moveTo>
                  <a:lnTo>
                    <a:pt x="1882520" y="12446"/>
                  </a:lnTo>
                  <a:lnTo>
                    <a:pt x="1882520" y="135509"/>
                  </a:lnTo>
                  <a:lnTo>
                    <a:pt x="1667128" y="135509"/>
                  </a:lnTo>
                  <a:lnTo>
                    <a:pt x="1667128" y="740029"/>
                  </a:lnTo>
                  <a:lnTo>
                    <a:pt x="1520189" y="740029"/>
                  </a:lnTo>
                  <a:lnTo>
                    <a:pt x="1520189" y="135509"/>
                  </a:lnTo>
                  <a:lnTo>
                    <a:pt x="1304289" y="135509"/>
                  </a:lnTo>
                  <a:lnTo>
                    <a:pt x="1304289" y="12446"/>
                  </a:lnTo>
                  <a:close/>
                </a:path>
                <a:path w="4081145" h="752475">
                  <a:moveTo>
                    <a:pt x="602741" y="12446"/>
                  </a:moveTo>
                  <a:lnTo>
                    <a:pt x="774953" y="12446"/>
                  </a:lnTo>
                  <a:lnTo>
                    <a:pt x="946150" y="300228"/>
                  </a:lnTo>
                  <a:lnTo>
                    <a:pt x="1113916" y="12446"/>
                  </a:lnTo>
                  <a:lnTo>
                    <a:pt x="1283207" y="12446"/>
                  </a:lnTo>
                  <a:lnTo>
                    <a:pt x="1015745" y="434721"/>
                  </a:lnTo>
                  <a:lnTo>
                    <a:pt x="1015745" y="740029"/>
                  </a:lnTo>
                  <a:lnTo>
                    <a:pt x="869314" y="740029"/>
                  </a:lnTo>
                  <a:lnTo>
                    <a:pt x="869314" y="433832"/>
                  </a:lnTo>
                  <a:lnTo>
                    <a:pt x="602741" y="12446"/>
                  </a:lnTo>
                  <a:close/>
                </a:path>
                <a:path w="4081145" h="752475">
                  <a:moveTo>
                    <a:pt x="0" y="12446"/>
                  </a:moveTo>
                  <a:lnTo>
                    <a:pt x="235712" y="12446"/>
                  </a:lnTo>
                  <a:lnTo>
                    <a:pt x="296931" y="13116"/>
                  </a:lnTo>
                  <a:lnTo>
                    <a:pt x="346471" y="15144"/>
                  </a:lnTo>
                  <a:lnTo>
                    <a:pt x="410463" y="23368"/>
                  </a:lnTo>
                  <a:lnTo>
                    <a:pt x="467899" y="49307"/>
                  </a:lnTo>
                  <a:lnTo>
                    <a:pt x="515238" y="94488"/>
                  </a:lnTo>
                  <a:lnTo>
                    <a:pt x="546846" y="157353"/>
                  </a:lnTo>
                  <a:lnTo>
                    <a:pt x="554761" y="194786"/>
                  </a:lnTo>
                  <a:lnTo>
                    <a:pt x="557402" y="236220"/>
                  </a:lnTo>
                  <a:lnTo>
                    <a:pt x="555878" y="268412"/>
                  </a:lnTo>
                  <a:lnTo>
                    <a:pt x="543686" y="324748"/>
                  </a:lnTo>
                  <a:lnTo>
                    <a:pt x="520088" y="370492"/>
                  </a:lnTo>
                  <a:lnTo>
                    <a:pt x="489227" y="406358"/>
                  </a:lnTo>
                  <a:lnTo>
                    <a:pt x="452461" y="432558"/>
                  </a:lnTo>
                  <a:lnTo>
                    <a:pt x="414361" y="449806"/>
                  </a:lnTo>
                  <a:lnTo>
                    <a:pt x="365855" y="459688"/>
                  </a:lnTo>
                  <a:lnTo>
                    <a:pt x="289655" y="464919"/>
                  </a:lnTo>
                  <a:lnTo>
                    <a:pt x="242696" y="465582"/>
                  </a:lnTo>
                  <a:lnTo>
                    <a:pt x="146938" y="465582"/>
                  </a:lnTo>
                  <a:lnTo>
                    <a:pt x="146938" y="740029"/>
                  </a:lnTo>
                  <a:lnTo>
                    <a:pt x="0" y="740029"/>
                  </a:lnTo>
                  <a:lnTo>
                    <a:pt x="0" y="12446"/>
                  </a:lnTo>
                  <a:close/>
                </a:path>
                <a:path w="4081145" h="752475">
                  <a:moveTo>
                    <a:pt x="3033267" y="0"/>
                  </a:moveTo>
                  <a:lnTo>
                    <a:pt x="3085127" y="2772"/>
                  </a:lnTo>
                  <a:lnTo>
                    <a:pt x="3133395" y="11086"/>
                  </a:lnTo>
                  <a:lnTo>
                    <a:pt x="3178079" y="24939"/>
                  </a:lnTo>
                  <a:lnTo>
                    <a:pt x="3219186" y="44327"/>
                  </a:lnTo>
                  <a:lnTo>
                    <a:pt x="3256723" y="69247"/>
                  </a:lnTo>
                  <a:lnTo>
                    <a:pt x="3290696" y="99695"/>
                  </a:lnTo>
                  <a:lnTo>
                    <a:pt x="3320203" y="135128"/>
                  </a:lnTo>
                  <a:lnTo>
                    <a:pt x="3344338" y="174883"/>
                  </a:lnTo>
                  <a:lnTo>
                    <a:pt x="3363102" y="218963"/>
                  </a:lnTo>
                  <a:lnTo>
                    <a:pt x="3376501" y="267372"/>
                  </a:lnTo>
                  <a:lnTo>
                    <a:pt x="3384538" y="320113"/>
                  </a:lnTo>
                  <a:lnTo>
                    <a:pt x="3387216" y="377190"/>
                  </a:lnTo>
                  <a:lnTo>
                    <a:pt x="3384559" y="433799"/>
                  </a:lnTo>
                  <a:lnTo>
                    <a:pt x="3376586" y="486151"/>
                  </a:lnTo>
                  <a:lnTo>
                    <a:pt x="3363293" y="534241"/>
                  </a:lnTo>
                  <a:lnTo>
                    <a:pt x="3344676" y="578066"/>
                  </a:lnTo>
                  <a:lnTo>
                    <a:pt x="3320733" y="617622"/>
                  </a:lnTo>
                  <a:lnTo>
                    <a:pt x="3291459" y="652907"/>
                  </a:lnTo>
                  <a:lnTo>
                    <a:pt x="3257729" y="683345"/>
                  </a:lnTo>
                  <a:lnTo>
                    <a:pt x="3220418" y="708241"/>
                  </a:lnTo>
                  <a:lnTo>
                    <a:pt x="3179524" y="727598"/>
                  </a:lnTo>
                  <a:lnTo>
                    <a:pt x="3135042" y="741421"/>
                  </a:lnTo>
                  <a:lnTo>
                    <a:pt x="3086968" y="749712"/>
                  </a:lnTo>
                  <a:lnTo>
                    <a:pt x="3035299" y="752475"/>
                  </a:lnTo>
                  <a:lnTo>
                    <a:pt x="2983049" y="749723"/>
                  </a:lnTo>
                  <a:lnTo>
                    <a:pt x="2934499" y="741468"/>
                  </a:lnTo>
                  <a:lnTo>
                    <a:pt x="2889646" y="727709"/>
                  </a:lnTo>
                  <a:lnTo>
                    <a:pt x="2848487" y="708448"/>
                  </a:lnTo>
                  <a:lnTo>
                    <a:pt x="2811018" y="683683"/>
                  </a:lnTo>
                  <a:lnTo>
                    <a:pt x="2777235" y="653415"/>
                  </a:lnTo>
                  <a:lnTo>
                    <a:pt x="2747961" y="618320"/>
                  </a:lnTo>
                  <a:lnTo>
                    <a:pt x="2724018" y="579077"/>
                  </a:lnTo>
                  <a:lnTo>
                    <a:pt x="2705401" y="535686"/>
                  </a:lnTo>
                  <a:lnTo>
                    <a:pt x="2692108" y="488145"/>
                  </a:lnTo>
                  <a:lnTo>
                    <a:pt x="2684135" y="436456"/>
                  </a:lnTo>
                  <a:lnTo>
                    <a:pt x="2681478" y="380619"/>
                  </a:lnTo>
                  <a:lnTo>
                    <a:pt x="2683549" y="327304"/>
                  </a:lnTo>
                  <a:lnTo>
                    <a:pt x="2689764" y="278431"/>
                  </a:lnTo>
                  <a:lnTo>
                    <a:pt x="2700123" y="234011"/>
                  </a:lnTo>
                  <a:lnTo>
                    <a:pt x="2714625" y="194056"/>
                  </a:lnTo>
                  <a:lnTo>
                    <a:pt x="2744057" y="141287"/>
                  </a:lnTo>
                  <a:lnTo>
                    <a:pt x="2782442" y="94234"/>
                  </a:lnTo>
                  <a:lnTo>
                    <a:pt x="2827401" y="55864"/>
                  </a:lnTo>
                  <a:lnTo>
                    <a:pt x="2876550" y="28829"/>
                  </a:lnTo>
                  <a:lnTo>
                    <a:pt x="2949670" y="7175"/>
                  </a:lnTo>
                  <a:lnTo>
                    <a:pt x="2990171" y="1789"/>
                  </a:lnTo>
                  <a:lnTo>
                    <a:pt x="3033267" y="0"/>
                  </a:lnTo>
                  <a:close/>
                </a:path>
              </a:pathLst>
            </a:custGeom>
            <a:ln w="6096">
              <a:solidFill>
                <a:srgbClr val="339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573395" y="3891026"/>
          <a:ext cx="581024" cy="7275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85"/>
                <a:gridCol w="287655"/>
                <a:gridCol w="146684"/>
              </a:tblGrid>
              <a:tr h="286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T w="6350">
                      <a:solidFill>
                        <a:srgbClr val="3399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T w="6350">
                      <a:solidFill>
                        <a:srgbClr val="3399FF"/>
                      </a:solidFill>
                      <a:prstDash val="solid"/>
                    </a:lnT>
                    <a:lnB w="6350">
                      <a:solidFill>
                        <a:srgbClr val="3399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T w="6350">
                      <a:solidFill>
                        <a:srgbClr val="3399FF"/>
                      </a:solidFill>
                      <a:prstDash val="solid"/>
                    </a:lnT>
                  </a:tcPr>
                </a:tc>
              </a:tr>
              <a:tr h="12306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181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B w="6350">
                      <a:solidFill>
                        <a:srgbClr val="3399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T w="6350">
                      <a:solidFill>
                        <a:srgbClr val="3399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399FF"/>
                      </a:solidFill>
                      <a:prstDash val="solid"/>
                    </a:lnL>
                    <a:lnR w="6350">
                      <a:solidFill>
                        <a:srgbClr val="3399FF"/>
                      </a:solidFill>
                      <a:prstDash val="solid"/>
                    </a:lnR>
                    <a:lnB w="6350">
                      <a:solidFill>
                        <a:srgbClr val="3399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2148" y="101041"/>
            <a:ext cx="32880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FUNCT</a:t>
            </a:r>
            <a:r>
              <a:rPr spc="-15" dirty="0"/>
              <a:t>I</a:t>
            </a:r>
            <a:r>
              <a:rPr dirty="0"/>
              <a:t>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731" y="1081633"/>
            <a:ext cx="11141710" cy="148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5"/>
              </a:spcBef>
              <a:buFont typeface="Wingdings"/>
              <a:buChar char=""/>
              <a:tabLst>
                <a:tab pos="577850" algn="l"/>
                <a:tab pos="578485" algn="l"/>
              </a:tabLst>
            </a:pPr>
            <a:r>
              <a:rPr sz="3200" dirty="0">
                <a:latin typeface="Arial"/>
                <a:cs typeface="Arial"/>
              </a:rPr>
              <a:t>A </a:t>
            </a:r>
            <a:r>
              <a:rPr sz="3200" b="1" dirty="0">
                <a:latin typeface="Arial"/>
                <a:cs typeface="Arial"/>
              </a:rPr>
              <a:t>function </a:t>
            </a:r>
            <a:r>
              <a:rPr sz="3200" dirty="0">
                <a:latin typeface="Arial"/>
                <a:cs typeface="Arial"/>
              </a:rPr>
              <a:t>is a </a:t>
            </a:r>
            <a:r>
              <a:rPr sz="3200" b="1" spc="-5" dirty="0">
                <a:latin typeface="Arial"/>
                <a:cs typeface="Arial"/>
              </a:rPr>
              <a:t>block </a:t>
            </a:r>
            <a:r>
              <a:rPr sz="3200" b="1" dirty="0">
                <a:latin typeface="Arial"/>
                <a:cs typeface="Arial"/>
              </a:rPr>
              <a:t>of organized, </a:t>
            </a:r>
            <a:r>
              <a:rPr sz="3200" b="1" spc="-5" dirty="0">
                <a:latin typeface="Arial"/>
                <a:cs typeface="Arial"/>
              </a:rPr>
              <a:t>reusable </a:t>
            </a:r>
            <a:r>
              <a:rPr sz="3200" b="1" dirty="0">
                <a:latin typeface="Arial"/>
                <a:cs typeface="Arial"/>
              </a:rPr>
              <a:t>code </a:t>
            </a:r>
            <a:r>
              <a:rPr sz="3200" spc="-5" dirty="0">
                <a:latin typeface="Arial"/>
                <a:cs typeface="Arial"/>
              </a:rPr>
              <a:t>that</a:t>
            </a:r>
            <a:r>
              <a:rPr sz="3200" spc="-3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  used to perform a </a:t>
            </a:r>
            <a:r>
              <a:rPr sz="3200" b="1" spc="-5" dirty="0">
                <a:latin typeface="Arial"/>
                <a:cs typeface="Arial"/>
              </a:rPr>
              <a:t>single, </a:t>
            </a:r>
            <a:r>
              <a:rPr sz="3200" spc="-5" dirty="0">
                <a:latin typeface="Arial"/>
                <a:cs typeface="Arial"/>
              </a:rPr>
              <a:t>related</a:t>
            </a:r>
            <a:r>
              <a:rPr sz="3200" spc="-10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action</a:t>
            </a:r>
            <a:r>
              <a:rPr sz="3200" spc="-5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731" y="3818890"/>
            <a:ext cx="10942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 indent="-47561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8315" algn="l"/>
              </a:tabLst>
            </a:pPr>
            <a:r>
              <a:rPr sz="3200" b="1" dirty="0">
                <a:latin typeface="Arial"/>
                <a:cs typeface="Arial"/>
              </a:rPr>
              <a:t>Functions </a:t>
            </a:r>
            <a:r>
              <a:rPr sz="3200" dirty="0">
                <a:latin typeface="Arial"/>
                <a:cs typeface="Arial"/>
              </a:rPr>
              <a:t>provide </a:t>
            </a:r>
            <a:r>
              <a:rPr sz="3200" b="1" dirty="0">
                <a:latin typeface="Arial"/>
                <a:cs typeface="Arial"/>
              </a:rPr>
              <a:t>better modularity </a:t>
            </a:r>
            <a:r>
              <a:rPr sz="3200" dirty="0">
                <a:latin typeface="Arial"/>
                <a:cs typeface="Arial"/>
              </a:rPr>
              <a:t>for the</a:t>
            </a:r>
            <a:r>
              <a:rPr sz="3200" spc="-19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applications.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731" y="5580989"/>
            <a:ext cx="9879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 indent="-47561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8315" algn="l"/>
              </a:tabLst>
            </a:pPr>
            <a:r>
              <a:rPr sz="3200" b="1" dirty="0">
                <a:latin typeface="Arial"/>
                <a:cs typeface="Arial"/>
              </a:rPr>
              <a:t>Functions </a:t>
            </a:r>
            <a:r>
              <a:rPr sz="3200" dirty="0">
                <a:latin typeface="Arial"/>
                <a:cs typeface="Arial"/>
              </a:rPr>
              <a:t>provide a </a:t>
            </a:r>
            <a:r>
              <a:rPr sz="3200" b="1" dirty="0">
                <a:latin typeface="Arial"/>
                <a:cs typeface="Arial"/>
              </a:rPr>
              <a:t>high </a:t>
            </a:r>
            <a:r>
              <a:rPr sz="3200" b="1" spc="-5" dirty="0">
                <a:latin typeface="Arial"/>
                <a:cs typeface="Arial"/>
              </a:rPr>
              <a:t>degree </a:t>
            </a:r>
            <a:r>
              <a:rPr sz="3200" b="1" dirty="0">
                <a:latin typeface="Arial"/>
                <a:cs typeface="Arial"/>
              </a:rPr>
              <a:t>of code</a:t>
            </a:r>
            <a:r>
              <a:rPr sz="3200" b="1" spc="-2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reusing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430" y="178765"/>
            <a:ext cx="11191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RULES FOR DEFINING FUNCTION IN</a:t>
            </a:r>
            <a:r>
              <a:rPr sz="4000" spc="-15" dirty="0"/>
              <a:t> </a:t>
            </a:r>
            <a:r>
              <a:rPr sz="4000" spc="-5" dirty="0"/>
              <a:t>PYTHON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2430" y="1145285"/>
            <a:ext cx="1168336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Function blocks begin with the </a:t>
            </a:r>
            <a:r>
              <a:rPr sz="2400" b="1" spc="-5" dirty="0">
                <a:latin typeface="Arial"/>
                <a:cs typeface="Arial"/>
              </a:rPr>
              <a:t>keyword </a:t>
            </a:r>
            <a:r>
              <a:rPr sz="2400" b="1" dirty="0">
                <a:latin typeface="Arial"/>
                <a:cs typeface="Arial"/>
              </a:rPr>
              <a:t>def </a:t>
            </a:r>
            <a:r>
              <a:rPr sz="2400" spc="-5" dirty="0">
                <a:latin typeface="Arial"/>
                <a:cs typeface="Arial"/>
              </a:rPr>
              <a:t>followed by the </a:t>
            </a:r>
            <a:r>
              <a:rPr sz="2400" b="1" dirty="0">
                <a:latin typeface="Arial"/>
                <a:cs typeface="Arial"/>
              </a:rPr>
              <a:t>function </a:t>
            </a:r>
            <a:r>
              <a:rPr sz="2400" b="1" spc="-5" dirty="0">
                <a:latin typeface="Arial"/>
                <a:cs typeface="Arial"/>
              </a:rPr>
              <a:t>name</a:t>
            </a:r>
            <a:r>
              <a:rPr sz="2400" b="1" spc="1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30"/>
              </a:spcBef>
            </a:pPr>
            <a:r>
              <a:rPr sz="2400" b="1" spc="-5" dirty="0">
                <a:latin typeface="Arial"/>
                <a:cs typeface="Arial"/>
              </a:rPr>
              <a:t>parentheses </a:t>
            </a:r>
            <a:r>
              <a:rPr sz="2400" b="1" dirty="0">
                <a:latin typeface="Arial"/>
                <a:cs typeface="Arial"/>
              </a:rPr>
              <a:t>( ( )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6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Any </a:t>
            </a:r>
            <a:r>
              <a:rPr sz="2400" b="1" dirty="0">
                <a:latin typeface="Arial"/>
                <a:cs typeface="Arial"/>
              </a:rPr>
              <a:t>input </a:t>
            </a:r>
            <a:r>
              <a:rPr sz="2400" b="1" spc="-5" dirty="0">
                <a:latin typeface="Arial"/>
                <a:cs typeface="Arial"/>
              </a:rPr>
              <a:t>parameters </a:t>
            </a:r>
            <a:r>
              <a:rPr sz="2400" b="1" dirty="0">
                <a:latin typeface="Arial"/>
                <a:cs typeface="Arial"/>
              </a:rPr>
              <a:t>or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spc="-5" dirty="0">
                <a:latin typeface="Arial"/>
                <a:cs typeface="Arial"/>
              </a:rPr>
              <a:t>should be placed </a:t>
            </a:r>
            <a:r>
              <a:rPr sz="2400" b="1" dirty="0">
                <a:latin typeface="Arial"/>
                <a:cs typeface="Arial"/>
              </a:rPr>
              <a:t>within </a:t>
            </a:r>
            <a:r>
              <a:rPr sz="2400" b="1" spc="-5" dirty="0">
                <a:latin typeface="Arial"/>
                <a:cs typeface="Arial"/>
              </a:rPr>
              <a:t>these parentheses</a:t>
            </a:r>
            <a:r>
              <a:rPr sz="2400" spc="-5" dirty="0">
                <a:latin typeface="Arial"/>
                <a:cs typeface="Arial"/>
              </a:rPr>
              <a:t>.  </a:t>
            </a:r>
            <a:r>
              <a:rPr sz="2400" spc="-25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also define </a:t>
            </a:r>
            <a:r>
              <a:rPr sz="2400" b="1" dirty="0">
                <a:latin typeface="Arial"/>
                <a:cs typeface="Arial"/>
              </a:rPr>
              <a:t>parameters inside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parentheses.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30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code </a:t>
            </a:r>
            <a:r>
              <a:rPr sz="2400" b="1" dirty="0">
                <a:latin typeface="Arial"/>
                <a:cs typeface="Arial"/>
              </a:rPr>
              <a:t>block </a:t>
            </a:r>
            <a:r>
              <a:rPr sz="2400" spc="-5" dirty="0">
                <a:latin typeface="Arial"/>
                <a:cs typeface="Arial"/>
              </a:rPr>
              <a:t>within every function </a:t>
            </a:r>
            <a:r>
              <a:rPr sz="2400" b="1" spc="-5" dirty="0">
                <a:latin typeface="Arial"/>
                <a:cs typeface="Arial"/>
              </a:rPr>
              <a:t>starts </a:t>
            </a:r>
            <a:r>
              <a:rPr sz="2400" spc="-5" dirty="0">
                <a:latin typeface="Arial"/>
                <a:cs typeface="Arial"/>
              </a:rPr>
              <a:t>with a </a:t>
            </a:r>
            <a:r>
              <a:rPr sz="2400" b="1" dirty="0">
                <a:latin typeface="Arial"/>
                <a:cs typeface="Arial"/>
              </a:rPr>
              <a:t>colon (:) </a:t>
            </a:r>
            <a:r>
              <a:rPr sz="2400" spc="-5" dirty="0">
                <a:latin typeface="Arial"/>
                <a:cs typeface="Arial"/>
              </a:rPr>
              <a:t>and is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indented.</a:t>
            </a:r>
            <a:endParaRPr sz="2400">
              <a:latin typeface="Arial"/>
              <a:cs typeface="Arial"/>
            </a:endParaRPr>
          </a:p>
          <a:p>
            <a:pPr marL="434340" indent="-422275">
              <a:lnSpc>
                <a:spcPct val="100000"/>
              </a:lnSpc>
              <a:spcBef>
                <a:spcPts val="2305"/>
              </a:spcBef>
              <a:buFont typeface="Wingdings"/>
              <a:buChar char=""/>
              <a:tabLst>
                <a:tab pos="434340" algn="l"/>
                <a:tab pos="434975" algn="l"/>
              </a:tabLst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statement return </a:t>
            </a:r>
            <a:r>
              <a:rPr sz="2400" spc="-5" dirty="0">
                <a:latin typeface="Arial"/>
                <a:cs typeface="Arial"/>
              </a:rPr>
              <a:t>[expression] </a:t>
            </a:r>
            <a:r>
              <a:rPr sz="2400" b="1" spc="-5" dirty="0">
                <a:latin typeface="Arial"/>
                <a:cs typeface="Arial"/>
              </a:rPr>
              <a:t>exits </a:t>
            </a:r>
            <a:r>
              <a:rPr sz="2400" b="1" dirty="0">
                <a:latin typeface="Arial"/>
                <a:cs typeface="Arial"/>
              </a:rPr>
              <a:t>a function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optionally </a:t>
            </a:r>
            <a:r>
              <a:rPr sz="2400" b="1" spc="-5" dirty="0">
                <a:latin typeface="Arial"/>
                <a:cs typeface="Arial"/>
              </a:rPr>
              <a:t>passing back</a:t>
            </a:r>
            <a:r>
              <a:rPr sz="2400" b="1" spc="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30"/>
              </a:spcBef>
            </a:pPr>
            <a:r>
              <a:rPr sz="2400" b="1" spc="-5" dirty="0">
                <a:latin typeface="Arial"/>
                <a:cs typeface="Arial"/>
              </a:rPr>
              <a:t>expression </a:t>
            </a:r>
            <a:r>
              <a:rPr sz="2400" spc="-5" dirty="0">
                <a:latin typeface="Arial"/>
                <a:cs typeface="Arial"/>
              </a:rPr>
              <a:t>to 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caller.</a:t>
            </a:r>
            <a:endParaRPr sz="2400">
              <a:latin typeface="Arial"/>
              <a:cs typeface="Arial"/>
            </a:endParaRPr>
          </a:p>
          <a:p>
            <a:pPr marL="439420" indent="-426720">
              <a:lnSpc>
                <a:spcPct val="100000"/>
              </a:lnSpc>
              <a:spcBef>
                <a:spcPts val="2305"/>
              </a:spcBef>
              <a:buFont typeface="Wingdings"/>
              <a:buChar char=""/>
              <a:tabLst>
                <a:tab pos="438784" algn="l"/>
                <a:tab pos="43942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return </a:t>
            </a:r>
            <a:r>
              <a:rPr sz="2400" b="1" spc="-5" dirty="0">
                <a:latin typeface="Arial"/>
                <a:cs typeface="Arial"/>
              </a:rPr>
              <a:t>statement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b="1" dirty="0">
                <a:latin typeface="Arial"/>
                <a:cs typeface="Arial"/>
              </a:rPr>
              <a:t>no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same </a:t>
            </a:r>
            <a:r>
              <a:rPr sz="2400" spc="-5" dirty="0">
                <a:latin typeface="Arial"/>
                <a:cs typeface="Arial"/>
              </a:rPr>
              <a:t>as </a:t>
            </a:r>
            <a:r>
              <a:rPr sz="2400" b="1" dirty="0">
                <a:latin typeface="Arial"/>
                <a:cs typeface="Arial"/>
              </a:rPr>
              <a:t>return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None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3156" y="95250"/>
            <a:ext cx="4375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80" dirty="0"/>
              <a:t> </a:t>
            </a:r>
            <a:r>
              <a:rPr dirty="0"/>
              <a:t>Syntax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74164" y="2577083"/>
            <a:ext cx="6612890" cy="2298700"/>
            <a:chOff x="2074164" y="2577083"/>
            <a:chExt cx="6612890" cy="2298700"/>
          </a:xfrm>
        </p:grpSpPr>
        <p:sp>
          <p:nvSpPr>
            <p:cNvPr id="4" name="object 4"/>
            <p:cNvSpPr/>
            <p:nvPr/>
          </p:nvSpPr>
          <p:spPr>
            <a:xfrm>
              <a:off x="2279904" y="2577083"/>
              <a:ext cx="6406896" cy="22981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74164" y="2589529"/>
              <a:ext cx="2088514" cy="559435"/>
            </a:xfrm>
            <a:custGeom>
              <a:avLst/>
              <a:gdLst/>
              <a:ahLst/>
              <a:cxnLst/>
              <a:rect l="l" t="t" r="r" b="b"/>
              <a:pathLst>
                <a:path w="2088514" h="559435">
                  <a:moveTo>
                    <a:pt x="75416" y="30839"/>
                  </a:moveTo>
                  <a:lnTo>
                    <a:pt x="72261" y="43163"/>
                  </a:lnTo>
                  <a:lnTo>
                    <a:pt x="2084832" y="559181"/>
                  </a:lnTo>
                  <a:lnTo>
                    <a:pt x="2088007" y="546989"/>
                  </a:lnTo>
                  <a:lnTo>
                    <a:pt x="75416" y="30839"/>
                  </a:lnTo>
                  <a:close/>
                </a:path>
                <a:path w="2088514" h="559435">
                  <a:moveTo>
                    <a:pt x="83312" y="0"/>
                  </a:moveTo>
                  <a:lnTo>
                    <a:pt x="0" y="18034"/>
                  </a:lnTo>
                  <a:lnTo>
                    <a:pt x="64388" y="73914"/>
                  </a:lnTo>
                  <a:lnTo>
                    <a:pt x="72261" y="43163"/>
                  </a:lnTo>
                  <a:lnTo>
                    <a:pt x="59943" y="40005"/>
                  </a:lnTo>
                  <a:lnTo>
                    <a:pt x="63118" y="27686"/>
                  </a:lnTo>
                  <a:lnTo>
                    <a:pt x="76224" y="27686"/>
                  </a:lnTo>
                  <a:lnTo>
                    <a:pt x="83312" y="0"/>
                  </a:lnTo>
                  <a:close/>
                </a:path>
                <a:path w="2088514" h="559435">
                  <a:moveTo>
                    <a:pt x="63118" y="27686"/>
                  </a:moveTo>
                  <a:lnTo>
                    <a:pt x="59943" y="40005"/>
                  </a:lnTo>
                  <a:lnTo>
                    <a:pt x="72261" y="43163"/>
                  </a:lnTo>
                  <a:lnTo>
                    <a:pt x="75416" y="30839"/>
                  </a:lnTo>
                  <a:lnTo>
                    <a:pt x="63118" y="27686"/>
                  </a:lnTo>
                  <a:close/>
                </a:path>
                <a:path w="2088514" h="559435">
                  <a:moveTo>
                    <a:pt x="76224" y="27686"/>
                  </a:moveTo>
                  <a:lnTo>
                    <a:pt x="63118" y="27686"/>
                  </a:lnTo>
                  <a:lnTo>
                    <a:pt x="75416" y="30839"/>
                  </a:lnTo>
                  <a:lnTo>
                    <a:pt x="76224" y="27686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539" y="2202179"/>
            <a:ext cx="1945005" cy="2059305"/>
          </a:xfrm>
          <a:prstGeom prst="rect">
            <a:avLst/>
          </a:prstGeom>
          <a:ln w="12191">
            <a:solidFill>
              <a:srgbClr val="2C89E7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99695" marR="92710" algn="ctr">
              <a:lnSpc>
                <a:spcPct val="100000"/>
              </a:lnSpc>
              <a:spcBef>
                <a:spcPts val="850"/>
              </a:spcBef>
            </a:pP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keyword  </a:t>
            </a:r>
            <a:r>
              <a:rPr sz="2400" b="1" spc="-10" dirty="0">
                <a:latin typeface="Arial"/>
                <a:cs typeface="Arial"/>
              </a:rPr>
              <a:t>def    </a:t>
            </a:r>
            <a:r>
              <a:rPr sz="2400" spc="-5" dirty="0">
                <a:latin typeface="Arial"/>
                <a:cs typeface="Arial"/>
              </a:rPr>
              <a:t>introduces a  </a:t>
            </a:r>
            <a:r>
              <a:rPr sz="2400" b="1" dirty="0">
                <a:latin typeface="Arial"/>
                <a:cs typeface="Arial"/>
              </a:rPr>
              <a:t>function  definition.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4934" y="2250947"/>
            <a:ext cx="2578735" cy="3171825"/>
          </a:xfrm>
          <a:custGeom>
            <a:avLst/>
            <a:gdLst/>
            <a:ahLst/>
            <a:cxnLst/>
            <a:rect l="l" t="t" r="r" b="b"/>
            <a:pathLst>
              <a:path w="2578734" h="3171825">
                <a:moveTo>
                  <a:pt x="838454" y="0"/>
                </a:moveTo>
                <a:lnTo>
                  <a:pt x="762254" y="38100"/>
                </a:lnTo>
                <a:lnTo>
                  <a:pt x="787679" y="57137"/>
                </a:lnTo>
                <a:lnTo>
                  <a:pt x="165354" y="888365"/>
                </a:lnTo>
                <a:lnTo>
                  <a:pt x="175514" y="895985"/>
                </a:lnTo>
                <a:lnTo>
                  <a:pt x="797839" y="64744"/>
                </a:lnTo>
                <a:lnTo>
                  <a:pt x="823341" y="83820"/>
                </a:lnTo>
                <a:lnTo>
                  <a:pt x="829970" y="46990"/>
                </a:lnTo>
                <a:lnTo>
                  <a:pt x="838454" y="0"/>
                </a:lnTo>
                <a:close/>
              </a:path>
              <a:path w="2578734" h="3171825">
                <a:moveTo>
                  <a:pt x="2063369" y="3171571"/>
                </a:moveTo>
                <a:lnTo>
                  <a:pt x="2046351" y="3148838"/>
                </a:lnTo>
                <a:lnTo>
                  <a:pt x="2012315" y="3103372"/>
                </a:lnTo>
                <a:lnTo>
                  <a:pt x="1998129" y="3131782"/>
                </a:lnTo>
                <a:lnTo>
                  <a:pt x="5588" y="2135505"/>
                </a:lnTo>
                <a:lnTo>
                  <a:pt x="0" y="2146935"/>
                </a:lnTo>
                <a:lnTo>
                  <a:pt x="1992452" y="3143173"/>
                </a:lnTo>
                <a:lnTo>
                  <a:pt x="1978279" y="3171571"/>
                </a:lnTo>
                <a:lnTo>
                  <a:pt x="2063369" y="3171571"/>
                </a:lnTo>
                <a:close/>
              </a:path>
              <a:path w="2578734" h="3171825">
                <a:moveTo>
                  <a:pt x="2578608" y="1489837"/>
                </a:moveTo>
                <a:lnTo>
                  <a:pt x="2570873" y="1483868"/>
                </a:lnTo>
                <a:lnTo>
                  <a:pt x="2511171" y="1437767"/>
                </a:lnTo>
                <a:lnTo>
                  <a:pt x="2505024" y="1468970"/>
                </a:lnTo>
                <a:lnTo>
                  <a:pt x="261620" y="1027049"/>
                </a:lnTo>
                <a:lnTo>
                  <a:pt x="259080" y="1039495"/>
                </a:lnTo>
                <a:lnTo>
                  <a:pt x="2502560" y="1481429"/>
                </a:lnTo>
                <a:lnTo>
                  <a:pt x="2496439" y="1512570"/>
                </a:lnTo>
                <a:lnTo>
                  <a:pt x="2578608" y="148983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82767" y="886967"/>
            <a:ext cx="4508500" cy="1359535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214629" rIns="0" bIns="0" rtlCol="0">
            <a:spAutoFit/>
          </a:bodyPr>
          <a:lstStyle/>
          <a:p>
            <a:pPr marL="179070" marR="170180" algn="ctr">
              <a:lnSpc>
                <a:spcPct val="100000"/>
              </a:lnSpc>
              <a:spcBef>
                <a:spcPts val="1689"/>
              </a:spcBef>
            </a:pPr>
            <a:r>
              <a:rPr sz="2000" b="1" dirty="0">
                <a:latin typeface="Arial"/>
                <a:cs typeface="Arial"/>
              </a:rPr>
              <a:t>Input Parameter </a:t>
            </a:r>
            <a:r>
              <a:rPr sz="2000" dirty="0">
                <a:latin typeface="Arial"/>
                <a:cs typeface="Arial"/>
              </a:rPr>
              <a:t>is placed within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  </a:t>
            </a:r>
            <a:r>
              <a:rPr sz="2000" b="1" dirty="0">
                <a:latin typeface="Arial"/>
                <a:cs typeface="Arial"/>
              </a:rPr>
              <a:t>parenthesis() </a:t>
            </a:r>
            <a:r>
              <a:rPr sz="2000" dirty="0">
                <a:latin typeface="Arial"/>
                <a:cs typeface="Arial"/>
              </a:rPr>
              <a:t>and also </a:t>
            </a:r>
            <a:r>
              <a:rPr sz="2000" b="1" dirty="0">
                <a:latin typeface="Arial"/>
                <a:cs typeface="Arial"/>
              </a:rPr>
              <a:t>define  parameter inside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parenthesis.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4464" y="5422391"/>
            <a:ext cx="4887595" cy="1325880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250825" marR="243840" indent="1905" algn="ctr">
              <a:lnSpc>
                <a:spcPct val="100000"/>
              </a:lnSpc>
              <a:spcBef>
                <a:spcPts val="850"/>
              </a:spcBef>
            </a:pPr>
            <a:r>
              <a:rPr sz="2400" b="1" spc="-5" dirty="0">
                <a:latin typeface="Arial"/>
                <a:cs typeface="Arial"/>
              </a:rPr>
              <a:t>Return </a:t>
            </a:r>
            <a:r>
              <a:rPr sz="2400" b="1" dirty="0">
                <a:latin typeface="Arial"/>
                <a:cs typeface="Arial"/>
              </a:rPr>
              <a:t>statement </a:t>
            </a:r>
            <a:r>
              <a:rPr sz="2400" b="1" spc="-5" dirty="0">
                <a:latin typeface="Arial"/>
                <a:cs typeface="Arial"/>
              </a:rPr>
              <a:t>exits </a:t>
            </a:r>
            <a:r>
              <a:rPr sz="2400" dirty="0">
                <a:latin typeface="Arial"/>
                <a:cs typeface="Arial"/>
              </a:rPr>
              <a:t>a  </a:t>
            </a:r>
            <a:r>
              <a:rPr sz="2400" b="1" dirty="0">
                <a:latin typeface="Arial"/>
                <a:cs typeface="Arial"/>
              </a:rPr>
              <a:t>function </a:t>
            </a:r>
            <a:r>
              <a:rPr sz="2400" spc="-5" dirty="0">
                <a:latin typeface="Arial"/>
                <a:cs typeface="Arial"/>
              </a:rPr>
              <a:t>block. And we can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also  </a:t>
            </a:r>
            <a:r>
              <a:rPr sz="2400" b="1" spc="-5" dirty="0">
                <a:latin typeface="Arial"/>
                <a:cs typeface="Arial"/>
              </a:rPr>
              <a:t>use </a:t>
            </a:r>
            <a:r>
              <a:rPr sz="2400" b="1" dirty="0">
                <a:latin typeface="Arial"/>
                <a:cs typeface="Arial"/>
              </a:rPr>
              <a:t>return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argument.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43288" y="3142488"/>
            <a:ext cx="2539365" cy="1926589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 marL="168910" marR="158750" algn="ctr">
              <a:lnSpc>
                <a:spcPct val="100000"/>
              </a:lnSpc>
              <a:spcBef>
                <a:spcPts val="1770"/>
              </a:spcBef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code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block  </a:t>
            </a:r>
            <a:r>
              <a:rPr sz="2400" spc="-5" dirty="0">
                <a:latin typeface="Arial"/>
                <a:cs typeface="Arial"/>
              </a:rPr>
              <a:t>within every  </a:t>
            </a:r>
            <a:r>
              <a:rPr sz="2400" b="1" dirty="0">
                <a:latin typeface="Arial"/>
                <a:cs typeface="Arial"/>
              </a:rPr>
              <a:t>function </a:t>
            </a:r>
            <a:r>
              <a:rPr sz="2400" b="1" spc="-5" dirty="0">
                <a:latin typeface="Arial"/>
                <a:cs typeface="Arial"/>
              </a:rPr>
              <a:t>starts  </a:t>
            </a:r>
            <a:r>
              <a:rPr sz="2400" spc="-5" dirty="0">
                <a:latin typeface="Arial"/>
                <a:cs typeface="Arial"/>
              </a:rPr>
              <a:t>with a </a:t>
            </a:r>
            <a:r>
              <a:rPr sz="2400" b="1" dirty="0">
                <a:latin typeface="Arial"/>
                <a:cs typeface="Arial"/>
              </a:rPr>
              <a:t>colon(:)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656" y="960119"/>
            <a:ext cx="11730228" cy="58978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7477" y="118059"/>
            <a:ext cx="9602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/>
              <a:t>PASSING </a:t>
            </a:r>
            <a:r>
              <a:rPr sz="4000" spc="-10" dirty="0"/>
              <a:t>ARGUMENTS </a:t>
            </a:r>
            <a:r>
              <a:rPr sz="4000" spc="-45" dirty="0"/>
              <a:t>TO</a:t>
            </a:r>
            <a:r>
              <a:rPr sz="4000" spc="-50" dirty="0"/>
              <a:t> </a:t>
            </a:r>
            <a:r>
              <a:rPr sz="4000" spc="-10" dirty="0"/>
              <a:t>FUNCTIONS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79298" y="1291589"/>
            <a:ext cx="10831830" cy="548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In programming, there are two ways in which arguments can be passed to functions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:-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185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"/>
              <a:tabLst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Pass by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Value</a:t>
            </a:r>
            <a:r>
              <a:rPr sz="2000" spc="-2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185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Function creates a copy of the variable(Object in </a:t>
            </a:r>
            <a:r>
              <a:rPr sz="2000" spc="-5" dirty="0">
                <a:latin typeface="Arial"/>
                <a:cs typeface="Arial"/>
              </a:rPr>
              <a:t>Python) </a:t>
            </a:r>
            <a:r>
              <a:rPr sz="2000" dirty="0">
                <a:latin typeface="Arial"/>
                <a:cs typeface="Arial"/>
              </a:rPr>
              <a:t>passed to it as an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argument.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185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The actual object is not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affected.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185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Object is of </a:t>
            </a:r>
            <a:r>
              <a:rPr sz="2000" b="1" dirty="0">
                <a:latin typeface="Arial"/>
                <a:cs typeface="Arial"/>
              </a:rPr>
              <a:t>immutable </a:t>
            </a:r>
            <a:r>
              <a:rPr sz="2000" b="1" spc="-5" dirty="0">
                <a:latin typeface="Arial"/>
                <a:cs typeface="Arial"/>
              </a:rPr>
              <a:t>type,</a:t>
            </a:r>
            <a:r>
              <a:rPr sz="2000" spc="-5" dirty="0">
                <a:latin typeface="Arial"/>
                <a:cs typeface="Arial"/>
              </a:rPr>
              <a:t>because immutable objects </a:t>
            </a:r>
            <a:r>
              <a:rPr sz="2000" dirty="0">
                <a:latin typeface="Arial"/>
                <a:cs typeface="Arial"/>
              </a:rPr>
              <a:t>cannot </a:t>
            </a:r>
            <a:r>
              <a:rPr sz="2000" spc="-5" dirty="0">
                <a:latin typeface="Arial"/>
                <a:cs typeface="Arial"/>
              </a:rPr>
              <a:t>be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modiﬁed.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185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Pass by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Reference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185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The actual object is passed to the called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function.</a:t>
            </a:r>
            <a:endParaRPr sz="20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185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buFont typeface="Wingdings"/>
              <a:buChar char=""/>
              <a:tabLst>
                <a:tab pos="1156335" algn="l"/>
              </a:tabLst>
            </a:pPr>
            <a:r>
              <a:rPr sz="2000" spc="-5" dirty="0">
                <a:latin typeface="Arial"/>
                <a:cs typeface="Arial"/>
              </a:rPr>
              <a:t>All </a:t>
            </a:r>
            <a:r>
              <a:rPr sz="2000" dirty="0">
                <a:latin typeface="Arial"/>
                <a:cs typeface="Arial"/>
              </a:rPr>
              <a:t>the changes made to the object inside the function </a:t>
            </a:r>
            <a:r>
              <a:rPr sz="2000" spc="-10" dirty="0">
                <a:latin typeface="Arial"/>
                <a:cs typeface="Arial"/>
              </a:rPr>
              <a:t>affect </a:t>
            </a:r>
            <a:r>
              <a:rPr sz="2000" dirty="0">
                <a:latin typeface="Arial"/>
                <a:cs typeface="Arial"/>
              </a:rPr>
              <a:t>its original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  <a:p>
            <a:pPr marL="1155700" marR="220345" lvl="2" indent="-229235">
              <a:lnSpc>
                <a:spcPct val="170000"/>
              </a:lnSpc>
              <a:spcBef>
                <a:spcPts val="484"/>
              </a:spcBef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Object is </a:t>
            </a:r>
            <a:r>
              <a:rPr sz="2000" b="1" dirty="0">
                <a:latin typeface="Arial"/>
                <a:cs typeface="Arial"/>
              </a:rPr>
              <a:t>mutable </a:t>
            </a:r>
            <a:r>
              <a:rPr sz="2000" b="1" spc="-10" dirty="0">
                <a:latin typeface="Arial"/>
                <a:cs typeface="Arial"/>
              </a:rPr>
              <a:t>type</a:t>
            </a:r>
            <a:r>
              <a:rPr sz="2000" spc="-10" dirty="0">
                <a:latin typeface="Arial"/>
                <a:cs typeface="Arial"/>
              </a:rPr>
              <a:t>, </a:t>
            </a:r>
            <a:r>
              <a:rPr sz="2000" dirty="0">
                <a:latin typeface="Arial"/>
                <a:cs typeface="Arial"/>
              </a:rPr>
              <a:t>as mutable objects can be changed, the passed objects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  updated.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878" y="160401"/>
            <a:ext cx="11346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EXAMPLES </a:t>
            </a:r>
            <a:r>
              <a:rPr sz="3600" spc="-10" dirty="0"/>
              <a:t>OF </a:t>
            </a:r>
            <a:r>
              <a:rPr sz="3600" spc="-40" dirty="0"/>
              <a:t>PASSING </a:t>
            </a:r>
            <a:r>
              <a:rPr sz="3600" spc="-35" dirty="0"/>
              <a:t>IMMUTABLE</a:t>
            </a:r>
            <a:r>
              <a:rPr sz="3600" spc="-114" dirty="0"/>
              <a:t> </a:t>
            </a:r>
            <a:r>
              <a:rPr sz="3600" dirty="0"/>
              <a:t>ARGUMENTS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52043" y="1031747"/>
            <a:ext cx="7254240" cy="3605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6942" y="4696682"/>
            <a:ext cx="5869548" cy="18336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7190" y="4434585"/>
            <a:ext cx="1029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2392" y="4773929"/>
            <a:ext cx="1638300" cy="772795"/>
          </a:xfrm>
          <a:custGeom>
            <a:avLst/>
            <a:gdLst/>
            <a:ahLst/>
            <a:cxnLst/>
            <a:rect l="l" t="t" r="r" b="b"/>
            <a:pathLst>
              <a:path w="1638300" h="772795">
                <a:moveTo>
                  <a:pt x="1566520" y="28779"/>
                </a:moveTo>
                <a:lnTo>
                  <a:pt x="0" y="760730"/>
                </a:lnTo>
                <a:lnTo>
                  <a:pt x="5334" y="772287"/>
                </a:lnTo>
                <a:lnTo>
                  <a:pt x="1571905" y="40312"/>
                </a:lnTo>
                <a:lnTo>
                  <a:pt x="1566520" y="28779"/>
                </a:lnTo>
                <a:close/>
              </a:path>
              <a:path w="1638300" h="772795">
                <a:moveTo>
                  <a:pt x="1621586" y="23368"/>
                </a:moveTo>
                <a:lnTo>
                  <a:pt x="1578102" y="23368"/>
                </a:lnTo>
                <a:lnTo>
                  <a:pt x="1583436" y="34925"/>
                </a:lnTo>
                <a:lnTo>
                  <a:pt x="1571905" y="40312"/>
                </a:lnTo>
                <a:lnTo>
                  <a:pt x="1585340" y="69088"/>
                </a:lnTo>
                <a:lnTo>
                  <a:pt x="1621586" y="23368"/>
                </a:lnTo>
                <a:close/>
              </a:path>
              <a:path w="1638300" h="772795">
                <a:moveTo>
                  <a:pt x="1578102" y="23368"/>
                </a:moveTo>
                <a:lnTo>
                  <a:pt x="1566520" y="28779"/>
                </a:lnTo>
                <a:lnTo>
                  <a:pt x="1571905" y="40312"/>
                </a:lnTo>
                <a:lnTo>
                  <a:pt x="1583436" y="34925"/>
                </a:lnTo>
                <a:lnTo>
                  <a:pt x="1578102" y="23368"/>
                </a:lnTo>
                <a:close/>
              </a:path>
              <a:path w="1638300" h="772795">
                <a:moveTo>
                  <a:pt x="1553083" y="0"/>
                </a:moveTo>
                <a:lnTo>
                  <a:pt x="1566520" y="28779"/>
                </a:lnTo>
                <a:lnTo>
                  <a:pt x="1578102" y="23368"/>
                </a:lnTo>
                <a:lnTo>
                  <a:pt x="1621586" y="23368"/>
                </a:lnTo>
                <a:lnTo>
                  <a:pt x="1638300" y="2286"/>
                </a:lnTo>
                <a:lnTo>
                  <a:pt x="1553083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176542" y="4464360"/>
            <a:ext cx="2760980" cy="655320"/>
            <a:chOff x="8176542" y="4464360"/>
            <a:chExt cx="2760980" cy="655320"/>
          </a:xfrm>
        </p:grpSpPr>
        <p:sp>
          <p:nvSpPr>
            <p:cNvPr id="8" name="object 8"/>
            <p:cNvSpPr/>
            <p:nvPr/>
          </p:nvSpPr>
          <p:spPr>
            <a:xfrm>
              <a:off x="8176542" y="4464360"/>
              <a:ext cx="2760570" cy="2377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42960" y="4605528"/>
              <a:ext cx="2211324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30311" y="4151376"/>
            <a:ext cx="3426460" cy="1068705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New </a:t>
            </a:r>
            <a:r>
              <a:rPr sz="1800" spc="-5" dirty="0">
                <a:latin typeface="Arial"/>
                <a:cs typeface="Arial"/>
              </a:rPr>
              <a:t>memory address of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‘a’</a:t>
            </a:r>
            <a:endParaRPr sz="18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inside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function.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4297" y="6043256"/>
            <a:ext cx="1752600" cy="254000"/>
          </a:xfrm>
          <a:custGeom>
            <a:avLst/>
            <a:gdLst/>
            <a:ahLst/>
            <a:cxnLst/>
            <a:rect l="l" t="t" r="r" b="b"/>
            <a:pathLst>
              <a:path w="1752600" h="254000">
                <a:moveTo>
                  <a:pt x="1675871" y="31508"/>
                </a:moveTo>
                <a:lnTo>
                  <a:pt x="0" y="240995"/>
                </a:lnTo>
                <a:lnTo>
                  <a:pt x="1524" y="253606"/>
                </a:lnTo>
                <a:lnTo>
                  <a:pt x="1677438" y="44117"/>
                </a:lnTo>
                <a:lnTo>
                  <a:pt x="1675871" y="31508"/>
                </a:lnTo>
                <a:close/>
              </a:path>
              <a:path w="1752600" h="254000">
                <a:moveTo>
                  <a:pt x="1749980" y="29933"/>
                </a:moveTo>
                <a:lnTo>
                  <a:pt x="1688465" y="29933"/>
                </a:lnTo>
                <a:lnTo>
                  <a:pt x="1690116" y="42532"/>
                </a:lnTo>
                <a:lnTo>
                  <a:pt x="1677438" y="44117"/>
                </a:lnTo>
                <a:lnTo>
                  <a:pt x="1681352" y="75615"/>
                </a:lnTo>
                <a:lnTo>
                  <a:pt x="1749980" y="29933"/>
                </a:lnTo>
                <a:close/>
              </a:path>
              <a:path w="1752600" h="254000">
                <a:moveTo>
                  <a:pt x="1688465" y="29933"/>
                </a:moveTo>
                <a:lnTo>
                  <a:pt x="1675871" y="31508"/>
                </a:lnTo>
                <a:lnTo>
                  <a:pt x="1677438" y="44117"/>
                </a:lnTo>
                <a:lnTo>
                  <a:pt x="1690116" y="42532"/>
                </a:lnTo>
                <a:lnTo>
                  <a:pt x="1688465" y="29933"/>
                </a:lnTo>
                <a:close/>
              </a:path>
              <a:path w="1752600" h="254000">
                <a:moveTo>
                  <a:pt x="1671954" y="0"/>
                </a:moveTo>
                <a:lnTo>
                  <a:pt x="1675871" y="31508"/>
                </a:lnTo>
                <a:lnTo>
                  <a:pt x="1688465" y="29933"/>
                </a:lnTo>
                <a:lnTo>
                  <a:pt x="1749980" y="29933"/>
                </a:lnTo>
                <a:lnTo>
                  <a:pt x="1752346" y="28359"/>
                </a:lnTo>
                <a:lnTo>
                  <a:pt x="1671954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025383" y="5768340"/>
            <a:ext cx="2763520" cy="847725"/>
            <a:chOff x="8025383" y="5768340"/>
            <a:chExt cx="2763520" cy="847725"/>
          </a:xfrm>
        </p:grpSpPr>
        <p:sp>
          <p:nvSpPr>
            <p:cNvPr id="13" name="object 13"/>
            <p:cNvSpPr/>
            <p:nvPr/>
          </p:nvSpPr>
          <p:spPr>
            <a:xfrm>
              <a:off x="8036051" y="5774436"/>
              <a:ext cx="2667000" cy="815340"/>
            </a:xfrm>
            <a:custGeom>
              <a:avLst/>
              <a:gdLst/>
              <a:ahLst/>
              <a:cxnLst/>
              <a:rect l="l" t="t" r="r" b="b"/>
              <a:pathLst>
                <a:path w="2667000" h="815340">
                  <a:moveTo>
                    <a:pt x="0" y="815339"/>
                  </a:moveTo>
                  <a:lnTo>
                    <a:pt x="2667000" y="815339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815339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5383" y="5827776"/>
              <a:ext cx="2763012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52331" y="6102096"/>
              <a:ext cx="1245107" cy="513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62035" y="5890056"/>
            <a:ext cx="2416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9140" marR="5080" indent="-7270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Actual variable ‘a’ is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  changed.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1435" y="171450"/>
            <a:ext cx="10840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EXAMPLES </a:t>
            </a:r>
            <a:r>
              <a:rPr sz="3600" spc="-10" dirty="0"/>
              <a:t>OF </a:t>
            </a:r>
            <a:r>
              <a:rPr sz="3600" spc="-40" dirty="0"/>
              <a:t>PASSING MUTABLE</a:t>
            </a:r>
            <a:r>
              <a:rPr sz="3600" spc="-135" dirty="0"/>
              <a:t> </a:t>
            </a:r>
            <a:r>
              <a:rPr sz="3600" dirty="0"/>
              <a:t>ARGUMENTS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88976" y="1005839"/>
            <a:ext cx="11847830" cy="5501640"/>
            <a:chOff x="188976" y="1005839"/>
            <a:chExt cx="11847830" cy="5501640"/>
          </a:xfrm>
        </p:grpSpPr>
        <p:sp>
          <p:nvSpPr>
            <p:cNvPr id="4" name="object 4"/>
            <p:cNvSpPr/>
            <p:nvPr/>
          </p:nvSpPr>
          <p:spPr>
            <a:xfrm>
              <a:off x="188976" y="1005839"/>
              <a:ext cx="10753344" cy="35417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035" y="4916569"/>
              <a:ext cx="6954713" cy="15878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1959" y="4837175"/>
              <a:ext cx="1018540" cy="1667510"/>
            </a:xfrm>
            <a:custGeom>
              <a:avLst/>
              <a:gdLst/>
              <a:ahLst/>
              <a:cxnLst/>
              <a:rect l="l" t="t" r="r" b="b"/>
              <a:pathLst>
                <a:path w="1018540" h="1667509">
                  <a:moveTo>
                    <a:pt x="0" y="0"/>
                  </a:moveTo>
                  <a:lnTo>
                    <a:pt x="75231" y="919"/>
                  </a:lnTo>
                  <a:lnTo>
                    <a:pt x="147031" y="3591"/>
                  </a:lnTo>
                  <a:lnTo>
                    <a:pt x="214612" y="7883"/>
                  </a:lnTo>
                  <a:lnTo>
                    <a:pt x="277189" y="13665"/>
                  </a:lnTo>
                  <a:lnTo>
                    <a:pt x="333974" y="20805"/>
                  </a:lnTo>
                  <a:lnTo>
                    <a:pt x="384181" y="29173"/>
                  </a:lnTo>
                  <a:lnTo>
                    <a:pt x="427024" y="38637"/>
                  </a:lnTo>
                  <a:lnTo>
                    <a:pt x="487469" y="60330"/>
                  </a:lnTo>
                  <a:lnTo>
                    <a:pt x="509016" y="84836"/>
                  </a:lnTo>
                  <a:lnTo>
                    <a:pt x="509016" y="748665"/>
                  </a:lnTo>
                  <a:lnTo>
                    <a:pt x="514533" y="761187"/>
                  </a:lnTo>
                  <a:lnTo>
                    <a:pt x="556316" y="784394"/>
                  </a:lnTo>
                  <a:lnTo>
                    <a:pt x="633850" y="804274"/>
                  </a:lnTo>
                  <a:lnTo>
                    <a:pt x="684057" y="812637"/>
                  </a:lnTo>
                  <a:lnTo>
                    <a:pt x="740842" y="819775"/>
                  </a:lnTo>
                  <a:lnTo>
                    <a:pt x="803419" y="825555"/>
                  </a:lnTo>
                  <a:lnTo>
                    <a:pt x="871000" y="829846"/>
                  </a:lnTo>
                  <a:lnTo>
                    <a:pt x="942800" y="832517"/>
                  </a:lnTo>
                  <a:lnTo>
                    <a:pt x="1018032" y="833437"/>
                  </a:lnTo>
                  <a:lnTo>
                    <a:pt x="942800" y="834357"/>
                  </a:lnTo>
                  <a:lnTo>
                    <a:pt x="871000" y="837029"/>
                  </a:lnTo>
                  <a:lnTo>
                    <a:pt x="803419" y="841322"/>
                  </a:lnTo>
                  <a:lnTo>
                    <a:pt x="740842" y="847105"/>
                  </a:lnTo>
                  <a:lnTo>
                    <a:pt x="684057" y="854247"/>
                  </a:lnTo>
                  <a:lnTo>
                    <a:pt x="633850" y="862616"/>
                  </a:lnTo>
                  <a:lnTo>
                    <a:pt x="591007" y="872080"/>
                  </a:lnTo>
                  <a:lnTo>
                    <a:pt x="530562" y="893772"/>
                  </a:lnTo>
                  <a:lnTo>
                    <a:pt x="509016" y="918273"/>
                  </a:lnTo>
                  <a:lnTo>
                    <a:pt x="509016" y="1582420"/>
                  </a:lnTo>
                  <a:lnTo>
                    <a:pt x="503498" y="1594955"/>
                  </a:lnTo>
                  <a:lnTo>
                    <a:pt x="461715" y="1618183"/>
                  </a:lnTo>
                  <a:lnTo>
                    <a:pt x="384181" y="1638077"/>
                  </a:lnTo>
                  <a:lnTo>
                    <a:pt x="333974" y="1646446"/>
                  </a:lnTo>
                  <a:lnTo>
                    <a:pt x="277189" y="1653587"/>
                  </a:lnTo>
                  <a:lnTo>
                    <a:pt x="214612" y="1659370"/>
                  </a:lnTo>
                  <a:lnTo>
                    <a:pt x="147031" y="1663663"/>
                  </a:lnTo>
                  <a:lnTo>
                    <a:pt x="75231" y="1666336"/>
                  </a:lnTo>
                  <a:lnTo>
                    <a:pt x="0" y="1667256"/>
                  </a:lnTo>
                </a:path>
              </a:pathLst>
            </a:custGeom>
            <a:ln w="6096">
              <a:solidFill>
                <a:srgbClr val="0066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2599" y="5399531"/>
              <a:ext cx="2562225" cy="721360"/>
            </a:xfrm>
            <a:custGeom>
              <a:avLst/>
              <a:gdLst/>
              <a:ahLst/>
              <a:cxnLst/>
              <a:rect l="l" t="t" r="r" b="b"/>
              <a:pathLst>
                <a:path w="2562225" h="721360">
                  <a:moveTo>
                    <a:pt x="0" y="720852"/>
                  </a:moveTo>
                  <a:lnTo>
                    <a:pt x="2561844" y="720852"/>
                  </a:lnTo>
                  <a:lnTo>
                    <a:pt x="2561844" y="0"/>
                  </a:lnTo>
                  <a:lnTo>
                    <a:pt x="0" y="0"/>
                  </a:lnTo>
                  <a:lnTo>
                    <a:pt x="0" y="720852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39576" y="5670397"/>
              <a:ext cx="2027516" cy="2089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00347" y="4804536"/>
              <a:ext cx="5126990" cy="1577340"/>
            </a:xfrm>
            <a:custGeom>
              <a:avLst/>
              <a:gdLst/>
              <a:ahLst/>
              <a:cxnLst/>
              <a:rect l="l" t="t" r="r" b="b"/>
              <a:pathLst>
                <a:path w="5126990" h="1577339">
                  <a:moveTo>
                    <a:pt x="5052244" y="30355"/>
                  </a:moveTo>
                  <a:lnTo>
                    <a:pt x="0" y="1564665"/>
                  </a:lnTo>
                  <a:lnTo>
                    <a:pt x="3810" y="1576806"/>
                  </a:lnTo>
                  <a:lnTo>
                    <a:pt x="5055939" y="42543"/>
                  </a:lnTo>
                  <a:lnTo>
                    <a:pt x="5052244" y="30355"/>
                  </a:lnTo>
                  <a:close/>
                </a:path>
                <a:path w="5126990" h="1577339">
                  <a:moveTo>
                    <a:pt x="5113976" y="26669"/>
                  </a:moveTo>
                  <a:lnTo>
                    <a:pt x="5064379" y="26669"/>
                  </a:lnTo>
                  <a:lnTo>
                    <a:pt x="5068061" y="38862"/>
                  </a:lnTo>
                  <a:lnTo>
                    <a:pt x="5055939" y="42543"/>
                  </a:lnTo>
                  <a:lnTo>
                    <a:pt x="5065141" y="72898"/>
                  </a:lnTo>
                  <a:lnTo>
                    <a:pt x="5113976" y="26669"/>
                  </a:lnTo>
                  <a:close/>
                </a:path>
                <a:path w="5126990" h="1577339">
                  <a:moveTo>
                    <a:pt x="5064379" y="26669"/>
                  </a:moveTo>
                  <a:lnTo>
                    <a:pt x="5052244" y="30355"/>
                  </a:lnTo>
                  <a:lnTo>
                    <a:pt x="5055939" y="42543"/>
                  </a:lnTo>
                  <a:lnTo>
                    <a:pt x="5068061" y="38862"/>
                  </a:lnTo>
                  <a:lnTo>
                    <a:pt x="5064379" y="26669"/>
                  </a:lnTo>
                  <a:close/>
                </a:path>
                <a:path w="5126990" h="1577339">
                  <a:moveTo>
                    <a:pt x="5043043" y="0"/>
                  </a:moveTo>
                  <a:lnTo>
                    <a:pt x="5052244" y="30355"/>
                  </a:lnTo>
                  <a:lnTo>
                    <a:pt x="5064379" y="26669"/>
                  </a:lnTo>
                  <a:lnTo>
                    <a:pt x="5113976" y="26669"/>
                  </a:lnTo>
                  <a:lnTo>
                    <a:pt x="5126989" y="14350"/>
                  </a:lnTo>
                  <a:lnTo>
                    <a:pt x="5043043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48799" y="3933444"/>
              <a:ext cx="2486025" cy="1184275"/>
            </a:xfrm>
            <a:custGeom>
              <a:avLst/>
              <a:gdLst/>
              <a:ahLst/>
              <a:cxnLst/>
              <a:rect l="l" t="t" r="r" b="b"/>
              <a:pathLst>
                <a:path w="2486025" h="1184275">
                  <a:moveTo>
                    <a:pt x="0" y="1184147"/>
                  </a:moveTo>
                  <a:lnTo>
                    <a:pt x="2485644" y="1184147"/>
                  </a:lnTo>
                  <a:lnTo>
                    <a:pt x="2485644" y="0"/>
                  </a:lnTo>
                  <a:lnTo>
                    <a:pt x="0" y="0"/>
                  </a:lnTo>
                  <a:lnTo>
                    <a:pt x="0" y="1184147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27464" y="3979163"/>
              <a:ext cx="1385316" cy="5699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71404" y="3979163"/>
              <a:ext cx="1213103" cy="56997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13235" y="3979163"/>
              <a:ext cx="623316" cy="5699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91116" y="4283963"/>
              <a:ext cx="2077212" cy="5699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42932" y="4588763"/>
              <a:ext cx="1906524" cy="5699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81515" y="4048505"/>
            <a:ext cx="2223770" cy="187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of </a:t>
            </a:r>
            <a:r>
              <a:rPr sz="2000" b="1" spc="-10" dirty="0">
                <a:latin typeface="Arial"/>
                <a:cs typeface="Arial"/>
              </a:rPr>
              <a:t>my_list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  changed after  function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call.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Address is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same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11627" y="2800166"/>
            <a:ext cx="8035686" cy="562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56966" y="2616530"/>
            <a:ext cx="810640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solidFill>
                  <a:srgbClr val="000000"/>
                </a:solidFill>
                <a:latin typeface="Arial"/>
                <a:cs typeface="Arial"/>
              </a:rPr>
              <a:t>FUNCTION</a:t>
            </a:r>
            <a:r>
              <a:rPr sz="5400" b="0" spc="-3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 dirty="0">
                <a:solidFill>
                  <a:srgbClr val="000000"/>
                </a:solidFill>
                <a:latin typeface="Arial"/>
                <a:cs typeface="Arial"/>
              </a:rPr>
              <a:t>ARGUMENTS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5263" y="141858"/>
            <a:ext cx="83051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DEFAULT </a:t>
            </a:r>
            <a:r>
              <a:rPr dirty="0"/>
              <a:t>ARGUMENT</a:t>
            </a:r>
            <a:r>
              <a:rPr spc="-195" dirty="0"/>
              <a:t> </a:t>
            </a:r>
            <a:r>
              <a:rPr spc="-5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901" y="1173860"/>
            <a:ext cx="10823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Default Argument- </a:t>
            </a:r>
            <a:r>
              <a:rPr sz="2400" spc="-5" dirty="0">
                <a:latin typeface="Arial"/>
                <a:cs typeface="Arial"/>
              </a:rPr>
              <a:t>argument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b="1" spc="-5" dirty="0">
                <a:latin typeface="Arial"/>
                <a:cs typeface="Arial"/>
              </a:rPr>
              <a:t>assumes a </a:t>
            </a:r>
            <a:r>
              <a:rPr sz="2400" b="1" dirty="0">
                <a:latin typeface="Arial"/>
                <a:cs typeface="Arial"/>
              </a:rPr>
              <a:t>default </a:t>
            </a:r>
            <a:r>
              <a:rPr sz="2400" b="1" spc="-5" dirty="0">
                <a:latin typeface="Arial"/>
                <a:cs typeface="Arial"/>
              </a:rPr>
              <a:t>value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value is </a:t>
            </a:r>
            <a:r>
              <a:rPr sz="2400" b="1" spc="-5" dirty="0">
                <a:latin typeface="Arial"/>
                <a:cs typeface="Arial"/>
              </a:rPr>
              <a:t>not  </a:t>
            </a:r>
            <a:r>
              <a:rPr sz="2400" b="1" dirty="0">
                <a:latin typeface="Arial"/>
                <a:cs typeface="Arial"/>
              </a:rPr>
              <a:t>provided </a:t>
            </a:r>
            <a:r>
              <a:rPr sz="2400" spc="-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function call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901" y="1905758"/>
            <a:ext cx="6224905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default value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evaluated </a:t>
            </a:r>
            <a:r>
              <a:rPr sz="2400" b="1" dirty="0">
                <a:latin typeface="Arial"/>
                <a:cs typeface="Arial"/>
              </a:rPr>
              <a:t>only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once.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89139" y="5281004"/>
            <a:ext cx="3453821" cy="12561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372015" y="2443352"/>
            <a:ext cx="5847080" cy="3053715"/>
            <a:chOff x="2372015" y="2443352"/>
            <a:chExt cx="5847080" cy="3053715"/>
          </a:xfrm>
        </p:grpSpPr>
        <p:sp>
          <p:nvSpPr>
            <p:cNvPr id="7" name="object 7"/>
            <p:cNvSpPr/>
            <p:nvPr/>
          </p:nvSpPr>
          <p:spPr>
            <a:xfrm>
              <a:off x="2372015" y="2520660"/>
              <a:ext cx="5776746" cy="24674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8798" y="2443352"/>
              <a:ext cx="3350260" cy="253365"/>
            </a:xfrm>
            <a:custGeom>
              <a:avLst/>
              <a:gdLst/>
              <a:ahLst/>
              <a:cxnLst/>
              <a:rect l="l" t="t" r="r" b="b"/>
              <a:pathLst>
                <a:path w="3350259" h="253364">
                  <a:moveTo>
                    <a:pt x="3273529" y="31671"/>
                  </a:moveTo>
                  <a:lnTo>
                    <a:pt x="0" y="240157"/>
                  </a:lnTo>
                  <a:lnTo>
                    <a:pt x="762" y="252857"/>
                  </a:lnTo>
                  <a:lnTo>
                    <a:pt x="3274334" y="44368"/>
                  </a:lnTo>
                  <a:lnTo>
                    <a:pt x="3273529" y="31671"/>
                  </a:lnTo>
                  <a:close/>
                </a:path>
                <a:path w="3350259" h="253364">
                  <a:moveTo>
                    <a:pt x="3344593" y="30861"/>
                  </a:moveTo>
                  <a:lnTo>
                    <a:pt x="3286252" y="30861"/>
                  </a:lnTo>
                  <a:lnTo>
                    <a:pt x="3287014" y="43561"/>
                  </a:lnTo>
                  <a:lnTo>
                    <a:pt x="3274334" y="44368"/>
                  </a:lnTo>
                  <a:lnTo>
                    <a:pt x="3276346" y="76073"/>
                  </a:lnTo>
                  <a:lnTo>
                    <a:pt x="3350005" y="33147"/>
                  </a:lnTo>
                  <a:lnTo>
                    <a:pt x="3344593" y="30861"/>
                  </a:lnTo>
                  <a:close/>
                </a:path>
                <a:path w="3350259" h="253364">
                  <a:moveTo>
                    <a:pt x="3286252" y="30861"/>
                  </a:moveTo>
                  <a:lnTo>
                    <a:pt x="3273529" y="31671"/>
                  </a:lnTo>
                  <a:lnTo>
                    <a:pt x="3274334" y="44368"/>
                  </a:lnTo>
                  <a:lnTo>
                    <a:pt x="3287014" y="43561"/>
                  </a:lnTo>
                  <a:lnTo>
                    <a:pt x="3286252" y="30861"/>
                  </a:lnTo>
                  <a:close/>
                </a:path>
                <a:path w="3350259" h="253364">
                  <a:moveTo>
                    <a:pt x="3271520" y="0"/>
                  </a:moveTo>
                  <a:lnTo>
                    <a:pt x="3273529" y="31671"/>
                  </a:lnTo>
                  <a:lnTo>
                    <a:pt x="3286252" y="30861"/>
                  </a:lnTo>
                  <a:lnTo>
                    <a:pt x="3344593" y="30861"/>
                  </a:lnTo>
                  <a:lnTo>
                    <a:pt x="327152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47515" y="4966335"/>
              <a:ext cx="337185" cy="530860"/>
            </a:xfrm>
            <a:custGeom>
              <a:avLst/>
              <a:gdLst/>
              <a:ahLst/>
              <a:cxnLst/>
              <a:rect l="l" t="t" r="r" b="b"/>
              <a:pathLst>
                <a:path w="337185" h="530860">
                  <a:moveTo>
                    <a:pt x="8255" y="445642"/>
                  </a:moveTo>
                  <a:lnTo>
                    <a:pt x="0" y="530478"/>
                  </a:lnTo>
                  <a:lnTo>
                    <a:pt x="72771" y="486282"/>
                  </a:lnTo>
                  <a:lnTo>
                    <a:pt x="62891" y="480059"/>
                  </a:lnTo>
                  <a:lnTo>
                    <a:pt x="39243" y="480059"/>
                  </a:lnTo>
                  <a:lnTo>
                    <a:pt x="28448" y="473328"/>
                  </a:lnTo>
                  <a:lnTo>
                    <a:pt x="35189" y="462609"/>
                  </a:lnTo>
                  <a:lnTo>
                    <a:pt x="8255" y="445642"/>
                  </a:lnTo>
                  <a:close/>
                </a:path>
                <a:path w="337185" h="530860">
                  <a:moveTo>
                    <a:pt x="35189" y="462609"/>
                  </a:moveTo>
                  <a:lnTo>
                    <a:pt x="28448" y="473328"/>
                  </a:lnTo>
                  <a:lnTo>
                    <a:pt x="39243" y="480059"/>
                  </a:lnTo>
                  <a:lnTo>
                    <a:pt x="45952" y="469389"/>
                  </a:lnTo>
                  <a:lnTo>
                    <a:pt x="35189" y="462609"/>
                  </a:lnTo>
                  <a:close/>
                </a:path>
                <a:path w="337185" h="530860">
                  <a:moveTo>
                    <a:pt x="45952" y="469389"/>
                  </a:moveTo>
                  <a:lnTo>
                    <a:pt x="39243" y="480059"/>
                  </a:lnTo>
                  <a:lnTo>
                    <a:pt x="62891" y="480059"/>
                  </a:lnTo>
                  <a:lnTo>
                    <a:pt x="45952" y="469389"/>
                  </a:lnTo>
                  <a:close/>
                </a:path>
                <a:path w="337185" h="530860">
                  <a:moveTo>
                    <a:pt x="326136" y="0"/>
                  </a:moveTo>
                  <a:lnTo>
                    <a:pt x="35189" y="462609"/>
                  </a:lnTo>
                  <a:lnTo>
                    <a:pt x="45952" y="469389"/>
                  </a:lnTo>
                  <a:lnTo>
                    <a:pt x="336804" y="6857"/>
                  </a:lnTo>
                  <a:lnTo>
                    <a:pt x="326136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48527" y="5136260"/>
            <a:ext cx="945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Outpu</a:t>
            </a:r>
            <a:r>
              <a:rPr sz="2000" b="1" spc="5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5800" y="2188464"/>
            <a:ext cx="3382010" cy="1262380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97485" marR="186690" indent="14604" algn="ctr">
              <a:lnSpc>
                <a:spcPct val="100000"/>
              </a:lnSpc>
              <a:spcBef>
                <a:spcPts val="1310"/>
              </a:spcBef>
            </a:pPr>
            <a:r>
              <a:rPr sz="2000" dirty="0">
                <a:latin typeface="Arial"/>
                <a:cs typeface="Arial"/>
              </a:rPr>
              <a:t>In this code, argument </a:t>
            </a:r>
            <a:r>
              <a:rPr sz="2000" b="1" dirty="0">
                <a:latin typeface="Arial"/>
                <a:cs typeface="Arial"/>
              </a:rPr>
              <a:t>‘b’  </a:t>
            </a:r>
            <a:r>
              <a:rPr sz="2000" dirty="0">
                <a:latin typeface="Arial"/>
                <a:cs typeface="Arial"/>
              </a:rPr>
              <a:t>has given a </a:t>
            </a:r>
            <a:r>
              <a:rPr sz="2000" b="1" dirty="0">
                <a:latin typeface="Arial"/>
                <a:cs typeface="Arial"/>
              </a:rPr>
              <a:t>default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value.  </a:t>
            </a:r>
            <a:r>
              <a:rPr sz="2000" b="1" dirty="0">
                <a:latin typeface="Arial"/>
                <a:cs typeface="Arial"/>
              </a:rPr>
              <a:t>ie(b=90)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544" y="5497067"/>
            <a:ext cx="4520565" cy="1132840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93675" marR="184785" algn="ctr">
              <a:lnSpc>
                <a:spcPct val="100000"/>
              </a:lnSpc>
              <a:spcBef>
                <a:spcPts val="810"/>
              </a:spcBef>
            </a:pPr>
            <a:r>
              <a:rPr sz="2000" dirty="0">
                <a:latin typeface="Arial"/>
                <a:cs typeface="Arial"/>
              </a:rPr>
              <a:t>When the </a:t>
            </a:r>
            <a:r>
              <a:rPr sz="2000" b="1" spc="-10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of ‘b’ </a:t>
            </a:r>
            <a:r>
              <a:rPr sz="200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not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passed  in function </a:t>
            </a:r>
            <a:r>
              <a:rPr sz="2000" spc="-5" dirty="0">
                <a:latin typeface="Arial"/>
                <a:cs typeface="Arial"/>
              </a:rPr>
              <a:t>,then </a:t>
            </a:r>
            <a:r>
              <a:rPr sz="2000" dirty="0">
                <a:latin typeface="Arial"/>
                <a:cs typeface="Arial"/>
              </a:rPr>
              <a:t>it takes </a:t>
            </a:r>
            <a:r>
              <a:rPr sz="2000" b="1" dirty="0">
                <a:latin typeface="Arial"/>
                <a:cs typeface="Arial"/>
              </a:rPr>
              <a:t>default  argument</a:t>
            </a:r>
            <a:r>
              <a:rPr sz="200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8175" y="80263"/>
            <a:ext cx="6301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DEFAULT</a:t>
            </a:r>
            <a:r>
              <a:rPr spc="-240" dirty="0"/>
              <a:t> </a:t>
            </a:r>
            <a:r>
              <a:rPr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788" y="1108964"/>
            <a:ext cx="108565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default value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b="1" spc="-5" dirty="0">
                <a:latin typeface="Arial"/>
                <a:cs typeface="Arial"/>
              </a:rPr>
              <a:t>evaluated </a:t>
            </a:r>
            <a:r>
              <a:rPr sz="2400" b="1" dirty="0">
                <a:latin typeface="Arial"/>
                <a:cs typeface="Arial"/>
              </a:rPr>
              <a:t>only </a:t>
            </a:r>
            <a:r>
              <a:rPr sz="2400" b="1" spc="-5" dirty="0">
                <a:latin typeface="Arial"/>
                <a:cs typeface="Arial"/>
              </a:rPr>
              <a:t>once</a:t>
            </a:r>
            <a:r>
              <a:rPr sz="2400" spc="-5" dirty="0">
                <a:latin typeface="Arial"/>
                <a:cs typeface="Arial"/>
              </a:rPr>
              <a:t>. This makes a </a:t>
            </a:r>
            <a:r>
              <a:rPr sz="2400" spc="-10" dirty="0">
                <a:latin typeface="Arial"/>
                <a:cs typeface="Arial"/>
              </a:rPr>
              <a:t>difference </a:t>
            </a:r>
            <a:r>
              <a:rPr sz="2400" spc="-5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b="1" spc="-5" dirty="0">
                <a:latin typeface="Arial"/>
                <a:cs typeface="Arial"/>
              </a:rPr>
              <a:t>default </a:t>
            </a:r>
            <a:r>
              <a:rPr sz="2400" b="1" dirty="0">
                <a:latin typeface="Arial"/>
                <a:cs typeface="Arial"/>
              </a:rPr>
              <a:t>is a mutable </a:t>
            </a:r>
            <a:r>
              <a:rPr sz="2400" b="1" spc="-5" dirty="0">
                <a:latin typeface="Arial"/>
                <a:cs typeface="Arial"/>
              </a:rPr>
              <a:t>object </a:t>
            </a:r>
            <a:r>
              <a:rPr sz="2400" dirty="0">
                <a:latin typeface="Arial"/>
                <a:cs typeface="Arial"/>
              </a:rPr>
              <a:t>such as </a:t>
            </a:r>
            <a:r>
              <a:rPr sz="2400" b="1" dirty="0">
                <a:latin typeface="Arial"/>
                <a:cs typeface="Arial"/>
              </a:rPr>
              <a:t>a list, </a:t>
            </a:r>
            <a:r>
              <a:rPr sz="2400" b="1" spc="-20" dirty="0">
                <a:latin typeface="Arial"/>
                <a:cs typeface="Arial"/>
              </a:rPr>
              <a:t>dictionary, </a:t>
            </a:r>
            <a:r>
              <a:rPr sz="2400" b="1" dirty="0">
                <a:latin typeface="Arial"/>
                <a:cs typeface="Arial"/>
              </a:rPr>
              <a:t>or instances of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most  classes.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788" y="2279650"/>
            <a:ext cx="17233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788" y="4913757"/>
            <a:ext cx="10984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  <a:tab pos="676275" algn="l"/>
                <a:tab pos="5328920" algn="l"/>
              </a:tabLst>
            </a:pPr>
            <a:r>
              <a:rPr sz="2400" dirty="0">
                <a:latin typeface="Arial"/>
                <a:cs typeface="Arial"/>
              </a:rPr>
              <a:t>if	</a:t>
            </a:r>
            <a:r>
              <a:rPr sz="2400" spc="-5" dirty="0">
                <a:latin typeface="Arial"/>
                <a:cs typeface="Arial"/>
              </a:rPr>
              <a:t>we </a:t>
            </a:r>
            <a:r>
              <a:rPr sz="2400" b="1" dirty="0">
                <a:latin typeface="Arial"/>
                <a:cs typeface="Arial"/>
              </a:rPr>
              <a:t>don’t </a:t>
            </a:r>
            <a:r>
              <a:rPr sz="2400" b="1" spc="5" dirty="0">
                <a:latin typeface="Arial"/>
                <a:cs typeface="Arial"/>
              </a:rPr>
              <a:t>want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default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value	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be </a:t>
            </a:r>
            <a:r>
              <a:rPr sz="2400" b="1" spc="-5" dirty="0">
                <a:latin typeface="Arial"/>
                <a:cs typeface="Arial"/>
              </a:rPr>
              <a:t>shared </a:t>
            </a:r>
            <a:r>
              <a:rPr sz="2400" spc="-5" dirty="0">
                <a:latin typeface="Arial"/>
                <a:cs typeface="Arial"/>
              </a:rPr>
              <a:t>between </a:t>
            </a:r>
            <a:r>
              <a:rPr sz="2400" b="1" spc="-5" dirty="0">
                <a:latin typeface="Arial"/>
                <a:cs typeface="Arial"/>
              </a:rPr>
              <a:t>subsequent</a:t>
            </a:r>
            <a:r>
              <a:rPr sz="2400" b="1" dirty="0">
                <a:latin typeface="Arial"/>
                <a:cs typeface="Arial"/>
              </a:rPr>
              <a:t> calls</a:t>
            </a:r>
            <a:r>
              <a:rPr sz="2400" dirty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788" y="5206390"/>
            <a:ext cx="180784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"/>
                <a:cs typeface="Arial"/>
              </a:rPr>
              <a:t>then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3780" y="2770839"/>
            <a:ext cx="3735996" cy="1945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39158" y="2761582"/>
            <a:ext cx="6708853" cy="14004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75782" y="2380615"/>
            <a:ext cx="85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1992" y="5359908"/>
            <a:ext cx="3674363" cy="13502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16448" y="5637545"/>
            <a:ext cx="1383047" cy="7906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99858" y="5251196"/>
            <a:ext cx="85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t: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134" y="70180"/>
            <a:ext cx="6682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KEYWORD</a:t>
            </a:r>
            <a:r>
              <a:rPr spc="-245" dirty="0"/>
              <a:t> </a:t>
            </a:r>
            <a:r>
              <a:rPr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062" y="998791"/>
            <a:ext cx="11610340" cy="25139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Keyword arguments </a:t>
            </a:r>
            <a:r>
              <a:rPr sz="2400" dirty="0">
                <a:latin typeface="Arial"/>
                <a:cs typeface="Arial"/>
              </a:rPr>
              <a:t>are </a:t>
            </a:r>
            <a:r>
              <a:rPr sz="2400" spc="-5" dirty="0">
                <a:latin typeface="Arial"/>
                <a:cs typeface="Arial"/>
              </a:rPr>
              <a:t>related </a:t>
            </a:r>
            <a:r>
              <a:rPr sz="2400" dirty="0">
                <a:latin typeface="Arial"/>
                <a:cs typeface="Arial"/>
              </a:rPr>
              <a:t>to the </a:t>
            </a:r>
            <a:r>
              <a:rPr sz="2400" b="1" dirty="0">
                <a:latin typeface="Arial"/>
                <a:cs typeface="Arial"/>
              </a:rPr>
              <a:t>function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calls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Using </a:t>
            </a:r>
            <a:r>
              <a:rPr sz="2400" b="1" spc="-5" dirty="0">
                <a:latin typeface="Arial"/>
                <a:cs typeface="Arial"/>
              </a:rPr>
              <a:t>keyword arguments </a:t>
            </a:r>
            <a:r>
              <a:rPr sz="2400" spc="-5" dirty="0">
                <a:latin typeface="Arial"/>
                <a:cs typeface="Arial"/>
              </a:rPr>
              <a:t>in a </a:t>
            </a:r>
            <a:r>
              <a:rPr sz="2400" b="1" dirty="0">
                <a:latin typeface="Arial"/>
                <a:cs typeface="Arial"/>
              </a:rPr>
              <a:t>function call</a:t>
            </a:r>
            <a:r>
              <a:rPr sz="2400" dirty="0">
                <a:latin typeface="Arial"/>
                <a:cs typeface="Arial"/>
              </a:rPr>
              <a:t>, the </a:t>
            </a:r>
            <a:r>
              <a:rPr sz="2400" b="1" spc="-5" dirty="0">
                <a:latin typeface="Arial"/>
                <a:cs typeface="Arial"/>
              </a:rPr>
              <a:t>caller </a:t>
            </a:r>
            <a:r>
              <a:rPr sz="2400" b="1" dirty="0">
                <a:latin typeface="Arial"/>
                <a:cs typeface="Arial"/>
              </a:rPr>
              <a:t>identifies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arguments  </a:t>
            </a:r>
            <a:r>
              <a:rPr sz="2400" b="1" dirty="0">
                <a:latin typeface="Arial"/>
                <a:cs typeface="Arial"/>
              </a:rPr>
              <a:t>by the </a:t>
            </a:r>
            <a:r>
              <a:rPr sz="2400" b="1" spc="-5" dirty="0">
                <a:latin typeface="Arial"/>
                <a:cs typeface="Arial"/>
              </a:rPr>
              <a:t>parameter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4965" marR="563245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Allows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b="1" dirty="0">
                <a:latin typeface="Arial"/>
                <a:cs typeface="Arial"/>
              </a:rPr>
              <a:t>skip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b="1" dirty="0">
                <a:latin typeface="Arial"/>
                <a:cs typeface="Arial"/>
              </a:rPr>
              <a:t>place them </a:t>
            </a:r>
            <a:r>
              <a:rPr sz="2400" b="1" spc="-5" dirty="0">
                <a:latin typeface="Arial"/>
                <a:cs typeface="Arial"/>
              </a:rPr>
              <a:t>out </a:t>
            </a:r>
            <a:r>
              <a:rPr sz="2400" b="1" dirty="0">
                <a:latin typeface="Arial"/>
                <a:cs typeface="Arial"/>
              </a:rPr>
              <a:t>of </a:t>
            </a:r>
            <a:r>
              <a:rPr sz="2400" b="1" spc="-25" dirty="0">
                <a:latin typeface="Arial"/>
                <a:cs typeface="Arial"/>
              </a:rPr>
              <a:t>order,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spc="-10" dirty="0">
                <a:latin typeface="Arial"/>
                <a:cs typeface="Arial"/>
              </a:rPr>
              <a:t>Python </a:t>
            </a:r>
            <a:r>
              <a:rPr sz="2400" b="1" spc="-5" dirty="0">
                <a:latin typeface="Arial"/>
                <a:cs typeface="Arial"/>
              </a:rPr>
              <a:t>interpreter  use </a:t>
            </a:r>
            <a:r>
              <a:rPr sz="2400" b="1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keywords </a:t>
            </a:r>
            <a:r>
              <a:rPr sz="2400" spc="-5" dirty="0">
                <a:latin typeface="Arial"/>
                <a:cs typeface="Arial"/>
              </a:rPr>
              <a:t>provided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b="1" dirty="0">
                <a:latin typeface="Arial"/>
                <a:cs typeface="Arial"/>
              </a:rPr>
              <a:t>match the </a:t>
            </a:r>
            <a:r>
              <a:rPr sz="2400" b="1" spc="-5" dirty="0">
                <a:latin typeface="Arial"/>
                <a:cs typeface="Arial"/>
              </a:rPr>
              <a:t>values </a:t>
            </a:r>
            <a:r>
              <a:rPr sz="2400" b="1" spc="5" dirty="0">
                <a:latin typeface="Arial"/>
                <a:cs typeface="Arial"/>
              </a:rPr>
              <a:t>with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parameters.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2492" y="5759196"/>
            <a:ext cx="2198617" cy="9555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38172" y="3528059"/>
            <a:ext cx="5074285" cy="1533525"/>
            <a:chOff x="2138172" y="3528059"/>
            <a:chExt cx="5074285" cy="1533525"/>
          </a:xfrm>
        </p:grpSpPr>
        <p:sp>
          <p:nvSpPr>
            <p:cNvPr id="6" name="object 6"/>
            <p:cNvSpPr/>
            <p:nvPr/>
          </p:nvSpPr>
          <p:spPr>
            <a:xfrm>
              <a:off x="2138172" y="3528059"/>
              <a:ext cx="4658868" cy="15331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126" y="4678679"/>
              <a:ext cx="2266950" cy="132080"/>
            </a:xfrm>
            <a:custGeom>
              <a:avLst/>
              <a:gdLst/>
              <a:ahLst/>
              <a:cxnLst/>
              <a:rect l="l" t="t" r="r" b="b"/>
              <a:pathLst>
                <a:path w="2266950" h="132079">
                  <a:moveTo>
                    <a:pt x="2190495" y="31747"/>
                  </a:moveTo>
                  <a:lnTo>
                    <a:pt x="0" y="118872"/>
                  </a:lnTo>
                  <a:lnTo>
                    <a:pt x="508" y="131572"/>
                  </a:lnTo>
                  <a:lnTo>
                    <a:pt x="2191003" y="44447"/>
                  </a:lnTo>
                  <a:lnTo>
                    <a:pt x="2190495" y="31747"/>
                  </a:lnTo>
                  <a:close/>
                </a:path>
                <a:path w="2266950" h="132079">
                  <a:moveTo>
                    <a:pt x="2258501" y="31242"/>
                  </a:moveTo>
                  <a:lnTo>
                    <a:pt x="2203196" y="31242"/>
                  </a:lnTo>
                  <a:lnTo>
                    <a:pt x="2203704" y="43942"/>
                  </a:lnTo>
                  <a:lnTo>
                    <a:pt x="2191003" y="44447"/>
                  </a:lnTo>
                  <a:lnTo>
                    <a:pt x="2192274" y="76200"/>
                  </a:lnTo>
                  <a:lnTo>
                    <a:pt x="2266950" y="35052"/>
                  </a:lnTo>
                  <a:lnTo>
                    <a:pt x="2258501" y="31242"/>
                  </a:lnTo>
                  <a:close/>
                </a:path>
                <a:path w="2266950" h="132079">
                  <a:moveTo>
                    <a:pt x="2203196" y="31242"/>
                  </a:moveTo>
                  <a:lnTo>
                    <a:pt x="2190495" y="31747"/>
                  </a:lnTo>
                  <a:lnTo>
                    <a:pt x="2191003" y="44447"/>
                  </a:lnTo>
                  <a:lnTo>
                    <a:pt x="2203704" y="43942"/>
                  </a:lnTo>
                  <a:lnTo>
                    <a:pt x="2203196" y="31242"/>
                  </a:lnTo>
                  <a:close/>
                </a:path>
                <a:path w="2266950" h="132079">
                  <a:moveTo>
                    <a:pt x="2189226" y="0"/>
                  </a:moveTo>
                  <a:lnTo>
                    <a:pt x="2190495" y="31747"/>
                  </a:lnTo>
                  <a:lnTo>
                    <a:pt x="2203196" y="31242"/>
                  </a:lnTo>
                  <a:lnTo>
                    <a:pt x="2258501" y="31242"/>
                  </a:lnTo>
                  <a:lnTo>
                    <a:pt x="2189226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19908" y="5372811"/>
            <a:ext cx="85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3007" y="3787140"/>
            <a:ext cx="4381500" cy="2123440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78460" marR="375920" indent="-287020">
              <a:lnSpc>
                <a:spcPct val="140000"/>
              </a:lnSpc>
              <a:spcBef>
                <a:spcPts val="409"/>
              </a:spcBef>
              <a:buFont typeface="Wingdings"/>
              <a:buChar char=""/>
              <a:tabLst>
                <a:tab pos="378460" algn="l"/>
                <a:tab pos="379095" algn="l"/>
              </a:tabLst>
            </a:pPr>
            <a:r>
              <a:rPr sz="1800" spc="-5" dirty="0">
                <a:latin typeface="Arial"/>
                <a:cs typeface="Arial"/>
              </a:rPr>
              <a:t>Caller </a:t>
            </a:r>
            <a:r>
              <a:rPr sz="1800" b="1" dirty="0">
                <a:latin typeface="Arial"/>
                <a:cs typeface="Arial"/>
              </a:rPr>
              <a:t>identifies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keyword  </a:t>
            </a:r>
            <a:r>
              <a:rPr sz="1800" b="1" spc="-5" dirty="0">
                <a:latin typeface="Arial"/>
                <a:cs typeface="Arial"/>
              </a:rPr>
              <a:t>argument </a:t>
            </a:r>
            <a:r>
              <a:rPr sz="1800" spc="-5" dirty="0">
                <a:latin typeface="Arial"/>
                <a:cs typeface="Arial"/>
              </a:rPr>
              <a:t>by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parameter name.</a:t>
            </a:r>
            <a:endParaRPr sz="1800">
              <a:latin typeface="Arial"/>
              <a:cs typeface="Arial"/>
            </a:endParaRPr>
          </a:p>
          <a:p>
            <a:pPr marL="378460" indent="-28765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78460" algn="l"/>
                <a:tab pos="379095" algn="l"/>
              </a:tabLst>
            </a:pPr>
            <a:r>
              <a:rPr sz="1800" spc="-5" dirty="0">
                <a:latin typeface="Arial"/>
                <a:cs typeface="Arial"/>
              </a:rPr>
              <a:t>Calling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the </a:t>
            </a:r>
            <a:r>
              <a:rPr sz="1800" b="1" spc="-5" dirty="0">
                <a:latin typeface="Arial"/>
                <a:cs typeface="Arial"/>
              </a:rPr>
              <a:t>argument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865"/>
              </a:spcBef>
            </a:pPr>
            <a:r>
              <a:rPr sz="1800" spc="-10" dirty="0">
                <a:latin typeface="Arial"/>
                <a:cs typeface="Arial"/>
              </a:rPr>
              <a:t>doesn’t </a:t>
            </a:r>
            <a:r>
              <a:rPr sz="1800" dirty="0">
                <a:latin typeface="Arial"/>
                <a:cs typeface="Arial"/>
              </a:rPr>
              <a:t>matter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1559" y="110489"/>
            <a:ext cx="6682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KEYWORD</a:t>
            </a:r>
            <a:r>
              <a:rPr spc="-240" dirty="0"/>
              <a:t> </a:t>
            </a:r>
            <a:r>
              <a:rPr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438" y="1054989"/>
            <a:ext cx="19773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1: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60892" y="2235707"/>
            <a:ext cx="2816622" cy="1357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9911" y="1700783"/>
            <a:ext cx="7367016" cy="1982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16059" y="1357629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Output: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7871" y="4693077"/>
            <a:ext cx="7130820" cy="19421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0842" y="4063110"/>
            <a:ext cx="192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299720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2: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49995" y="4669535"/>
            <a:ext cx="3689604" cy="1889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16059" y="4063110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Output: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446" y="78435"/>
            <a:ext cx="8388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ARBITRARY </a:t>
            </a:r>
            <a:r>
              <a:rPr dirty="0"/>
              <a:t>ARGUMENT</a:t>
            </a:r>
            <a:r>
              <a:rPr spc="-305" dirty="0"/>
              <a:t> </a:t>
            </a:r>
            <a:r>
              <a:rPr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360" y="1084326"/>
            <a:ext cx="11504295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76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4594225" algn="l"/>
              </a:tabLst>
            </a:pPr>
            <a:r>
              <a:rPr sz="2400" b="1" spc="-10" dirty="0">
                <a:latin typeface="Arial"/>
                <a:cs typeface="Arial"/>
              </a:rPr>
              <a:t>Variable-Length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Arguments:	</a:t>
            </a:r>
            <a:r>
              <a:rPr sz="2400" b="1" dirty="0">
                <a:latin typeface="Arial"/>
                <a:cs typeface="Arial"/>
              </a:rPr>
              <a:t>more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spc="-5" dirty="0">
                <a:latin typeface="Arial"/>
                <a:cs typeface="Arial"/>
              </a:rPr>
              <a:t>than we </a:t>
            </a:r>
            <a:r>
              <a:rPr sz="2400" b="1" dirty="0">
                <a:latin typeface="Arial"/>
                <a:cs typeface="Arial"/>
              </a:rPr>
              <a:t>specified </a:t>
            </a:r>
            <a:r>
              <a:rPr sz="2400" spc="-5" dirty="0">
                <a:latin typeface="Arial"/>
                <a:cs typeface="Arial"/>
              </a:rPr>
              <a:t>while defining  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function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These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dirty="0">
                <a:latin typeface="Arial"/>
                <a:cs typeface="Arial"/>
              </a:rPr>
              <a:t>are </a:t>
            </a:r>
            <a:r>
              <a:rPr sz="2400" spc="-5" dirty="0">
                <a:latin typeface="Arial"/>
                <a:cs typeface="Arial"/>
              </a:rPr>
              <a:t>also called </a:t>
            </a:r>
            <a:r>
              <a:rPr sz="2400" b="1" spc="-5" dirty="0">
                <a:latin typeface="Arial"/>
                <a:cs typeface="Arial"/>
              </a:rPr>
              <a:t>variable-length arguments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An </a:t>
            </a:r>
            <a:r>
              <a:rPr sz="2400" b="1" spc="-5" dirty="0">
                <a:latin typeface="Arial"/>
                <a:cs typeface="Arial"/>
              </a:rPr>
              <a:t>asterisk (*) </a:t>
            </a:r>
            <a:r>
              <a:rPr sz="2400" spc="-5" dirty="0">
                <a:latin typeface="Arial"/>
                <a:cs typeface="Arial"/>
              </a:rPr>
              <a:t>is placed before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variable </a:t>
            </a:r>
            <a:r>
              <a:rPr sz="2400" b="1" spc="-5" dirty="0">
                <a:latin typeface="Arial"/>
                <a:cs typeface="Arial"/>
              </a:rPr>
              <a:t>name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holds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values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all </a:t>
            </a:r>
            <a:r>
              <a:rPr sz="2400" b="1" spc="-5" dirty="0">
                <a:latin typeface="Arial"/>
                <a:cs typeface="Arial"/>
              </a:rPr>
              <a:t>non  keyword </a:t>
            </a:r>
            <a:r>
              <a:rPr sz="2400" b="1" dirty="0">
                <a:latin typeface="Arial"/>
                <a:cs typeface="Arial"/>
              </a:rPr>
              <a:t>variable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arguments.</a:t>
            </a:r>
            <a:endParaRPr sz="2400">
              <a:latin typeface="Arial"/>
              <a:cs typeface="Arial"/>
            </a:endParaRPr>
          </a:p>
          <a:p>
            <a:pPr marL="355600" marR="469265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38784" algn="l"/>
                <a:tab pos="439420" algn="l"/>
              </a:tabLst>
            </a:pPr>
            <a:r>
              <a:rPr dirty="0"/>
              <a:t>	</a:t>
            </a:r>
            <a:r>
              <a:rPr sz="2400" spc="-5" dirty="0">
                <a:latin typeface="Arial"/>
                <a:cs typeface="Arial"/>
              </a:rPr>
              <a:t>This tuple remains </a:t>
            </a:r>
            <a:r>
              <a:rPr sz="2400" b="1" spc="-5" dirty="0">
                <a:latin typeface="Arial"/>
                <a:cs typeface="Arial"/>
              </a:rPr>
              <a:t>empty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b="1" dirty="0">
                <a:latin typeface="Arial"/>
                <a:cs typeface="Arial"/>
              </a:rPr>
              <a:t>no </a:t>
            </a:r>
            <a:r>
              <a:rPr sz="2400" b="1" spc="-5" dirty="0">
                <a:latin typeface="Arial"/>
                <a:cs typeface="Arial"/>
              </a:rPr>
              <a:t>additional arguments </a:t>
            </a:r>
            <a:r>
              <a:rPr sz="2400" spc="-5" dirty="0">
                <a:latin typeface="Arial"/>
                <a:cs typeface="Arial"/>
              </a:rPr>
              <a:t>are specified during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function call.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360" y="3937761"/>
            <a:ext cx="1553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latin typeface="Arial"/>
                <a:cs typeface="Arial"/>
              </a:rPr>
              <a:t>Syntax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5745" y="3867658"/>
            <a:ext cx="6942455" cy="2588260"/>
            <a:chOff x="2285745" y="3867658"/>
            <a:chExt cx="6942455" cy="2588260"/>
          </a:xfrm>
        </p:grpSpPr>
        <p:sp>
          <p:nvSpPr>
            <p:cNvPr id="6" name="object 6"/>
            <p:cNvSpPr/>
            <p:nvPr/>
          </p:nvSpPr>
          <p:spPr>
            <a:xfrm>
              <a:off x="2292095" y="3874008"/>
              <a:ext cx="6929755" cy="2575560"/>
            </a:xfrm>
            <a:custGeom>
              <a:avLst/>
              <a:gdLst/>
              <a:ahLst/>
              <a:cxnLst/>
              <a:rect l="l" t="t" r="r" b="b"/>
              <a:pathLst>
                <a:path w="6929755" h="2575560">
                  <a:moveTo>
                    <a:pt x="0" y="2575560"/>
                  </a:moveTo>
                  <a:lnTo>
                    <a:pt x="6929628" y="2575560"/>
                  </a:lnTo>
                  <a:lnTo>
                    <a:pt x="6929628" y="0"/>
                  </a:lnTo>
                  <a:lnTo>
                    <a:pt x="0" y="0"/>
                  </a:lnTo>
                  <a:lnTo>
                    <a:pt x="0" y="2575560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49184" y="4667052"/>
              <a:ext cx="340821" cy="19021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8707" y="4533900"/>
              <a:ext cx="1802891" cy="5135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3751" y="4533900"/>
              <a:ext cx="448055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13960" y="4533900"/>
              <a:ext cx="1511808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7919" y="4533900"/>
              <a:ext cx="504444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14516" y="4533900"/>
              <a:ext cx="396239" cy="513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2907" y="4533900"/>
              <a:ext cx="1815083" cy="5135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7199" y="4533900"/>
              <a:ext cx="512064" cy="5135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8323" y="4808220"/>
              <a:ext cx="2022348" cy="51358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78323" y="5082540"/>
              <a:ext cx="1958339" cy="5135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59451" y="5356860"/>
              <a:ext cx="2263140" cy="51358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34105" y="4595621"/>
            <a:ext cx="52451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def function_name([formal_args], *var_args_tuple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):</a:t>
            </a:r>
            <a:endParaRPr sz="1800">
              <a:latin typeface="Arial"/>
              <a:cs typeface="Arial"/>
            </a:endParaRPr>
          </a:p>
          <a:p>
            <a:pPr marL="1774189" marR="1574165" indent="118745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statement 1……  statement 2……  return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[expression]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36688" y="4303521"/>
            <a:ext cx="2070735" cy="386080"/>
          </a:xfrm>
          <a:custGeom>
            <a:avLst/>
            <a:gdLst/>
            <a:ahLst/>
            <a:cxnLst/>
            <a:rect l="l" t="t" r="r" b="b"/>
            <a:pathLst>
              <a:path w="2070734" h="386079">
                <a:moveTo>
                  <a:pt x="1994285" y="31239"/>
                </a:moveTo>
                <a:lnTo>
                  <a:pt x="0" y="373379"/>
                </a:lnTo>
                <a:lnTo>
                  <a:pt x="2031" y="385825"/>
                </a:lnTo>
                <a:lnTo>
                  <a:pt x="1996434" y="43813"/>
                </a:lnTo>
                <a:lnTo>
                  <a:pt x="1994285" y="31239"/>
                </a:lnTo>
                <a:close/>
              </a:path>
              <a:path w="2070734" h="386079">
                <a:moveTo>
                  <a:pt x="2064423" y="29082"/>
                </a:moveTo>
                <a:lnTo>
                  <a:pt x="2006853" y="29082"/>
                </a:lnTo>
                <a:lnTo>
                  <a:pt x="2009012" y="41655"/>
                </a:lnTo>
                <a:lnTo>
                  <a:pt x="1996434" y="43813"/>
                </a:lnTo>
                <a:lnTo>
                  <a:pt x="2001773" y="75056"/>
                </a:lnTo>
                <a:lnTo>
                  <a:pt x="2064423" y="29082"/>
                </a:lnTo>
                <a:close/>
              </a:path>
              <a:path w="2070734" h="386079">
                <a:moveTo>
                  <a:pt x="2006853" y="29082"/>
                </a:moveTo>
                <a:lnTo>
                  <a:pt x="1994285" y="31239"/>
                </a:lnTo>
                <a:lnTo>
                  <a:pt x="1996434" y="43813"/>
                </a:lnTo>
                <a:lnTo>
                  <a:pt x="2009012" y="41655"/>
                </a:lnTo>
                <a:lnTo>
                  <a:pt x="2006853" y="29082"/>
                </a:lnTo>
                <a:close/>
              </a:path>
              <a:path w="2070734" h="386079">
                <a:moveTo>
                  <a:pt x="1988946" y="0"/>
                </a:moveTo>
                <a:lnTo>
                  <a:pt x="1994285" y="31239"/>
                </a:lnTo>
                <a:lnTo>
                  <a:pt x="2006853" y="29082"/>
                </a:lnTo>
                <a:lnTo>
                  <a:pt x="2064423" y="29082"/>
                </a:lnTo>
                <a:lnTo>
                  <a:pt x="2070480" y="24637"/>
                </a:lnTo>
                <a:lnTo>
                  <a:pt x="1988946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87559" y="4031437"/>
            <a:ext cx="218313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This is called  arbitrary argument  and asterisk sign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  placed before the  variable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name.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4490" y="104901"/>
            <a:ext cx="83864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ARBITRARY </a:t>
            </a:r>
            <a:r>
              <a:rPr dirty="0"/>
              <a:t>ARGUMENT</a:t>
            </a:r>
            <a:r>
              <a:rPr spc="-315" dirty="0"/>
              <a:t> </a:t>
            </a:r>
            <a:r>
              <a:rPr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659" y="1032128"/>
            <a:ext cx="2198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1: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267" y="1716521"/>
            <a:ext cx="4202106" cy="2175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6538" y="4834245"/>
            <a:ext cx="1866839" cy="14507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6544" y="4021328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Output: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10892" y="1716465"/>
            <a:ext cx="6434455" cy="5057775"/>
            <a:chOff x="5710892" y="1716465"/>
            <a:chExt cx="6434455" cy="5057775"/>
          </a:xfrm>
        </p:grpSpPr>
        <p:sp>
          <p:nvSpPr>
            <p:cNvPr id="8" name="object 8"/>
            <p:cNvSpPr/>
            <p:nvPr/>
          </p:nvSpPr>
          <p:spPr>
            <a:xfrm>
              <a:off x="5710892" y="1716465"/>
              <a:ext cx="5501703" cy="1765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33281" y="1974469"/>
              <a:ext cx="1232535" cy="2421890"/>
            </a:xfrm>
            <a:custGeom>
              <a:avLst/>
              <a:gdLst/>
              <a:ahLst/>
              <a:cxnLst/>
              <a:rect l="l" t="t" r="r" b="b"/>
              <a:pathLst>
                <a:path w="1232534" h="2421890">
                  <a:moveTo>
                    <a:pt x="381" y="2336672"/>
                  </a:moveTo>
                  <a:lnTo>
                    <a:pt x="0" y="2421889"/>
                  </a:lnTo>
                  <a:lnTo>
                    <a:pt x="68452" y="2371089"/>
                  </a:lnTo>
                  <a:lnTo>
                    <a:pt x="65689" y="2369692"/>
                  </a:lnTo>
                  <a:lnTo>
                    <a:pt x="37465" y="2369692"/>
                  </a:lnTo>
                  <a:lnTo>
                    <a:pt x="19812" y="2360803"/>
                  </a:lnTo>
                  <a:lnTo>
                    <a:pt x="25577" y="2349412"/>
                  </a:lnTo>
                  <a:lnTo>
                    <a:pt x="381" y="2336672"/>
                  </a:lnTo>
                  <a:close/>
                </a:path>
                <a:path w="1232534" h="2421890">
                  <a:moveTo>
                    <a:pt x="25577" y="2349412"/>
                  </a:moveTo>
                  <a:lnTo>
                    <a:pt x="19812" y="2360803"/>
                  </a:lnTo>
                  <a:lnTo>
                    <a:pt x="37465" y="2369692"/>
                  </a:lnTo>
                  <a:lnTo>
                    <a:pt x="43216" y="2358330"/>
                  </a:lnTo>
                  <a:lnTo>
                    <a:pt x="25577" y="2349412"/>
                  </a:lnTo>
                  <a:close/>
                </a:path>
                <a:path w="1232534" h="2421890">
                  <a:moveTo>
                    <a:pt x="43216" y="2358330"/>
                  </a:moveTo>
                  <a:lnTo>
                    <a:pt x="37465" y="2369692"/>
                  </a:lnTo>
                  <a:lnTo>
                    <a:pt x="65689" y="2369692"/>
                  </a:lnTo>
                  <a:lnTo>
                    <a:pt x="43216" y="2358330"/>
                  </a:lnTo>
                  <a:close/>
                </a:path>
                <a:path w="1232534" h="2421890">
                  <a:moveTo>
                    <a:pt x="1214754" y="0"/>
                  </a:moveTo>
                  <a:lnTo>
                    <a:pt x="25577" y="2349412"/>
                  </a:lnTo>
                  <a:lnTo>
                    <a:pt x="43216" y="2358330"/>
                  </a:lnTo>
                  <a:lnTo>
                    <a:pt x="1232535" y="8889"/>
                  </a:lnTo>
                  <a:lnTo>
                    <a:pt x="1214754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22335" y="4454652"/>
              <a:ext cx="4116704" cy="2152015"/>
            </a:xfrm>
            <a:custGeom>
              <a:avLst/>
              <a:gdLst/>
              <a:ahLst/>
              <a:cxnLst/>
              <a:rect l="l" t="t" r="r" b="b"/>
              <a:pathLst>
                <a:path w="4116704" h="2152015">
                  <a:moveTo>
                    <a:pt x="0" y="2151888"/>
                  </a:moveTo>
                  <a:lnTo>
                    <a:pt x="4116324" y="2151888"/>
                  </a:lnTo>
                  <a:lnTo>
                    <a:pt x="4116324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59851" y="4399788"/>
              <a:ext cx="545592" cy="5288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2083" y="4375404"/>
              <a:ext cx="848868" cy="56997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99575" y="4375404"/>
              <a:ext cx="2484120" cy="5699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42320" y="4375404"/>
              <a:ext cx="1060703" cy="5699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92083" y="4680204"/>
              <a:ext cx="2029968" cy="5699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980676" y="4680204"/>
              <a:ext cx="440435" cy="5699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79735" y="4680204"/>
              <a:ext cx="879348" cy="5699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92083" y="4985003"/>
              <a:ext cx="1638300" cy="5699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89008" y="4985003"/>
              <a:ext cx="778764" cy="56997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026396" y="4985003"/>
              <a:ext cx="1374648" cy="56997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059667" y="4985003"/>
              <a:ext cx="426720" cy="56997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145011" y="4985003"/>
              <a:ext cx="928116" cy="5699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92083" y="5289803"/>
              <a:ext cx="1712976" cy="56997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59851" y="5618988"/>
              <a:ext cx="545592" cy="5288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92083" y="5594603"/>
              <a:ext cx="411479" cy="56997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62188" y="5594603"/>
              <a:ext cx="480059" cy="56997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00872" y="5594603"/>
              <a:ext cx="2484120" cy="56997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643615" y="5594603"/>
              <a:ext cx="777240" cy="56997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079479" y="5594603"/>
              <a:ext cx="806196" cy="56997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92083" y="5899403"/>
              <a:ext cx="2601468" cy="56997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19232" y="5899403"/>
              <a:ext cx="905255" cy="56997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183111" y="5899403"/>
              <a:ext cx="935736" cy="569976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92083" y="6204202"/>
              <a:ext cx="1403603" cy="56997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6132576" y="4780788"/>
            <a:ext cx="1220098" cy="128168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100064" y="4021073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Output: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71564" y="1032128"/>
            <a:ext cx="219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2: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02345" y="4444746"/>
            <a:ext cx="385445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3664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Any </a:t>
            </a:r>
            <a:r>
              <a:rPr sz="2000" b="1" dirty="0">
                <a:latin typeface="Arial"/>
                <a:cs typeface="Arial"/>
              </a:rPr>
              <a:t>formal parameter </a:t>
            </a:r>
            <a:r>
              <a:rPr sz="2000" dirty="0">
                <a:latin typeface="Arial"/>
                <a:cs typeface="Arial"/>
              </a:rPr>
              <a:t>which  occur </a:t>
            </a:r>
            <a:r>
              <a:rPr sz="2000" spc="-5" dirty="0">
                <a:latin typeface="Arial"/>
                <a:cs typeface="Arial"/>
              </a:rPr>
              <a:t>after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*args  parameter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keyword-only  arguments.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If </a:t>
            </a:r>
            <a:r>
              <a:rPr sz="2000" b="1" dirty="0">
                <a:latin typeface="Arial"/>
                <a:cs typeface="Arial"/>
              </a:rPr>
              <a:t>formal parameter </a:t>
            </a:r>
            <a:r>
              <a:rPr sz="2000" dirty="0">
                <a:latin typeface="Arial"/>
                <a:cs typeface="Arial"/>
              </a:rPr>
              <a:t>are </a:t>
            </a:r>
            <a:r>
              <a:rPr sz="2000" b="1" dirty="0">
                <a:latin typeface="Arial"/>
                <a:cs typeface="Arial"/>
              </a:rPr>
              <a:t>not  keyword argument </a:t>
            </a:r>
            <a:r>
              <a:rPr sz="2000" dirty="0">
                <a:latin typeface="Arial"/>
                <a:cs typeface="Arial"/>
              </a:rPr>
              <a:t>then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error  </a:t>
            </a:r>
            <a:r>
              <a:rPr sz="2000" dirty="0">
                <a:latin typeface="Arial"/>
                <a:cs typeface="Arial"/>
              </a:rPr>
              <a:t>occurred.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1234" y="98551"/>
            <a:ext cx="84709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UNPACKING </a:t>
            </a:r>
            <a:r>
              <a:rPr dirty="0"/>
              <a:t>ARGUMENT</a:t>
            </a:r>
            <a:r>
              <a:rPr spc="-240" dirty="0"/>
              <a:t> </a:t>
            </a:r>
            <a:r>
              <a:rPr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352" y="1084834"/>
            <a:ext cx="11576685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9466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spc="-5" dirty="0">
                <a:latin typeface="Arial"/>
                <a:cs typeface="Arial"/>
              </a:rPr>
              <a:t>are </a:t>
            </a:r>
            <a:r>
              <a:rPr sz="2400" b="1" spc="-5" dirty="0">
                <a:latin typeface="Arial"/>
                <a:cs typeface="Arial"/>
              </a:rPr>
              <a:t>already </a:t>
            </a:r>
            <a:r>
              <a:rPr sz="2400" b="1" dirty="0">
                <a:latin typeface="Arial"/>
                <a:cs typeface="Arial"/>
              </a:rPr>
              <a:t>in </a:t>
            </a:r>
            <a:r>
              <a:rPr sz="2400" b="1" spc="-5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list or tuple, </a:t>
            </a:r>
            <a:r>
              <a:rPr sz="2400" spc="-5" dirty="0">
                <a:latin typeface="Arial"/>
                <a:cs typeface="Arial"/>
              </a:rPr>
              <a:t>need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10" dirty="0">
                <a:latin typeface="Arial"/>
                <a:cs typeface="Arial"/>
              </a:rPr>
              <a:t>be </a:t>
            </a:r>
            <a:r>
              <a:rPr sz="2400" b="1" spc="-5" dirty="0">
                <a:latin typeface="Arial"/>
                <a:cs typeface="Arial"/>
              </a:rPr>
              <a:t>unpacked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function  call </a:t>
            </a:r>
            <a:r>
              <a:rPr sz="2400" spc="-5" dirty="0">
                <a:latin typeface="Arial"/>
                <a:cs typeface="Arial"/>
              </a:rPr>
              <a:t>requiring </a:t>
            </a:r>
            <a:r>
              <a:rPr sz="2400" b="1" spc="-5" dirty="0">
                <a:latin typeface="Arial"/>
                <a:cs typeface="Arial"/>
              </a:rPr>
              <a:t>separate </a:t>
            </a:r>
            <a:r>
              <a:rPr sz="2400" b="1" dirty="0">
                <a:latin typeface="Arial"/>
                <a:cs typeface="Arial"/>
              </a:rPr>
              <a:t>positional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arguments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439420" indent="-42672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38784" algn="l"/>
                <a:tab pos="439420" algn="l"/>
              </a:tabLst>
            </a:pPr>
            <a:r>
              <a:rPr sz="2400" spc="-5" dirty="0">
                <a:latin typeface="Arial"/>
                <a:cs typeface="Arial"/>
              </a:rPr>
              <a:t>For instance,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built-in </a:t>
            </a:r>
            <a:r>
              <a:rPr sz="2400" b="1" spc="-5" dirty="0">
                <a:latin typeface="Arial"/>
                <a:cs typeface="Arial"/>
              </a:rPr>
              <a:t>range() </a:t>
            </a:r>
            <a:r>
              <a:rPr sz="2400" b="1" dirty="0">
                <a:latin typeface="Arial"/>
                <a:cs typeface="Arial"/>
              </a:rPr>
              <a:t>function </a:t>
            </a:r>
            <a:r>
              <a:rPr sz="2400" spc="-5" dirty="0">
                <a:latin typeface="Arial"/>
                <a:cs typeface="Arial"/>
              </a:rPr>
              <a:t>expects </a:t>
            </a:r>
            <a:r>
              <a:rPr sz="2400" b="1" spc="-5" dirty="0">
                <a:latin typeface="Arial"/>
                <a:cs typeface="Arial"/>
              </a:rPr>
              <a:t>separate </a:t>
            </a:r>
            <a:r>
              <a:rPr sz="2400" b="1" dirty="0">
                <a:latin typeface="Arial"/>
                <a:cs typeface="Arial"/>
              </a:rPr>
              <a:t>start </a:t>
            </a:r>
            <a:r>
              <a:rPr sz="2400" b="1" spc="-5" dirty="0">
                <a:latin typeface="Arial"/>
                <a:cs typeface="Arial"/>
              </a:rPr>
              <a:t>and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stop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arguments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If </a:t>
            </a:r>
            <a:r>
              <a:rPr sz="2400" b="1" spc="-5" dirty="0">
                <a:latin typeface="Arial"/>
                <a:cs typeface="Arial"/>
              </a:rPr>
              <a:t>range() </a:t>
            </a:r>
            <a:r>
              <a:rPr sz="2400" spc="-5" dirty="0">
                <a:latin typeface="Arial"/>
                <a:cs typeface="Arial"/>
              </a:rPr>
              <a:t>are </a:t>
            </a:r>
            <a:r>
              <a:rPr sz="2400" b="1" dirty="0">
                <a:latin typeface="Arial"/>
                <a:cs typeface="Arial"/>
              </a:rPr>
              <a:t>not </a:t>
            </a:r>
            <a:r>
              <a:rPr sz="2400" b="1" spc="-5" dirty="0">
                <a:latin typeface="Arial"/>
                <a:cs typeface="Arial"/>
              </a:rPr>
              <a:t>available separately</a:t>
            </a:r>
            <a:r>
              <a:rPr sz="2400" spc="-5" dirty="0">
                <a:latin typeface="Arial"/>
                <a:cs typeface="Arial"/>
              </a:rPr>
              <a:t>, write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function call </a:t>
            </a:r>
            <a:r>
              <a:rPr sz="2400" spc="-5" dirty="0">
                <a:latin typeface="Arial"/>
                <a:cs typeface="Arial"/>
              </a:rPr>
              <a:t>with the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*-operator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unpack </a:t>
            </a:r>
            <a:r>
              <a:rPr sz="2400" b="1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arguments </a:t>
            </a:r>
            <a:r>
              <a:rPr sz="2400" b="1" dirty="0">
                <a:latin typeface="Arial"/>
                <a:cs typeface="Arial"/>
              </a:rPr>
              <a:t>out of </a:t>
            </a:r>
            <a:r>
              <a:rPr sz="2400" b="1" spc="-5" dirty="0">
                <a:latin typeface="Arial"/>
                <a:cs typeface="Arial"/>
              </a:rPr>
              <a:t>a </a:t>
            </a:r>
            <a:r>
              <a:rPr sz="2400" b="1" dirty="0">
                <a:latin typeface="Arial"/>
                <a:cs typeface="Arial"/>
              </a:rPr>
              <a:t>list or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tuple.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  <a:tab pos="8275955" algn="l"/>
              </a:tabLst>
            </a:pPr>
            <a:r>
              <a:rPr sz="2400" b="1" spc="-5" dirty="0">
                <a:latin typeface="Arial"/>
                <a:cs typeface="Arial"/>
              </a:rPr>
              <a:t>Example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1:	</a:t>
            </a:r>
            <a:r>
              <a:rPr sz="2400" b="1" spc="-5" dirty="0">
                <a:latin typeface="Arial"/>
                <a:cs typeface="Arial"/>
              </a:rPr>
              <a:t>Example </a:t>
            </a:r>
            <a:r>
              <a:rPr sz="2400" b="1" dirty="0">
                <a:latin typeface="Arial"/>
                <a:cs typeface="Arial"/>
              </a:rPr>
              <a:t>2: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9292" y="3985477"/>
            <a:ext cx="2848202" cy="514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79831" y="4753355"/>
            <a:ext cx="2880995" cy="2105025"/>
            <a:chOff x="179831" y="4753355"/>
            <a:chExt cx="2880995" cy="2105025"/>
          </a:xfrm>
        </p:grpSpPr>
        <p:sp>
          <p:nvSpPr>
            <p:cNvPr id="6" name="object 6"/>
            <p:cNvSpPr/>
            <p:nvPr/>
          </p:nvSpPr>
          <p:spPr>
            <a:xfrm>
              <a:off x="179831" y="4753355"/>
              <a:ext cx="2880792" cy="854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6232" y="5064632"/>
              <a:ext cx="362585" cy="781050"/>
            </a:xfrm>
            <a:custGeom>
              <a:avLst/>
              <a:gdLst/>
              <a:ahLst/>
              <a:cxnLst/>
              <a:rect l="l" t="t" r="r" b="b"/>
              <a:pathLst>
                <a:path w="362585" h="781050">
                  <a:moveTo>
                    <a:pt x="0" y="695401"/>
                  </a:moveTo>
                  <a:lnTo>
                    <a:pt x="3175" y="780542"/>
                  </a:lnTo>
                  <a:lnTo>
                    <a:pt x="69341" y="726897"/>
                  </a:lnTo>
                  <a:lnTo>
                    <a:pt x="65930" y="725347"/>
                  </a:lnTo>
                  <a:lnTo>
                    <a:pt x="35178" y="725347"/>
                  </a:lnTo>
                  <a:lnTo>
                    <a:pt x="23621" y="720090"/>
                  </a:lnTo>
                  <a:lnTo>
                    <a:pt x="28874" y="708516"/>
                  </a:lnTo>
                  <a:lnTo>
                    <a:pt x="0" y="695401"/>
                  </a:lnTo>
                  <a:close/>
                </a:path>
                <a:path w="362585" h="781050">
                  <a:moveTo>
                    <a:pt x="28874" y="708516"/>
                  </a:moveTo>
                  <a:lnTo>
                    <a:pt x="23621" y="720090"/>
                  </a:lnTo>
                  <a:lnTo>
                    <a:pt x="35178" y="725347"/>
                  </a:lnTo>
                  <a:lnTo>
                    <a:pt x="40436" y="713767"/>
                  </a:lnTo>
                  <a:lnTo>
                    <a:pt x="28874" y="708516"/>
                  </a:lnTo>
                  <a:close/>
                </a:path>
                <a:path w="362585" h="781050">
                  <a:moveTo>
                    <a:pt x="40436" y="713767"/>
                  </a:moveTo>
                  <a:lnTo>
                    <a:pt x="35178" y="725347"/>
                  </a:lnTo>
                  <a:lnTo>
                    <a:pt x="65930" y="725347"/>
                  </a:lnTo>
                  <a:lnTo>
                    <a:pt x="40436" y="713767"/>
                  </a:lnTo>
                  <a:close/>
                </a:path>
                <a:path w="362585" h="781050">
                  <a:moveTo>
                    <a:pt x="350392" y="0"/>
                  </a:moveTo>
                  <a:lnTo>
                    <a:pt x="28874" y="708516"/>
                  </a:lnTo>
                  <a:lnTo>
                    <a:pt x="40436" y="713767"/>
                  </a:lnTo>
                  <a:lnTo>
                    <a:pt x="362077" y="5334"/>
                  </a:lnTo>
                  <a:lnTo>
                    <a:pt x="350392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455" y="5861303"/>
              <a:ext cx="2647315" cy="875030"/>
            </a:xfrm>
            <a:custGeom>
              <a:avLst/>
              <a:gdLst/>
              <a:ahLst/>
              <a:cxnLst/>
              <a:rect l="l" t="t" r="r" b="b"/>
              <a:pathLst>
                <a:path w="2647315" h="875029">
                  <a:moveTo>
                    <a:pt x="0" y="874776"/>
                  </a:moveTo>
                  <a:lnTo>
                    <a:pt x="2647188" y="874776"/>
                  </a:lnTo>
                  <a:lnTo>
                    <a:pt x="2647188" y="0"/>
                  </a:lnTo>
                  <a:lnTo>
                    <a:pt x="0" y="0"/>
                  </a:lnTo>
                  <a:lnTo>
                    <a:pt x="0" y="874776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267" y="5806439"/>
              <a:ext cx="562356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775" y="5806439"/>
              <a:ext cx="1793748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79676" y="5806439"/>
              <a:ext cx="434339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06167" y="5806439"/>
              <a:ext cx="524256" cy="513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85059" y="5806439"/>
              <a:ext cx="536448" cy="5135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768" y="6080759"/>
              <a:ext cx="2301240" cy="5135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6487" y="6355078"/>
              <a:ext cx="1385315" cy="5029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584447" y="4123533"/>
            <a:ext cx="8477250" cy="2611120"/>
            <a:chOff x="3584447" y="4123533"/>
            <a:chExt cx="8477250" cy="2611120"/>
          </a:xfrm>
        </p:grpSpPr>
        <p:sp>
          <p:nvSpPr>
            <p:cNvPr id="17" name="object 17"/>
            <p:cNvSpPr/>
            <p:nvPr/>
          </p:nvSpPr>
          <p:spPr>
            <a:xfrm>
              <a:off x="3584447" y="6132576"/>
              <a:ext cx="8477250" cy="60198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8801" y="4123533"/>
              <a:ext cx="7980612" cy="138543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3325" y="5871768"/>
            <a:ext cx="9455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Output: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13042" y="5205857"/>
            <a:ext cx="5636895" cy="946785"/>
            <a:chOff x="6313042" y="5205857"/>
            <a:chExt cx="5636895" cy="946785"/>
          </a:xfrm>
        </p:grpSpPr>
        <p:sp>
          <p:nvSpPr>
            <p:cNvPr id="21" name="object 21"/>
            <p:cNvSpPr/>
            <p:nvPr/>
          </p:nvSpPr>
          <p:spPr>
            <a:xfrm>
              <a:off x="6313042" y="5205857"/>
              <a:ext cx="950594" cy="176530"/>
            </a:xfrm>
            <a:custGeom>
              <a:avLst/>
              <a:gdLst/>
              <a:ahLst/>
              <a:cxnLst/>
              <a:rect l="l" t="t" r="r" b="b"/>
              <a:pathLst>
                <a:path w="950595" h="176529">
                  <a:moveTo>
                    <a:pt x="873947" y="144664"/>
                  </a:moveTo>
                  <a:lnTo>
                    <a:pt x="869188" y="176022"/>
                  </a:lnTo>
                  <a:lnTo>
                    <a:pt x="950213" y="149733"/>
                  </a:lnTo>
                  <a:lnTo>
                    <a:pt x="945706" y="146558"/>
                  </a:lnTo>
                  <a:lnTo>
                    <a:pt x="886460" y="146558"/>
                  </a:lnTo>
                  <a:lnTo>
                    <a:pt x="873947" y="144664"/>
                  </a:lnTo>
                  <a:close/>
                </a:path>
                <a:path w="950595" h="176529">
                  <a:moveTo>
                    <a:pt x="875854" y="132094"/>
                  </a:moveTo>
                  <a:lnTo>
                    <a:pt x="873947" y="144664"/>
                  </a:lnTo>
                  <a:lnTo>
                    <a:pt x="886460" y="146558"/>
                  </a:lnTo>
                  <a:lnTo>
                    <a:pt x="888364" y="133985"/>
                  </a:lnTo>
                  <a:lnTo>
                    <a:pt x="875854" y="132094"/>
                  </a:lnTo>
                  <a:close/>
                </a:path>
                <a:path w="950595" h="176529">
                  <a:moveTo>
                    <a:pt x="880617" y="100711"/>
                  </a:moveTo>
                  <a:lnTo>
                    <a:pt x="875854" y="132094"/>
                  </a:lnTo>
                  <a:lnTo>
                    <a:pt x="888364" y="133985"/>
                  </a:lnTo>
                  <a:lnTo>
                    <a:pt x="886460" y="146558"/>
                  </a:lnTo>
                  <a:lnTo>
                    <a:pt x="945706" y="146558"/>
                  </a:lnTo>
                  <a:lnTo>
                    <a:pt x="880617" y="100711"/>
                  </a:lnTo>
                  <a:close/>
                </a:path>
                <a:path w="950595" h="176529">
                  <a:moveTo>
                    <a:pt x="1778" y="0"/>
                  </a:moveTo>
                  <a:lnTo>
                    <a:pt x="0" y="12446"/>
                  </a:lnTo>
                  <a:lnTo>
                    <a:pt x="873947" y="144664"/>
                  </a:lnTo>
                  <a:lnTo>
                    <a:pt x="875854" y="132094"/>
                  </a:lnTo>
                  <a:lnTo>
                    <a:pt x="1778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64907" y="5309616"/>
              <a:ext cx="4678680" cy="820419"/>
            </a:xfrm>
            <a:custGeom>
              <a:avLst/>
              <a:gdLst/>
              <a:ahLst/>
              <a:cxnLst/>
              <a:rect l="l" t="t" r="r" b="b"/>
              <a:pathLst>
                <a:path w="4678680" h="820420">
                  <a:moveTo>
                    <a:pt x="0" y="819912"/>
                  </a:moveTo>
                  <a:lnTo>
                    <a:pt x="4678680" y="819912"/>
                  </a:lnTo>
                  <a:lnTo>
                    <a:pt x="4678680" y="0"/>
                  </a:lnTo>
                  <a:lnTo>
                    <a:pt x="0" y="0"/>
                  </a:lnTo>
                  <a:lnTo>
                    <a:pt x="0" y="819912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6995" y="5364480"/>
              <a:ext cx="562355" cy="5135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61503" y="5364480"/>
              <a:ext cx="1446276" cy="51358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63939" y="5364480"/>
              <a:ext cx="1030224" cy="5135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50323" y="5364480"/>
              <a:ext cx="664464" cy="51358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806939" y="5364480"/>
              <a:ext cx="2122931" cy="51358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06995" y="5638800"/>
              <a:ext cx="1385316" cy="51358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43902" y="5427370"/>
            <a:ext cx="4378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b="1" spc="-15" dirty="0">
                <a:latin typeface="Arial"/>
                <a:cs typeface="Arial"/>
              </a:rPr>
              <a:t>dictionary, </a:t>
            </a:r>
            <a:r>
              <a:rPr sz="1800" spc="-25" dirty="0">
                <a:latin typeface="Arial"/>
                <a:cs typeface="Arial"/>
              </a:rPr>
              <a:t>we </a:t>
            </a:r>
            <a:r>
              <a:rPr sz="1800" spc="-5" dirty="0">
                <a:latin typeface="Arial"/>
                <a:cs typeface="Arial"/>
              </a:rPr>
              <a:t>use </a:t>
            </a:r>
            <a:r>
              <a:rPr sz="1800" b="1" dirty="0">
                <a:latin typeface="Arial"/>
                <a:cs typeface="Arial"/>
              </a:rPr>
              <a:t>‘**’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unpacking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arguments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4700" y="5869330"/>
            <a:ext cx="23368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b="1" dirty="0">
                <a:latin typeface="Arial"/>
                <a:cs typeface="Arial"/>
              </a:rPr>
              <a:t>tuples or lists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b="1" dirty="0">
                <a:latin typeface="Arial"/>
                <a:cs typeface="Arial"/>
              </a:rPr>
              <a:t>‘*’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is  used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unpack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arguments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4522" y="96138"/>
            <a:ext cx="659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LAMBDA</a:t>
            </a:r>
            <a:r>
              <a:rPr spc="-245" dirty="0"/>
              <a:t> </a:t>
            </a:r>
            <a:r>
              <a:rPr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1050112"/>
            <a:ext cx="11023600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Small functions </a:t>
            </a:r>
            <a:r>
              <a:rPr sz="2400" dirty="0">
                <a:latin typeface="Arial"/>
                <a:cs typeface="Arial"/>
              </a:rPr>
              <a:t>can be </a:t>
            </a:r>
            <a:r>
              <a:rPr sz="2400" b="1" spc="-5" dirty="0">
                <a:latin typeface="Arial"/>
                <a:cs typeface="Arial"/>
              </a:rPr>
              <a:t>created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lambda </a:t>
            </a:r>
            <a:r>
              <a:rPr sz="2400" b="1" spc="-5" dirty="0">
                <a:latin typeface="Arial"/>
                <a:cs typeface="Arial"/>
              </a:rPr>
              <a:t>keyword </a:t>
            </a:r>
            <a:r>
              <a:rPr sz="2400" spc="-5" dirty="0">
                <a:latin typeface="Arial"/>
                <a:cs typeface="Arial"/>
              </a:rPr>
              <a:t>also known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Arial"/>
                <a:cs typeface="Arial"/>
              </a:rPr>
              <a:t>Anonymous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function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Used wherever </a:t>
            </a:r>
            <a:r>
              <a:rPr sz="2400" b="1" dirty="0">
                <a:latin typeface="Arial"/>
                <a:cs typeface="Arial"/>
              </a:rPr>
              <a:t>functions object </a:t>
            </a:r>
            <a:r>
              <a:rPr sz="2400" spc="-5" dirty="0">
                <a:latin typeface="Arial"/>
                <a:cs typeface="Arial"/>
              </a:rPr>
              <a:t>are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required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These </a:t>
            </a:r>
            <a:r>
              <a:rPr sz="2400" b="1" dirty="0">
                <a:latin typeface="Arial"/>
                <a:cs typeface="Arial"/>
              </a:rPr>
              <a:t>functions </a:t>
            </a:r>
            <a:r>
              <a:rPr sz="2400" spc="-5" dirty="0">
                <a:latin typeface="Arial"/>
                <a:cs typeface="Arial"/>
              </a:rPr>
              <a:t>are called </a:t>
            </a:r>
            <a:r>
              <a:rPr sz="2400" b="1" spc="-5" dirty="0">
                <a:latin typeface="Arial"/>
                <a:cs typeface="Arial"/>
              </a:rPr>
              <a:t>anonymous </a:t>
            </a:r>
            <a:r>
              <a:rPr sz="2400" spc="-5" dirty="0">
                <a:latin typeface="Arial"/>
                <a:cs typeface="Arial"/>
              </a:rPr>
              <a:t>because </a:t>
            </a:r>
            <a:r>
              <a:rPr sz="2400" dirty="0">
                <a:latin typeface="Arial"/>
                <a:cs typeface="Arial"/>
              </a:rPr>
              <a:t>they </a:t>
            </a:r>
            <a:r>
              <a:rPr sz="2400" spc="-5" dirty="0">
                <a:latin typeface="Arial"/>
                <a:cs typeface="Arial"/>
              </a:rPr>
              <a:t>are </a:t>
            </a:r>
            <a:r>
              <a:rPr sz="2400" b="1" dirty="0">
                <a:latin typeface="Arial"/>
                <a:cs typeface="Arial"/>
              </a:rPr>
              <a:t>not </a:t>
            </a:r>
            <a:r>
              <a:rPr sz="2400" b="1" spc="-5" dirty="0">
                <a:latin typeface="Arial"/>
                <a:cs typeface="Arial"/>
              </a:rPr>
              <a:t>declared </a:t>
            </a:r>
            <a:r>
              <a:rPr sz="2400" spc="-5" dirty="0">
                <a:latin typeface="Arial"/>
                <a:cs typeface="Arial"/>
              </a:rPr>
              <a:t>in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standard manner </a:t>
            </a:r>
            <a:r>
              <a:rPr sz="2400" dirty="0">
                <a:latin typeface="Arial"/>
                <a:cs typeface="Arial"/>
              </a:rPr>
              <a:t>by </a:t>
            </a:r>
            <a:r>
              <a:rPr sz="2400" spc="-5" dirty="0">
                <a:latin typeface="Arial"/>
                <a:cs typeface="Arial"/>
              </a:rPr>
              <a:t>using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def keyword.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latin typeface="Arial"/>
                <a:cs typeface="Arial"/>
              </a:rPr>
              <a:t>Syntax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302" y="4416297"/>
            <a:ext cx="1941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-10" dirty="0">
                <a:latin typeface="Arial"/>
                <a:cs typeface="Arial"/>
              </a:rPr>
              <a:t>X</a:t>
            </a:r>
            <a:r>
              <a:rPr sz="2400" b="1" dirty="0">
                <a:latin typeface="Arial"/>
                <a:cs typeface="Arial"/>
              </a:rPr>
              <a:t>AMP</a:t>
            </a:r>
            <a:r>
              <a:rPr sz="2400" b="1" spc="-10" dirty="0">
                <a:latin typeface="Arial"/>
                <a:cs typeface="Arial"/>
              </a:rPr>
              <a:t>L</a:t>
            </a:r>
            <a:r>
              <a:rPr sz="2400" b="1" dirty="0">
                <a:latin typeface="Arial"/>
                <a:cs typeface="Arial"/>
              </a:rPr>
              <a:t>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5092" y="3700836"/>
            <a:ext cx="4116218" cy="237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60804" y="3383279"/>
            <a:ext cx="4836160" cy="805180"/>
          </a:xfrm>
          <a:prstGeom prst="rect">
            <a:avLst/>
          </a:prstGeom>
          <a:ln w="12192">
            <a:solidFill>
              <a:srgbClr val="2C89E7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lambda [arg1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[,arg2,.....argn]]:expression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9872" y="4843271"/>
            <a:ext cx="3959352" cy="1571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41123" y="6102687"/>
            <a:ext cx="1649484" cy="604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80764" y="6255511"/>
            <a:ext cx="945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Outpu</a:t>
            </a:r>
            <a:r>
              <a:rPr sz="2000" b="1" spc="5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02864" y="4276344"/>
            <a:ext cx="7134225" cy="1484630"/>
            <a:chOff x="3102864" y="4276344"/>
            <a:chExt cx="7134225" cy="1484630"/>
          </a:xfrm>
        </p:grpSpPr>
        <p:sp>
          <p:nvSpPr>
            <p:cNvPr id="11" name="object 11"/>
            <p:cNvSpPr/>
            <p:nvPr/>
          </p:nvSpPr>
          <p:spPr>
            <a:xfrm>
              <a:off x="3102864" y="4822317"/>
              <a:ext cx="2435860" cy="605155"/>
            </a:xfrm>
            <a:custGeom>
              <a:avLst/>
              <a:gdLst/>
              <a:ahLst/>
              <a:cxnLst/>
              <a:rect l="l" t="t" r="r" b="b"/>
              <a:pathLst>
                <a:path w="2435860" h="605154">
                  <a:moveTo>
                    <a:pt x="2360024" y="30877"/>
                  </a:moveTo>
                  <a:lnTo>
                    <a:pt x="0" y="592835"/>
                  </a:lnTo>
                  <a:lnTo>
                    <a:pt x="3048" y="605154"/>
                  </a:lnTo>
                  <a:lnTo>
                    <a:pt x="2362955" y="43193"/>
                  </a:lnTo>
                  <a:lnTo>
                    <a:pt x="2360024" y="30877"/>
                  </a:lnTo>
                  <a:close/>
                </a:path>
                <a:path w="2435860" h="605154">
                  <a:moveTo>
                    <a:pt x="2425458" y="27939"/>
                  </a:moveTo>
                  <a:lnTo>
                    <a:pt x="2372360" y="27939"/>
                  </a:lnTo>
                  <a:lnTo>
                    <a:pt x="2375281" y="40258"/>
                  </a:lnTo>
                  <a:lnTo>
                    <a:pt x="2362955" y="43193"/>
                  </a:lnTo>
                  <a:lnTo>
                    <a:pt x="2370328" y="74167"/>
                  </a:lnTo>
                  <a:lnTo>
                    <a:pt x="2425458" y="27939"/>
                  </a:lnTo>
                  <a:close/>
                </a:path>
                <a:path w="2435860" h="605154">
                  <a:moveTo>
                    <a:pt x="2372360" y="27939"/>
                  </a:moveTo>
                  <a:lnTo>
                    <a:pt x="2360024" y="30877"/>
                  </a:lnTo>
                  <a:lnTo>
                    <a:pt x="2362955" y="43193"/>
                  </a:lnTo>
                  <a:lnTo>
                    <a:pt x="2375281" y="40258"/>
                  </a:lnTo>
                  <a:lnTo>
                    <a:pt x="2372360" y="27939"/>
                  </a:lnTo>
                  <a:close/>
                </a:path>
                <a:path w="2435860" h="605154">
                  <a:moveTo>
                    <a:pt x="2352675" y="0"/>
                  </a:moveTo>
                  <a:lnTo>
                    <a:pt x="2360024" y="30877"/>
                  </a:lnTo>
                  <a:lnTo>
                    <a:pt x="2372360" y="27939"/>
                  </a:lnTo>
                  <a:lnTo>
                    <a:pt x="2425458" y="27939"/>
                  </a:lnTo>
                  <a:lnTo>
                    <a:pt x="2435606" y="19430"/>
                  </a:lnTo>
                  <a:lnTo>
                    <a:pt x="2352675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8216" y="4323588"/>
              <a:ext cx="4692650" cy="1304925"/>
            </a:xfrm>
            <a:custGeom>
              <a:avLst/>
              <a:gdLst/>
              <a:ahLst/>
              <a:cxnLst/>
              <a:rect l="l" t="t" r="r" b="b"/>
              <a:pathLst>
                <a:path w="4692650" h="1304925">
                  <a:moveTo>
                    <a:pt x="0" y="1304544"/>
                  </a:moveTo>
                  <a:lnTo>
                    <a:pt x="4692395" y="1304544"/>
                  </a:lnTo>
                  <a:lnTo>
                    <a:pt x="4692395" y="0"/>
                  </a:lnTo>
                  <a:lnTo>
                    <a:pt x="0" y="0"/>
                  </a:lnTo>
                  <a:lnTo>
                    <a:pt x="0" y="1304544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75732" y="4300728"/>
              <a:ext cx="434339" cy="5303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0052" y="4276344"/>
              <a:ext cx="4302252" cy="56997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50052" y="4581144"/>
              <a:ext cx="2080259" cy="5699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75732" y="4910327"/>
              <a:ext cx="434339" cy="5303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50052" y="4885944"/>
              <a:ext cx="4146804" cy="5699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50052" y="5190744"/>
              <a:ext cx="2506979" cy="5699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17209" y="4346575"/>
            <a:ext cx="420433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Arial"/>
                <a:cs typeface="Arial"/>
              </a:rPr>
              <a:t>The function returns the multiply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  two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arguments.</a:t>
            </a:r>
            <a:endParaRPr sz="2000">
              <a:latin typeface="Arial"/>
              <a:cs typeface="Arial"/>
            </a:endParaRPr>
          </a:p>
          <a:p>
            <a:pPr marL="299085" marR="162560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000" dirty="0">
                <a:latin typeface="Arial"/>
                <a:cs typeface="Arial"/>
              </a:rPr>
              <a:t>Lambda function is restricted to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  single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expressions.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127" y="101041"/>
            <a:ext cx="7063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FUNCTION</a:t>
            </a:r>
            <a:r>
              <a:rPr spc="-245" dirty="0"/>
              <a:t> </a:t>
            </a:r>
            <a:r>
              <a:rPr spc="-60" dirty="0"/>
              <a:t>ANNOTATIONS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896865" y="2260951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0" y="0"/>
                </a:moveTo>
                <a:lnTo>
                  <a:pt x="338329" y="0"/>
                </a:lnTo>
              </a:path>
            </a:pathLst>
          </a:custGeom>
          <a:ln w="271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62267" y="2260951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276" y="0"/>
                </a:lnTo>
              </a:path>
            </a:pathLst>
          </a:custGeom>
          <a:ln w="271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0271" y="1091946"/>
            <a:ext cx="1149858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Function annotations </a:t>
            </a:r>
            <a:r>
              <a:rPr sz="2400" spc="-5" dirty="0">
                <a:latin typeface="Arial"/>
                <a:cs typeface="Arial"/>
              </a:rPr>
              <a:t>are completely </a:t>
            </a:r>
            <a:r>
              <a:rPr sz="2400" b="1" dirty="0">
                <a:latin typeface="Arial"/>
                <a:cs typeface="Arial"/>
              </a:rPr>
              <a:t>optional </a:t>
            </a:r>
            <a:r>
              <a:rPr sz="2400" b="1" spc="-5" dirty="0">
                <a:latin typeface="Arial"/>
                <a:cs typeface="Arial"/>
              </a:rPr>
              <a:t>metadata </a:t>
            </a:r>
            <a:r>
              <a:rPr sz="2400" b="1" dirty="0">
                <a:latin typeface="Arial"/>
                <a:cs typeface="Arial"/>
              </a:rPr>
              <a:t>information </a:t>
            </a:r>
            <a:r>
              <a:rPr sz="2400" spc="-5" dirty="0">
                <a:latin typeface="Arial"/>
                <a:cs typeface="Arial"/>
              </a:rPr>
              <a:t>about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types </a:t>
            </a:r>
            <a:r>
              <a:rPr sz="2400" b="1" spc="-5" dirty="0">
                <a:latin typeface="Arial"/>
                <a:cs typeface="Arial"/>
              </a:rPr>
              <a:t>used </a:t>
            </a:r>
            <a:r>
              <a:rPr sz="2400" b="1" dirty="0">
                <a:latin typeface="Arial"/>
                <a:cs typeface="Arial"/>
              </a:rPr>
              <a:t>by </a:t>
            </a:r>
            <a:r>
              <a:rPr sz="2400" b="1" spc="-5" dirty="0">
                <a:latin typeface="Arial"/>
                <a:cs typeface="Arial"/>
              </a:rPr>
              <a:t>user-defined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functions.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  <a:tab pos="4944745" algn="l"/>
                <a:tab pos="7009765" algn="l"/>
              </a:tabLst>
            </a:pPr>
            <a:r>
              <a:rPr sz="2400" b="1" spc="-5" dirty="0">
                <a:latin typeface="Arial"/>
                <a:cs typeface="Arial"/>
              </a:rPr>
              <a:t>Annotations </a:t>
            </a:r>
            <a:r>
              <a:rPr sz="2400" dirty="0">
                <a:latin typeface="Arial"/>
                <a:cs typeface="Arial"/>
              </a:rPr>
              <a:t>are stored in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	</a:t>
            </a:r>
            <a:r>
              <a:rPr sz="2400" b="1" spc="-5" dirty="0">
                <a:latin typeface="Arial"/>
                <a:cs typeface="Arial"/>
              </a:rPr>
              <a:t>annotations	</a:t>
            </a:r>
            <a:r>
              <a:rPr sz="2400" b="1" dirty="0">
                <a:latin typeface="Arial"/>
                <a:cs typeface="Arial"/>
              </a:rPr>
              <a:t>” </a:t>
            </a:r>
            <a:r>
              <a:rPr sz="2400" dirty="0">
                <a:latin typeface="Arial"/>
                <a:cs typeface="Arial"/>
              </a:rPr>
              <a:t>attribute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Parameter annotations </a:t>
            </a:r>
            <a:r>
              <a:rPr sz="2400" spc="-5" dirty="0">
                <a:latin typeface="Arial"/>
                <a:cs typeface="Arial"/>
              </a:rPr>
              <a:t>are defined by a </a:t>
            </a:r>
            <a:r>
              <a:rPr sz="2400" b="1" dirty="0">
                <a:latin typeface="Arial"/>
                <a:cs typeface="Arial"/>
              </a:rPr>
              <a:t>colon after the </a:t>
            </a:r>
            <a:r>
              <a:rPr sz="2400" b="1" spc="-5" dirty="0">
                <a:latin typeface="Arial"/>
                <a:cs typeface="Arial"/>
              </a:rPr>
              <a:t>parameter</a:t>
            </a:r>
            <a:r>
              <a:rPr sz="2400" b="1" spc="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name,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followed by an expression evaluating </a:t>
            </a:r>
            <a:r>
              <a:rPr sz="2400" dirty="0">
                <a:latin typeface="Arial"/>
                <a:cs typeface="Arial"/>
              </a:rPr>
              <a:t>to the </a:t>
            </a:r>
            <a:r>
              <a:rPr sz="2400" b="1" dirty="0">
                <a:latin typeface="Arial"/>
                <a:cs typeface="Arial"/>
              </a:rPr>
              <a:t>value of the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annotation.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438784" algn="l"/>
                <a:tab pos="439420" algn="l"/>
              </a:tabLst>
            </a:pPr>
            <a:r>
              <a:rPr dirty="0"/>
              <a:t>	</a:t>
            </a:r>
            <a:r>
              <a:rPr sz="2400" b="1" spc="-5" dirty="0">
                <a:latin typeface="Arial"/>
                <a:cs typeface="Arial"/>
              </a:rPr>
              <a:t>Return annotations </a:t>
            </a:r>
            <a:r>
              <a:rPr sz="2400" spc="-5" dirty="0">
                <a:latin typeface="Arial"/>
                <a:cs typeface="Arial"/>
              </a:rPr>
              <a:t>are defined by a </a:t>
            </a:r>
            <a:r>
              <a:rPr sz="2400" b="1" dirty="0">
                <a:latin typeface="Arial"/>
                <a:cs typeface="Arial"/>
              </a:rPr>
              <a:t>literal -&gt;, </a:t>
            </a:r>
            <a:r>
              <a:rPr sz="2400" spc="-5" dirty="0">
                <a:latin typeface="Arial"/>
                <a:cs typeface="Arial"/>
              </a:rPr>
              <a:t>followed by an expression,  between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parameter </a:t>
            </a:r>
            <a:r>
              <a:rPr sz="2400" b="1" dirty="0">
                <a:latin typeface="Arial"/>
                <a:cs typeface="Arial"/>
              </a:rPr>
              <a:t>list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colon </a:t>
            </a:r>
            <a:r>
              <a:rPr sz="2400" spc="-5" dirty="0">
                <a:latin typeface="Arial"/>
                <a:cs typeface="Arial"/>
              </a:rPr>
              <a:t>denoting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b="1" spc="-5" dirty="0">
                <a:latin typeface="Arial"/>
                <a:cs typeface="Arial"/>
              </a:rPr>
              <a:t>def</a:t>
            </a:r>
            <a:r>
              <a:rPr sz="2400" b="1" spc="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271" y="3945382"/>
            <a:ext cx="1722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E</a:t>
            </a:r>
            <a:r>
              <a:rPr sz="2400" b="1" spc="-15" dirty="0">
                <a:latin typeface="Arial"/>
                <a:cs typeface="Arial"/>
              </a:rPr>
              <a:t>x</a:t>
            </a:r>
            <a:r>
              <a:rPr sz="2400" b="1" spc="-5" dirty="0">
                <a:latin typeface="Arial"/>
                <a:cs typeface="Arial"/>
              </a:rPr>
              <a:t>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0979" y="5824728"/>
            <a:ext cx="10063152" cy="882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057400" y="3867911"/>
            <a:ext cx="8884920" cy="1670685"/>
            <a:chOff x="2057400" y="3867911"/>
            <a:chExt cx="8884920" cy="1670685"/>
          </a:xfrm>
        </p:grpSpPr>
        <p:sp>
          <p:nvSpPr>
            <p:cNvPr id="9" name="object 9"/>
            <p:cNvSpPr/>
            <p:nvPr/>
          </p:nvSpPr>
          <p:spPr>
            <a:xfrm>
              <a:off x="2057400" y="4066031"/>
              <a:ext cx="5757672" cy="14721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68770" y="3938015"/>
              <a:ext cx="1418590" cy="433705"/>
            </a:xfrm>
            <a:custGeom>
              <a:avLst/>
              <a:gdLst/>
              <a:ahLst/>
              <a:cxnLst/>
              <a:rect l="l" t="t" r="r" b="b"/>
              <a:pathLst>
                <a:path w="1418590" h="433704">
                  <a:moveTo>
                    <a:pt x="1343530" y="30471"/>
                  </a:moveTo>
                  <a:lnTo>
                    <a:pt x="0" y="421258"/>
                  </a:lnTo>
                  <a:lnTo>
                    <a:pt x="3555" y="433450"/>
                  </a:lnTo>
                  <a:lnTo>
                    <a:pt x="1347086" y="42663"/>
                  </a:lnTo>
                  <a:lnTo>
                    <a:pt x="1343530" y="30471"/>
                  </a:lnTo>
                  <a:close/>
                </a:path>
                <a:path w="1418590" h="433704">
                  <a:moveTo>
                    <a:pt x="1405856" y="26923"/>
                  </a:moveTo>
                  <a:lnTo>
                    <a:pt x="1355725" y="26923"/>
                  </a:lnTo>
                  <a:lnTo>
                    <a:pt x="1359280" y="39115"/>
                  </a:lnTo>
                  <a:lnTo>
                    <a:pt x="1347086" y="42663"/>
                  </a:lnTo>
                  <a:lnTo>
                    <a:pt x="1355978" y="73151"/>
                  </a:lnTo>
                  <a:lnTo>
                    <a:pt x="1405856" y="26923"/>
                  </a:lnTo>
                  <a:close/>
                </a:path>
                <a:path w="1418590" h="433704">
                  <a:moveTo>
                    <a:pt x="1355725" y="26923"/>
                  </a:moveTo>
                  <a:lnTo>
                    <a:pt x="1343530" y="30471"/>
                  </a:lnTo>
                  <a:lnTo>
                    <a:pt x="1347086" y="42663"/>
                  </a:lnTo>
                  <a:lnTo>
                    <a:pt x="1359280" y="39115"/>
                  </a:lnTo>
                  <a:lnTo>
                    <a:pt x="1355725" y="26923"/>
                  </a:lnTo>
                  <a:close/>
                </a:path>
                <a:path w="1418590" h="433704">
                  <a:moveTo>
                    <a:pt x="1334643" y="0"/>
                  </a:moveTo>
                  <a:lnTo>
                    <a:pt x="1343530" y="30471"/>
                  </a:lnTo>
                  <a:lnTo>
                    <a:pt x="1355725" y="26923"/>
                  </a:lnTo>
                  <a:lnTo>
                    <a:pt x="1405856" y="26923"/>
                  </a:lnTo>
                  <a:lnTo>
                    <a:pt x="1418462" y="15239"/>
                  </a:lnTo>
                  <a:lnTo>
                    <a:pt x="1334643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7867" y="3953255"/>
              <a:ext cx="2848610" cy="814069"/>
            </a:xfrm>
            <a:custGeom>
              <a:avLst/>
              <a:gdLst/>
              <a:ahLst/>
              <a:cxnLst/>
              <a:rect l="l" t="t" r="r" b="b"/>
              <a:pathLst>
                <a:path w="2848609" h="814070">
                  <a:moveTo>
                    <a:pt x="0" y="813815"/>
                  </a:moveTo>
                  <a:lnTo>
                    <a:pt x="2848355" y="813815"/>
                  </a:lnTo>
                  <a:lnTo>
                    <a:pt x="2848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5800" y="3867911"/>
              <a:ext cx="1121663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19616" y="3867911"/>
              <a:ext cx="384048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5816" y="3867911"/>
              <a:ext cx="554735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42704" y="3867911"/>
              <a:ext cx="1348740" cy="5135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91371" y="4142231"/>
              <a:ext cx="993648" cy="5135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77171" y="4142231"/>
              <a:ext cx="1031748" cy="5135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83752" y="4416551"/>
              <a:ext cx="1668779" cy="5135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7542" y="5558129"/>
            <a:ext cx="9455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Output: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42452" y="3930522"/>
            <a:ext cx="21412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Literal </a:t>
            </a:r>
            <a:r>
              <a:rPr sz="1800" b="1" dirty="0">
                <a:latin typeface="Arial"/>
                <a:cs typeface="Arial"/>
              </a:rPr>
              <a:t>‘-&gt;’ </a:t>
            </a:r>
            <a:r>
              <a:rPr sz="1800" spc="-5" dirty="0">
                <a:latin typeface="Arial"/>
                <a:cs typeface="Arial"/>
              </a:rPr>
              <a:t>is used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define </a:t>
            </a:r>
            <a:r>
              <a:rPr sz="1800" b="1" spc="-5" dirty="0">
                <a:latin typeface="Arial"/>
                <a:cs typeface="Arial"/>
              </a:rPr>
              <a:t>return  </a:t>
            </a:r>
            <a:r>
              <a:rPr sz="1800" b="1" dirty="0">
                <a:latin typeface="Arial"/>
                <a:cs typeface="Arial"/>
              </a:rPr>
              <a:t>annotations.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446" y="97663"/>
            <a:ext cx="7550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DOCUMENTATION</a:t>
            </a:r>
            <a:r>
              <a:rPr spc="-95" dirty="0"/>
              <a:t> </a:t>
            </a:r>
            <a:r>
              <a:rPr dirty="0"/>
              <a:t>STRINGS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8265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pc="-5" dirty="0"/>
              <a:t>The </a:t>
            </a:r>
            <a:r>
              <a:rPr b="1" dirty="0">
                <a:latin typeface="Arial"/>
                <a:cs typeface="Arial"/>
              </a:rPr>
              <a:t>first line </a:t>
            </a:r>
            <a:r>
              <a:rPr spc="-5" dirty="0"/>
              <a:t>should </a:t>
            </a:r>
            <a:r>
              <a:rPr b="1" spc="-5" dirty="0">
                <a:latin typeface="Arial"/>
                <a:cs typeface="Arial"/>
              </a:rPr>
              <a:t>always </a:t>
            </a:r>
            <a:r>
              <a:rPr b="1" dirty="0">
                <a:latin typeface="Arial"/>
                <a:cs typeface="Arial"/>
              </a:rPr>
              <a:t>be </a:t>
            </a:r>
            <a:r>
              <a:rPr b="1" spc="-5" dirty="0">
                <a:latin typeface="Arial"/>
                <a:cs typeface="Arial"/>
              </a:rPr>
              <a:t>a </a:t>
            </a:r>
            <a:r>
              <a:rPr b="1" dirty="0">
                <a:latin typeface="Arial"/>
                <a:cs typeface="Arial"/>
              </a:rPr>
              <a:t>short</a:t>
            </a:r>
            <a:r>
              <a:rPr dirty="0"/>
              <a:t>, </a:t>
            </a:r>
            <a:r>
              <a:rPr spc="-5" dirty="0"/>
              <a:t>concise </a:t>
            </a:r>
            <a:r>
              <a:rPr b="1" spc="-5" dirty="0">
                <a:latin typeface="Arial"/>
                <a:cs typeface="Arial"/>
              </a:rPr>
              <a:t>summary </a:t>
            </a:r>
            <a:r>
              <a:rPr dirty="0"/>
              <a:t>of the </a:t>
            </a:r>
            <a:r>
              <a:rPr spc="-10" dirty="0"/>
              <a:t>object’s  </a:t>
            </a:r>
            <a:r>
              <a:rPr spc="-5" dirty="0"/>
              <a:t>purpose.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6235" algn="l"/>
              </a:tabLst>
            </a:pPr>
            <a:r>
              <a:rPr spc="-5" dirty="0"/>
              <a:t>The </a:t>
            </a:r>
            <a:r>
              <a:rPr b="1" dirty="0">
                <a:latin typeface="Arial"/>
                <a:cs typeface="Arial"/>
              </a:rPr>
              <a:t>first line </a:t>
            </a:r>
            <a:r>
              <a:rPr spc="-5" dirty="0"/>
              <a:t>should </a:t>
            </a:r>
            <a:r>
              <a:rPr b="1" spc="-5" dirty="0">
                <a:latin typeface="Arial"/>
                <a:cs typeface="Arial"/>
              </a:rPr>
              <a:t>begin </a:t>
            </a:r>
            <a:r>
              <a:rPr spc="-5" dirty="0"/>
              <a:t>with </a:t>
            </a:r>
            <a:r>
              <a:rPr dirty="0"/>
              <a:t>a </a:t>
            </a:r>
            <a:r>
              <a:rPr b="1" spc="-5" dirty="0">
                <a:latin typeface="Arial"/>
                <a:cs typeface="Arial"/>
              </a:rPr>
              <a:t>capital </a:t>
            </a:r>
            <a:r>
              <a:rPr b="1" dirty="0">
                <a:latin typeface="Arial"/>
                <a:cs typeface="Arial"/>
              </a:rPr>
              <a:t>letter </a:t>
            </a:r>
            <a:r>
              <a:rPr spc="-5" dirty="0"/>
              <a:t>and </a:t>
            </a:r>
            <a:r>
              <a:rPr b="1" spc="-5" dirty="0">
                <a:latin typeface="Arial"/>
                <a:cs typeface="Arial"/>
              </a:rPr>
              <a:t>end </a:t>
            </a:r>
            <a:r>
              <a:rPr spc="-5" dirty="0"/>
              <a:t>with </a:t>
            </a:r>
            <a:r>
              <a:rPr dirty="0"/>
              <a:t>a</a:t>
            </a:r>
            <a:r>
              <a:rPr spc="20" dirty="0"/>
              <a:t> </a:t>
            </a:r>
            <a:r>
              <a:rPr b="1" spc="-5" dirty="0">
                <a:latin typeface="Arial"/>
                <a:cs typeface="Arial"/>
              </a:rPr>
              <a:t>period</a:t>
            </a:r>
            <a:r>
              <a:rPr spc="-5" dirty="0"/>
              <a:t>.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"/>
              <a:tabLst>
                <a:tab pos="356235" algn="l"/>
              </a:tabLst>
            </a:pPr>
            <a:r>
              <a:rPr dirty="0"/>
              <a:t>If </a:t>
            </a:r>
            <a:r>
              <a:rPr spc="-5" dirty="0"/>
              <a:t>there are </a:t>
            </a:r>
            <a:r>
              <a:rPr b="1" spc="-5" dirty="0">
                <a:latin typeface="Arial"/>
                <a:cs typeface="Arial"/>
              </a:rPr>
              <a:t>more </a:t>
            </a:r>
            <a:r>
              <a:rPr b="1" dirty="0">
                <a:latin typeface="Arial"/>
                <a:cs typeface="Arial"/>
              </a:rPr>
              <a:t>lines </a:t>
            </a:r>
            <a:r>
              <a:rPr spc="-5" dirty="0"/>
              <a:t>in </a:t>
            </a:r>
            <a:r>
              <a:rPr dirty="0"/>
              <a:t>the </a:t>
            </a:r>
            <a:r>
              <a:rPr b="1" spc="-5" dirty="0">
                <a:latin typeface="Arial"/>
                <a:cs typeface="Arial"/>
              </a:rPr>
              <a:t>documentation </a:t>
            </a:r>
            <a:r>
              <a:rPr b="1" dirty="0">
                <a:latin typeface="Arial"/>
                <a:cs typeface="Arial"/>
              </a:rPr>
              <a:t>string</a:t>
            </a:r>
            <a:r>
              <a:rPr dirty="0"/>
              <a:t>, the </a:t>
            </a:r>
            <a:r>
              <a:rPr b="1" spc="-5" dirty="0">
                <a:latin typeface="Arial"/>
                <a:cs typeface="Arial"/>
              </a:rPr>
              <a:t>second </a:t>
            </a:r>
            <a:r>
              <a:rPr b="1" dirty="0">
                <a:latin typeface="Arial"/>
                <a:cs typeface="Arial"/>
              </a:rPr>
              <a:t>line </a:t>
            </a:r>
            <a:r>
              <a:rPr spc="-5" dirty="0"/>
              <a:t>should</a:t>
            </a:r>
            <a:r>
              <a:rPr spc="30" dirty="0"/>
              <a:t> </a:t>
            </a:r>
            <a:r>
              <a:rPr spc="-10" dirty="0"/>
              <a:t>be</a:t>
            </a:r>
          </a:p>
          <a:p>
            <a:pPr marL="3556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blank.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6235" algn="l"/>
              </a:tabLst>
            </a:pPr>
            <a:r>
              <a:rPr spc="-5" dirty="0"/>
              <a:t>The </a:t>
            </a:r>
            <a:r>
              <a:rPr b="1" dirty="0">
                <a:latin typeface="Arial"/>
                <a:cs typeface="Arial"/>
              </a:rPr>
              <a:t>first </a:t>
            </a:r>
            <a:r>
              <a:rPr b="1" spc="-5" dirty="0">
                <a:latin typeface="Arial"/>
                <a:cs typeface="Arial"/>
              </a:rPr>
              <a:t>non-blank </a:t>
            </a:r>
            <a:r>
              <a:rPr b="1" dirty="0">
                <a:latin typeface="Arial"/>
                <a:cs typeface="Arial"/>
              </a:rPr>
              <a:t>line </a:t>
            </a:r>
            <a:r>
              <a:rPr dirty="0"/>
              <a:t>after the </a:t>
            </a:r>
            <a:r>
              <a:rPr b="1" dirty="0">
                <a:latin typeface="Arial"/>
                <a:cs typeface="Arial"/>
              </a:rPr>
              <a:t>first line </a:t>
            </a:r>
            <a:r>
              <a:rPr dirty="0"/>
              <a:t>of the string </a:t>
            </a:r>
            <a:r>
              <a:rPr b="1" dirty="0">
                <a:latin typeface="Arial"/>
                <a:cs typeface="Arial"/>
              </a:rPr>
              <a:t>determines </a:t>
            </a:r>
            <a:r>
              <a:rPr dirty="0"/>
              <a:t>the</a:t>
            </a:r>
            <a:r>
              <a:rPr spc="-125" dirty="0"/>
              <a:t> </a:t>
            </a:r>
            <a:r>
              <a:rPr b="1" spc="-5" dirty="0">
                <a:latin typeface="Arial"/>
                <a:cs typeface="Arial"/>
              </a:rPr>
              <a:t>amount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8688" y="3410267"/>
            <a:ext cx="752602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latin typeface="Arial"/>
                <a:cs typeface="Arial"/>
              </a:rPr>
              <a:t>of indentation </a:t>
            </a:r>
            <a:r>
              <a:rPr sz="2400" dirty="0">
                <a:latin typeface="Arial"/>
                <a:cs typeface="Arial"/>
              </a:rPr>
              <a:t>for the </a:t>
            </a:r>
            <a:r>
              <a:rPr sz="2400" b="1" spc="-5" dirty="0">
                <a:latin typeface="Arial"/>
                <a:cs typeface="Arial"/>
              </a:rPr>
              <a:t>entire documentation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string.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68423" y="5986271"/>
            <a:ext cx="6500741" cy="845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97412" y="3930933"/>
            <a:ext cx="6677025" cy="1790064"/>
            <a:chOff x="2297412" y="3930933"/>
            <a:chExt cx="6677025" cy="1790064"/>
          </a:xfrm>
        </p:grpSpPr>
        <p:sp>
          <p:nvSpPr>
            <p:cNvPr id="7" name="object 7"/>
            <p:cNvSpPr/>
            <p:nvPr/>
          </p:nvSpPr>
          <p:spPr>
            <a:xfrm>
              <a:off x="2297412" y="3930933"/>
              <a:ext cx="5937167" cy="17898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52417" y="4288408"/>
              <a:ext cx="4622165" cy="1273810"/>
            </a:xfrm>
            <a:custGeom>
              <a:avLst/>
              <a:gdLst/>
              <a:ahLst/>
              <a:cxnLst/>
              <a:rect l="l" t="t" r="r" b="b"/>
              <a:pathLst>
                <a:path w="4622165" h="1273810">
                  <a:moveTo>
                    <a:pt x="4546649" y="30625"/>
                  </a:moveTo>
                  <a:lnTo>
                    <a:pt x="0" y="1261110"/>
                  </a:lnTo>
                  <a:lnTo>
                    <a:pt x="3302" y="1273302"/>
                  </a:lnTo>
                  <a:lnTo>
                    <a:pt x="4549987" y="42934"/>
                  </a:lnTo>
                  <a:lnTo>
                    <a:pt x="4546649" y="30625"/>
                  </a:lnTo>
                  <a:close/>
                </a:path>
                <a:path w="4622165" h="1273810">
                  <a:moveTo>
                    <a:pt x="4610212" y="27305"/>
                  </a:moveTo>
                  <a:lnTo>
                    <a:pt x="4558919" y="27305"/>
                  </a:lnTo>
                  <a:lnTo>
                    <a:pt x="4562221" y="39624"/>
                  </a:lnTo>
                  <a:lnTo>
                    <a:pt x="4549987" y="42934"/>
                  </a:lnTo>
                  <a:lnTo>
                    <a:pt x="4558284" y="73533"/>
                  </a:lnTo>
                  <a:lnTo>
                    <a:pt x="4610212" y="27305"/>
                  </a:lnTo>
                  <a:close/>
                </a:path>
                <a:path w="4622165" h="1273810">
                  <a:moveTo>
                    <a:pt x="4558919" y="27305"/>
                  </a:moveTo>
                  <a:lnTo>
                    <a:pt x="4546649" y="30625"/>
                  </a:lnTo>
                  <a:lnTo>
                    <a:pt x="4549987" y="42934"/>
                  </a:lnTo>
                  <a:lnTo>
                    <a:pt x="4562221" y="39624"/>
                  </a:lnTo>
                  <a:lnTo>
                    <a:pt x="4558919" y="27305"/>
                  </a:lnTo>
                  <a:close/>
                </a:path>
                <a:path w="4622165" h="1273810">
                  <a:moveTo>
                    <a:pt x="4538345" y="0"/>
                  </a:moveTo>
                  <a:lnTo>
                    <a:pt x="4546649" y="30625"/>
                  </a:lnTo>
                  <a:lnTo>
                    <a:pt x="4558919" y="27305"/>
                  </a:lnTo>
                  <a:lnTo>
                    <a:pt x="4610212" y="27305"/>
                  </a:lnTo>
                  <a:lnTo>
                    <a:pt x="4621911" y="16891"/>
                  </a:lnTo>
                  <a:lnTo>
                    <a:pt x="4538345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5855" y="5769355"/>
            <a:ext cx="945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Outpu</a:t>
            </a:r>
            <a:r>
              <a:rPr sz="2000" b="1" spc="5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063228" y="3668267"/>
            <a:ext cx="3040380" cy="788035"/>
            <a:chOff x="9063228" y="3668267"/>
            <a:chExt cx="3040380" cy="788035"/>
          </a:xfrm>
        </p:grpSpPr>
        <p:sp>
          <p:nvSpPr>
            <p:cNvPr id="11" name="object 11"/>
            <p:cNvSpPr/>
            <p:nvPr/>
          </p:nvSpPr>
          <p:spPr>
            <a:xfrm>
              <a:off x="9069324" y="3739895"/>
              <a:ext cx="3028315" cy="565785"/>
            </a:xfrm>
            <a:custGeom>
              <a:avLst/>
              <a:gdLst/>
              <a:ahLst/>
              <a:cxnLst/>
              <a:rect l="l" t="t" r="r" b="b"/>
              <a:pathLst>
                <a:path w="3028315" h="565785">
                  <a:moveTo>
                    <a:pt x="0" y="565403"/>
                  </a:moveTo>
                  <a:lnTo>
                    <a:pt x="3028187" y="565403"/>
                  </a:lnTo>
                  <a:lnTo>
                    <a:pt x="3028187" y="0"/>
                  </a:lnTo>
                  <a:lnTo>
                    <a:pt x="0" y="0"/>
                  </a:lnTo>
                  <a:lnTo>
                    <a:pt x="0" y="565403"/>
                  </a:lnTo>
                  <a:close/>
                </a:path>
              </a:pathLst>
            </a:custGeom>
            <a:ln w="12192">
              <a:solidFill>
                <a:srgbClr val="2C89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77528" y="3668267"/>
              <a:ext cx="955548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25228" y="3668267"/>
              <a:ext cx="2238755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85732" y="3942587"/>
              <a:ext cx="2542031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14815" y="3729304"/>
            <a:ext cx="25412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‘.doc’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used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print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documentation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strings.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915</Words>
  <Application>Microsoft Office PowerPoint</Application>
  <PresentationFormat>Custom</PresentationFormat>
  <Paragraphs>136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FUNCTIONS</vt:lpstr>
      <vt:lpstr>RULES FOR DEFINING FUNCTION IN PYTHON</vt:lpstr>
      <vt:lpstr>Function Syntax</vt:lpstr>
      <vt:lpstr>PowerPoint Presentation</vt:lpstr>
      <vt:lpstr>PASSING ARGUMENTS TO FUNCTIONS</vt:lpstr>
      <vt:lpstr>EXAMPLES OF PASSING IMMUTABLE ARGUMENTS</vt:lpstr>
      <vt:lpstr>EXAMPLES OF PASSING MUTABLE ARGUMENTS</vt:lpstr>
      <vt:lpstr>FUNCTION ARGUMENTS</vt:lpstr>
      <vt:lpstr>DEFAULT ARGUMENT VALUES</vt:lpstr>
      <vt:lpstr>DEFAULT ARGUMENTS</vt:lpstr>
      <vt:lpstr>KEYWORD ARGUMENTS</vt:lpstr>
      <vt:lpstr>KEYWORD ARGUMENTS</vt:lpstr>
      <vt:lpstr>ARBITRARY ARGUMENT LISTS</vt:lpstr>
      <vt:lpstr>ARBITRARY ARGUMENT LISTS</vt:lpstr>
      <vt:lpstr>UNPACKING ARGUMENT LISTS</vt:lpstr>
      <vt:lpstr>LAMBDA EXPRESSIONS</vt:lpstr>
      <vt:lpstr>FUNCTION ANNOTATIONS</vt:lpstr>
      <vt:lpstr>DOCUMENTATION STRINGS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2</cp:revision>
  <dcterms:created xsi:type="dcterms:W3CDTF">2023-12-03T09:52:59Z</dcterms:created>
  <dcterms:modified xsi:type="dcterms:W3CDTF">2023-12-03T15:07:46Z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