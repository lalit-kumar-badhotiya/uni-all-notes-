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424242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424242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424242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424242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424242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jp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10668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0"/>
            <a:ext cx="9144000" cy="1066800"/>
          </a:xfrm>
          <a:custGeom>
            <a:avLst/>
            <a:gdLst/>
            <a:ahLst/>
            <a:cxnLst/>
            <a:rect l="l" t="t" r="r" b="b"/>
            <a:pathLst>
              <a:path w="9144000" h="1066800">
                <a:moveTo>
                  <a:pt x="0" y="1143"/>
                </a:moveTo>
                <a:lnTo>
                  <a:pt x="0" y="507"/>
                </a:lnTo>
                <a:lnTo>
                  <a:pt x="530" y="0"/>
                </a:lnTo>
                <a:lnTo>
                  <a:pt x="1183" y="0"/>
                </a:lnTo>
                <a:lnTo>
                  <a:pt x="9142857" y="0"/>
                </a:lnTo>
                <a:lnTo>
                  <a:pt x="9143492" y="0"/>
                </a:lnTo>
                <a:lnTo>
                  <a:pt x="9144000" y="507"/>
                </a:lnTo>
                <a:lnTo>
                  <a:pt x="9144000" y="1143"/>
                </a:lnTo>
                <a:lnTo>
                  <a:pt x="9144000" y="1065657"/>
                </a:lnTo>
                <a:lnTo>
                  <a:pt x="9144000" y="1066291"/>
                </a:lnTo>
                <a:lnTo>
                  <a:pt x="9143492" y="1066800"/>
                </a:lnTo>
                <a:lnTo>
                  <a:pt x="9142857" y="1066800"/>
                </a:lnTo>
                <a:lnTo>
                  <a:pt x="1183" y="1066800"/>
                </a:lnTo>
                <a:lnTo>
                  <a:pt x="530" y="1066800"/>
                </a:lnTo>
                <a:lnTo>
                  <a:pt x="0" y="1066291"/>
                </a:lnTo>
                <a:lnTo>
                  <a:pt x="0" y="1065657"/>
                </a:lnTo>
                <a:lnTo>
                  <a:pt x="0" y="1143"/>
                </a:lnTo>
                <a:close/>
              </a:path>
            </a:pathLst>
          </a:custGeom>
          <a:ln w="93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6432548"/>
            <a:ext cx="379412" cy="4254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61156" y="220421"/>
            <a:ext cx="2821686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0375" y="2355850"/>
            <a:ext cx="8467725" cy="3898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59952" y="6523527"/>
            <a:ext cx="271779" cy="210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424242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7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5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9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10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11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11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680" y="0"/>
            <a:ext cx="9153525" cy="1400175"/>
            <a:chOff x="-4680" y="0"/>
            <a:chExt cx="9153525" cy="140017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139065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1390650"/>
            </a:xfrm>
            <a:custGeom>
              <a:avLst/>
              <a:gdLst/>
              <a:ahLst/>
              <a:cxnLst/>
              <a:rect l="l" t="t" r="r" b="b"/>
              <a:pathLst>
                <a:path w="9144000" h="1390650">
                  <a:moveTo>
                    <a:pt x="0" y="1524"/>
                  </a:moveTo>
                  <a:lnTo>
                    <a:pt x="0" y="634"/>
                  </a:lnTo>
                  <a:lnTo>
                    <a:pt x="691" y="0"/>
                  </a:lnTo>
                  <a:lnTo>
                    <a:pt x="1543" y="0"/>
                  </a:lnTo>
                  <a:lnTo>
                    <a:pt x="9142476" y="0"/>
                  </a:lnTo>
                  <a:lnTo>
                    <a:pt x="9143365" y="0"/>
                  </a:lnTo>
                  <a:lnTo>
                    <a:pt x="9144000" y="634"/>
                  </a:lnTo>
                  <a:lnTo>
                    <a:pt x="9144000" y="1524"/>
                  </a:lnTo>
                  <a:lnTo>
                    <a:pt x="9144000" y="1389126"/>
                  </a:lnTo>
                  <a:lnTo>
                    <a:pt x="9144000" y="1390014"/>
                  </a:lnTo>
                  <a:lnTo>
                    <a:pt x="9143365" y="1390650"/>
                  </a:lnTo>
                  <a:lnTo>
                    <a:pt x="9142476" y="1390650"/>
                  </a:lnTo>
                  <a:lnTo>
                    <a:pt x="1543" y="1390650"/>
                  </a:lnTo>
                  <a:lnTo>
                    <a:pt x="691" y="1390650"/>
                  </a:lnTo>
                  <a:lnTo>
                    <a:pt x="0" y="1390014"/>
                  </a:lnTo>
                  <a:lnTo>
                    <a:pt x="0" y="1389126"/>
                  </a:lnTo>
                  <a:lnTo>
                    <a:pt x="0" y="1524"/>
                  </a:lnTo>
                  <a:close/>
                </a:path>
              </a:pathLst>
            </a:custGeom>
            <a:ln w="93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2057400" y="1617725"/>
            <a:ext cx="4832195" cy="15064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059429" y="3029457"/>
            <a:ext cx="3025775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 b="0">
                <a:solidFill>
                  <a:srgbClr val="001F5F"/>
                </a:solidFill>
                <a:latin typeface="Tahoma"/>
                <a:cs typeface="Tahoma"/>
              </a:rPr>
              <a:t>RECURSION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129533" y="4051193"/>
            <a:ext cx="4018915" cy="1090930"/>
          </a:xfrm>
          <a:prstGeom prst="rect">
            <a:avLst/>
          </a:prstGeom>
        </p:spPr>
        <p:txBody>
          <a:bodyPr wrap="square" lIns="0" tIns="2012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85"/>
              </a:spcBef>
            </a:pPr>
            <a:r>
              <a:rPr dirty="0" sz="3600" b="0" i="1">
                <a:solidFill>
                  <a:srgbClr val="006FC0"/>
                </a:solidFill>
                <a:latin typeface="Z003"/>
                <a:cs typeface="Z003"/>
              </a:rPr>
              <a:t>Prof. K.</a:t>
            </a:r>
            <a:r>
              <a:rPr dirty="0" sz="3600" spc="-65" b="0" i="1">
                <a:solidFill>
                  <a:srgbClr val="006FC0"/>
                </a:solidFill>
                <a:latin typeface="Z003"/>
                <a:cs typeface="Z003"/>
              </a:rPr>
              <a:t> </a:t>
            </a:r>
            <a:r>
              <a:rPr dirty="0" sz="3600" b="0" i="1">
                <a:solidFill>
                  <a:srgbClr val="006FC0"/>
                </a:solidFill>
                <a:latin typeface="Z003"/>
                <a:cs typeface="Z003"/>
              </a:rPr>
              <a:t>Adisesha</a:t>
            </a:r>
            <a:endParaRPr sz="3600">
              <a:latin typeface="Z003"/>
              <a:cs typeface="Z003"/>
            </a:endParaRPr>
          </a:p>
          <a:p>
            <a:pPr marL="1631314">
              <a:lnSpc>
                <a:spcPct val="100000"/>
              </a:lnSpc>
              <a:spcBef>
                <a:spcPts val="660"/>
              </a:spcBef>
            </a:pPr>
            <a:r>
              <a:rPr dirty="0" sz="1600" b="0" i="1">
                <a:solidFill>
                  <a:srgbClr val="006FC0"/>
                </a:solidFill>
                <a:latin typeface="Z003"/>
                <a:cs typeface="Z003"/>
              </a:rPr>
              <a:t>BE, M.Sc., M.Th., NET,</a:t>
            </a:r>
            <a:r>
              <a:rPr dirty="0" sz="1600" spc="-170" b="0" i="1">
                <a:solidFill>
                  <a:srgbClr val="006FC0"/>
                </a:solidFill>
                <a:latin typeface="Z003"/>
                <a:cs typeface="Z003"/>
              </a:rPr>
              <a:t> </a:t>
            </a:r>
            <a:r>
              <a:rPr dirty="0" sz="1600" b="0" i="1">
                <a:solidFill>
                  <a:srgbClr val="006FC0"/>
                </a:solidFill>
                <a:latin typeface="Z003"/>
                <a:cs typeface="Z003"/>
              </a:rPr>
              <a:t>(Ph.D.)</a:t>
            </a:r>
            <a:endParaRPr sz="1600">
              <a:latin typeface="Z003"/>
              <a:cs typeface="Z0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7845" y="220421"/>
            <a:ext cx="552450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Learning</a:t>
            </a:r>
            <a:r>
              <a:rPr dirty="0" spc="-70"/>
              <a:t> </a:t>
            </a:r>
            <a:r>
              <a:rPr dirty="0" spc="-5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1667" y="1435353"/>
            <a:ext cx="4341495" cy="35007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Tahoma"/>
                <a:cs typeface="Tahoma"/>
              </a:rPr>
              <a:t>Introduction</a:t>
            </a:r>
            <a:endParaRPr sz="24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202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Tahoma"/>
                <a:cs typeface="Tahoma"/>
              </a:rPr>
              <a:t>Recursive Functions</a:t>
            </a:r>
            <a:endParaRPr sz="24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2014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Tahoma"/>
                <a:cs typeface="Tahoma"/>
              </a:rPr>
              <a:t>How </a:t>
            </a:r>
            <a:r>
              <a:rPr dirty="0" sz="2400">
                <a:latin typeface="Tahoma"/>
                <a:cs typeface="Tahoma"/>
              </a:rPr>
              <a:t>Recursive</a:t>
            </a:r>
            <a:r>
              <a:rPr dirty="0" sz="2400" spc="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Works</a:t>
            </a:r>
            <a:endParaRPr sz="24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2014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Tahoma"/>
                <a:cs typeface="Tahoma"/>
              </a:rPr>
              <a:t>Recursive in</a:t>
            </a:r>
            <a:r>
              <a:rPr dirty="0" sz="2400" spc="10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Python</a:t>
            </a:r>
            <a:endParaRPr sz="24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202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Tahoma"/>
                <a:cs typeface="Tahoma"/>
              </a:rPr>
              <a:t>Recursive functions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Examples</a:t>
            </a:r>
            <a:endParaRPr sz="24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2014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Tahoma"/>
                <a:cs typeface="Tahoma"/>
              </a:rPr>
              <a:t>Recursive Vs</a:t>
            </a:r>
            <a:r>
              <a:rPr dirty="0" sz="2400" spc="15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Iteration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1612" y="228663"/>
            <a:ext cx="511175" cy="5127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44776" y="220421"/>
            <a:ext cx="585914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What Are</a:t>
            </a:r>
            <a:r>
              <a:rPr dirty="0" spc="-35"/>
              <a:t> </a:t>
            </a:r>
            <a:r>
              <a:rPr dirty="0" spc="-5"/>
              <a:t>Functions?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327150"/>
            <a:ext cx="8525510" cy="397700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768985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Tahoma"/>
                <a:cs typeface="Tahoma"/>
              </a:rPr>
              <a:t>A </a:t>
            </a:r>
            <a:r>
              <a:rPr dirty="0" sz="2400">
                <a:latin typeface="Tahoma"/>
                <a:cs typeface="Tahoma"/>
              </a:rPr>
              <a:t>function is a block of </a:t>
            </a:r>
            <a:r>
              <a:rPr dirty="0" sz="2400" spc="-5">
                <a:latin typeface="Tahoma"/>
                <a:cs typeface="Tahoma"/>
              </a:rPr>
              <a:t>code which </a:t>
            </a:r>
            <a:r>
              <a:rPr dirty="0" sz="2400">
                <a:latin typeface="Tahoma"/>
                <a:cs typeface="Tahoma"/>
              </a:rPr>
              <a:t>only </a:t>
            </a:r>
            <a:r>
              <a:rPr dirty="0" sz="2400" spc="-5">
                <a:latin typeface="Tahoma"/>
                <a:cs typeface="Tahoma"/>
              </a:rPr>
              <a:t>runs when </a:t>
            </a:r>
            <a:r>
              <a:rPr dirty="0" sz="2400">
                <a:latin typeface="Tahoma"/>
                <a:cs typeface="Tahoma"/>
              </a:rPr>
              <a:t>it is  </a:t>
            </a:r>
            <a:r>
              <a:rPr dirty="0" sz="2400" spc="-10">
                <a:latin typeface="Tahoma"/>
                <a:cs typeface="Tahoma"/>
              </a:rPr>
              <a:t>called.</a:t>
            </a:r>
            <a:endParaRPr sz="24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Tahoma"/>
                <a:cs typeface="Tahoma"/>
              </a:rPr>
              <a:t>Functions </a:t>
            </a:r>
            <a:r>
              <a:rPr dirty="0" sz="2400">
                <a:latin typeface="Tahoma"/>
                <a:cs typeface="Tahoma"/>
              </a:rPr>
              <a:t>are sub-programs </a:t>
            </a:r>
            <a:r>
              <a:rPr dirty="0" sz="2400" spc="-5">
                <a:latin typeface="Tahoma"/>
                <a:cs typeface="Tahoma"/>
              </a:rPr>
              <a:t>which </a:t>
            </a:r>
            <a:r>
              <a:rPr dirty="0" sz="2400">
                <a:latin typeface="Tahoma"/>
                <a:cs typeface="Tahoma"/>
              </a:rPr>
              <a:t>perform </a:t>
            </a:r>
            <a:r>
              <a:rPr dirty="0" sz="2400" spc="-5">
                <a:latin typeface="Tahoma"/>
                <a:cs typeface="Tahoma"/>
              </a:rPr>
              <a:t>tasks which</a:t>
            </a:r>
            <a:r>
              <a:rPr dirty="0" sz="2400" spc="-8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may</a:t>
            </a:r>
            <a:endParaRPr sz="240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</a:pPr>
            <a:r>
              <a:rPr dirty="0" sz="2400">
                <a:latin typeface="Tahoma"/>
                <a:cs typeface="Tahoma"/>
              </a:rPr>
              <a:t>need </a:t>
            </a:r>
            <a:r>
              <a:rPr dirty="0" sz="2400" spc="-5">
                <a:latin typeface="Tahoma"/>
                <a:cs typeface="Tahoma"/>
              </a:rPr>
              <a:t>to </a:t>
            </a:r>
            <a:r>
              <a:rPr dirty="0" sz="2400">
                <a:latin typeface="Tahoma"/>
                <a:cs typeface="Tahoma"/>
              </a:rPr>
              <a:t>be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repeated.</a:t>
            </a:r>
            <a:endParaRPr sz="24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Tahoma"/>
                <a:cs typeface="Tahoma"/>
              </a:rPr>
              <a:t>Some </a:t>
            </a:r>
            <a:r>
              <a:rPr dirty="0" sz="2400">
                <a:latin typeface="Tahoma"/>
                <a:cs typeface="Tahoma"/>
              </a:rPr>
              <a:t>functions are </a:t>
            </a:r>
            <a:r>
              <a:rPr dirty="0" sz="2400" spc="-5">
                <a:latin typeface="Tahoma"/>
                <a:cs typeface="Tahoma"/>
              </a:rPr>
              <a:t>“bundled” in standard libraries which </a:t>
            </a:r>
            <a:r>
              <a:rPr dirty="0" sz="2400">
                <a:latin typeface="Tahoma"/>
                <a:cs typeface="Tahoma"/>
              </a:rPr>
              <a:t>are  part of any language’s </a:t>
            </a:r>
            <a:r>
              <a:rPr dirty="0" sz="2400" spc="-5">
                <a:latin typeface="Tahoma"/>
                <a:cs typeface="Tahoma"/>
              </a:rPr>
              <a:t>core </a:t>
            </a:r>
            <a:r>
              <a:rPr dirty="0" sz="2400">
                <a:latin typeface="Tahoma"/>
                <a:cs typeface="Tahoma"/>
              </a:rPr>
              <a:t>package. </a:t>
            </a:r>
            <a:r>
              <a:rPr dirty="0" sz="2400" spc="-5">
                <a:latin typeface="Tahoma"/>
                <a:cs typeface="Tahoma"/>
              </a:rPr>
              <a:t>We’ve </a:t>
            </a:r>
            <a:r>
              <a:rPr dirty="0" sz="2400">
                <a:latin typeface="Tahoma"/>
                <a:cs typeface="Tahoma"/>
              </a:rPr>
              <a:t>already </a:t>
            </a:r>
            <a:r>
              <a:rPr dirty="0" sz="2400" spc="-5">
                <a:latin typeface="Tahoma"/>
                <a:cs typeface="Tahoma"/>
              </a:rPr>
              <a:t>used  many </a:t>
            </a:r>
            <a:r>
              <a:rPr dirty="0" sz="2400">
                <a:latin typeface="Tahoma"/>
                <a:cs typeface="Tahoma"/>
              </a:rPr>
              <a:t>built-in functions, </a:t>
            </a:r>
            <a:r>
              <a:rPr dirty="0" sz="2400" spc="-5">
                <a:latin typeface="Tahoma"/>
                <a:cs typeface="Tahoma"/>
              </a:rPr>
              <a:t>such </a:t>
            </a:r>
            <a:r>
              <a:rPr dirty="0" sz="2400">
                <a:latin typeface="Tahoma"/>
                <a:cs typeface="Tahoma"/>
              </a:rPr>
              <a:t>as input(), </a:t>
            </a:r>
            <a:r>
              <a:rPr dirty="0" sz="2400" spc="-5">
                <a:latin typeface="Tahoma"/>
                <a:cs typeface="Tahoma"/>
              </a:rPr>
              <a:t>eval(),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etc.</a:t>
            </a:r>
            <a:endParaRPr sz="2400">
              <a:latin typeface="Tahoma"/>
              <a:cs typeface="Tahoma"/>
            </a:endParaRPr>
          </a:p>
          <a:p>
            <a:pPr marL="355600" marR="56515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Tahoma"/>
                <a:cs typeface="Tahoma"/>
              </a:rPr>
              <a:t>Functions </a:t>
            </a:r>
            <a:r>
              <a:rPr dirty="0" sz="2400">
                <a:latin typeface="Tahoma"/>
                <a:cs typeface="Tahoma"/>
              </a:rPr>
              <a:t>are </a:t>
            </a:r>
            <a:r>
              <a:rPr dirty="0" sz="2400" spc="-5">
                <a:latin typeface="Tahoma"/>
                <a:cs typeface="Tahoma"/>
              </a:rPr>
              <a:t>similar to </a:t>
            </a:r>
            <a:r>
              <a:rPr dirty="0" sz="2400">
                <a:latin typeface="Tahoma"/>
                <a:cs typeface="Tahoma"/>
              </a:rPr>
              <a:t>methods, but may not be </a:t>
            </a:r>
            <a:r>
              <a:rPr dirty="0" sz="2400" spc="-5">
                <a:latin typeface="Tahoma"/>
                <a:cs typeface="Tahoma"/>
              </a:rPr>
              <a:t>connected  with objects</a:t>
            </a:r>
            <a:endParaRPr sz="24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Tahoma"/>
                <a:cs typeface="Tahoma"/>
              </a:rPr>
              <a:t>Programmers can write their </a:t>
            </a:r>
            <a:r>
              <a:rPr dirty="0" sz="2400">
                <a:latin typeface="Tahoma"/>
                <a:cs typeface="Tahoma"/>
              </a:rPr>
              <a:t>own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functions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1612" y="228663"/>
            <a:ext cx="511175" cy="5127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2813" y="220421"/>
            <a:ext cx="527558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Types </a:t>
            </a:r>
            <a:r>
              <a:rPr dirty="0"/>
              <a:t>of</a:t>
            </a:r>
            <a:r>
              <a:rPr dirty="0" spc="-65"/>
              <a:t> </a:t>
            </a:r>
            <a:r>
              <a:rPr dirty="0" spc="-5"/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253998"/>
            <a:ext cx="8359140" cy="163512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400" spc="-5">
                <a:latin typeface="Tahoma"/>
                <a:cs typeface="Tahoma"/>
              </a:rPr>
              <a:t>Different types </a:t>
            </a:r>
            <a:r>
              <a:rPr dirty="0" sz="2400">
                <a:latin typeface="Tahoma"/>
                <a:cs typeface="Tahoma"/>
              </a:rPr>
              <a:t>of functions </a:t>
            </a:r>
            <a:r>
              <a:rPr dirty="0" sz="2400" spc="-5">
                <a:latin typeface="Tahoma"/>
                <a:cs typeface="Tahoma"/>
              </a:rPr>
              <a:t>in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Python:</a:t>
            </a:r>
            <a:endParaRPr sz="24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575"/>
              </a:spcBef>
            </a:pPr>
            <a:r>
              <a:rPr dirty="0" sz="2400" spc="-5">
                <a:latin typeface="Tahoma"/>
                <a:cs typeface="Tahoma"/>
              </a:rPr>
              <a:t>Python </a:t>
            </a:r>
            <a:r>
              <a:rPr dirty="0" sz="2400">
                <a:latin typeface="Tahoma"/>
                <a:cs typeface="Tahoma"/>
              </a:rPr>
              <a:t>built-in functions, </a:t>
            </a:r>
            <a:r>
              <a:rPr dirty="0" sz="2400" spc="-5">
                <a:latin typeface="Tahoma"/>
                <a:cs typeface="Tahoma"/>
              </a:rPr>
              <a:t>Python recursion </a:t>
            </a:r>
            <a:r>
              <a:rPr dirty="0" sz="2400">
                <a:latin typeface="Tahoma"/>
                <a:cs typeface="Tahoma"/>
              </a:rPr>
              <a:t>function, </a:t>
            </a:r>
            <a:r>
              <a:rPr dirty="0" sz="2400" spc="-5">
                <a:latin typeface="Tahoma"/>
                <a:cs typeface="Tahoma"/>
              </a:rPr>
              <a:t>Python  </a:t>
            </a:r>
            <a:r>
              <a:rPr dirty="0" sz="2400">
                <a:latin typeface="Tahoma"/>
                <a:cs typeface="Tahoma"/>
              </a:rPr>
              <a:t>lambda function, </a:t>
            </a:r>
            <a:r>
              <a:rPr dirty="0" sz="2400" spc="-5">
                <a:latin typeface="Tahoma"/>
                <a:cs typeface="Tahoma"/>
              </a:rPr>
              <a:t>and Python </a:t>
            </a:r>
            <a:r>
              <a:rPr dirty="0" sz="2400">
                <a:latin typeface="Tahoma"/>
                <a:cs typeface="Tahoma"/>
              </a:rPr>
              <a:t>user-defined functions </a:t>
            </a:r>
            <a:r>
              <a:rPr dirty="0" sz="2400" spc="-5">
                <a:latin typeface="Tahoma"/>
                <a:cs typeface="Tahoma"/>
              </a:rPr>
              <a:t>with their  syntax and</a:t>
            </a:r>
            <a:r>
              <a:rPr dirty="0" sz="240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examples.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1612" y="228663"/>
            <a:ext cx="511175" cy="5127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09600" y="2895536"/>
            <a:ext cx="7239000" cy="34370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088817"/>
            <a:ext cx="7921625" cy="456184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2800" spc="-10" b="1">
                <a:solidFill>
                  <a:srgbClr val="001F5F"/>
                </a:solidFill>
                <a:latin typeface="Tahoma"/>
                <a:cs typeface="Tahoma"/>
              </a:rPr>
              <a:t>Recursion:</a:t>
            </a:r>
            <a:endParaRPr sz="2800">
              <a:latin typeface="Tahoma"/>
              <a:cs typeface="Tahoma"/>
            </a:endParaRPr>
          </a:p>
          <a:p>
            <a:pPr algn="just" marL="355600" marR="5080" indent="-343535">
              <a:lnSpc>
                <a:spcPct val="100000"/>
              </a:lnSpc>
              <a:spcBef>
                <a:spcPts val="580"/>
              </a:spcBef>
              <a:buChar char="•"/>
              <a:tabLst>
                <a:tab pos="356235" algn="l"/>
              </a:tabLst>
            </a:pPr>
            <a:r>
              <a:rPr dirty="0" sz="2400" spc="-5">
                <a:latin typeface="Tahoma"/>
                <a:cs typeface="Tahoma"/>
              </a:rPr>
              <a:t>A technique for solving </a:t>
            </a:r>
            <a:r>
              <a:rPr dirty="0" sz="2400">
                <a:latin typeface="Tahoma"/>
                <a:cs typeface="Tahoma"/>
              </a:rPr>
              <a:t>a </a:t>
            </a:r>
            <a:r>
              <a:rPr dirty="0" sz="2400" spc="-5">
                <a:latin typeface="Tahoma"/>
                <a:cs typeface="Tahoma"/>
              </a:rPr>
              <a:t>large </a:t>
            </a:r>
            <a:r>
              <a:rPr dirty="0" sz="2400" spc="-10">
                <a:latin typeface="Tahoma"/>
                <a:cs typeface="Tahoma"/>
              </a:rPr>
              <a:t>computational </a:t>
            </a:r>
            <a:r>
              <a:rPr dirty="0" sz="2400" spc="-5">
                <a:latin typeface="Tahoma"/>
                <a:cs typeface="Tahoma"/>
              </a:rPr>
              <a:t>problem  </a:t>
            </a:r>
            <a:r>
              <a:rPr dirty="0" sz="2400">
                <a:latin typeface="Tahoma"/>
                <a:cs typeface="Tahoma"/>
              </a:rPr>
              <a:t>by </a:t>
            </a:r>
            <a:r>
              <a:rPr dirty="0" sz="2400" spc="-5">
                <a:latin typeface="Tahoma"/>
                <a:cs typeface="Tahoma"/>
              </a:rPr>
              <a:t>repeatedly applying the same </a:t>
            </a:r>
            <a:r>
              <a:rPr dirty="0" sz="2400">
                <a:latin typeface="Tahoma"/>
                <a:cs typeface="Tahoma"/>
              </a:rPr>
              <a:t>procedure </a:t>
            </a:r>
            <a:r>
              <a:rPr dirty="0" sz="2400" spc="-10">
                <a:latin typeface="Tahoma"/>
                <a:cs typeface="Tahoma"/>
              </a:rPr>
              <a:t>to </a:t>
            </a:r>
            <a:r>
              <a:rPr dirty="0" sz="2400" spc="-5">
                <a:latin typeface="Tahoma"/>
                <a:cs typeface="Tahoma"/>
              </a:rPr>
              <a:t>reduce </a:t>
            </a:r>
            <a:r>
              <a:rPr dirty="0" sz="2400">
                <a:latin typeface="Tahoma"/>
                <a:cs typeface="Tahoma"/>
              </a:rPr>
              <a:t>it  to </a:t>
            </a:r>
            <a:r>
              <a:rPr dirty="0" sz="2400" spc="-5">
                <a:latin typeface="Tahoma"/>
                <a:cs typeface="Tahoma"/>
              </a:rPr>
              <a:t>successively smaller</a:t>
            </a:r>
            <a:r>
              <a:rPr dirty="0" sz="2400" spc="40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problems.</a:t>
            </a:r>
            <a:endParaRPr sz="2400">
              <a:latin typeface="Tahoma"/>
              <a:cs typeface="Tahoma"/>
            </a:endParaRPr>
          </a:p>
          <a:p>
            <a:pPr algn="just" marL="355600" marR="8255" indent="-343535">
              <a:lnSpc>
                <a:spcPct val="100000"/>
              </a:lnSpc>
              <a:spcBef>
                <a:spcPts val="580"/>
              </a:spcBef>
              <a:buChar char="•"/>
              <a:tabLst>
                <a:tab pos="356235" algn="l"/>
              </a:tabLst>
            </a:pPr>
            <a:r>
              <a:rPr dirty="0" sz="2400" spc="-5">
                <a:latin typeface="Tahoma"/>
                <a:cs typeface="Tahoma"/>
              </a:rPr>
              <a:t>Recursion refers </a:t>
            </a:r>
            <a:r>
              <a:rPr dirty="0" sz="2400">
                <a:latin typeface="Tahoma"/>
                <a:cs typeface="Tahoma"/>
              </a:rPr>
              <a:t>to a </a:t>
            </a:r>
            <a:r>
              <a:rPr dirty="0" sz="2400" spc="-5">
                <a:latin typeface="Tahoma"/>
                <a:cs typeface="Tahoma"/>
              </a:rPr>
              <a:t>programming </a:t>
            </a:r>
            <a:r>
              <a:rPr dirty="0" sz="2400" spc="-10">
                <a:latin typeface="Tahoma"/>
                <a:cs typeface="Tahoma"/>
              </a:rPr>
              <a:t>technique in which  </a:t>
            </a:r>
            <a:r>
              <a:rPr dirty="0" sz="2400">
                <a:latin typeface="Tahoma"/>
                <a:cs typeface="Tahoma"/>
              </a:rPr>
              <a:t>a function </a:t>
            </a:r>
            <a:r>
              <a:rPr dirty="0" sz="2400" spc="-5">
                <a:latin typeface="Tahoma"/>
                <a:cs typeface="Tahoma"/>
              </a:rPr>
              <a:t>calls </a:t>
            </a:r>
            <a:r>
              <a:rPr dirty="0" sz="2400">
                <a:latin typeface="Tahoma"/>
                <a:cs typeface="Tahoma"/>
              </a:rPr>
              <a:t>itself </a:t>
            </a:r>
            <a:r>
              <a:rPr dirty="0" sz="2400" spc="-5">
                <a:latin typeface="Tahoma"/>
                <a:cs typeface="Tahoma"/>
              </a:rPr>
              <a:t>either directly </a:t>
            </a:r>
            <a:r>
              <a:rPr dirty="0" sz="2400">
                <a:latin typeface="Tahoma"/>
                <a:cs typeface="Tahoma"/>
              </a:rPr>
              <a:t>or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indirectly</a:t>
            </a:r>
            <a:endParaRPr sz="2400">
              <a:latin typeface="Tahoma"/>
              <a:cs typeface="Tahoma"/>
            </a:endParaRPr>
          </a:p>
          <a:p>
            <a:pPr algn="just" marL="355600" marR="5080" indent="-343535">
              <a:lnSpc>
                <a:spcPct val="100000"/>
              </a:lnSpc>
              <a:spcBef>
                <a:spcPts val="580"/>
              </a:spcBef>
              <a:buChar char="•"/>
              <a:tabLst>
                <a:tab pos="356235" algn="l"/>
              </a:tabLst>
            </a:pPr>
            <a:r>
              <a:rPr dirty="0" sz="2400" spc="-5">
                <a:latin typeface="Tahoma"/>
                <a:cs typeface="Tahoma"/>
              </a:rPr>
              <a:t>Recursion is </a:t>
            </a:r>
            <a:r>
              <a:rPr dirty="0" sz="2400">
                <a:latin typeface="Tahoma"/>
                <a:cs typeface="Tahoma"/>
              </a:rPr>
              <a:t>a </a:t>
            </a:r>
            <a:r>
              <a:rPr dirty="0" sz="2400" spc="-10">
                <a:latin typeface="Tahoma"/>
                <a:cs typeface="Tahoma"/>
              </a:rPr>
              <a:t>common </a:t>
            </a:r>
            <a:r>
              <a:rPr dirty="0" sz="2400" spc="-5">
                <a:latin typeface="Tahoma"/>
                <a:cs typeface="Tahoma"/>
              </a:rPr>
              <a:t>mathematical and programming  concept.</a:t>
            </a:r>
            <a:endParaRPr sz="2400">
              <a:latin typeface="Tahoma"/>
              <a:cs typeface="Tahoma"/>
            </a:endParaRPr>
          </a:p>
          <a:p>
            <a:pPr algn="just" marL="355600" indent="-343535">
              <a:lnSpc>
                <a:spcPct val="100000"/>
              </a:lnSpc>
              <a:spcBef>
                <a:spcPts val="575"/>
              </a:spcBef>
              <a:buChar char="•"/>
              <a:tabLst>
                <a:tab pos="356235" algn="l"/>
              </a:tabLst>
            </a:pPr>
            <a:r>
              <a:rPr dirty="0" sz="2400" spc="-5">
                <a:latin typeface="Tahoma"/>
                <a:cs typeface="Tahoma"/>
              </a:rPr>
              <a:t>A recursive procedure </a:t>
            </a:r>
            <a:r>
              <a:rPr dirty="0" sz="2400">
                <a:latin typeface="Tahoma"/>
                <a:cs typeface="Tahoma"/>
              </a:rPr>
              <a:t>has </a:t>
            </a:r>
            <a:r>
              <a:rPr dirty="0" sz="2400" spc="-5">
                <a:latin typeface="Tahoma"/>
                <a:cs typeface="Tahoma"/>
              </a:rPr>
              <a:t>two</a:t>
            </a:r>
            <a:r>
              <a:rPr dirty="0" sz="2400" spc="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parts:</a:t>
            </a:r>
            <a:endParaRPr sz="2400">
              <a:latin typeface="Tahoma"/>
              <a:cs typeface="Tahoma"/>
            </a:endParaRPr>
          </a:p>
          <a:p>
            <a:pPr algn="just" lvl="1" marL="756285" indent="-287020">
              <a:lnSpc>
                <a:spcPct val="100000"/>
              </a:lnSpc>
              <a:spcBef>
                <a:spcPts val="525"/>
              </a:spcBef>
              <a:buFont typeface="Wingdings"/>
              <a:buChar char=""/>
              <a:tabLst>
                <a:tab pos="756920" algn="l"/>
              </a:tabLst>
            </a:pPr>
            <a:r>
              <a:rPr dirty="0" sz="2200" spc="-5">
                <a:latin typeface="Tahoma"/>
                <a:cs typeface="Tahoma"/>
              </a:rPr>
              <a:t>One </a:t>
            </a:r>
            <a:r>
              <a:rPr dirty="0" sz="2200" spc="-10">
                <a:latin typeface="Tahoma"/>
                <a:cs typeface="Tahoma"/>
              </a:rPr>
              <a:t>or </a:t>
            </a:r>
            <a:r>
              <a:rPr dirty="0" sz="2200" spc="-5">
                <a:latin typeface="Tahoma"/>
                <a:cs typeface="Tahoma"/>
              </a:rPr>
              <a:t>more base</a:t>
            </a:r>
            <a:r>
              <a:rPr dirty="0" sz="2200" spc="50">
                <a:latin typeface="Tahoma"/>
                <a:cs typeface="Tahoma"/>
              </a:rPr>
              <a:t> </a:t>
            </a:r>
            <a:r>
              <a:rPr dirty="0" sz="2200" spc="-10">
                <a:latin typeface="Tahoma"/>
                <a:cs typeface="Tahoma"/>
              </a:rPr>
              <a:t>cases</a:t>
            </a:r>
            <a:endParaRPr sz="2200">
              <a:latin typeface="Tahoma"/>
              <a:cs typeface="Tahoma"/>
            </a:endParaRPr>
          </a:p>
          <a:p>
            <a:pPr algn="just" lvl="1" marL="756285" indent="-287020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756920" algn="l"/>
              </a:tabLst>
            </a:pPr>
            <a:r>
              <a:rPr dirty="0" sz="2200" spc="-5">
                <a:latin typeface="Tahoma"/>
                <a:cs typeface="Tahoma"/>
              </a:rPr>
              <a:t>A </a:t>
            </a:r>
            <a:r>
              <a:rPr dirty="0" sz="2200" spc="-10">
                <a:latin typeface="Tahoma"/>
                <a:cs typeface="Tahoma"/>
              </a:rPr>
              <a:t>recursive</a:t>
            </a:r>
            <a:r>
              <a:rPr dirty="0" sz="2200" spc="30">
                <a:latin typeface="Tahoma"/>
                <a:cs typeface="Tahoma"/>
              </a:rPr>
              <a:t> </a:t>
            </a:r>
            <a:r>
              <a:rPr dirty="0" sz="2200" spc="-5">
                <a:latin typeface="Tahoma"/>
                <a:cs typeface="Tahoma"/>
              </a:rPr>
              <a:t>steps.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Recursi</a:t>
            </a:r>
            <a:r>
              <a:rPr dirty="0" spc="5"/>
              <a:t>o</a:t>
            </a:r>
            <a:r>
              <a:rPr dirty="0"/>
              <a:t>n</a:t>
            </a:r>
          </a:p>
        </p:txBody>
      </p:sp>
      <p:sp>
        <p:nvSpPr>
          <p:cNvPr id="4" name="object 4"/>
          <p:cNvSpPr/>
          <p:nvPr/>
        </p:nvSpPr>
        <p:spPr>
          <a:xfrm>
            <a:off x="201612" y="228663"/>
            <a:ext cx="511175" cy="5127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39" y="1174750"/>
            <a:ext cx="8566785" cy="397700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339725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Tahoma"/>
                <a:cs typeface="Tahoma"/>
              </a:rPr>
              <a:t>This </a:t>
            </a:r>
            <a:r>
              <a:rPr dirty="0" sz="2400">
                <a:latin typeface="Tahoma"/>
                <a:cs typeface="Tahoma"/>
              </a:rPr>
              <a:t>has </a:t>
            </a:r>
            <a:r>
              <a:rPr dirty="0" sz="2400" spc="-5">
                <a:latin typeface="Tahoma"/>
                <a:cs typeface="Tahoma"/>
              </a:rPr>
              <a:t>the </a:t>
            </a:r>
            <a:r>
              <a:rPr dirty="0" sz="2400">
                <a:latin typeface="Tahoma"/>
                <a:cs typeface="Tahoma"/>
              </a:rPr>
              <a:t>benefit of </a:t>
            </a:r>
            <a:r>
              <a:rPr dirty="0" sz="2400" spc="-5">
                <a:latin typeface="Tahoma"/>
                <a:cs typeface="Tahoma"/>
              </a:rPr>
              <a:t>meaning that you can </a:t>
            </a:r>
            <a:r>
              <a:rPr dirty="0" sz="2400">
                <a:latin typeface="Tahoma"/>
                <a:cs typeface="Tahoma"/>
              </a:rPr>
              <a:t>loop </a:t>
            </a:r>
            <a:r>
              <a:rPr dirty="0" sz="2400" spc="-5">
                <a:latin typeface="Tahoma"/>
                <a:cs typeface="Tahoma"/>
              </a:rPr>
              <a:t>through  </a:t>
            </a:r>
            <a:r>
              <a:rPr dirty="0" sz="2400">
                <a:latin typeface="Tahoma"/>
                <a:cs typeface="Tahoma"/>
              </a:rPr>
              <a:t>data </a:t>
            </a:r>
            <a:r>
              <a:rPr dirty="0" sz="2400" spc="-5">
                <a:latin typeface="Tahoma"/>
                <a:cs typeface="Tahoma"/>
              </a:rPr>
              <a:t>to reach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result.</a:t>
            </a:r>
            <a:endParaRPr sz="24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Tahoma"/>
                <a:cs typeface="Tahoma"/>
              </a:rPr>
              <a:t>It means </a:t>
            </a:r>
            <a:r>
              <a:rPr dirty="0" sz="2400">
                <a:latin typeface="Tahoma"/>
                <a:cs typeface="Tahoma"/>
              </a:rPr>
              <a:t>that a function </a:t>
            </a:r>
            <a:r>
              <a:rPr dirty="0" sz="2400" spc="-5">
                <a:latin typeface="Tahoma"/>
                <a:cs typeface="Tahoma"/>
              </a:rPr>
              <a:t>calls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itself.</a:t>
            </a:r>
            <a:endParaRPr sz="24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Tahoma"/>
                <a:cs typeface="Tahoma"/>
              </a:rPr>
              <a:t>Recursion can </a:t>
            </a:r>
            <a:r>
              <a:rPr dirty="0" sz="2400">
                <a:latin typeface="Tahoma"/>
                <a:cs typeface="Tahoma"/>
              </a:rPr>
              <a:t>be </a:t>
            </a:r>
            <a:r>
              <a:rPr dirty="0" sz="2400" spc="-5">
                <a:latin typeface="Tahoma"/>
                <a:cs typeface="Tahoma"/>
              </a:rPr>
              <a:t>two types:</a:t>
            </a:r>
            <a:endParaRPr sz="2400">
              <a:latin typeface="Tahoma"/>
              <a:cs typeface="Tahoma"/>
            </a:endParaRPr>
          </a:p>
          <a:p>
            <a:pPr lvl="1" marL="756285" indent="-287020">
              <a:lnSpc>
                <a:spcPct val="100000"/>
              </a:lnSpc>
              <a:spcBef>
                <a:spcPts val="52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200" spc="-10" b="1">
                <a:solidFill>
                  <a:srgbClr val="6F2F9F"/>
                </a:solidFill>
                <a:latin typeface="Tahoma"/>
                <a:cs typeface="Tahoma"/>
              </a:rPr>
              <a:t>Direct</a:t>
            </a:r>
            <a:r>
              <a:rPr dirty="0" sz="2200" spc="-5" b="1">
                <a:solidFill>
                  <a:srgbClr val="6F2F9F"/>
                </a:solidFill>
                <a:latin typeface="Tahoma"/>
                <a:cs typeface="Tahoma"/>
              </a:rPr>
              <a:t> Recursion</a:t>
            </a:r>
            <a:endParaRPr sz="2200">
              <a:latin typeface="Tahoma"/>
              <a:cs typeface="Tahoma"/>
            </a:endParaRPr>
          </a:p>
          <a:p>
            <a:pPr lvl="1" marL="756285" indent="-287020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200" spc="-10" b="1">
                <a:solidFill>
                  <a:srgbClr val="6F2F9F"/>
                </a:solidFill>
                <a:latin typeface="Tahoma"/>
                <a:cs typeface="Tahoma"/>
              </a:rPr>
              <a:t>Indirect</a:t>
            </a:r>
            <a:r>
              <a:rPr dirty="0" sz="2200" spc="30" b="1">
                <a:solidFill>
                  <a:srgbClr val="6F2F9F"/>
                </a:solidFill>
                <a:latin typeface="Tahoma"/>
                <a:cs typeface="Tahoma"/>
              </a:rPr>
              <a:t> </a:t>
            </a:r>
            <a:r>
              <a:rPr dirty="0" sz="2200" spc="-5" b="1">
                <a:solidFill>
                  <a:srgbClr val="6F2F9F"/>
                </a:solidFill>
                <a:latin typeface="Tahoma"/>
                <a:cs typeface="Tahoma"/>
              </a:rPr>
              <a:t>Recursion</a:t>
            </a:r>
            <a:endParaRPr sz="22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400">
                <a:latin typeface="Tahoma"/>
                <a:cs typeface="Tahoma"/>
              </a:rPr>
              <a:t>The </a:t>
            </a:r>
            <a:r>
              <a:rPr dirty="0" sz="2400" spc="-5">
                <a:latin typeface="Tahoma"/>
                <a:cs typeface="Tahoma"/>
              </a:rPr>
              <a:t>developer should </a:t>
            </a:r>
            <a:r>
              <a:rPr dirty="0" sz="2400">
                <a:latin typeface="Tahoma"/>
                <a:cs typeface="Tahoma"/>
              </a:rPr>
              <a:t>be </a:t>
            </a:r>
            <a:r>
              <a:rPr dirty="0" sz="2400" spc="-5">
                <a:latin typeface="Tahoma"/>
                <a:cs typeface="Tahoma"/>
              </a:rPr>
              <a:t>very careful with recursion </a:t>
            </a:r>
            <a:r>
              <a:rPr dirty="0" sz="2400">
                <a:latin typeface="Tahoma"/>
                <a:cs typeface="Tahoma"/>
              </a:rPr>
              <a:t>as it </a:t>
            </a:r>
            <a:r>
              <a:rPr dirty="0" sz="2400" spc="-5">
                <a:latin typeface="Tahoma"/>
                <a:cs typeface="Tahoma"/>
              </a:rPr>
              <a:t>can  </a:t>
            </a:r>
            <a:r>
              <a:rPr dirty="0" sz="2400">
                <a:latin typeface="Tahoma"/>
                <a:cs typeface="Tahoma"/>
              </a:rPr>
              <a:t>be </a:t>
            </a:r>
            <a:r>
              <a:rPr dirty="0" sz="2400" spc="-5">
                <a:latin typeface="Tahoma"/>
                <a:cs typeface="Tahoma"/>
              </a:rPr>
              <a:t>quite easy to slip into writing </a:t>
            </a:r>
            <a:r>
              <a:rPr dirty="0" sz="2400">
                <a:latin typeface="Tahoma"/>
                <a:cs typeface="Tahoma"/>
              </a:rPr>
              <a:t>a function </a:t>
            </a:r>
            <a:r>
              <a:rPr dirty="0" sz="2400" spc="-5">
                <a:latin typeface="Tahoma"/>
                <a:cs typeface="Tahoma"/>
              </a:rPr>
              <a:t>which </a:t>
            </a:r>
            <a:r>
              <a:rPr dirty="0" sz="2400">
                <a:latin typeface="Tahoma"/>
                <a:cs typeface="Tahoma"/>
              </a:rPr>
              <a:t>never  </a:t>
            </a:r>
            <a:r>
              <a:rPr dirty="0" sz="2400" spc="-5">
                <a:latin typeface="Tahoma"/>
                <a:cs typeface="Tahoma"/>
              </a:rPr>
              <a:t>terminates, </a:t>
            </a:r>
            <a:r>
              <a:rPr dirty="0" sz="2400">
                <a:latin typeface="Tahoma"/>
                <a:cs typeface="Tahoma"/>
              </a:rPr>
              <a:t>or one </a:t>
            </a:r>
            <a:r>
              <a:rPr dirty="0" sz="2400" spc="-5">
                <a:latin typeface="Tahoma"/>
                <a:cs typeface="Tahoma"/>
              </a:rPr>
              <a:t>that </a:t>
            </a:r>
            <a:r>
              <a:rPr dirty="0" sz="2400">
                <a:latin typeface="Tahoma"/>
                <a:cs typeface="Tahoma"/>
              </a:rPr>
              <a:t>uses </a:t>
            </a:r>
            <a:r>
              <a:rPr dirty="0" sz="2400" spc="-5">
                <a:latin typeface="Tahoma"/>
                <a:cs typeface="Tahoma"/>
              </a:rPr>
              <a:t>excess </a:t>
            </a:r>
            <a:r>
              <a:rPr dirty="0" sz="2400">
                <a:latin typeface="Tahoma"/>
                <a:cs typeface="Tahoma"/>
              </a:rPr>
              <a:t>amounts of memory or  processor</a:t>
            </a:r>
            <a:r>
              <a:rPr dirty="0" sz="2400" spc="-5">
                <a:latin typeface="Tahoma"/>
                <a:cs typeface="Tahoma"/>
              </a:rPr>
              <a:t> power.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Recursi</a:t>
            </a:r>
            <a:r>
              <a:rPr dirty="0" spc="5"/>
              <a:t>o</a:t>
            </a:r>
            <a:r>
              <a:rPr dirty="0"/>
              <a:t>n</a:t>
            </a:r>
          </a:p>
        </p:txBody>
      </p:sp>
      <p:sp>
        <p:nvSpPr>
          <p:cNvPr id="4" name="object 4"/>
          <p:cNvSpPr/>
          <p:nvPr/>
        </p:nvSpPr>
        <p:spPr>
          <a:xfrm>
            <a:off x="201612" y="228663"/>
            <a:ext cx="511175" cy="5127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39" y="1174750"/>
            <a:ext cx="8089265" cy="3465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48895" indent="-342900">
              <a:lnSpc>
                <a:spcPct val="100000"/>
              </a:lnSpc>
              <a:spcBef>
                <a:spcPts val="100"/>
              </a:spcBef>
              <a:buFont typeface="Tahoma"/>
              <a:buChar char="•"/>
              <a:tabLst>
                <a:tab pos="354965" algn="l"/>
                <a:tab pos="355600" algn="l"/>
              </a:tabLst>
            </a:pPr>
            <a:r>
              <a:rPr dirty="0" sz="2400" spc="-5" b="1">
                <a:solidFill>
                  <a:srgbClr val="001F5F"/>
                </a:solidFill>
                <a:latin typeface="Tahoma"/>
                <a:cs typeface="Tahoma"/>
              </a:rPr>
              <a:t>Direct Recursion</a:t>
            </a:r>
            <a:r>
              <a:rPr dirty="0" sz="2400" spc="-5">
                <a:latin typeface="Tahoma"/>
                <a:cs typeface="Tahoma"/>
              </a:rPr>
              <a:t>: </a:t>
            </a:r>
            <a:r>
              <a:rPr dirty="0" sz="2400">
                <a:latin typeface="Tahoma"/>
                <a:cs typeface="Tahoma"/>
              </a:rPr>
              <a:t>if </a:t>
            </a:r>
            <a:r>
              <a:rPr dirty="0" sz="2400" spc="-5">
                <a:latin typeface="Tahoma"/>
                <a:cs typeface="Tahoma"/>
              </a:rPr>
              <a:t>function calls itself directly from </a:t>
            </a:r>
            <a:r>
              <a:rPr dirty="0" sz="2400">
                <a:latin typeface="Tahoma"/>
                <a:cs typeface="Tahoma"/>
              </a:rPr>
              <a:t>its  function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body.</a:t>
            </a:r>
            <a:endParaRPr sz="2400">
              <a:latin typeface="Tahoma"/>
              <a:cs typeface="Tahoma"/>
            </a:endParaRPr>
          </a:p>
          <a:p>
            <a:pPr marL="413384">
              <a:lnSpc>
                <a:spcPct val="100000"/>
              </a:lnSpc>
              <a:spcBef>
                <a:spcPts val="525"/>
              </a:spcBef>
            </a:pPr>
            <a:r>
              <a:rPr dirty="0" sz="2200" spc="-10">
                <a:latin typeface="Tahoma"/>
                <a:cs typeface="Tahoma"/>
              </a:rPr>
              <a:t>Example:</a:t>
            </a:r>
            <a:endParaRPr sz="2200">
              <a:latin typeface="Tahoma"/>
              <a:cs typeface="Tahoma"/>
            </a:endParaRPr>
          </a:p>
          <a:p>
            <a:pPr marL="812800">
              <a:lnSpc>
                <a:spcPct val="100000"/>
              </a:lnSpc>
              <a:spcBef>
                <a:spcPts val="489"/>
              </a:spcBef>
            </a:pPr>
            <a:r>
              <a:rPr dirty="0" sz="2000">
                <a:latin typeface="Tahoma"/>
                <a:cs typeface="Tahoma"/>
              </a:rPr>
              <a:t>def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 spc="-5">
                <a:latin typeface="Tahoma"/>
                <a:cs typeface="Tahoma"/>
              </a:rPr>
              <a:t>recur():</a:t>
            </a:r>
            <a:endParaRPr sz="200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  <a:tabLst>
                <a:tab pos="1920875" algn="l"/>
              </a:tabLst>
            </a:pPr>
            <a:r>
              <a:rPr dirty="0" sz="2000" spc="-5">
                <a:latin typeface="Tahoma"/>
                <a:cs typeface="Tahoma"/>
              </a:rPr>
              <a:t>recur()	</a:t>
            </a:r>
            <a:r>
              <a:rPr dirty="0" sz="2000">
                <a:latin typeface="Tahoma"/>
                <a:cs typeface="Tahoma"/>
              </a:rPr>
              <a:t># </a:t>
            </a:r>
            <a:r>
              <a:rPr dirty="0" sz="2000" spc="-5">
                <a:latin typeface="Tahoma"/>
                <a:cs typeface="Tahoma"/>
              </a:rPr>
              <a:t>function recur() calling</a:t>
            </a:r>
            <a:r>
              <a:rPr dirty="0" sz="2000" spc="-1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itself</a:t>
            </a:r>
            <a:endParaRPr sz="20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570"/>
              </a:spcBef>
              <a:buFont typeface="Tahoma"/>
              <a:buChar char="•"/>
              <a:tabLst>
                <a:tab pos="354965" algn="l"/>
                <a:tab pos="355600" algn="l"/>
              </a:tabLst>
            </a:pPr>
            <a:r>
              <a:rPr dirty="0" sz="2400" spc="-5" b="1">
                <a:solidFill>
                  <a:srgbClr val="001F5F"/>
                </a:solidFill>
                <a:latin typeface="Tahoma"/>
                <a:cs typeface="Tahoma"/>
              </a:rPr>
              <a:t>Indirect Recursion</a:t>
            </a:r>
            <a:r>
              <a:rPr dirty="0" sz="2400" spc="-5">
                <a:latin typeface="Tahoma"/>
                <a:cs typeface="Tahoma"/>
              </a:rPr>
              <a:t>: </a:t>
            </a:r>
            <a:r>
              <a:rPr dirty="0" sz="2400">
                <a:latin typeface="Tahoma"/>
                <a:cs typeface="Tahoma"/>
              </a:rPr>
              <a:t>if a function </a:t>
            </a:r>
            <a:r>
              <a:rPr dirty="0" sz="2400" spc="-5">
                <a:latin typeface="Tahoma"/>
                <a:cs typeface="Tahoma"/>
              </a:rPr>
              <a:t>calls another </a:t>
            </a:r>
            <a:r>
              <a:rPr dirty="0" sz="2400">
                <a:latin typeface="Tahoma"/>
                <a:cs typeface="Tahoma"/>
              </a:rPr>
              <a:t>function,  </a:t>
            </a:r>
            <a:r>
              <a:rPr dirty="0" sz="2400" spc="-5">
                <a:latin typeface="Tahoma"/>
                <a:cs typeface="Tahoma"/>
              </a:rPr>
              <a:t>which calls </a:t>
            </a:r>
            <a:r>
              <a:rPr dirty="0" sz="2400">
                <a:latin typeface="Tahoma"/>
                <a:cs typeface="Tahoma"/>
              </a:rPr>
              <a:t>its </a:t>
            </a:r>
            <a:r>
              <a:rPr dirty="0" sz="2400" spc="-5">
                <a:latin typeface="Tahoma"/>
                <a:cs typeface="Tahoma"/>
              </a:rPr>
              <a:t>caller</a:t>
            </a:r>
            <a:r>
              <a:rPr dirty="0" sz="2400" spc="10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function</a:t>
            </a:r>
            <a:endParaRPr sz="2400">
              <a:latin typeface="Tahoma"/>
              <a:cs typeface="Tahoma"/>
            </a:endParaRPr>
          </a:p>
          <a:p>
            <a:pPr marL="413384">
              <a:lnSpc>
                <a:spcPct val="100000"/>
              </a:lnSpc>
              <a:spcBef>
                <a:spcPts val="525"/>
              </a:spcBef>
            </a:pPr>
            <a:r>
              <a:rPr dirty="0" sz="2200" spc="-5">
                <a:latin typeface="Tahoma"/>
                <a:cs typeface="Tahoma"/>
              </a:rPr>
              <a:t>Example:</a:t>
            </a:r>
            <a:endParaRPr sz="2200">
              <a:latin typeface="Tahoma"/>
              <a:cs typeface="Tahoma"/>
            </a:endParaRPr>
          </a:p>
          <a:p>
            <a:pPr marL="812800">
              <a:lnSpc>
                <a:spcPct val="100000"/>
              </a:lnSpc>
              <a:spcBef>
                <a:spcPts val="490"/>
              </a:spcBef>
            </a:pPr>
            <a:r>
              <a:rPr dirty="0" sz="2000">
                <a:latin typeface="Tahoma"/>
                <a:cs typeface="Tahoma"/>
              </a:rPr>
              <a:t>def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 spc="-5">
                <a:solidFill>
                  <a:srgbClr val="FF0000"/>
                </a:solidFill>
                <a:latin typeface="Tahoma"/>
                <a:cs typeface="Tahoma"/>
              </a:rPr>
              <a:t>recur-A():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9644" y="4674489"/>
            <a:ext cx="103949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>
                <a:solidFill>
                  <a:srgbClr val="001F5F"/>
                </a:solidFill>
                <a:latin typeface="Tahoma"/>
                <a:cs typeface="Tahoma"/>
              </a:rPr>
              <a:t>recur-B()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78023" y="4614134"/>
            <a:ext cx="4245610" cy="75755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2000">
                <a:latin typeface="Tahoma"/>
                <a:cs typeface="Tahoma"/>
              </a:rPr>
              <a:t># </a:t>
            </a:r>
            <a:r>
              <a:rPr dirty="0" sz="2000" spc="-5">
                <a:latin typeface="Tahoma"/>
                <a:cs typeface="Tahoma"/>
              </a:rPr>
              <a:t>function </a:t>
            </a:r>
            <a:r>
              <a:rPr dirty="0" sz="2000" spc="-5">
                <a:solidFill>
                  <a:srgbClr val="FF0000"/>
                </a:solidFill>
                <a:latin typeface="Tahoma"/>
                <a:cs typeface="Tahoma"/>
              </a:rPr>
              <a:t>recur-A() </a:t>
            </a:r>
            <a:r>
              <a:rPr dirty="0" sz="2000" spc="-5">
                <a:latin typeface="Tahoma"/>
                <a:cs typeface="Tahoma"/>
              </a:rPr>
              <a:t>calling</a:t>
            </a:r>
            <a:r>
              <a:rPr dirty="0" sz="2000">
                <a:latin typeface="Tahoma"/>
                <a:cs typeface="Tahoma"/>
              </a:rPr>
              <a:t> </a:t>
            </a:r>
            <a:r>
              <a:rPr dirty="0" sz="2000" spc="-5">
                <a:solidFill>
                  <a:srgbClr val="001F5F"/>
                </a:solidFill>
                <a:latin typeface="Tahoma"/>
                <a:cs typeface="Tahoma"/>
              </a:rPr>
              <a:t>recur-B()</a:t>
            </a:r>
            <a:r>
              <a:rPr dirty="0" sz="2000" spc="-5">
                <a:latin typeface="Tahoma"/>
                <a:cs typeface="Tahoma"/>
              </a:rPr>
              <a:t>,</a:t>
            </a:r>
            <a:endParaRPr sz="2000">
              <a:latin typeface="Tahoma"/>
              <a:cs typeface="Tahoma"/>
            </a:endParaRPr>
          </a:p>
          <a:p>
            <a:pPr marL="489584">
              <a:lnSpc>
                <a:spcPct val="100000"/>
              </a:lnSpc>
              <a:spcBef>
                <a:spcPts val="480"/>
              </a:spcBef>
            </a:pPr>
            <a:r>
              <a:rPr dirty="0" sz="2000" spc="-5">
                <a:latin typeface="Tahoma"/>
                <a:cs typeface="Tahoma"/>
              </a:rPr>
              <a:t>which calls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FF0000"/>
                </a:solidFill>
                <a:latin typeface="Tahoma"/>
                <a:cs typeface="Tahoma"/>
              </a:rPr>
              <a:t>recur-A()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5039" y="5345702"/>
            <a:ext cx="1562100" cy="79311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2000">
                <a:solidFill>
                  <a:srgbClr val="001F5F"/>
                </a:solidFill>
                <a:latin typeface="Tahoma"/>
                <a:cs typeface="Tahoma"/>
              </a:rPr>
              <a:t>def</a:t>
            </a:r>
            <a:r>
              <a:rPr dirty="0" sz="2000" spc="-75">
                <a:solidFill>
                  <a:srgbClr val="001F5F"/>
                </a:solidFill>
                <a:latin typeface="Tahoma"/>
                <a:cs typeface="Tahoma"/>
              </a:rPr>
              <a:t> </a:t>
            </a:r>
            <a:r>
              <a:rPr dirty="0" sz="2000" spc="-5">
                <a:solidFill>
                  <a:srgbClr val="001F5F"/>
                </a:solidFill>
                <a:latin typeface="Tahoma"/>
                <a:cs typeface="Tahoma"/>
              </a:rPr>
              <a:t>recur-B():</a:t>
            </a:r>
            <a:endParaRPr sz="2000">
              <a:latin typeface="Tahoma"/>
              <a:cs typeface="Tahoma"/>
            </a:endParaRPr>
          </a:p>
          <a:p>
            <a:pPr marL="127000">
              <a:lnSpc>
                <a:spcPct val="100000"/>
              </a:lnSpc>
              <a:spcBef>
                <a:spcPts val="520"/>
              </a:spcBef>
            </a:pPr>
            <a:r>
              <a:rPr dirty="0" sz="2200" spc="-10">
                <a:solidFill>
                  <a:srgbClr val="FF0000"/>
                </a:solidFill>
                <a:latin typeface="Tahoma"/>
                <a:cs typeface="Tahoma"/>
              </a:rPr>
              <a:t>recur-A()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Recursi</a:t>
            </a:r>
            <a:r>
              <a:rPr dirty="0" spc="5"/>
              <a:t>o</a:t>
            </a:r>
            <a:r>
              <a:rPr dirty="0"/>
              <a:t>n</a:t>
            </a:r>
          </a:p>
        </p:txBody>
      </p:sp>
      <p:sp>
        <p:nvSpPr>
          <p:cNvPr id="7" name="object 7"/>
          <p:cNvSpPr/>
          <p:nvPr/>
        </p:nvSpPr>
        <p:spPr>
          <a:xfrm>
            <a:off x="201612" y="228663"/>
            <a:ext cx="511175" cy="5127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209800" y="4759451"/>
            <a:ext cx="765810" cy="727075"/>
          </a:xfrm>
          <a:custGeom>
            <a:avLst/>
            <a:gdLst/>
            <a:ahLst/>
            <a:cxnLst/>
            <a:rect l="l" t="t" r="r" b="b"/>
            <a:pathLst>
              <a:path w="765810" h="727075">
                <a:moveTo>
                  <a:pt x="765556" y="120523"/>
                </a:moveTo>
                <a:lnTo>
                  <a:pt x="762000" y="117348"/>
                </a:lnTo>
                <a:lnTo>
                  <a:pt x="762508" y="112649"/>
                </a:lnTo>
                <a:lnTo>
                  <a:pt x="27266" y="39077"/>
                </a:lnTo>
                <a:lnTo>
                  <a:pt x="31089" y="37338"/>
                </a:lnTo>
                <a:lnTo>
                  <a:pt x="91567" y="9779"/>
                </a:lnTo>
                <a:lnTo>
                  <a:pt x="93980" y="8636"/>
                </a:lnTo>
                <a:lnTo>
                  <a:pt x="94996" y="5842"/>
                </a:lnTo>
                <a:lnTo>
                  <a:pt x="93980" y="3429"/>
                </a:lnTo>
                <a:lnTo>
                  <a:pt x="92837" y="1016"/>
                </a:lnTo>
                <a:lnTo>
                  <a:pt x="90043" y="0"/>
                </a:lnTo>
                <a:lnTo>
                  <a:pt x="87630" y="1143"/>
                </a:lnTo>
                <a:lnTo>
                  <a:pt x="0" y="41148"/>
                </a:lnTo>
                <a:lnTo>
                  <a:pt x="77978" y="97790"/>
                </a:lnTo>
                <a:lnTo>
                  <a:pt x="80137" y="99314"/>
                </a:lnTo>
                <a:lnTo>
                  <a:pt x="83058" y="98806"/>
                </a:lnTo>
                <a:lnTo>
                  <a:pt x="84582" y="96647"/>
                </a:lnTo>
                <a:lnTo>
                  <a:pt x="86233" y="94615"/>
                </a:lnTo>
                <a:lnTo>
                  <a:pt x="85725" y="91567"/>
                </a:lnTo>
                <a:lnTo>
                  <a:pt x="83566" y="90043"/>
                </a:lnTo>
                <a:lnTo>
                  <a:pt x="26504" y="48628"/>
                </a:lnTo>
                <a:lnTo>
                  <a:pt x="752348" y="121145"/>
                </a:lnTo>
                <a:lnTo>
                  <a:pt x="242836" y="703440"/>
                </a:lnTo>
                <a:lnTo>
                  <a:pt x="256159" y="634111"/>
                </a:lnTo>
                <a:lnTo>
                  <a:pt x="256667" y="631571"/>
                </a:lnTo>
                <a:lnTo>
                  <a:pt x="255016" y="629031"/>
                </a:lnTo>
                <a:lnTo>
                  <a:pt x="249809" y="628015"/>
                </a:lnTo>
                <a:lnTo>
                  <a:pt x="247396" y="629793"/>
                </a:lnTo>
                <a:lnTo>
                  <a:pt x="246888" y="632333"/>
                </a:lnTo>
                <a:lnTo>
                  <a:pt x="228600" y="726948"/>
                </a:lnTo>
                <a:lnTo>
                  <a:pt x="240334" y="723011"/>
                </a:lnTo>
                <a:lnTo>
                  <a:pt x="319913" y="696341"/>
                </a:lnTo>
                <a:lnTo>
                  <a:pt x="322453" y="695452"/>
                </a:lnTo>
                <a:lnTo>
                  <a:pt x="323850" y="692785"/>
                </a:lnTo>
                <a:lnTo>
                  <a:pt x="322072" y="687705"/>
                </a:lnTo>
                <a:lnTo>
                  <a:pt x="319405" y="686435"/>
                </a:lnTo>
                <a:lnTo>
                  <a:pt x="316865" y="687197"/>
                </a:lnTo>
                <a:lnTo>
                  <a:pt x="249961" y="709777"/>
                </a:lnTo>
                <a:lnTo>
                  <a:pt x="765556" y="1205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39" y="1101743"/>
            <a:ext cx="8540750" cy="456184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400" b="1">
                <a:solidFill>
                  <a:srgbClr val="001F5F"/>
                </a:solidFill>
                <a:latin typeface="Tahoma"/>
                <a:cs typeface="Tahoma"/>
              </a:rPr>
              <a:t>Overview </a:t>
            </a:r>
            <a:r>
              <a:rPr dirty="0" sz="2400" spc="-5" b="1">
                <a:solidFill>
                  <a:srgbClr val="001F5F"/>
                </a:solidFill>
                <a:latin typeface="Tahoma"/>
                <a:cs typeface="Tahoma"/>
              </a:rPr>
              <a:t>of how </a:t>
            </a:r>
            <a:r>
              <a:rPr dirty="0" sz="2400" b="1">
                <a:solidFill>
                  <a:srgbClr val="001F5F"/>
                </a:solidFill>
                <a:latin typeface="Tahoma"/>
                <a:cs typeface="Tahoma"/>
              </a:rPr>
              <a:t>recursive </a:t>
            </a:r>
            <a:r>
              <a:rPr dirty="0" sz="2400" spc="-10" b="1">
                <a:solidFill>
                  <a:srgbClr val="001F5F"/>
                </a:solidFill>
                <a:latin typeface="Tahoma"/>
                <a:cs typeface="Tahoma"/>
              </a:rPr>
              <a:t>function</a:t>
            </a:r>
            <a:r>
              <a:rPr dirty="0" sz="2400" spc="-25" b="1">
                <a:solidFill>
                  <a:srgbClr val="001F5F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001F5F"/>
                </a:solidFill>
                <a:latin typeface="Tahoma"/>
                <a:cs typeface="Tahoma"/>
              </a:rPr>
              <a:t>works:</a:t>
            </a:r>
            <a:endParaRPr sz="24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000">
                <a:latin typeface="Tahoma"/>
                <a:cs typeface="Tahoma"/>
              </a:rPr>
              <a:t>Recursive </a:t>
            </a:r>
            <a:r>
              <a:rPr dirty="0" sz="2000" spc="-5">
                <a:latin typeface="Tahoma"/>
                <a:cs typeface="Tahoma"/>
              </a:rPr>
              <a:t>function </a:t>
            </a:r>
            <a:r>
              <a:rPr dirty="0" sz="2000">
                <a:latin typeface="Tahoma"/>
                <a:cs typeface="Tahoma"/>
              </a:rPr>
              <a:t>is </a:t>
            </a:r>
            <a:r>
              <a:rPr dirty="0" sz="2000" spc="-5">
                <a:latin typeface="Tahoma"/>
                <a:cs typeface="Tahoma"/>
              </a:rPr>
              <a:t>called </a:t>
            </a:r>
            <a:r>
              <a:rPr dirty="0" sz="2000">
                <a:latin typeface="Tahoma"/>
                <a:cs typeface="Tahoma"/>
              </a:rPr>
              <a:t>by some </a:t>
            </a:r>
            <a:r>
              <a:rPr dirty="0" sz="2000" spc="-5">
                <a:latin typeface="Tahoma"/>
                <a:cs typeface="Tahoma"/>
              </a:rPr>
              <a:t>external</a:t>
            </a:r>
            <a:r>
              <a:rPr dirty="0" sz="2000" spc="-90">
                <a:latin typeface="Tahoma"/>
                <a:cs typeface="Tahoma"/>
              </a:rPr>
              <a:t> </a:t>
            </a:r>
            <a:r>
              <a:rPr dirty="0" sz="2000" spc="-5">
                <a:latin typeface="Tahoma"/>
                <a:cs typeface="Tahoma"/>
              </a:rPr>
              <a:t>code.</a:t>
            </a:r>
            <a:endParaRPr sz="2000">
              <a:latin typeface="Tahoma"/>
              <a:cs typeface="Tahoma"/>
            </a:endParaRPr>
          </a:p>
          <a:p>
            <a:pPr marL="355600" marR="133350" indent="-342900">
              <a:lnSpc>
                <a:spcPct val="100000"/>
              </a:lnSpc>
              <a:spcBef>
                <a:spcPts val="484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000" spc="-5">
                <a:latin typeface="Tahoma"/>
                <a:cs typeface="Tahoma"/>
              </a:rPr>
              <a:t>If </a:t>
            </a:r>
            <a:r>
              <a:rPr dirty="0" sz="2000">
                <a:latin typeface="Tahoma"/>
                <a:cs typeface="Tahoma"/>
              </a:rPr>
              <a:t>the base </a:t>
            </a:r>
            <a:r>
              <a:rPr dirty="0" sz="2000" spc="-5">
                <a:latin typeface="Tahoma"/>
                <a:cs typeface="Tahoma"/>
              </a:rPr>
              <a:t>condition </a:t>
            </a:r>
            <a:r>
              <a:rPr dirty="0" sz="2000">
                <a:latin typeface="Tahoma"/>
                <a:cs typeface="Tahoma"/>
              </a:rPr>
              <a:t>is met </a:t>
            </a:r>
            <a:r>
              <a:rPr dirty="0" sz="2000" spc="-5">
                <a:latin typeface="Tahoma"/>
                <a:cs typeface="Tahoma"/>
              </a:rPr>
              <a:t>then the </a:t>
            </a:r>
            <a:r>
              <a:rPr dirty="0" sz="2000">
                <a:latin typeface="Tahoma"/>
                <a:cs typeface="Tahoma"/>
              </a:rPr>
              <a:t>program do something </a:t>
            </a:r>
            <a:r>
              <a:rPr dirty="0" sz="2000" spc="-5">
                <a:latin typeface="Tahoma"/>
                <a:cs typeface="Tahoma"/>
              </a:rPr>
              <a:t>meaningful  </a:t>
            </a:r>
            <a:r>
              <a:rPr dirty="0" sz="2000">
                <a:latin typeface="Tahoma"/>
                <a:cs typeface="Tahoma"/>
              </a:rPr>
              <a:t>and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 spc="-5">
                <a:latin typeface="Tahoma"/>
                <a:cs typeface="Tahoma"/>
              </a:rPr>
              <a:t>exits.</a:t>
            </a:r>
            <a:endParaRPr sz="20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48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000">
                <a:latin typeface="Tahoma"/>
                <a:cs typeface="Tahoma"/>
              </a:rPr>
              <a:t>Otherwise, </a:t>
            </a:r>
            <a:r>
              <a:rPr dirty="0" sz="2000" spc="-5">
                <a:latin typeface="Tahoma"/>
                <a:cs typeface="Tahoma"/>
              </a:rPr>
              <a:t>function </a:t>
            </a:r>
            <a:r>
              <a:rPr dirty="0" sz="2000">
                <a:latin typeface="Tahoma"/>
                <a:cs typeface="Tahoma"/>
              </a:rPr>
              <a:t>does some </a:t>
            </a:r>
            <a:r>
              <a:rPr dirty="0" sz="2000" spc="-5">
                <a:latin typeface="Tahoma"/>
                <a:cs typeface="Tahoma"/>
              </a:rPr>
              <a:t>required </a:t>
            </a:r>
            <a:r>
              <a:rPr dirty="0" sz="2000">
                <a:latin typeface="Tahoma"/>
                <a:cs typeface="Tahoma"/>
              </a:rPr>
              <a:t>processing and </a:t>
            </a:r>
            <a:r>
              <a:rPr dirty="0" sz="2000" spc="-5">
                <a:latin typeface="Tahoma"/>
                <a:cs typeface="Tahoma"/>
              </a:rPr>
              <a:t>then call </a:t>
            </a:r>
            <a:r>
              <a:rPr dirty="0" sz="2000">
                <a:latin typeface="Tahoma"/>
                <a:cs typeface="Tahoma"/>
              </a:rPr>
              <a:t>itself </a:t>
            </a:r>
            <a:r>
              <a:rPr dirty="0" sz="2000" spc="-5">
                <a:latin typeface="Tahoma"/>
                <a:cs typeface="Tahoma"/>
              </a:rPr>
              <a:t>to  continue recursion. Here </a:t>
            </a:r>
            <a:r>
              <a:rPr dirty="0" sz="2000">
                <a:latin typeface="Tahoma"/>
                <a:cs typeface="Tahoma"/>
              </a:rPr>
              <a:t>is an example of </a:t>
            </a:r>
            <a:r>
              <a:rPr dirty="0" sz="2000" spc="-5">
                <a:latin typeface="Tahoma"/>
                <a:cs typeface="Tahoma"/>
              </a:rPr>
              <a:t>recursive function </a:t>
            </a:r>
            <a:r>
              <a:rPr dirty="0" sz="2000">
                <a:latin typeface="Tahoma"/>
                <a:cs typeface="Tahoma"/>
              </a:rPr>
              <a:t>used </a:t>
            </a:r>
            <a:r>
              <a:rPr dirty="0" sz="2000" spc="-5">
                <a:latin typeface="Tahoma"/>
                <a:cs typeface="Tahoma"/>
              </a:rPr>
              <a:t>to  calculate </a:t>
            </a:r>
            <a:r>
              <a:rPr dirty="0" sz="2000">
                <a:latin typeface="Tahoma"/>
                <a:cs typeface="Tahoma"/>
              </a:rPr>
              <a:t>factorial.</a:t>
            </a:r>
            <a:endParaRPr sz="20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000">
                <a:latin typeface="Tahoma"/>
                <a:cs typeface="Tahoma"/>
              </a:rPr>
              <a:t>Example:</a:t>
            </a:r>
            <a:endParaRPr sz="20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000">
                <a:latin typeface="Tahoma"/>
                <a:cs typeface="Tahoma"/>
              </a:rPr>
              <a:t>Factorial is </a:t>
            </a:r>
            <a:r>
              <a:rPr dirty="0" sz="2000" spc="-5">
                <a:latin typeface="Tahoma"/>
                <a:cs typeface="Tahoma"/>
              </a:rPr>
              <a:t>denoted </a:t>
            </a:r>
            <a:r>
              <a:rPr dirty="0" sz="2000">
                <a:latin typeface="Tahoma"/>
                <a:cs typeface="Tahoma"/>
              </a:rPr>
              <a:t>by </a:t>
            </a:r>
            <a:r>
              <a:rPr dirty="0" sz="2000" spc="-5">
                <a:latin typeface="Tahoma"/>
                <a:cs typeface="Tahoma"/>
              </a:rPr>
              <a:t>number followed by (!) sign </a:t>
            </a:r>
            <a:r>
              <a:rPr dirty="0" sz="2000">
                <a:latin typeface="Tahoma"/>
                <a:cs typeface="Tahoma"/>
              </a:rPr>
              <a:t>i.e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 spc="-5">
                <a:latin typeface="Tahoma"/>
                <a:cs typeface="Tahoma"/>
              </a:rPr>
              <a:t>4!</a:t>
            </a:r>
            <a:endParaRPr sz="20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000" spc="-5">
                <a:latin typeface="Tahoma"/>
                <a:cs typeface="Tahoma"/>
              </a:rPr>
              <a:t>Steps:</a:t>
            </a:r>
            <a:endParaRPr sz="2000">
              <a:latin typeface="Tahoma"/>
              <a:cs typeface="Tahoma"/>
            </a:endParaRPr>
          </a:p>
          <a:p>
            <a:pPr lvl="1" marL="756285" indent="-287020">
              <a:lnSpc>
                <a:spcPct val="100000"/>
              </a:lnSpc>
              <a:spcBef>
                <a:spcPts val="43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1800">
                <a:latin typeface="Tahoma"/>
                <a:cs typeface="Tahoma"/>
              </a:rPr>
              <a:t>4! </a:t>
            </a:r>
            <a:r>
              <a:rPr dirty="0" sz="1800" spc="-5">
                <a:latin typeface="Tahoma"/>
                <a:cs typeface="Tahoma"/>
              </a:rPr>
              <a:t>= </a:t>
            </a:r>
            <a:r>
              <a:rPr dirty="0" sz="1800">
                <a:latin typeface="Tahoma"/>
                <a:cs typeface="Tahoma"/>
              </a:rPr>
              <a:t>4 * 3 * 2 *</a:t>
            </a:r>
            <a:r>
              <a:rPr dirty="0" sz="1800" spc="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  <a:p>
            <a:pPr lvl="1" marL="756285" indent="-287020">
              <a:lnSpc>
                <a:spcPct val="100000"/>
              </a:lnSpc>
              <a:spcBef>
                <a:spcPts val="434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1800">
                <a:latin typeface="Tahoma"/>
                <a:cs typeface="Tahoma"/>
              </a:rPr>
              <a:t>2! = 2 *</a:t>
            </a:r>
            <a:r>
              <a:rPr dirty="0" sz="1800" spc="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  <a:p>
            <a:pPr lvl="1" marL="756285" indent="-287020">
              <a:lnSpc>
                <a:spcPct val="100000"/>
              </a:lnSpc>
              <a:spcBef>
                <a:spcPts val="43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1800">
                <a:latin typeface="Tahoma"/>
                <a:cs typeface="Tahoma"/>
              </a:rPr>
              <a:t>0! </a:t>
            </a:r>
            <a:r>
              <a:rPr dirty="0" sz="1800" spc="-5">
                <a:latin typeface="Tahoma"/>
                <a:cs typeface="Tahoma"/>
              </a:rPr>
              <a:t>= </a:t>
            </a:r>
            <a:r>
              <a:rPr dirty="0" sz="180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95425" y="220421"/>
            <a:ext cx="615378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How </a:t>
            </a:r>
            <a:r>
              <a:rPr dirty="0" spc="-5"/>
              <a:t>Recursive</a:t>
            </a:r>
            <a:r>
              <a:rPr dirty="0" spc="-90"/>
              <a:t> </a:t>
            </a:r>
            <a:r>
              <a:rPr dirty="0"/>
              <a:t>Works</a:t>
            </a:r>
          </a:p>
        </p:txBody>
      </p:sp>
      <p:sp>
        <p:nvSpPr>
          <p:cNvPr id="4" name="object 4"/>
          <p:cNvSpPr/>
          <p:nvPr/>
        </p:nvSpPr>
        <p:spPr>
          <a:xfrm>
            <a:off x="201612" y="228663"/>
            <a:ext cx="511175" cy="5127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352800" y="4343336"/>
            <a:ext cx="4441825" cy="21066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39" y="1174750"/>
            <a:ext cx="8719820" cy="5264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54356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000" spc="-5">
                <a:latin typeface="Tahoma"/>
                <a:cs typeface="Tahoma"/>
              </a:rPr>
              <a:t>However, when written correctly recursion can </a:t>
            </a:r>
            <a:r>
              <a:rPr dirty="0" sz="2000">
                <a:latin typeface="Tahoma"/>
                <a:cs typeface="Tahoma"/>
              </a:rPr>
              <a:t>be a </a:t>
            </a:r>
            <a:r>
              <a:rPr dirty="0" sz="2000" spc="-5">
                <a:latin typeface="Tahoma"/>
                <a:cs typeface="Tahoma"/>
              </a:rPr>
              <a:t>very efficient </a:t>
            </a:r>
            <a:r>
              <a:rPr dirty="0" sz="2000">
                <a:latin typeface="Tahoma"/>
                <a:cs typeface="Tahoma"/>
              </a:rPr>
              <a:t>and  mathematically-elegant approach </a:t>
            </a:r>
            <a:r>
              <a:rPr dirty="0" sz="2000" spc="-5">
                <a:latin typeface="Tahoma"/>
                <a:cs typeface="Tahoma"/>
              </a:rPr>
              <a:t>to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 spc="-5">
                <a:latin typeface="Tahoma"/>
                <a:cs typeface="Tahoma"/>
              </a:rPr>
              <a:t>programming.</a:t>
            </a:r>
            <a:endParaRPr sz="20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000" spc="-5">
                <a:latin typeface="Tahoma"/>
                <a:cs typeface="Tahoma"/>
              </a:rPr>
              <a:t>Sensible </a:t>
            </a:r>
            <a:r>
              <a:rPr dirty="0" sz="2000">
                <a:latin typeface="Tahoma"/>
                <a:cs typeface="Tahoma"/>
              </a:rPr>
              <a:t>Recursive </a:t>
            </a:r>
            <a:r>
              <a:rPr dirty="0" sz="2000" spc="-5">
                <a:latin typeface="Tahoma"/>
                <a:cs typeface="Tahoma"/>
              </a:rPr>
              <a:t>code </a:t>
            </a:r>
            <a:r>
              <a:rPr dirty="0" sz="2000">
                <a:latin typeface="Tahoma"/>
                <a:cs typeface="Tahoma"/>
              </a:rPr>
              <a:t>is </a:t>
            </a:r>
            <a:r>
              <a:rPr dirty="0" sz="2000" spc="-5">
                <a:latin typeface="Tahoma"/>
                <a:cs typeface="Tahoma"/>
              </a:rPr>
              <a:t>the </a:t>
            </a:r>
            <a:r>
              <a:rPr dirty="0" sz="2000">
                <a:latin typeface="Tahoma"/>
                <a:cs typeface="Tahoma"/>
              </a:rPr>
              <a:t>one </a:t>
            </a:r>
            <a:r>
              <a:rPr dirty="0" sz="2000" spc="-5">
                <a:latin typeface="Tahoma"/>
                <a:cs typeface="Tahoma"/>
              </a:rPr>
              <a:t>that fulfills following requirements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:</a:t>
            </a:r>
            <a:endParaRPr sz="2000">
              <a:latin typeface="Tahoma"/>
              <a:cs typeface="Tahoma"/>
            </a:endParaRPr>
          </a:p>
          <a:p>
            <a:pPr lvl="1" marL="756285" marR="5080" indent="-287020">
              <a:lnSpc>
                <a:spcPct val="100000"/>
              </a:lnSpc>
              <a:spcBef>
                <a:spcPts val="434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1800" spc="-5">
                <a:solidFill>
                  <a:srgbClr val="001F5F"/>
                </a:solidFill>
                <a:latin typeface="Tahoma"/>
                <a:cs typeface="Tahoma"/>
              </a:rPr>
              <a:t>It </a:t>
            </a:r>
            <a:r>
              <a:rPr dirty="0" sz="1800">
                <a:solidFill>
                  <a:srgbClr val="001F5F"/>
                </a:solidFill>
                <a:latin typeface="Tahoma"/>
                <a:cs typeface="Tahoma"/>
              </a:rPr>
              <a:t>must have a </a:t>
            </a:r>
            <a:r>
              <a:rPr dirty="0" sz="1800" spc="-5">
                <a:solidFill>
                  <a:srgbClr val="001F5F"/>
                </a:solidFill>
                <a:latin typeface="Tahoma"/>
                <a:cs typeface="Tahoma"/>
              </a:rPr>
              <a:t>case, whose result </a:t>
            </a:r>
            <a:r>
              <a:rPr dirty="0" sz="1800">
                <a:solidFill>
                  <a:srgbClr val="001F5F"/>
                </a:solidFill>
                <a:latin typeface="Tahoma"/>
                <a:cs typeface="Tahoma"/>
              </a:rPr>
              <a:t>is </a:t>
            </a:r>
            <a:r>
              <a:rPr dirty="0" sz="1800" spc="-5">
                <a:solidFill>
                  <a:srgbClr val="001F5F"/>
                </a:solidFill>
                <a:latin typeface="Tahoma"/>
                <a:cs typeface="Tahoma"/>
              </a:rPr>
              <a:t>known or computed </a:t>
            </a:r>
            <a:r>
              <a:rPr dirty="0" sz="1800" spc="-10">
                <a:solidFill>
                  <a:srgbClr val="001F5F"/>
                </a:solidFill>
                <a:latin typeface="Tahoma"/>
                <a:cs typeface="Tahoma"/>
              </a:rPr>
              <a:t>without </a:t>
            </a:r>
            <a:r>
              <a:rPr dirty="0" sz="1800">
                <a:solidFill>
                  <a:srgbClr val="001F5F"/>
                </a:solidFill>
                <a:latin typeface="Tahoma"/>
                <a:cs typeface="Tahoma"/>
              </a:rPr>
              <a:t>any </a:t>
            </a:r>
            <a:r>
              <a:rPr dirty="0" sz="1800" spc="-5">
                <a:solidFill>
                  <a:srgbClr val="001F5F"/>
                </a:solidFill>
                <a:latin typeface="Tahoma"/>
                <a:cs typeface="Tahoma"/>
              </a:rPr>
              <a:t>recursive  calling -The BASE</a:t>
            </a:r>
            <a:r>
              <a:rPr dirty="0" sz="1800" spc="-10">
                <a:solidFill>
                  <a:srgbClr val="001F5F"/>
                </a:solidFill>
                <a:latin typeface="Tahoma"/>
                <a:cs typeface="Tahoma"/>
              </a:rPr>
              <a:t> </a:t>
            </a:r>
            <a:r>
              <a:rPr dirty="0" sz="1800" spc="-5">
                <a:solidFill>
                  <a:srgbClr val="001F5F"/>
                </a:solidFill>
                <a:latin typeface="Tahoma"/>
                <a:cs typeface="Tahoma"/>
              </a:rPr>
              <a:t>CASE.</a:t>
            </a:r>
            <a:endParaRPr sz="1800">
              <a:latin typeface="Tahoma"/>
              <a:cs typeface="Tahoma"/>
            </a:endParaRPr>
          </a:p>
          <a:p>
            <a:pPr lvl="1" marL="756285" indent="-287020">
              <a:lnSpc>
                <a:spcPct val="100000"/>
              </a:lnSpc>
              <a:spcBef>
                <a:spcPts val="43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1800">
                <a:solidFill>
                  <a:srgbClr val="001F5F"/>
                </a:solidFill>
                <a:latin typeface="Tahoma"/>
                <a:cs typeface="Tahoma"/>
              </a:rPr>
              <a:t>The </a:t>
            </a:r>
            <a:r>
              <a:rPr dirty="0" sz="1800" spc="-5">
                <a:solidFill>
                  <a:srgbClr val="001F5F"/>
                </a:solidFill>
                <a:latin typeface="Tahoma"/>
                <a:cs typeface="Tahoma"/>
              </a:rPr>
              <a:t>BASE CASE </a:t>
            </a:r>
            <a:r>
              <a:rPr dirty="0" sz="1800">
                <a:solidFill>
                  <a:srgbClr val="001F5F"/>
                </a:solidFill>
                <a:latin typeface="Tahoma"/>
                <a:cs typeface="Tahoma"/>
              </a:rPr>
              <a:t>must be </a:t>
            </a:r>
            <a:r>
              <a:rPr dirty="0" sz="1800" spc="-5">
                <a:solidFill>
                  <a:srgbClr val="001F5F"/>
                </a:solidFill>
                <a:latin typeface="Tahoma"/>
                <a:cs typeface="Tahoma"/>
              </a:rPr>
              <a:t>reachable for some</a:t>
            </a:r>
            <a:r>
              <a:rPr dirty="0" sz="1800" spc="10">
                <a:solidFill>
                  <a:srgbClr val="001F5F"/>
                </a:solidFill>
                <a:latin typeface="Tahoma"/>
                <a:cs typeface="Tahoma"/>
              </a:rPr>
              <a:t> </a:t>
            </a:r>
            <a:r>
              <a:rPr dirty="0" sz="1800" spc="-5">
                <a:solidFill>
                  <a:srgbClr val="001F5F"/>
                </a:solidFill>
                <a:latin typeface="Tahoma"/>
                <a:cs typeface="Tahoma"/>
              </a:rPr>
              <a:t>argument/parameter.</a:t>
            </a:r>
            <a:endParaRPr sz="1800">
              <a:latin typeface="Tahoma"/>
              <a:cs typeface="Tahoma"/>
            </a:endParaRPr>
          </a:p>
          <a:p>
            <a:pPr lvl="1" marL="756285" indent="-287020">
              <a:lnSpc>
                <a:spcPct val="100000"/>
              </a:lnSpc>
              <a:spcBef>
                <a:spcPts val="43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1800">
                <a:solidFill>
                  <a:srgbClr val="001F5F"/>
                </a:solidFill>
                <a:latin typeface="Tahoma"/>
                <a:cs typeface="Tahoma"/>
              </a:rPr>
              <a:t>it </a:t>
            </a:r>
            <a:r>
              <a:rPr dirty="0" sz="1800" spc="-5">
                <a:solidFill>
                  <a:srgbClr val="001F5F"/>
                </a:solidFill>
                <a:latin typeface="Tahoma"/>
                <a:cs typeface="Tahoma"/>
              </a:rPr>
              <a:t>also </a:t>
            </a:r>
            <a:r>
              <a:rPr dirty="0" sz="1800">
                <a:solidFill>
                  <a:srgbClr val="001F5F"/>
                </a:solidFill>
                <a:latin typeface="Tahoma"/>
                <a:cs typeface="Tahoma"/>
              </a:rPr>
              <a:t>have Recursive Case, </a:t>
            </a:r>
            <a:r>
              <a:rPr dirty="0" sz="1800" spc="-5">
                <a:solidFill>
                  <a:srgbClr val="001F5F"/>
                </a:solidFill>
                <a:latin typeface="Tahoma"/>
                <a:cs typeface="Tahoma"/>
              </a:rPr>
              <a:t>where by function calls</a:t>
            </a:r>
            <a:r>
              <a:rPr dirty="0" sz="1800" spc="-10">
                <a:solidFill>
                  <a:srgbClr val="001F5F"/>
                </a:solidFill>
                <a:latin typeface="Tahoma"/>
                <a:cs typeface="Tahoma"/>
              </a:rPr>
              <a:t> </a:t>
            </a:r>
            <a:r>
              <a:rPr dirty="0" sz="1800" spc="-5">
                <a:solidFill>
                  <a:srgbClr val="001F5F"/>
                </a:solidFill>
                <a:latin typeface="Tahoma"/>
                <a:cs typeface="Tahoma"/>
              </a:rPr>
              <a:t>itself.</a:t>
            </a:r>
            <a:endParaRPr sz="18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489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000">
                <a:latin typeface="Tahoma"/>
                <a:cs typeface="Tahoma"/>
              </a:rPr>
              <a:t>Example:</a:t>
            </a:r>
            <a:endParaRPr sz="2000">
              <a:latin typeface="Tahoma"/>
              <a:cs typeface="Tahoma"/>
            </a:endParaRPr>
          </a:p>
          <a:p>
            <a:pPr marL="1067435" marR="5586095" indent="-255270">
              <a:lnSpc>
                <a:spcPct val="120000"/>
              </a:lnSpc>
            </a:pPr>
            <a:r>
              <a:rPr dirty="0" sz="1600" spc="-5">
                <a:latin typeface="Tahoma"/>
                <a:cs typeface="Tahoma"/>
              </a:rPr>
              <a:t>def</a:t>
            </a:r>
            <a:r>
              <a:rPr dirty="0" sz="1600" spc="-90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factorial_recursive(n):  # </a:t>
            </a:r>
            <a:r>
              <a:rPr dirty="0" sz="1600" spc="-10">
                <a:latin typeface="Tahoma"/>
                <a:cs typeface="Tahoma"/>
              </a:rPr>
              <a:t>Base case: </a:t>
            </a:r>
            <a:r>
              <a:rPr dirty="0" sz="1600">
                <a:latin typeface="Tahoma"/>
                <a:cs typeface="Tahoma"/>
              </a:rPr>
              <a:t>1! </a:t>
            </a:r>
            <a:r>
              <a:rPr dirty="0" sz="1600" spc="-5">
                <a:latin typeface="Tahoma"/>
                <a:cs typeface="Tahoma"/>
              </a:rPr>
              <a:t>=</a:t>
            </a:r>
            <a:r>
              <a:rPr dirty="0" sz="1600" spc="-15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1</a:t>
            </a:r>
            <a:endParaRPr sz="1600">
              <a:latin typeface="Tahoma"/>
              <a:cs typeface="Tahoma"/>
            </a:endParaRPr>
          </a:p>
          <a:p>
            <a:pPr marL="1320165" marR="6671309" indent="-253365">
              <a:lnSpc>
                <a:spcPct val="120000"/>
              </a:lnSpc>
            </a:pPr>
            <a:r>
              <a:rPr dirty="0" sz="1600" spc="-5">
                <a:latin typeface="Tahoma"/>
                <a:cs typeface="Tahoma"/>
              </a:rPr>
              <a:t>if n == 1:  </a:t>
            </a:r>
            <a:r>
              <a:rPr dirty="0" sz="1600" spc="-10">
                <a:latin typeface="Tahoma"/>
                <a:cs typeface="Tahoma"/>
              </a:rPr>
              <a:t>return</a:t>
            </a:r>
            <a:r>
              <a:rPr dirty="0" sz="1600" spc="-75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1</a:t>
            </a:r>
            <a:endParaRPr sz="1600">
              <a:latin typeface="Tahoma"/>
              <a:cs typeface="Tahoma"/>
            </a:endParaRPr>
          </a:p>
          <a:p>
            <a:pPr marL="1067435">
              <a:lnSpc>
                <a:spcPct val="100000"/>
              </a:lnSpc>
              <a:spcBef>
                <a:spcPts val="390"/>
              </a:spcBef>
            </a:pPr>
            <a:r>
              <a:rPr dirty="0" sz="1600" spc="-5">
                <a:latin typeface="Tahoma"/>
                <a:cs typeface="Tahoma"/>
              </a:rPr>
              <a:t># Recursive case: n! = n *</a:t>
            </a:r>
            <a:r>
              <a:rPr dirty="0" sz="1600" spc="5">
                <a:latin typeface="Tahoma"/>
                <a:cs typeface="Tahoma"/>
              </a:rPr>
              <a:t> </a:t>
            </a:r>
            <a:r>
              <a:rPr dirty="0" sz="1600" spc="-5">
                <a:latin typeface="Tahoma"/>
                <a:cs typeface="Tahoma"/>
              </a:rPr>
              <a:t>(n-1)!</a:t>
            </a:r>
            <a:endParaRPr sz="1600">
              <a:latin typeface="Tahoma"/>
              <a:cs typeface="Tahoma"/>
            </a:endParaRPr>
          </a:p>
          <a:p>
            <a:pPr marL="1067435">
              <a:lnSpc>
                <a:spcPct val="100000"/>
              </a:lnSpc>
              <a:spcBef>
                <a:spcPts val="384"/>
              </a:spcBef>
            </a:pPr>
            <a:r>
              <a:rPr dirty="0" sz="1600" spc="-10">
                <a:latin typeface="Tahoma"/>
                <a:cs typeface="Tahoma"/>
              </a:rPr>
              <a:t>else:</a:t>
            </a:r>
            <a:endParaRPr sz="1600">
              <a:latin typeface="Tahoma"/>
              <a:cs typeface="Tahoma"/>
            </a:endParaRPr>
          </a:p>
          <a:p>
            <a:pPr algn="just" marL="812800" marR="4331335" indent="507365">
              <a:lnSpc>
                <a:spcPct val="120000"/>
              </a:lnSpc>
            </a:pPr>
            <a:r>
              <a:rPr dirty="0" sz="1600" spc="-10">
                <a:latin typeface="Tahoma"/>
                <a:cs typeface="Tahoma"/>
              </a:rPr>
              <a:t>return </a:t>
            </a:r>
            <a:r>
              <a:rPr dirty="0" sz="1600" spc="-5">
                <a:latin typeface="Tahoma"/>
                <a:cs typeface="Tahoma"/>
              </a:rPr>
              <a:t>n * factorial_recursive(n-1)  print("\n\n </a:t>
            </a:r>
            <a:r>
              <a:rPr dirty="0" sz="1600" spc="-10">
                <a:latin typeface="Tahoma"/>
                <a:cs typeface="Tahoma"/>
              </a:rPr>
              <a:t>Recursion </a:t>
            </a:r>
            <a:r>
              <a:rPr dirty="0" sz="1600" spc="-5">
                <a:latin typeface="Tahoma"/>
                <a:cs typeface="Tahoma"/>
              </a:rPr>
              <a:t>Example </a:t>
            </a:r>
            <a:r>
              <a:rPr dirty="0" sz="1600" spc="-10">
                <a:latin typeface="Tahoma"/>
                <a:cs typeface="Tahoma"/>
              </a:rPr>
              <a:t>Results")  </a:t>
            </a:r>
            <a:r>
              <a:rPr dirty="0" sz="1600" spc="-5">
                <a:latin typeface="Tahoma"/>
                <a:cs typeface="Tahoma"/>
              </a:rPr>
              <a:t>factorial_recursive(6)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95425" y="220421"/>
            <a:ext cx="615378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How </a:t>
            </a:r>
            <a:r>
              <a:rPr dirty="0" spc="-5"/>
              <a:t>Recursive</a:t>
            </a:r>
            <a:r>
              <a:rPr dirty="0" spc="-90"/>
              <a:t> </a:t>
            </a:r>
            <a:r>
              <a:rPr dirty="0"/>
              <a:t>Works</a:t>
            </a:r>
          </a:p>
        </p:txBody>
      </p:sp>
      <p:sp>
        <p:nvSpPr>
          <p:cNvPr id="4" name="object 4"/>
          <p:cNvSpPr/>
          <p:nvPr/>
        </p:nvSpPr>
        <p:spPr>
          <a:xfrm>
            <a:off x="201612" y="228663"/>
            <a:ext cx="511175" cy="5127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9745" y="220421"/>
            <a:ext cx="560324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Recursive </a:t>
            </a:r>
            <a:r>
              <a:rPr dirty="0"/>
              <a:t>in</a:t>
            </a:r>
            <a:r>
              <a:rPr dirty="0" spc="-90"/>
              <a:t> </a:t>
            </a:r>
            <a:r>
              <a:rPr dirty="0" spc="-5"/>
              <a:t>Python</a:t>
            </a:r>
          </a:p>
        </p:txBody>
      </p:sp>
      <p:sp>
        <p:nvSpPr>
          <p:cNvPr id="3" name="object 3"/>
          <p:cNvSpPr/>
          <p:nvPr/>
        </p:nvSpPr>
        <p:spPr>
          <a:xfrm>
            <a:off x="2980014" y="4427935"/>
            <a:ext cx="115080" cy="1323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83540" y="1101743"/>
            <a:ext cx="8525510" cy="503745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400" b="1">
                <a:solidFill>
                  <a:srgbClr val="001F5F"/>
                </a:solidFill>
                <a:latin typeface="Tahoma"/>
                <a:cs typeface="Tahoma"/>
              </a:rPr>
              <a:t>Writing a </a:t>
            </a:r>
            <a:r>
              <a:rPr dirty="0" sz="2400" spc="-5" b="1">
                <a:solidFill>
                  <a:srgbClr val="001F5F"/>
                </a:solidFill>
                <a:latin typeface="Tahoma"/>
                <a:cs typeface="Tahoma"/>
              </a:rPr>
              <a:t>Recursive</a:t>
            </a:r>
            <a:r>
              <a:rPr dirty="0" sz="2400" spc="-25" b="1">
                <a:solidFill>
                  <a:srgbClr val="001F5F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001F5F"/>
                </a:solidFill>
                <a:latin typeface="Tahoma"/>
                <a:cs typeface="Tahoma"/>
              </a:rPr>
              <a:t>Function.</a:t>
            </a:r>
            <a:endParaRPr sz="2400">
              <a:latin typeface="Tahoma"/>
              <a:cs typeface="Tahoma"/>
            </a:endParaRPr>
          </a:p>
          <a:p>
            <a:pPr marL="355600" marR="123189" indent="-342900">
              <a:lnSpc>
                <a:spcPct val="100000"/>
              </a:lnSpc>
              <a:spcBef>
                <a:spcPts val="48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000" spc="-5">
                <a:latin typeface="Tahoma"/>
                <a:cs typeface="Tahoma"/>
              </a:rPr>
              <a:t>Before you </a:t>
            </a:r>
            <a:r>
              <a:rPr dirty="0" sz="2000">
                <a:latin typeface="Tahoma"/>
                <a:cs typeface="Tahoma"/>
              </a:rPr>
              <a:t>start </a:t>
            </a:r>
            <a:r>
              <a:rPr dirty="0" sz="2000" spc="-5">
                <a:latin typeface="Tahoma"/>
                <a:cs typeface="Tahoma"/>
              </a:rPr>
              <a:t>working recursive functions, you must know that every  recursive function </a:t>
            </a:r>
            <a:r>
              <a:rPr dirty="0" sz="2000">
                <a:latin typeface="Tahoma"/>
                <a:cs typeface="Tahoma"/>
              </a:rPr>
              <a:t>must have at least </a:t>
            </a:r>
            <a:r>
              <a:rPr dirty="0" sz="2000" spc="-5">
                <a:latin typeface="Tahoma"/>
                <a:cs typeface="Tahoma"/>
              </a:rPr>
              <a:t>two </a:t>
            </a:r>
            <a:r>
              <a:rPr dirty="0" sz="2000">
                <a:latin typeface="Tahoma"/>
                <a:cs typeface="Tahoma"/>
              </a:rPr>
              <a:t>cases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:</a:t>
            </a:r>
            <a:endParaRPr sz="2000">
              <a:latin typeface="Tahoma"/>
              <a:cs typeface="Tahoma"/>
            </a:endParaRPr>
          </a:p>
          <a:p>
            <a:pPr lvl="1" marL="756285" indent="-287020">
              <a:lnSpc>
                <a:spcPct val="100000"/>
              </a:lnSpc>
              <a:spcBef>
                <a:spcPts val="434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1800">
                <a:solidFill>
                  <a:srgbClr val="001F5F"/>
                </a:solidFill>
                <a:latin typeface="Tahoma"/>
                <a:cs typeface="Tahoma"/>
              </a:rPr>
              <a:t>The </a:t>
            </a:r>
            <a:r>
              <a:rPr dirty="0" sz="1800" spc="-5" b="1">
                <a:solidFill>
                  <a:srgbClr val="001F5F"/>
                </a:solidFill>
                <a:latin typeface="Tahoma"/>
                <a:cs typeface="Tahoma"/>
              </a:rPr>
              <a:t>Recursive Case </a:t>
            </a:r>
            <a:r>
              <a:rPr dirty="0" sz="1800" spc="-5">
                <a:solidFill>
                  <a:srgbClr val="001F5F"/>
                </a:solidFill>
                <a:latin typeface="Tahoma"/>
                <a:cs typeface="Tahoma"/>
              </a:rPr>
              <a:t>(or the inductive</a:t>
            </a:r>
            <a:r>
              <a:rPr dirty="0" sz="1800" spc="10">
                <a:solidFill>
                  <a:srgbClr val="001F5F"/>
                </a:solidFill>
                <a:latin typeface="Tahoma"/>
                <a:cs typeface="Tahoma"/>
              </a:rPr>
              <a:t> </a:t>
            </a:r>
            <a:r>
              <a:rPr dirty="0" sz="1800" spc="-5">
                <a:solidFill>
                  <a:srgbClr val="001F5F"/>
                </a:solidFill>
                <a:latin typeface="Tahoma"/>
                <a:cs typeface="Tahoma"/>
              </a:rPr>
              <a:t>case)</a:t>
            </a:r>
            <a:endParaRPr sz="1800">
              <a:latin typeface="Tahoma"/>
              <a:cs typeface="Tahoma"/>
            </a:endParaRPr>
          </a:p>
          <a:p>
            <a:pPr lvl="1" marL="756285" indent="-287020">
              <a:lnSpc>
                <a:spcPct val="100000"/>
              </a:lnSpc>
              <a:spcBef>
                <a:spcPts val="43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1800">
                <a:solidFill>
                  <a:srgbClr val="001F5F"/>
                </a:solidFill>
                <a:latin typeface="Tahoma"/>
                <a:cs typeface="Tahoma"/>
              </a:rPr>
              <a:t>The </a:t>
            </a:r>
            <a:r>
              <a:rPr dirty="0" sz="1800" spc="-5" b="1">
                <a:solidFill>
                  <a:srgbClr val="001F5F"/>
                </a:solidFill>
                <a:latin typeface="Tahoma"/>
                <a:cs typeface="Tahoma"/>
              </a:rPr>
              <a:t>Base Case </a:t>
            </a:r>
            <a:r>
              <a:rPr dirty="0" sz="1800" spc="-5">
                <a:solidFill>
                  <a:srgbClr val="001F5F"/>
                </a:solidFill>
                <a:latin typeface="Tahoma"/>
                <a:cs typeface="Tahoma"/>
              </a:rPr>
              <a:t>(or the stopping case)always</a:t>
            </a:r>
            <a:r>
              <a:rPr dirty="0" sz="1800" spc="25">
                <a:solidFill>
                  <a:srgbClr val="001F5F"/>
                </a:solidFill>
                <a:latin typeface="Tahoma"/>
                <a:cs typeface="Tahoma"/>
              </a:rPr>
              <a:t> </a:t>
            </a:r>
            <a:r>
              <a:rPr dirty="0" sz="1800" spc="-5">
                <a:solidFill>
                  <a:srgbClr val="001F5F"/>
                </a:solidFill>
                <a:latin typeface="Tahoma"/>
                <a:cs typeface="Tahoma"/>
              </a:rPr>
              <a:t>required</a:t>
            </a:r>
            <a:endParaRPr sz="1800">
              <a:latin typeface="Tahoma"/>
              <a:cs typeface="Tahoma"/>
            </a:endParaRPr>
          </a:p>
          <a:p>
            <a:pPr marL="355600" marR="407670" indent="-342900">
              <a:lnSpc>
                <a:spcPct val="100000"/>
              </a:lnSpc>
              <a:spcBef>
                <a:spcPts val="484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000">
                <a:latin typeface="Tahoma"/>
                <a:cs typeface="Tahoma"/>
              </a:rPr>
              <a:t>The </a:t>
            </a:r>
            <a:r>
              <a:rPr dirty="0" sz="2000" spc="-5">
                <a:latin typeface="Tahoma"/>
                <a:cs typeface="Tahoma"/>
              </a:rPr>
              <a:t>Base </a:t>
            </a:r>
            <a:r>
              <a:rPr dirty="0" sz="2000">
                <a:latin typeface="Tahoma"/>
                <a:cs typeface="Tahoma"/>
              </a:rPr>
              <a:t>Case in a </a:t>
            </a:r>
            <a:r>
              <a:rPr dirty="0" sz="2000" spc="-5">
                <a:latin typeface="Tahoma"/>
                <a:cs typeface="Tahoma"/>
              </a:rPr>
              <a:t>recursive program </a:t>
            </a:r>
            <a:r>
              <a:rPr dirty="0" sz="2000">
                <a:latin typeface="Tahoma"/>
                <a:cs typeface="Tahoma"/>
              </a:rPr>
              <a:t>must be </a:t>
            </a:r>
            <a:r>
              <a:rPr dirty="0" sz="2000" spc="-5">
                <a:latin typeface="Tahoma"/>
                <a:cs typeface="Tahoma"/>
              </a:rPr>
              <a:t>reachable that causes  the recursion to</a:t>
            </a:r>
            <a:r>
              <a:rPr dirty="0" sz="2000">
                <a:latin typeface="Tahoma"/>
                <a:cs typeface="Tahoma"/>
              </a:rPr>
              <a:t> </a:t>
            </a:r>
            <a:r>
              <a:rPr dirty="0" sz="2000" spc="-5">
                <a:latin typeface="Tahoma"/>
                <a:cs typeface="Tahoma"/>
              </a:rPr>
              <a:t>end.</a:t>
            </a:r>
            <a:endParaRPr sz="20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000">
                <a:latin typeface="Tahoma"/>
                <a:cs typeface="Tahoma"/>
              </a:rPr>
              <a:t>The Recursive Case is the more </a:t>
            </a:r>
            <a:r>
              <a:rPr dirty="0" sz="2000" spc="-5">
                <a:latin typeface="Tahoma"/>
                <a:cs typeface="Tahoma"/>
              </a:rPr>
              <a:t>general </a:t>
            </a:r>
            <a:r>
              <a:rPr dirty="0" sz="2000">
                <a:latin typeface="Tahoma"/>
                <a:cs typeface="Tahoma"/>
              </a:rPr>
              <a:t>case of the </a:t>
            </a:r>
            <a:r>
              <a:rPr dirty="0" sz="2000" spc="-5">
                <a:latin typeface="Tahoma"/>
                <a:cs typeface="Tahoma"/>
              </a:rPr>
              <a:t>problem we're</a:t>
            </a:r>
            <a:r>
              <a:rPr dirty="0" sz="2000" spc="-105">
                <a:latin typeface="Tahoma"/>
                <a:cs typeface="Tahoma"/>
              </a:rPr>
              <a:t> </a:t>
            </a:r>
            <a:r>
              <a:rPr dirty="0" sz="2000" spc="-5">
                <a:latin typeface="Tahoma"/>
                <a:cs typeface="Tahoma"/>
              </a:rPr>
              <a:t>trying</a:t>
            </a:r>
            <a:endParaRPr sz="200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</a:pPr>
            <a:r>
              <a:rPr dirty="0" sz="2000" spc="-5">
                <a:latin typeface="Tahoma"/>
                <a:cs typeface="Tahoma"/>
              </a:rPr>
              <a:t>to </a:t>
            </a:r>
            <a:r>
              <a:rPr dirty="0" sz="2000">
                <a:latin typeface="Tahoma"/>
                <a:cs typeface="Tahoma"/>
              </a:rPr>
              <a:t>solve using </a:t>
            </a:r>
            <a:r>
              <a:rPr dirty="0" sz="2000" spc="-5">
                <a:latin typeface="Tahoma"/>
                <a:cs typeface="Tahoma"/>
              </a:rPr>
              <a:t>recursive call to </a:t>
            </a:r>
            <a:r>
              <a:rPr dirty="0" sz="2000">
                <a:latin typeface="Tahoma"/>
                <a:cs typeface="Tahoma"/>
              </a:rPr>
              <a:t>same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function.</a:t>
            </a:r>
            <a:endParaRPr sz="20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000" spc="-5">
                <a:latin typeface="Tahoma"/>
                <a:cs typeface="Tahoma"/>
              </a:rPr>
              <a:t>Example: function x</a:t>
            </a:r>
            <a:r>
              <a:rPr dirty="0" sz="1600" spc="-5">
                <a:latin typeface="Tahoma"/>
                <a:cs typeface="Tahoma"/>
              </a:rPr>
              <a:t>n</a:t>
            </a:r>
            <a:r>
              <a:rPr dirty="0" sz="2000" spc="-5">
                <a:latin typeface="Tahoma"/>
                <a:cs typeface="Tahoma"/>
              </a:rPr>
              <a:t>, the recursive </a:t>
            </a:r>
            <a:r>
              <a:rPr dirty="0" sz="2000">
                <a:latin typeface="Tahoma"/>
                <a:cs typeface="Tahoma"/>
              </a:rPr>
              <a:t>case </a:t>
            </a:r>
            <a:r>
              <a:rPr dirty="0" sz="2000" spc="-5">
                <a:latin typeface="Tahoma"/>
                <a:cs typeface="Tahoma"/>
              </a:rPr>
              <a:t>would </a:t>
            </a:r>
            <a:r>
              <a:rPr dirty="0" sz="2000">
                <a:latin typeface="Tahoma"/>
                <a:cs typeface="Tahoma"/>
              </a:rPr>
              <a:t>be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:</a:t>
            </a:r>
            <a:endParaRPr sz="2000">
              <a:latin typeface="Tahoma"/>
              <a:cs typeface="Tahoma"/>
            </a:endParaRPr>
          </a:p>
          <a:p>
            <a:pPr marL="870585">
              <a:lnSpc>
                <a:spcPct val="100000"/>
              </a:lnSpc>
              <a:spcBef>
                <a:spcPts val="390"/>
              </a:spcBef>
            </a:pPr>
            <a:r>
              <a:rPr dirty="0" sz="1600" spc="-10">
                <a:solidFill>
                  <a:srgbClr val="6F2F9F"/>
                </a:solidFill>
                <a:latin typeface="Tahoma"/>
                <a:cs typeface="Tahoma"/>
              </a:rPr>
              <a:t>Power </a:t>
            </a:r>
            <a:r>
              <a:rPr dirty="0" sz="1600" spc="-5">
                <a:solidFill>
                  <a:srgbClr val="6F2F9F"/>
                </a:solidFill>
                <a:latin typeface="Tahoma"/>
                <a:cs typeface="Tahoma"/>
              </a:rPr>
              <a:t>(x, n) = x * Power (x, n -</a:t>
            </a:r>
            <a:r>
              <a:rPr dirty="0" sz="1600" spc="95">
                <a:solidFill>
                  <a:srgbClr val="6F2F9F"/>
                </a:solidFill>
                <a:latin typeface="Tahoma"/>
                <a:cs typeface="Tahoma"/>
              </a:rPr>
              <a:t> </a:t>
            </a:r>
            <a:r>
              <a:rPr dirty="0" sz="1600" spc="-5">
                <a:solidFill>
                  <a:srgbClr val="6F2F9F"/>
                </a:solidFill>
                <a:latin typeface="Tahoma"/>
                <a:cs typeface="Tahoma"/>
              </a:rPr>
              <a:t>1)</a:t>
            </a:r>
            <a:endParaRPr sz="1600">
              <a:latin typeface="Tahoma"/>
              <a:cs typeface="Tahoma"/>
            </a:endParaRPr>
          </a:p>
          <a:p>
            <a:pPr marL="870585" marR="5359400" indent="-401320">
              <a:lnSpc>
                <a:spcPct val="119100"/>
              </a:lnSpc>
              <a:spcBef>
                <a:spcPts val="15"/>
              </a:spcBef>
            </a:pPr>
            <a:r>
              <a:rPr dirty="0" sz="1800">
                <a:latin typeface="Tahoma"/>
                <a:cs typeface="Tahoma"/>
              </a:rPr>
              <a:t>The base </a:t>
            </a:r>
            <a:r>
              <a:rPr dirty="0" sz="1800" spc="-5">
                <a:latin typeface="Tahoma"/>
                <a:cs typeface="Tahoma"/>
              </a:rPr>
              <a:t>cases would </a:t>
            </a:r>
            <a:r>
              <a:rPr dirty="0" sz="1800">
                <a:latin typeface="Tahoma"/>
                <a:cs typeface="Tahoma"/>
              </a:rPr>
              <a:t>be:  </a:t>
            </a:r>
            <a:r>
              <a:rPr dirty="0" sz="1600" spc="-5">
                <a:solidFill>
                  <a:srgbClr val="6F2F9F"/>
                </a:solidFill>
                <a:latin typeface="Tahoma"/>
                <a:cs typeface="Tahoma"/>
              </a:rPr>
              <a:t>Power(x, n)=x </a:t>
            </a:r>
            <a:r>
              <a:rPr dirty="0" sz="1600" spc="-10">
                <a:solidFill>
                  <a:srgbClr val="6F2F9F"/>
                </a:solidFill>
                <a:latin typeface="Tahoma"/>
                <a:cs typeface="Tahoma"/>
              </a:rPr>
              <a:t>when </a:t>
            </a:r>
            <a:r>
              <a:rPr dirty="0" sz="1600" spc="-5">
                <a:solidFill>
                  <a:srgbClr val="6F2F9F"/>
                </a:solidFill>
                <a:latin typeface="Tahoma"/>
                <a:cs typeface="Tahoma"/>
              </a:rPr>
              <a:t>n=1  Power(x, n)=1 when</a:t>
            </a:r>
            <a:r>
              <a:rPr dirty="0" sz="1600" spc="-60">
                <a:solidFill>
                  <a:srgbClr val="6F2F9F"/>
                </a:solidFill>
                <a:latin typeface="Tahoma"/>
                <a:cs typeface="Tahoma"/>
              </a:rPr>
              <a:t> </a:t>
            </a:r>
            <a:r>
              <a:rPr dirty="0" sz="1600" spc="-5">
                <a:solidFill>
                  <a:srgbClr val="6F2F9F"/>
                </a:solidFill>
                <a:latin typeface="Tahoma"/>
                <a:cs typeface="Tahoma"/>
              </a:rPr>
              <a:t>n=0</a:t>
            </a:r>
            <a:endParaRPr sz="16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425"/>
              </a:spcBef>
            </a:pPr>
            <a:r>
              <a:rPr dirty="0" sz="1800">
                <a:latin typeface="Tahoma"/>
                <a:cs typeface="Tahoma"/>
              </a:rPr>
              <a:t>Other </a:t>
            </a:r>
            <a:r>
              <a:rPr dirty="0" sz="1800" spc="-5">
                <a:latin typeface="Tahoma"/>
                <a:cs typeface="Tahoma"/>
              </a:rPr>
              <a:t>cases(when n&lt;0) ignoring simplicity</a:t>
            </a:r>
            <a:r>
              <a:rPr dirty="0" sz="1800" spc="20">
                <a:latin typeface="Tahoma"/>
                <a:cs typeface="Tahoma"/>
              </a:rPr>
              <a:t> </a:t>
            </a:r>
            <a:r>
              <a:rPr dirty="0" sz="1800" spc="-5">
                <a:latin typeface="Tahoma"/>
                <a:cs typeface="Tahoma"/>
              </a:rPr>
              <a:t>sake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1612" y="228663"/>
            <a:ext cx="511175" cy="51276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9745" y="220421"/>
            <a:ext cx="560324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Recursive </a:t>
            </a:r>
            <a:r>
              <a:rPr dirty="0"/>
              <a:t>in</a:t>
            </a:r>
            <a:r>
              <a:rPr dirty="0" spc="-90"/>
              <a:t> </a:t>
            </a:r>
            <a:r>
              <a:rPr dirty="0" spc="-5"/>
              <a:t>Python</a:t>
            </a:r>
          </a:p>
        </p:txBody>
      </p:sp>
      <p:sp>
        <p:nvSpPr>
          <p:cNvPr id="3" name="object 3"/>
          <p:cNvSpPr/>
          <p:nvPr/>
        </p:nvSpPr>
        <p:spPr>
          <a:xfrm>
            <a:off x="201612" y="228663"/>
            <a:ext cx="511175" cy="5127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215384" y="2706623"/>
            <a:ext cx="4776216" cy="2819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83540" y="1101743"/>
            <a:ext cx="7807959" cy="506349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400" b="1">
                <a:solidFill>
                  <a:srgbClr val="001F5F"/>
                </a:solidFill>
                <a:latin typeface="Tahoma"/>
                <a:cs typeface="Tahoma"/>
              </a:rPr>
              <a:t>Writing a </a:t>
            </a:r>
            <a:r>
              <a:rPr dirty="0" sz="2400" spc="-5" b="1">
                <a:solidFill>
                  <a:srgbClr val="001F5F"/>
                </a:solidFill>
                <a:latin typeface="Tahoma"/>
                <a:cs typeface="Tahoma"/>
              </a:rPr>
              <a:t>Recursive</a:t>
            </a:r>
            <a:r>
              <a:rPr dirty="0" sz="2400" spc="-25" b="1">
                <a:solidFill>
                  <a:srgbClr val="001F5F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001F5F"/>
                </a:solidFill>
                <a:latin typeface="Tahoma"/>
                <a:cs typeface="Tahoma"/>
              </a:rPr>
              <a:t>Function.</a:t>
            </a:r>
            <a:endParaRPr sz="24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000">
                <a:latin typeface="Tahoma"/>
                <a:cs typeface="Tahoma"/>
              </a:rPr>
              <a:t>The </a:t>
            </a:r>
            <a:r>
              <a:rPr dirty="0" sz="2000" spc="-5">
                <a:latin typeface="Tahoma"/>
                <a:cs typeface="Tahoma"/>
              </a:rPr>
              <a:t>Fibonacci </a:t>
            </a:r>
            <a:r>
              <a:rPr dirty="0" sz="2000">
                <a:latin typeface="Tahoma"/>
                <a:cs typeface="Tahoma"/>
              </a:rPr>
              <a:t>numbers are easy </a:t>
            </a:r>
            <a:r>
              <a:rPr dirty="0" sz="2000" spc="-5">
                <a:latin typeface="Tahoma"/>
                <a:cs typeface="Tahoma"/>
              </a:rPr>
              <a:t>to write </a:t>
            </a:r>
            <a:r>
              <a:rPr dirty="0" sz="2000">
                <a:latin typeface="Tahoma"/>
                <a:cs typeface="Tahoma"/>
              </a:rPr>
              <a:t>as a </a:t>
            </a:r>
            <a:r>
              <a:rPr dirty="0" sz="2000" spc="-5">
                <a:latin typeface="Tahoma"/>
                <a:cs typeface="Tahoma"/>
              </a:rPr>
              <a:t>Python</a:t>
            </a:r>
            <a:r>
              <a:rPr dirty="0" sz="2000" spc="-75">
                <a:latin typeface="Tahoma"/>
                <a:cs typeface="Tahoma"/>
              </a:rPr>
              <a:t> </a:t>
            </a:r>
            <a:r>
              <a:rPr dirty="0" sz="2000" spc="-5">
                <a:latin typeface="Tahoma"/>
                <a:cs typeface="Tahoma"/>
              </a:rPr>
              <a:t>function.</a:t>
            </a:r>
            <a:endParaRPr sz="2000">
              <a:latin typeface="Tahoma"/>
              <a:cs typeface="Tahoma"/>
            </a:endParaRPr>
          </a:p>
          <a:p>
            <a:pPr marL="355600" marR="457834" indent="-342900">
              <a:lnSpc>
                <a:spcPct val="100000"/>
              </a:lnSpc>
              <a:spcBef>
                <a:spcPts val="484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000" spc="-5">
                <a:latin typeface="Tahoma"/>
                <a:cs typeface="Tahoma"/>
              </a:rPr>
              <a:t>It's </a:t>
            </a:r>
            <a:r>
              <a:rPr dirty="0" sz="2000">
                <a:latin typeface="Tahoma"/>
                <a:cs typeface="Tahoma"/>
              </a:rPr>
              <a:t>more or less a one </a:t>
            </a:r>
            <a:r>
              <a:rPr dirty="0" sz="2000" spc="-5">
                <a:latin typeface="Tahoma"/>
                <a:cs typeface="Tahoma"/>
              </a:rPr>
              <a:t>to </a:t>
            </a:r>
            <a:r>
              <a:rPr dirty="0" sz="2000">
                <a:latin typeface="Tahoma"/>
                <a:cs typeface="Tahoma"/>
              </a:rPr>
              <a:t>one mapping </a:t>
            </a:r>
            <a:r>
              <a:rPr dirty="0" sz="2000" spc="-5">
                <a:latin typeface="Tahoma"/>
                <a:cs typeface="Tahoma"/>
              </a:rPr>
              <a:t>from the </a:t>
            </a:r>
            <a:r>
              <a:rPr dirty="0" sz="2000">
                <a:latin typeface="Tahoma"/>
                <a:cs typeface="Tahoma"/>
              </a:rPr>
              <a:t>mathematical  definition:</a:t>
            </a:r>
            <a:endParaRPr sz="2000">
              <a:latin typeface="Tahoma"/>
              <a:cs typeface="Tahoma"/>
            </a:endParaRPr>
          </a:p>
          <a:p>
            <a:pPr marL="413384">
              <a:lnSpc>
                <a:spcPct val="100000"/>
              </a:lnSpc>
              <a:spcBef>
                <a:spcPts val="480"/>
              </a:spcBef>
            </a:pPr>
            <a:r>
              <a:rPr dirty="0" sz="2000">
                <a:latin typeface="Tahoma"/>
                <a:cs typeface="Tahoma"/>
              </a:rPr>
              <a:t>def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 spc="-5">
                <a:latin typeface="Tahoma"/>
                <a:cs typeface="Tahoma"/>
              </a:rPr>
              <a:t>fib(n):</a:t>
            </a:r>
            <a:endParaRPr sz="2000">
              <a:latin typeface="Tahoma"/>
              <a:cs typeface="Tahoma"/>
            </a:endParaRPr>
          </a:p>
          <a:p>
            <a:pPr marL="1049020" marR="5847715" indent="-318770">
              <a:lnSpc>
                <a:spcPts val="2880"/>
              </a:lnSpc>
              <a:spcBef>
                <a:spcPts val="175"/>
              </a:spcBef>
            </a:pPr>
            <a:r>
              <a:rPr dirty="0" sz="2000">
                <a:latin typeface="Tahoma"/>
                <a:cs typeface="Tahoma"/>
              </a:rPr>
              <a:t>if n </a:t>
            </a:r>
            <a:r>
              <a:rPr dirty="0" sz="2000" spc="-5">
                <a:latin typeface="Tahoma"/>
                <a:cs typeface="Tahoma"/>
              </a:rPr>
              <a:t>== </a:t>
            </a:r>
            <a:r>
              <a:rPr dirty="0" sz="2000">
                <a:latin typeface="Tahoma"/>
                <a:cs typeface="Tahoma"/>
              </a:rPr>
              <a:t>0:  </a:t>
            </a:r>
            <a:r>
              <a:rPr dirty="0" sz="2000" spc="-5">
                <a:latin typeface="Tahoma"/>
                <a:cs typeface="Tahoma"/>
              </a:rPr>
              <a:t>return</a:t>
            </a:r>
            <a:r>
              <a:rPr dirty="0" sz="2000" spc="-9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0</a:t>
            </a:r>
            <a:endParaRPr sz="2000">
              <a:latin typeface="Tahoma"/>
              <a:cs typeface="Tahoma"/>
            </a:endParaRPr>
          </a:p>
          <a:p>
            <a:pPr marL="1049020" marR="5758815" indent="-318770">
              <a:lnSpc>
                <a:spcPts val="2880"/>
              </a:lnSpc>
              <a:spcBef>
                <a:spcPts val="5"/>
              </a:spcBef>
            </a:pPr>
            <a:r>
              <a:rPr dirty="0" sz="2000" spc="-5">
                <a:latin typeface="Tahoma"/>
                <a:cs typeface="Tahoma"/>
              </a:rPr>
              <a:t>elif </a:t>
            </a:r>
            <a:r>
              <a:rPr dirty="0" sz="2000">
                <a:latin typeface="Tahoma"/>
                <a:cs typeface="Tahoma"/>
              </a:rPr>
              <a:t>n </a:t>
            </a:r>
            <a:r>
              <a:rPr dirty="0" sz="2000" spc="-10">
                <a:latin typeface="Tahoma"/>
                <a:cs typeface="Tahoma"/>
              </a:rPr>
              <a:t>==</a:t>
            </a:r>
            <a:r>
              <a:rPr dirty="0" sz="2000" spc="-7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1:  </a:t>
            </a:r>
            <a:r>
              <a:rPr dirty="0" sz="2000" spc="-5">
                <a:latin typeface="Tahoma"/>
                <a:cs typeface="Tahoma"/>
              </a:rPr>
              <a:t>return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1</a:t>
            </a:r>
            <a:endParaRPr sz="2000">
              <a:latin typeface="Tahoma"/>
              <a:cs typeface="Tahoma"/>
            </a:endParaRPr>
          </a:p>
          <a:p>
            <a:pPr marL="730250">
              <a:lnSpc>
                <a:spcPct val="100000"/>
              </a:lnSpc>
              <a:spcBef>
                <a:spcPts val="300"/>
              </a:spcBef>
            </a:pPr>
            <a:r>
              <a:rPr dirty="0" sz="2000" spc="-5">
                <a:latin typeface="Tahoma"/>
                <a:cs typeface="Tahoma"/>
              </a:rPr>
              <a:t>else:</a:t>
            </a:r>
            <a:endParaRPr sz="2000">
              <a:latin typeface="Tahoma"/>
              <a:cs typeface="Tahoma"/>
            </a:endParaRPr>
          </a:p>
          <a:p>
            <a:pPr marL="1049020">
              <a:lnSpc>
                <a:spcPct val="100000"/>
              </a:lnSpc>
              <a:spcBef>
                <a:spcPts val="484"/>
              </a:spcBef>
            </a:pPr>
            <a:r>
              <a:rPr dirty="0" sz="2000" spc="-5">
                <a:latin typeface="Tahoma"/>
                <a:cs typeface="Tahoma"/>
              </a:rPr>
              <a:t>return fib(n-1) </a:t>
            </a:r>
            <a:r>
              <a:rPr dirty="0" sz="2000">
                <a:latin typeface="Tahoma"/>
                <a:cs typeface="Tahoma"/>
              </a:rPr>
              <a:t>+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 spc="-5">
                <a:latin typeface="Tahoma"/>
                <a:cs typeface="Tahoma"/>
              </a:rPr>
              <a:t>fib(n-2)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950">
              <a:latin typeface="Tahoma"/>
              <a:cs typeface="Tahoma"/>
            </a:endParaRPr>
          </a:p>
          <a:p>
            <a:pPr marL="3442335" marR="5080">
              <a:lnSpc>
                <a:spcPct val="100000"/>
              </a:lnSpc>
            </a:pPr>
            <a:r>
              <a:rPr dirty="0" sz="1800">
                <a:latin typeface="Arial"/>
                <a:cs typeface="Arial"/>
              </a:rPr>
              <a:t>The </a:t>
            </a:r>
            <a:r>
              <a:rPr dirty="0" sz="1800" spc="-5">
                <a:latin typeface="Arial"/>
                <a:cs typeface="Arial"/>
              </a:rPr>
              <a:t>order in </a:t>
            </a:r>
            <a:r>
              <a:rPr dirty="0" sz="1800" spc="-15">
                <a:latin typeface="Arial"/>
                <a:cs typeface="Arial"/>
              </a:rPr>
              <a:t>which </a:t>
            </a:r>
            <a:r>
              <a:rPr dirty="0" sz="1800">
                <a:latin typeface="Arial"/>
                <a:cs typeface="Arial"/>
              </a:rPr>
              <a:t>the </a:t>
            </a:r>
            <a:r>
              <a:rPr dirty="0" sz="1800" spc="-5">
                <a:latin typeface="Arial"/>
                <a:cs typeface="Arial"/>
              </a:rPr>
              <a:t>functions are called.  fib() is substituted by</a:t>
            </a:r>
            <a:r>
              <a:rPr dirty="0" sz="1800" spc="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fib().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14422" y="220421"/>
            <a:ext cx="391223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Binary</a:t>
            </a:r>
            <a:r>
              <a:rPr dirty="0" spc="-75"/>
              <a:t> </a:t>
            </a:r>
            <a:r>
              <a:rPr dirty="0" spc="-5"/>
              <a:t>Search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101743"/>
            <a:ext cx="8524875" cy="217233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400" spc="-5" b="1">
                <a:solidFill>
                  <a:srgbClr val="001F5F"/>
                </a:solidFill>
                <a:latin typeface="Tahoma"/>
                <a:cs typeface="Tahoma"/>
              </a:rPr>
              <a:t>Binary Search </a:t>
            </a:r>
            <a:r>
              <a:rPr dirty="0" sz="2400" spc="-10" b="1">
                <a:solidFill>
                  <a:srgbClr val="001F5F"/>
                </a:solidFill>
                <a:latin typeface="Tahoma"/>
                <a:cs typeface="Tahoma"/>
              </a:rPr>
              <a:t>Techniques.</a:t>
            </a:r>
            <a:endParaRPr sz="2400">
              <a:latin typeface="Tahoma"/>
              <a:cs typeface="Tahoma"/>
            </a:endParaRPr>
          </a:p>
          <a:p>
            <a:pPr marL="355600" marR="714375" indent="-342900">
              <a:lnSpc>
                <a:spcPct val="100000"/>
              </a:lnSpc>
              <a:spcBef>
                <a:spcPts val="48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000" spc="-5">
                <a:latin typeface="Tahoma"/>
                <a:cs typeface="Tahoma"/>
              </a:rPr>
              <a:t>Popular </a:t>
            </a:r>
            <a:r>
              <a:rPr dirty="0" sz="2000">
                <a:latin typeface="Tahoma"/>
                <a:cs typeface="Tahoma"/>
              </a:rPr>
              <a:t>algorithm </a:t>
            </a:r>
            <a:r>
              <a:rPr dirty="0" sz="2000" spc="-5">
                <a:latin typeface="Tahoma"/>
                <a:cs typeface="Tahoma"/>
              </a:rPr>
              <a:t>that </a:t>
            </a:r>
            <a:r>
              <a:rPr dirty="0" sz="2000">
                <a:latin typeface="Tahoma"/>
                <a:cs typeface="Tahoma"/>
              </a:rPr>
              <a:t>used </a:t>
            </a:r>
            <a:r>
              <a:rPr dirty="0" sz="2000" spc="-5">
                <a:latin typeface="Tahoma"/>
                <a:cs typeface="Tahoma"/>
              </a:rPr>
              <a:t>recursion successfully </a:t>
            </a:r>
            <a:r>
              <a:rPr dirty="0" sz="2000">
                <a:latin typeface="Tahoma"/>
                <a:cs typeface="Tahoma"/>
              </a:rPr>
              <a:t>is </a:t>
            </a:r>
            <a:r>
              <a:rPr dirty="0" sz="2000" spc="-5">
                <a:latin typeface="Tahoma"/>
                <a:cs typeface="Tahoma"/>
              </a:rPr>
              <a:t>binary search  </a:t>
            </a:r>
            <a:r>
              <a:rPr dirty="0" sz="2000">
                <a:latin typeface="Tahoma"/>
                <a:cs typeface="Tahoma"/>
              </a:rPr>
              <a:t>algorithm.</a:t>
            </a:r>
            <a:endParaRPr sz="20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484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000" spc="-5">
                <a:latin typeface="Tahoma"/>
                <a:cs typeface="Tahoma"/>
              </a:rPr>
              <a:t>Binary search works for </a:t>
            </a:r>
            <a:r>
              <a:rPr dirty="0" sz="2000">
                <a:latin typeface="Tahoma"/>
                <a:cs typeface="Tahoma"/>
              </a:rPr>
              <a:t>only sorted array </a:t>
            </a:r>
            <a:r>
              <a:rPr dirty="0" sz="2000" spc="-5">
                <a:latin typeface="Tahoma"/>
                <a:cs typeface="Tahoma"/>
              </a:rPr>
              <a:t>whereas linear search work for  </a:t>
            </a:r>
            <a:r>
              <a:rPr dirty="0" sz="2000">
                <a:latin typeface="Tahoma"/>
                <a:cs typeface="Tahoma"/>
              </a:rPr>
              <a:t>both sorted as </a:t>
            </a:r>
            <a:r>
              <a:rPr dirty="0" sz="2000" spc="-5">
                <a:latin typeface="Tahoma"/>
                <a:cs typeface="Tahoma"/>
              </a:rPr>
              <a:t>well </a:t>
            </a:r>
            <a:r>
              <a:rPr dirty="0" sz="2000">
                <a:latin typeface="Tahoma"/>
                <a:cs typeface="Tahoma"/>
              </a:rPr>
              <a:t>as unsorted</a:t>
            </a:r>
            <a:r>
              <a:rPr dirty="0" sz="2000" spc="-11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array.</a:t>
            </a:r>
            <a:endParaRPr sz="20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000">
                <a:latin typeface="Tahoma"/>
                <a:cs typeface="Tahoma"/>
              </a:rPr>
              <a:t>The process of </a:t>
            </a:r>
            <a:r>
              <a:rPr dirty="0" sz="2000" spc="-5">
                <a:latin typeface="Tahoma"/>
                <a:cs typeface="Tahoma"/>
              </a:rPr>
              <a:t>binary search </a:t>
            </a:r>
            <a:r>
              <a:rPr dirty="0" sz="2000">
                <a:latin typeface="Tahoma"/>
                <a:cs typeface="Tahoma"/>
              </a:rPr>
              <a:t>is </a:t>
            </a:r>
            <a:r>
              <a:rPr dirty="0" sz="2000" spc="-5">
                <a:latin typeface="Tahoma"/>
                <a:cs typeface="Tahoma"/>
              </a:rPr>
              <a:t>illustrated </a:t>
            </a:r>
            <a:r>
              <a:rPr dirty="0" sz="2000">
                <a:latin typeface="Tahoma"/>
                <a:cs typeface="Tahoma"/>
              </a:rPr>
              <a:t>in the</a:t>
            </a:r>
            <a:r>
              <a:rPr dirty="0" sz="2000" spc="-70">
                <a:latin typeface="Tahoma"/>
                <a:cs typeface="Tahoma"/>
              </a:rPr>
              <a:t> </a:t>
            </a:r>
            <a:r>
              <a:rPr dirty="0" sz="2000" spc="-5">
                <a:latin typeface="Tahoma"/>
                <a:cs typeface="Tahoma"/>
              </a:rPr>
              <a:t>figure: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1612" y="228663"/>
            <a:ext cx="511175" cy="5127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447800" y="3402445"/>
            <a:ext cx="5791200" cy="322695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14422" y="220421"/>
            <a:ext cx="391223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Binary</a:t>
            </a:r>
            <a:r>
              <a:rPr dirty="0" spc="-75"/>
              <a:t> </a:t>
            </a:r>
            <a:r>
              <a:rPr dirty="0" spc="-5"/>
              <a:t>Search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101743"/>
            <a:ext cx="7814945" cy="113538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400" spc="-5" b="1">
                <a:solidFill>
                  <a:srgbClr val="001F5F"/>
                </a:solidFill>
                <a:latin typeface="Tahoma"/>
                <a:cs typeface="Tahoma"/>
              </a:rPr>
              <a:t>Binary Search Algorithm.</a:t>
            </a:r>
            <a:endParaRPr sz="24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48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000" spc="-5">
                <a:latin typeface="Tahoma"/>
                <a:cs typeface="Tahoma"/>
              </a:rPr>
              <a:t>Popular </a:t>
            </a:r>
            <a:r>
              <a:rPr dirty="0" sz="2000">
                <a:latin typeface="Tahoma"/>
                <a:cs typeface="Tahoma"/>
              </a:rPr>
              <a:t>algorithm </a:t>
            </a:r>
            <a:r>
              <a:rPr dirty="0" sz="2000" spc="-5">
                <a:latin typeface="Tahoma"/>
                <a:cs typeface="Tahoma"/>
              </a:rPr>
              <a:t>that </a:t>
            </a:r>
            <a:r>
              <a:rPr dirty="0" sz="2000">
                <a:latin typeface="Tahoma"/>
                <a:cs typeface="Tahoma"/>
              </a:rPr>
              <a:t>used </a:t>
            </a:r>
            <a:r>
              <a:rPr dirty="0" sz="2000" spc="-5">
                <a:latin typeface="Tahoma"/>
                <a:cs typeface="Tahoma"/>
              </a:rPr>
              <a:t>recursion successfully </a:t>
            </a:r>
            <a:r>
              <a:rPr dirty="0" sz="2000">
                <a:latin typeface="Tahoma"/>
                <a:cs typeface="Tahoma"/>
              </a:rPr>
              <a:t>is </a:t>
            </a:r>
            <a:r>
              <a:rPr dirty="0" sz="2000" spc="-5">
                <a:latin typeface="Tahoma"/>
                <a:cs typeface="Tahoma"/>
              </a:rPr>
              <a:t>binary search  </a:t>
            </a:r>
            <a:r>
              <a:rPr dirty="0" sz="2000">
                <a:latin typeface="Tahoma"/>
                <a:cs typeface="Tahoma"/>
              </a:rPr>
              <a:t>algorithm.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1612" y="228663"/>
            <a:ext cx="511175" cy="5127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19200" y="2259012"/>
            <a:ext cx="6846951" cy="4267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14422" y="220421"/>
            <a:ext cx="391223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Binary</a:t>
            </a:r>
            <a:r>
              <a:rPr dirty="0" spc="-75"/>
              <a:t> </a:t>
            </a:r>
            <a:r>
              <a:rPr dirty="0" spc="-5"/>
              <a:t>Search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101743"/>
            <a:ext cx="7814945" cy="113538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400" spc="-5" b="1">
                <a:solidFill>
                  <a:srgbClr val="001F5F"/>
                </a:solidFill>
                <a:latin typeface="Tahoma"/>
                <a:cs typeface="Tahoma"/>
              </a:rPr>
              <a:t>Binary Search Algorithm.</a:t>
            </a:r>
            <a:endParaRPr sz="24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48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000" spc="-5">
                <a:latin typeface="Tahoma"/>
                <a:cs typeface="Tahoma"/>
              </a:rPr>
              <a:t>Popular </a:t>
            </a:r>
            <a:r>
              <a:rPr dirty="0" sz="2000">
                <a:latin typeface="Tahoma"/>
                <a:cs typeface="Tahoma"/>
              </a:rPr>
              <a:t>algorithm </a:t>
            </a:r>
            <a:r>
              <a:rPr dirty="0" sz="2000" spc="-5">
                <a:latin typeface="Tahoma"/>
                <a:cs typeface="Tahoma"/>
              </a:rPr>
              <a:t>that </a:t>
            </a:r>
            <a:r>
              <a:rPr dirty="0" sz="2000">
                <a:latin typeface="Tahoma"/>
                <a:cs typeface="Tahoma"/>
              </a:rPr>
              <a:t>used </a:t>
            </a:r>
            <a:r>
              <a:rPr dirty="0" sz="2000" spc="-5">
                <a:latin typeface="Tahoma"/>
                <a:cs typeface="Tahoma"/>
              </a:rPr>
              <a:t>recursion successfully </a:t>
            </a:r>
            <a:r>
              <a:rPr dirty="0" sz="2000">
                <a:latin typeface="Tahoma"/>
                <a:cs typeface="Tahoma"/>
              </a:rPr>
              <a:t>is </a:t>
            </a:r>
            <a:r>
              <a:rPr dirty="0" sz="2000" spc="-5">
                <a:latin typeface="Tahoma"/>
                <a:cs typeface="Tahoma"/>
              </a:rPr>
              <a:t>binary search  </a:t>
            </a:r>
            <a:r>
              <a:rPr dirty="0" sz="2000">
                <a:latin typeface="Tahoma"/>
                <a:cs typeface="Tahoma"/>
              </a:rPr>
              <a:t>algorithm.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1612" y="228663"/>
            <a:ext cx="511175" cy="5127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19200" y="2259012"/>
            <a:ext cx="6846951" cy="4267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49121" y="220421"/>
            <a:ext cx="644525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Recursion vs.</a:t>
            </a:r>
            <a:r>
              <a:rPr dirty="0" spc="-110"/>
              <a:t> </a:t>
            </a:r>
            <a:r>
              <a:rPr dirty="0" spc="-5"/>
              <a:t>Iteration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101743"/>
            <a:ext cx="7329170" cy="119697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400" spc="-5" b="1">
                <a:solidFill>
                  <a:srgbClr val="001F5F"/>
                </a:solidFill>
                <a:latin typeface="Tahoma"/>
                <a:cs typeface="Tahoma"/>
              </a:rPr>
              <a:t>Difference </a:t>
            </a:r>
            <a:r>
              <a:rPr dirty="0" sz="2400" b="1">
                <a:solidFill>
                  <a:srgbClr val="001F5F"/>
                </a:solidFill>
                <a:latin typeface="Tahoma"/>
                <a:cs typeface="Tahoma"/>
              </a:rPr>
              <a:t>between </a:t>
            </a:r>
            <a:r>
              <a:rPr dirty="0" sz="2400" spc="-5" b="1">
                <a:solidFill>
                  <a:srgbClr val="001F5F"/>
                </a:solidFill>
                <a:latin typeface="Tahoma"/>
                <a:cs typeface="Tahoma"/>
              </a:rPr>
              <a:t>Recursion </a:t>
            </a:r>
            <a:r>
              <a:rPr dirty="0" sz="2400" b="1">
                <a:solidFill>
                  <a:srgbClr val="001F5F"/>
                </a:solidFill>
                <a:latin typeface="Tahoma"/>
                <a:cs typeface="Tahoma"/>
              </a:rPr>
              <a:t>and</a:t>
            </a:r>
            <a:r>
              <a:rPr dirty="0" sz="2400" spc="-30" b="1">
                <a:solidFill>
                  <a:srgbClr val="001F5F"/>
                </a:solidFill>
                <a:latin typeface="Tahoma"/>
                <a:cs typeface="Tahoma"/>
              </a:rPr>
              <a:t> </a:t>
            </a:r>
            <a:r>
              <a:rPr dirty="0" sz="2400" spc="-5" b="1">
                <a:solidFill>
                  <a:srgbClr val="001F5F"/>
                </a:solidFill>
                <a:latin typeface="Tahoma"/>
                <a:cs typeface="Tahoma"/>
              </a:rPr>
              <a:t>Iteration</a:t>
            </a:r>
            <a:endParaRPr sz="24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000">
                <a:solidFill>
                  <a:srgbClr val="001F5F"/>
                </a:solidFill>
                <a:latin typeface="Tahoma"/>
                <a:cs typeface="Tahoma"/>
              </a:rPr>
              <a:t>A </a:t>
            </a:r>
            <a:r>
              <a:rPr dirty="0" sz="2000" spc="-5">
                <a:solidFill>
                  <a:srgbClr val="001F5F"/>
                </a:solidFill>
                <a:latin typeface="Tahoma"/>
                <a:cs typeface="Tahoma"/>
              </a:rPr>
              <a:t>program </a:t>
            </a:r>
            <a:r>
              <a:rPr dirty="0" sz="2000">
                <a:solidFill>
                  <a:srgbClr val="001F5F"/>
                </a:solidFill>
                <a:latin typeface="Tahoma"/>
                <a:cs typeface="Tahoma"/>
              </a:rPr>
              <a:t>is </a:t>
            </a:r>
            <a:r>
              <a:rPr dirty="0" sz="2000" spc="-5">
                <a:solidFill>
                  <a:srgbClr val="001F5F"/>
                </a:solidFill>
                <a:latin typeface="Tahoma"/>
                <a:cs typeface="Tahoma"/>
              </a:rPr>
              <a:t>called recursive when </a:t>
            </a:r>
            <a:r>
              <a:rPr dirty="0" sz="2000">
                <a:solidFill>
                  <a:srgbClr val="001F5F"/>
                </a:solidFill>
                <a:latin typeface="Tahoma"/>
                <a:cs typeface="Tahoma"/>
              </a:rPr>
              <a:t>an </a:t>
            </a:r>
            <a:r>
              <a:rPr dirty="0" sz="2000" spc="-5">
                <a:solidFill>
                  <a:srgbClr val="001F5F"/>
                </a:solidFill>
                <a:latin typeface="Tahoma"/>
                <a:cs typeface="Tahoma"/>
              </a:rPr>
              <a:t>entity calls</a:t>
            </a:r>
            <a:r>
              <a:rPr dirty="0" sz="2000" spc="-25">
                <a:solidFill>
                  <a:srgbClr val="001F5F"/>
                </a:solidFill>
                <a:latin typeface="Tahoma"/>
                <a:cs typeface="Tahoma"/>
              </a:rPr>
              <a:t> </a:t>
            </a:r>
            <a:r>
              <a:rPr dirty="0" sz="2000" spc="-5">
                <a:solidFill>
                  <a:srgbClr val="001F5F"/>
                </a:solidFill>
                <a:latin typeface="Tahoma"/>
                <a:cs typeface="Tahoma"/>
              </a:rPr>
              <a:t>itself.</a:t>
            </a:r>
            <a:endParaRPr sz="20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484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000">
                <a:solidFill>
                  <a:srgbClr val="001F5F"/>
                </a:solidFill>
                <a:latin typeface="Tahoma"/>
                <a:cs typeface="Tahoma"/>
              </a:rPr>
              <a:t>A </a:t>
            </a:r>
            <a:r>
              <a:rPr dirty="0" sz="2000" spc="-5">
                <a:solidFill>
                  <a:srgbClr val="001F5F"/>
                </a:solidFill>
                <a:latin typeface="Tahoma"/>
                <a:cs typeface="Tahoma"/>
              </a:rPr>
              <a:t>program </a:t>
            </a:r>
            <a:r>
              <a:rPr dirty="0" sz="2000">
                <a:solidFill>
                  <a:srgbClr val="001F5F"/>
                </a:solidFill>
                <a:latin typeface="Tahoma"/>
                <a:cs typeface="Tahoma"/>
              </a:rPr>
              <a:t>is </a:t>
            </a:r>
            <a:r>
              <a:rPr dirty="0" sz="2000" spc="-5">
                <a:solidFill>
                  <a:srgbClr val="001F5F"/>
                </a:solidFill>
                <a:latin typeface="Tahoma"/>
                <a:cs typeface="Tahoma"/>
              </a:rPr>
              <a:t>call </a:t>
            </a:r>
            <a:r>
              <a:rPr dirty="0" sz="2000">
                <a:solidFill>
                  <a:srgbClr val="001F5F"/>
                </a:solidFill>
                <a:latin typeface="Tahoma"/>
                <a:cs typeface="Tahoma"/>
              </a:rPr>
              <a:t>iterative </a:t>
            </a:r>
            <a:r>
              <a:rPr dirty="0" sz="2000" spc="-5">
                <a:solidFill>
                  <a:srgbClr val="001F5F"/>
                </a:solidFill>
                <a:latin typeface="Tahoma"/>
                <a:cs typeface="Tahoma"/>
              </a:rPr>
              <a:t>when there </a:t>
            </a:r>
            <a:r>
              <a:rPr dirty="0" sz="2000">
                <a:solidFill>
                  <a:srgbClr val="001F5F"/>
                </a:solidFill>
                <a:latin typeface="Tahoma"/>
                <a:cs typeface="Tahoma"/>
              </a:rPr>
              <a:t>is a loop (or</a:t>
            </a:r>
            <a:r>
              <a:rPr dirty="0" sz="2000" spc="25">
                <a:solidFill>
                  <a:srgbClr val="001F5F"/>
                </a:solidFill>
                <a:latin typeface="Tahoma"/>
                <a:cs typeface="Tahoma"/>
              </a:rPr>
              <a:t> </a:t>
            </a:r>
            <a:r>
              <a:rPr dirty="0" sz="2000" spc="-5">
                <a:solidFill>
                  <a:srgbClr val="001F5F"/>
                </a:solidFill>
                <a:latin typeface="Tahoma"/>
                <a:cs typeface="Tahoma"/>
              </a:rPr>
              <a:t>repetition).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1612" y="228663"/>
            <a:ext cx="511175" cy="5127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60375" y="2355850"/>
          <a:ext cx="8467725" cy="3898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19275"/>
                <a:gridCol w="3200400"/>
                <a:gridCol w="3429000"/>
              </a:tblGrid>
              <a:tr h="335279">
                <a:tc>
                  <a:txBody>
                    <a:bodyPr/>
                    <a:lstStyle/>
                    <a:p>
                      <a:pPr marL="35877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600" spc="-10" b="1">
                          <a:solidFill>
                            <a:srgbClr val="C00000"/>
                          </a:solidFill>
                          <a:latin typeface="Tahoma"/>
                          <a:cs typeface="Tahoma"/>
                        </a:rPr>
                        <a:t>PROPERTY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 marL="143637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600" spc="-5" b="1">
                          <a:solidFill>
                            <a:srgbClr val="C00000"/>
                          </a:solidFill>
                          <a:latin typeface="Tahoma"/>
                          <a:cs typeface="Tahoma"/>
                        </a:rPr>
                        <a:t>RECURSION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 marL="15894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600" spc="-10" b="1">
                          <a:solidFill>
                            <a:srgbClr val="C00000"/>
                          </a:solidFill>
                          <a:latin typeface="Tahoma"/>
                          <a:cs typeface="Tahoma"/>
                        </a:rPr>
                        <a:t>ITERATION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600" spc="-10" b="1">
                          <a:solidFill>
                            <a:srgbClr val="001F5F"/>
                          </a:solidFill>
                          <a:latin typeface="Tahoma"/>
                          <a:cs typeface="Tahoma"/>
                        </a:rPr>
                        <a:t>Definition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600" spc="-10">
                          <a:solidFill>
                            <a:srgbClr val="006FC0"/>
                          </a:solidFill>
                          <a:latin typeface="Tahoma"/>
                          <a:cs typeface="Tahoma"/>
                        </a:rPr>
                        <a:t>Function calls</a:t>
                      </a:r>
                      <a:r>
                        <a:rPr dirty="0" sz="1600" spc="45">
                          <a:solidFill>
                            <a:srgbClr val="006FC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00" spc="-25">
                          <a:solidFill>
                            <a:srgbClr val="006FC0"/>
                          </a:solidFill>
                          <a:latin typeface="Tahoma"/>
                          <a:cs typeface="Tahoma"/>
                        </a:rPr>
                        <a:t>itself.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54927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600" spc="-5">
                          <a:solidFill>
                            <a:srgbClr val="6F2F9F"/>
                          </a:solidFill>
                          <a:latin typeface="Tahoma"/>
                          <a:cs typeface="Tahoma"/>
                        </a:rPr>
                        <a:t>A set of </a:t>
                      </a:r>
                      <a:r>
                        <a:rPr dirty="0" sz="1600" spc="-10">
                          <a:solidFill>
                            <a:srgbClr val="6F2F9F"/>
                          </a:solidFill>
                          <a:latin typeface="Tahoma"/>
                          <a:cs typeface="Tahoma"/>
                        </a:rPr>
                        <a:t>instructions repeatedly  executed.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</a:tr>
              <a:tr h="3962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600" spc="-5" b="1">
                          <a:solidFill>
                            <a:srgbClr val="001F5F"/>
                          </a:solidFill>
                          <a:latin typeface="Tahoma"/>
                          <a:cs typeface="Tahoma"/>
                        </a:rPr>
                        <a:t>Application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600" spc="-20">
                          <a:solidFill>
                            <a:srgbClr val="006FC0"/>
                          </a:solidFill>
                          <a:latin typeface="Tahoma"/>
                          <a:cs typeface="Tahoma"/>
                        </a:rPr>
                        <a:t>For</a:t>
                      </a:r>
                      <a:r>
                        <a:rPr dirty="0" sz="1600" spc="5">
                          <a:solidFill>
                            <a:srgbClr val="006FC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00" spc="-10">
                          <a:solidFill>
                            <a:srgbClr val="006FC0"/>
                          </a:solidFill>
                          <a:latin typeface="Tahoma"/>
                          <a:cs typeface="Tahoma"/>
                        </a:rPr>
                        <a:t>functions.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600" spc="-20">
                          <a:solidFill>
                            <a:srgbClr val="6F2F9F"/>
                          </a:solidFill>
                          <a:latin typeface="Tahoma"/>
                          <a:cs typeface="Tahoma"/>
                        </a:rPr>
                        <a:t>For</a:t>
                      </a:r>
                      <a:r>
                        <a:rPr dirty="0" sz="1600" spc="5">
                          <a:solidFill>
                            <a:srgbClr val="6F2F9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00" spc="-10">
                          <a:solidFill>
                            <a:srgbClr val="6F2F9F"/>
                          </a:solidFill>
                          <a:latin typeface="Tahoma"/>
                          <a:cs typeface="Tahoma"/>
                        </a:rPr>
                        <a:t>loops.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600" spc="-10" b="1">
                          <a:solidFill>
                            <a:srgbClr val="001F5F"/>
                          </a:solidFill>
                          <a:latin typeface="Tahoma"/>
                          <a:cs typeface="Tahoma"/>
                        </a:rPr>
                        <a:t>Termination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057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600" spc="-5">
                          <a:solidFill>
                            <a:srgbClr val="006FC0"/>
                          </a:solidFill>
                          <a:latin typeface="Tahoma"/>
                          <a:cs typeface="Tahoma"/>
                        </a:rPr>
                        <a:t>Through base </a:t>
                      </a:r>
                      <a:r>
                        <a:rPr dirty="0" sz="1600" spc="-10">
                          <a:solidFill>
                            <a:srgbClr val="006FC0"/>
                          </a:solidFill>
                          <a:latin typeface="Tahoma"/>
                          <a:cs typeface="Tahoma"/>
                        </a:rPr>
                        <a:t>case, where there  will </a:t>
                      </a:r>
                      <a:r>
                        <a:rPr dirty="0" sz="1600" spc="-5">
                          <a:solidFill>
                            <a:srgbClr val="006FC0"/>
                          </a:solidFill>
                          <a:latin typeface="Tahoma"/>
                          <a:cs typeface="Tahoma"/>
                        </a:rPr>
                        <a:t>be no </a:t>
                      </a:r>
                      <a:r>
                        <a:rPr dirty="0" sz="1600" spc="-10">
                          <a:solidFill>
                            <a:srgbClr val="006FC0"/>
                          </a:solidFill>
                          <a:latin typeface="Tahoma"/>
                          <a:cs typeface="Tahoma"/>
                        </a:rPr>
                        <a:t>function</a:t>
                      </a:r>
                      <a:r>
                        <a:rPr dirty="0" sz="1600" spc="35">
                          <a:solidFill>
                            <a:srgbClr val="006FC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00" spc="-10">
                          <a:solidFill>
                            <a:srgbClr val="006FC0"/>
                          </a:solidFill>
                          <a:latin typeface="Tahoma"/>
                          <a:cs typeface="Tahoma"/>
                        </a:rPr>
                        <a:t>call.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9113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600" spc="-5">
                          <a:solidFill>
                            <a:srgbClr val="6F2F9F"/>
                          </a:solidFill>
                          <a:latin typeface="Tahoma"/>
                          <a:cs typeface="Tahoma"/>
                        </a:rPr>
                        <a:t>When the </a:t>
                      </a:r>
                      <a:r>
                        <a:rPr dirty="0" sz="1600" spc="-10">
                          <a:solidFill>
                            <a:srgbClr val="6F2F9F"/>
                          </a:solidFill>
                          <a:latin typeface="Tahoma"/>
                          <a:cs typeface="Tahoma"/>
                        </a:rPr>
                        <a:t>termination condition for  </a:t>
                      </a:r>
                      <a:r>
                        <a:rPr dirty="0" sz="1600" spc="-5">
                          <a:solidFill>
                            <a:srgbClr val="6F2F9F"/>
                          </a:solidFill>
                          <a:latin typeface="Tahoma"/>
                          <a:cs typeface="Tahoma"/>
                        </a:rPr>
                        <a:t>the </a:t>
                      </a:r>
                      <a:r>
                        <a:rPr dirty="0" sz="1600" spc="-10">
                          <a:solidFill>
                            <a:srgbClr val="6F2F9F"/>
                          </a:solidFill>
                          <a:latin typeface="Tahoma"/>
                          <a:cs typeface="Tahoma"/>
                        </a:rPr>
                        <a:t>iterator ceases </a:t>
                      </a:r>
                      <a:r>
                        <a:rPr dirty="0" sz="1600" spc="-5">
                          <a:solidFill>
                            <a:srgbClr val="6F2F9F"/>
                          </a:solidFill>
                          <a:latin typeface="Tahoma"/>
                          <a:cs typeface="Tahoma"/>
                        </a:rPr>
                        <a:t>to be</a:t>
                      </a:r>
                      <a:r>
                        <a:rPr dirty="0" sz="1600" spc="45">
                          <a:solidFill>
                            <a:srgbClr val="6F2F9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00" spc="-10">
                          <a:solidFill>
                            <a:srgbClr val="6F2F9F"/>
                          </a:solidFill>
                          <a:latin typeface="Tahoma"/>
                          <a:cs typeface="Tahoma"/>
                        </a:rPr>
                        <a:t>satisfied.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600" spc="-5" b="1">
                          <a:solidFill>
                            <a:srgbClr val="001F5F"/>
                          </a:solidFill>
                          <a:latin typeface="Tahoma"/>
                          <a:cs typeface="Tahoma"/>
                        </a:rPr>
                        <a:t>Usage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91440" marR="11112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600" spc="-10">
                          <a:solidFill>
                            <a:srgbClr val="006FC0"/>
                          </a:solidFill>
                          <a:latin typeface="Tahoma"/>
                          <a:cs typeface="Tahoma"/>
                        </a:rPr>
                        <a:t>Used </a:t>
                      </a:r>
                      <a:r>
                        <a:rPr dirty="0" sz="1600" spc="-5">
                          <a:solidFill>
                            <a:srgbClr val="006FC0"/>
                          </a:solidFill>
                          <a:latin typeface="Tahoma"/>
                          <a:cs typeface="Tahoma"/>
                        </a:rPr>
                        <a:t>when </a:t>
                      </a:r>
                      <a:r>
                        <a:rPr dirty="0" sz="1600" spc="-10">
                          <a:solidFill>
                            <a:srgbClr val="006FC0"/>
                          </a:solidFill>
                          <a:latin typeface="Tahoma"/>
                          <a:cs typeface="Tahoma"/>
                        </a:rPr>
                        <a:t>code size </a:t>
                      </a:r>
                      <a:r>
                        <a:rPr dirty="0" sz="1600" spc="-5">
                          <a:solidFill>
                            <a:srgbClr val="006FC0"/>
                          </a:solidFill>
                          <a:latin typeface="Tahoma"/>
                          <a:cs typeface="Tahoma"/>
                        </a:rPr>
                        <a:t>needs to be  </a:t>
                      </a:r>
                      <a:r>
                        <a:rPr dirty="0" sz="1600" spc="-10">
                          <a:solidFill>
                            <a:srgbClr val="006FC0"/>
                          </a:solidFill>
                          <a:latin typeface="Tahoma"/>
                          <a:cs typeface="Tahoma"/>
                        </a:rPr>
                        <a:t>small, </a:t>
                      </a:r>
                      <a:r>
                        <a:rPr dirty="0" sz="1600" spc="-5">
                          <a:solidFill>
                            <a:srgbClr val="006FC0"/>
                          </a:solidFill>
                          <a:latin typeface="Tahoma"/>
                          <a:cs typeface="Tahoma"/>
                        </a:rPr>
                        <a:t>and </a:t>
                      </a:r>
                      <a:r>
                        <a:rPr dirty="0" sz="1600" spc="-10">
                          <a:solidFill>
                            <a:srgbClr val="006FC0"/>
                          </a:solidFill>
                          <a:latin typeface="Tahoma"/>
                          <a:cs typeface="Tahoma"/>
                        </a:rPr>
                        <a:t>time complexity </a:t>
                      </a:r>
                      <a:r>
                        <a:rPr dirty="0" sz="1600" spc="-5">
                          <a:solidFill>
                            <a:srgbClr val="006FC0"/>
                          </a:solidFill>
                          <a:latin typeface="Tahoma"/>
                          <a:cs typeface="Tahoma"/>
                        </a:rPr>
                        <a:t>is not  an</a:t>
                      </a:r>
                      <a:r>
                        <a:rPr dirty="0" sz="1600" spc="-15">
                          <a:solidFill>
                            <a:srgbClr val="006FC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00" spc="-5">
                          <a:solidFill>
                            <a:srgbClr val="006FC0"/>
                          </a:solidFill>
                          <a:latin typeface="Tahoma"/>
                          <a:cs typeface="Tahoma"/>
                        </a:rPr>
                        <a:t>issue.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8763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600" spc="-10">
                          <a:solidFill>
                            <a:srgbClr val="6F2F9F"/>
                          </a:solidFill>
                          <a:latin typeface="Tahoma"/>
                          <a:cs typeface="Tahoma"/>
                        </a:rPr>
                        <a:t>Used </a:t>
                      </a:r>
                      <a:r>
                        <a:rPr dirty="0" sz="1600" spc="-5">
                          <a:solidFill>
                            <a:srgbClr val="6F2F9F"/>
                          </a:solidFill>
                          <a:latin typeface="Tahoma"/>
                          <a:cs typeface="Tahoma"/>
                        </a:rPr>
                        <a:t>when </a:t>
                      </a:r>
                      <a:r>
                        <a:rPr dirty="0" sz="1600" spc="-10">
                          <a:solidFill>
                            <a:srgbClr val="6F2F9F"/>
                          </a:solidFill>
                          <a:latin typeface="Tahoma"/>
                          <a:cs typeface="Tahoma"/>
                        </a:rPr>
                        <a:t>time complexity </a:t>
                      </a:r>
                      <a:r>
                        <a:rPr dirty="0" sz="1600" spc="-5">
                          <a:solidFill>
                            <a:srgbClr val="6F2F9F"/>
                          </a:solidFill>
                          <a:latin typeface="Tahoma"/>
                          <a:cs typeface="Tahoma"/>
                        </a:rPr>
                        <a:t>needs  </a:t>
                      </a:r>
                      <a:r>
                        <a:rPr dirty="0" sz="1600" spc="-10">
                          <a:solidFill>
                            <a:srgbClr val="6F2F9F"/>
                          </a:solidFill>
                          <a:latin typeface="Tahoma"/>
                          <a:cs typeface="Tahoma"/>
                        </a:rPr>
                        <a:t>to </a:t>
                      </a:r>
                      <a:r>
                        <a:rPr dirty="0" sz="1600" spc="-5">
                          <a:solidFill>
                            <a:srgbClr val="6F2F9F"/>
                          </a:solidFill>
                          <a:latin typeface="Tahoma"/>
                          <a:cs typeface="Tahoma"/>
                        </a:rPr>
                        <a:t>be balanced against an expanded  </a:t>
                      </a:r>
                      <a:r>
                        <a:rPr dirty="0" sz="1600" spc="-10">
                          <a:solidFill>
                            <a:srgbClr val="6F2F9F"/>
                          </a:solidFill>
                          <a:latin typeface="Tahoma"/>
                          <a:cs typeface="Tahoma"/>
                        </a:rPr>
                        <a:t>code</a:t>
                      </a:r>
                      <a:r>
                        <a:rPr dirty="0" sz="1600" spc="10">
                          <a:solidFill>
                            <a:srgbClr val="6F2F9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00" spc="-10">
                          <a:solidFill>
                            <a:srgbClr val="6F2F9F"/>
                          </a:solidFill>
                          <a:latin typeface="Tahoma"/>
                          <a:cs typeface="Tahoma"/>
                        </a:rPr>
                        <a:t>size.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</a:tr>
              <a:tr h="57911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600" spc="-5" b="1">
                          <a:solidFill>
                            <a:srgbClr val="001F5F"/>
                          </a:solidFill>
                          <a:latin typeface="Tahoma"/>
                          <a:cs typeface="Tahoma"/>
                        </a:rPr>
                        <a:t>Code</a:t>
                      </a:r>
                      <a:r>
                        <a:rPr dirty="0" sz="1600" b="1">
                          <a:solidFill>
                            <a:srgbClr val="001F5F"/>
                          </a:solidFill>
                          <a:latin typeface="Tahoma"/>
                          <a:cs typeface="Tahoma"/>
                        </a:rPr>
                        <a:t> Size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600" spc="-10">
                          <a:solidFill>
                            <a:srgbClr val="006FC0"/>
                          </a:solidFill>
                          <a:latin typeface="Tahoma"/>
                          <a:cs typeface="Tahoma"/>
                        </a:rPr>
                        <a:t>Smaller code</a:t>
                      </a:r>
                      <a:r>
                        <a:rPr dirty="0" sz="1600" spc="20">
                          <a:solidFill>
                            <a:srgbClr val="006FC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00" spc="-10">
                          <a:solidFill>
                            <a:srgbClr val="006FC0"/>
                          </a:solidFill>
                          <a:latin typeface="Tahoma"/>
                          <a:cs typeface="Tahoma"/>
                        </a:rPr>
                        <a:t>size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600" spc="-10">
                          <a:solidFill>
                            <a:srgbClr val="6F2F9F"/>
                          </a:solidFill>
                          <a:latin typeface="Tahoma"/>
                          <a:cs typeface="Tahoma"/>
                        </a:rPr>
                        <a:t>Larger </a:t>
                      </a:r>
                      <a:r>
                        <a:rPr dirty="0" sz="1600" spc="-5">
                          <a:solidFill>
                            <a:srgbClr val="6F2F9F"/>
                          </a:solidFill>
                          <a:latin typeface="Tahoma"/>
                          <a:cs typeface="Tahoma"/>
                        </a:rPr>
                        <a:t>Code</a:t>
                      </a:r>
                      <a:r>
                        <a:rPr dirty="0" sz="1600" spc="25">
                          <a:solidFill>
                            <a:srgbClr val="6F2F9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00" spc="-10">
                          <a:solidFill>
                            <a:srgbClr val="6F2F9F"/>
                          </a:solidFill>
                          <a:latin typeface="Tahoma"/>
                          <a:cs typeface="Tahoma"/>
                        </a:rPr>
                        <a:t>Size.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</a:tr>
              <a:tr h="579119">
                <a:tc>
                  <a:txBody>
                    <a:bodyPr/>
                    <a:lstStyle/>
                    <a:p>
                      <a:pPr marL="91440" marR="57340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600" spc="-10" b="1">
                          <a:solidFill>
                            <a:srgbClr val="001F5F"/>
                          </a:solidFill>
                          <a:latin typeface="Tahoma"/>
                          <a:cs typeface="Tahoma"/>
                        </a:rPr>
                        <a:t>Time  </a:t>
                      </a:r>
                      <a:r>
                        <a:rPr dirty="0" sz="1600" spc="-5" b="1">
                          <a:solidFill>
                            <a:srgbClr val="001F5F"/>
                          </a:solidFill>
                          <a:latin typeface="Tahoma"/>
                          <a:cs typeface="Tahoma"/>
                        </a:rPr>
                        <a:t>Com</a:t>
                      </a:r>
                      <a:r>
                        <a:rPr dirty="0" sz="1600" spc="5" b="1">
                          <a:solidFill>
                            <a:srgbClr val="001F5F"/>
                          </a:solidFill>
                          <a:latin typeface="Tahoma"/>
                          <a:cs typeface="Tahoma"/>
                        </a:rPr>
                        <a:t>p</a:t>
                      </a:r>
                      <a:r>
                        <a:rPr dirty="0" sz="1600" b="1">
                          <a:solidFill>
                            <a:srgbClr val="001F5F"/>
                          </a:solidFill>
                          <a:latin typeface="Tahoma"/>
                          <a:cs typeface="Tahoma"/>
                        </a:rPr>
                        <a:t>le</a:t>
                      </a:r>
                      <a:r>
                        <a:rPr dirty="0" sz="1600" spc="-10" b="1">
                          <a:solidFill>
                            <a:srgbClr val="001F5F"/>
                          </a:solidFill>
                          <a:latin typeface="Tahoma"/>
                          <a:cs typeface="Tahoma"/>
                        </a:rPr>
                        <a:t>x</a:t>
                      </a:r>
                      <a:r>
                        <a:rPr dirty="0" sz="1600" b="1">
                          <a:solidFill>
                            <a:srgbClr val="001F5F"/>
                          </a:solidFill>
                          <a:latin typeface="Tahoma"/>
                          <a:cs typeface="Tahoma"/>
                        </a:rPr>
                        <a:t>i</a:t>
                      </a:r>
                      <a:r>
                        <a:rPr dirty="0" sz="1600" spc="-10" b="1">
                          <a:solidFill>
                            <a:srgbClr val="001F5F"/>
                          </a:solidFill>
                          <a:latin typeface="Tahoma"/>
                          <a:cs typeface="Tahoma"/>
                        </a:rPr>
                        <a:t>t</a:t>
                      </a:r>
                      <a:r>
                        <a:rPr dirty="0" sz="1600" b="1">
                          <a:solidFill>
                            <a:srgbClr val="001F5F"/>
                          </a:solidFill>
                          <a:latin typeface="Tahoma"/>
                          <a:cs typeface="Tahoma"/>
                        </a:rPr>
                        <a:t>y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063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600" spc="-25">
                          <a:solidFill>
                            <a:srgbClr val="006FC0"/>
                          </a:solidFill>
                          <a:latin typeface="Tahoma"/>
                          <a:cs typeface="Tahoma"/>
                        </a:rPr>
                        <a:t>Very </a:t>
                      </a:r>
                      <a:r>
                        <a:rPr dirty="0" sz="1600" spc="-5">
                          <a:solidFill>
                            <a:srgbClr val="006FC0"/>
                          </a:solidFill>
                          <a:latin typeface="Tahoma"/>
                          <a:cs typeface="Tahoma"/>
                        </a:rPr>
                        <a:t>high(generally</a:t>
                      </a:r>
                      <a:r>
                        <a:rPr dirty="0" sz="1600" spc="-65">
                          <a:solidFill>
                            <a:srgbClr val="006FC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00" spc="-5">
                          <a:solidFill>
                            <a:srgbClr val="006FC0"/>
                          </a:solidFill>
                          <a:latin typeface="Tahoma"/>
                          <a:cs typeface="Tahoma"/>
                        </a:rPr>
                        <a:t>exponential)  </a:t>
                      </a:r>
                      <a:r>
                        <a:rPr dirty="0" sz="1600" spc="-10">
                          <a:solidFill>
                            <a:srgbClr val="006FC0"/>
                          </a:solidFill>
                          <a:latin typeface="Tahoma"/>
                          <a:cs typeface="Tahoma"/>
                        </a:rPr>
                        <a:t>time</a:t>
                      </a:r>
                      <a:r>
                        <a:rPr dirty="0" sz="1600" spc="15">
                          <a:solidFill>
                            <a:srgbClr val="006FC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00" spc="-25">
                          <a:solidFill>
                            <a:srgbClr val="006FC0"/>
                          </a:solidFill>
                          <a:latin typeface="Tahoma"/>
                          <a:cs typeface="Tahoma"/>
                        </a:rPr>
                        <a:t>complexity.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1971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600" spc="-10">
                          <a:solidFill>
                            <a:srgbClr val="6F2F9F"/>
                          </a:solidFill>
                          <a:latin typeface="Tahoma"/>
                          <a:cs typeface="Tahoma"/>
                        </a:rPr>
                        <a:t>Relatively </a:t>
                      </a:r>
                      <a:r>
                        <a:rPr dirty="0" sz="1600" spc="-5">
                          <a:solidFill>
                            <a:srgbClr val="6F2F9F"/>
                          </a:solidFill>
                          <a:latin typeface="Tahoma"/>
                          <a:cs typeface="Tahoma"/>
                        </a:rPr>
                        <a:t>lower </a:t>
                      </a:r>
                      <a:r>
                        <a:rPr dirty="0" sz="1600" spc="-10">
                          <a:solidFill>
                            <a:srgbClr val="6F2F9F"/>
                          </a:solidFill>
                          <a:latin typeface="Tahoma"/>
                          <a:cs typeface="Tahoma"/>
                        </a:rPr>
                        <a:t>time complexity  (generally</a:t>
                      </a:r>
                      <a:r>
                        <a:rPr dirty="0" sz="1600" spc="-35">
                          <a:solidFill>
                            <a:srgbClr val="6F2F9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600" spc="-5">
                          <a:solidFill>
                            <a:srgbClr val="6F2F9F"/>
                          </a:solidFill>
                          <a:latin typeface="Tahoma"/>
                          <a:cs typeface="Tahoma"/>
                        </a:rPr>
                        <a:t>polynomial-logarithmic).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B="0" marT="463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1692529"/>
            <a:ext cx="5582285" cy="266001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400">
                <a:latin typeface="Tahoma"/>
                <a:cs typeface="Tahoma"/>
              </a:rPr>
              <a:t>We learned about </a:t>
            </a:r>
            <a:r>
              <a:rPr dirty="0" sz="2400" spc="-5">
                <a:latin typeface="Tahoma"/>
                <a:cs typeface="Tahoma"/>
              </a:rPr>
              <a:t>the Python</a:t>
            </a:r>
            <a:r>
              <a:rPr dirty="0" sz="2400" spc="-10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function.</a:t>
            </a:r>
            <a:endParaRPr sz="24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Tahoma"/>
                <a:cs typeface="Tahoma"/>
              </a:rPr>
              <a:t>Recursive Functions</a:t>
            </a:r>
            <a:endParaRPr sz="24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Tahoma"/>
                <a:cs typeface="Tahoma"/>
              </a:rPr>
              <a:t>How </a:t>
            </a:r>
            <a:r>
              <a:rPr dirty="0" sz="2400">
                <a:latin typeface="Tahoma"/>
                <a:cs typeface="Tahoma"/>
              </a:rPr>
              <a:t>Recursive</a:t>
            </a:r>
            <a:r>
              <a:rPr dirty="0" sz="2400" spc="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Works</a:t>
            </a:r>
            <a:endParaRPr sz="24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Tahoma"/>
                <a:cs typeface="Tahoma"/>
              </a:rPr>
              <a:t>Recursive in</a:t>
            </a:r>
            <a:r>
              <a:rPr dirty="0" sz="2400" spc="10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Python</a:t>
            </a:r>
            <a:endParaRPr sz="24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Tahoma"/>
                <a:cs typeface="Tahoma"/>
              </a:rPr>
              <a:t>Recursive </a:t>
            </a:r>
            <a:r>
              <a:rPr dirty="0" sz="2400">
                <a:latin typeface="Tahoma"/>
                <a:cs typeface="Tahoma"/>
              </a:rPr>
              <a:t>functions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Examples</a:t>
            </a:r>
            <a:endParaRPr sz="24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Tahoma"/>
                <a:cs typeface="Tahoma"/>
              </a:rPr>
              <a:t>Recursive Vs.</a:t>
            </a:r>
            <a:r>
              <a:rPr dirty="0" sz="2400" spc="20">
                <a:latin typeface="Tahoma"/>
                <a:cs typeface="Tahoma"/>
              </a:rPr>
              <a:t> </a:t>
            </a:r>
            <a:r>
              <a:rPr dirty="0" sz="2400" spc="-5">
                <a:latin typeface="Tahoma"/>
                <a:cs typeface="Tahoma"/>
              </a:rPr>
              <a:t>Iteration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23386" y="4910785"/>
            <a:ext cx="2849880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>
                <a:solidFill>
                  <a:srgbClr val="001F5F"/>
                </a:solidFill>
                <a:latin typeface="Tahoma"/>
                <a:cs typeface="Tahoma"/>
              </a:rPr>
              <a:t>Thank</a:t>
            </a:r>
            <a:r>
              <a:rPr dirty="0" sz="4800" spc="-90">
                <a:solidFill>
                  <a:srgbClr val="001F5F"/>
                </a:solidFill>
                <a:latin typeface="Tahoma"/>
                <a:cs typeface="Tahoma"/>
              </a:rPr>
              <a:t> </a:t>
            </a:r>
            <a:r>
              <a:rPr dirty="0" sz="4800" spc="-5">
                <a:solidFill>
                  <a:srgbClr val="001F5F"/>
                </a:solidFill>
                <a:latin typeface="Tahoma"/>
                <a:cs typeface="Tahoma"/>
              </a:rPr>
              <a:t>you</a:t>
            </a:r>
            <a:endParaRPr sz="48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934461" y="220421"/>
            <a:ext cx="327596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Conclusion!</a:t>
            </a:r>
          </a:p>
        </p:txBody>
      </p:sp>
      <p:sp>
        <p:nvSpPr>
          <p:cNvPr id="5" name="object 5"/>
          <p:cNvSpPr/>
          <p:nvPr/>
        </p:nvSpPr>
        <p:spPr>
          <a:xfrm>
            <a:off x="201612" y="228663"/>
            <a:ext cx="511175" cy="5127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Marty Stepp</dc:creator>
  <cp:keywords>Python</cp:keywords>
  <dc:title>CSE 142 Python Slides</dc:title>
  <dcterms:created xsi:type="dcterms:W3CDTF">2023-12-03T12:40:59Z</dcterms:created>
  <dcterms:modified xsi:type="dcterms:W3CDTF">2023-12-03T12:40:59Z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2020-04-05T00:00:00Z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2023-12-03T00:00:00Z</vt:filetime>
  </property>
</Properties>
</file>