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4015" r:id="rId1"/>
  </p:sldMasterIdLst>
  <p:notesMasterIdLst>
    <p:notesMasterId r:id="rId60"/>
  </p:notesMasterIdLst>
  <p:sldIdLst>
    <p:sldId id="256" r:id="rId2"/>
    <p:sldId id="258" r:id="rId3"/>
    <p:sldId id="326" r:id="rId4"/>
    <p:sldId id="327" r:id="rId5"/>
    <p:sldId id="328" r:id="rId6"/>
    <p:sldId id="329" r:id="rId7"/>
    <p:sldId id="330" r:id="rId8"/>
    <p:sldId id="331" r:id="rId9"/>
    <p:sldId id="332" r:id="rId10"/>
    <p:sldId id="369" r:id="rId11"/>
    <p:sldId id="333" r:id="rId12"/>
    <p:sldId id="334" r:id="rId13"/>
    <p:sldId id="335" r:id="rId14"/>
    <p:sldId id="336" r:id="rId15"/>
    <p:sldId id="337" r:id="rId16"/>
    <p:sldId id="338" r:id="rId17"/>
    <p:sldId id="339" r:id="rId18"/>
    <p:sldId id="340" r:id="rId19"/>
    <p:sldId id="341" r:id="rId20"/>
    <p:sldId id="342" r:id="rId21"/>
    <p:sldId id="343" r:id="rId22"/>
    <p:sldId id="344" r:id="rId23"/>
    <p:sldId id="345" r:id="rId24"/>
    <p:sldId id="346" r:id="rId25"/>
    <p:sldId id="347" r:id="rId26"/>
    <p:sldId id="348" r:id="rId27"/>
    <p:sldId id="349" r:id="rId28"/>
    <p:sldId id="350" r:id="rId29"/>
    <p:sldId id="352" r:id="rId30"/>
    <p:sldId id="353" r:id="rId31"/>
    <p:sldId id="354" r:id="rId32"/>
    <p:sldId id="355" r:id="rId33"/>
    <p:sldId id="356" r:id="rId34"/>
    <p:sldId id="357" r:id="rId35"/>
    <p:sldId id="358" r:id="rId36"/>
    <p:sldId id="359" r:id="rId37"/>
    <p:sldId id="360" r:id="rId38"/>
    <p:sldId id="361" r:id="rId39"/>
    <p:sldId id="362" r:id="rId40"/>
    <p:sldId id="363" r:id="rId41"/>
    <p:sldId id="364" r:id="rId42"/>
    <p:sldId id="365" r:id="rId43"/>
    <p:sldId id="366" r:id="rId44"/>
    <p:sldId id="367" r:id="rId45"/>
    <p:sldId id="368" r:id="rId46"/>
    <p:sldId id="370" r:id="rId47"/>
    <p:sldId id="371" r:id="rId48"/>
    <p:sldId id="372" r:id="rId49"/>
    <p:sldId id="377" r:id="rId50"/>
    <p:sldId id="373" r:id="rId51"/>
    <p:sldId id="374" r:id="rId52"/>
    <p:sldId id="375" r:id="rId53"/>
    <p:sldId id="376" r:id="rId54"/>
    <p:sldId id="381" r:id="rId55"/>
    <p:sldId id="378" r:id="rId56"/>
    <p:sldId id="379" r:id="rId57"/>
    <p:sldId id="380" r:id="rId58"/>
    <p:sldId id="318" r:id="rId5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EDF7FD"/>
    <a:srgbClr val="84CFF4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-660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A071B2-A83E-4937-8D6F-005157A43A0A}" type="datetimeFigureOut">
              <a:rPr lang="en-IN" smtClean="0"/>
              <a:pPr/>
              <a:t>10-01-2023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101AFF-41A7-4666-ABB2-6C0E5DED162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198286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643EF-78DF-4E1F-BCCB-00055D392001}" type="datetime1">
              <a:rPr lang="en-US" smtClean="0"/>
              <a:pPr/>
              <a:t>1/10/2023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613846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8AFAE-5969-421D-816E-FEB9A7FF0BEC}" type="datetime1">
              <a:rPr lang="en-US" smtClean="0"/>
              <a:pPr/>
              <a:t>1/10/2023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468553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759B6-2E9E-4DED-8199-3CBD13E98B40}" type="datetime1">
              <a:rPr lang="en-US" smtClean="0"/>
              <a:pPr/>
              <a:t>1/10/2023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207427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57F85-92D4-459F-9E52-160E0D4475D2}" type="datetime1">
              <a:rPr lang="en-US" smtClean="0"/>
              <a:pPr/>
              <a:t>1/10/2023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897154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7AEA7-729C-42D4-BDC5-23AEDFE8B11C}" type="datetime1">
              <a:rPr lang="en-US" smtClean="0"/>
              <a:pPr/>
              <a:t>1/10/2023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953290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51C1C-FEA1-4907-A156-52E63743DC0A}" type="datetime1">
              <a:rPr lang="en-US" smtClean="0"/>
              <a:pPr/>
              <a:t>1/10/2023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501145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AAFA6-1351-4528-8178-997464A419BB}" type="datetime1">
              <a:rPr lang="en-US" smtClean="0"/>
              <a:pPr/>
              <a:t>1/10/2023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921994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DD182-35BC-4AAE-A1AD-22D6441E9E3D}" type="datetime1">
              <a:rPr lang="en-US" smtClean="0"/>
              <a:pPr/>
              <a:t>1/10/2023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115599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59DC1-099B-4E2F-9803-5C90DCBC573B}" type="datetime1">
              <a:rPr lang="en-US" smtClean="0"/>
              <a:pPr/>
              <a:t>1/10/2023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017890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21061-C2C7-44BC-B21E-22E169FB636A}" type="datetime1">
              <a:rPr lang="en-US" smtClean="0"/>
              <a:pPr/>
              <a:t>1/10/2023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806178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8A044-0352-4D8F-B757-B06FFEF97E19}" type="datetime1">
              <a:rPr lang="en-US" smtClean="0"/>
              <a:pPr/>
              <a:t>1/10/2023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3395783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52483-28F1-474A-BD2C-E8B43F89F9D5}" type="datetime1">
              <a:rPr lang="en-US" smtClean="0"/>
              <a:pPr/>
              <a:t>1/10/2023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6046120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27A4D-6AF6-4A2D-B01E-15A470D47858}" type="datetime1">
              <a:rPr lang="en-US" smtClean="0"/>
              <a:pPr/>
              <a:t>1/10/2023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2732267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E854C-5480-4D69-9250-C6302D6E975E}" type="datetime1">
              <a:rPr lang="en-US" smtClean="0"/>
              <a:pPr/>
              <a:t>1/10/2023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3683427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B97CB-8FBD-41B0-ADB0-1E431A8B146E}" type="datetime1">
              <a:rPr lang="en-US" smtClean="0"/>
              <a:pPr/>
              <a:t>1/10/2023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9173495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484B9-BCE3-4EC1-BB1E-4F66EBA10658}" type="datetime1">
              <a:rPr lang="en-US" smtClean="0"/>
              <a:pPr/>
              <a:t>1/10/2023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507777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42858-923F-41D4-AD75-E57F5F9E64BB}" type="datetime1">
              <a:rPr lang="en-US" smtClean="0"/>
              <a:pPr/>
              <a:t>1/10/2023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474694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69CDBCE-05F7-43F8-9CB9-165458DF6060}" type="datetime1">
              <a:rPr lang="en-US" smtClean="0"/>
              <a:pPr/>
              <a:t>1/10/2023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491815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6" r:id="rId1"/>
    <p:sldLayoutId id="2147484017" r:id="rId2"/>
    <p:sldLayoutId id="2147484018" r:id="rId3"/>
    <p:sldLayoutId id="2147484019" r:id="rId4"/>
    <p:sldLayoutId id="2147484020" r:id="rId5"/>
    <p:sldLayoutId id="2147484021" r:id="rId6"/>
    <p:sldLayoutId id="2147484022" r:id="rId7"/>
    <p:sldLayoutId id="2147484023" r:id="rId8"/>
    <p:sldLayoutId id="2147484024" r:id="rId9"/>
    <p:sldLayoutId id="2147484025" r:id="rId10"/>
    <p:sldLayoutId id="2147484026" r:id="rId11"/>
    <p:sldLayoutId id="2147484027" r:id="rId12"/>
    <p:sldLayoutId id="2147484028" r:id="rId13"/>
    <p:sldLayoutId id="2147484029" r:id="rId14"/>
    <p:sldLayoutId id="2147484030" r:id="rId15"/>
    <p:sldLayoutId id="2147484031" r:id="rId16"/>
    <p:sldLayoutId id="2147484032" r:id="rId17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ssref/css3_pr_text-overflow.asp" TargetMode="External"/><Relationship Id="rId2" Type="http://schemas.openxmlformats.org/officeDocument/2006/relationships/hyperlink" Target="https://www.w3schools.com/cssref/css3_pr_text-justify.asp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3schools.com/cssref/css3_pr_writing-mode.asp" TargetMode="External"/><Relationship Id="rId5" Type="http://schemas.openxmlformats.org/officeDocument/2006/relationships/hyperlink" Target="https://www.w3schools.com/cssref/css3_pr_word-wrap.asp" TargetMode="External"/><Relationship Id="rId4" Type="http://schemas.openxmlformats.org/officeDocument/2006/relationships/hyperlink" Target="https://www.w3schools.com/cssref/css3_pr_word-break.asp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20000"/>
                <a:lumOff val="80000"/>
              </a:schemeClr>
            </a:gs>
            <a:gs pos="83000">
              <a:schemeClr val="accent1">
                <a:lumMod val="20000"/>
                <a:lumOff val="80000"/>
              </a:schemeClr>
            </a:gs>
            <a:gs pos="100000">
              <a:srgbClr val="84CFF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1DE783C-0C38-0771-3234-77624C7E8A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43789" y="1586203"/>
            <a:ext cx="8367937" cy="2616199"/>
          </a:xfrm>
        </p:spPr>
        <p:txBody>
          <a:bodyPr>
            <a:normAutofit/>
          </a:bodyPr>
          <a:lstStyle/>
          <a:p>
            <a:r>
              <a:rPr lang="en-IN" sz="5400" b="1" dirty="0"/>
              <a:t>Advanced CSS</a:t>
            </a:r>
          </a:p>
        </p:txBody>
      </p:sp>
      <p:pic>
        <p:nvPicPr>
          <p:cNvPr id="4" name="Picture 2" descr="Gla Logo">
            <a:extLst>
              <a:ext uri="{FF2B5EF4-FFF2-40B4-BE49-F238E27FC236}">
                <a16:creationId xmlns="" xmlns:a16="http://schemas.microsoft.com/office/drawing/2014/main" id="{695904B5-497B-5413-823D-6889F7CC3C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9260" y="1"/>
            <a:ext cx="2922740" cy="18288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itle 2">
            <a:extLst>
              <a:ext uri="{FF2B5EF4-FFF2-40B4-BE49-F238E27FC236}">
                <a16:creationId xmlns="" xmlns:a16="http://schemas.microsoft.com/office/drawing/2014/main" id="{2F0DFFF8-533F-C4E0-7641-CD387E5E9707}"/>
              </a:ext>
            </a:extLst>
          </p:cNvPr>
          <p:cNvSpPr txBox="1">
            <a:spLocks/>
          </p:cNvSpPr>
          <p:nvPr/>
        </p:nvSpPr>
        <p:spPr>
          <a:xfrm>
            <a:off x="555503" y="4655225"/>
            <a:ext cx="10993546" cy="233340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2200" dirty="0"/>
              <a:t>Dr. </a:t>
            </a:r>
            <a:r>
              <a:rPr lang="en-IN" sz="2200" dirty="0" smtClean="0"/>
              <a:t>Kanta Prasad Sharma</a:t>
            </a:r>
            <a:endParaRPr lang="en-IN" sz="22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2200" dirty="0"/>
              <a:t>Assistant Professor,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2200" dirty="0"/>
              <a:t>Department of Computer Engineering and Applications,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2200" dirty="0"/>
              <a:t>GLA University, Mathura</a:t>
            </a:r>
          </a:p>
        </p:txBody>
      </p:sp>
      <p:sp>
        <p:nvSpPr>
          <p:cNvPr id="6" name="Title 1">
            <a:extLst>
              <a:ext uri="{FF2B5EF4-FFF2-40B4-BE49-F238E27FC236}">
                <a16:creationId xmlns="" xmlns:a16="http://schemas.microsoft.com/office/drawing/2014/main" id="{091C2252-46CE-E0EB-683D-0C6D566CA1E8}"/>
              </a:ext>
            </a:extLst>
          </p:cNvPr>
          <p:cNvSpPr txBox="1">
            <a:spLocks/>
          </p:cNvSpPr>
          <p:nvPr/>
        </p:nvSpPr>
        <p:spPr>
          <a:xfrm>
            <a:off x="-155927" y="236658"/>
            <a:ext cx="7853682" cy="1349545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 fontScale="52500" lnSpcReduction="20000"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6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/>
              <a:t>BCAC 0016</a:t>
            </a:r>
            <a:br>
              <a:rPr lang="en-IN"/>
            </a:br>
            <a:r>
              <a:rPr lang="en-IN"/>
              <a:t>FUNDAMENTALS OF INTERNET PROGRAMMING 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53AC35F-8F7D-4124-7F2A-B43FE8C4694B}"/>
              </a:ext>
            </a:extLst>
          </p:cNvPr>
          <p:cNvSpPr/>
          <p:nvPr/>
        </p:nvSpPr>
        <p:spPr>
          <a:xfrm>
            <a:off x="3247053" y="1678802"/>
            <a:ext cx="4292082" cy="5225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Module 2</a:t>
            </a:r>
          </a:p>
        </p:txBody>
      </p:sp>
    </p:spTree>
    <p:extLst>
      <p:ext uri="{BB962C8B-B14F-4D97-AF65-F5344CB8AC3E}">
        <p14:creationId xmlns="" xmlns:p14="http://schemas.microsoft.com/office/powerpoint/2010/main" val="1149810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B1B1D72-408C-5101-9290-91A9DFF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33740"/>
            <a:ext cx="10018713" cy="1752599"/>
          </a:xfrm>
        </p:spPr>
        <p:txBody>
          <a:bodyPr/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Nunito" pitchFamily="2" charset="0"/>
              </a:rPr>
              <a:t>Outline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15DC92B-8F57-2BBB-57C9-3D8F4980B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228461"/>
            <a:ext cx="10018713" cy="3124201"/>
          </a:xfrm>
        </p:spPr>
        <p:txBody>
          <a:bodyPr>
            <a:noAutofit/>
          </a:bodyPr>
          <a:lstStyle/>
          <a:p>
            <a:pPr algn="just"/>
            <a:r>
              <a:rPr lang="en-IN" sz="32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Shadow Effects</a:t>
            </a:r>
          </a:p>
          <a:p>
            <a:pPr algn="just"/>
            <a:r>
              <a:rPr lang="en-IN" sz="3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 Effects</a:t>
            </a:r>
          </a:p>
          <a:p>
            <a:pPr algn="just"/>
            <a:r>
              <a:rPr lang="en-IN" sz="32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Tooltips</a:t>
            </a:r>
          </a:p>
          <a:p>
            <a:pPr algn="just"/>
            <a:r>
              <a:rPr lang="en-IN" sz="3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Styling Images</a:t>
            </a:r>
            <a:endParaRPr lang="en-IN" sz="3200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IN" sz="2800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b="0" i="0" dirty="0">
              <a:solidFill>
                <a:srgbClr val="000000"/>
              </a:solidFill>
              <a:effectLst/>
              <a:latin typeface="Agency FB" panose="020B050302020202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C4296A6D-897E-8124-C8E6-23167C6C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6359134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="" xmlns:a16="http://schemas.microsoft.com/office/drawing/2014/main" id="{DC4ECBFF-0A0C-08D6-F99B-7E96F41E490E}"/>
              </a:ext>
            </a:extLst>
          </p:cNvPr>
          <p:cNvSpPr txBox="1">
            <a:spLocks/>
          </p:cNvSpPr>
          <p:nvPr/>
        </p:nvSpPr>
        <p:spPr>
          <a:xfrm>
            <a:off x="2553911" y="635913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gency FB" panose="020B0503020202020204" pitchFamily="34" charset="0"/>
              </a:rPr>
              <a:t>BCAC0016: Fundamentals of Internet Programming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="" xmlns:a16="http://schemas.microsoft.com/office/drawing/2014/main" id="{E785851B-4529-7001-4F67-95A78F9A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C2D8FC1D-C33E-6895-D4A9-4CBA52015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389920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rgbClr val="EDF7FD"/>
            </a:gs>
            <a:gs pos="83000">
              <a:schemeClr val="accent1">
                <a:lumMod val="20000"/>
                <a:lumOff val="80000"/>
              </a:schemeClr>
            </a:gs>
            <a:gs pos="100000">
              <a:srgbClr val="84CFF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B1B1D72-408C-5101-9290-91A9DFF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69955"/>
            <a:ext cx="10018713" cy="1752599"/>
          </a:xfrm>
        </p:spPr>
        <p:txBody>
          <a:bodyPr/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Nunito" pitchFamily="2" charset="0"/>
              </a:rPr>
              <a:t>CSS – Shadow Effects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15DC92B-8F57-2BBB-57C9-3D8F4980B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3077547"/>
            <a:ext cx="10018713" cy="3124201"/>
          </a:xfrm>
        </p:spPr>
        <p:txBody>
          <a:bodyPr>
            <a:no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With CSS you can add shadow to text and to elements.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CSS Text Shadow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The CSS text-shadow property applies shadow to text.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In its simplest use, you only specify the horizontal shadow (2px) and the vertical shadow (2px):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b="0" i="0" dirty="0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h1 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{</a:t>
            </a: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  text-shadow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:</a:t>
            </a:r>
            <a:r>
              <a:rPr lang="en-IN" b="0" i="0" dirty="0">
                <a:solidFill>
                  <a:srgbClr val="0000CD"/>
                </a:solidFill>
                <a:effectLst/>
                <a:latin typeface="Agency FB" panose="020B0503020202020204" pitchFamily="34" charset="0"/>
              </a:rPr>
              <a:t> 2px </a:t>
            </a:r>
            <a:r>
              <a:rPr lang="en-IN" b="0" i="0" dirty="0" err="1">
                <a:solidFill>
                  <a:srgbClr val="0000CD"/>
                </a:solidFill>
                <a:effectLst/>
                <a:latin typeface="Agency FB" panose="020B0503020202020204" pitchFamily="34" charset="0"/>
              </a:rPr>
              <a:t>2px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;</a:t>
            </a: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}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gency FB" panose="020B050302020202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C4296A6D-897E-8124-C8E6-23167C6C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6359134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="" xmlns:a16="http://schemas.microsoft.com/office/drawing/2014/main" id="{DC4ECBFF-0A0C-08D6-F99B-7E96F41E490E}"/>
              </a:ext>
            </a:extLst>
          </p:cNvPr>
          <p:cNvSpPr txBox="1">
            <a:spLocks/>
          </p:cNvSpPr>
          <p:nvPr/>
        </p:nvSpPr>
        <p:spPr>
          <a:xfrm>
            <a:off x="2553911" y="635913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gency FB" panose="020B0503020202020204" pitchFamily="34" charset="0"/>
              </a:rPr>
              <a:t>BCAC0016: Fundamentals of Internet Programming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="" xmlns:a16="http://schemas.microsoft.com/office/drawing/2014/main" id="{E785851B-4529-7001-4F67-95A78F9A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C2D8FC1D-C33E-6895-D4A9-4CBA52015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="" xmlns:a16="http://schemas.microsoft.com/office/drawing/2014/main" id="{A6FAEB0F-48CD-D7B0-2000-83B8F04CF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000"/>
            <a:ext cx="65" cy="4051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976433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rgbClr val="EDF7FD"/>
            </a:gs>
            <a:gs pos="83000">
              <a:schemeClr val="accent1">
                <a:lumMod val="20000"/>
                <a:lumOff val="80000"/>
              </a:schemeClr>
            </a:gs>
            <a:gs pos="100000">
              <a:srgbClr val="84CFF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B1B1D72-408C-5101-9290-91A9DFF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69955"/>
            <a:ext cx="10018713" cy="1752599"/>
          </a:xfrm>
        </p:spPr>
        <p:txBody>
          <a:bodyPr/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Nunito" pitchFamily="2" charset="0"/>
              </a:rPr>
              <a:t>CSS – Shadow Effects (Contd.)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15DC92B-8F57-2BBB-57C9-3D8F4980B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3077547"/>
            <a:ext cx="10018713" cy="312420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C4296A6D-897E-8124-C8E6-23167C6C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6359134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="" xmlns:a16="http://schemas.microsoft.com/office/drawing/2014/main" id="{DC4ECBFF-0A0C-08D6-F99B-7E96F41E490E}"/>
              </a:ext>
            </a:extLst>
          </p:cNvPr>
          <p:cNvSpPr txBox="1">
            <a:spLocks/>
          </p:cNvSpPr>
          <p:nvPr/>
        </p:nvSpPr>
        <p:spPr>
          <a:xfrm>
            <a:off x="2553911" y="635913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gency FB" panose="020B0503020202020204" pitchFamily="34" charset="0"/>
              </a:rPr>
              <a:t>BCAC0016: Fundamentals of Internet Programming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="" xmlns:a16="http://schemas.microsoft.com/office/drawing/2014/main" id="{E785851B-4529-7001-4F67-95A78F9A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C2D8FC1D-C33E-6895-D4A9-4CBA52015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="" xmlns:a16="http://schemas.microsoft.com/office/drawing/2014/main" id="{A6FAEB0F-48CD-D7B0-2000-83B8F04CF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000"/>
            <a:ext cx="65" cy="4051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E35EA302-345B-0D0E-C363-2200D3C2513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54112" y="1826504"/>
            <a:ext cx="5323213" cy="406845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BEFD9A1B-A118-BF8A-5EAB-0FFFE26851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4251" y="3077547"/>
            <a:ext cx="3548772" cy="77147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902DCFD4-18C8-C6BF-E80C-AED9F4E70F37}"/>
              </a:ext>
            </a:extLst>
          </p:cNvPr>
          <p:cNvSpPr txBox="1"/>
          <p:nvPr/>
        </p:nvSpPr>
        <p:spPr>
          <a:xfrm>
            <a:off x="8579796" y="2708215"/>
            <a:ext cx="2372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OUTPUT:</a:t>
            </a:r>
          </a:p>
        </p:txBody>
      </p:sp>
    </p:spTree>
    <p:extLst>
      <p:ext uri="{BB962C8B-B14F-4D97-AF65-F5344CB8AC3E}">
        <p14:creationId xmlns="" xmlns:p14="http://schemas.microsoft.com/office/powerpoint/2010/main" val="1839014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rgbClr val="EDF7FD"/>
            </a:gs>
            <a:gs pos="83000">
              <a:schemeClr val="accent1">
                <a:lumMod val="20000"/>
                <a:lumOff val="80000"/>
              </a:schemeClr>
            </a:gs>
            <a:gs pos="100000">
              <a:srgbClr val="84CFF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B1B1D72-408C-5101-9290-91A9DFF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69955"/>
            <a:ext cx="10018713" cy="1752599"/>
          </a:xfrm>
        </p:spPr>
        <p:txBody>
          <a:bodyPr/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Nunito" pitchFamily="2" charset="0"/>
              </a:rPr>
              <a:t>CSS – Shadow Effects (Contd.)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15DC92B-8F57-2BBB-57C9-3D8F4980B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209800"/>
            <a:ext cx="4272678" cy="3124201"/>
          </a:xfrm>
        </p:spPr>
        <p:txBody>
          <a:bodyPr>
            <a:no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To add a color to the shadow: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b="0" i="0" dirty="0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h1 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{</a:t>
            </a: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  text-shadow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:</a:t>
            </a:r>
            <a:r>
              <a:rPr lang="en-IN" b="0" i="0" dirty="0">
                <a:solidFill>
                  <a:srgbClr val="0000CD"/>
                </a:solidFill>
                <a:effectLst/>
                <a:latin typeface="Agency FB" panose="020B0503020202020204" pitchFamily="34" charset="0"/>
              </a:rPr>
              <a:t> 2px </a:t>
            </a:r>
            <a:r>
              <a:rPr lang="en-IN" b="0" i="0" dirty="0" err="1">
                <a:solidFill>
                  <a:srgbClr val="0000CD"/>
                </a:solidFill>
                <a:effectLst/>
                <a:latin typeface="Agency FB" panose="020B0503020202020204" pitchFamily="34" charset="0"/>
              </a:rPr>
              <a:t>2px</a:t>
            </a:r>
            <a:r>
              <a:rPr lang="en-IN" b="0" i="0" dirty="0">
                <a:solidFill>
                  <a:srgbClr val="0000CD"/>
                </a:solidFill>
                <a:effectLst/>
                <a:latin typeface="Agency FB" panose="020B0503020202020204" pitchFamily="34" charset="0"/>
              </a:rPr>
              <a:t> red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;</a:t>
            </a: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}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gency FB" panose="020B050302020202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C4296A6D-897E-8124-C8E6-23167C6C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6359134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="" xmlns:a16="http://schemas.microsoft.com/office/drawing/2014/main" id="{DC4ECBFF-0A0C-08D6-F99B-7E96F41E490E}"/>
              </a:ext>
            </a:extLst>
          </p:cNvPr>
          <p:cNvSpPr txBox="1">
            <a:spLocks/>
          </p:cNvSpPr>
          <p:nvPr/>
        </p:nvSpPr>
        <p:spPr>
          <a:xfrm>
            <a:off x="2553911" y="635913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gency FB" panose="020B0503020202020204" pitchFamily="34" charset="0"/>
              </a:rPr>
              <a:t>BCAC0016: Fundamentals of Internet Programming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="" xmlns:a16="http://schemas.microsoft.com/office/drawing/2014/main" id="{E785851B-4529-7001-4F67-95A78F9A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C2D8FC1D-C33E-6895-D4A9-4CBA52015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="" xmlns:a16="http://schemas.microsoft.com/office/drawing/2014/main" id="{A6FAEB0F-48CD-D7B0-2000-83B8F04CF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000"/>
            <a:ext cx="65" cy="4051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D1C142C0-56F9-FC4D-1AAE-AC5ABEE43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310" y="3966500"/>
            <a:ext cx="2941575" cy="548688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="" xmlns:a16="http://schemas.microsoft.com/office/drawing/2014/main" id="{ADC1A1B6-6B44-F8B3-7F65-DD9410182C12}"/>
              </a:ext>
            </a:extLst>
          </p:cNvPr>
          <p:cNvSpPr txBox="1">
            <a:spLocks/>
          </p:cNvSpPr>
          <p:nvPr/>
        </p:nvSpPr>
        <p:spPr>
          <a:xfrm>
            <a:off x="6562092" y="2209799"/>
            <a:ext cx="427267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To add a blur effect to the shadow: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IN" dirty="0">
                <a:solidFill>
                  <a:srgbClr val="A52A2A"/>
                </a:solidFill>
                <a:latin typeface="Agency FB" panose="020B0503020202020204" pitchFamily="34" charset="0"/>
              </a:rPr>
              <a:t>h1 </a:t>
            </a:r>
            <a:r>
              <a:rPr lang="en-IN" dirty="0">
                <a:solidFill>
                  <a:srgbClr val="000000"/>
                </a:solidFill>
                <a:latin typeface="Agency FB" panose="020B0503020202020204" pitchFamily="34" charset="0"/>
              </a:rPr>
              <a:t>{</a:t>
            </a:r>
            <a:r>
              <a:rPr lang="en-IN" dirty="0">
                <a:solidFill>
                  <a:srgbClr val="FF0000"/>
                </a:solidFill>
                <a:latin typeface="Agency FB" panose="020B0503020202020204" pitchFamily="34" charset="0"/>
              </a:rPr>
              <a:t/>
            </a:r>
            <a:br>
              <a:rPr lang="en-IN" dirty="0">
                <a:solidFill>
                  <a:srgbClr val="FF0000"/>
                </a:solidFill>
                <a:latin typeface="Agency FB" panose="020B0503020202020204" pitchFamily="34" charset="0"/>
              </a:rPr>
            </a:br>
            <a:r>
              <a:rPr lang="en-IN" dirty="0">
                <a:solidFill>
                  <a:srgbClr val="FF0000"/>
                </a:solidFill>
                <a:latin typeface="Agency FB" panose="020B0503020202020204" pitchFamily="34" charset="0"/>
              </a:rPr>
              <a:t>  text-shadow</a:t>
            </a:r>
            <a:r>
              <a:rPr lang="en-IN" dirty="0">
                <a:solidFill>
                  <a:srgbClr val="000000"/>
                </a:solidFill>
                <a:latin typeface="Agency FB" panose="020B0503020202020204" pitchFamily="34" charset="0"/>
              </a:rPr>
              <a:t>:</a:t>
            </a:r>
            <a:r>
              <a:rPr lang="en-IN" dirty="0">
                <a:solidFill>
                  <a:srgbClr val="0000CD"/>
                </a:solidFill>
                <a:latin typeface="Agency FB" panose="020B0503020202020204" pitchFamily="34" charset="0"/>
              </a:rPr>
              <a:t> 2px </a:t>
            </a:r>
            <a:r>
              <a:rPr lang="en-IN" dirty="0" err="1">
                <a:solidFill>
                  <a:srgbClr val="0000CD"/>
                </a:solidFill>
                <a:latin typeface="Agency FB" panose="020B0503020202020204" pitchFamily="34" charset="0"/>
              </a:rPr>
              <a:t>2px</a:t>
            </a:r>
            <a:r>
              <a:rPr lang="en-IN" dirty="0">
                <a:solidFill>
                  <a:srgbClr val="0000CD"/>
                </a:solidFill>
                <a:latin typeface="Agency FB" panose="020B0503020202020204" pitchFamily="34" charset="0"/>
              </a:rPr>
              <a:t> 5px red</a:t>
            </a:r>
            <a:r>
              <a:rPr lang="en-IN" dirty="0">
                <a:solidFill>
                  <a:srgbClr val="000000"/>
                </a:solidFill>
                <a:latin typeface="Agency FB" panose="020B0503020202020204" pitchFamily="34" charset="0"/>
              </a:rPr>
              <a:t>;</a:t>
            </a:r>
            <a:r>
              <a:rPr lang="en-IN" dirty="0">
                <a:solidFill>
                  <a:srgbClr val="FF0000"/>
                </a:solidFill>
                <a:latin typeface="Agency FB" panose="020B0503020202020204" pitchFamily="34" charset="0"/>
              </a:rPr>
              <a:t/>
            </a:r>
            <a:br>
              <a:rPr lang="en-IN" dirty="0">
                <a:solidFill>
                  <a:srgbClr val="FF0000"/>
                </a:solidFill>
                <a:latin typeface="Agency FB" panose="020B0503020202020204" pitchFamily="34" charset="0"/>
              </a:rPr>
            </a:br>
            <a:r>
              <a:rPr lang="en-IN" dirty="0">
                <a:solidFill>
                  <a:srgbClr val="000000"/>
                </a:solidFill>
                <a:latin typeface="Agency FB" panose="020B0503020202020204" pitchFamily="34" charset="0"/>
              </a:rPr>
              <a:t>}</a:t>
            </a:r>
            <a:endParaRPr lang="en-US" altLang="en-US" dirty="0">
              <a:latin typeface="Agency FB" panose="020B0503020202020204" pitchFamily="34" charset="0"/>
              <a:cs typeface="Calibri" panose="020F0502020204030204" pitchFamily="34" charset="0"/>
            </a:endParaRPr>
          </a:p>
          <a:p>
            <a:pPr marL="0" indent="0" algn="just">
              <a:buFont typeface="Arial"/>
              <a:buNone/>
            </a:pPr>
            <a:endParaRPr lang="en-US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Font typeface="Arial"/>
              <a:buNone/>
            </a:pPr>
            <a:endParaRPr lang="en-US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Font typeface="Arial"/>
              <a:buNone/>
            </a:pPr>
            <a:endParaRPr lang="en-US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Font typeface="Arial"/>
              <a:buNone/>
            </a:pPr>
            <a:endParaRPr lang="en-US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E64DFC6D-937E-42F3-6237-3D0A6730CA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2148" y="3895039"/>
            <a:ext cx="2796782" cy="701101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711523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rgbClr val="EDF7FD"/>
            </a:gs>
            <a:gs pos="83000">
              <a:schemeClr val="accent1">
                <a:lumMod val="20000"/>
                <a:lumOff val="80000"/>
              </a:schemeClr>
            </a:gs>
            <a:gs pos="100000">
              <a:srgbClr val="84CFF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B1B1D72-408C-5101-9290-91A9DFF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69955"/>
            <a:ext cx="10018713" cy="1752599"/>
          </a:xfrm>
        </p:spPr>
        <p:txBody>
          <a:bodyPr/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Nunito" pitchFamily="2" charset="0"/>
              </a:rPr>
              <a:t>CSS – Text Effects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15DC92B-8F57-2BBB-57C9-3D8F4980B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09" y="2678743"/>
            <a:ext cx="10018713" cy="3124201"/>
          </a:xfrm>
        </p:spPr>
        <p:txBody>
          <a:bodyPr>
            <a:noAutofit/>
          </a:bodyPr>
          <a:lstStyle/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CSS Text </a:t>
            </a:r>
            <a:r>
              <a:rPr lang="en-IN" b="1" dirty="0">
                <a:solidFill>
                  <a:srgbClr val="000000"/>
                </a:solidFill>
                <a:latin typeface="Segoe UI" panose="020B0502040204020203" pitchFamily="34" charset="0"/>
              </a:rPr>
              <a:t>Overflow</a:t>
            </a:r>
            <a:endParaRPr lang="en-IN" b="1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The CSS text-overflow property specifies how overflowed content that is not displayed should be signaled to the user.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It can be clipped:</a:t>
            </a:r>
          </a:p>
          <a:p>
            <a:pPr marL="0" indent="0" algn="just">
              <a:buNone/>
            </a:pPr>
            <a:endParaRPr lang="en-US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or it can be rendered as an ellipsis (...):</a:t>
            </a: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C4296A6D-897E-8124-C8E6-23167C6C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6359134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="" xmlns:a16="http://schemas.microsoft.com/office/drawing/2014/main" id="{DC4ECBFF-0A0C-08D6-F99B-7E96F41E490E}"/>
              </a:ext>
            </a:extLst>
          </p:cNvPr>
          <p:cNvSpPr txBox="1">
            <a:spLocks/>
          </p:cNvSpPr>
          <p:nvPr/>
        </p:nvSpPr>
        <p:spPr>
          <a:xfrm>
            <a:off x="2553911" y="635913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gency FB" panose="020B0503020202020204" pitchFamily="34" charset="0"/>
              </a:rPr>
              <a:t>BCAC0016: Fundamentals of Internet Programming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="" xmlns:a16="http://schemas.microsoft.com/office/drawing/2014/main" id="{E785851B-4529-7001-4F67-95A78F9A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C2D8FC1D-C33E-6895-D4A9-4CBA52015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="" xmlns:a16="http://schemas.microsoft.com/office/drawing/2014/main" id="{A6FAEB0F-48CD-D7B0-2000-83B8F04CF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000"/>
            <a:ext cx="65" cy="4051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5F49160D-8B54-3852-2D1F-F0E5462CF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501" y="4133461"/>
            <a:ext cx="2379500" cy="50739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008D455F-C3B6-32CC-E8EA-34EC4D92A4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5122" y="5279396"/>
            <a:ext cx="2370752" cy="507393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456706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rgbClr val="EDF7FD"/>
            </a:gs>
            <a:gs pos="83000">
              <a:schemeClr val="accent1">
                <a:lumMod val="20000"/>
                <a:lumOff val="80000"/>
              </a:schemeClr>
            </a:gs>
            <a:gs pos="100000">
              <a:srgbClr val="84CFF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B1B1D72-408C-5101-9290-91A9DFF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69955"/>
            <a:ext cx="10018713" cy="1752599"/>
          </a:xfrm>
        </p:spPr>
        <p:txBody>
          <a:bodyPr/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Nunito" pitchFamily="2" charset="0"/>
              </a:rPr>
              <a:t>CSS – Text Effects (Contd.)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15DC92B-8F57-2BBB-57C9-3D8F4980B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09" y="2678743"/>
            <a:ext cx="4310001" cy="3124201"/>
          </a:xfrm>
        </p:spPr>
        <p:txBody>
          <a:bodyPr>
            <a:no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The CSS code is as follows: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b="0" i="0" dirty="0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p.test1 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{</a:t>
            </a: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  white-space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:</a:t>
            </a:r>
            <a:r>
              <a:rPr lang="en-IN" b="0" i="0" dirty="0">
                <a:solidFill>
                  <a:srgbClr val="0000CD"/>
                </a:solidFill>
                <a:effectLst/>
                <a:latin typeface="Agency FB" panose="020B0503020202020204" pitchFamily="34" charset="0"/>
              </a:rPr>
              <a:t> </a:t>
            </a:r>
            <a:r>
              <a:rPr lang="en-IN" b="0" i="0" dirty="0" err="1">
                <a:solidFill>
                  <a:srgbClr val="0000CD"/>
                </a:solidFill>
                <a:effectLst/>
                <a:latin typeface="Agency FB" panose="020B0503020202020204" pitchFamily="34" charset="0"/>
              </a:rPr>
              <a:t>nowrap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;</a:t>
            </a: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  width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:</a:t>
            </a:r>
            <a:r>
              <a:rPr lang="en-IN" b="0" i="0" dirty="0">
                <a:solidFill>
                  <a:srgbClr val="0000CD"/>
                </a:solidFill>
                <a:effectLst/>
                <a:latin typeface="Agency FB" panose="020B0503020202020204" pitchFamily="34" charset="0"/>
              </a:rPr>
              <a:t> 200px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;</a:t>
            </a: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  border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:</a:t>
            </a:r>
            <a:r>
              <a:rPr lang="en-IN" b="0" i="0" dirty="0">
                <a:solidFill>
                  <a:srgbClr val="0000CD"/>
                </a:solidFill>
                <a:effectLst/>
                <a:latin typeface="Agency FB" panose="020B0503020202020204" pitchFamily="34" charset="0"/>
              </a:rPr>
              <a:t> 1px solid #000000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;</a:t>
            </a: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  overflow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:</a:t>
            </a:r>
            <a:r>
              <a:rPr lang="en-IN" b="0" i="0" dirty="0">
                <a:solidFill>
                  <a:srgbClr val="0000CD"/>
                </a:solidFill>
                <a:effectLst/>
                <a:latin typeface="Agency FB" panose="020B0503020202020204" pitchFamily="34" charset="0"/>
              </a:rPr>
              <a:t> hidden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;</a:t>
            </a: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  text-overflow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:</a:t>
            </a:r>
            <a:r>
              <a:rPr lang="en-IN" b="0" i="0" dirty="0">
                <a:solidFill>
                  <a:srgbClr val="0000CD"/>
                </a:solidFill>
                <a:effectLst/>
                <a:latin typeface="Agency FB" panose="020B0503020202020204" pitchFamily="34" charset="0"/>
              </a:rPr>
              <a:t> clip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;</a:t>
            </a: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}</a:t>
            </a:r>
            <a:r>
              <a:rPr lang="en-IN" dirty="0">
                <a:latin typeface="Agency FB" panose="020B0503020202020204" pitchFamily="34" charset="0"/>
              </a:rPr>
              <a:t/>
            </a:r>
            <a:br>
              <a:rPr lang="en-IN" dirty="0">
                <a:latin typeface="Agency FB" panose="020B0503020202020204" pitchFamily="34" charset="0"/>
              </a:rPr>
            </a:br>
            <a:r>
              <a:rPr lang="en-IN" dirty="0">
                <a:latin typeface="Agency FB" panose="020B0503020202020204" pitchFamily="34" charset="0"/>
              </a:rPr>
              <a:t/>
            </a:r>
            <a:br>
              <a:rPr lang="en-IN" dirty="0">
                <a:latin typeface="Agency FB" panose="020B0503020202020204" pitchFamily="34" charset="0"/>
              </a:rPr>
            </a:b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C4296A6D-897E-8124-C8E6-23167C6C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6359134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="" xmlns:a16="http://schemas.microsoft.com/office/drawing/2014/main" id="{DC4ECBFF-0A0C-08D6-F99B-7E96F41E490E}"/>
              </a:ext>
            </a:extLst>
          </p:cNvPr>
          <p:cNvSpPr txBox="1">
            <a:spLocks/>
          </p:cNvSpPr>
          <p:nvPr/>
        </p:nvSpPr>
        <p:spPr>
          <a:xfrm>
            <a:off x="2553911" y="635913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gency FB" panose="020B0503020202020204" pitchFamily="34" charset="0"/>
              </a:rPr>
              <a:t>BCAC0016: Fundamentals of Internet Programming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="" xmlns:a16="http://schemas.microsoft.com/office/drawing/2014/main" id="{E785851B-4529-7001-4F67-95A78F9A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C2D8FC1D-C33E-6895-D4A9-4CBA52015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="" xmlns:a16="http://schemas.microsoft.com/office/drawing/2014/main" id="{A6FAEB0F-48CD-D7B0-2000-83B8F04CF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000"/>
            <a:ext cx="65" cy="4051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="" xmlns:a16="http://schemas.microsoft.com/office/drawing/2014/main" id="{D1EACE6A-1D6B-86D7-149B-C67DEE9C647A}"/>
              </a:ext>
            </a:extLst>
          </p:cNvPr>
          <p:cNvSpPr txBox="1">
            <a:spLocks/>
          </p:cNvSpPr>
          <p:nvPr/>
        </p:nvSpPr>
        <p:spPr>
          <a:xfrm>
            <a:off x="6917438" y="2678742"/>
            <a:ext cx="4310001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IN" dirty="0">
                <a:solidFill>
                  <a:srgbClr val="A52A2A"/>
                </a:solidFill>
                <a:latin typeface="Agency FB" panose="020B0503020202020204" pitchFamily="34" charset="0"/>
              </a:rPr>
              <a:t>p.test2 </a:t>
            </a:r>
            <a:r>
              <a:rPr lang="en-IN" dirty="0">
                <a:solidFill>
                  <a:srgbClr val="000000"/>
                </a:solidFill>
                <a:latin typeface="Agency FB" panose="020B0503020202020204" pitchFamily="34" charset="0"/>
              </a:rPr>
              <a:t>{</a:t>
            </a:r>
            <a:r>
              <a:rPr lang="en-IN" dirty="0">
                <a:solidFill>
                  <a:srgbClr val="FF0000"/>
                </a:solidFill>
                <a:latin typeface="Agency FB" panose="020B0503020202020204" pitchFamily="34" charset="0"/>
              </a:rPr>
              <a:t/>
            </a:r>
            <a:br>
              <a:rPr lang="en-IN" dirty="0">
                <a:solidFill>
                  <a:srgbClr val="FF0000"/>
                </a:solidFill>
                <a:latin typeface="Agency FB" panose="020B0503020202020204" pitchFamily="34" charset="0"/>
              </a:rPr>
            </a:br>
            <a:r>
              <a:rPr lang="en-IN" dirty="0">
                <a:solidFill>
                  <a:srgbClr val="FF0000"/>
                </a:solidFill>
                <a:latin typeface="Agency FB" panose="020B0503020202020204" pitchFamily="34" charset="0"/>
              </a:rPr>
              <a:t>  white-space</a:t>
            </a:r>
            <a:r>
              <a:rPr lang="en-IN" dirty="0">
                <a:solidFill>
                  <a:srgbClr val="000000"/>
                </a:solidFill>
                <a:latin typeface="Agency FB" panose="020B0503020202020204" pitchFamily="34" charset="0"/>
              </a:rPr>
              <a:t>:</a:t>
            </a:r>
            <a:r>
              <a:rPr lang="en-IN" dirty="0">
                <a:solidFill>
                  <a:srgbClr val="0000CD"/>
                </a:solidFill>
                <a:latin typeface="Agency FB" panose="020B0503020202020204" pitchFamily="34" charset="0"/>
              </a:rPr>
              <a:t> </a:t>
            </a:r>
            <a:r>
              <a:rPr lang="en-IN" dirty="0" err="1">
                <a:solidFill>
                  <a:srgbClr val="0000CD"/>
                </a:solidFill>
                <a:latin typeface="Agency FB" panose="020B0503020202020204" pitchFamily="34" charset="0"/>
              </a:rPr>
              <a:t>nowrap</a:t>
            </a:r>
            <a:r>
              <a:rPr lang="en-IN" dirty="0">
                <a:solidFill>
                  <a:srgbClr val="000000"/>
                </a:solidFill>
                <a:latin typeface="Agency FB" panose="020B0503020202020204" pitchFamily="34" charset="0"/>
              </a:rPr>
              <a:t>;</a:t>
            </a:r>
            <a:r>
              <a:rPr lang="en-IN" dirty="0">
                <a:solidFill>
                  <a:srgbClr val="FF0000"/>
                </a:solidFill>
                <a:latin typeface="Agency FB" panose="020B0503020202020204" pitchFamily="34" charset="0"/>
              </a:rPr>
              <a:t/>
            </a:r>
            <a:br>
              <a:rPr lang="en-IN" dirty="0">
                <a:solidFill>
                  <a:srgbClr val="FF0000"/>
                </a:solidFill>
                <a:latin typeface="Agency FB" panose="020B0503020202020204" pitchFamily="34" charset="0"/>
              </a:rPr>
            </a:br>
            <a:r>
              <a:rPr lang="en-IN" dirty="0">
                <a:solidFill>
                  <a:srgbClr val="FF0000"/>
                </a:solidFill>
                <a:latin typeface="Agency FB" panose="020B0503020202020204" pitchFamily="34" charset="0"/>
              </a:rPr>
              <a:t>  width</a:t>
            </a:r>
            <a:r>
              <a:rPr lang="en-IN" dirty="0">
                <a:solidFill>
                  <a:srgbClr val="000000"/>
                </a:solidFill>
                <a:latin typeface="Agency FB" panose="020B0503020202020204" pitchFamily="34" charset="0"/>
              </a:rPr>
              <a:t>:</a:t>
            </a:r>
            <a:r>
              <a:rPr lang="en-IN" dirty="0">
                <a:solidFill>
                  <a:srgbClr val="0000CD"/>
                </a:solidFill>
                <a:latin typeface="Agency FB" panose="020B0503020202020204" pitchFamily="34" charset="0"/>
              </a:rPr>
              <a:t> 200px</a:t>
            </a:r>
            <a:r>
              <a:rPr lang="en-IN" dirty="0">
                <a:solidFill>
                  <a:srgbClr val="000000"/>
                </a:solidFill>
                <a:latin typeface="Agency FB" panose="020B0503020202020204" pitchFamily="34" charset="0"/>
              </a:rPr>
              <a:t>;</a:t>
            </a:r>
            <a:r>
              <a:rPr lang="en-IN" dirty="0">
                <a:solidFill>
                  <a:srgbClr val="FF0000"/>
                </a:solidFill>
                <a:latin typeface="Agency FB" panose="020B0503020202020204" pitchFamily="34" charset="0"/>
              </a:rPr>
              <a:t/>
            </a:r>
            <a:br>
              <a:rPr lang="en-IN" dirty="0">
                <a:solidFill>
                  <a:srgbClr val="FF0000"/>
                </a:solidFill>
                <a:latin typeface="Agency FB" panose="020B0503020202020204" pitchFamily="34" charset="0"/>
              </a:rPr>
            </a:br>
            <a:r>
              <a:rPr lang="en-IN" dirty="0">
                <a:solidFill>
                  <a:srgbClr val="FF0000"/>
                </a:solidFill>
                <a:latin typeface="Agency FB" panose="020B0503020202020204" pitchFamily="34" charset="0"/>
              </a:rPr>
              <a:t>  border</a:t>
            </a:r>
            <a:r>
              <a:rPr lang="en-IN" dirty="0">
                <a:solidFill>
                  <a:srgbClr val="000000"/>
                </a:solidFill>
                <a:latin typeface="Agency FB" panose="020B0503020202020204" pitchFamily="34" charset="0"/>
              </a:rPr>
              <a:t>:</a:t>
            </a:r>
            <a:r>
              <a:rPr lang="en-IN" dirty="0">
                <a:solidFill>
                  <a:srgbClr val="0000CD"/>
                </a:solidFill>
                <a:latin typeface="Agency FB" panose="020B0503020202020204" pitchFamily="34" charset="0"/>
              </a:rPr>
              <a:t> 1px solid #000000</a:t>
            </a:r>
            <a:r>
              <a:rPr lang="en-IN" dirty="0">
                <a:solidFill>
                  <a:srgbClr val="000000"/>
                </a:solidFill>
                <a:latin typeface="Agency FB" panose="020B0503020202020204" pitchFamily="34" charset="0"/>
              </a:rPr>
              <a:t>;</a:t>
            </a:r>
            <a:r>
              <a:rPr lang="en-IN" dirty="0">
                <a:solidFill>
                  <a:srgbClr val="FF0000"/>
                </a:solidFill>
                <a:latin typeface="Agency FB" panose="020B0503020202020204" pitchFamily="34" charset="0"/>
              </a:rPr>
              <a:t/>
            </a:r>
            <a:br>
              <a:rPr lang="en-IN" dirty="0">
                <a:solidFill>
                  <a:srgbClr val="FF0000"/>
                </a:solidFill>
                <a:latin typeface="Agency FB" panose="020B0503020202020204" pitchFamily="34" charset="0"/>
              </a:rPr>
            </a:br>
            <a:r>
              <a:rPr lang="en-IN" dirty="0">
                <a:solidFill>
                  <a:srgbClr val="FF0000"/>
                </a:solidFill>
                <a:latin typeface="Agency FB" panose="020B0503020202020204" pitchFamily="34" charset="0"/>
              </a:rPr>
              <a:t>  overflow</a:t>
            </a:r>
            <a:r>
              <a:rPr lang="en-IN" dirty="0">
                <a:solidFill>
                  <a:srgbClr val="000000"/>
                </a:solidFill>
                <a:latin typeface="Agency FB" panose="020B0503020202020204" pitchFamily="34" charset="0"/>
              </a:rPr>
              <a:t>:</a:t>
            </a:r>
            <a:r>
              <a:rPr lang="en-IN" dirty="0">
                <a:solidFill>
                  <a:srgbClr val="0000CD"/>
                </a:solidFill>
                <a:latin typeface="Agency FB" panose="020B0503020202020204" pitchFamily="34" charset="0"/>
              </a:rPr>
              <a:t> hidden</a:t>
            </a:r>
            <a:r>
              <a:rPr lang="en-IN" dirty="0">
                <a:solidFill>
                  <a:srgbClr val="000000"/>
                </a:solidFill>
                <a:latin typeface="Agency FB" panose="020B0503020202020204" pitchFamily="34" charset="0"/>
              </a:rPr>
              <a:t>;</a:t>
            </a:r>
            <a:r>
              <a:rPr lang="en-IN" dirty="0">
                <a:solidFill>
                  <a:srgbClr val="FF0000"/>
                </a:solidFill>
                <a:latin typeface="Agency FB" panose="020B0503020202020204" pitchFamily="34" charset="0"/>
              </a:rPr>
              <a:t/>
            </a:r>
            <a:br>
              <a:rPr lang="en-IN" dirty="0">
                <a:solidFill>
                  <a:srgbClr val="FF0000"/>
                </a:solidFill>
                <a:latin typeface="Agency FB" panose="020B0503020202020204" pitchFamily="34" charset="0"/>
              </a:rPr>
            </a:br>
            <a:r>
              <a:rPr lang="en-IN" dirty="0">
                <a:solidFill>
                  <a:srgbClr val="FF0000"/>
                </a:solidFill>
                <a:latin typeface="Agency FB" panose="020B0503020202020204" pitchFamily="34" charset="0"/>
              </a:rPr>
              <a:t>  text-overflow</a:t>
            </a:r>
            <a:r>
              <a:rPr lang="en-IN" dirty="0">
                <a:solidFill>
                  <a:srgbClr val="000000"/>
                </a:solidFill>
                <a:latin typeface="Agency FB" panose="020B0503020202020204" pitchFamily="34" charset="0"/>
              </a:rPr>
              <a:t>:</a:t>
            </a:r>
            <a:r>
              <a:rPr lang="en-IN" dirty="0">
                <a:solidFill>
                  <a:srgbClr val="0000CD"/>
                </a:solidFill>
                <a:latin typeface="Agency FB" panose="020B0503020202020204" pitchFamily="34" charset="0"/>
              </a:rPr>
              <a:t> ellipsis</a:t>
            </a:r>
            <a:r>
              <a:rPr lang="en-IN" dirty="0">
                <a:solidFill>
                  <a:srgbClr val="000000"/>
                </a:solidFill>
                <a:latin typeface="Agency FB" panose="020B0503020202020204" pitchFamily="34" charset="0"/>
              </a:rPr>
              <a:t>;</a:t>
            </a:r>
            <a:r>
              <a:rPr lang="en-IN" dirty="0">
                <a:solidFill>
                  <a:srgbClr val="FF0000"/>
                </a:solidFill>
                <a:latin typeface="Agency FB" panose="020B0503020202020204" pitchFamily="34" charset="0"/>
              </a:rPr>
              <a:t/>
            </a:r>
            <a:br>
              <a:rPr lang="en-IN" dirty="0">
                <a:solidFill>
                  <a:srgbClr val="FF0000"/>
                </a:solidFill>
                <a:latin typeface="Agency FB" panose="020B0503020202020204" pitchFamily="34" charset="0"/>
              </a:rPr>
            </a:br>
            <a:r>
              <a:rPr lang="en-IN" dirty="0">
                <a:solidFill>
                  <a:srgbClr val="000000"/>
                </a:solidFill>
                <a:latin typeface="Agency FB" panose="020B0503020202020204" pitchFamily="34" charset="0"/>
              </a:rPr>
              <a:t>}</a:t>
            </a:r>
            <a:r>
              <a:rPr lang="en-IN" dirty="0">
                <a:latin typeface="Agency FB" panose="020B0503020202020204" pitchFamily="34" charset="0"/>
              </a:rPr>
              <a:t/>
            </a:r>
            <a:br>
              <a:rPr lang="en-IN" dirty="0">
                <a:latin typeface="Agency FB" panose="020B0503020202020204" pitchFamily="34" charset="0"/>
              </a:rPr>
            </a:br>
            <a:r>
              <a:rPr lang="en-IN" dirty="0">
                <a:latin typeface="Agency FB" panose="020B0503020202020204" pitchFamily="34" charset="0"/>
              </a:rPr>
              <a:t/>
            </a:r>
            <a:br>
              <a:rPr lang="en-IN" dirty="0">
                <a:latin typeface="Agency FB" panose="020B0503020202020204" pitchFamily="34" charset="0"/>
              </a:rPr>
            </a:br>
            <a:endParaRPr lang="en-US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Font typeface="Arial"/>
              <a:buNone/>
            </a:pPr>
            <a:endParaRPr lang="en-US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47484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rgbClr val="EDF7FD"/>
            </a:gs>
            <a:gs pos="83000">
              <a:schemeClr val="accent1">
                <a:lumMod val="20000"/>
                <a:lumOff val="80000"/>
              </a:schemeClr>
            </a:gs>
            <a:gs pos="100000">
              <a:srgbClr val="84CFF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B1B1D72-408C-5101-9290-91A9DFF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69955"/>
            <a:ext cx="10018713" cy="1752599"/>
          </a:xfrm>
        </p:spPr>
        <p:txBody>
          <a:bodyPr/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Nunito" pitchFamily="2" charset="0"/>
              </a:rPr>
              <a:t>CSS – Text Effects Properties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15DC92B-8F57-2BBB-57C9-3D8F4980B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8285" y="1400449"/>
            <a:ext cx="10018713" cy="3124201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following table lists the CSS text effect properties:</a:t>
            </a:r>
          </a:p>
          <a:p>
            <a:pPr marL="0" indent="0">
              <a:buNone/>
            </a:pP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C4296A6D-897E-8124-C8E6-23167C6C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6359134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="" xmlns:a16="http://schemas.microsoft.com/office/drawing/2014/main" id="{DC4ECBFF-0A0C-08D6-F99B-7E96F41E490E}"/>
              </a:ext>
            </a:extLst>
          </p:cNvPr>
          <p:cNvSpPr txBox="1">
            <a:spLocks/>
          </p:cNvSpPr>
          <p:nvPr/>
        </p:nvSpPr>
        <p:spPr>
          <a:xfrm>
            <a:off x="2553911" y="635913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gency FB" panose="020B0503020202020204" pitchFamily="34" charset="0"/>
              </a:rPr>
              <a:t>BCAC0016: Fundamentals of Internet Programming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="" xmlns:a16="http://schemas.microsoft.com/office/drawing/2014/main" id="{E785851B-4529-7001-4F67-95A78F9A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C2D8FC1D-C33E-6895-D4A9-4CBA52015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="" xmlns:a16="http://schemas.microsoft.com/office/drawing/2014/main" id="{A6FAEB0F-48CD-D7B0-2000-83B8F04CF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000"/>
            <a:ext cx="65" cy="4051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="" xmlns:a16="http://schemas.microsoft.com/office/drawing/2014/main" id="{D9D02EE1-67B3-FD3B-FC15-E544650203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444748404"/>
              </p:ext>
            </p:extLst>
          </p:nvPr>
        </p:nvGraphicFramePr>
        <p:xfrm>
          <a:off x="2708701" y="2500446"/>
          <a:ext cx="7569936" cy="3457308"/>
        </p:xfrm>
        <a:graphic>
          <a:graphicData uri="http://schemas.openxmlformats.org/drawingml/2006/table">
            <a:tbl>
              <a:tblPr/>
              <a:tblGrid>
                <a:gridCol w="2117486">
                  <a:extLst>
                    <a:ext uri="{9D8B030D-6E8A-4147-A177-3AD203B41FA5}">
                      <a16:colId xmlns="" xmlns:a16="http://schemas.microsoft.com/office/drawing/2014/main" val="974521963"/>
                    </a:ext>
                  </a:extLst>
                </a:gridCol>
                <a:gridCol w="5452450">
                  <a:extLst>
                    <a:ext uri="{9D8B030D-6E8A-4147-A177-3AD203B41FA5}">
                      <a16:colId xmlns="" xmlns:a16="http://schemas.microsoft.com/office/drawing/2014/main" val="178339276"/>
                    </a:ext>
                  </a:extLst>
                </a:gridCol>
              </a:tblGrid>
              <a:tr h="386806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effectLst/>
                        </a:rPr>
                        <a:t>Property</a:t>
                      </a:r>
                    </a:p>
                  </a:txBody>
                  <a:tcPr marL="119017" marR="59509" marT="59509" marB="59509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effectLst/>
                        </a:rPr>
                        <a:t>Description</a:t>
                      </a:r>
                    </a:p>
                  </a:txBody>
                  <a:tcPr marL="59509" marR="59509" marT="59509" marB="59509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218679630"/>
                  </a:ext>
                </a:extLst>
              </a:tr>
              <a:tr h="386806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effectLst/>
                          <a:hlinkClick r:id="rId2"/>
                        </a:rPr>
                        <a:t>text-justify</a:t>
                      </a:r>
                      <a:endParaRPr lang="en-IN" sz="1800">
                        <a:effectLst/>
                      </a:endParaRPr>
                    </a:p>
                  </a:txBody>
                  <a:tcPr marL="119017" marR="59509" marT="59509" marB="59509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Specifies how justified text should be aligned and spaced</a:t>
                      </a:r>
                    </a:p>
                  </a:txBody>
                  <a:tcPr marL="59509" marR="59509" marT="59509" marB="59509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387979074"/>
                  </a:ext>
                </a:extLst>
              </a:tr>
              <a:tr h="654594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effectLst/>
                          <a:hlinkClick r:id="rId3"/>
                        </a:rPr>
                        <a:t>text-overflow</a:t>
                      </a:r>
                      <a:endParaRPr lang="en-IN" sz="1800">
                        <a:effectLst/>
                      </a:endParaRPr>
                    </a:p>
                  </a:txBody>
                  <a:tcPr marL="119017" marR="59509" marT="59509" marB="59509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Specifies how overflowed content that is not displayed should be signaled to the user</a:t>
                      </a:r>
                    </a:p>
                  </a:txBody>
                  <a:tcPr marL="59509" marR="59509" marT="59509" marB="59509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896748088"/>
                  </a:ext>
                </a:extLst>
              </a:tr>
              <a:tr h="386806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effectLst/>
                          <a:hlinkClick r:id="rId4"/>
                        </a:rPr>
                        <a:t>word-break</a:t>
                      </a:r>
                      <a:endParaRPr lang="en-IN" sz="1800">
                        <a:effectLst/>
                      </a:endParaRPr>
                    </a:p>
                  </a:txBody>
                  <a:tcPr marL="119017" marR="59509" marT="59509" marB="59509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Specifies line breaking rules for non-CJK scripts</a:t>
                      </a:r>
                    </a:p>
                  </a:txBody>
                  <a:tcPr marL="59509" marR="59509" marT="59509" marB="59509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994750071"/>
                  </a:ext>
                </a:extLst>
              </a:tr>
              <a:tr h="654594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effectLst/>
                          <a:hlinkClick r:id="rId5"/>
                        </a:rPr>
                        <a:t>word-wrap</a:t>
                      </a:r>
                      <a:endParaRPr lang="en-IN" sz="1800">
                        <a:effectLst/>
                      </a:endParaRPr>
                    </a:p>
                  </a:txBody>
                  <a:tcPr marL="119017" marR="59509" marT="59509" marB="59509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Allows long words to be able to be broken and wrap onto the next line</a:t>
                      </a:r>
                    </a:p>
                  </a:txBody>
                  <a:tcPr marL="59509" marR="59509" marT="59509" marB="59509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226603397"/>
                  </a:ext>
                </a:extLst>
              </a:tr>
              <a:tr h="654594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effectLst/>
                          <a:hlinkClick r:id="rId6"/>
                        </a:rPr>
                        <a:t>writing-mode</a:t>
                      </a:r>
                      <a:endParaRPr lang="en-IN" sz="1800">
                        <a:effectLst/>
                      </a:endParaRPr>
                    </a:p>
                  </a:txBody>
                  <a:tcPr marL="119017" marR="59509" marT="59509" marB="59509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Specifies whether lines of text are laid out horizontally or vertically</a:t>
                      </a:r>
                    </a:p>
                  </a:txBody>
                  <a:tcPr marL="59509" marR="59509" marT="59509" marB="59509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4289490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2823262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rgbClr val="EDF7FD"/>
            </a:gs>
            <a:gs pos="83000">
              <a:schemeClr val="accent1">
                <a:lumMod val="20000"/>
                <a:lumOff val="80000"/>
              </a:schemeClr>
            </a:gs>
            <a:gs pos="100000">
              <a:srgbClr val="84CFF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B1B1D72-408C-5101-9290-91A9DFF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8" y="-335088"/>
            <a:ext cx="10018713" cy="1752599"/>
          </a:xfrm>
        </p:spPr>
        <p:txBody>
          <a:bodyPr/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Nunito" pitchFamily="2" charset="0"/>
              </a:rPr>
              <a:t>CSS – Tooltips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15DC92B-8F57-2BBB-57C9-3D8F4980B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08" y="304799"/>
            <a:ext cx="10018713" cy="3124201"/>
          </a:xfrm>
        </p:spPr>
        <p:txBody>
          <a:bodyPr>
            <a:no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 tooltip is often used to specify extra information about something when the user moves the mouse pointer over an element: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C4296A6D-897E-8124-C8E6-23167C6C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6359134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="" xmlns:a16="http://schemas.microsoft.com/office/drawing/2014/main" id="{DC4ECBFF-0A0C-08D6-F99B-7E96F41E490E}"/>
              </a:ext>
            </a:extLst>
          </p:cNvPr>
          <p:cNvSpPr txBox="1">
            <a:spLocks/>
          </p:cNvSpPr>
          <p:nvPr/>
        </p:nvSpPr>
        <p:spPr>
          <a:xfrm>
            <a:off x="2553911" y="635913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gency FB" panose="020B0503020202020204" pitchFamily="34" charset="0"/>
              </a:rPr>
              <a:t>BCAC0016: Fundamentals of Internet Programming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="" xmlns:a16="http://schemas.microsoft.com/office/drawing/2014/main" id="{E785851B-4529-7001-4F67-95A78F9A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C2D8FC1D-C33E-6895-D4A9-4CBA52015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="" xmlns:a16="http://schemas.microsoft.com/office/drawing/2014/main" id="{A6FAEB0F-48CD-D7B0-2000-83B8F04CF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000"/>
            <a:ext cx="65" cy="4051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5E3DCB19-96AA-C6DB-BB09-8684CC8CA31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3915"/>
          <a:stretch/>
        </p:blipFill>
        <p:spPr>
          <a:xfrm>
            <a:off x="2094012" y="1417511"/>
            <a:ext cx="5922389" cy="497615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="" xmlns:a16="http://schemas.microsoft.com/office/drawing/2014/main" id="{914B3DF4-EED7-00C8-9F40-908D9CAA2B1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4362" t="28844" r="1617" b="55646"/>
          <a:stretch/>
        </p:blipFill>
        <p:spPr>
          <a:xfrm>
            <a:off x="6096000" y="2724749"/>
            <a:ext cx="5492381" cy="140850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988736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0611" y="1727200"/>
            <a:ext cx="5538789" cy="1752599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HAPPY NEW YEAR</a:t>
            </a:r>
            <a:br>
              <a:rPr lang="en-US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solidFill>
                  <a:srgbClr val="FF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DEAR CLASS </a:t>
            </a:r>
            <a:endParaRPr lang="en-US" dirty="0">
              <a:solidFill>
                <a:srgbClr val="FF0000"/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026" name="Picture 2" descr="Image preview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42100" y="69056"/>
            <a:ext cx="5400674" cy="675084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rgbClr val="EDF7FD"/>
            </a:gs>
            <a:gs pos="83000">
              <a:schemeClr val="accent1">
                <a:lumMod val="20000"/>
                <a:lumOff val="80000"/>
              </a:schemeClr>
            </a:gs>
            <a:gs pos="100000">
              <a:srgbClr val="84CFF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B1B1D72-408C-5101-9290-91A9DFF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8" y="228599"/>
            <a:ext cx="10018713" cy="1752599"/>
          </a:xfrm>
        </p:spPr>
        <p:txBody>
          <a:bodyPr/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Nunito" pitchFamily="2" charset="0"/>
              </a:rPr>
              <a:t>CSS – </a:t>
            </a:r>
            <a:r>
              <a:rPr lang="en-IN" b="1" dirty="0">
                <a:solidFill>
                  <a:srgbClr val="000000"/>
                </a:solidFill>
                <a:latin typeface="Nunito" pitchFamily="2" charset="0"/>
              </a:rPr>
              <a:t>Styling Images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15DC92B-8F57-2BBB-57C9-3D8F4980B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8953" y="2736977"/>
            <a:ext cx="10018713" cy="3124201"/>
          </a:xfrm>
        </p:spPr>
        <p:txBody>
          <a:bodyPr>
            <a:no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Use the border-radius property to create rounded images: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Rounded Image: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b="0" i="0" dirty="0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	</a:t>
            </a:r>
            <a:r>
              <a:rPr lang="en-IN" b="0" i="0" dirty="0" err="1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img</a:t>
            </a:r>
            <a:r>
              <a:rPr lang="en-IN" b="0" i="0" dirty="0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 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{</a:t>
            </a: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  		border-radius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:</a:t>
            </a:r>
            <a:r>
              <a:rPr lang="en-IN" b="0" i="0" dirty="0">
                <a:solidFill>
                  <a:srgbClr val="0000CD"/>
                </a:solidFill>
                <a:effectLst/>
                <a:latin typeface="Agency FB" panose="020B0503020202020204" pitchFamily="34" charset="0"/>
              </a:rPr>
              <a:t> 8px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;</a:t>
            </a: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	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}</a:t>
            </a:r>
            <a:endParaRPr lang="en-US" altLang="en-US" dirty="0">
              <a:latin typeface="Agency FB" panose="020B050302020202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Circled Image: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b="0" i="0" dirty="0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	</a:t>
            </a:r>
            <a:r>
              <a:rPr lang="en-IN" b="0" i="0" dirty="0" err="1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img</a:t>
            </a:r>
            <a:r>
              <a:rPr lang="en-IN" b="0" i="0" dirty="0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 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{</a:t>
            </a: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  		border-radius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:</a:t>
            </a:r>
            <a:r>
              <a:rPr lang="en-IN" b="0" i="0" dirty="0">
                <a:solidFill>
                  <a:srgbClr val="0000CD"/>
                </a:solidFill>
                <a:effectLst/>
                <a:latin typeface="Agency FB" panose="020B0503020202020204" pitchFamily="34" charset="0"/>
              </a:rPr>
              <a:t> 50%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;</a:t>
            </a: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	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}</a:t>
            </a:r>
            <a:endParaRPr lang="en-US" altLang="en-US" dirty="0">
              <a:latin typeface="Agency FB" panose="020B050302020202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C4296A6D-897E-8124-C8E6-23167C6C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6359134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="" xmlns:a16="http://schemas.microsoft.com/office/drawing/2014/main" id="{DC4ECBFF-0A0C-08D6-F99B-7E96F41E490E}"/>
              </a:ext>
            </a:extLst>
          </p:cNvPr>
          <p:cNvSpPr txBox="1">
            <a:spLocks/>
          </p:cNvSpPr>
          <p:nvPr/>
        </p:nvSpPr>
        <p:spPr>
          <a:xfrm>
            <a:off x="2553911" y="635913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gency FB" panose="020B0503020202020204" pitchFamily="34" charset="0"/>
              </a:rPr>
              <a:t>BCAC0016: Fundamentals of Internet Programming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="" xmlns:a16="http://schemas.microsoft.com/office/drawing/2014/main" id="{E785851B-4529-7001-4F67-95A78F9A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C2D8FC1D-C33E-6895-D4A9-4CBA52015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="" xmlns:a16="http://schemas.microsoft.com/office/drawing/2014/main" id="{A6FAEB0F-48CD-D7B0-2000-83B8F04CF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000"/>
            <a:ext cx="65" cy="4051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67644F92-9233-38D7-443B-6356A9292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7866" y="2239020"/>
            <a:ext cx="1878161" cy="187330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AC460CAD-6F9F-EA71-0662-2C6DC122D95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06883" y="4387659"/>
            <a:ext cx="2156114" cy="2229298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="" xmlns:a16="http://schemas.microsoft.com/office/drawing/2014/main" id="{E3444A0F-F2E6-F8F0-6D3F-0A72AD3BA0B2}"/>
              </a:ext>
            </a:extLst>
          </p:cNvPr>
          <p:cNvCxnSpPr/>
          <p:nvPr/>
        </p:nvCxnSpPr>
        <p:spPr>
          <a:xfrm>
            <a:off x="5812976" y="3250322"/>
            <a:ext cx="218336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="" xmlns:a16="http://schemas.microsoft.com/office/drawing/2014/main" id="{5FA8623D-AE92-3075-0C42-ACEA19E21D12}"/>
              </a:ext>
            </a:extLst>
          </p:cNvPr>
          <p:cNvCxnSpPr/>
          <p:nvPr/>
        </p:nvCxnSpPr>
        <p:spPr>
          <a:xfrm>
            <a:off x="5803641" y="5408802"/>
            <a:ext cx="218336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2940410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rgbClr val="EDF7FD"/>
            </a:gs>
            <a:gs pos="83000">
              <a:schemeClr val="accent1">
                <a:lumMod val="20000"/>
                <a:lumOff val="80000"/>
              </a:schemeClr>
            </a:gs>
            <a:gs pos="100000">
              <a:srgbClr val="84CFF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B1B1D72-408C-5101-9290-91A9DFF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8" y="228599"/>
            <a:ext cx="10018713" cy="1752599"/>
          </a:xfrm>
        </p:spPr>
        <p:txBody>
          <a:bodyPr/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Nunito" pitchFamily="2" charset="0"/>
              </a:rPr>
              <a:t>CSS – </a:t>
            </a:r>
            <a:r>
              <a:rPr lang="en-IN" b="1" dirty="0">
                <a:solidFill>
                  <a:srgbClr val="000000"/>
                </a:solidFill>
                <a:latin typeface="Nunito" pitchFamily="2" charset="0"/>
              </a:rPr>
              <a:t>Styling Images (Contd.)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15DC92B-8F57-2BBB-57C9-3D8F4980B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8953" y="2736977"/>
            <a:ext cx="10018713" cy="3124201"/>
          </a:xfrm>
        </p:spPr>
        <p:txBody>
          <a:bodyPr>
            <a:no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Use the border property to create thumbnail images: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b="0" i="0" dirty="0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	</a:t>
            </a:r>
            <a:r>
              <a:rPr lang="en-IN" b="0" i="0" dirty="0" err="1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img</a:t>
            </a:r>
            <a:r>
              <a:rPr lang="en-IN" b="0" i="0" dirty="0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 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{</a:t>
            </a: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  		border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:</a:t>
            </a:r>
            <a:r>
              <a:rPr lang="en-IN" b="0" i="0" dirty="0">
                <a:solidFill>
                  <a:srgbClr val="0000CD"/>
                </a:solidFill>
                <a:effectLst/>
                <a:latin typeface="Agency FB" panose="020B0503020202020204" pitchFamily="34" charset="0"/>
              </a:rPr>
              <a:t> 1px</a:t>
            </a:r>
            <a:r>
              <a:rPr lang="en-IN" dirty="0">
                <a:solidFill>
                  <a:srgbClr val="0000CD"/>
                </a:solidFill>
                <a:latin typeface="Agency FB" panose="020B0503020202020204" pitchFamily="34" charset="0"/>
              </a:rPr>
              <a:t> solid </a:t>
            </a:r>
            <a:r>
              <a:rPr lang="en-IN" b="0" i="0" dirty="0">
                <a:solidFill>
                  <a:srgbClr val="0000CD"/>
                </a:solidFill>
                <a:effectLst/>
                <a:latin typeface="Agency FB" panose="020B0503020202020204" pitchFamily="34" charset="0"/>
              </a:rPr>
              <a:t>#ddd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;</a:t>
            </a:r>
            <a:endParaRPr lang="en-IN" b="0" i="0" dirty="0">
              <a:solidFill>
                <a:srgbClr val="FF0000"/>
              </a:solidFill>
              <a:effectLst/>
              <a:latin typeface="Agency FB" panose="020B0503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dirty="0">
                <a:solidFill>
                  <a:srgbClr val="FF0000"/>
                </a:solidFill>
                <a:latin typeface="Agency FB" panose="020B0503020202020204" pitchFamily="34" charset="0"/>
              </a:rPr>
              <a:t>		</a:t>
            </a: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border-radius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:</a:t>
            </a:r>
            <a:r>
              <a:rPr lang="en-IN" b="0" i="0" dirty="0">
                <a:solidFill>
                  <a:srgbClr val="0000CD"/>
                </a:solidFill>
                <a:effectLst/>
                <a:latin typeface="Agency FB" panose="020B0503020202020204" pitchFamily="34" charset="0"/>
              </a:rPr>
              <a:t> 4px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;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dirty="0">
                <a:solidFill>
                  <a:srgbClr val="000000"/>
                </a:solidFill>
                <a:latin typeface="Agency FB" panose="020B0503020202020204" pitchFamily="34" charset="0"/>
              </a:rPr>
              <a:t>		</a:t>
            </a:r>
            <a:r>
              <a:rPr lang="en-IN" dirty="0">
                <a:solidFill>
                  <a:srgbClr val="FF0000"/>
                </a:solidFill>
                <a:latin typeface="Agency FB" panose="020B0503020202020204" pitchFamily="34" charset="0"/>
              </a:rPr>
              <a:t>padding</a:t>
            </a:r>
            <a:r>
              <a:rPr lang="en-IN" dirty="0">
                <a:solidFill>
                  <a:srgbClr val="000000"/>
                </a:solidFill>
                <a:latin typeface="Agency FB" panose="020B0503020202020204" pitchFamily="34" charset="0"/>
              </a:rPr>
              <a:t>: </a:t>
            </a:r>
            <a:r>
              <a:rPr lang="en-IN" dirty="0">
                <a:solidFill>
                  <a:srgbClr val="0000CD"/>
                </a:solidFill>
                <a:latin typeface="Agency FB" panose="020B0503020202020204" pitchFamily="34" charset="0"/>
              </a:rPr>
              <a:t>5px;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dirty="0">
                <a:solidFill>
                  <a:srgbClr val="000000"/>
                </a:solidFill>
                <a:latin typeface="Agency FB" panose="020B0503020202020204" pitchFamily="34" charset="0"/>
              </a:rPr>
              <a:t>  		</a:t>
            </a:r>
            <a:r>
              <a:rPr lang="en-IN" dirty="0">
                <a:solidFill>
                  <a:srgbClr val="FF0000"/>
                </a:solidFill>
                <a:latin typeface="Agency FB" panose="020B0503020202020204" pitchFamily="34" charset="0"/>
              </a:rPr>
              <a:t>width</a:t>
            </a:r>
            <a:r>
              <a:rPr lang="en-IN" dirty="0">
                <a:solidFill>
                  <a:srgbClr val="000000"/>
                </a:solidFill>
                <a:latin typeface="Agency FB" panose="020B0503020202020204" pitchFamily="34" charset="0"/>
              </a:rPr>
              <a:t>: </a:t>
            </a:r>
            <a:r>
              <a:rPr lang="en-IN" dirty="0">
                <a:solidFill>
                  <a:srgbClr val="0000CD"/>
                </a:solidFill>
                <a:latin typeface="Agency FB" panose="020B0503020202020204" pitchFamily="34" charset="0"/>
              </a:rPr>
              <a:t>150px;</a:t>
            </a: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	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}</a:t>
            </a:r>
            <a:endParaRPr lang="en-US" altLang="en-US" dirty="0">
              <a:latin typeface="Agency FB" panose="020B050302020202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C4296A6D-897E-8124-C8E6-23167C6C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6359134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="" xmlns:a16="http://schemas.microsoft.com/office/drawing/2014/main" id="{DC4ECBFF-0A0C-08D6-F99B-7E96F41E490E}"/>
              </a:ext>
            </a:extLst>
          </p:cNvPr>
          <p:cNvSpPr txBox="1">
            <a:spLocks/>
          </p:cNvSpPr>
          <p:nvPr/>
        </p:nvSpPr>
        <p:spPr>
          <a:xfrm>
            <a:off x="2553911" y="635913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gency FB" panose="020B0503020202020204" pitchFamily="34" charset="0"/>
              </a:rPr>
              <a:t>BCAC0016: Fundamentals of Internet Programming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="" xmlns:a16="http://schemas.microsoft.com/office/drawing/2014/main" id="{E785851B-4529-7001-4F67-95A78F9A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C2D8FC1D-C33E-6895-D4A9-4CBA52015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="" xmlns:a16="http://schemas.microsoft.com/office/drawing/2014/main" id="{A6FAEB0F-48CD-D7B0-2000-83B8F04CF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000"/>
            <a:ext cx="65" cy="4051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="" xmlns:a16="http://schemas.microsoft.com/office/drawing/2014/main" id="{E3444A0F-F2E6-F8F0-6D3F-0A72AD3BA0B2}"/>
              </a:ext>
            </a:extLst>
          </p:cNvPr>
          <p:cNvCxnSpPr/>
          <p:nvPr/>
        </p:nvCxnSpPr>
        <p:spPr>
          <a:xfrm>
            <a:off x="5962266" y="3763678"/>
            <a:ext cx="218336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3F9697C3-78BD-C8B8-37E8-32ABD23E5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6406" y="2815051"/>
            <a:ext cx="2183363" cy="184127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543229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rgbClr val="EDF7FD"/>
            </a:gs>
            <a:gs pos="83000">
              <a:schemeClr val="accent1">
                <a:lumMod val="20000"/>
                <a:lumOff val="80000"/>
              </a:schemeClr>
            </a:gs>
            <a:gs pos="100000">
              <a:srgbClr val="84CFF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B1B1D72-408C-5101-9290-91A9DFF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8" y="228599"/>
            <a:ext cx="10018713" cy="1752599"/>
          </a:xfrm>
        </p:spPr>
        <p:txBody>
          <a:bodyPr/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Nunito" pitchFamily="2" charset="0"/>
              </a:rPr>
              <a:t>CSS – </a:t>
            </a:r>
            <a:r>
              <a:rPr lang="en-IN" b="1" dirty="0">
                <a:solidFill>
                  <a:srgbClr val="000000"/>
                </a:solidFill>
                <a:latin typeface="Nunito" pitchFamily="2" charset="0"/>
              </a:rPr>
              <a:t>Styling Images (Contd.)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15DC92B-8F57-2BBB-57C9-3D8F4980B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8952" y="1104898"/>
            <a:ext cx="10018713" cy="3124201"/>
          </a:xfrm>
        </p:spPr>
        <p:txBody>
          <a:bodyPr>
            <a:no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To center an image, set left and right margin to auto and make it into a block element:</a:t>
            </a: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C4296A6D-897E-8124-C8E6-23167C6C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6359134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="" xmlns:a16="http://schemas.microsoft.com/office/drawing/2014/main" id="{DC4ECBFF-0A0C-08D6-F99B-7E96F41E490E}"/>
              </a:ext>
            </a:extLst>
          </p:cNvPr>
          <p:cNvSpPr txBox="1">
            <a:spLocks/>
          </p:cNvSpPr>
          <p:nvPr/>
        </p:nvSpPr>
        <p:spPr>
          <a:xfrm>
            <a:off x="2553911" y="635913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gency FB" panose="020B0503020202020204" pitchFamily="34" charset="0"/>
              </a:rPr>
              <a:t>BCAC0016: Fundamentals of Internet Programming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="" xmlns:a16="http://schemas.microsoft.com/office/drawing/2014/main" id="{E785851B-4529-7001-4F67-95A78F9A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C2D8FC1D-C33E-6895-D4A9-4CBA52015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="" xmlns:a16="http://schemas.microsoft.com/office/drawing/2014/main" id="{A6FAEB0F-48CD-D7B0-2000-83B8F04CF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000"/>
            <a:ext cx="65" cy="4051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EF28A831-8DD0-42B4-9209-F3CA94B508C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10472" y="2436846"/>
            <a:ext cx="5842689" cy="378822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D99CE548-1A5B-4C37-0E22-350B6F837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2738" y="2419267"/>
            <a:ext cx="4980922" cy="280782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7A464943-5F3D-4E1F-1FB9-563F0D4B7ACD}"/>
              </a:ext>
            </a:extLst>
          </p:cNvPr>
          <p:cNvSpPr txBox="1"/>
          <p:nvPr/>
        </p:nvSpPr>
        <p:spPr>
          <a:xfrm>
            <a:off x="7917169" y="2026266"/>
            <a:ext cx="2372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OUTPUT:</a:t>
            </a:r>
          </a:p>
        </p:txBody>
      </p:sp>
    </p:spTree>
    <p:extLst>
      <p:ext uri="{BB962C8B-B14F-4D97-AF65-F5344CB8AC3E}">
        <p14:creationId xmlns="" xmlns:p14="http://schemas.microsoft.com/office/powerpoint/2010/main" val="275831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rgbClr val="EDF7FD"/>
            </a:gs>
            <a:gs pos="83000">
              <a:schemeClr val="accent1">
                <a:lumMod val="20000"/>
                <a:lumOff val="80000"/>
              </a:schemeClr>
            </a:gs>
            <a:gs pos="100000">
              <a:srgbClr val="84CFF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B1B1D72-408C-5101-9290-91A9DFF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8" y="228599"/>
            <a:ext cx="10018713" cy="1752599"/>
          </a:xfrm>
        </p:spPr>
        <p:txBody>
          <a:bodyPr/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Nunito" pitchFamily="2" charset="0"/>
              </a:rPr>
              <a:t>CSS – </a:t>
            </a:r>
            <a:r>
              <a:rPr lang="en-IN" b="1" dirty="0">
                <a:solidFill>
                  <a:srgbClr val="000000"/>
                </a:solidFill>
                <a:latin typeface="Nunito" pitchFamily="2" charset="0"/>
              </a:rPr>
              <a:t>Styling Images (Contd.)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15DC92B-8F57-2BBB-57C9-3D8F4980B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266" y="3001667"/>
            <a:ext cx="10018713" cy="3124201"/>
          </a:xfrm>
        </p:spPr>
        <p:txBody>
          <a:bodyPr>
            <a:noAutofit/>
          </a:bodyPr>
          <a:lstStyle/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opacity property can take a value from 0.0 - 1.0. The lower value, the more transparent.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CSS filter property adds visual effects (like blur and saturation) to an element.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The filter property is not supported in Internet Explorer or Edge 12.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Change the color of all images to black and white (100% gray):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b="0" i="0" dirty="0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	</a:t>
            </a:r>
            <a:r>
              <a:rPr lang="en-IN" b="0" i="0" dirty="0" err="1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img</a:t>
            </a:r>
            <a:r>
              <a:rPr lang="en-IN" b="0" i="0" dirty="0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 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{</a:t>
            </a: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  		filter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:</a:t>
            </a:r>
            <a:r>
              <a:rPr lang="en-IN" b="0" i="0" dirty="0">
                <a:solidFill>
                  <a:srgbClr val="0000CD"/>
                </a:solidFill>
                <a:effectLst/>
                <a:latin typeface="Agency FB" panose="020B0503020202020204" pitchFamily="34" charset="0"/>
              </a:rPr>
              <a:t> grayscale(100%)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;</a:t>
            </a: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	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}</a:t>
            </a:r>
            <a:endParaRPr lang="en-US" altLang="en-US" dirty="0">
              <a:latin typeface="Agency FB" panose="020B050302020202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C4296A6D-897E-8124-C8E6-23167C6C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6359134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="" xmlns:a16="http://schemas.microsoft.com/office/drawing/2014/main" id="{DC4ECBFF-0A0C-08D6-F99B-7E96F41E490E}"/>
              </a:ext>
            </a:extLst>
          </p:cNvPr>
          <p:cNvSpPr txBox="1">
            <a:spLocks/>
          </p:cNvSpPr>
          <p:nvPr/>
        </p:nvSpPr>
        <p:spPr>
          <a:xfrm>
            <a:off x="2553911" y="635913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gency FB" panose="020B0503020202020204" pitchFamily="34" charset="0"/>
              </a:rPr>
              <a:t>BCAC0016: Fundamentals of Internet Programming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="" xmlns:a16="http://schemas.microsoft.com/office/drawing/2014/main" id="{E785851B-4529-7001-4F67-95A78F9A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C2D8FC1D-C33E-6895-D4A9-4CBA52015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="" xmlns:a16="http://schemas.microsoft.com/office/drawing/2014/main" id="{A6FAEB0F-48CD-D7B0-2000-83B8F04CF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000"/>
            <a:ext cx="65" cy="4051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770706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rgbClr val="EDF7FD"/>
            </a:gs>
            <a:gs pos="83000">
              <a:schemeClr val="accent1">
                <a:lumMod val="20000"/>
                <a:lumOff val="80000"/>
              </a:schemeClr>
            </a:gs>
            <a:gs pos="100000">
              <a:srgbClr val="84CFF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B1B1D72-408C-5101-9290-91A9DFF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8" y="228599"/>
            <a:ext cx="10018713" cy="1752599"/>
          </a:xfrm>
        </p:spPr>
        <p:txBody>
          <a:bodyPr/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Nunito" pitchFamily="2" charset="0"/>
              </a:rPr>
              <a:t>CSS – </a:t>
            </a:r>
            <a:r>
              <a:rPr lang="en-IN" b="1" dirty="0">
                <a:solidFill>
                  <a:srgbClr val="000000"/>
                </a:solidFill>
                <a:latin typeface="Nunito" pitchFamily="2" charset="0"/>
              </a:rPr>
              <a:t>Styling Images (Contd.)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15DC92B-8F57-2BBB-57C9-3D8F4980B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07" y="1866899"/>
            <a:ext cx="10018713" cy="3124201"/>
          </a:xfrm>
        </p:spPr>
        <p:txBody>
          <a:bodyPr>
            <a:noAutofit/>
          </a:bodyPr>
          <a:lstStyle/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An image can be flipped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using CSS</a:t>
            </a:r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when your mouse is moved over the image using the following code:</a:t>
            </a: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b="0" i="0" dirty="0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	</a:t>
            </a:r>
            <a:r>
              <a:rPr lang="en-IN" b="0" i="0" dirty="0" err="1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img:hover</a:t>
            </a:r>
            <a:r>
              <a:rPr lang="en-IN" b="0" i="0" dirty="0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 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{</a:t>
            </a: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  			transform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:</a:t>
            </a:r>
            <a:r>
              <a:rPr lang="en-IN" b="0" i="0" dirty="0">
                <a:solidFill>
                  <a:srgbClr val="0000CD"/>
                </a:solidFill>
                <a:effectLst/>
                <a:latin typeface="Agency FB" panose="020B0503020202020204" pitchFamily="34" charset="0"/>
              </a:rPr>
              <a:t> </a:t>
            </a:r>
            <a:r>
              <a:rPr lang="en-IN" b="0" i="0" dirty="0" err="1">
                <a:solidFill>
                  <a:srgbClr val="0000CD"/>
                </a:solidFill>
                <a:effectLst/>
                <a:latin typeface="Agency FB" panose="020B0503020202020204" pitchFamily="34" charset="0"/>
              </a:rPr>
              <a:t>scaleX</a:t>
            </a:r>
            <a:r>
              <a:rPr lang="en-IN" b="0" i="0" dirty="0">
                <a:solidFill>
                  <a:srgbClr val="0000CD"/>
                </a:solidFill>
                <a:effectLst/>
                <a:latin typeface="Agency FB" panose="020B0503020202020204" pitchFamily="34" charset="0"/>
              </a:rPr>
              <a:t>(-1)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;</a:t>
            </a: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	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}</a:t>
            </a:r>
            <a:endParaRPr lang="en-US" altLang="en-US" dirty="0">
              <a:latin typeface="Agency FB" panose="020B050302020202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C4296A6D-897E-8124-C8E6-23167C6C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6359134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="" xmlns:a16="http://schemas.microsoft.com/office/drawing/2014/main" id="{DC4ECBFF-0A0C-08D6-F99B-7E96F41E490E}"/>
              </a:ext>
            </a:extLst>
          </p:cNvPr>
          <p:cNvSpPr txBox="1">
            <a:spLocks/>
          </p:cNvSpPr>
          <p:nvPr/>
        </p:nvSpPr>
        <p:spPr>
          <a:xfrm>
            <a:off x="2553911" y="635913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gency FB" panose="020B0503020202020204" pitchFamily="34" charset="0"/>
              </a:rPr>
              <a:t>BCAC0016: Fundamentals of Internet Programming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="" xmlns:a16="http://schemas.microsoft.com/office/drawing/2014/main" id="{E785851B-4529-7001-4F67-95A78F9A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C2D8FC1D-C33E-6895-D4A9-4CBA52015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="" xmlns:a16="http://schemas.microsoft.com/office/drawing/2014/main" id="{A6FAEB0F-48CD-D7B0-2000-83B8F04CF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000"/>
            <a:ext cx="65" cy="4051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380411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1DE783C-0C38-0771-3234-77624C7E8A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70200" y="2399003"/>
            <a:ext cx="6177726" cy="1360197"/>
          </a:xfrm>
        </p:spPr>
        <p:txBody>
          <a:bodyPr>
            <a:normAutofit/>
          </a:bodyPr>
          <a:lstStyle/>
          <a:p>
            <a:r>
              <a:rPr lang="en-IN" sz="5400" b="1" dirty="0"/>
              <a:t>Tables in CSS</a:t>
            </a:r>
          </a:p>
        </p:txBody>
      </p:sp>
      <p:pic>
        <p:nvPicPr>
          <p:cNvPr id="4" name="Picture 2" descr="Gla Logo">
            <a:extLst>
              <a:ext uri="{FF2B5EF4-FFF2-40B4-BE49-F238E27FC236}">
                <a16:creationId xmlns:a16="http://schemas.microsoft.com/office/drawing/2014/main" xmlns="" id="{695904B5-497B-5413-823D-6889F7CC3C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269260" y="1"/>
            <a:ext cx="292274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149810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1B1D72-408C-5101-9290-91A9DFF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69955"/>
            <a:ext cx="10018713" cy="1752599"/>
          </a:xfrm>
        </p:spPr>
        <p:txBody>
          <a:bodyPr/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Nunito" pitchFamily="2" charset="0"/>
              </a:rPr>
              <a:t>CSS Tables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15DC92B-8F57-2BBB-57C9-3D8F4980B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3077547"/>
            <a:ext cx="10018713" cy="312420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look of an HTML table can be greatly improved with CSS.</a:t>
            </a:r>
          </a:p>
          <a:p>
            <a:pPr marL="0" indent="0" algn="just">
              <a:buNone/>
            </a:pPr>
            <a:endParaRPr lang="en-US" sz="600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Table Borders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5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To specify table borders in CSS, use the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border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property.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following example specifies a solid border for &lt;table&gt;, &lt;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&gt;, and &lt;td&gt; elements: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4296A6D-897E-8124-C8E6-23167C6C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6359134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xmlns="" id="{DC4ECBFF-0A0C-08D6-F99B-7E96F41E490E}"/>
              </a:ext>
            </a:extLst>
          </p:cNvPr>
          <p:cNvSpPr txBox="1">
            <a:spLocks/>
          </p:cNvSpPr>
          <p:nvPr/>
        </p:nvSpPr>
        <p:spPr>
          <a:xfrm>
            <a:off x="2553911" y="635913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gency FB" panose="020B0503020202020204" pitchFamily="34" charset="0"/>
              </a:rPr>
              <a:t>BCAC0016: Fundamentals of Internet Programming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xmlns="" id="{E785851B-4529-7001-4F67-95A78F9A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C2D8FC1D-C33E-6895-D4A9-4CBA52015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xmlns="" id="{A6FAEB0F-48CD-D7B0-2000-83B8F04CF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000"/>
            <a:ext cx="65" cy="4051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76433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1B1D72-408C-5101-9290-91A9DFF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6761" y="-204910"/>
            <a:ext cx="10018713" cy="1752599"/>
          </a:xfrm>
        </p:spPr>
        <p:txBody>
          <a:bodyPr/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Nunito" pitchFamily="2" charset="0"/>
              </a:rPr>
              <a:t>CSS Tables (Contd.)</a:t>
            </a:r>
            <a:endParaRPr lang="en-IN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4296A6D-897E-8124-C8E6-23167C6C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6359134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xmlns="" id="{DC4ECBFF-0A0C-08D6-F99B-7E96F41E490E}"/>
              </a:ext>
            </a:extLst>
          </p:cNvPr>
          <p:cNvSpPr txBox="1">
            <a:spLocks/>
          </p:cNvSpPr>
          <p:nvPr/>
        </p:nvSpPr>
        <p:spPr>
          <a:xfrm>
            <a:off x="2553911" y="635913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gency FB" panose="020B0503020202020204" pitchFamily="34" charset="0"/>
              </a:rPr>
              <a:t>BCAC0016: Fundamentals of Internet Programming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xmlns="" id="{E785851B-4529-7001-4F67-95A78F9A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C2D8FC1D-C33E-6895-D4A9-4CBA52015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xmlns="" id="{A6FAEB0F-48CD-D7B0-2000-83B8F04CF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000"/>
            <a:ext cx="65" cy="4051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31B7CC1E-6716-F6EC-7269-1B66AB71799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21535" y="982527"/>
            <a:ext cx="4274464" cy="546181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48EE79F3-7E6B-E950-4504-B410C3983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6418" y="2444395"/>
            <a:ext cx="3651021" cy="196920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52C8BCE4-6335-0B57-2782-A08672862411}"/>
              </a:ext>
            </a:extLst>
          </p:cNvPr>
          <p:cNvSpPr txBox="1"/>
          <p:nvPr/>
        </p:nvSpPr>
        <p:spPr>
          <a:xfrm>
            <a:off x="7931020" y="2075063"/>
            <a:ext cx="2547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xmlns="" val="3020511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1B1D72-408C-5101-9290-91A9DFF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69955"/>
            <a:ext cx="10018713" cy="1752599"/>
          </a:xfrm>
        </p:spPr>
        <p:txBody>
          <a:bodyPr/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Nunito" pitchFamily="2" charset="0"/>
              </a:rPr>
              <a:t>CSS Tables (Contd.)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15DC92B-8F57-2BBB-57C9-3D8F4980B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3077547"/>
            <a:ext cx="10018713" cy="312420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look of an HTML table can be greatly improved with CSS.</a:t>
            </a:r>
          </a:p>
          <a:p>
            <a:pPr marL="0" indent="0" algn="just">
              <a:buNone/>
            </a:pPr>
            <a:endParaRPr lang="en-US" sz="600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Full-Width Table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05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table above might seem small in some cases. If you need a table that should span the entire screen (full-width), add width: 100% to the &lt;table&gt; element: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Example: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b="0" i="0" dirty="0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	table 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{</a:t>
            </a: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  		width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:</a:t>
            </a:r>
            <a:r>
              <a:rPr lang="en-IN" b="0" i="0" dirty="0">
                <a:solidFill>
                  <a:srgbClr val="0000CD"/>
                </a:solidFill>
                <a:effectLst/>
                <a:latin typeface="Agency FB" panose="020B0503020202020204" pitchFamily="34" charset="0"/>
              </a:rPr>
              <a:t> 100%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;</a:t>
            </a: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	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}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gency FB" panose="020B050302020202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4296A6D-897E-8124-C8E6-23167C6C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6359134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xmlns="" id="{DC4ECBFF-0A0C-08D6-F99B-7E96F41E490E}"/>
              </a:ext>
            </a:extLst>
          </p:cNvPr>
          <p:cNvSpPr txBox="1">
            <a:spLocks/>
          </p:cNvSpPr>
          <p:nvPr/>
        </p:nvSpPr>
        <p:spPr>
          <a:xfrm>
            <a:off x="2553911" y="635913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gency FB" panose="020B0503020202020204" pitchFamily="34" charset="0"/>
              </a:rPr>
              <a:t>BCAC0016: Fundamentals of Internet Programming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xmlns="" id="{E785851B-4529-7001-4F67-95A78F9A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C2D8FC1D-C33E-6895-D4A9-4CBA52015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xmlns="" id="{A6FAEB0F-48CD-D7B0-2000-83B8F04CF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000"/>
            <a:ext cx="65" cy="4051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29180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1B1D72-408C-5101-9290-91A9DFF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69955"/>
            <a:ext cx="10018713" cy="1752599"/>
          </a:xfrm>
        </p:spPr>
        <p:txBody>
          <a:bodyPr/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Nunito" pitchFamily="2" charset="0"/>
              </a:rPr>
              <a:t>CSS Tables (Contd.)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15DC92B-8F57-2BBB-57C9-3D8F4980B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3077547"/>
            <a:ext cx="10018713" cy="312420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If you only want a border around the table, only specify the border property for &lt;table&gt;:</a:t>
            </a:r>
            <a:endParaRPr kumimoji="0" lang="en-US" altLang="en-US" sz="105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b="0" i="0" dirty="0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	table 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{</a:t>
            </a: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  		border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:</a:t>
            </a:r>
            <a:r>
              <a:rPr lang="en-IN" b="0" i="0" dirty="0">
                <a:solidFill>
                  <a:srgbClr val="0000CD"/>
                </a:solidFill>
                <a:effectLst/>
                <a:latin typeface="Agency FB" panose="020B0503020202020204" pitchFamily="34" charset="0"/>
              </a:rPr>
              <a:t> 1px solid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;</a:t>
            </a: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	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}</a:t>
            </a:r>
            <a:endParaRPr lang="en-US" b="0" i="0" dirty="0">
              <a:solidFill>
                <a:srgbClr val="000000"/>
              </a:solidFill>
              <a:effectLst/>
              <a:latin typeface="Agency FB" panose="020B050302020202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4296A6D-897E-8124-C8E6-23167C6C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6359134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xmlns="" id="{DC4ECBFF-0A0C-08D6-F99B-7E96F41E490E}"/>
              </a:ext>
            </a:extLst>
          </p:cNvPr>
          <p:cNvSpPr txBox="1">
            <a:spLocks/>
          </p:cNvSpPr>
          <p:nvPr/>
        </p:nvSpPr>
        <p:spPr>
          <a:xfrm>
            <a:off x="2553911" y="635913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gency FB" panose="020B0503020202020204" pitchFamily="34" charset="0"/>
              </a:rPr>
              <a:t>BCAC0016: Fundamentals of Internet Programming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xmlns="" id="{E785851B-4529-7001-4F67-95A78F9A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C2D8FC1D-C33E-6895-D4A9-4CBA52015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xmlns="" id="{A6FAEB0F-48CD-D7B0-2000-83B8F04CF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000"/>
            <a:ext cx="65" cy="4051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91594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1B1D72-408C-5101-9290-91A9DFF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-348497"/>
            <a:ext cx="10018713" cy="1752599"/>
          </a:xfrm>
        </p:spPr>
        <p:txBody>
          <a:bodyPr/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Nunito" pitchFamily="2" charset="0"/>
              </a:rPr>
              <a:t>CSS Tables (Contd.)</a:t>
            </a:r>
            <a:endParaRPr lang="en-IN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4296A6D-897E-8124-C8E6-23167C6C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6359134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xmlns="" id="{DC4ECBFF-0A0C-08D6-F99B-7E96F41E490E}"/>
              </a:ext>
            </a:extLst>
          </p:cNvPr>
          <p:cNvSpPr txBox="1">
            <a:spLocks/>
          </p:cNvSpPr>
          <p:nvPr/>
        </p:nvSpPr>
        <p:spPr>
          <a:xfrm>
            <a:off x="2553911" y="635913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gency FB" panose="020B0503020202020204" pitchFamily="34" charset="0"/>
              </a:rPr>
              <a:t>BCAC0016: Fundamentals of Internet Programming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xmlns="" id="{E785851B-4529-7001-4F67-95A78F9A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C2D8FC1D-C33E-6895-D4A9-4CBA52015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xmlns="" id="{A6FAEB0F-48CD-D7B0-2000-83B8F04CF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000"/>
            <a:ext cx="65" cy="4051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81D22C23-32B6-E416-2E3C-EFF44A9B145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29543" y="814869"/>
            <a:ext cx="6101478" cy="554426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3F14ECB3-DC3D-99ED-CD33-B74EABB29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3342" y="3171677"/>
            <a:ext cx="5867989" cy="100738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A9A8C349-816E-C62A-FBEF-5C886F1A1850}"/>
              </a:ext>
            </a:extLst>
          </p:cNvPr>
          <p:cNvSpPr txBox="1"/>
          <p:nvPr/>
        </p:nvSpPr>
        <p:spPr>
          <a:xfrm>
            <a:off x="7931021" y="2802345"/>
            <a:ext cx="2547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xmlns="" val="4262969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1B1D72-408C-5101-9290-91A9DFF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-208543"/>
            <a:ext cx="10018713" cy="1752599"/>
          </a:xfrm>
        </p:spPr>
        <p:txBody>
          <a:bodyPr/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Nunito" pitchFamily="2" charset="0"/>
              </a:rPr>
              <a:t>CSS Tables (Contd.)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15DC92B-8F57-2BBB-57C9-3D8F4980B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8995" y="3012232"/>
            <a:ext cx="10018713" cy="312420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Table Width and Height</a:t>
            </a:r>
            <a:endParaRPr lang="en-US" sz="2800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5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width and height of a table are defined by the width and height properties.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05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example below sets the width of the table to 100%, and the height of the &lt;</a:t>
            </a:r>
            <a:r>
              <a:rPr lang="en-US" altLang="en-US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elements to 70px: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Example: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b="0" i="0" dirty="0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	</a:t>
            </a:r>
            <a:r>
              <a:rPr lang="en-US" b="0" i="0" dirty="0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table </a:t>
            </a:r>
            <a:r>
              <a:rPr lang="en-US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{</a:t>
            </a:r>
            <a: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  		width</a:t>
            </a:r>
            <a:r>
              <a:rPr lang="en-US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:</a:t>
            </a:r>
            <a:r>
              <a:rPr lang="en-US" b="0" i="0" dirty="0">
                <a:solidFill>
                  <a:srgbClr val="0000CD"/>
                </a:solidFill>
                <a:effectLst/>
                <a:latin typeface="Agency FB" panose="020B0503020202020204" pitchFamily="34" charset="0"/>
              </a:rPr>
              <a:t> 100%</a:t>
            </a:r>
            <a:r>
              <a:rPr lang="en-US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;</a:t>
            </a:r>
            <a: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	</a:t>
            </a:r>
            <a:r>
              <a:rPr lang="en-US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}</a:t>
            </a:r>
            <a:r>
              <a:rPr lang="en-US" dirty="0">
                <a:latin typeface="Agency FB" panose="020B0503020202020204" pitchFamily="34" charset="0"/>
              </a:rPr>
              <a:t/>
            </a:r>
            <a:br>
              <a:rPr lang="en-US" dirty="0">
                <a:latin typeface="Agency FB" panose="020B0503020202020204" pitchFamily="34" charset="0"/>
              </a:rPr>
            </a:br>
            <a:r>
              <a:rPr lang="en-US" dirty="0">
                <a:latin typeface="Agency FB" panose="020B0503020202020204" pitchFamily="34" charset="0"/>
              </a:rPr>
              <a:t/>
            </a:r>
            <a:br>
              <a:rPr lang="en-US" dirty="0">
                <a:latin typeface="Agency FB" panose="020B0503020202020204" pitchFamily="34" charset="0"/>
              </a:rPr>
            </a:br>
            <a:r>
              <a:rPr lang="en-US" dirty="0">
                <a:latin typeface="Agency FB" panose="020B0503020202020204" pitchFamily="34" charset="0"/>
              </a:rPr>
              <a:t>	</a:t>
            </a:r>
            <a:r>
              <a:rPr lang="en-US" b="0" i="0" dirty="0" err="1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th</a:t>
            </a:r>
            <a:r>
              <a:rPr lang="en-US" b="0" i="0" dirty="0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 </a:t>
            </a:r>
            <a:r>
              <a:rPr lang="en-US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{</a:t>
            </a:r>
            <a: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  		height</a:t>
            </a:r>
            <a:r>
              <a:rPr lang="en-US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:</a:t>
            </a:r>
            <a:r>
              <a:rPr lang="en-US" b="0" i="0" dirty="0">
                <a:solidFill>
                  <a:srgbClr val="0000CD"/>
                </a:solidFill>
                <a:effectLst/>
                <a:latin typeface="Agency FB" panose="020B0503020202020204" pitchFamily="34" charset="0"/>
              </a:rPr>
              <a:t> 70px</a:t>
            </a:r>
            <a:r>
              <a:rPr lang="en-US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;</a:t>
            </a:r>
            <a: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	</a:t>
            </a:r>
            <a:r>
              <a:rPr lang="en-US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}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gency FB" panose="020B050302020202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4296A6D-897E-8124-C8E6-23167C6C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6359134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xmlns="" id="{DC4ECBFF-0A0C-08D6-F99B-7E96F41E490E}"/>
              </a:ext>
            </a:extLst>
          </p:cNvPr>
          <p:cNvSpPr txBox="1">
            <a:spLocks/>
          </p:cNvSpPr>
          <p:nvPr/>
        </p:nvSpPr>
        <p:spPr>
          <a:xfrm>
            <a:off x="2553911" y="635913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gency FB" panose="020B0503020202020204" pitchFamily="34" charset="0"/>
              </a:rPr>
              <a:t>BCAC0016: Fundamentals of Internet Programming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xmlns="" id="{E785851B-4529-7001-4F67-95A78F9A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C2D8FC1D-C33E-6895-D4A9-4CBA52015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xmlns="" id="{A6FAEB0F-48CD-D7B0-2000-83B8F04CF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000"/>
            <a:ext cx="65" cy="4051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36594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1B1D72-408C-5101-9290-91A9DFF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-208543"/>
            <a:ext cx="10018713" cy="1752599"/>
          </a:xfrm>
        </p:spPr>
        <p:txBody>
          <a:bodyPr/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Nunito" pitchFamily="2" charset="0"/>
              </a:rPr>
              <a:t>CSS Tables (Contd.)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15DC92B-8F57-2BBB-57C9-3D8F4980B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3681" y="3021563"/>
            <a:ext cx="10018713" cy="312420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en-US" sz="600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Horizontal Alignment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05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text-align property sets the horizontal alignment (like left, right, or center) of the content in &lt;</a:t>
            </a:r>
            <a:r>
              <a:rPr lang="en-US" altLang="en-US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or &lt;td&gt;.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1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By default, the content of &lt;</a:t>
            </a:r>
            <a:r>
              <a:rPr lang="en-US" altLang="en-US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elements are center-aligned and the content of &lt;td&gt; elements are left-aligned.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1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center-align the content of  &lt;td&gt; elements as well, text-align: center: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b="0" i="0" dirty="0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	</a:t>
            </a:r>
            <a:r>
              <a:rPr lang="en-US" b="0" i="0" dirty="0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td </a:t>
            </a:r>
            <a:r>
              <a:rPr lang="en-US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{</a:t>
            </a:r>
            <a: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  		</a:t>
            </a:r>
            <a:r>
              <a:rPr lang="en-US" dirty="0">
                <a:solidFill>
                  <a:srgbClr val="FF0000"/>
                </a:solidFill>
                <a:latin typeface="Agency FB" panose="020B0503020202020204" pitchFamily="34" charset="0"/>
              </a:rPr>
              <a:t>text-align: </a:t>
            </a:r>
            <a:r>
              <a:rPr lang="en-US" dirty="0">
                <a:solidFill>
                  <a:srgbClr val="0000FF"/>
                </a:solidFill>
                <a:latin typeface="Agency FB" panose="020B0503020202020204" pitchFamily="34" charset="0"/>
              </a:rPr>
              <a:t>center</a:t>
            </a:r>
            <a:r>
              <a:rPr lang="en-US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;</a:t>
            </a:r>
            <a: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	</a:t>
            </a:r>
            <a:r>
              <a:rPr lang="en-US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}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gency FB" panose="020B050302020202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4296A6D-897E-8124-C8E6-23167C6C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6359134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xmlns="" id="{DC4ECBFF-0A0C-08D6-F99B-7E96F41E490E}"/>
              </a:ext>
            </a:extLst>
          </p:cNvPr>
          <p:cNvSpPr txBox="1">
            <a:spLocks/>
          </p:cNvSpPr>
          <p:nvPr/>
        </p:nvSpPr>
        <p:spPr>
          <a:xfrm>
            <a:off x="2553911" y="635913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gency FB" panose="020B0503020202020204" pitchFamily="34" charset="0"/>
              </a:rPr>
              <a:t>BCAC0016: Fundamentals of Internet Programming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xmlns="" id="{E785851B-4529-7001-4F67-95A78F9A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C2D8FC1D-C33E-6895-D4A9-4CBA52015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xmlns="" id="{A6FAEB0F-48CD-D7B0-2000-83B8F04CF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000"/>
            <a:ext cx="65" cy="4051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50520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1B1D72-408C-5101-9290-91A9DFF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-208543"/>
            <a:ext cx="10018713" cy="1752599"/>
          </a:xfrm>
        </p:spPr>
        <p:txBody>
          <a:bodyPr/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Nunito" pitchFamily="2" charset="0"/>
              </a:rPr>
              <a:t>CSS Tables (Contd.)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15DC92B-8F57-2BBB-57C9-3D8F4980B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3681" y="3021563"/>
            <a:ext cx="10018713" cy="312420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en-US" sz="600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Vertical Alignment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05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vertical-align property sets the vertical alignment (like top, bottom, or middle) of the content in &lt;</a:t>
            </a:r>
            <a:r>
              <a:rPr lang="en-US" altLang="en-US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or &lt;td&gt;.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1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By default, the vertical alignment of the content in a table is middle (for both &lt;</a:t>
            </a:r>
            <a:r>
              <a:rPr lang="en-US" altLang="en-US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and &lt;td&gt; elements).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5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following example sets the vertical text alignment to bottom for &lt;td&gt; elements:</a:t>
            </a:r>
            <a:r>
              <a:rPr lang="en-IN" b="0" i="0" dirty="0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	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dirty="0">
                <a:solidFill>
                  <a:srgbClr val="A52A2A"/>
                </a:solidFill>
                <a:latin typeface="Agency FB" panose="020B0503020202020204" pitchFamily="34" charset="0"/>
              </a:rPr>
              <a:t>	</a:t>
            </a:r>
            <a:r>
              <a:rPr lang="en-US" b="0" i="0" dirty="0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td </a:t>
            </a:r>
            <a:r>
              <a:rPr lang="en-US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{</a:t>
            </a:r>
            <a: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  		height: </a:t>
            </a:r>
            <a:r>
              <a:rPr lang="en-US" b="0" i="0" dirty="0">
                <a:solidFill>
                  <a:srgbClr val="0000FF"/>
                </a:solidFill>
                <a:effectLst/>
                <a:latin typeface="Agency FB" panose="020B0503020202020204" pitchFamily="34" charset="0"/>
              </a:rPr>
              <a:t>50px;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FF0000"/>
                </a:solidFill>
                <a:latin typeface="Agency FB" panose="020B0503020202020204" pitchFamily="34" charset="0"/>
              </a:rPr>
              <a:t>		text-align: </a:t>
            </a:r>
            <a:r>
              <a:rPr lang="en-US" dirty="0">
                <a:solidFill>
                  <a:srgbClr val="0000FF"/>
                </a:solidFill>
                <a:latin typeface="Agency FB" panose="020B0503020202020204" pitchFamily="34" charset="0"/>
              </a:rPr>
              <a:t>center</a:t>
            </a:r>
            <a:r>
              <a:rPr lang="en-US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;</a:t>
            </a:r>
            <a: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	</a:t>
            </a:r>
            <a:r>
              <a:rPr lang="en-US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}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gency FB" panose="020B050302020202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4296A6D-897E-8124-C8E6-23167C6C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6359134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xmlns="" id="{DC4ECBFF-0A0C-08D6-F99B-7E96F41E490E}"/>
              </a:ext>
            </a:extLst>
          </p:cNvPr>
          <p:cNvSpPr txBox="1">
            <a:spLocks/>
          </p:cNvSpPr>
          <p:nvPr/>
        </p:nvSpPr>
        <p:spPr>
          <a:xfrm>
            <a:off x="2553911" y="635913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gency FB" panose="020B0503020202020204" pitchFamily="34" charset="0"/>
              </a:rPr>
              <a:t>BCAC0016: Fundamentals of Internet Programming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xmlns="" id="{E785851B-4529-7001-4F67-95A78F9A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C2D8FC1D-C33E-6895-D4A9-4CBA52015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xmlns="" id="{A6FAEB0F-48CD-D7B0-2000-83B8F04CF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000"/>
            <a:ext cx="65" cy="4051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28962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1B1D72-408C-5101-9290-91A9DFF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-208543"/>
            <a:ext cx="10018713" cy="1752599"/>
          </a:xfrm>
        </p:spPr>
        <p:txBody>
          <a:bodyPr/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Nunito" pitchFamily="2" charset="0"/>
              </a:rPr>
              <a:t>CSS Tables (Contd.)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15DC92B-8F57-2BBB-57C9-3D8F4980B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3681" y="3021563"/>
            <a:ext cx="10018713" cy="312420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en-US" sz="600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Table Padding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05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control the space between the border and the content in a table, use the padding property on &lt;td&gt; and &lt;</a:t>
            </a:r>
            <a:r>
              <a:rPr lang="en-US" altLang="en-US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elements: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1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IN" dirty="0">
              <a:solidFill>
                <a:srgbClr val="A52A2A"/>
              </a:solidFill>
              <a:latin typeface="Agency FB" panose="020B0503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dirty="0">
                <a:solidFill>
                  <a:srgbClr val="A52A2A"/>
                </a:solidFill>
                <a:latin typeface="Agency FB" panose="020B0503020202020204" pitchFamily="34" charset="0"/>
              </a:rPr>
              <a:t>	</a:t>
            </a:r>
            <a:r>
              <a:rPr lang="en-IN" dirty="0" err="1">
                <a:solidFill>
                  <a:srgbClr val="A52A2A"/>
                </a:solidFill>
                <a:latin typeface="Agency FB" panose="020B0503020202020204" pitchFamily="34" charset="0"/>
              </a:rPr>
              <a:t>th</a:t>
            </a:r>
            <a:r>
              <a:rPr lang="en-IN" dirty="0">
                <a:solidFill>
                  <a:srgbClr val="A52A2A"/>
                </a:solidFill>
                <a:latin typeface="Agency FB" panose="020B0503020202020204" pitchFamily="34" charset="0"/>
              </a:rPr>
              <a:t>, </a:t>
            </a:r>
            <a:r>
              <a:rPr lang="en-US" b="0" i="0" dirty="0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td </a:t>
            </a:r>
            <a:r>
              <a:rPr lang="en-US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{</a:t>
            </a:r>
            <a: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  		</a:t>
            </a:r>
            <a:r>
              <a:rPr lang="en-US" dirty="0">
                <a:solidFill>
                  <a:srgbClr val="FF0000"/>
                </a:solidFill>
                <a:latin typeface="Agency FB" panose="020B0503020202020204" pitchFamily="34" charset="0"/>
              </a:rPr>
              <a:t>padding</a:t>
            </a:r>
            <a: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: </a:t>
            </a:r>
            <a:r>
              <a:rPr lang="en-US" b="0" i="0" dirty="0">
                <a:solidFill>
                  <a:srgbClr val="0000FF"/>
                </a:solidFill>
                <a:effectLst/>
                <a:latin typeface="Agency FB" panose="020B0503020202020204" pitchFamily="34" charset="0"/>
              </a:rPr>
              <a:t>15px;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FF0000"/>
                </a:solidFill>
                <a:latin typeface="Agency FB" panose="020B0503020202020204" pitchFamily="34" charset="0"/>
              </a:rPr>
              <a:t>		text-align: </a:t>
            </a:r>
            <a:r>
              <a:rPr lang="en-US" dirty="0">
                <a:solidFill>
                  <a:srgbClr val="0000FF"/>
                </a:solidFill>
                <a:latin typeface="Agency FB" panose="020B0503020202020204" pitchFamily="34" charset="0"/>
              </a:rPr>
              <a:t>left</a:t>
            </a:r>
            <a:r>
              <a:rPr lang="en-US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;</a:t>
            </a:r>
            <a: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	</a:t>
            </a:r>
            <a:r>
              <a:rPr lang="en-US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}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gency FB" panose="020B050302020202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4296A6D-897E-8124-C8E6-23167C6C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6359134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xmlns="" id="{DC4ECBFF-0A0C-08D6-F99B-7E96F41E490E}"/>
              </a:ext>
            </a:extLst>
          </p:cNvPr>
          <p:cNvSpPr txBox="1">
            <a:spLocks/>
          </p:cNvSpPr>
          <p:nvPr/>
        </p:nvSpPr>
        <p:spPr>
          <a:xfrm>
            <a:off x="2553911" y="635913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gency FB" panose="020B0503020202020204" pitchFamily="34" charset="0"/>
              </a:rPr>
              <a:t>BCAC0016: Fundamentals of Internet Programming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xmlns="" id="{E785851B-4529-7001-4F67-95A78F9A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C2D8FC1D-C33E-6895-D4A9-4CBA52015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xmlns="" id="{A6FAEB0F-48CD-D7B0-2000-83B8F04CF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000"/>
            <a:ext cx="65" cy="4051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06998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1B1D72-408C-5101-9290-91A9DFF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-208543"/>
            <a:ext cx="10018713" cy="1752599"/>
          </a:xfrm>
        </p:spPr>
        <p:txBody>
          <a:bodyPr/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Nunito" pitchFamily="2" charset="0"/>
              </a:rPr>
              <a:t>CSS Tables (Contd.)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15DC92B-8F57-2BBB-57C9-3D8F4980B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09" y="1239416"/>
            <a:ext cx="10018713" cy="312420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en-US" sz="600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Hori</a:t>
            </a:r>
            <a:r>
              <a:rPr lang="en-US" altLang="en-US" sz="2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zontal Dividers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05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Add the border-bottom property to &lt;</a:t>
            </a:r>
            <a:r>
              <a:rPr lang="en-US" altLang="en-US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and &lt;td&gt; for horizontal dividers: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1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IN" dirty="0">
              <a:solidFill>
                <a:srgbClr val="A52A2A"/>
              </a:solidFill>
              <a:latin typeface="Agency FB" panose="020B050302020202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4296A6D-897E-8124-C8E6-23167C6C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6359134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xmlns="" id="{DC4ECBFF-0A0C-08D6-F99B-7E96F41E490E}"/>
              </a:ext>
            </a:extLst>
          </p:cNvPr>
          <p:cNvSpPr txBox="1">
            <a:spLocks/>
          </p:cNvSpPr>
          <p:nvPr/>
        </p:nvSpPr>
        <p:spPr>
          <a:xfrm>
            <a:off x="2553911" y="635913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gency FB" panose="020B0503020202020204" pitchFamily="34" charset="0"/>
              </a:rPr>
              <a:t>BCAC0016: Fundamentals of Internet Programming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xmlns="" id="{E785851B-4529-7001-4F67-95A78F9A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C2D8FC1D-C33E-6895-D4A9-4CBA52015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xmlns="" id="{A6FAEB0F-48CD-D7B0-2000-83B8F04CF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000"/>
            <a:ext cx="65" cy="4051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D973BC4F-51CF-BCB1-B8E1-5649EFCE393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11079" y="2354267"/>
            <a:ext cx="4582070" cy="237061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5781F522-1D8D-9712-9470-92061D4EB55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39951" y="2076474"/>
            <a:ext cx="7452049" cy="4352752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xmlns="" id="{49AB775C-5B5C-BE79-0FB3-87D72AEDCDA0}"/>
              </a:ext>
            </a:extLst>
          </p:cNvPr>
          <p:cNvCxnSpPr>
            <a:cxnSpLocks/>
          </p:cNvCxnSpPr>
          <p:nvPr/>
        </p:nvCxnSpPr>
        <p:spPr>
          <a:xfrm>
            <a:off x="5505058" y="3144416"/>
            <a:ext cx="27991" cy="202474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876681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1B1D72-408C-5101-9290-91A9DFF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-208543"/>
            <a:ext cx="10018713" cy="1752599"/>
          </a:xfrm>
        </p:spPr>
        <p:txBody>
          <a:bodyPr/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Nunito" pitchFamily="2" charset="0"/>
              </a:rPr>
              <a:t>CSS Tables (Contd.)</a:t>
            </a:r>
            <a:endParaRPr lang="en-IN" b="1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xmlns="" id="{A987EA0B-F660-A135-36FD-93A6958022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1996" y="1998402"/>
            <a:ext cx="8509860" cy="2545606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4296A6D-897E-8124-C8E6-23167C6C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6359134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xmlns="" id="{DC4ECBFF-0A0C-08D6-F99B-7E96F41E490E}"/>
              </a:ext>
            </a:extLst>
          </p:cNvPr>
          <p:cNvSpPr txBox="1">
            <a:spLocks/>
          </p:cNvSpPr>
          <p:nvPr/>
        </p:nvSpPr>
        <p:spPr>
          <a:xfrm>
            <a:off x="2553911" y="635913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gency FB" panose="020B0503020202020204" pitchFamily="34" charset="0"/>
              </a:rPr>
              <a:t>BCAC0016: Fundamentals of Internet Programming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xmlns="" id="{E785851B-4529-7001-4F67-95A78F9A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C2D8FC1D-C33E-6895-D4A9-4CBA52015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xmlns="" id="{A6FAEB0F-48CD-D7B0-2000-83B8F04CF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000"/>
            <a:ext cx="65" cy="4051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0E1154E0-36F6-D28A-7C27-BD724DBAB1B7}"/>
              </a:ext>
            </a:extLst>
          </p:cNvPr>
          <p:cNvSpPr txBox="1"/>
          <p:nvPr/>
        </p:nvSpPr>
        <p:spPr>
          <a:xfrm>
            <a:off x="5423297" y="1586563"/>
            <a:ext cx="2547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xmlns="" val="138100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1B1D72-408C-5101-9290-91A9DFF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-208543"/>
            <a:ext cx="10018713" cy="1752599"/>
          </a:xfrm>
        </p:spPr>
        <p:txBody>
          <a:bodyPr/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Nunito" pitchFamily="2" charset="0"/>
              </a:rPr>
              <a:t>CSS Tables (Contd.)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15DC92B-8F57-2BBB-57C9-3D8F4980B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3681" y="3021563"/>
            <a:ext cx="10018713" cy="312420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en-US" sz="600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8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Hoverable</a:t>
            </a:r>
            <a:r>
              <a:rPr lang="en-US" altLang="en-US" sz="2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Table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05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 the :hover selector on &lt;tr&gt; to highlight table rows on mouse over: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1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IN" dirty="0">
              <a:solidFill>
                <a:srgbClr val="A52A2A"/>
              </a:solidFill>
              <a:latin typeface="Agency FB" panose="020B0503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dirty="0">
                <a:solidFill>
                  <a:srgbClr val="A52A2A"/>
                </a:solidFill>
                <a:latin typeface="Agency FB" panose="020B0503020202020204" pitchFamily="34" charset="0"/>
              </a:rPr>
              <a:t>	</a:t>
            </a:r>
            <a:r>
              <a:rPr lang="en-IN" dirty="0" err="1">
                <a:solidFill>
                  <a:srgbClr val="A52A2A"/>
                </a:solidFill>
                <a:latin typeface="Agency FB" panose="020B0503020202020204" pitchFamily="34" charset="0"/>
              </a:rPr>
              <a:t>tr:hover</a:t>
            </a:r>
            <a:r>
              <a:rPr lang="en-US" b="0" i="0" dirty="0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 </a:t>
            </a:r>
            <a:r>
              <a:rPr lang="en-US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{</a:t>
            </a:r>
            <a: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  		background-color: </a:t>
            </a:r>
            <a:r>
              <a:rPr lang="en-US" b="0" i="0" dirty="0">
                <a:solidFill>
                  <a:srgbClr val="0000FF"/>
                </a:solidFill>
                <a:effectLst/>
                <a:latin typeface="Agency FB" panose="020B0503020202020204" pitchFamily="34" charset="0"/>
              </a:rPr>
              <a:t>coral;</a:t>
            </a:r>
            <a: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	</a:t>
            </a:r>
            <a:r>
              <a:rPr lang="en-US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}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gency FB" panose="020B050302020202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4296A6D-897E-8124-C8E6-23167C6C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6359134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xmlns="" id="{DC4ECBFF-0A0C-08D6-F99B-7E96F41E490E}"/>
              </a:ext>
            </a:extLst>
          </p:cNvPr>
          <p:cNvSpPr txBox="1">
            <a:spLocks/>
          </p:cNvSpPr>
          <p:nvPr/>
        </p:nvSpPr>
        <p:spPr>
          <a:xfrm>
            <a:off x="2553911" y="635913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gency FB" panose="020B0503020202020204" pitchFamily="34" charset="0"/>
              </a:rPr>
              <a:t>BCAC0016: Fundamentals of Internet Programming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xmlns="" id="{E785851B-4529-7001-4F67-95A78F9A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C2D8FC1D-C33E-6895-D4A9-4CBA52015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xmlns="" id="{A6FAEB0F-48CD-D7B0-2000-83B8F04CF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000"/>
            <a:ext cx="65" cy="4051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02665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1DE783C-0C38-0771-3234-77624C7E8A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289" y="1573503"/>
            <a:ext cx="8367937" cy="2616199"/>
          </a:xfrm>
        </p:spPr>
        <p:txBody>
          <a:bodyPr>
            <a:normAutofit/>
          </a:bodyPr>
          <a:lstStyle/>
          <a:p>
            <a:r>
              <a:rPr lang="en-IN" sz="5400" b="1" dirty="0"/>
              <a:t>Lists in CSS</a:t>
            </a:r>
          </a:p>
        </p:txBody>
      </p:sp>
      <p:pic>
        <p:nvPicPr>
          <p:cNvPr id="4" name="Picture 2" descr="Gla Logo">
            <a:extLst>
              <a:ext uri="{FF2B5EF4-FFF2-40B4-BE49-F238E27FC236}">
                <a16:creationId xmlns:a16="http://schemas.microsoft.com/office/drawing/2014/main" xmlns="" id="{695904B5-497B-5413-823D-6889F7CC3C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269260" y="1"/>
            <a:ext cx="292274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149810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1B1D72-408C-5101-9290-91A9DFF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33740"/>
            <a:ext cx="10018713" cy="1752599"/>
          </a:xfrm>
        </p:spPr>
        <p:txBody>
          <a:bodyPr/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Nunito" pitchFamily="2" charset="0"/>
              </a:rPr>
              <a:t>Outline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15DC92B-8F57-2BBB-57C9-3D8F4980B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228461"/>
            <a:ext cx="10018713" cy="3124201"/>
          </a:xfrm>
        </p:spPr>
        <p:txBody>
          <a:bodyPr>
            <a:noAutofit/>
          </a:bodyPr>
          <a:lstStyle/>
          <a:p>
            <a:pPr algn="just"/>
            <a:r>
              <a:rPr lang="en-IN" sz="32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CSS Lists</a:t>
            </a:r>
          </a:p>
          <a:p>
            <a:pPr marL="1073150" indent="-271463" algn="just">
              <a:buSzPct val="100000"/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Unordered Lists</a:t>
            </a:r>
          </a:p>
          <a:p>
            <a:pPr marL="1073150" indent="-271463" algn="just">
              <a:buSzPct val="100000"/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Ordered Lists</a:t>
            </a:r>
            <a:endParaRPr lang="en-IN" sz="2800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b="0" i="0" dirty="0">
              <a:solidFill>
                <a:srgbClr val="000000"/>
              </a:solidFill>
              <a:effectLst/>
              <a:latin typeface="Agency FB" panose="020B050302020202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4296A6D-897E-8124-C8E6-23167C6C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6359134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xmlns="" id="{DC4ECBFF-0A0C-08D6-F99B-7E96F41E490E}"/>
              </a:ext>
            </a:extLst>
          </p:cNvPr>
          <p:cNvSpPr txBox="1">
            <a:spLocks/>
          </p:cNvSpPr>
          <p:nvPr/>
        </p:nvSpPr>
        <p:spPr>
          <a:xfrm>
            <a:off x="2553911" y="635913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gency FB" panose="020B0503020202020204" pitchFamily="34" charset="0"/>
              </a:rPr>
              <a:t>BCAC0016: Fundamentals of Internet Programming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xmlns="" id="{E785851B-4529-7001-4F67-95A78F9A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C2D8FC1D-C33E-6895-D4A9-4CBA52015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89920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1B1D72-408C-5101-9290-91A9DFF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33740"/>
            <a:ext cx="10018713" cy="1752599"/>
          </a:xfrm>
        </p:spPr>
        <p:txBody>
          <a:bodyPr/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Nunito" pitchFamily="2" charset="0"/>
              </a:rPr>
              <a:t>CSS </a:t>
            </a:r>
            <a:r>
              <a:rPr lang="en-IN" b="1" dirty="0">
                <a:solidFill>
                  <a:srgbClr val="000000"/>
                </a:solidFill>
                <a:latin typeface="Nunito" pitchFamily="2" charset="0"/>
              </a:rPr>
              <a:t>Lists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15DC92B-8F57-2BBB-57C9-3D8F4980B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228461"/>
            <a:ext cx="10018713" cy="312420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CSS list properties allow you to:</a:t>
            </a:r>
          </a:p>
          <a:p>
            <a:pPr algn="just"/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Set different list item markers for ordered lists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Set different list item markers for unordered lists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Set an image as the list item marker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Add background colors to lists and list items</a:t>
            </a:r>
            <a:endParaRPr lang="en-US" b="0" i="0" dirty="0">
              <a:solidFill>
                <a:srgbClr val="000000"/>
              </a:solidFill>
              <a:effectLst/>
              <a:latin typeface="Agency FB" panose="020B050302020202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4296A6D-897E-8124-C8E6-23167C6C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6359134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xmlns="" id="{DC4ECBFF-0A0C-08D6-F99B-7E96F41E490E}"/>
              </a:ext>
            </a:extLst>
          </p:cNvPr>
          <p:cNvSpPr txBox="1">
            <a:spLocks/>
          </p:cNvSpPr>
          <p:nvPr/>
        </p:nvSpPr>
        <p:spPr>
          <a:xfrm>
            <a:off x="2553911" y="635913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gency FB" panose="020B0503020202020204" pitchFamily="34" charset="0"/>
              </a:rPr>
              <a:t>BCAC0016: Fundamentals of Internet Programming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xmlns="" id="{E785851B-4529-7001-4F67-95A78F9A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C2D8FC1D-C33E-6895-D4A9-4CBA52015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76433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1B1D72-408C-5101-9290-91A9DFF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-111276"/>
            <a:ext cx="10018713" cy="1752599"/>
          </a:xfrm>
        </p:spPr>
        <p:txBody>
          <a:bodyPr/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Nunito" pitchFamily="2" charset="0"/>
              </a:rPr>
              <a:t>CSS </a:t>
            </a:r>
            <a:r>
              <a:rPr lang="en-IN" b="1" dirty="0">
                <a:solidFill>
                  <a:srgbClr val="000000"/>
                </a:solidFill>
                <a:latin typeface="Nunito" pitchFamily="2" charset="0"/>
              </a:rPr>
              <a:t>Lists (Contd.)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15DC92B-8F57-2BBB-57C9-3D8F4980B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228461"/>
            <a:ext cx="10018713" cy="3124201"/>
          </a:xfrm>
        </p:spPr>
        <p:txBody>
          <a:bodyPr>
            <a:noAutofit/>
          </a:bodyPr>
          <a:lstStyle/>
          <a:p>
            <a:pPr algn="l"/>
            <a:r>
              <a:rPr lang="en-IN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Different List Item Markers:</a:t>
            </a:r>
          </a:p>
          <a:p>
            <a:pPr marL="0" indent="0" algn="l">
              <a:buNone/>
            </a:pPr>
            <a:r>
              <a:rPr lang="en-IN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list-style-type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property specifies the type of list item marker.</a:t>
            </a:r>
          </a:p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following example shows some of the available list item markers:</a:t>
            </a:r>
          </a:p>
          <a:p>
            <a:pPr marL="0" indent="0" algn="l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buNone/>
            </a:pPr>
            <a:r>
              <a:rPr lang="en-IN" b="0" i="0" dirty="0" err="1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ul.a</a:t>
            </a:r>
            <a:r>
              <a:rPr lang="en-IN" b="0" i="0" dirty="0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 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{</a:t>
            </a: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  list-style-type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:</a:t>
            </a:r>
            <a:r>
              <a:rPr lang="en-IN" b="0" i="0" dirty="0">
                <a:solidFill>
                  <a:srgbClr val="0000CD"/>
                </a:solidFill>
                <a:effectLst/>
                <a:latin typeface="Agency FB" panose="020B0503020202020204" pitchFamily="34" charset="0"/>
              </a:rPr>
              <a:t> circle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;</a:t>
            </a: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}</a:t>
            </a:r>
            <a:r>
              <a:rPr lang="en-IN" dirty="0">
                <a:latin typeface="Agency FB" panose="020B0503020202020204" pitchFamily="34" charset="0"/>
              </a:rPr>
              <a:t/>
            </a:r>
            <a:br>
              <a:rPr lang="en-IN" dirty="0">
                <a:latin typeface="Agency FB" panose="020B0503020202020204" pitchFamily="34" charset="0"/>
              </a:rPr>
            </a:br>
            <a:r>
              <a:rPr lang="en-IN" dirty="0">
                <a:latin typeface="Agency FB" panose="020B0503020202020204" pitchFamily="34" charset="0"/>
              </a:rPr>
              <a:t/>
            </a:r>
            <a:br>
              <a:rPr lang="en-IN" dirty="0">
                <a:latin typeface="Agency FB" panose="020B0503020202020204" pitchFamily="34" charset="0"/>
              </a:rPr>
            </a:br>
            <a:r>
              <a:rPr lang="en-IN" b="0" i="0" dirty="0" err="1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ul.b</a:t>
            </a:r>
            <a:r>
              <a:rPr lang="en-IN" b="0" i="0" dirty="0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 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{</a:t>
            </a: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  list-style-type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:</a:t>
            </a:r>
            <a:r>
              <a:rPr lang="en-IN" b="0" i="0" dirty="0">
                <a:solidFill>
                  <a:srgbClr val="0000CD"/>
                </a:solidFill>
                <a:effectLst/>
                <a:latin typeface="Agency FB" panose="020B0503020202020204" pitchFamily="34" charset="0"/>
              </a:rPr>
              <a:t> square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;</a:t>
            </a: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}</a:t>
            </a:r>
            <a:r>
              <a:rPr lang="en-IN" dirty="0">
                <a:latin typeface="Agency FB" panose="020B0503020202020204" pitchFamily="34" charset="0"/>
              </a:rPr>
              <a:t/>
            </a:r>
            <a:br>
              <a:rPr lang="en-IN" dirty="0">
                <a:latin typeface="Agency FB" panose="020B0503020202020204" pitchFamily="34" charset="0"/>
              </a:rPr>
            </a:br>
            <a:endParaRPr lang="en-IN" b="0" i="0" dirty="0">
              <a:solidFill>
                <a:srgbClr val="000000"/>
              </a:solidFill>
              <a:effectLst/>
              <a:latin typeface="Agency FB" panose="020B050302020202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4296A6D-897E-8124-C8E6-23167C6C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6359134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xmlns="" id="{DC4ECBFF-0A0C-08D6-F99B-7E96F41E490E}"/>
              </a:ext>
            </a:extLst>
          </p:cNvPr>
          <p:cNvSpPr txBox="1">
            <a:spLocks/>
          </p:cNvSpPr>
          <p:nvPr/>
        </p:nvSpPr>
        <p:spPr>
          <a:xfrm>
            <a:off x="2553911" y="635913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gency FB" panose="020B0503020202020204" pitchFamily="34" charset="0"/>
              </a:rPr>
              <a:t>BCAC0016: Fundamentals of Internet Programming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xmlns="" id="{E785851B-4529-7001-4F67-95A78F9A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C2D8FC1D-C33E-6895-D4A9-4CBA52015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0A920EF-7B90-C089-8151-0351A5E05052}"/>
              </a:ext>
            </a:extLst>
          </p:cNvPr>
          <p:cNvSpPr txBox="1"/>
          <p:nvPr/>
        </p:nvSpPr>
        <p:spPr>
          <a:xfrm>
            <a:off x="6885992" y="2892812"/>
            <a:ext cx="374705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Agency FB" panose="020B0503020202020204" pitchFamily="34" charset="0"/>
              </a:rPr>
              <a:t/>
            </a:r>
            <a:br>
              <a:rPr lang="en-IN" sz="2400" dirty="0">
                <a:latin typeface="Agency FB" panose="020B0503020202020204" pitchFamily="34" charset="0"/>
              </a:rPr>
            </a:br>
            <a:r>
              <a:rPr lang="en-IN" sz="2400" b="0" i="0" dirty="0" err="1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ol.c</a:t>
            </a:r>
            <a:r>
              <a:rPr lang="en-IN" sz="2400" b="0" i="0" dirty="0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 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{</a:t>
            </a:r>
            <a:r>
              <a:rPr lang="en-IN" sz="2400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sz="2400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sz="2400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  list-style-type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:</a:t>
            </a:r>
            <a:r>
              <a:rPr lang="en-IN" sz="2400" b="0" i="0" dirty="0">
                <a:solidFill>
                  <a:srgbClr val="0000CD"/>
                </a:solidFill>
                <a:effectLst/>
                <a:latin typeface="Agency FB" panose="020B0503020202020204" pitchFamily="34" charset="0"/>
              </a:rPr>
              <a:t> upper-roman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;</a:t>
            </a:r>
            <a:r>
              <a:rPr lang="en-IN" sz="2400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sz="2400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sz="2400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}</a:t>
            </a:r>
            <a:r>
              <a:rPr lang="en-IN" sz="2400" dirty="0">
                <a:latin typeface="Agency FB" panose="020B0503020202020204" pitchFamily="34" charset="0"/>
              </a:rPr>
              <a:t/>
            </a:r>
            <a:br>
              <a:rPr lang="en-IN" sz="2400" dirty="0">
                <a:latin typeface="Agency FB" panose="020B0503020202020204" pitchFamily="34" charset="0"/>
              </a:rPr>
            </a:br>
            <a:r>
              <a:rPr lang="en-IN" sz="2400" dirty="0">
                <a:latin typeface="Agency FB" panose="020B0503020202020204" pitchFamily="34" charset="0"/>
              </a:rPr>
              <a:t/>
            </a:r>
            <a:br>
              <a:rPr lang="en-IN" sz="2400" dirty="0">
                <a:latin typeface="Agency FB" panose="020B0503020202020204" pitchFamily="34" charset="0"/>
              </a:rPr>
            </a:br>
            <a:r>
              <a:rPr lang="en-IN" sz="2400" b="0" i="0" dirty="0" err="1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ol.d</a:t>
            </a:r>
            <a:r>
              <a:rPr lang="en-IN" sz="2400" b="0" i="0" dirty="0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 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{</a:t>
            </a:r>
            <a:r>
              <a:rPr lang="en-IN" sz="2400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sz="2400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sz="2400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  list-style-type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:</a:t>
            </a:r>
            <a:r>
              <a:rPr lang="en-IN" sz="2400" b="0" i="0" dirty="0">
                <a:solidFill>
                  <a:srgbClr val="0000CD"/>
                </a:solidFill>
                <a:effectLst/>
                <a:latin typeface="Agency FB" panose="020B0503020202020204" pitchFamily="34" charset="0"/>
              </a:rPr>
              <a:t> lower-alpha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;</a:t>
            </a:r>
            <a:r>
              <a:rPr lang="en-IN" sz="2400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sz="2400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sz="2400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}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xmlns="" val="759799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1B1D72-408C-5101-9290-91A9DFF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6297" y="-377434"/>
            <a:ext cx="10018713" cy="1752599"/>
          </a:xfrm>
        </p:spPr>
        <p:txBody>
          <a:bodyPr/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Nunito" pitchFamily="2" charset="0"/>
              </a:rPr>
              <a:t>CSS </a:t>
            </a:r>
            <a:r>
              <a:rPr lang="en-IN" b="1" dirty="0">
                <a:solidFill>
                  <a:srgbClr val="000000"/>
                </a:solidFill>
                <a:latin typeface="Nunito" pitchFamily="2" charset="0"/>
              </a:rPr>
              <a:t>Lists (Contd.)</a:t>
            </a:r>
            <a:endParaRPr lang="en-IN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4296A6D-897E-8124-C8E6-23167C6C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6359134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xmlns="" id="{DC4ECBFF-0A0C-08D6-F99B-7E96F41E490E}"/>
              </a:ext>
            </a:extLst>
          </p:cNvPr>
          <p:cNvSpPr txBox="1">
            <a:spLocks/>
          </p:cNvSpPr>
          <p:nvPr/>
        </p:nvSpPr>
        <p:spPr>
          <a:xfrm>
            <a:off x="2553911" y="635913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gency FB" panose="020B0503020202020204" pitchFamily="34" charset="0"/>
              </a:rPr>
              <a:t>BCAC0016: Fundamentals of Internet Programming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xmlns="" id="{E785851B-4529-7001-4F67-95A78F9A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C2D8FC1D-C33E-6895-D4A9-4CBA52015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61CE2FF6-AE33-C40C-3A01-30193F29692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24336" y="746825"/>
            <a:ext cx="5906197" cy="561230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0FE42936-BB97-2E90-C424-DAF790888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6953" y="1834836"/>
            <a:ext cx="3737637" cy="292199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AF6FB217-CCE3-4F07-356D-B7D29CC6C9F3}"/>
              </a:ext>
            </a:extLst>
          </p:cNvPr>
          <p:cNvSpPr txBox="1"/>
          <p:nvPr/>
        </p:nvSpPr>
        <p:spPr>
          <a:xfrm>
            <a:off x="8511702" y="1375165"/>
            <a:ext cx="2519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xmlns="" val="4057276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1B1D72-408C-5101-9290-91A9DFF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-111276"/>
            <a:ext cx="10018713" cy="1752599"/>
          </a:xfrm>
        </p:spPr>
        <p:txBody>
          <a:bodyPr/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Nunito" pitchFamily="2" charset="0"/>
              </a:rPr>
              <a:t>CSS </a:t>
            </a:r>
            <a:r>
              <a:rPr lang="en-IN" b="1" dirty="0">
                <a:solidFill>
                  <a:srgbClr val="000000"/>
                </a:solidFill>
                <a:latin typeface="Nunito" pitchFamily="2" charset="0"/>
              </a:rPr>
              <a:t>Lists (Contd.)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15DC92B-8F57-2BBB-57C9-3D8F4980B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228461"/>
            <a:ext cx="10018713" cy="3124201"/>
          </a:xfrm>
        </p:spPr>
        <p:txBody>
          <a:bodyPr>
            <a:noAutofit/>
          </a:bodyPr>
          <a:lstStyle/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An Image as The List Item Marker</a:t>
            </a:r>
          </a:p>
          <a:p>
            <a:pPr marL="0" indent="0" algn="l">
              <a:buNone/>
            </a:pPr>
            <a:r>
              <a:rPr lang="en-IN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list-style-image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property specifies an image as the list item marker:</a:t>
            </a:r>
          </a:p>
          <a:p>
            <a:pPr marL="0" indent="0" algn="l">
              <a:buNone/>
            </a:pPr>
            <a:r>
              <a:rPr lang="en-US" b="0" i="0" dirty="0" err="1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ul</a:t>
            </a:r>
            <a:r>
              <a:rPr lang="en-US" b="0" i="0" dirty="0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 </a:t>
            </a:r>
            <a:r>
              <a:rPr lang="en-US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{</a:t>
            </a:r>
            <a: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  list-style-image</a:t>
            </a:r>
            <a:r>
              <a:rPr lang="en-US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:</a:t>
            </a:r>
            <a:r>
              <a:rPr lang="en-US" b="0" i="0" dirty="0">
                <a:solidFill>
                  <a:srgbClr val="0000CD"/>
                </a:solidFill>
                <a:effectLst/>
                <a:latin typeface="Agency FB" panose="020B0503020202020204" pitchFamily="34" charset="0"/>
              </a:rPr>
              <a:t> </a:t>
            </a:r>
            <a:r>
              <a:rPr lang="en-US" b="0" i="0" dirty="0" err="1">
                <a:solidFill>
                  <a:srgbClr val="0000CD"/>
                </a:solidFill>
                <a:effectLst/>
                <a:latin typeface="Agency FB" panose="020B0503020202020204" pitchFamily="34" charset="0"/>
              </a:rPr>
              <a:t>url</a:t>
            </a:r>
            <a:r>
              <a:rPr lang="en-US" b="0" i="0" dirty="0">
                <a:solidFill>
                  <a:srgbClr val="0000CD"/>
                </a:solidFill>
                <a:effectLst/>
                <a:latin typeface="Agency FB" panose="020B0503020202020204" pitchFamily="34" charset="0"/>
              </a:rPr>
              <a:t>('sqpurple.gif')</a:t>
            </a:r>
            <a:r>
              <a:rPr lang="en-US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;</a:t>
            </a:r>
            <a: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}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it-IT" dirty="0">
                <a:solidFill>
                  <a:srgbClr val="A52A2A"/>
                </a:solidFill>
                <a:latin typeface="Agency FB" panose="020B0503020202020204" pitchFamily="34" charset="0"/>
              </a:rPr>
              <a:t>&lt;ul&gt;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it-IT" dirty="0">
                <a:latin typeface="Agency FB" panose="020B0503020202020204" pitchFamily="34" charset="0"/>
              </a:rPr>
              <a:t>  	&lt;li&gt;Lionel Messi&lt;/li&gt;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it-IT" dirty="0">
                <a:latin typeface="Agency FB" panose="020B0503020202020204" pitchFamily="34" charset="0"/>
              </a:rPr>
              <a:t>  	&lt;li&gt;Cristiano Ronaldo&lt;/li&gt;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it-IT" dirty="0">
                <a:latin typeface="Agency FB" panose="020B0503020202020204" pitchFamily="34" charset="0"/>
              </a:rPr>
              <a:t>  	&lt;li&gt;Kylian Mbappe&lt;/li&gt;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it-IT" dirty="0">
                <a:solidFill>
                  <a:srgbClr val="A52A2A"/>
                </a:solidFill>
                <a:latin typeface="Agency FB" panose="020B0503020202020204" pitchFamily="34" charset="0"/>
              </a:rPr>
              <a:t>&lt;/ul&gt;</a:t>
            </a:r>
            <a:r>
              <a:rPr lang="en-IN" dirty="0">
                <a:latin typeface="Agency FB" panose="020B0503020202020204" pitchFamily="34" charset="0"/>
              </a:rPr>
              <a:t/>
            </a:r>
            <a:br>
              <a:rPr lang="en-IN" dirty="0">
                <a:latin typeface="Agency FB" panose="020B0503020202020204" pitchFamily="34" charset="0"/>
              </a:rPr>
            </a:br>
            <a:endParaRPr lang="en-IN" b="0" i="0" dirty="0">
              <a:solidFill>
                <a:srgbClr val="000000"/>
              </a:solidFill>
              <a:effectLst/>
              <a:latin typeface="Agency FB" panose="020B050302020202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4296A6D-897E-8124-C8E6-23167C6C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6359134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xmlns="" id="{DC4ECBFF-0A0C-08D6-F99B-7E96F41E490E}"/>
              </a:ext>
            </a:extLst>
          </p:cNvPr>
          <p:cNvSpPr txBox="1">
            <a:spLocks/>
          </p:cNvSpPr>
          <p:nvPr/>
        </p:nvSpPr>
        <p:spPr>
          <a:xfrm>
            <a:off x="2553911" y="635913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gency FB" panose="020B0503020202020204" pitchFamily="34" charset="0"/>
              </a:rPr>
              <a:t>BCAC0016: Fundamentals of Internet Programming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xmlns="" id="{E785851B-4529-7001-4F67-95A78F9A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C2D8FC1D-C33E-6895-D4A9-4CBA52015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41951FAC-87F4-0057-B959-3B63416EC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0654" y="3646835"/>
            <a:ext cx="2860296" cy="129666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01047FC0-1186-CEDC-F81C-C416D8866815}"/>
              </a:ext>
            </a:extLst>
          </p:cNvPr>
          <p:cNvSpPr txBox="1"/>
          <p:nvPr/>
        </p:nvSpPr>
        <p:spPr>
          <a:xfrm>
            <a:off x="8294379" y="3211165"/>
            <a:ext cx="2519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xmlns="" val="4211440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1B1D72-408C-5101-9290-91A9DFF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-111276"/>
            <a:ext cx="10018713" cy="1752599"/>
          </a:xfrm>
        </p:spPr>
        <p:txBody>
          <a:bodyPr/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Nunito" pitchFamily="2" charset="0"/>
              </a:rPr>
              <a:t>CSS </a:t>
            </a:r>
            <a:r>
              <a:rPr lang="en-IN" b="1" dirty="0">
                <a:solidFill>
                  <a:srgbClr val="000000"/>
                </a:solidFill>
                <a:latin typeface="Nunito" pitchFamily="2" charset="0"/>
              </a:rPr>
              <a:t>Lists (Contd.)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15DC92B-8F57-2BBB-57C9-3D8F4980B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228461"/>
            <a:ext cx="10018713" cy="312420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Styling List With Colors:</a:t>
            </a:r>
          </a:p>
          <a:p>
            <a:pPr marL="0" indent="0">
              <a:buNone/>
            </a:pPr>
            <a:endParaRPr lang="en-US" b="1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We can also style lists with colors, to make them look a little more interesting.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Anything added to the &lt;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ol</a:t>
            </a:r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&gt; or &lt;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ul</a:t>
            </a:r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&gt; tag, affects the entire list, while properties added to the &lt;li&gt; tag will affect the individual list items: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4296A6D-897E-8124-C8E6-23167C6C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6359134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xmlns="" id="{DC4ECBFF-0A0C-08D6-F99B-7E96F41E490E}"/>
              </a:ext>
            </a:extLst>
          </p:cNvPr>
          <p:cNvSpPr txBox="1">
            <a:spLocks/>
          </p:cNvSpPr>
          <p:nvPr/>
        </p:nvSpPr>
        <p:spPr>
          <a:xfrm>
            <a:off x="2553911" y="635913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gency FB" panose="020B0503020202020204" pitchFamily="34" charset="0"/>
              </a:rPr>
              <a:t>BCAC0016: Fundamentals of Internet Programming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xmlns="" id="{E785851B-4529-7001-4F67-95A78F9A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C2D8FC1D-C33E-6895-D4A9-4CBA52015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25500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1B1D72-408C-5101-9290-91A9DFF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-111276"/>
            <a:ext cx="10018713" cy="1752599"/>
          </a:xfrm>
        </p:spPr>
        <p:txBody>
          <a:bodyPr/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Nunito" pitchFamily="2" charset="0"/>
              </a:rPr>
              <a:t>CSS </a:t>
            </a:r>
            <a:r>
              <a:rPr lang="en-IN" b="1" dirty="0">
                <a:solidFill>
                  <a:srgbClr val="000000"/>
                </a:solidFill>
                <a:latin typeface="Nunito" pitchFamily="2" charset="0"/>
              </a:rPr>
              <a:t>Lists (Contd.)</a:t>
            </a:r>
            <a:endParaRPr lang="en-IN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4296A6D-897E-8124-C8E6-23167C6C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6359134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xmlns="" id="{DC4ECBFF-0A0C-08D6-F99B-7E96F41E490E}"/>
              </a:ext>
            </a:extLst>
          </p:cNvPr>
          <p:cNvSpPr txBox="1">
            <a:spLocks/>
          </p:cNvSpPr>
          <p:nvPr/>
        </p:nvSpPr>
        <p:spPr>
          <a:xfrm>
            <a:off x="2553911" y="635913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gency FB" panose="020B0503020202020204" pitchFamily="34" charset="0"/>
              </a:rPr>
              <a:t>BCAC0016: Fundamentals of Internet Programming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xmlns="" id="{E785851B-4529-7001-4F67-95A78F9A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C2D8FC1D-C33E-6895-D4A9-4CBA52015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17517840-A24E-6277-00F9-3E14AE622CF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53825" y="982493"/>
            <a:ext cx="4526399" cy="554051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B0B9B059-F709-050A-0B20-B375133C0D9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86362" y="1433749"/>
            <a:ext cx="4687999" cy="3945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260324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1B1D72-408C-5101-9290-91A9DFF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-111276"/>
            <a:ext cx="10018713" cy="1752599"/>
          </a:xfrm>
        </p:spPr>
        <p:txBody>
          <a:bodyPr/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Nunito" pitchFamily="2" charset="0"/>
              </a:rPr>
              <a:t>CSS </a:t>
            </a:r>
            <a:r>
              <a:rPr lang="en-IN" b="1" dirty="0">
                <a:solidFill>
                  <a:srgbClr val="000000"/>
                </a:solidFill>
                <a:latin typeface="Nunito" pitchFamily="2" charset="0"/>
              </a:rPr>
              <a:t>Lists (Contd.)</a:t>
            </a:r>
            <a:endParaRPr lang="en-IN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4296A6D-897E-8124-C8E6-23167C6C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6359134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xmlns="" id="{DC4ECBFF-0A0C-08D6-F99B-7E96F41E490E}"/>
              </a:ext>
            </a:extLst>
          </p:cNvPr>
          <p:cNvSpPr txBox="1">
            <a:spLocks/>
          </p:cNvSpPr>
          <p:nvPr/>
        </p:nvSpPr>
        <p:spPr>
          <a:xfrm>
            <a:off x="2553911" y="635913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gency FB" panose="020B0503020202020204" pitchFamily="34" charset="0"/>
              </a:rPr>
              <a:t>BCAC0016: Fundamentals of Internet Programming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xmlns="" id="{E785851B-4529-7001-4F67-95A78F9A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C2D8FC1D-C33E-6895-D4A9-4CBA52015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ECD31D3B-A266-F72F-E11A-A43DF7CC1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036" y="1453242"/>
            <a:ext cx="8873259" cy="44272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A0A536F1-80DA-687C-B0FB-63D882B249CD}"/>
              </a:ext>
            </a:extLst>
          </p:cNvPr>
          <p:cNvSpPr txBox="1"/>
          <p:nvPr/>
        </p:nvSpPr>
        <p:spPr>
          <a:xfrm>
            <a:off x="5233933" y="1083910"/>
            <a:ext cx="2519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xmlns="" val="1838824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1B1D72-408C-5101-9290-91A9DFF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33740"/>
            <a:ext cx="10018713" cy="1752599"/>
          </a:xfrm>
        </p:spPr>
        <p:txBody>
          <a:bodyPr/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Nunito" pitchFamily="2" charset="0"/>
              </a:rPr>
              <a:t>Outline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15DC92B-8F57-2BBB-57C9-3D8F4980B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228461"/>
            <a:ext cx="10018713" cy="3124201"/>
          </a:xfrm>
        </p:spPr>
        <p:txBody>
          <a:bodyPr>
            <a:noAutofit/>
          </a:bodyPr>
          <a:lstStyle/>
          <a:p>
            <a:pPr algn="just"/>
            <a:r>
              <a:rPr lang="en-IN" sz="2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CSS Links</a:t>
            </a:r>
          </a:p>
          <a:p>
            <a:pPr marL="1073150" indent="-271463" algn="just">
              <a:buSzPct val="100000"/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Link States</a:t>
            </a:r>
          </a:p>
          <a:p>
            <a:pPr marL="1073150" indent="-271463" algn="just">
              <a:buSzPct val="100000"/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 Decoration</a:t>
            </a:r>
          </a:p>
          <a:p>
            <a:pPr marL="1073150" indent="-271463" algn="just">
              <a:buSzPct val="100000"/>
              <a:buFont typeface="Wingdings" panose="05000000000000000000" pitchFamily="2" charset="2"/>
              <a:buChar char="Ø"/>
            </a:pPr>
            <a:r>
              <a:rPr lang="en-IN" sz="2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Background </a:t>
            </a:r>
            <a:r>
              <a:rPr lang="en-IN" sz="28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Color</a:t>
            </a:r>
            <a:endParaRPr lang="en-IN" sz="2800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b="0" i="0" dirty="0">
              <a:solidFill>
                <a:srgbClr val="000000"/>
              </a:solidFill>
              <a:effectLst/>
              <a:latin typeface="Agency FB" panose="020B050302020202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4296A6D-897E-8124-C8E6-23167C6C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6359134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xmlns="" id="{DC4ECBFF-0A0C-08D6-F99B-7E96F41E490E}"/>
              </a:ext>
            </a:extLst>
          </p:cNvPr>
          <p:cNvSpPr txBox="1">
            <a:spLocks/>
          </p:cNvSpPr>
          <p:nvPr/>
        </p:nvSpPr>
        <p:spPr>
          <a:xfrm>
            <a:off x="2553911" y="635913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gency FB" panose="020B0503020202020204" pitchFamily="34" charset="0"/>
              </a:rPr>
              <a:t>BCAC0016: Fundamentals of Internet Programming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xmlns="" id="{E785851B-4529-7001-4F67-95A78F9A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C2D8FC1D-C33E-6895-D4A9-4CBA52015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89920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1B1D72-408C-5101-9290-91A9DFF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33740"/>
            <a:ext cx="10018713" cy="1752599"/>
          </a:xfrm>
        </p:spPr>
        <p:txBody>
          <a:bodyPr/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Nunito" pitchFamily="2" charset="0"/>
              </a:rPr>
              <a:t>CSS </a:t>
            </a:r>
            <a:r>
              <a:rPr lang="en-IN" b="1" dirty="0">
                <a:solidFill>
                  <a:srgbClr val="000000"/>
                </a:solidFill>
                <a:latin typeface="Nunito" pitchFamily="2" charset="0"/>
              </a:rPr>
              <a:t>Links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15DC92B-8F57-2BBB-57C9-3D8F4980B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228461"/>
            <a:ext cx="10018713" cy="3124201"/>
          </a:xfrm>
        </p:spPr>
        <p:txBody>
          <a:bodyPr>
            <a:noAutofit/>
          </a:bodyPr>
          <a:lstStyle/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With CSS, links can be styled in many different ways.</a:t>
            </a:r>
          </a:p>
          <a:p>
            <a:pPr marL="0" indent="0" algn="just">
              <a:buNone/>
            </a:pPr>
            <a:r>
              <a:rPr lang="en-IN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Styling Links</a:t>
            </a:r>
          </a:p>
          <a:p>
            <a:pPr marL="0" indent="0" algn="just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Links can be styled with any CSS property (e.g. color, font-family, background, etc.).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Example:</a:t>
            </a: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b="0" i="0" dirty="0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	a 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{</a:t>
            </a: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  		</a:t>
            </a:r>
            <a:r>
              <a:rPr lang="en-IN" b="0" i="0" dirty="0" err="1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color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:</a:t>
            </a:r>
            <a:r>
              <a:rPr lang="en-IN" b="0" i="0" dirty="0">
                <a:solidFill>
                  <a:srgbClr val="0000CD"/>
                </a:solidFill>
                <a:effectLst/>
                <a:latin typeface="Agency FB" panose="020B0503020202020204" pitchFamily="34" charset="0"/>
              </a:rPr>
              <a:t> pink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;</a:t>
            </a: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	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}</a:t>
            </a:r>
            <a:endParaRPr lang="en-US" b="0" i="0" dirty="0">
              <a:solidFill>
                <a:srgbClr val="000000"/>
              </a:solidFill>
              <a:effectLst/>
              <a:latin typeface="Agency FB" panose="020B050302020202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4296A6D-897E-8124-C8E6-23167C6C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6359134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xmlns="" id="{DC4ECBFF-0A0C-08D6-F99B-7E96F41E490E}"/>
              </a:ext>
            </a:extLst>
          </p:cNvPr>
          <p:cNvSpPr txBox="1">
            <a:spLocks/>
          </p:cNvSpPr>
          <p:nvPr/>
        </p:nvSpPr>
        <p:spPr>
          <a:xfrm>
            <a:off x="2553911" y="635913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latin typeface="Agency FB" panose="020B0503020202020204" pitchFamily="34" charset="0"/>
              </a:rPr>
              <a:t>BCAC0016: Fundamentals of Internet Programming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xmlns="" id="{E785851B-4529-7001-4F67-95A78F9A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C2D8FC1D-C33E-6895-D4A9-4CBA52015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76433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1B1D72-408C-5101-9290-91A9DFF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33740"/>
            <a:ext cx="10018713" cy="1752599"/>
          </a:xfrm>
        </p:spPr>
        <p:txBody>
          <a:bodyPr/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Nunito" pitchFamily="2" charset="0"/>
              </a:rPr>
              <a:t>CSS </a:t>
            </a:r>
            <a:r>
              <a:rPr lang="en-IN" b="1" dirty="0">
                <a:solidFill>
                  <a:srgbClr val="000000"/>
                </a:solidFill>
                <a:latin typeface="Nunito" pitchFamily="2" charset="0"/>
              </a:rPr>
              <a:t>Links (Contd.)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15DC92B-8F57-2BBB-57C9-3D8F4980B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228461"/>
            <a:ext cx="10018713" cy="3124201"/>
          </a:xfrm>
        </p:spPr>
        <p:txBody>
          <a:bodyPr>
            <a:no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 addition, links can be styled differently depending on what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state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they are in.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four links states are: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34988" marR="0" lvl="0" indent="-360363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a:link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- a normal, unvisited link</a:t>
            </a:r>
          </a:p>
          <a:p>
            <a:pPr marL="534988" marR="0" lvl="0" indent="-360363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a:visited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- a link the user has visited</a:t>
            </a:r>
          </a:p>
          <a:p>
            <a:pPr marL="534988" marR="0" lvl="0" indent="-360363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a:hover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- a link when the user mouses over it</a:t>
            </a:r>
          </a:p>
          <a:p>
            <a:pPr marL="534988" marR="0" lvl="0" indent="-360363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a:active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- a link the moment it is clicked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4296A6D-897E-8124-C8E6-23167C6C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6359134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xmlns="" id="{DC4ECBFF-0A0C-08D6-F99B-7E96F41E490E}"/>
              </a:ext>
            </a:extLst>
          </p:cNvPr>
          <p:cNvSpPr txBox="1">
            <a:spLocks/>
          </p:cNvSpPr>
          <p:nvPr/>
        </p:nvSpPr>
        <p:spPr>
          <a:xfrm>
            <a:off x="2553911" y="635913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gency FB" panose="020B0503020202020204" pitchFamily="34" charset="0"/>
              </a:rPr>
              <a:t>BCAC0016: Fundamentals of Internet Programming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xmlns="" id="{E785851B-4529-7001-4F67-95A78F9A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C2D8FC1D-C33E-6895-D4A9-4CBA52015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xmlns="" id="{E94B2A80-4824-0BC3-95D8-32D52D017F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05064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1B1D72-408C-5101-9290-91A9DFF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33740"/>
            <a:ext cx="10018713" cy="1752599"/>
          </a:xfrm>
        </p:spPr>
        <p:txBody>
          <a:bodyPr/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Nunito" pitchFamily="2" charset="0"/>
              </a:rPr>
              <a:t>CSS </a:t>
            </a:r>
            <a:r>
              <a:rPr lang="en-IN" b="1" dirty="0">
                <a:solidFill>
                  <a:srgbClr val="000000"/>
                </a:solidFill>
                <a:latin typeface="Nunito" pitchFamily="2" charset="0"/>
              </a:rPr>
              <a:t>Links (Contd.)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15DC92B-8F57-2BBB-57C9-3D8F4980B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2228461"/>
            <a:ext cx="3759494" cy="3124201"/>
          </a:xfrm>
        </p:spPr>
        <p:txBody>
          <a:bodyPr>
            <a:no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b="0" i="0" dirty="0">
                <a:solidFill>
                  <a:srgbClr val="008000"/>
                </a:solidFill>
                <a:effectLst/>
                <a:latin typeface="Agency FB" panose="020B0503020202020204" pitchFamily="34" charset="0"/>
              </a:rPr>
              <a:t>/* unvisited link */</a:t>
            </a:r>
            <a:r>
              <a:rPr lang="en-IN" dirty="0">
                <a:latin typeface="Agency FB" panose="020B0503020202020204" pitchFamily="34" charset="0"/>
              </a:rPr>
              <a:t/>
            </a:r>
            <a:br>
              <a:rPr lang="en-IN" dirty="0">
                <a:latin typeface="Agency FB" panose="020B0503020202020204" pitchFamily="34" charset="0"/>
              </a:rPr>
            </a:br>
            <a:r>
              <a:rPr lang="en-IN" b="0" i="0" dirty="0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a:link 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{</a:t>
            </a: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  </a:t>
            </a:r>
            <a:r>
              <a:rPr lang="en-IN" b="0" i="0" dirty="0" err="1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color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:</a:t>
            </a:r>
            <a:r>
              <a:rPr lang="en-IN" b="0" i="0" dirty="0">
                <a:solidFill>
                  <a:srgbClr val="0000CD"/>
                </a:solidFill>
                <a:effectLst/>
                <a:latin typeface="Agency FB" panose="020B0503020202020204" pitchFamily="34" charset="0"/>
              </a:rPr>
              <a:t> red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;</a:t>
            </a: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}</a:t>
            </a:r>
            <a:r>
              <a:rPr lang="en-IN" dirty="0">
                <a:latin typeface="Agency FB" panose="020B0503020202020204" pitchFamily="34" charset="0"/>
              </a:rPr>
              <a:t/>
            </a:r>
            <a:br>
              <a:rPr lang="en-IN" dirty="0">
                <a:latin typeface="Agency FB" panose="020B0503020202020204" pitchFamily="34" charset="0"/>
              </a:rPr>
            </a:br>
            <a:r>
              <a:rPr lang="en-IN" dirty="0">
                <a:latin typeface="Agency FB" panose="020B0503020202020204" pitchFamily="34" charset="0"/>
              </a:rPr>
              <a:t/>
            </a:r>
            <a:br>
              <a:rPr lang="en-IN" dirty="0">
                <a:latin typeface="Agency FB" panose="020B0503020202020204" pitchFamily="34" charset="0"/>
              </a:rPr>
            </a:br>
            <a:r>
              <a:rPr lang="en-IN" b="0" i="0" dirty="0">
                <a:solidFill>
                  <a:srgbClr val="008000"/>
                </a:solidFill>
                <a:effectLst/>
                <a:latin typeface="Agency FB" panose="020B0503020202020204" pitchFamily="34" charset="0"/>
              </a:rPr>
              <a:t>/* visited link */</a:t>
            </a:r>
            <a:r>
              <a:rPr lang="en-IN" dirty="0">
                <a:latin typeface="Agency FB" panose="020B0503020202020204" pitchFamily="34" charset="0"/>
              </a:rPr>
              <a:t/>
            </a:r>
            <a:br>
              <a:rPr lang="en-IN" dirty="0">
                <a:latin typeface="Agency FB" panose="020B0503020202020204" pitchFamily="34" charset="0"/>
              </a:rPr>
            </a:br>
            <a:r>
              <a:rPr lang="en-IN" b="0" i="0" dirty="0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a:visited 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{</a:t>
            </a: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  </a:t>
            </a:r>
            <a:r>
              <a:rPr lang="en-IN" b="0" i="0" dirty="0" err="1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color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:</a:t>
            </a:r>
            <a:r>
              <a:rPr lang="en-IN" b="0" i="0" dirty="0">
                <a:solidFill>
                  <a:srgbClr val="0000CD"/>
                </a:solidFill>
                <a:effectLst/>
                <a:latin typeface="Agency FB" panose="020B0503020202020204" pitchFamily="34" charset="0"/>
              </a:rPr>
              <a:t> green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;</a:t>
            </a: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}</a:t>
            </a:r>
            <a:r>
              <a:rPr lang="en-IN" dirty="0">
                <a:latin typeface="Agency FB" panose="020B0503020202020204" pitchFamily="34" charset="0"/>
              </a:rPr>
              <a:t/>
            </a:r>
            <a:br>
              <a:rPr lang="en-IN" dirty="0">
                <a:latin typeface="Agency FB" panose="020B0503020202020204" pitchFamily="34" charset="0"/>
              </a:rPr>
            </a:br>
            <a:r>
              <a:rPr lang="en-IN" dirty="0">
                <a:latin typeface="Agency FB" panose="020B0503020202020204" pitchFamily="34" charset="0"/>
              </a:rPr>
              <a:t/>
            </a:r>
            <a:br>
              <a:rPr lang="en-IN" dirty="0">
                <a:latin typeface="Agency FB" panose="020B0503020202020204" pitchFamily="34" charset="0"/>
              </a:rPr>
            </a:b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gency FB" panose="020B0503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4296A6D-897E-8124-C8E6-23167C6C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6359134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xmlns="" id="{DC4ECBFF-0A0C-08D6-F99B-7E96F41E490E}"/>
              </a:ext>
            </a:extLst>
          </p:cNvPr>
          <p:cNvSpPr txBox="1">
            <a:spLocks/>
          </p:cNvSpPr>
          <p:nvPr/>
        </p:nvSpPr>
        <p:spPr>
          <a:xfrm>
            <a:off x="2553911" y="635913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gency FB" panose="020B0503020202020204" pitchFamily="34" charset="0"/>
              </a:rPr>
              <a:t>BCAC0016: Fundamentals of Internet Programming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xmlns="" id="{E785851B-4529-7001-4F67-95A78F9A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C2D8FC1D-C33E-6895-D4A9-4CBA52015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xmlns="" id="{E94B2A80-4824-0BC3-95D8-32D52D017F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D49F5DFE-4C0A-9CAC-1C99-F27A04384499}"/>
              </a:ext>
            </a:extLst>
          </p:cNvPr>
          <p:cNvSpPr txBox="1"/>
          <p:nvPr/>
        </p:nvSpPr>
        <p:spPr>
          <a:xfrm>
            <a:off x="7287208" y="1886339"/>
            <a:ext cx="402149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0" i="0" dirty="0">
                <a:solidFill>
                  <a:srgbClr val="008000"/>
                </a:solidFill>
                <a:effectLst/>
                <a:latin typeface="Agency FB" panose="020B0503020202020204" pitchFamily="34" charset="0"/>
              </a:rPr>
              <a:t>/* mouse over link */</a:t>
            </a:r>
            <a:r>
              <a:rPr lang="en-IN" sz="2400" dirty="0">
                <a:latin typeface="Agency FB" panose="020B0503020202020204" pitchFamily="34" charset="0"/>
              </a:rPr>
              <a:t/>
            </a:r>
            <a:br>
              <a:rPr lang="en-IN" sz="2400" dirty="0">
                <a:latin typeface="Agency FB" panose="020B0503020202020204" pitchFamily="34" charset="0"/>
              </a:rPr>
            </a:br>
            <a:r>
              <a:rPr lang="en-IN" sz="2400" b="0" i="0" dirty="0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a:hover 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{</a:t>
            </a:r>
            <a:r>
              <a:rPr lang="en-IN" sz="2400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sz="2400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sz="2400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  </a:t>
            </a:r>
            <a:r>
              <a:rPr lang="en-IN" sz="2400" b="0" i="0" dirty="0" err="1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color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:</a:t>
            </a:r>
            <a:r>
              <a:rPr lang="en-IN" sz="2400" b="0" i="0" dirty="0">
                <a:solidFill>
                  <a:srgbClr val="0000CD"/>
                </a:solidFill>
                <a:effectLst/>
                <a:latin typeface="Agency FB" panose="020B0503020202020204" pitchFamily="34" charset="0"/>
              </a:rPr>
              <a:t> pink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;</a:t>
            </a:r>
            <a:r>
              <a:rPr lang="en-IN" sz="2400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sz="2400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sz="2400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}</a:t>
            </a:r>
            <a:r>
              <a:rPr lang="en-IN" sz="2400" dirty="0">
                <a:latin typeface="Agency FB" panose="020B0503020202020204" pitchFamily="34" charset="0"/>
              </a:rPr>
              <a:t/>
            </a:r>
            <a:br>
              <a:rPr lang="en-IN" sz="2400" dirty="0">
                <a:latin typeface="Agency FB" panose="020B0503020202020204" pitchFamily="34" charset="0"/>
              </a:rPr>
            </a:br>
            <a:r>
              <a:rPr lang="en-IN" sz="2400" dirty="0">
                <a:latin typeface="Agency FB" panose="020B0503020202020204" pitchFamily="34" charset="0"/>
              </a:rPr>
              <a:t/>
            </a:r>
            <a:br>
              <a:rPr lang="en-IN" sz="2400" dirty="0">
                <a:latin typeface="Agency FB" panose="020B0503020202020204" pitchFamily="34" charset="0"/>
              </a:rPr>
            </a:br>
            <a:r>
              <a:rPr lang="en-IN" sz="2400" b="0" i="0" dirty="0">
                <a:solidFill>
                  <a:srgbClr val="008000"/>
                </a:solidFill>
                <a:effectLst/>
                <a:latin typeface="Agency FB" panose="020B0503020202020204" pitchFamily="34" charset="0"/>
              </a:rPr>
              <a:t>/* selected link */</a:t>
            </a:r>
            <a:r>
              <a:rPr lang="en-IN" sz="2400" dirty="0">
                <a:latin typeface="Agency FB" panose="020B0503020202020204" pitchFamily="34" charset="0"/>
              </a:rPr>
              <a:t/>
            </a:r>
            <a:br>
              <a:rPr lang="en-IN" sz="2400" dirty="0">
                <a:latin typeface="Agency FB" panose="020B0503020202020204" pitchFamily="34" charset="0"/>
              </a:rPr>
            </a:br>
            <a:r>
              <a:rPr lang="en-IN" sz="2400" b="0" i="0" dirty="0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a:active 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{</a:t>
            </a:r>
            <a:r>
              <a:rPr lang="en-IN" sz="2400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sz="2400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sz="2400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  </a:t>
            </a:r>
            <a:r>
              <a:rPr lang="en-IN" sz="2400" b="0" i="0" dirty="0" err="1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color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:</a:t>
            </a:r>
            <a:r>
              <a:rPr lang="en-IN" sz="2400" b="0" i="0" dirty="0">
                <a:solidFill>
                  <a:srgbClr val="0000CD"/>
                </a:solidFill>
                <a:effectLst/>
                <a:latin typeface="Agency FB" panose="020B0503020202020204" pitchFamily="34" charset="0"/>
              </a:rPr>
              <a:t> blue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;</a:t>
            </a:r>
            <a:r>
              <a:rPr lang="en-IN" sz="2400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sz="2400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sz="2400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}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xmlns="" val="4147261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1B1D72-408C-5101-9290-91A9DFF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33740"/>
            <a:ext cx="10018713" cy="1752599"/>
          </a:xfrm>
        </p:spPr>
        <p:txBody>
          <a:bodyPr/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Nunito" pitchFamily="2" charset="0"/>
              </a:rPr>
              <a:t>CSS </a:t>
            </a:r>
            <a:r>
              <a:rPr lang="en-IN" b="1" dirty="0">
                <a:solidFill>
                  <a:srgbClr val="000000"/>
                </a:solidFill>
                <a:latin typeface="Nunito" pitchFamily="2" charset="0"/>
              </a:rPr>
              <a:t>Links (Contd.)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15DC92B-8F57-2BBB-57C9-3D8F4980B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140334"/>
            <a:ext cx="3759494" cy="3124201"/>
          </a:xfrm>
        </p:spPr>
        <p:txBody>
          <a:bodyPr>
            <a:no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b="0" i="0" dirty="0">
                <a:solidFill>
                  <a:srgbClr val="008000"/>
                </a:solidFill>
                <a:effectLst/>
                <a:latin typeface="Agency FB" panose="020B0503020202020204" pitchFamily="34" charset="0"/>
              </a:rPr>
              <a:t>/* unvisited link */</a:t>
            </a:r>
            <a:r>
              <a:rPr lang="en-IN" dirty="0">
                <a:latin typeface="Agency FB" panose="020B0503020202020204" pitchFamily="34" charset="0"/>
              </a:rPr>
              <a:t/>
            </a:r>
            <a:br>
              <a:rPr lang="en-IN" dirty="0">
                <a:latin typeface="Agency FB" panose="020B0503020202020204" pitchFamily="34" charset="0"/>
              </a:rPr>
            </a:br>
            <a:r>
              <a:rPr lang="en-IN" b="0" i="0" dirty="0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a:link 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{</a:t>
            </a: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  </a:t>
            </a:r>
            <a:r>
              <a:rPr lang="en-IN" b="0" i="0" dirty="0" err="1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color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:</a:t>
            </a:r>
            <a:r>
              <a:rPr lang="en-IN" b="0" i="0" dirty="0">
                <a:solidFill>
                  <a:srgbClr val="0000CD"/>
                </a:solidFill>
                <a:effectLst/>
                <a:latin typeface="Agency FB" panose="020B0503020202020204" pitchFamily="34" charset="0"/>
              </a:rPr>
              <a:t> red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;</a:t>
            </a: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}</a:t>
            </a:r>
            <a:r>
              <a:rPr lang="en-IN" dirty="0">
                <a:latin typeface="Agency FB" panose="020B0503020202020204" pitchFamily="34" charset="0"/>
              </a:rPr>
              <a:t/>
            </a:r>
            <a:br>
              <a:rPr lang="en-IN" dirty="0">
                <a:latin typeface="Agency FB" panose="020B0503020202020204" pitchFamily="34" charset="0"/>
              </a:rPr>
            </a:br>
            <a:r>
              <a:rPr lang="en-IN" b="0" i="0" dirty="0">
                <a:solidFill>
                  <a:srgbClr val="008000"/>
                </a:solidFill>
                <a:effectLst/>
                <a:latin typeface="Agency FB" panose="020B0503020202020204" pitchFamily="34" charset="0"/>
              </a:rPr>
              <a:t>/* visited link */</a:t>
            </a:r>
            <a:r>
              <a:rPr lang="en-IN" dirty="0">
                <a:latin typeface="Agency FB" panose="020B0503020202020204" pitchFamily="34" charset="0"/>
              </a:rPr>
              <a:t/>
            </a:r>
            <a:br>
              <a:rPr lang="en-IN" dirty="0">
                <a:latin typeface="Agency FB" panose="020B0503020202020204" pitchFamily="34" charset="0"/>
              </a:rPr>
            </a:br>
            <a:r>
              <a:rPr lang="en-IN" b="0" i="0" dirty="0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a:visited 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{</a:t>
            </a: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  </a:t>
            </a:r>
            <a:r>
              <a:rPr lang="en-IN" b="0" i="0" dirty="0" err="1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color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:</a:t>
            </a:r>
            <a:r>
              <a:rPr lang="en-IN" b="0" i="0" dirty="0">
                <a:solidFill>
                  <a:srgbClr val="0000CD"/>
                </a:solidFill>
                <a:effectLst/>
                <a:latin typeface="Agency FB" panose="020B0503020202020204" pitchFamily="34" charset="0"/>
              </a:rPr>
              <a:t> green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;</a:t>
            </a: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}</a:t>
            </a:r>
            <a:r>
              <a:rPr lang="en-IN" dirty="0">
                <a:latin typeface="Agency FB" panose="020B0503020202020204" pitchFamily="34" charset="0"/>
              </a:rPr>
              <a:t/>
            </a:r>
            <a:br>
              <a:rPr lang="en-IN" dirty="0">
                <a:latin typeface="Agency FB" panose="020B0503020202020204" pitchFamily="34" charset="0"/>
              </a:rPr>
            </a:br>
            <a:r>
              <a:rPr lang="en-IN" dirty="0">
                <a:latin typeface="Agency FB" panose="020B0503020202020204" pitchFamily="34" charset="0"/>
              </a:rPr>
              <a:t/>
            </a:r>
            <a:br>
              <a:rPr lang="en-IN" dirty="0">
                <a:latin typeface="Agency FB" panose="020B0503020202020204" pitchFamily="34" charset="0"/>
              </a:rPr>
            </a:b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gency FB" panose="020B0503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4296A6D-897E-8124-C8E6-23167C6C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6359134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xmlns="" id="{DC4ECBFF-0A0C-08D6-F99B-7E96F41E490E}"/>
              </a:ext>
            </a:extLst>
          </p:cNvPr>
          <p:cNvSpPr txBox="1">
            <a:spLocks/>
          </p:cNvSpPr>
          <p:nvPr/>
        </p:nvSpPr>
        <p:spPr>
          <a:xfrm>
            <a:off x="2553911" y="635913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gency FB" panose="020B0503020202020204" pitchFamily="34" charset="0"/>
              </a:rPr>
              <a:t>BCAC0016: Fundamentals of Internet Programming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xmlns="" id="{E785851B-4529-7001-4F67-95A78F9A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C2D8FC1D-C33E-6895-D4A9-4CBA52015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xmlns="" id="{E94B2A80-4824-0BC3-95D8-32D52D017F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D49F5DFE-4C0A-9CAC-1C99-F27A04384499}"/>
              </a:ext>
            </a:extLst>
          </p:cNvPr>
          <p:cNvSpPr txBox="1"/>
          <p:nvPr/>
        </p:nvSpPr>
        <p:spPr>
          <a:xfrm>
            <a:off x="7287208" y="1720840"/>
            <a:ext cx="402149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0" i="0" dirty="0">
                <a:solidFill>
                  <a:srgbClr val="008000"/>
                </a:solidFill>
                <a:effectLst/>
                <a:latin typeface="Agency FB" panose="020B0503020202020204" pitchFamily="34" charset="0"/>
              </a:rPr>
              <a:t>/* mouse over link */</a:t>
            </a:r>
            <a:r>
              <a:rPr lang="en-IN" sz="2400" dirty="0">
                <a:latin typeface="Agency FB" panose="020B0503020202020204" pitchFamily="34" charset="0"/>
              </a:rPr>
              <a:t/>
            </a:r>
            <a:br>
              <a:rPr lang="en-IN" sz="2400" dirty="0">
                <a:latin typeface="Agency FB" panose="020B0503020202020204" pitchFamily="34" charset="0"/>
              </a:rPr>
            </a:br>
            <a:r>
              <a:rPr lang="en-IN" sz="2400" b="0" i="0" dirty="0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a:hover 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{</a:t>
            </a:r>
            <a:r>
              <a:rPr lang="en-IN" sz="2400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sz="2400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sz="2400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  </a:t>
            </a:r>
            <a:r>
              <a:rPr lang="en-IN" sz="2400" b="0" i="0" dirty="0" err="1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color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:</a:t>
            </a:r>
            <a:r>
              <a:rPr lang="en-IN" sz="2400" b="0" i="0" dirty="0">
                <a:solidFill>
                  <a:srgbClr val="0000CD"/>
                </a:solidFill>
                <a:effectLst/>
                <a:latin typeface="Agency FB" panose="020B0503020202020204" pitchFamily="34" charset="0"/>
              </a:rPr>
              <a:t> pink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;</a:t>
            </a:r>
            <a:r>
              <a:rPr lang="en-IN" sz="2400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sz="2400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sz="2400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}</a:t>
            </a:r>
            <a:r>
              <a:rPr lang="en-IN" sz="2400" dirty="0">
                <a:latin typeface="Agency FB" panose="020B0503020202020204" pitchFamily="34" charset="0"/>
              </a:rPr>
              <a:t/>
            </a:r>
            <a:br>
              <a:rPr lang="en-IN" sz="2400" dirty="0">
                <a:latin typeface="Agency FB" panose="020B0503020202020204" pitchFamily="34" charset="0"/>
              </a:rPr>
            </a:br>
            <a:r>
              <a:rPr lang="en-IN" sz="2400" b="0" i="0" dirty="0">
                <a:solidFill>
                  <a:srgbClr val="008000"/>
                </a:solidFill>
                <a:effectLst/>
                <a:latin typeface="Agency FB" panose="020B0503020202020204" pitchFamily="34" charset="0"/>
              </a:rPr>
              <a:t>/* selected link */</a:t>
            </a:r>
            <a:r>
              <a:rPr lang="en-IN" sz="2400" dirty="0">
                <a:latin typeface="Agency FB" panose="020B0503020202020204" pitchFamily="34" charset="0"/>
              </a:rPr>
              <a:t/>
            </a:r>
            <a:br>
              <a:rPr lang="en-IN" sz="2400" dirty="0">
                <a:latin typeface="Agency FB" panose="020B0503020202020204" pitchFamily="34" charset="0"/>
              </a:rPr>
            </a:br>
            <a:r>
              <a:rPr lang="en-IN" sz="2400" b="0" i="0" dirty="0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a:active 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{</a:t>
            </a:r>
            <a:r>
              <a:rPr lang="en-IN" sz="2400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sz="2400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sz="2400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  </a:t>
            </a:r>
            <a:r>
              <a:rPr lang="en-IN" sz="2400" b="0" i="0" dirty="0" err="1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color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:</a:t>
            </a:r>
            <a:r>
              <a:rPr lang="en-IN" sz="2400" b="0" i="0" dirty="0">
                <a:solidFill>
                  <a:srgbClr val="0000CD"/>
                </a:solidFill>
                <a:effectLst/>
                <a:latin typeface="Agency FB" panose="020B0503020202020204" pitchFamily="34" charset="0"/>
              </a:rPr>
              <a:t> blue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;</a:t>
            </a:r>
            <a:r>
              <a:rPr lang="en-IN" sz="2400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sz="2400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sz="2400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}</a:t>
            </a:r>
            <a:endParaRPr lang="en-IN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0199544B-A700-3BC8-710F-59006FAA8DEA}"/>
              </a:ext>
            </a:extLst>
          </p:cNvPr>
          <p:cNvSpPr txBox="1"/>
          <p:nvPr/>
        </p:nvSpPr>
        <p:spPr>
          <a:xfrm>
            <a:off x="1678631" y="5032835"/>
            <a:ext cx="92732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When setting the style for several link states, there are some order rules:</a:t>
            </a:r>
          </a:p>
          <a:p>
            <a:pPr marL="436563" indent="-342900" algn="just">
              <a:buFont typeface="Wingdings" panose="05000000000000000000" pitchFamily="2" charset="2"/>
              <a:buChar char="ü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a:hover MUST come after a:link and a:visited</a:t>
            </a:r>
          </a:p>
          <a:p>
            <a:pPr marL="436563" indent="-342900" algn="just">
              <a:buFont typeface="Wingdings" panose="05000000000000000000" pitchFamily="2" charset="2"/>
              <a:buChar char="ü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a:active MUST come after a:hover</a:t>
            </a:r>
          </a:p>
        </p:txBody>
      </p:sp>
    </p:spTree>
    <p:extLst>
      <p:ext uri="{BB962C8B-B14F-4D97-AF65-F5344CB8AC3E}">
        <p14:creationId xmlns:p14="http://schemas.microsoft.com/office/powerpoint/2010/main" xmlns="" val="4173112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1B1D72-408C-5101-9290-91A9DFF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-187272"/>
            <a:ext cx="10018713" cy="1752599"/>
          </a:xfrm>
        </p:spPr>
        <p:txBody>
          <a:bodyPr/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Nunito" pitchFamily="2" charset="0"/>
              </a:rPr>
              <a:t>CSS </a:t>
            </a:r>
            <a:r>
              <a:rPr lang="en-IN" b="1" dirty="0">
                <a:solidFill>
                  <a:srgbClr val="000000"/>
                </a:solidFill>
                <a:latin typeface="Nunito" pitchFamily="2" charset="0"/>
              </a:rPr>
              <a:t>Links (Contd.)</a:t>
            </a:r>
            <a:endParaRPr lang="en-IN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4296A6D-897E-8124-C8E6-23167C6C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6359134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xmlns="" id="{DC4ECBFF-0A0C-08D6-F99B-7E96F41E490E}"/>
              </a:ext>
            </a:extLst>
          </p:cNvPr>
          <p:cNvSpPr txBox="1">
            <a:spLocks/>
          </p:cNvSpPr>
          <p:nvPr/>
        </p:nvSpPr>
        <p:spPr>
          <a:xfrm>
            <a:off x="2553911" y="635913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gency FB" panose="020B0503020202020204" pitchFamily="34" charset="0"/>
              </a:rPr>
              <a:t>BCAC0016: Fundamentals of Internet Programming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xmlns="" id="{E785851B-4529-7001-4F67-95A78F9A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C2D8FC1D-C33E-6895-D4A9-4CBA52015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xmlns="" id="{E94B2A80-4824-0BC3-95D8-32D52D017F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8841D5DE-5E1F-C754-2F86-21E0F766848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07515" y="986578"/>
            <a:ext cx="9130655" cy="545456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xmlns="" id="{11AFF8F0-2465-E799-0B78-C04DDAFE1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604" y="3311665"/>
            <a:ext cx="3494388" cy="150785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xmlns="" id="{9A17E259-9A62-4308-0920-CFC25AF8121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8642"/>
          <a:stretch/>
        </p:blipFill>
        <p:spPr>
          <a:xfrm>
            <a:off x="7721604" y="1032952"/>
            <a:ext cx="3494388" cy="1752599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xmlns="" id="{1B5A0999-5CCE-7DB1-10B2-9420ED4A7619}"/>
              </a:ext>
            </a:extLst>
          </p:cNvPr>
          <p:cNvCxnSpPr/>
          <p:nvPr/>
        </p:nvCxnSpPr>
        <p:spPr>
          <a:xfrm>
            <a:off x="5019472" y="1896894"/>
            <a:ext cx="242218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xmlns="" id="{13928D70-99FF-B3D3-C3C8-62E439861E40}"/>
              </a:ext>
            </a:extLst>
          </p:cNvPr>
          <p:cNvCxnSpPr>
            <a:cxnSpLocks/>
          </p:cNvCxnSpPr>
          <p:nvPr/>
        </p:nvCxnSpPr>
        <p:spPr>
          <a:xfrm>
            <a:off x="5019472" y="2986391"/>
            <a:ext cx="2422188" cy="10700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391648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1B1D72-408C-5101-9290-91A9DFF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33740"/>
            <a:ext cx="10018713" cy="1752599"/>
          </a:xfrm>
        </p:spPr>
        <p:txBody>
          <a:bodyPr/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Nunito" pitchFamily="2" charset="0"/>
              </a:rPr>
              <a:t>CSS </a:t>
            </a:r>
            <a:r>
              <a:rPr lang="en-IN" b="1" dirty="0">
                <a:solidFill>
                  <a:srgbClr val="000000"/>
                </a:solidFill>
                <a:latin typeface="Nunito" pitchFamily="2" charset="0"/>
              </a:rPr>
              <a:t>Links (Contd.)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15DC92B-8F57-2BBB-57C9-3D8F4980B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424403"/>
            <a:ext cx="10018713" cy="3124201"/>
          </a:xfrm>
        </p:spPr>
        <p:txBody>
          <a:bodyPr>
            <a:noAutofit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Text Decoration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IN" b="1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alt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text-decoration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 property is mostly used to remove underlines from links: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b="0" i="0" dirty="0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	a:link 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{</a:t>
            </a: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  		text-decoration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:</a:t>
            </a:r>
            <a:r>
              <a:rPr lang="en-IN" b="0" i="0" dirty="0">
                <a:solidFill>
                  <a:srgbClr val="0000CD"/>
                </a:solidFill>
                <a:effectLst/>
                <a:latin typeface="Agency FB" panose="020B0503020202020204" pitchFamily="34" charset="0"/>
              </a:rPr>
              <a:t> none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;</a:t>
            </a: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	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}</a:t>
            </a:r>
            <a:r>
              <a:rPr lang="en-IN" dirty="0">
                <a:latin typeface="Agency FB" panose="020B0503020202020204" pitchFamily="34" charset="0"/>
              </a:rPr>
              <a:t/>
            </a:r>
            <a:br>
              <a:rPr lang="en-IN" dirty="0">
                <a:latin typeface="Agency FB" panose="020B0503020202020204" pitchFamily="34" charset="0"/>
              </a:rPr>
            </a:br>
            <a:r>
              <a:rPr lang="en-IN" dirty="0">
                <a:latin typeface="Agency FB" panose="020B0503020202020204" pitchFamily="34" charset="0"/>
              </a:rPr>
              <a:t>	</a:t>
            </a:r>
            <a:r>
              <a:rPr lang="en-IN" b="0" i="0" dirty="0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a:visited 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{</a:t>
            </a: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  		text-decoration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:</a:t>
            </a:r>
            <a:r>
              <a:rPr lang="en-IN" b="0" i="0" dirty="0">
                <a:solidFill>
                  <a:srgbClr val="0000CD"/>
                </a:solidFill>
                <a:effectLst/>
                <a:latin typeface="Agency FB" panose="020B0503020202020204" pitchFamily="34" charset="0"/>
              </a:rPr>
              <a:t> underline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;</a:t>
            </a: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	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}</a:t>
            </a:r>
            <a:r>
              <a:rPr lang="en-IN" dirty="0">
                <a:latin typeface="Agency FB" panose="020B0503020202020204" pitchFamily="34" charset="0"/>
              </a:rPr>
              <a:t/>
            </a:r>
            <a:br>
              <a:rPr lang="en-IN" dirty="0">
                <a:latin typeface="Agency FB" panose="020B0503020202020204" pitchFamily="34" charset="0"/>
              </a:rPr>
            </a:br>
            <a:r>
              <a:rPr lang="en-IN" dirty="0">
                <a:latin typeface="Agency FB" panose="020B0503020202020204" pitchFamily="34" charset="0"/>
              </a:rPr>
              <a:t>	</a:t>
            </a:r>
            <a:r>
              <a:rPr lang="en-IN" b="0" i="0" dirty="0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a:hover 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{</a:t>
            </a: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  		text-decoration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:</a:t>
            </a:r>
            <a:r>
              <a:rPr lang="en-IN" b="0" i="0" dirty="0">
                <a:solidFill>
                  <a:srgbClr val="0000CD"/>
                </a:solidFill>
                <a:effectLst/>
                <a:latin typeface="Agency FB" panose="020B0503020202020204" pitchFamily="34" charset="0"/>
              </a:rPr>
              <a:t> underline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;</a:t>
            </a: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	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}</a:t>
            </a:r>
            <a:r>
              <a:rPr lang="en-IN" dirty="0">
                <a:latin typeface="Agency FB" panose="020B0503020202020204" pitchFamily="34" charset="0"/>
              </a:rPr>
              <a:t/>
            </a:r>
            <a:br>
              <a:rPr lang="en-IN" dirty="0">
                <a:latin typeface="Agency FB" panose="020B0503020202020204" pitchFamily="34" charset="0"/>
              </a:rPr>
            </a:b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gency FB" panose="020B050302020202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4296A6D-897E-8124-C8E6-23167C6C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6359134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xmlns="" id="{DC4ECBFF-0A0C-08D6-F99B-7E96F41E490E}"/>
              </a:ext>
            </a:extLst>
          </p:cNvPr>
          <p:cNvSpPr txBox="1">
            <a:spLocks/>
          </p:cNvSpPr>
          <p:nvPr/>
        </p:nvSpPr>
        <p:spPr>
          <a:xfrm>
            <a:off x="2553911" y="635913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gency FB" panose="020B0503020202020204" pitchFamily="34" charset="0"/>
              </a:rPr>
              <a:t>BCAC0016: Fundamentals of Internet Programming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xmlns="" id="{E785851B-4529-7001-4F67-95A78F9A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C2D8FC1D-C33E-6895-D4A9-4CBA52015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xmlns="" id="{E94B2A80-4824-0BC3-95D8-32D52D017F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11500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1B1D72-408C-5101-9290-91A9DFF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33741"/>
            <a:ext cx="10018713" cy="1326760"/>
          </a:xfrm>
        </p:spPr>
        <p:txBody>
          <a:bodyPr/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Nunito" pitchFamily="2" charset="0"/>
              </a:rPr>
              <a:t>CSS </a:t>
            </a:r>
            <a:r>
              <a:rPr lang="en-IN" b="1" dirty="0">
                <a:solidFill>
                  <a:srgbClr val="000000"/>
                </a:solidFill>
                <a:latin typeface="Nunito" pitchFamily="2" charset="0"/>
              </a:rPr>
              <a:t>Links (Contd.)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15DC92B-8F57-2BBB-57C9-3D8F4980B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0810" y="2370136"/>
            <a:ext cx="10018713" cy="3929064"/>
          </a:xfrm>
        </p:spPr>
        <p:txBody>
          <a:bodyPr>
            <a:noAutofit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Background </a:t>
            </a:r>
            <a:r>
              <a:rPr lang="en-IN" b="1" dirty="0" err="1">
                <a:solidFill>
                  <a:srgbClr val="000000"/>
                </a:solidFill>
                <a:latin typeface="Segoe UI" panose="020B0502040204020203" pitchFamily="34" charset="0"/>
              </a:rPr>
              <a:t>C</a:t>
            </a:r>
            <a:r>
              <a:rPr lang="en-IN" b="1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olor</a:t>
            </a:r>
            <a:endParaRPr lang="en-IN" b="1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IN" b="1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alt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background-color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 property is mostly used to specify a background color for links: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b="0" i="0" dirty="0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	a:link 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{</a:t>
            </a: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  		 background-</a:t>
            </a:r>
            <a:r>
              <a:rPr lang="en-IN" b="0" i="0" dirty="0" err="1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color</a:t>
            </a:r>
            <a:r>
              <a:rPr lang="en-IN" dirty="0">
                <a:solidFill>
                  <a:srgbClr val="FF0000"/>
                </a:solidFill>
                <a:latin typeface="Agency FB" panose="020B0503020202020204" pitchFamily="34" charset="0"/>
              </a:rPr>
              <a:t>:</a:t>
            </a:r>
            <a:r>
              <a:rPr lang="en-IN" b="0" i="0" dirty="0">
                <a:solidFill>
                  <a:srgbClr val="0000CD"/>
                </a:solidFill>
                <a:effectLst/>
                <a:latin typeface="Agency FB" panose="020B0503020202020204" pitchFamily="34" charset="0"/>
              </a:rPr>
              <a:t> yellow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;</a:t>
            </a: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	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}</a:t>
            </a:r>
            <a:r>
              <a:rPr lang="en-IN" dirty="0">
                <a:latin typeface="Agency FB" panose="020B0503020202020204" pitchFamily="34" charset="0"/>
              </a:rPr>
              <a:t/>
            </a:r>
            <a:br>
              <a:rPr lang="en-IN" dirty="0">
                <a:latin typeface="Agency FB" panose="020B0503020202020204" pitchFamily="34" charset="0"/>
              </a:rPr>
            </a:br>
            <a:r>
              <a:rPr lang="en-IN" dirty="0">
                <a:latin typeface="Agency FB" panose="020B0503020202020204" pitchFamily="34" charset="0"/>
              </a:rPr>
              <a:t>	</a:t>
            </a:r>
            <a:r>
              <a:rPr lang="en-IN" b="0" i="0" dirty="0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a:visited 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{</a:t>
            </a: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  		 background-</a:t>
            </a:r>
            <a:r>
              <a:rPr lang="en-IN" b="0" i="0" dirty="0" err="1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color</a:t>
            </a:r>
            <a:r>
              <a:rPr lang="en-IN" dirty="0">
                <a:solidFill>
                  <a:srgbClr val="FF0000"/>
                </a:solidFill>
                <a:latin typeface="Agency FB" panose="020B0503020202020204" pitchFamily="34" charset="0"/>
              </a:rPr>
              <a:t>:</a:t>
            </a:r>
            <a:r>
              <a:rPr lang="en-IN" b="0" i="0" dirty="0">
                <a:solidFill>
                  <a:srgbClr val="0000CD"/>
                </a:solidFill>
                <a:effectLst/>
                <a:latin typeface="Agency FB" panose="020B0503020202020204" pitchFamily="34" charset="0"/>
              </a:rPr>
              <a:t> cyan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;</a:t>
            </a: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	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}</a:t>
            </a:r>
            <a:r>
              <a:rPr lang="en-IN" dirty="0">
                <a:latin typeface="Agency FB" panose="020B0503020202020204" pitchFamily="34" charset="0"/>
              </a:rPr>
              <a:t/>
            </a:r>
            <a:br>
              <a:rPr lang="en-IN" dirty="0">
                <a:latin typeface="Agency FB" panose="020B0503020202020204" pitchFamily="34" charset="0"/>
              </a:rPr>
            </a:br>
            <a:r>
              <a:rPr lang="en-IN" dirty="0">
                <a:latin typeface="Agency FB" panose="020B0503020202020204" pitchFamily="34" charset="0"/>
              </a:rPr>
              <a:t>	</a:t>
            </a:r>
            <a:r>
              <a:rPr lang="en-IN" b="0" i="0" dirty="0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a:hover 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{</a:t>
            </a: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  		 background-</a:t>
            </a:r>
            <a:r>
              <a:rPr lang="en-IN" b="0" i="0" dirty="0" err="1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color</a:t>
            </a:r>
            <a:r>
              <a:rPr lang="en-IN" dirty="0">
                <a:solidFill>
                  <a:srgbClr val="FF0000"/>
                </a:solidFill>
                <a:latin typeface="Agency FB" panose="020B0503020202020204" pitchFamily="34" charset="0"/>
              </a:rPr>
              <a:t>:</a:t>
            </a:r>
            <a:r>
              <a:rPr lang="en-IN" b="0" i="0" dirty="0">
                <a:solidFill>
                  <a:srgbClr val="0000CD"/>
                </a:solidFill>
                <a:effectLst/>
                <a:latin typeface="Agency FB" panose="020B0503020202020204" pitchFamily="34" charset="0"/>
              </a:rPr>
              <a:t> </a:t>
            </a:r>
            <a:r>
              <a:rPr lang="en-IN" b="0" i="0" dirty="0" err="1">
                <a:solidFill>
                  <a:srgbClr val="0000CD"/>
                </a:solidFill>
                <a:effectLst/>
                <a:latin typeface="Agency FB" panose="020B0503020202020204" pitchFamily="34" charset="0"/>
              </a:rPr>
              <a:t>lightgreen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;</a:t>
            </a: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	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}</a:t>
            </a:r>
            <a:r>
              <a:rPr lang="en-IN" dirty="0">
                <a:latin typeface="Agency FB" panose="020B0503020202020204" pitchFamily="34" charset="0"/>
              </a:rPr>
              <a:t/>
            </a:r>
            <a:br>
              <a:rPr lang="en-IN" dirty="0">
                <a:latin typeface="Agency FB" panose="020B0503020202020204" pitchFamily="34" charset="0"/>
              </a:rPr>
            </a:b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gency FB" panose="020B050302020202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4296A6D-897E-8124-C8E6-23167C6C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6359134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xmlns="" id="{DC4ECBFF-0A0C-08D6-F99B-7E96F41E490E}"/>
              </a:ext>
            </a:extLst>
          </p:cNvPr>
          <p:cNvSpPr txBox="1">
            <a:spLocks/>
          </p:cNvSpPr>
          <p:nvPr/>
        </p:nvSpPr>
        <p:spPr>
          <a:xfrm>
            <a:off x="2553911" y="635913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gency FB" panose="020B0503020202020204" pitchFamily="34" charset="0"/>
              </a:rPr>
              <a:t>BCAC0016: Fundamentals of Internet Programming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xmlns="" id="{E785851B-4529-7001-4F67-95A78F9A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C2D8FC1D-C33E-6895-D4A9-4CBA52015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xmlns="" id="{E94B2A80-4824-0BC3-95D8-32D52D017F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28933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5911" y="2717800"/>
            <a:ext cx="10018713" cy="1752599"/>
          </a:xfrm>
        </p:spPr>
        <p:txBody>
          <a:bodyPr/>
          <a:lstStyle/>
          <a:p>
            <a:r>
              <a:rPr lang="en-US" dirty="0" smtClean="0">
                <a:solidFill>
                  <a:srgbClr val="0000FF"/>
                </a:solidFill>
              </a:rPr>
              <a:t>CSS Margins</a:t>
            </a:r>
            <a:br>
              <a:rPr lang="en-US" dirty="0" smtClean="0">
                <a:solidFill>
                  <a:srgbClr val="0000FF"/>
                </a:solidFill>
              </a:rPr>
            </a:b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latin typeface="Agency FB" panose="020B0503020202020204" pitchFamily="34" charset="0"/>
              </a:rPr>
              <a:t>BCAC0016: Fundamentals of Internet Programming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latin typeface="Agency FB" panose="020B0503020202020204" pitchFamily="34" charset="0"/>
              </a:rPr>
              <a:t>BCAC0016: Fundamentals of Internet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509710" y="1612899"/>
            <a:ext cx="10018713" cy="3124201"/>
          </a:xfrm>
        </p:spPr>
        <p:txBody>
          <a:bodyPr/>
          <a:lstStyle/>
          <a:p>
            <a:r>
              <a:rPr lang="en-US" dirty="0" smtClean="0"/>
              <a:t>The CSS margin properties are used to create space around elements, outside of any defined borders.</a:t>
            </a:r>
          </a:p>
          <a:p>
            <a:r>
              <a:rPr lang="en-US" dirty="0" smtClean="0"/>
              <a:t>With CSS, you have full control over the margins. </a:t>
            </a:r>
          </a:p>
          <a:p>
            <a:r>
              <a:rPr lang="en-US" dirty="0" smtClean="0"/>
              <a:t>There are properties for setting the margin for each side of an element (top, right, bottom, and left).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901701"/>
            <a:ext cx="10018713" cy="48895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Margin - Individual Sides</a:t>
            </a:r>
          </a:p>
          <a:p>
            <a:r>
              <a:rPr lang="en-US" dirty="0" smtClean="0"/>
              <a:t>CSS has properties for specifying the margin for each side of an element: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FF0000"/>
                </a:solidFill>
              </a:rPr>
              <a:t>margin-top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	margin-right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	margin-bottom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	margin-left</a:t>
            </a:r>
          </a:p>
          <a:p>
            <a:r>
              <a:rPr lang="en-US" dirty="0" smtClean="0"/>
              <a:t>All the margin properties can have the following values: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FF0000"/>
                </a:solidFill>
              </a:rPr>
              <a:t>auto </a:t>
            </a:r>
            <a:r>
              <a:rPr lang="en-US" dirty="0" smtClean="0"/>
              <a:t>- the browser calculates the margin</a:t>
            </a:r>
          </a:p>
          <a:p>
            <a:pPr>
              <a:buNone/>
            </a:pPr>
            <a:r>
              <a:rPr lang="en-US" i="1" dirty="0" smtClean="0"/>
              <a:t>	</a:t>
            </a:r>
            <a:r>
              <a:rPr lang="en-US" i="1" dirty="0" smtClean="0">
                <a:solidFill>
                  <a:srgbClr val="FF0000"/>
                </a:solidFill>
              </a:rPr>
              <a:t>length</a:t>
            </a:r>
            <a:r>
              <a:rPr lang="en-US" dirty="0" smtClean="0"/>
              <a:t> - specifies a margin in </a:t>
            </a:r>
            <a:r>
              <a:rPr lang="en-US" dirty="0" err="1" smtClean="0"/>
              <a:t>px</a:t>
            </a:r>
            <a:r>
              <a:rPr lang="en-US" dirty="0" smtClean="0"/>
              <a:t>, pt, cm, etc.</a:t>
            </a:r>
          </a:p>
          <a:p>
            <a:pPr>
              <a:buNone/>
            </a:pPr>
            <a:r>
              <a:rPr lang="en-US" i="1" dirty="0" smtClean="0"/>
              <a:t>	</a:t>
            </a:r>
            <a:r>
              <a:rPr lang="en-US" i="1" dirty="0" smtClean="0">
                <a:solidFill>
                  <a:srgbClr val="FF0000"/>
                </a:solidFill>
              </a:rPr>
              <a:t>%</a:t>
            </a:r>
            <a:r>
              <a:rPr lang="en-US" dirty="0" smtClean="0"/>
              <a:t> - specifies a margin in % of the width of the containing element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FF0000"/>
                </a:solidFill>
              </a:rPr>
              <a:t>inherit</a:t>
            </a:r>
            <a:r>
              <a:rPr lang="en-US" dirty="0" smtClean="0"/>
              <a:t> - specifies that the margin should be inherited from the parent element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latin typeface="Agency FB" panose="020B0503020202020204" pitchFamily="34" charset="0"/>
              </a:rPr>
              <a:t>BCAC0016: Fundamentals of Internet Programming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977900"/>
          </a:xfrm>
        </p:spPr>
        <p:txBody>
          <a:bodyPr/>
          <a:lstStyle/>
          <a:p>
            <a:pPr algn="l"/>
            <a:r>
              <a:rPr lang="en-US" dirty="0" smtClean="0"/>
              <a:t>Margin properties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latin typeface="Agency FB" panose="020B0503020202020204" pitchFamily="34" charset="0"/>
              </a:rPr>
              <a:t>BCAC0016: Fundamentals of Internet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49</a:t>
            </a:fld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41945" y="2095500"/>
            <a:ext cx="10494455" cy="2932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889000"/>
          </a:xfrm>
        </p:spPr>
        <p:txBody>
          <a:bodyPr/>
          <a:lstStyle/>
          <a:p>
            <a:pPr algn="l"/>
            <a:r>
              <a:rPr lang="en-US" dirty="0" smtClean="0"/>
              <a:t>Cont…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latin typeface="Agency FB" panose="020B0503020202020204" pitchFamily="34" charset="0"/>
              </a:rPr>
              <a:t>BCAC0016: Fundamentals of Internet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50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57350" y="2927350"/>
            <a:ext cx="3400425" cy="226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86574" y="4041774"/>
            <a:ext cx="4314825" cy="1187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921374" y="1468438"/>
            <a:ext cx="4835525" cy="18633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Down Arrow 8"/>
          <p:cNvSpPr/>
          <p:nvPr/>
        </p:nvSpPr>
        <p:spPr>
          <a:xfrm>
            <a:off x="8470900" y="3352800"/>
            <a:ext cx="584200" cy="6477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1041400"/>
          </a:xfrm>
        </p:spPr>
        <p:txBody>
          <a:bodyPr/>
          <a:lstStyle/>
          <a:p>
            <a:pPr algn="l"/>
            <a:r>
              <a:rPr lang="en-US" dirty="0" smtClean="0"/>
              <a:t>Cont…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51</a:t>
            </a:fld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28774" y="1654578"/>
            <a:ext cx="4581525" cy="1990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289800" y="1779092"/>
            <a:ext cx="3784600" cy="11974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ight Arrow 7"/>
          <p:cNvSpPr/>
          <p:nvPr/>
        </p:nvSpPr>
        <p:spPr>
          <a:xfrm>
            <a:off x="6261100" y="2171700"/>
            <a:ext cx="1054100" cy="4445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676399" y="3848101"/>
            <a:ext cx="4450501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289800" y="3996645"/>
            <a:ext cx="3022600" cy="12182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ight Arrow 10"/>
          <p:cNvSpPr/>
          <p:nvPr/>
        </p:nvSpPr>
        <p:spPr>
          <a:xfrm>
            <a:off x="6108700" y="4343400"/>
            <a:ext cx="1231900" cy="558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1168400"/>
          </a:xfrm>
        </p:spPr>
        <p:txBody>
          <a:bodyPr/>
          <a:lstStyle/>
          <a:p>
            <a:pPr algn="l"/>
            <a:r>
              <a:rPr lang="en-US" dirty="0" smtClean="0"/>
              <a:t>Cont…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559579" y="6226175"/>
            <a:ext cx="7084177" cy="365125"/>
          </a:xfrm>
        </p:spPr>
        <p:txBody>
          <a:bodyPr/>
          <a:lstStyle/>
          <a:p>
            <a:r>
              <a:rPr lang="en-US" dirty="0" smtClean="0">
                <a:latin typeface="Agency FB" panose="020B0503020202020204" pitchFamily="34" charset="0"/>
              </a:rPr>
              <a:t>BCAC0016: Fundamentals of Internet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52</a:t>
            </a:fld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79575" y="1828800"/>
            <a:ext cx="4802512" cy="142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219950" y="1936923"/>
            <a:ext cx="2990850" cy="14666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ight Arrow 7"/>
          <p:cNvSpPr/>
          <p:nvPr/>
        </p:nvSpPr>
        <p:spPr>
          <a:xfrm>
            <a:off x="6502400" y="2374900"/>
            <a:ext cx="736600" cy="482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17675" y="3514724"/>
            <a:ext cx="8205704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624263" y="4476749"/>
            <a:ext cx="2662237" cy="13848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Down Arrow 10"/>
          <p:cNvSpPr/>
          <p:nvPr/>
        </p:nvSpPr>
        <p:spPr>
          <a:xfrm>
            <a:off x="4584700" y="4089400"/>
            <a:ext cx="469900" cy="4064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69901"/>
            <a:ext cx="10018713" cy="1206500"/>
          </a:xfrm>
        </p:spPr>
        <p:txBody>
          <a:bodyPr/>
          <a:lstStyle/>
          <a:p>
            <a:pPr algn="l"/>
            <a:r>
              <a:rPr lang="en-US" dirty="0" smtClean="0"/>
              <a:t>Cont…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latin typeface="Agency FB" panose="020B0503020202020204" pitchFamily="34" charset="0"/>
              </a:rPr>
              <a:t>BCAC0016: Fundamentals of Internet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53</a:t>
            </a:fld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54163" y="1571624"/>
            <a:ext cx="9752979" cy="63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52901" y="2571750"/>
            <a:ext cx="3081338" cy="2423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Down Arrow 7"/>
          <p:cNvSpPr/>
          <p:nvPr/>
        </p:nvSpPr>
        <p:spPr>
          <a:xfrm>
            <a:off x="5232400" y="2184400"/>
            <a:ext cx="520700" cy="4064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54</a:t>
            </a:fld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0963" y="30820"/>
            <a:ext cx="8720137" cy="6565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47485" y="1662113"/>
            <a:ext cx="7144516" cy="1690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761999"/>
          </a:xfrm>
        </p:spPr>
        <p:txBody>
          <a:bodyPr/>
          <a:lstStyle/>
          <a:p>
            <a:pPr algn="l"/>
            <a:r>
              <a:rPr lang="en-US" dirty="0" smtClean="0"/>
              <a:t>CSS Margin Collapse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2410" y="1435099"/>
            <a:ext cx="10018713" cy="2044701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Top and bottom </a:t>
            </a:r>
            <a:r>
              <a:rPr lang="en-US" dirty="0" smtClean="0"/>
              <a:t>margins of elements are sometimes collapsed into a single margin.</a:t>
            </a:r>
          </a:p>
          <a:p>
            <a:r>
              <a:rPr lang="en-US" dirty="0" smtClean="0"/>
              <a:t> that is equal to the largest of the two margins.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407179" y="6226175"/>
            <a:ext cx="7084177" cy="365125"/>
          </a:xfrm>
        </p:spPr>
        <p:txBody>
          <a:bodyPr/>
          <a:lstStyle/>
          <a:p>
            <a:r>
              <a:rPr lang="en-US" dirty="0" smtClean="0">
                <a:latin typeface="Agency FB" panose="020B0503020202020204" pitchFamily="34" charset="0"/>
              </a:rPr>
              <a:t>BCAC0016: Fundamentals of Internet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55</a:t>
            </a:fld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34338" y="2849718"/>
            <a:ext cx="4005262" cy="2971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1409700" y="3550335"/>
            <a:ext cx="6096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</a:rPr>
              <a:t>&lt;h1&gt; element has a bottom margin of </a:t>
            </a:r>
            <a:r>
              <a:rPr lang="en-US" sz="2000" b="1" dirty="0" smtClean="0">
                <a:solidFill>
                  <a:srgbClr val="FF0000"/>
                </a:solidFill>
              </a:rPr>
              <a:t>50px </a:t>
            </a:r>
            <a:r>
              <a:rPr lang="en-US" sz="2000" dirty="0" smtClean="0">
                <a:solidFill>
                  <a:srgbClr val="FF0000"/>
                </a:solidFill>
              </a:rPr>
              <a:t>and the</a:t>
            </a:r>
          </a:p>
          <a:p>
            <a:r>
              <a:rPr lang="en-US" sz="2000" dirty="0" smtClean="0">
                <a:solidFill>
                  <a:srgbClr val="FF0000"/>
                </a:solidFill>
              </a:rPr>
              <a:t> &lt;h2&gt; element has a top margin set to</a:t>
            </a:r>
            <a:r>
              <a:rPr lang="en-US" sz="2000" b="1" dirty="0" smtClean="0">
                <a:solidFill>
                  <a:srgbClr val="FF0000"/>
                </a:solidFill>
              </a:rPr>
              <a:t> 20px.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" name="Curved Down Arrow 7"/>
          <p:cNvSpPr/>
          <p:nvPr/>
        </p:nvSpPr>
        <p:spPr>
          <a:xfrm>
            <a:off x="7708900" y="2133600"/>
            <a:ext cx="1216152" cy="73152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56</a:t>
            </a:fld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05960" y="246335"/>
            <a:ext cx="9335536" cy="6054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239000" y="1336813"/>
            <a:ext cx="49530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57</a:t>
            </a:fld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47774" y="351983"/>
            <a:ext cx="9026526" cy="62805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867400" y="1619250"/>
            <a:ext cx="6096000" cy="140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rgbClr val="EDF7FD"/>
            </a:gs>
            <a:gs pos="83000">
              <a:schemeClr val="accent1">
                <a:lumMod val="20000"/>
                <a:lumOff val="80000"/>
              </a:schemeClr>
            </a:gs>
            <a:gs pos="100000">
              <a:srgbClr val="84CFF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B1B1D72-408C-5101-9290-91A9DFF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7347" y="2552700"/>
            <a:ext cx="10018713" cy="1752599"/>
          </a:xfrm>
        </p:spPr>
        <p:txBody>
          <a:bodyPr/>
          <a:lstStyle/>
          <a:p>
            <a:pPr algn="l"/>
            <a:r>
              <a:rPr lang="en-IN" b="1" dirty="0"/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7E29668-A8D8-E60C-0760-F80CEBC9B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2945" y="6359135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58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="" xmlns:a16="http://schemas.microsoft.com/office/drawing/2014/main" id="{500B4AC9-607B-3F3E-0435-347E52C8E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3911" y="6359135"/>
            <a:ext cx="7084177" cy="365125"/>
          </a:xfrm>
        </p:spPr>
        <p:txBody>
          <a:bodyPr/>
          <a:lstStyle/>
          <a:p>
            <a:r>
              <a:rPr lang="en-US" sz="1400" dirty="0">
                <a:latin typeface="Agency FB" panose="020B0503020202020204" pitchFamily="34" charset="0"/>
              </a:rPr>
              <a:t>BCAC0016: Fundamentals of Internet Programming</a:t>
            </a:r>
          </a:p>
        </p:txBody>
      </p:sp>
    </p:spTree>
    <p:extLst>
      <p:ext uri="{BB962C8B-B14F-4D97-AF65-F5344CB8AC3E}">
        <p14:creationId xmlns="" xmlns:p14="http://schemas.microsoft.com/office/powerpoint/2010/main" val="3180145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2709</TotalTime>
  <Words>1654</Words>
  <Application>Microsoft Office PowerPoint</Application>
  <PresentationFormat>Custom</PresentationFormat>
  <Paragraphs>432</Paragraphs>
  <Slides>58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59" baseType="lpstr">
      <vt:lpstr>Parallax</vt:lpstr>
      <vt:lpstr>Advanced CSS</vt:lpstr>
      <vt:lpstr>Outline</vt:lpstr>
      <vt:lpstr>CSS – Shadow Effects</vt:lpstr>
      <vt:lpstr>CSS – Shadow Effects (Contd.)</vt:lpstr>
      <vt:lpstr>CSS – Shadow Effects (Contd.)</vt:lpstr>
      <vt:lpstr>CSS – Text Effects</vt:lpstr>
      <vt:lpstr>CSS – Text Effects (Contd.)</vt:lpstr>
      <vt:lpstr>CSS – Text Effects Properties</vt:lpstr>
      <vt:lpstr>CSS – Tooltips</vt:lpstr>
      <vt:lpstr> HAPPY NEW YEAR DEAR CLASS </vt:lpstr>
      <vt:lpstr>CSS – Styling Images</vt:lpstr>
      <vt:lpstr>CSS – Styling Images (Contd.)</vt:lpstr>
      <vt:lpstr>CSS – Styling Images (Contd.)</vt:lpstr>
      <vt:lpstr>CSS – Styling Images (Contd.)</vt:lpstr>
      <vt:lpstr>CSS – Styling Images (Contd.)</vt:lpstr>
      <vt:lpstr>Tables in CSS</vt:lpstr>
      <vt:lpstr>CSS Tables</vt:lpstr>
      <vt:lpstr>CSS Tables (Contd.)</vt:lpstr>
      <vt:lpstr>CSS Tables (Contd.)</vt:lpstr>
      <vt:lpstr>CSS Tables (Contd.)</vt:lpstr>
      <vt:lpstr>CSS Tables (Contd.)</vt:lpstr>
      <vt:lpstr>CSS Tables (Contd.)</vt:lpstr>
      <vt:lpstr>CSS Tables (Contd.)</vt:lpstr>
      <vt:lpstr>CSS Tables (Contd.)</vt:lpstr>
      <vt:lpstr>CSS Tables (Contd.)</vt:lpstr>
      <vt:lpstr>CSS Tables (Contd.)</vt:lpstr>
      <vt:lpstr>CSS Tables (Contd.)</vt:lpstr>
      <vt:lpstr>CSS Tables (Contd.)</vt:lpstr>
      <vt:lpstr>Lists in CSS</vt:lpstr>
      <vt:lpstr>Outline</vt:lpstr>
      <vt:lpstr>CSS Lists</vt:lpstr>
      <vt:lpstr>CSS Lists (Contd.)</vt:lpstr>
      <vt:lpstr>CSS Lists (Contd.)</vt:lpstr>
      <vt:lpstr>CSS Lists (Contd.)</vt:lpstr>
      <vt:lpstr>CSS Lists (Contd.)</vt:lpstr>
      <vt:lpstr>CSS Lists (Contd.)</vt:lpstr>
      <vt:lpstr>CSS Lists (Contd.)</vt:lpstr>
      <vt:lpstr>Outline</vt:lpstr>
      <vt:lpstr>CSS Links</vt:lpstr>
      <vt:lpstr>CSS Links (Contd.)</vt:lpstr>
      <vt:lpstr>CSS Links (Contd.)</vt:lpstr>
      <vt:lpstr>CSS Links (Contd.)</vt:lpstr>
      <vt:lpstr>CSS Links (Contd.)</vt:lpstr>
      <vt:lpstr>CSS Links (Contd.)</vt:lpstr>
      <vt:lpstr>CSS Links (Contd.)</vt:lpstr>
      <vt:lpstr>CSS Margins </vt:lpstr>
      <vt:lpstr>Slide 47</vt:lpstr>
      <vt:lpstr>Slide 48</vt:lpstr>
      <vt:lpstr>Margin properties</vt:lpstr>
      <vt:lpstr>Cont…</vt:lpstr>
      <vt:lpstr>Cont…</vt:lpstr>
      <vt:lpstr>Cont…</vt:lpstr>
      <vt:lpstr>Cont…</vt:lpstr>
      <vt:lpstr>Slide 54</vt:lpstr>
      <vt:lpstr>CSS Margin Collapse</vt:lpstr>
      <vt:lpstr>Slide 56</vt:lpstr>
      <vt:lpstr>Slide 57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Nabanita Choudhury</dc:creator>
  <cp:lastModifiedBy>rc</cp:lastModifiedBy>
  <cp:revision>208</cp:revision>
  <dcterms:created xsi:type="dcterms:W3CDTF">2022-11-29T04:01:05Z</dcterms:created>
  <dcterms:modified xsi:type="dcterms:W3CDTF">2023-01-10T04:48:23Z</dcterms:modified>
</cp:coreProperties>
</file>