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4015" r:id="rId1"/>
  </p:sldMasterIdLst>
  <p:notesMasterIdLst>
    <p:notesMasterId r:id="rId16"/>
  </p:notesMasterIdLst>
  <p:sldIdLst>
    <p:sldId id="256" r:id="rId2"/>
    <p:sldId id="326" r:id="rId3"/>
    <p:sldId id="327" r:id="rId4"/>
    <p:sldId id="328" r:id="rId5"/>
    <p:sldId id="329" r:id="rId6"/>
    <p:sldId id="330" r:id="rId7"/>
    <p:sldId id="331" r:id="rId8"/>
    <p:sldId id="332" r:id="rId9"/>
    <p:sldId id="333" r:id="rId10"/>
    <p:sldId id="334" r:id="rId11"/>
    <p:sldId id="335" r:id="rId12"/>
    <p:sldId id="336" r:id="rId13"/>
    <p:sldId id="337" r:id="rId14"/>
    <p:sldId id="31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EDF7FD"/>
    <a:srgbClr val="84CFF4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46" d="100"/>
          <a:sy n="46" d="100"/>
        </p:scale>
        <p:origin x="-126" y="-6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A071B2-A83E-4937-8D6F-005157A43A0A}" type="datetimeFigureOut">
              <a:rPr lang="en-IN" smtClean="0"/>
              <a:pPr/>
              <a:t>20-11-2023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101AFF-41A7-4666-ABB2-6C0E5DED162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198286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643EF-78DF-4E1F-BCCB-00055D392001}" type="datetime1">
              <a:rPr lang="en-US" smtClean="0"/>
              <a:pPr/>
              <a:t>11/20/2023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613846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8AFAE-5969-421D-816E-FEB9A7FF0BEC}" type="datetime1">
              <a:rPr lang="en-US" smtClean="0"/>
              <a:pPr/>
              <a:t>11/20/2023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468553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759B6-2E9E-4DED-8199-3CBD13E98B40}" type="datetime1">
              <a:rPr lang="en-US" smtClean="0"/>
              <a:pPr/>
              <a:t>11/20/2023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4207427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57F85-92D4-459F-9E52-160E0D4475D2}" type="datetime1">
              <a:rPr lang="en-US" smtClean="0"/>
              <a:pPr/>
              <a:t>11/20/2023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897154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7AEA7-729C-42D4-BDC5-23AEDFE8B11C}" type="datetime1">
              <a:rPr lang="en-US" smtClean="0"/>
              <a:pPr/>
              <a:t>11/20/2023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953290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51C1C-FEA1-4907-A156-52E63743DC0A}" type="datetime1">
              <a:rPr lang="en-US" smtClean="0"/>
              <a:pPr/>
              <a:t>11/20/2023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501145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AAFA6-1351-4528-8178-997464A419BB}" type="datetime1">
              <a:rPr lang="en-US" smtClean="0"/>
              <a:pPr/>
              <a:t>11/20/2023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921994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DD182-35BC-4AAE-A1AD-22D6441E9E3D}" type="datetime1">
              <a:rPr lang="en-US" smtClean="0"/>
              <a:pPr/>
              <a:t>11/20/2023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115599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59DC1-099B-4E2F-9803-5C90DCBC573B}" type="datetime1">
              <a:rPr lang="en-US" smtClean="0"/>
              <a:pPr/>
              <a:t>11/20/2023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017890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21061-C2C7-44BC-B21E-22E169FB636A}" type="datetime1">
              <a:rPr lang="en-US" smtClean="0"/>
              <a:pPr/>
              <a:t>11/20/2023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806178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8A044-0352-4D8F-B757-B06FFEF97E19}" type="datetime1">
              <a:rPr lang="en-US" smtClean="0"/>
              <a:pPr/>
              <a:t>11/20/2023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3395783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52483-28F1-474A-BD2C-E8B43F89F9D5}" type="datetime1">
              <a:rPr lang="en-US" smtClean="0"/>
              <a:pPr/>
              <a:t>11/20/2023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6046120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27A4D-6AF6-4A2D-B01E-15A470D47858}" type="datetime1">
              <a:rPr lang="en-US" smtClean="0"/>
              <a:pPr/>
              <a:t>11/20/2023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2732267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E854C-5480-4D69-9250-C6302D6E975E}" type="datetime1">
              <a:rPr lang="en-US" smtClean="0"/>
              <a:pPr/>
              <a:t>11/20/2023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3683427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B97CB-8FBD-41B0-ADB0-1E431A8B146E}" type="datetime1">
              <a:rPr lang="en-US" smtClean="0"/>
              <a:pPr/>
              <a:t>11/20/2023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9173495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484B9-BCE3-4EC1-BB1E-4F66EBA10658}" type="datetime1">
              <a:rPr lang="en-US" smtClean="0"/>
              <a:pPr/>
              <a:t>11/20/2023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5077776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42858-923F-41D4-AD75-E57F5F9E64BB}" type="datetime1">
              <a:rPr lang="en-US" smtClean="0"/>
              <a:pPr/>
              <a:t>11/20/2023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474694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69CDBCE-05F7-43F8-9CB9-165458DF6060}" type="datetime1">
              <a:rPr lang="en-US" smtClean="0"/>
              <a:pPr/>
              <a:t>11/20/2023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491815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6" r:id="rId1"/>
    <p:sldLayoutId id="2147484017" r:id="rId2"/>
    <p:sldLayoutId id="2147484018" r:id="rId3"/>
    <p:sldLayoutId id="2147484019" r:id="rId4"/>
    <p:sldLayoutId id="2147484020" r:id="rId5"/>
    <p:sldLayoutId id="2147484021" r:id="rId6"/>
    <p:sldLayoutId id="2147484022" r:id="rId7"/>
    <p:sldLayoutId id="2147484023" r:id="rId8"/>
    <p:sldLayoutId id="2147484024" r:id="rId9"/>
    <p:sldLayoutId id="2147484025" r:id="rId10"/>
    <p:sldLayoutId id="2147484026" r:id="rId11"/>
    <p:sldLayoutId id="2147484027" r:id="rId12"/>
    <p:sldLayoutId id="2147484028" r:id="rId13"/>
    <p:sldLayoutId id="2147484029" r:id="rId14"/>
    <p:sldLayoutId id="2147484030" r:id="rId15"/>
    <p:sldLayoutId id="2147484031" r:id="rId16"/>
    <p:sldLayoutId id="2147484032" r:id="rId17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20000"/>
                <a:lumOff val="80000"/>
              </a:schemeClr>
            </a:gs>
            <a:gs pos="83000">
              <a:schemeClr val="accent1">
                <a:lumMod val="20000"/>
                <a:lumOff val="80000"/>
              </a:schemeClr>
            </a:gs>
            <a:gs pos="100000">
              <a:srgbClr val="84CFF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1DE783C-0C38-0771-3234-77624C7E8A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43789" y="1586203"/>
            <a:ext cx="8367937" cy="2616199"/>
          </a:xfrm>
        </p:spPr>
        <p:txBody>
          <a:bodyPr>
            <a:normAutofit/>
          </a:bodyPr>
          <a:lstStyle/>
          <a:p>
            <a:r>
              <a:rPr lang="en-IN" sz="5400" b="1" dirty="0"/>
              <a:t>Tables in CSS</a:t>
            </a:r>
          </a:p>
        </p:txBody>
      </p:sp>
      <p:pic>
        <p:nvPicPr>
          <p:cNvPr id="4" name="Picture 2" descr="Gla Logo">
            <a:extLst>
              <a:ext uri="{FF2B5EF4-FFF2-40B4-BE49-F238E27FC236}">
                <a16:creationId xmlns="" xmlns:a16="http://schemas.microsoft.com/office/drawing/2014/main" id="{695904B5-497B-5413-823D-6889F7CC3C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9260" y="1"/>
            <a:ext cx="2922740" cy="18288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ubtitle 2">
            <a:extLst>
              <a:ext uri="{FF2B5EF4-FFF2-40B4-BE49-F238E27FC236}">
                <a16:creationId xmlns="" xmlns:a16="http://schemas.microsoft.com/office/drawing/2014/main" id="{2F0DFFF8-533F-C4E0-7641-CD387E5E9707}"/>
              </a:ext>
            </a:extLst>
          </p:cNvPr>
          <p:cNvSpPr txBox="1">
            <a:spLocks/>
          </p:cNvSpPr>
          <p:nvPr/>
        </p:nvSpPr>
        <p:spPr>
          <a:xfrm>
            <a:off x="555503" y="4655225"/>
            <a:ext cx="10993546" cy="233340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2200" dirty="0"/>
              <a:t>Dr. </a:t>
            </a:r>
            <a:r>
              <a:rPr lang="en-IN" sz="2200" dirty="0" smtClean="0"/>
              <a:t>Kanta Prasad Sharma</a:t>
            </a:r>
            <a:endParaRPr lang="en-IN" sz="22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2200" dirty="0"/>
              <a:t>Assistant </a:t>
            </a:r>
            <a:r>
              <a:rPr lang="en-IN" sz="2200" dirty="0" smtClean="0"/>
              <a:t>Professor,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2200" smtClean="0"/>
              <a:t>CEA, GLA </a:t>
            </a:r>
            <a:r>
              <a:rPr lang="en-IN" sz="2200" dirty="0"/>
              <a:t>University, Mathura</a:t>
            </a:r>
          </a:p>
        </p:txBody>
      </p:sp>
      <p:sp>
        <p:nvSpPr>
          <p:cNvPr id="6" name="Title 1">
            <a:extLst>
              <a:ext uri="{FF2B5EF4-FFF2-40B4-BE49-F238E27FC236}">
                <a16:creationId xmlns="" xmlns:a16="http://schemas.microsoft.com/office/drawing/2014/main" id="{091C2252-46CE-E0EB-683D-0C6D566CA1E8}"/>
              </a:ext>
            </a:extLst>
          </p:cNvPr>
          <p:cNvSpPr txBox="1">
            <a:spLocks/>
          </p:cNvSpPr>
          <p:nvPr/>
        </p:nvSpPr>
        <p:spPr>
          <a:xfrm>
            <a:off x="-155927" y="236658"/>
            <a:ext cx="7853682" cy="1349545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 fontScale="82500" lnSpcReduction="20000"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6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dirty="0"/>
              <a:t>BCAC </a:t>
            </a:r>
            <a:r>
              <a:rPr lang="en-IN" dirty="0" smtClean="0"/>
              <a:t>0019</a:t>
            </a:r>
            <a:r>
              <a:rPr lang="en-IN" dirty="0"/>
              <a:t/>
            </a:r>
            <a:br>
              <a:rPr lang="en-IN" dirty="0"/>
            </a:br>
            <a:r>
              <a:rPr lang="en-IN" dirty="0" smtClean="0"/>
              <a:t>Web Technology -1 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153AC35F-8F7D-4124-7F2A-B43FE8C4694B}"/>
              </a:ext>
            </a:extLst>
          </p:cNvPr>
          <p:cNvSpPr/>
          <p:nvPr/>
        </p:nvSpPr>
        <p:spPr>
          <a:xfrm>
            <a:off x="3247053" y="1678802"/>
            <a:ext cx="4292082" cy="5225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Module 2</a:t>
            </a:r>
          </a:p>
        </p:txBody>
      </p:sp>
    </p:spTree>
    <p:extLst>
      <p:ext uri="{BB962C8B-B14F-4D97-AF65-F5344CB8AC3E}">
        <p14:creationId xmlns="" xmlns:p14="http://schemas.microsoft.com/office/powerpoint/2010/main" val="1149810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rgbClr val="EDF7FD"/>
            </a:gs>
            <a:gs pos="83000">
              <a:schemeClr val="accent1">
                <a:lumMod val="20000"/>
                <a:lumOff val="80000"/>
              </a:schemeClr>
            </a:gs>
            <a:gs pos="100000">
              <a:srgbClr val="84CFF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B1B1D72-408C-5101-9290-91A9DFF72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369955"/>
            <a:ext cx="10018713" cy="1752599"/>
          </a:xfrm>
        </p:spPr>
        <p:txBody>
          <a:bodyPr/>
          <a:lstStyle/>
          <a:p>
            <a:pPr algn="l"/>
            <a:r>
              <a:rPr lang="en-IN" b="1" i="0" dirty="0">
                <a:solidFill>
                  <a:srgbClr val="000000"/>
                </a:solidFill>
                <a:effectLst/>
                <a:latin typeface="Nunito" pitchFamily="2" charset="0"/>
              </a:rPr>
              <a:t>CSS Tables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15DC92B-8F57-2BBB-57C9-3D8F4980B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3077547"/>
            <a:ext cx="10018713" cy="3124201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look of an HTML table can be greatly improved with CSS.</a:t>
            </a:r>
          </a:p>
          <a:p>
            <a:pPr marL="0" indent="0" algn="just">
              <a:buNone/>
            </a:pPr>
            <a:endParaRPr lang="en-US" sz="600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Table Borders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5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To specify table borders in CSS, use the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border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property.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following example specifies a solid border for &lt;table&gt;, &lt;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&gt;, and &lt;td&gt; elements: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C4296A6D-897E-8124-C8E6-23167C6CF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1856" y="6359134"/>
            <a:ext cx="5511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="" xmlns:a16="http://schemas.microsoft.com/office/drawing/2014/main" id="{DC4ECBFF-0A0C-08D6-F99B-7E96F41E490E}"/>
              </a:ext>
            </a:extLst>
          </p:cNvPr>
          <p:cNvSpPr txBox="1">
            <a:spLocks/>
          </p:cNvSpPr>
          <p:nvPr/>
        </p:nvSpPr>
        <p:spPr>
          <a:xfrm>
            <a:off x="2553911" y="635913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latin typeface="Agency FB" panose="020B0503020202020204" pitchFamily="34" charset="0"/>
              </a:rPr>
              <a:t>BCAC0016: Fundamentals of Internet Programming</a:t>
            </a:r>
            <a:endParaRPr lang="en-US" sz="1400" dirty="0">
              <a:latin typeface="Agency FB" panose="020B0503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="" xmlns:a16="http://schemas.microsoft.com/office/drawing/2014/main" id="{E785851B-4529-7001-4F67-95A78F9A5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="" xmlns:a16="http://schemas.microsoft.com/office/drawing/2014/main" id="{C2D8FC1D-C33E-6895-D4A9-4CBA52015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="" xmlns:a16="http://schemas.microsoft.com/office/drawing/2014/main" id="{A6FAEB0F-48CD-D7B0-2000-83B8F04CF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000"/>
            <a:ext cx="65" cy="4051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976433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rgbClr val="EDF7FD"/>
            </a:gs>
            <a:gs pos="83000">
              <a:schemeClr val="accent1">
                <a:lumMod val="20000"/>
                <a:lumOff val="80000"/>
              </a:schemeClr>
            </a:gs>
            <a:gs pos="100000">
              <a:srgbClr val="84CFF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B1B1D72-408C-5101-9290-91A9DFF72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6761" y="-204910"/>
            <a:ext cx="10018713" cy="1752599"/>
          </a:xfrm>
        </p:spPr>
        <p:txBody>
          <a:bodyPr/>
          <a:lstStyle/>
          <a:p>
            <a:pPr algn="l"/>
            <a:r>
              <a:rPr lang="en-IN" b="1" i="0" dirty="0">
                <a:solidFill>
                  <a:srgbClr val="000000"/>
                </a:solidFill>
                <a:effectLst/>
                <a:latin typeface="Nunito" pitchFamily="2" charset="0"/>
              </a:rPr>
              <a:t>CSS Tables (Contd.)</a:t>
            </a:r>
            <a:endParaRPr lang="en-IN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C4296A6D-897E-8124-C8E6-23167C6CF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1856" y="6359134"/>
            <a:ext cx="5511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="" xmlns:a16="http://schemas.microsoft.com/office/drawing/2014/main" id="{DC4ECBFF-0A0C-08D6-F99B-7E96F41E490E}"/>
              </a:ext>
            </a:extLst>
          </p:cNvPr>
          <p:cNvSpPr txBox="1">
            <a:spLocks/>
          </p:cNvSpPr>
          <p:nvPr/>
        </p:nvSpPr>
        <p:spPr>
          <a:xfrm>
            <a:off x="2553911" y="635913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latin typeface="Agency FB" panose="020B0503020202020204" pitchFamily="34" charset="0"/>
              </a:rPr>
              <a:t>BCAC0016: Fundamentals of Internet Programming</a:t>
            </a:r>
            <a:endParaRPr lang="en-US" sz="1400" dirty="0">
              <a:latin typeface="Agency FB" panose="020B0503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="" xmlns:a16="http://schemas.microsoft.com/office/drawing/2014/main" id="{E785851B-4529-7001-4F67-95A78F9A5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="" xmlns:a16="http://schemas.microsoft.com/office/drawing/2014/main" id="{C2D8FC1D-C33E-6895-D4A9-4CBA52015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="" xmlns:a16="http://schemas.microsoft.com/office/drawing/2014/main" id="{A6FAEB0F-48CD-D7B0-2000-83B8F04CF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000"/>
            <a:ext cx="65" cy="4051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31B7CC1E-6716-F6EC-7269-1B66AB71799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21535" y="982527"/>
            <a:ext cx="4274464" cy="546181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48EE79F3-7E6B-E950-4504-B410C39833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6418" y="2444395"/>
            <a:ext cx="3651021" cy="196920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52C8BCE4-6335-0B57-2782-A08672862411}"/>
              </a:ext>
            </a:extLst>
          </p:cNvPr>
          <p:cNvSpPr txBox="1"/>
          <p:nvPr/>
        </p:nvSpPr>
        <p:spPr>
          <a:xfrm>
            <a:off x="7931020" y="2075063"/>
            <a:ext cx="2547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OUTPUT:</a:t>
            </a:r>
          </a:p>
        </p:txBody>
      </p:sp>
    </p:spTree>
    <p:extLst>
      <p:ext uri="{BB962C8B-B14F-4D97-AF65-F5344CB8AC3E}">
        <p14:creationId xmlns="" xmlns:p14="http://schemas.microsoft.com/office/powerpoint/2010/main" val="3020511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rgbClr val="EDF7FD"/>
            </a:gs>
            <a:gs pos="83000">
              <a:schemeClr val="accent1">
                <a:lumMod val="20000"/>
                <a:lumOff val="80000"/>
              </a:schemeClr>
            </a:gs>
            <a:gs pos="100000">
              <a:srgbClr val="84CFF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B1B1D72-408C-5101-9290-91A9DFF72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369955"/>
            <a:ext cx="10018713" cy="1752599"/>
          </a:xfrm>
        </p:spPr>
        <p:txBody>
          <a:bodyPr/>
          <a:lstStyle/>
          <a:p>
            <a:pPr algn="l"/>
            <a:r>
              <a:rPr lang="en-IN" b="1" i="0" dirty="0">
                <a:solidFill>
                  <a:srgbClr val="000000"/>
                </a:solidFill>
                <a:effectLst/>
                <a:latin typeface="Nunito" pitchFamily="2" charset="0"/>
              </a:rPr>
              <a:t>CSS Tables (Contd.)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15DC92B-8F57-2BBB-57C9-3D8F4980B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3077547"/>
            <a:ext cx="10018713" cy="3124201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look of an HTML table can be greatly improved with CSS.</a:t>
            </a:r>
          </a:p>
          <a:p>
            <a:pPr marL="0" indent="0" algn="just">
              <a:buNone/>
            </a:pPr>
            <a:endParaRPr lang="en-US" sz="600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Full-Width Table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05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table above might seem small in some cases. If you need a table that should span the entire screen (full-width), add width: 100% to the &lt;table&gt; element: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Example: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IN" b="0" i="0" dirty="0">
                <a:solidFill>
                  <a:srgbClr val="A52A2A"/>
                </a:solidFill>
                <a:effectLst/>
                <a:latin typeface="Agency FB" panose="020B0503020202020204" pitchFamily="34" charset="0"/>
              </a:rPr>
              <a:t>	table 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{</a:t>
            </a: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  		width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:</a:t>
            </a:r>
            <a:r>
              <a:rPr lang="en-IN" b="0" i="0" dirty="0">
                <a:solidFill>
                  <a:srgbClr val="0000CD"/>
                </a:solidFill>
                <a:effectLst/>
                <a:latin typeface="Agency FB" panose="020B0503020202020204" pitchFamily="34" charset="0"/>
              </a:rPr>
              <a:t> 100%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;</a:t>
            </a: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	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}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gency FB" panose="020B050302020202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C4296A6D-897E-8124-C8E6-23167C6CF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1856" y="6359134"/>
            <a:ext cx="5511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="" xmlns:a16="http://schemas.microsoft.com/office/drawing/2014/main" id="{DC4ECBFF-0A0C-08D6-F99B-7E96F41E490E}"/>
              </a:ext>
            </a:extLst>
          </p:cNvPr>
          <p:cNvSpPr txBox="1">
            <a:spLocks/>
          </p:cNvSpPr>
          <p:nvPr/>
        </p:nvSpPr>
        <p:spPr>
          <a:xfrm>
            <a:off x="2553911" y="635913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latin typeface="Agency FB" panose="020B0503020202020204" pitchFamily="34" charset="0"/>
              </a:rPr>
              <a:t>BCAC0016: Fundamentals of Internet Programming</a:t>
            </a:r>
            <a:endParaRPr lang="en-US" sz="1400" dirty="0">
              <a:latin typeface="Agency FB" panose="020B0503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="" xmlns:a16="http://schemas.microsoft.com/office/drawing/2014/main" id="{E785851B-4529-7001-4F67-95A78F9A5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="" xmlns:a16="http://schemas.microsoft.com/office/drawing/2014/main" id="{C2D8FC1D-C33E-6895-D4A9-4CBA52015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="" xmlns:a16="http://schemas.microsoft.com/office/drawing/2014/main" id="{A6FAEB0F-48CD-D7B0-2000-83B8F04CF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000"/>
            <a:ext cx="65" cy="4051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29180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rgbClr val="EDF7FD"/>
            </a:gs>
            <a:gs pos="83000">
              <a:schemeClr val="accent1">
                <a:lumMod val="20000"/>
                <a:lumOff val="80000"/>
              </a:schemeClr>
            </a:gs>
            <a:gs pos="100000">
              <a:srgbClr val="84CFF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B1B1D72-408C-5101-9290-91A9DFF72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369955"/>
            <a:ext cx="10018713" cy="1752599"/>
          </a:xfrm>
        </p:spPr>
        <p:txBody>
          <a:bodyPr/>
          <a:lstStyle/>
          <a:p>
            <a:pPr algn="l"/>
            <a:r>
              <a:rPr lang="en-IN" b="1" i="0" dirty="0">
                <a:solidFill>
                  <a:srgbClr val="000000"/>
                </a:solidFill>
                <a:effectLst/>
                <a:latin typeface="Nunito" pitchFamily="2" charset="0"/>
              </a:rPr>
              <a:t>CSS Tables (Contd.)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15DC92B-8F57-2BBB-57C9-3D8F4980B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3077547"/>
            <a:ext cx="10018713" cy="3124201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If you only want a border around the table, only specify the border property for &lt;table&gt;:</a:t>
            </a:r>
            <a:endParaRPr kumimoji="0" lang="en-US" altLang="en-US" sz="105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IN" b="0" i="0" dirty="0">
                <a:solidFill>
                  <a:srgbClr val="A52A2A"/>
                </a:solidFill>
                <a:effectLst/>
                <a:latin typeface="Agency FB" panose="020B0503020202020204" pitchFamily="34" charset="0"/>
              </a:rPr>
              <a:t>	table 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{</a:t>
            </a: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  		border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:</a:t>
            </a:r>
            <a:r>
              <a:rPr lang="en-IN" b="0" i="0" dirty="0">
                <a:solidFill>
                  <a:srgbClr val="0000CD"/>
                </a:solidFill>
                <a:effectLst/>
                <a:latin typeface="Agency FB" panose="020B0503020202020204" pitchFamily="34" charset="0"/>
              </a:rPr>
              <a:t> 1px solid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;</a:t>
            </a: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IN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	</a:t>
            </a:r>
            <a:r>
              <a:rPr lang="en-IN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}</a:t>
            </a:r>
            <a:endParaRPr lang="en-US" b="0" i="0" dirty="0">
              <a:solidFill>
                <a:srgbClr val="000000"/>
              </a:solidFill>
              <a:effectLst/>
              <a:latin typeface="Agency FB" panose="020B050302020202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C4296A6D-897E-8124-C8E6-23167C6CF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1856" y="6359134"/>
            <a:ext cx="5511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="" xmlns:a16="http://schemas.microsoft.com/office/drawing/2014/main" id="{DC4ECBFF-0A0C-08D6-F99B-7E96F41E490E}"/>
              </a:ext>
            </a:extLst>
          </p:cNvPr>
          <p:cNvSpPr txBox="1">
            <a:spLocks/>
          </p:cNvSpPr>
          <p:nvPr/>
        </p:nvSpPr>
        <p:spPr>
          <a:xfrm>
            <a:off x="2553911" y="635913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latin typeface="Agency FB" panose="020B0503020202020204" pitchFamily="34" charset="0"/>
              </a:rPr>
              <a:t>BCAC0016: Fundamentals of Internet Programming</a:t>
            </a:r>
            <a:endParaRPr lang="en-US" sz="1400" dirty="0">
              <a:latin typeface="Agency FB" panose="020B0503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="" xmlns:a16="http://schemas.microsoft.com/office/drawing/2014/main" id="{E785851B-4529-7001-4F67-95A78F9A5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="" xmlns:a16="http://schemas.microsoft.com/office/drawing/2014/main" id="{C2D8FC1D-C33E-6895-D4A9-4CBA52015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="" xmlns:a16="http://schemas.microsoft.com/office/drawing/2014/main" id="{A6FAEB0F-48CD-D7B0-2000-83B8F04CF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000"/>
            <a:ext cx="65" cy="4051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591594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rgbClr val="EDF7FD"/>
            </a:gs>
            <a:gs pos="83000">
              <a:schemeClr val="accent1">
                <a:lumMod val="20000"/>
                <a:lumOff val="80000"/>
              </a:schemeClr>
            </a:gs>
            <a:gs pos="100000">
              <a:srgbClr val="84CFF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B1B1D72-408C-5101-9290-91A9DFF72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-348497"/>
            <a:ext cx="10018713" cy="1752599"/>
          </a:xfrm>
        </p:spPr>
        <p:txBody>
          <a:bodyPr/>
          <a:lstStyle/>
          <a:p>
            <a:pPr algn="l"/>
            <a:r>
              <a:rPr lang="en-IN" b="1" i="0" dirty="0">
                <a:solidFill>
                  <a:srgbClr val="000000"/>
                </a:solidFill>
                <a:effectLst/>
                <a:latin typeface="Nunito" pitchFamily="2" charset="0"/>
              </a:rPr>
              <a:t>CSS Tables (Contd.)</a:t>
            </a:r>
            <a:endParaRPr lang="en-IN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C4296A6D-897E-8124-C8E6-23167C6CF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1856" y="6359134"/>
            <a:ext cx="5511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="" xmlns:a16="http://schemas.microsoft.com/office/drawing/2014/main" id="{DC4ECBFF-0A0C-08D6-F99B-7E96F41E490E}"/>
              </a:ext>
            </a:extLst>
          </p:cNvPr>
          <p:cNvSpPr txBox="1">
            <a:spLocks/>
          </p:cNvSpPr>
          <p:nvPr/>
        </p:nvSpPr>
        <p:spPr>
          <a:xfrm>
            <a:off x="2553911" y="635913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latin typeface="Agency FB" panose="020B0503020202020204" pitchFamily="34" charset="0"/>
              </a:rPr>
              <a:t>BCAC0016: Fundamentals of Internet Programming</a:t>
            </a:r>
            <a:endParaRPr lang="en-US" sz="1400" dirty="0">
              <a:latin typeface="Agency FB" panose="020B0503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="" xmlns:a16="http://schemas.microsoft.com/office/drawing/2014/main" id="{E785851B-4529-7001-4F67-95A78F9A5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="" xmlns:a16="http://schemas.microsoft.com/office/drawing/2014/main" id="{C2D8FC1D-C33E-6895-D4A9-4CBA52015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="" xmlns:a16="http://schemas.microsoft.com/office/drawing/2014/main" id="{A6FAEB0F-48CD-D7B0-2000-83B8F04CF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000"/>
            <a:ext cx="65" cy="4051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81D22C23-32B6-E416-2E3C-EFF44A9B145C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29543" y="814869"/>
            <a:ext cx="6101478" cy="554426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="" xmlns:a16="http://schemas.microsoft.com/office/drawing/2014/main" id="{3F14ECB3-DC3D-99ED-CD33-B74EABB299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3342" y="3171677"/>
            <a:ext cx="5867989" cy="100738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A9A8C349-816E-C62A-FBEF-5C886F1A1850}"/>
              </a:ext>
            </a:extLst>
          </p:cNvPr>
          <p:cNvSpPr txBox="1"/>
          <p:nvPr/>
        </p:nvSpPr>
        <p:spPr>
          <a:xfrm>
            <a:off x="7931021" y="2802345"/>
            <a:ext cx="2547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OUTPUT:</a:t>
            </a:r>
          </a:p>
        </p:txBody>
      </p:sp>
    </p:spTree>
    <p:extLst>
      <p:ext uri="{BB962C8B-B14F-4D97-AF65-F5344CB8AC3E}">
        <p14:creationId xmlns="" xmlns:p14="http://schemas.microsoft.com/office/powerpoint/2010/main" val="42629694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rgbClr val="EDF7FD"/>
            </a:gs>
            <a:gs pos="83000">
              <a:schemeClr val="accent1">
                <a:lumMod val="20000"/>
                <a:lumOff val="80000"/>
              </a:schemeClr>
            </a:gs>
            <a:gs pos="100000">
              <a:srgbClr val="84CFF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B1B1D72-408C-5101-9290-91A9DFF72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-208543"/>
            <a:ext cx="10018713" cy="1752599"/>
          </a:xfrm>
        </p:spPr>
        <p:txBody>
          <a:bodyPr/>
          <a:lstStyle/>
          <a:p>
            <a:pPr algn="l"/>
            <a:r>
              <a:rPr lang="en-IN" b="1" i="0" dirty="0">
                <a:solidFill>
                  <a:srgbClr val="000000"/>
                </a:solidFill>
                <a:effectLst/>
                <a:latin typeface="Nunito" pitchFamily="2" charset="0"/>
              </a:rPr>
              <a:t>CSS Tables (Contd.)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15DC92B-8F57-2BBB-57C9-3D8F4980B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8995" y="3012232"/>
            <a:ext cx="10018713" cy="3124201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Table Width and Height</a:t>
            </a:r>
            <a:endParaRPr lang="en-US" sz="2800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5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width and height of a table are defined by the width and height properties.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05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example below sets the width of the table to 100%, and the height of the &lt;</a:t>
            </a:r>
            <a:r>
              <a:rPr lang="en-US" altLang="en-US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alt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 elements to 70px: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Example: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IN" b="0" i="0" dirty="0">
                <a:solidFill>
                  <a:srgbClr val="A52A2A"/>
                </a:solidFill>
                <a:effectLst/>
                <a:latin typeface="Agency FB" panose="020B0503020202020204" pitchFamily="34" charset="0"/>
              </a:rPr>
              <a:t>	</a:t>
            </a:r>
            <a:r>
              <a:rPr lang="en-US" b="0" i="0" dirty="0">
                <a:solidFill>
                  <a:srgbClr val="A52A2A"/>
                </a:solidFill>
                <a:effectLst/>
                <a:latin typeface="Agency FB" panose="020B0503020202020204" pitchFamily="34" charset="0"/>
              </a:rPr>
              <a:t>table </a:t>
            </a:r>
            <a:r>
              <a:rPr lang="en-US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{</a:t>
            </a:r>
            <a:r>
              <a:rPr lang="en-US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  		width</a:t>
            </a:r>
            <a:r>
              <a:rPr lang="en-US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:</a:t>
            </a:r>
            <a:r>
              <a:rPr lang="en-US" b="0" i="0" dirty="0">
                <a:solidFill>
                  <a:srgbClr val="0000CD"/>
                </a:solidFill>
                <a:effectLst/>
                <a:latin typeface="Agency FB" panose="020B0503020202020204" pitchFamily="34" charset="0"/>
              </a:rPr>
              <a:t> 100%</a:t>
            </a:r>
            <a:r>
              <a:rPr lang="en-US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;</a:t>
            </a:r>
            <a:r>
              <a:rPr lang="en-US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	</a:t>
            </a:r>
            <a:r>
              <a:rPr lang="en-US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}</a:t>
            </a:r>
            <a:r>
              <a:rPr lang="en-US" dirty="0">
                <a:latin typeface="Agency FB" panose="020B0503020202020204" pitchFamily="34" charset="0"/>
              </a:rPr>
              <a:t/>
            </a:r>
            <a:br>
              <a:rPr lang="en-US" dirty="0">
                <a:latin typeface="Agency FB" panose="020B0503020202020204" pitchFamily="34" charset="0"/>
              </a:rPr>
            </a:br>
            <a:r>
              <a:rPr lang="en-US" dirty="0">
                <a:latin typeface="Agency FB" panose="020B0503020202020204" pitchFamily="34" charset="0"/>
              </a:rPr>
              <a:t/>
            </a:r>
            <a:br>
              <a:rPr lang="en-US" dirty="0">
                <a:latin typeface="Agency FB" panose="020B0503020202020204" pitchFamily="34" charset="0"/>
              </a:rPr>
            </a:br>
            <a:r>
              <a:rPr lang="en-US" dirty="0">
                <a:latin typeface="Agency FB" panose="020B0503020202020204" pitchFamily="34" charset="0"/>
              </a:rPr>
              <a:t>	</a:t>
            </a:r>
            <a:r>
              <a:rPr lang="en-US" b="0" i="0" dirty="0" err="1">
                <a:solidFill>
                  <a:srgbClr val="A52A2A"/>
                </a:solidFill>
                <a:effectLst/>
                <a:latin typeface="Agency FB" panose="020B0503020202020204" pitchFamily="34" charset="0"/>
              </a:rPr>
              <a:t>th</a:t>
            </a:r>
            <a:r>
              <a:rPr lang="en-US" b="0" i="0" dirty="0">
                <a:solidFill>
                  <a:srgbClr val="A52A2A"/>
                </a:solidFill>
                <a:effectLst/>
                <a:latin typeface="Agency FB" panose="020B0503020202020204" pitchFamily="34" charset="0"/>
              </a:rPr>
              <a:t> </a:t>
            </a:r>
            <a:r>
              <a:rPr lang="en-US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{</a:t>
            </a:r>
            <a:r>
              <a:rPr lang="en-US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  		height</a:t>
            </a:r>
            <a:r>
              <a:rPr lang="en-US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:</a:t>
            </a:r>
            <a:r>
              <a:rPr lang="en-US" b="0" i="0" dirty="0">
                <a:solidFill>
                  <a:srgbClr val="0000CD"/>
                </a:solidFill>
                <a:effectLst/>
                <a:latin typeface="Agency FB" panose="020B0503020202020204" pitchFamily="34" charset="0"/>
              </a:rPr>
              <a:t> 70px</a:t>
            </a:r>
            <a:r>
              <a:rPr lang="en-US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;</a:t>
            </a:r>
            <a:r>
              <a:rPr lang="en-US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	</a:t>
            </a:r>
            <a:r>
              <a:rPr lang="en-US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}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gency FB" panose="020B050302020202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C4296A6D-897E-8124-C8E6-23167C6CF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1856" y="6359134"/>
            <a:ext cx="5511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="" xmlns:a16="http://schemas.microsoft.com/office/drawing/2014/main" id="{DC4ECBFF-0A0C-08D6-F99B-7E96F41E490E}"/>
              </a:ext>
            </a:extLst>
          </p:cNvPr>
          <p:cNvSpPr txBox="1">
            <a:spLocks/>
          </p:cNvSpPr>
          <p:nvPr/>
        </p:nvSpPr>
        <p:spPr>
          <a:xfrm>
            <a:off x="2553911" y="635913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latin typeface="Agency FB" panose="020B0503020202020204" pitchFamily="34" charset="0"/>
              </a:rPr>
              <a:t>BCAC0016: Fundamentals of Internet Programming</a:t>
            </a:r>
            <a:endParaRPr lang="en-US" sz="1400" dirty="0">
              <a:latin typeface="Agency FB" panose="020B0503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="" xmlns:a16="http://schemas.microsoft.com/office/drawing/2014/main" id="{E785851B-4529-7001-4F67-95A78F9A5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="" xmlns:a16="http://schemas.microsoft.com/office/drawing/2014/main" id="{C2D8FC1D-C33E-6895-D4A9-4CBA52015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="" xmlns:a16="http://schemas.microsoft.com/office/drawing/2014/main" id="{A6FAEB0F-48CD-D7B0-2000-83B8F04CF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000"/>
            <a:ext cx="65" cy="4051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36594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rgbClr val="EDF7FD"/>
            </a:gs>
            <a:gs pos="83000">
              <a:schemeClr val="accent1">
                <a:lumMod val="20000"/>
                <a:lumOff val="80000"/>
              </a:schemeClr>
            </a:gs>
            <a:gs pos="100000">
              <a:srgbClr val="84CFF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B1B1D72-408C-5101-9290-91A9DFF72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-208543"/>
            <a:ext cx="10018713" cy="1752599"/>
          </a:xfrm>
        </p:spPr>
        <p:txBody>
          <a:bodyPr/>
          <a:lstStyle/>
          <a:p>
            <a:pPr algn="l"/>
            <a:r>
              <a:rPr lang="en-IN" b="1" i="0" dirty="0">
                <a:solidFill>
                  <a:srgbClr val="000000"/>
                </a:solidFill>
                <a:effectLst/>
                <a:latin typeface="Nunito" pitchFamily="2" charset="0"/>
              </a:rPr>
              <a:t>CSS Tables (Contd.)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15DC92B-8F57-2BBB-57C9-3D8F4980B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3681" y="3021563"/>
            <a:ext cx="10018713" cy="3124201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en-US" sz="600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Horizontal Alignment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05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text-align property sets the horizontal alignment (like left, right, or center) of the content in &lt;</a:t>
            </a:r>
            <a:r>
              <a:rPr lang="en-US" altLang="en-US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alt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 or &lt;td&gt;.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1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By default, the content of &lt;</a:t>
            </a:r>
            <a:r>
              <a:rPr lang="en-US" altLang="en-US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alt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 elements are center-aligned and the content of &lt;td&gt; elements are left-aligned.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1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center-align the content of  &lt;td&gt; elements as well, text-align: center: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IN" b="0" i="0" dirty="0">
                <a:solidFill>
                  <a:srgbClr val="A52A2A"/>
                </a:solidFill>
                <a:effectLst/>
                <a:latin typeface="Agency FB" panose="020B0503020202020204" pitchFamily="34" charset="0"/>
              </a:rPr>
              <a:t>	</a:t>
            </a:r>
            <a:r>
              <a:rPr lang="en-US" b="0" i="0" dirty="0">
                <a:solidFill>
                  <a:srgbClr val="A52A2A"/>
                </a:solidFill>
                <a:effectLst/>
                <a:latin typeface="Agency FB" panose="020B0503020202020204" pitchFamily="34" charset="0"/>
              </a:rPr>
              <a:t>td </a:t>
            </a:r>
            <a:r>
              <a:rPr lang="en-US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{</a:t>
            </a:r>
            <a:r>
              <a:rPr lang="en-US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  		</a:t>
            </a:r>
            <a:r>
              <a:rPr lang="en-US" dirty="0">
                <a:solidFill>
                  <a:srgbClr val="FF0000"/>
                </a:solidFill>
                <a:latin typeface="Agency FB" panose="020B0503020202020204" pitchFamily="34" charset="0"/>
              </a:rPr>
              <a:t>text-align: </a:t>
            </a:r>
            <a:r>
              <a:rPr lang="en-US" dirty="0">
                <a:solidFill>
                  <a:srgbClr val="0000FF"/>
                </a:solidFill>
                <a:latin typeface="Agency FB" panose="020B0503020202020204" pitchFamily="34" charset="0"/>
              </a:rPr>
              <a:t>center</a:t>
            </a:r>
            <a:r>
              <a:rPr lang="en-US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;</a:t>
            </a:r>
            <a:r>
              <a:rPr lang="en-US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	</a:t>
            </a:r>
            <a:r>
              <a:rPr lang="en-US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}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gency FB" panose="020B050302020202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C4296A6D-897E-8124-C8E6-23167C6CF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1856" y="6359134"/>
            <a:ext cx="5511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="" xmlns:a16="http://schemas.microsoft.com/office/drawing/2014/main" id="{DC4ECBFF-0A0C-08D6-F99B-7E96F41E490E}"/>
              </a:ext>
            </a:extLst>
          </p:cNvPr>
          <p:cNvSpPr txBox="1">
            <a:spLocks/>
          </p:cNvSpPr>
          <p:nvPr/>
        </p:nvSpPr>
        <p:spPr>
          <a:xfrm>
            <a:off x="2553911" y="635913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latin typeface="Agency FB" panose="020B0503020202020204" pitchFamily="34" charset="0"/>
              </a:rPr>
              <a:t>BCAC0016: Fundamentals of Internet Programming</a:t>
            </a:r>
            <a:endParaRPr lang="en-US" sz="1400" dirty="0">
              <a:latin typeface="Agency FB" panose="020B0503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="" xmlns:a16="http://schemas.microsoft.com/office/drawing/2014/main" id="{E785851B-4529-7001-4F67-95A78F9A5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="" xmlns:a16="http://schemas.microsoft.com/office/drawing/2014/main" id="{C2D8FC1D-C33E-6895-D4A9-4CBA52015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="" xmlns:a16="http://schemas.microsoft.com/office/drawing/2014/main" id="{A6FAEB0F-48CD-D7B0-2000-83B8F04CF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000"/>
            <a:ext cx="65" cy="4051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0505204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rgbClr val="EDF7FD"/>
            </a:gs>
            <a:gs pos="83000">
              <a:schemeClr val="accent1">
                <a:lumMod val="20000"/>
                <a:lumOff val="80000"/>
              </a:schemeClr>
            </a:gs>
            <a:gs pos="100000">
              <a:srgbClr val="84CFF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B1B1D72-408C-5101-9290-91A9DFF72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-208543"/>
            <a:ext cx="10018713" cy="1752599"/>
          </a:xfrm>
        </p:spPr>
        <p:txBody>
          <a:bodyPr/>
          <a:lstStyle/>
          <a:p>
            <a:pPr algn="l"/>
            <a:r>
              <a:rPr lang="en-IN" b="1" i="0" dirty="0">
                <a:solidFill>
                  <a:srgbClr val="000000"/>
                </a:solidFill>
                <a:effectLst/>
                <a:latin typeface="Nunito" pitchFamily="2" charset="0"/>
              </a:rPr>
              <a:t>CSS Tables (Contd.)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15DC92B-8F57-2BBB-57C9-3D8F4980B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3681" y="3021563"/>
            <a:ext cx="10018713" cy="3124201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en-US" sz="600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Vertical Alignment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05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vertical-align property sets the vertical alignment (like top, bottom, or middle) of the content in &lt;</a:t>
            </a:r>
            <a:r>
              <a:rPr lang="en-US" altLang="en-US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alt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 or &lt;td&gt;.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1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By default, the vertical alignment of the content in a table is middle (for both &lt;</a:t>
            </a:r>
            <a:r>
              <a:rPr lang="en-US" altLang="en-US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alt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 and &lt;td&gt; elements).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05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following example sets the vertical text alignment to bottom for &lt;td&gt; elements:</a:t>
            </a:r>
            <a:r>
              <a:rPr lang="en-IN" b="0" i="0" dirty="0">
                <a:solidFill>
                  <a:srgbClr val="A52A2A"/>
                </a:solidFill>
                <a:effectLst/>
                <a:latin typeface="Agency FB" panose="020B0503020202020204" pitchFamily="34" charset="0"/>
              </a:rPr>
              <a:t>	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IN" dirty="0">
                <a:solidFill>
                  <a:srgbClr val="A52A2A"/>
                </a:solidFill>
                <a:latin typeface="Agency FB" panose="020B0503020202020204" pitchFamily="34" charset="0"/>
              </a:rPr>
              <a:t>	</a:t>
            </a:r>
            <a:r>
              <a:rPr lang="en-US" b="0" i="0" dirty="0">
                <a:solidFill>
                  <a:srgbClr val="A52A2A"/>
                </a:solidFill>
                <a:effectLst/>
                <a:latin typeface="Agency FB" panose="020B0503020202020204" pitchFamily="34" charset="0"/>
              </a:rPr>
              <a:t>td </a:t>
            </a:r>
            <a:r>
              <a:rPr lang="en-US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{</a:t>
            </a:r>
            <a:r>
              <a:rPr lang="en-US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  		height: </a:t>
            </a:r>
            <a:r>
              <a:rPr lang="en-US" b="0" i="0" dirty="0">
                <a:solidFill>
                  <a:srgbClr val="0000FF"/>
                </a:solidFill>
                <a:effectLst/>
                <a:latin typeface="Agency FB" panose="020B0503020202020204" pitchFamily="34" charset="0"/>
              </a:rPr>
              <a:t>50px;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FF0000"/>
                </a:solidFill>
                <a:latin typeface="Agency FB" panose="020B0503020202020204" pitchFamily="34" charset="0"/>
              </a:rPr>
              <a:t>		text-align: </a:t>
            </a:r>
            <a:r>
              <a:rPr lang="en-US" dirty="0">
                <a:solidFill>
                  <a:srgbClr val="0000FF"/>
                </a:solidFill>
                <a:latin typeface="Agency FB" panose="020B0503020202020204" pitchFamily="34" charset="0"/>
              </a:rPr>
              <a:t>center</a:t>
            </a:r>
            <a:r>
              <a:rPr lang="en-US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;</a:t>
            </a:r>
            <a:r>
              <a:rPr lang="en-US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	</a:t>
            </a:r>
            <a:r>
              <a:rPr lang="en-US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}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gency FB" panose="020B050302020202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C4296A6D-897E-8124-C8E6-23167C6CF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1856" y="6359134"/>
            <a:ext cx="5511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="" xmlns:a16="http://schemas.microsoft.com/office/drawing/2014/main" id="{DC4ECBFF-0A0C-08D6-F99B-7E96F41E490E}"/>
              </a:ext>
            </a:extLst>
          </p:cNvPr>
          <p:cNvSpPr txBox="1">
            <a:spLocks/>
          </p:cNvSpPr>
          <p:nvPr/>
        </p:nvSpPr>
        <p:spPr>
          <a:xfrm>
            <a:off x="2553911" y="635913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latin typeface="Agency FB" panose="020B0503020202020204" pitchFamily="34" charset="0"/>
              </a:rPr>
              <a:t>BCAC0016: Fundamentals of Internet Programming</a:t>
            </a:r>
            <a:endParaRPr lang="en-US" sz="1400" dirty="0">
              <a:latin typeface="Agency FB" panose="020B0503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="" xmlns:a16="http://schemas.microsoft.com/office/drawing/2014/main" id="{E785851B-4529-7001-4F67-95A78F9A5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="" xmlns:a16="http://schemas.microsoft.com/office/drawing/2014/main" id="{C2D8FC1D-C33E-6895-D4A9-4CBA52015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="" xmlns:a16="http://schemas.microsoft.com/office/drawing/2014/main" id="{A6FAEB0F-48CD-D7B0-2000-83B8F04CF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000"/>
            <a:ext cx="65" cy="4051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028962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rgbClr val="EDF7FD"/>
            </a:gs>
            <a:gs pos="83000">
              <a:schemeClr val="accent1">
                <a:lumMod val="20000"/>
                <a:lumOff val="80000"/>
              </a:schemeClr>
            </a:gs>
            <a:gs pos="100000">
              <a:srgbClr val="84CFF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B1B1D72-408C-5101-9290-91A9DFF72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-208543"/>
            <a:ext cx="10018713" cy="1752599"/>
          </a:xfrm>
        </p:spPr>
        <p:txBody>
          <a:bodyPr/>
          <a:lstStyle/>
          <a:p>
            <a:pPr algn="l"/>
            <a:r>
              <a:rPr lang="en-IN" b="1" i="0" dirty="0">
                <a:solidFill>
                  <a:srgbClr val="000000"/>
                </a:solidFill>
                <a:effectLst/>
                <a:latin typeface="Nunito" pitchFamily="2" charset="0"/>
              </a:rPr>
              <a:t>CSS Tables (Contd.)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15DC92B-8F57-2BBB-57C9-3D8F4980B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3681" y="3021563"/>
            <a:ext cx="10018713" cy="3124201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en-US" sz="600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8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Table Padding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05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control the space between the border and the content in a table, use the padding property on &lt;td&gt; and &lt;</a:t>
            </a:r>
            <a:r>
              <a:rPr lang="en-US" altLang="en-US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alt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 elements: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1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IN" dirty="0">
              <a:solidFill>
                <a:srgbClr val="A52A2A"/>
              </a:solidFill>
              <a:latin typeface="Agency FB" panose="020B0503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IN" dirty="0">
                <a:solidFill>
                  <a:srgbClr val="A52A2A"/>
                </a:solidFill>
                <a:latin typeface="Agency FB" panose="020B0503020202020204" pitchFamily="34" charset="0"/>
              </a:rPr>
              <a:t>	</a:t>
            </a:r>
            <a:r>
              <a:rPr lang="en-IN" dirty="0" err="1">
                <a:solidFill>
                  <a:srgbClr val="A52A2A"/>
                </a:solidFill>
                <a:latin typeface="Agency FB" panose="020B0503020202020204" pitchFamily="34" charset="0"/>
              </a:rPr>
              <a:t>th</a:t>
            </a:r>
            <a:r>
              <a:rPr lang="en-IN" dirty="0">
                <a:solidFill>
                  <a:srgbClr val="A52A2A"/>
                </a:solidFill>
                <a:latin typeface="Agency FB" panose="020B0503020202020204" pitchFamily="34" charset="0"/>
              </a:rPr>
              <a:t>, </a:t>
            </a:r>
            <a:r>
              <a:rPr lang="en-US" b="0" i="0" dirty="0">
                <a:solidFill>
                  <a:srgbClr val="A52A2A"/>
                </a:solidFill>
                <a:effectLst/>
                <a:latin typeface="Agency FB" panose="020B0503020202020204" pitchFamily="34" charset="0"/>
              </a:rPr>
              <a:t>td </a:t>
            </a:r>
            <a:r>
              <a:rPr lang="en-US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{</a:t>
            </a:r>
            <a:r>
              <a:rPr lang="en-US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  		</a:t>
            </a:r>
            <a:r>
              <a:rPr lang="en-US" dirty="0">
                <a:solidFill>
                  <a:srgbClr val="FF0000"/>
                </a:solidFill>
                <a:latin typeface="Agency FB" panose="020B0503020202020204" pitchFamily="34" charset="0"/>
              </a:rPr>
              <a:t>padding</a:t>
            </a:r>
            <a:r>
              <a:rPr lang="en-US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: </a:t>
            </a:r>
            <a:r>
              <a:rPr lang="en-US" b="0" i="0" dirty="0">
                <a:solidFill>
                  <a:srgbClr val="0000FF"/>
                </a:solidFill>
                <a:effectLst/>
                <a:latin typeface="Agency FB" panose="020B0503020202020204" pitchFamily="34" charset="0"/>
              </a:rPr>
              <a:t>15px;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FF0000"/>
                </a:solidFill>
                <a:latin typeface="Agency FB" panose="020B0503020202020204" pitchFamily="34" charset="0"/>
              </a:rPr>
              <a:t>		text-align: </a:t>
            </a:r>
            <a:r>
              <a:rPr lang="en-US" dirty="0">
                <a:solidFill>
                  <a:srgbClr val="0000FF"/>
                </a:solidFill>
                <a:latin typeface="Agency FB" panose="020B0503020202020204" pitchFamily="34" charset="0"/>
              </a:rPr>
              <a:t>left</a:t>
            </a:r>
            <a:r>
              <a:rPr lang="en-US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;</a:t>
            </a:r>
            <a:r>
              <a:rPr lang="en-US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	</a:t>
            </a:r>
            <a:r>
              <a:rPr lang="en-US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}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gency FB" panose="020B050302020202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C4296A6D-897E-8124-C8E6-23167C6CF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1856" y="6359134"/>
            <a:ext cx="5511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="" xmlns:a16="http://schemas.microsoft.com/office/drawing/2014/main" id="{DC4ECBFF-0A0C-08D6-F99B-7E96F41E490E}"/>
              </a:ext>
            </a:extLst>
          </p:cNvPr>
          <p:cNvSpPr txBox="1">
            <a:spLocks/>
          </p:cNvSpPr>
          <p:nvPr/>
        </p:nvSpPr>
        <p:spPr>
          <a:xfrm>
            <a:off x="2553911" y="635913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latin typeface="Agency FB" panose="020B0503020202020204" pitchFamily="34" charset="0"/>
              </a:rPr>
              <a:t>BCAC0016: Fundamentals of Internet Programming</a:t>
            </a:r>
            <a:endParaRPr lang="en-US" sz="1400" dirty="0">
              <a:latin typeface="Agency FB" panose="020B0503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="" xmlns:a16="http://schemas.microsoft.com/office/drawing/2014/main" id="{E785851B-4529-7001-4F67-95A78F9A5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="" xmlns:a16="http://schemas.microsoft.com/office/drawing/2014/main" id="{C2D8FC1D-C33E-6895-D4A9-4CBA52015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="" xmlns:a16="http://schemas.microsoft.com/office/drawing/2014/main" id="{A6FAEB0F-48CD-D7B0-2000-83B8F04CF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000"/>
            <a:ext cx="65" cy="4051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5069984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rgbClr val="EDF7FD"/>
            </a:gs>
            <a:gs pos="83000">
              <a:schemeClr val="accent1">
                <a:lumMod val="20000"/>
                <a:lumOff val="80000"/>
              </a:schemeClr>
            </a:gs>
            <a:gs pos="100000">
              <a:srgbClr val="84CFF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B1B1D72-408C-5101-9290-91A9DFF72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-208543"/>
            <a:ext cx="10018713" cy="1752599"/>
          </a:xfrm>
        </p:spPr>
        <p:txBody>
          <a:bodyPr/>
          <a:lstStyle/>
          <a:p>
            <a:pPr algn="l"/>
            <a:r>
              <a:rPr lang="en-IN" b="1" i="0" dirty="0">
                <a:solidFill>
                  <a:srgbClr val="000000"/>
                </a:solidFill>
                <a:effectLst/>
                <a:latin typeface="Nunito" pitchFamily="2" charset="0"/>
              </a:rPr>
              <a:t>CSS Tables (Contd.)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15DC92B-8F57-2BBB-57C9-3D8F4980B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09" y="1239416"/>
            <a:ext cx="10018713" cy="3124201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en-US" sz="600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Hori</a:t>
            </a:r>
            <a:r>
              <a:rPr lang="en-US" altLang="en-US" sz="28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zontal Dividers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05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Add the border-bottom property to &lt;</a:t>
            </a:r>
            <a:r>
              <a:rPr lang="en-US" altLang="en-US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alt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 and &lt;td&gt; for horizontal dividers: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1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IN" dirty="0">
              <a:solidFill>
                <a:srgbClr val="A52A2A"/>
              </a:solidFill>
              <a:latin typeface="Agency FB" panose="020B0503020202020204" pitchFamily="34" charset="0"/>
            </a:endParaRP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C4296A6D-897E-8124-C8E6-23167C6CF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1856" y="6359134"/>
            <a:ext cx="5511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="" xmlns:a16="http://schemas.microsoft.com/office/drawing/2014/main" id="{DC4ECBFF-0A0C-08D6-F99B-7E96F41E490E}"/>
              </a:ext>
            </a:extLst>
          </p:cNvPr>
          <p:cNvSpPr txBox="1">
            <a:spLocks/>
          </p:cNvSpPr>
          <p:nvPr/>
        </p:nvSpPr>
        <p:spPr>
          <a:xfrm>
            <a:off x="2553911" y="635913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latin typeface="Agency FB" panose="020B0503020202020204" pitchFamily="34" charset="0"/>
              </a:rPr>
              <a:t>BCAC0016: Fundamentals of Internet Programming</a:t>
            </a:r>
            <a:endParaRPr lang="en-US" sz="1400" dirty="0">
              <a:latin typeface="Agency FB" panose="020B0503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="" xmlns:a16="http://schemas.microsoft.com/office/drawing/2014/main" id="{E785851B-4529-7001-4F67-95A78F9A5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="" xmlns:a16="http://schemas.microsoft.com/office/drawing/2014/main" id="{C2D8FC1D-C33E-6895-D4A9-4CBA52015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="" xmlns:a16="http://schemas.microsoft.com/office/drawing/2014/main" id="{A6FAEB0F-48CD-D7B0-2000-83B8F04CF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000"/>
            <a:ext cx="65" cy="4051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D973BC4F-51CF-BCB1-B8E1-5649EFCE393D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11079" y="2354267"/>
            <a:ext cx="4582070" cy="237061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="" xmlns:a16="http://schemas.microsoft.com/office/drawing/2014/main" id="{5781F522-1D8D-9712-9470-92061D4EB55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39951" y="2076474"/>
            <a:ext cx="7452049" cy="4352752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="" xmlns:a16="http://schemas.microsoft.com/office/drawing/2014/main" id="{49AB775C-5B5C-BE79-0FB3-87D72AEDCDA0}"/>
              </a:ext>
            </a:extLst>
          </p:cNvPr>
          <p:cNvCxnSpPr>
            <a:cxnSpLocks/>
          </p:cNvCxnSpPr>
          <p:nvPr/>
        </p:nvCxnSpPr>
        <p:spPr>
          <a:xfrm>
            <a:off x="5505058" y="3144416"/>
            <a:ext cx="27991" cy="2024743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8766811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rgbClr val="EDF7FD"/>
            </a:gs>
            <a:gs pos="83000">
              <a:schemeClr val="accent1">
                <a:lumMod val="20000"/>
                <a:lumOff val="80000"/>
              </a:schemeClr>
            </a:gs>
            <a:gs pos="100000">
              <a:srgbClr val="84CFF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B1B1D72-408C-5101-9290-91A9DFF72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-208543"/>
            <a:ext cx="10018713" cy="1752599"/>
          </a:xfrm>
        </p:spPr>
        <p:txBody>
          <a:bodyPr/>
          <a:lstStyle/>
          <a:p>
            <a:pPr algn="l"/>
            <a:r>
              <a:rPr lang="en-IN" b="1" i="0" dirty="0">
                <a:solidFill>
                  <a:srgbClr val="000000"/>
                </a:solidFill>
                <a:effectLst/>
                <a:latin typeface="Nunito" pitchFamily="2" charset="0"/>
              </a:rPr>
              <a:t>CSS Tables (Contd.)</a:t>
            </a:r>
            <a:endParaRPr lang="en-IN" b="1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="" xmlns:a16="http://schemas.microsoft.com/office/drawing/2014/main" id="{A987EA0B-F660-A135-36FD-93A6958022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41996" y="1998402"/>
            <a:ext cx="8509860" cy="2545606"/>
          </a:xfrm>
        </p:spPr>
      </p:pic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C4296A6D-897E-8124-C8E6-23167C6CF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1856" y="6359134"/>
            <a:ext cx="5511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="" xmlns:a16="http://schemas.microsoft.com/office/drawing/2014/main" id="{DC4ECBFF-0A0C-08D6-F99B-7E96F41E490E}"/>
              </a:ext>
            </a:extLst>
          </p:cNvPr>
          <p:cNvSpPr txBox="1">
            <a:spLocks/>
          </p:cNvSpPr>
          <p:nvPr/>
        </p:nvSpPr>
        <p:spPr>
          <a:xfrm>
            <a:off x="2553911" y="635913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latin typeface="Agency FB" panose="020B0503020202020204" pitchFamily="34" charset="0"/>
              </a:rPr>
              <a:t>BCAC0016: Fundamentals of Internet Programming</a:t>
            </a:r>
            <a:endParaRPr lang="en-US" sz="1400" dirty="0">
              <a:latin typeface="Agency FB" panose="020B0503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="" xmlns:a16="http://schemas.microsoft.com/office/drawing/2014/main" id="{E785851B-4529-7001-4F67-95A78F9A5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="" xmlns:a16="http://schemas.microsoft.com/office/drawing/2014/main" id="{C2D8FC1D-C33E-6895-D4A9-4CBA52015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="" xmlns:a16="http://schemas.microsoft.com/office/drawing/2014/main" id="{A6FAEB0F-48CD-D7B0-2000-83B8F04CF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000"/>
            <a:ext cx="65" cy="4051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0E1154E0-36F6-D28A-7C27-BD724DBAB1B7}"/>
              </a:ext>
            </a:extLst>
          </p:cNvPr>
          <p:cNvSpPr txBox="1"/>
          <p:nvPr/>
        </p:nvSpPr>
        <p:spPr>
          <a:xfrm>
            <a:off x="5423297" y="1586563"/>
            <a:ext cx="2547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OUTPUT:</a:t>
            </a:r>
          </a:p>
        </p:txBody>
      </p:sp>
    </p:spTree>
    <p:extLst>
      <p:ext uri="{BB962C8B-B14F-4D97-AF65-F5344CB8AC3E}">
        <p14:creationId xmlns="" xmlns:p14="http://schemas.microsoft.com/office/powerpoint/2010/main" val="1381004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rgbClr val="EDF7FD"/>
            </a:gs>
            <a:gs pos="83000">
              <a:schemeClr val="accent1">
                <a:lumMod val="20000"/>
                <a:lumOff val="80000"/>
              </a:schemeClr>
            </a:gs>
            <a:gs pos="100000">
              <a:srgbClr val="84CFF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B1B1D72-408C-5101-9290-91A9DFF72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-208543"/>
            <a:ext cx="10018713" cy="1752599"/>
          </a:xfrm>
        </p:spPr>
        <p:txBody>
          <a:bodyPr/>
          <a:lstStyle/>
          <a:p>
            <a:pPr algn="l"/>
            <a:r>
              <a:rPr lang="en-IN" b="1" i="0" dirty="0">
                <a:solidFill>
                  <a:srgbClr val="000000"/>
                </a:solidFill>
                <a:effectLst/>
                <a:latin typeface="Nunito" pitchFamily="2" charset="0"/>
              </a:rPr>
              <a:t>CSS Tables (Contd.)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15DC92B-8F57-2BBB-57C9-3D8F4980B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3681" y="3021563"/>
            <a:ext cx="10018713" cy="3124201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en-US" sz="600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800" b="1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Hoverable</a:t>
            </a:r>
            <a:r>
              <a:rPr lang="en-US" altLang="en-US" sz="28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Table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05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 the :hover selector on &lt;tr&gt; to highlight table rows on mouse over: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1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IN" dirty="0">
              <a:solidFill>
                <a:srgbClr val="A52A2A"/>
              </a:solidFill>
              <a:latin typeface="Agency FB" panose="020B0503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IN" dirty="0">
                <a:solidFill>
                  <a:srgbClr val="A52A2A"/>
                </a:solidFill>
                <a:latin typeface="Agency FB" panose="020B0503020202020204" pitchFamily="34" charset="0"/>
              </a:rPr>
              <a:t>	</a:t>
            </a:r>
            <a:r>
              <a:rPr lang="en-IN" dirty="0" err="1">
                <a:solidFill>
                  <a:srgbClr val="A52A2A"/>
                </a:solidFill>
                <a:latin typeface="Agency FB" panose="020B0503020202020204" pitchFamily="34" charset="0"/>
              </a:rPr>
              <a:t>tr:hover</a:t>
            </a:r>
            <a:r>
              <a:rPr lang="en-US" b="0" i="0" dirty="0">
                <a:solidFill>
                  <a:srgbClr val="A52A2A"/>
                </a:solidFill>
                <a:effectLst/>
                <a:latin typeface="Agency FB" panose="020B0503020202020204" pitchFamily="34" charset="0"/>
              </a:rPr>
              <a:t> </a:t>
            </a:r>
            <a:r>
              <a:rPr lang="en-US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{</a:t>
            </a:r>
            <a:r>
              <a:rPr lang="en-US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  		background-color: </a:t>
            </a:r>
            <a:r>
              <a:rPr lang="en-US" b="0" i="0" dirty="0">
                <a:solidFill>
                  <a:srgbClr val="0000FF"/>
                </a:solidFill>
                <a:effectLst/>
                <a:latin typeface="Agency FB" panose="020B0503020202020204" pitchFamily="34" charset="0"/>
              </a:rPr>
              <a:t>coral;</a:t>
            </a:r>
            <a:r>
              <a:rPr lang="en-US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	</a:t>
            </a:r>
            <a:r>
              <a:rPr lang="en-US" b="0" i="0" dirty="0">
                <a:solidFill>
                  <a:srgbClr val="000000"/>
                </a:solidFill>
                <a:effectLst/>
                <a:latin typeface="Agency FB" panose="020B0503020202020204" pitchFamily="34" charset="0"/>
              </a:rPr>
              <a:t>}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gency FB" panose="020B050302020202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C4296A6D-897E-8124-C8E6-23167C6CF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1856" y="6359134"/>
            <a:ext cx="5511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="" xmlns:a16="http://schemas.microsoft.com/office/drawing/2014/main" id="{DC4ECBFF-0A0C-08D6-F99B-7E96F41E490E}"/>
              </a:ext>
            </a:extLst>
          </p:cNvPr>
          <p:cNvSpPr txBox="1">
            <a:spLocks/>
          </p:cNvSpPr>
          <p:nvPr/>
        </p:nvSpPr>
        <p:spPr>
          <a:xfrm>
            <a:off x="2553911" y="635913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latin typeface="Agency FB" panose="020B0503020202020204" pitchFamily="34" charset="0"/>
              </a:rPr>
              <a:t>BCAC0016: Fundamentals of Internet Programming</a:t>
            </a:r>
            <a:endParaRPr lang="en-US" sz="1400" dirty="0">
              <a:latin typeface="Agency FB" panose="020B0503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="" xmlns:a16="http://schemas.microsoft.com/office/drawing/2014/main" id="{E785851B-4529-7001-4F67-95A78F9A5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="" xmlns:a16="http://schemas.microsoft.com/office/drawing/2014/main" id="{C2D8FC1D-C33E-6895-D4A9-4CBA52015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="" xmlns:a16="http://schemas.microsoft.com/office/drawing/2014/main" id="{A6FAEB0F-48CD-D7B0-2000-83B8F04CF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000"/>
            <a:ext cx="65" cy="4051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7026650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rgbClr val="EDF7FD"/>
            </a:gs>
            <a:gs pos="83000">
              <a:schemeClr val="accent1">
                <a:lumMod val="20000"/>
                <a:lumOff val="80000"/>
              </a:schemeClr>
            </a:gs>
            <a:gs pos="100000">
              <a:srgbClr val="84CFF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B1B1D72-408C-5101-9290-91A9DFF72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7347" y="2552700"/>
            <a:ext cx="10018713" cy="1752599"/>
          </a:xfrm>
        </p:spPr>
        <p:txBody>
          <a:bodyPr/>
          <a:lstStyle/>
          <a:p>
            <a:pPr algn="l"/>
            <a:r>
              <a:rPr lang="en-IN" b="1" dirty="0"/>
              <a:t>Thank You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67E29668-A8D8-E60C-0760-F80CEBC9B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2945" y="6359135"/>
            <a:ext cx="5511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="" xmlns:a16="http://schemas.microsoft.com/office/drawing/2014/main" id="{500B4AC9-607B-3F3E-0435-347E52C8E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3911" y="6359135"/>
            <a:ext cx="7084177" cy="365125"/>
          </a:xfrm>
        </p:spPr>
        <p:txBody>
          <a:bodyPr/>
          <a:lstStyle/>
          <a:p>
            <a:r>
              <a:rPr lang="en-US" sz="1400" dirty="0">
                <a:latin typeface="Agency FB" panose="020B0503020202020204" pitchFamily="34" charset="0"/>
              </a:rPr>
              <a:t>BCAC0016: Fundamentals of Internet Programming</a:t>
            </a:r>
          </a:p>
        </p:txBody>
      </p:sp>
    </p:spTree>
    <p:extLst>
      <p:ext uri="{BB962C8B-B14F-4D97-AF65-F5344CB8AC3E}">
        <p14:creationId xmlns="" xmlns:p14="http://schemas.microsoft.com/office/powerpoint/2010/main" val="31801455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2594</TotalTime>
  <Words>525</Words>
  <Application>Microsoft Office PowerPoint</Application>
  <PresentationFormat>Custom</PresentationFormat>
  <Paragraphs>131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Parallax</vt:lpstr>
      <vt:lpstr>Tables in CSS</vt:lpstr>
      <vt:lpstr>CSS Tables</vt:lpstr>
      <vt:lpstr>CSS Tables (Contd.)</vt:lpstr>
      <vt:lpstr>CSS Tables (Contd.)</vt:lpstr>
      <vt:lpstr>CSS Tables (Contd.)</vt:lpstr>
      <vt:lpstr>CSS Tables (Contd.)</vt:lpstr>
      <vt:lpstr>CSS Tables (Contd.)</vt:lpstr>
      <vt:lpstr>CSS Tables (Contd.)</vt:lpstr>
      <vt:lpstr>CSS Tables (Contd.)</vt:lpstr>
      <vt:lpstr>CSS Tables (Contd.)</vt:lpstr>
      <vt:lpstr>CSS Tables (Contd.)</vt:lpstr>
      <vt:lpstr>CSS Tables (Contd.)</vt:lpstr>
      <vt:lpstr>CSS Tables (Contd.)</vt:lpstr>
      <vt:lpstr>Thank You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Nabanita Choudhury</dc:creator>
  <cp:lastModifiedBy>rc</cp:lastModifiedBy>
  <cp:revision>187</cp:revision>
  <dcterms:created xsi:type="dcterms:W3CDTF">2022-11-29T04:01:05Z</dcterms:created>
  <dcterms:modified xsi:type="dcterms:W3CDTF">2023-11-20T04:14:26Z</dcterms:modified>
</cp:coreProperties>
</file>