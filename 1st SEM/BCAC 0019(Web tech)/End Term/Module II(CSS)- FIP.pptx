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8" r:id="rId5"/>
    <p:sldId id="259" r:id="rId6"/>
    <p:sldId id="260" r:id="rId7"/>
    <p:sldId id="266" r:id="rId8"/>
    <p:sldId id="262" r:id="rId9"/>
    <p:sldId id="261" r:id="rId10"/>
    <p:sldId id="263" r:id="rId11"/>
    <p:sldId id="264" r:id="rId12"/>
    <p:sldId id="265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9" r:id="rId23"/>
    <p:sldId id="280" r:id="rId24"/>
    <p:sldId id="282" r:id="rId25"/>
    <p:sldId id="281" r:id="rId26"/>
    <p:sldId id="287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5" d="100"/>
          <a:sy n="95" d="100"/>
        </p:scale>
        <p:origin x="-78" y="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33AE2-4A57-4E11-B5EF-33C71D53BDA3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18BBD-C243-4D3B-B6F0-A703A6AD68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930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58E385-D2A8-4FE5-9B10-631050A56D87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D199-3BD4-42A3-9D85-C9FB67266B5A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FC280E-E7AB-43BD-8B24-E65D3060C198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B1AA-7274-4973-996B-A90ACABF3F61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ABE4-DE4A-4580-8D73-C96596A0552B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DC3B-CDEB-499B-834D-D0FD4DA457DD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DDFC-4154-4EBD-8AA2-610CDF0572FB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42790C3-5786-4A22-9AC0-C5ACC1FABF65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DA0-8319-439C-9A8A-050676129435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053-5A3B-4FCC-B742-BBADE34091D2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AB59D5A-2B76-4892-B4DE-A3DD5EFD27B6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3211272-68D5-4016-9D3F-DEAA1A4548EE}" type="datetime1">
              <a:rPr lang="en-US" smtClean="0"/>
              <a:pPr/>
              <a:t>11/6/2023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pseudo_classes.asp" TargetMode="External"/><Relationship Id="rId2" Type="http://schemas.openxmlformats.org/officeDocument/2006/relationships/hyperlink" Target="https://www.w3schools.com/css/css_combinator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/css_attribute_selectors.asp" TargetMode="External"/><Relationship Id="rId4" Type="http://schemas.openxmlformats.org/officeDocument/2006/relationships/hyperlink" Target="https://www.w3schools.com/css/css_pseudo_elements.asp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D8BAD8-BEB8-C943-2960-67D01952B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7853682" cy="134954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BCAC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0019</a:t>
            </a:r>
            <a:r>
              <a:rPr lang="en-IN" dirty="0"/>
              <a:t/>
            </a:r>
            <a:br>
              <a:rPr lang="en-IN" dirty="0"/>
            </a:b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Web Technology -1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996F582-37D4-4EAE-D38B-C642647C5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527" y="3889596"/>
            <a:ext cx="10993546" cy="2333404"/>
          </a:xfrm>
        </p:spPr>
        <p:txBody>
          <a:bodyPr>
            <a:normAutofit/>
          </a:bodyPr>
          <a:lstStyle/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KANTA PRASAD SHARMA ( K P SHARMA)</a:t>
            </a:r>
            <a:endParaRPr lang="en-IN" sz="2200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Professor,</a:t>
            </a:r>
          </a:p>
          <a:p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</a:t>
            </a:r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 </a:t>
            </a:r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Applications,</a:t>
            </a:r>
          </a:p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 University,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Mathura</a:t>
            </a:r>
          </a:p>
          <a:p>
            <a:endParaRPr lang="en-IN" sz="2200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Gla Logo">
            <a:extLst>
              <a:ext uri="{FF2B5EF4-FFF2-40B4-BE49-F238E27FC236}">
                <a16:creationId xmlns:a16="http://schemas.microsoft.com/office/drawing/2014/main" xmlns="" id="{6E870F6E-5857-ADD9-B260-1347DEBA9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96768" y="652215"/>
            <a:ext cx="2814040" cy="176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6361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FFA25E-F1BA-6DA3-EF2D-C542105C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29744"/>
          </a:xfrm>
        </p:spPr>
        <p:txBody>
          <a:bodyPr/>
          <a:lstStyle/>
          <a:p>
            <a:r>
              <a:rPr lang="en-IN" dirty="0"/>
              <a:t>Syllabus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7DB6B77-8EA1-8CCF-2611-390FB0F80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433" y="1929030"/>
            <a:ext cx="8996566" cy="492897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DDC57A-FD8D-79F5-9F13-229D794B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167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 stands for Cascading Style Sheets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 is the language we use to style an HTML document.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 describes how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HTML elements should be displayed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It can control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layout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multiple web pages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at once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External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stylesheets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stored in CSS files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266" name="AutoShape 2" descr="CSS tricks to shake up your web layouts | Creative Bloq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CSS tricks to shake up your web layouts | Creative Bloq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0" name="AutoShape 6" descr="What's new in CSS 3. WHAT IS CSS? | by Sahil Dhawan | Beginner's Guide to  Mobile Web Development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2" name="AutoShape 8" descr="What's new in CSS 3. WHAT IS CSS? | by Sahil Dhawan | Beginner's Guide to  Mobile Web Development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4" name="AutoShape 10" descr="1,960 Html Css Stock Photos, Pictures &amp; Royalty-Free Images - i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76" name="Picture 12" descr="CSS Animation Effects | Html CSS Only - YouTub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8263" y="2323104"/>
            <a:ext cx="5024731" cy="28264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7330" y="435935"/>
            <a:ext cx="8265441" cy="5349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???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CSS is used to define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styles for your web pages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including the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design,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layout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variations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display for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devices and screen sizes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52804" y="3706665"/>
            <a:ext cx="5962650" cy="2260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971" y="509651"/>
            <a:ext cx="11029616" cy="1013800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70" y="1807517"/>
            <a:ext cx="11029615" cy="488204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html&gt;&lt;head&gt;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&lt;style&gt;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body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{background-color: 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lightblue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;}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h1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 color: white; text-align: center;}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 font-family: 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verdana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 font-size: 20px;}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&lt;/style&gt;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&lt;/head&gt;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&lt;h1&gt;Welcome in  Web Technology &lt;/h1&gt;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&lt;pre&gt;SITARE   U   HI   NHI   BNTE ,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MEHNAT    KRNI    PDTI   H &lt;/pre&gt;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&lt;/body&gt;&lt;/html&gt;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SELECTORS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 element Selector(element name)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 Selector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(#)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Class Selector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(.)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Universal Selector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(*)</a:t>
            </a:r>
            <a:endParaRPr lang="en-US" sz="2000" b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Grouping Selector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8627" y="3313482"/>
            <a:ext cx="8495070" cy="3195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class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76926"/>
            <a:ext cx="11029615" cy="4704348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CSS selectors are used to "find" (or select) the HTML elements you want to style.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We can divide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CSS selectors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into five categories:</a:t>
            </a:r>
          </a:p>
          <a:p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Simple selectors (select elements based on name, id, class)</a:t>
            </a:r>
          </a:p>
          <a:p>
            <a:r>
              <a:rPr lang="en-US" sz="1900" b="1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Combinator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 selectors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 (select elements based on a specific relationship between them)</a:t>
            </a:r>
          </a:p>
          <a:p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Pseudo-class selectors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 (select elements based on a certain state)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Pseudo-elements selectors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(select and style a part of an element)</a:t>
            </a:r>
          </a:p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Attribute selectors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 (select elements based on an attribute or attribute value)</a:t>
            </a:r>
          </a:p>
          <a:p>
            <a:endParaRPr lang="en-US" dirty="0" smtClean="0"/>
          </a:p>
          <a:p>
            <a:r>
              <a:rPr lang="en-US" dirty="0" smtClean="0"/>
              <a:t>To select elements with a </a:t>
            </a:r>
            <a:r>
              <a:rPr lang="en-US" b="1" dirty="0" smtClean="0"/>
              <a:t>specific class, write a period (.) character</a:t>
            </a:r>
            <a:r>
              <a:rPr lang="en-US" dirty="0" smtClean="0"/>
              <a:t>, followed by the class name.</a:t>
            </a:r>
          </a:p>
          <a:p>
            <a:r>
              <a:rPr lang="en-US" sz="1900" b="1" dirty="0" smtClean="0">
                <a:solidFill>
                  <a:srgbClr val="C00000"/>
                </a:solidFill>
              </a:rPr>
              <a:t>.</a:t>
            </a:r>
            <a:r>
              <a:rPr lang="en-US" sz="1900" b="1" dirty="0" smtClean="0">
                <a:solidFill>
                  <a:schemeClr val="bg1"/>
                </a:solidFill>
              </a:rPr>
              <a:t>center {</a:t>
            </a:r>
            <a:br>
              <a:rPr lang="en-US" sz="1900" b="1" dirty="0" smtClean="0">
                <a:solidFill>
                  <a:schemeClr val="bg1"/>
                </a:solidFill>
              </a:rPr>
            </a:br>
            <a:r>
              <a:rPr lang="en-US" sz="1900" b="1" dirty="0" smtClean="0">
                <a:solidFill>
                  <a:schemeClr val="bg1"/>
                </a:solidFill>
              </a:rPr>
              <a:t>  text-align: center;</a:t>
            </a:r>
            <a:br>
              <a:rPr lang="en-US" sz="1900" b="1" dirty="0" smtClean="0">
                <a:solidFill>
                  <a:schemeClr val="bg1"/>
                </a:solidFill>
              </a:rPr>
            </a:br>
            <a:r>
              <a:rPr lang="en-US" sz="1900" b="1" dirty="0" smtClean="0">
                <a:solidFill>
                  <a:schemeClr val="bg1"/>
                </a:solidFill>
              </a:rPr>
              <a:t>  color: red;</a:t>
            </a:r>
            <a:br>
              <a:rPr lang="en-US" sz="1900" b="1" dirty="0" smtClean="0">
                <a:solidFill>
                  <a:schemeClr val="bg1"/>
                </a:solidFill>
              </a:rPr>
            </a:br>
            <a:r>
              <a:rPr lang="en-US" sz="1900" b="1" dirty="0" smtClean="0">
                <a:solidFill>
                  <a:schemeClr val="bg1"/>
                </a:solidFill>
              </a:rPr>
              <a:t>}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class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only &lt;p&gt; elements with class="center" will be red and center-aligned: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b="1" dirty="0" smtClean="0">
                <a:solidFill>
                  <a:srgbClr val="002060"/>
                </a:solidFill>
              </a:rPr>
              <a:t>p {</a:t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>
                <a:solidFill>
                  <a:srgbClr val="002060"/>
                </a:solidFill>
              </a:rPr>
              <a:t>  color: red;</a:t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>
                <a:solidFill>
                  <a:srgbClr val="002060"/>
                </a:solidFill>
              </a:rPr>
              <a:t>  text-align: center;</a:t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>
                <a:solidFill>
                  <a:srgbClr val="002060"/>
                </a:solidFill>
              </a:rPr>
              <a:t>}</a:t>
            </a:r>
          </a:p>
          <a:p>
            <a:endParaRPr lang="en-US" dirty="0" smtClean="0"/>
          </a:p>
          <a:p>
            <a:r>
              <a:rPr lang="en-US" dirty="0" smtClean="0"/>
              <a:t>p is a selector in </a:t>
            </a:r>
            <a:r>
              <a:rPr lang="en-US" dirty="0" smtClean="0"/>
              <a:t>CSS.</a:t>
            </a:r>
            <a:endParaRPr lang="en-US" dirty="0" smtClean="0"/>
          </a:p>
          <a:p>
            <a:r>
              <a:rPr lang="en-US" b="1" dirty="0" smtClean="0"/>
              <a:t>color</a:t>
            </a:r>
            <a:r>
              <a:rPr lang="en-US" dirty="0" smtClean="0"/>
              <a:t> 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 smtClean="0"/>
              <a:t>property, and </a:t>
            </a:r>
            <a:r>
              <a:rPr lang="en-US" b="1" dirty="0" smtClean="0"/>
              <a:t>red</a:t>
            </a:r>
            <a:r>
              <a:rPr lang="en-US" dirty="0" smtClean="0"/>
              <a:t> 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value.</a:t>
            </a:r>
            <a:endParaRPr lang="en-US" dirty="0" smtClean="0"/>
          </a:p>
          <a:p>
            <a:r>
              <a:rPr lang="en-US" b="1" dirty="0" smtClean="0"/>
              <a:t>text-align</a:t>
            </a:r>
            <a:r>
              <a:rPr lang="en-US" dirty="0" smtClean="0"/>
              <a:t> 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 smtClean="0"/>
              <a:t>property, and </a:t>
            </a:r>
            <a:r>
              <a:rPr lang="en-US" b="1" dirty="0" smtClean="0"/>
              <a:t>center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value.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element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276268" cy="367830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all &lt;p&gt; elements on</a:t>
            </a:r>
          </a:p>
          <a:p>
            <a:pPr>
              <a:buNone/>
            </a:pPr>
            <a:r>
              <a:rPr lang="en-US" b="1" dirty="0" smtClean="0"/>
              <a:t>p</a:t>
            </a:r>
            <a:r>
              <a:rPr lang="en-US" b="1" dirty="0" smtClean="0"/>
              <a:t> {</a:t>
            </a:r>
            <a:br>
              <a:rPr lang="en-US" b="1" dirty="0" smtClean="0"/>
            </a:br>
            <a:r>
              <a:rPr lang="en-US" b="1" dirty="0" smtClean="0"/>
              <a:t>  text-align: center;</a:t>
            </a:r>
            <a:br>
              <a:rPr lang="en-US" b="1" dirty="0" smtClean="0"/>
            </a:br>
            <a:r>
              <a:rPr lang="en-US" b="1" dirty="0" smtClean="0"/>
              <a:t>  color: red;</a:t>
            </a:r>
            <a:br>
              <a:rPr lang="en-US" b="1" dirty="0" smtClean="0"/>
            </a:br>
            <a:r>
              <a:rPr lang="en-US" b="1" dirty="0" smtClean="0"/>
              <a:t>}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72938" y="1844035"/>
            <a:ext cx="526311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b="1" dirty="0" smtClean="0"/>
              <a:t>&lt;style&gt;</a:t>
            </a:r>
          </a:p>
          <a:p>
            <a:r>
              <a:rPr lang="en-US" b="1" dirty="0" smtClean="0"/>
              <a:t>.</a:t>
            </a:r>
            <a:r>
              <a:rPr lang="en-US" b="1" dirty="0" err="1" smtClean="0"/>
              <a:t>aa</a:t>
            </a:r>
            <a:r>
              <a:rPr lang="en-US" b="1" dirty="0" smtClean="0"/>
              <a:t> </a:t>
            </a:r>
            <a:r>
              <a:rPr lang="en-US" b="1" dirty="0" smtClean="0"/>
              <a:t>{</a:t>
            </a:r>
          </a:p>
          <a:p>
            <a:r>
              <a:rPr lang="en-US" b="1" dirty="0" smtClean="0"/>
              <a:t>  text-align: center;</a:t>
            </a:r>
          </a:p>
          <a:p>
            <a:r>
              <a:rPr lang="en-US" b="1" dirty="0" smtClean="0"/>
              <a:t>  color: red;</a:t>
            </a:r>
          </a:p>
          <a:p>
            <a:r>
              <a:rPr lang="en-US" b="1" dirty="0" smtClean="0"/>
              <a:t>} </a:t>
            </a:r>
          </a:p>
          <a:p>
            <a:r>
              <a:rPr lang="en-US" b="1" dirty="0" smtClean="0"/>
              <a:t>&lt;/style&gt;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smtClean="0">
                <a:solidFill>
                  <a:srgbClr val="FF0000"/>
                </a:solidFill>
              </a:rPr>
              <a:t>p class=“</a:t>
            </a:r>
            <a:r>
              <a:rPr lang="en-US" dirty="0" err="1" smtClean="0">
                <a:solidFill>
                  <a:srgbClr val="FF0000"/>
                </a:solidFill>
              </a:rPr>
              <a:t>aa</a:t>
            </a:r>
            <a:r>
              <a:rPr lang="en-US" dirty="0" smtClean="0">
                <a:solidFill>
                  <a:srgbClr val="FF0000"/>
                </a:solidFill>
              </a:rPr>
              <a:t>”&gt;</a:t>
            </a:r>
            <a:r>
              <a:rPr lang="en-US" dirty="0" smtClean="0"/>
              <a:t>Welcome&lt;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&lt;pre&gt; hello </a:t>
            </a:r>
            <a:r>
              <a:rPr lang="en-US" dirty="0" err="1" smtClean="0">
                <a:solidFill>
                  <a:srgbClr val="FF0000"/>
                </a:solidFill>
              </a:rPr>
              <a:t>india</a:t>
            </a:r>
            <a:r>
              <a:rPr lang="en-US" dirty="0" smtClean="0">
                <a:solidFill>
                  <a:srgbClr val="FF0000"/>
                </a:solidFill>
              </a:rPr>
              <a:t> &lt;/pre&gt;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&lt;h1&gt; </a:t>
            </a:r>
            <a:r>
              <a:rPr lang="en-US" dirty="0" err="1" smtClean="0">
                <a:solidFill>
                  <a:srgbClr val="FF0000"/>
                </a:solidFill>
              </a:rPr>
              <a:t>Diwali</a:t>
            </a:r>
            <a:r>
              <a:rPr lang="en-US" dirty="0" smtClean="0">
                <a:solidFill>
                  <a:srgbClr val="FF0000"/>
                </a:solidFill>
              </a:rPr>
              <a:t>&lt;/h1&gt;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&lt;/</a:t>
            </a:r>
            <a:r>
              <a:rPr lang="en-US" dirty="0" smtClean="0">
                <a:solidFill>
                  <a:srgbClr val="FF0000"/>
                </a:solidFill>
              </a:rPr>
              <a:t>p&gt;</a:t>
            </a:r>
          </a:p>
          <a:p>
            <a:r>
              <a:rPr lang="en-US" dirty="0" smtClean="0"/>
              <a:t>&lt;p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id="para1</a:t>
            </a:r>
            <a:r>
              <a:rPr lang="en-US" dirty="0" smtClean="0"/>
              <a:t>"&gt;Me too!&lt;/p&gt;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&lt;p&gt;</a:t>
            </a:r>
            <a:r>
              <a:rPr lang="en-US" dirty="0" smtClean="0"/>
              <a:t>And me!</a:t>
            </a:r>
            <a:r>
              <a:rPr lang="en-US" dirty="0" smtClean="0">
                <a:solidFill>
                  <a:srgbClr val="0070C0"/>
                </a:solidFill>
              </a:rPr>
              <a:t>&lt;/p&gt;</a:t>
            </a:r>
          </a:p>
          <a:p>
            <a:endParaRPr lang="en-US" dirty="0" smtClean="0"/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id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0070C0"/>
                </a:solidFill>
              </a:rPr>
              <a:t>id selector</a:t>
            </a:r>
            <a:r>
              <a:rPr lang="en-US" dirty="0" smtClean="0"/>
              <a:t> uses the </a:t>
            </a:r>
            <a:r>
              <a:rPr lang="en-US" b="1" dirty="0" smtClean="0">
                <a:solidFill>
                  <a:srgbClr val="0070C0"/>
                </a:solidFill>
              </a:rPr>
              <a:t>id attribute</a:t>
            </a:r>
            <a:r>
              <a:rPr lang="en-US" dirty="0" smtClean="0"/>
              <a:t> of an HTML element to select a specific element.</a:t>
            </a:r>
          </a:p>
          <a:p>
            <a:r>
              <a:rPr lang="en-US" dirty="0" smtClean="0"/>
              <a:t>The id of an element is </a:t>
            </a:r>
            <a:r>
              <a:rPr lang="en-US" b="1" dirty="0" smtClean="0">
                <a:solidFill>
                  <a:srgbClr val="0070C0"/>
                </a:solidFill>
              </a:rPr>
              <a:t>unique within a page</a:t>
            </a:r>
            <a:r>
              <a:rPr lang="en-US" dirty="0" smtClean="0">
                <a:solidFill>
                  <a:srgbClr val="0070C0"/>
                </a:solidFill>
              </a:rPr>
              <a:t>,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 S</a:t>
            </a:r>
            <a:r>
              <a:rPr lang="en-US" dirty="0" smtClean="0"/>
              <a:t>o, </a:t>
            </a:r>
            <a:r>
              <a:rPr lang="en-US" dirty="0" smtClean="0"/>
              <a:t>the </a:t>
            </a:r>
            <a:r>
              <a:rPr lang="en-US" b="1" dirty="0" smtClean="0">
                <a:solidFill>
                  <a:srgbClr val="0070C0"/>
                </a:solidFill>
              </a:rPr>
              <a:t>id selector</a:t>
            </a:r>
            <a:r>
              <a:rPr lang="en-US" b="1" dirty="0" smtClean="0"/>
              <a:t> </a:t>
            </a:r>
            <a:r>
              <a:rPr lang="en-US" b="1" dirty="0" smtClean="0">
                <a:sym typeface="Wingdings" pitchFamily="2" charset="2"/>
              </a:rPr>
              <a:t></a:t>
            </a:r>
            <a:r>
              <a:rPr lang="en-US" dirty="0" smtClean="0"/>
              <a:t>select </a:t>
            </a:r>
            <a:r>
              <a:rPr lang="en-US" dirty="0" smtClean="0">
                <a:solidFill>
                  <a:srgbClr val="0070C0"/>
                </a:solidFill>
              </a:rPr>
              <a:t>one unique element!</a:t>
            </a:r>
          </a:p>
          <a:p>
            <a:r>
              <a:rPr lang="en-US" dirty="0" smtClean="0"/>
              <a:t>To select an element with a </a:t>
            </a:r>
            <a:r>
              <a:rPr lang="en-US" b="1" dirty="0" smtClean="0"/>
              <a:t>s</a:t>
            </a:r>
            <a:r>
              <a:rPr lang="en-US" dirty="0" smtClean="0"/>
              <a:t>pecific id, write a </a:t>
            </a:r>
            <a:r>
              <a:rPr lang="en-US" b="1" dirty="0" smtClean="0">
                <a:solidFill>
                  <a:srgbClr val="FF0000"/>
                </a:solidFill>
              </a:rPr>
              <a:t>hash (#) character</a:t>
            </a:r>
            <a:r>
              <a:rPr lang="en-US" dirty="0" smtClean="0"/>
              <a:t>, </a:t>
            </a:r>
            <a:endParaRPr lang="en-US" dirty="0" smtClean="0"/>
          </a:p>
          <a:p>
            <a:r>
              <a:rPr lang="en-US" dirty="0" smtClean="0"/>
              <a:t>followed </a:t>
            </a:r>
            <a:r>
              <a:rPr lang="en-US" dirty="0" smtClean="0"/>
              <a:t>by the id of the element.</a:t>
            </a:r>
          </a:p>
          <a:p>
            <a:pPr>
              <a:buNone/>
            </a:pPr>
            <a:r>
              <a:rPr lang="es-ES" b="1" dirty="0" smtClean="0">
                <a:solidFill>
                  <a:srgbClr val="FF0000"/>
                </a:solidFill>
              </a:rPr>
              <a:t>#para1 </a:t>
            </a:r>
            <a:endParaRPr lang="es-ES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ES" b="1" dirty="0" smtClean="0"/>
              <a:t> </a:t>
            </a:r>
            <a:r>
              <a:rPr lang="es-ES" b="1" dirty="0" smtClean="0"/>
              <a:t> </a:t>
            </a:r>
            <a:r>
              <a:rPr lang="es-ES" b="1" dirty="0" smtClean="0"/>
              <a:t>{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b="1" dirty="0" smtClean="0"/>
              <a:t>  </a:t>
            </a:r>
            <a:r>
              <a:rPr lang="es-ES" b="1" dirty="0" err="1" smtClean="0">
                <a:solidFill>
                  <a:srgbClr val="0070C0"/>
                </a:solidFill>
              </a:rPr>
              <a:t>text-align</a:t>
            </a:r>
            <a:r>
              <a:rPr lang="es-ES" b="1" dirty="0" smtClean="0">
                <a:solidFill>
                  <a:srgbClr val="0070C0"/>
                </a:solidFill>
              </a:rPr>
              <a:t>: center;</a:t>
            </a:r>
            <a:br>
              <a:rPr lang="es-ES" b="1" dirty="0" smtClean="0">
                <a:solidFill>
                  <a:srgbClr val="0070C0"/>
                </a:solidFill>
              </a:rPr>
            </a:br>
            <a:r>
              <a:rPr lang="es-ES" b="1" dirty="0" smtClean="0">
                <a:solidFill>
                  <a:srgbClr val="0070C0"/>
                </a:solidFill>
              </a:rPr>
              <a:t>  color: red;</a:t>
            </a:r>
            <a:br>
              <a:rPr lang="es-ES" b="1" dirty="0" smtClean="0">
                <a:solidFill>
                  <a:srgbClr val="0070C0"/>
                </a:solidFill>
              </a:rPr>
            </a:br>
            <a:r>
              <a:rPr lang="es-ES" b="1" dirty="0" smtClean="0"/>
              <a:t>}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92596"/>
            <a:ext cx="11029615" cy="483781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&lt;head&gt;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&lt;style&gt;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#para1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text-align: center;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color: red;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&lt;/style&gt;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&lt;/head&gt;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id="para1"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&gt;Hello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Pranjal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!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&lt;/p&gt;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&lt;p&gt;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Welcomes in Warm Morning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&lt;/p&gt;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Selector (*)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4538" y="2108200"/>
            <a:ext cx="11029615" cy="5003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&lt;html&lt;head&gt;</a:t>
            </a:r>
          </a:p>
          <a:p>
            <a:pPr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&lt;style&gt;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text-align: center;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color: blue;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&lt;/style&gt;</a:t>
            </a:r>
          </a:p>
          <a:p>
            <a:pPr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&lt;/head&gt;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&lt;h1&gt;Hello world!&lt;/h1&gt;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&lt;p&gt;BCA I YEAR STUDENTS ARE ROCKING.&lt;/p&gt;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&lt;p id="para1"&gt;You!&lt;/p&gt;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&lt;p&gt;And us!&lt;/p&gt;</a:t>
            </a:r>
          </a:p>
          <a:p>
            <a:pPr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&lt;/body&gt;&lt;/html&gt;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75770"/>
          </a:xfrm>
        </p:spPr>
        <p:txBody>
          <a:bodyPr/>
          <a:lstStyle/>
          <a:p>
            <a:r>
              <a:rPr lang="en-US" dirty="0" smtClean="0"/>
              <a:t>Add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When a browser reads a style sheet, it will format the HTML document according to the information in the style sheet.</a:t>
            </a:r>
          </a:p>
          <a:p>
            <a:r>
              <a:rPr lang="en-US" dirty="0" smtClean="0"/>
              <a:t>Three Ways to Insert CSS</a:t>
            </a:r>
          </a:p>
          <a:p>
            <a:r>
              <a:rPr lang="en-US" dirty="0" smtClean="0"/>
              <a:t>External CSS</a:t>
            </a:r>
          </a:p>
          <a:p>
            <a:r>
              <a:rPr lang="en-US" dirty="0" smtClean="0"/>
              <a:t>Internal CSS</a:t>
            </a:r>
          </a:p>
          <a:p>
            <a:r>
              <a:rPr lang="en-US" dirty="0" smtClean="0"/>
              <a:t>Inline CSS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43872"/>
          </a:xfrm>
        </p:spPr>
        <p:txBody>
          <a:bodyPr/>
          <a:lstStyle/>
          <a:p>
            <a:r>
              <a:rPr lang="en-US" dirty="0" smtClean="0"/>
              <a:t>External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67" y="2180496"/>
            <a:ext cx="5817996" cy="36783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Hello.html</a:t>
            </a:r>
            <a:r>
              <a:rPr lang="en-US" sz="2400" dirty="0" smtClean="0"/>
              <a:t>   </a:t>
            </a:r>
          </a:p>
          <a:p>
            <a:pPr>
              <a:buNone/>
            </a:pPr>
            <a:r>
              <a:rPr lang="en-US" sz="2400" dirty="0" smtClean="0"/>
              <a:t> &lt;html&gt;</a:t>
            </a:r>
            <a:br>
              <a:rPr lang="en-US" sz="2400" dirty="0" smtClean="0"/>
            </a:br>
            <a:r>
              <a:rPr lang="en-US" sz="2400" dirty="0" smtClean="0"/>
              <a:t>&lt;head&gt;</a:t>
            </a:r>
            <a:br>
              <a:rPr lang="en-US" sz="2400" dirty="0" smtClean="0"/>
            </a:br>
            <a:r>
              <a:rPr lang="en-US" sz="2400" dirty="0" smtClean="0">
                <a:solidFill>
                  <a:srgbClr val="FF0000"/>
                </a:solidFill>
              </a:rPr>
              <a:t>&lt;link </a:t>
            </a:r>
            <a:r>
              <a:rPr lang="en-US" sz="2400" dirty="0" err="1" smtClean="0">
                <a:solidFill>
                  <a:srgbClr val="FF0000"/>
                </a:solidFill>
              </a:rPr>
              <a:t>rel</a:t>
            </a:r>
            <a:r>
              <a:rPr lang="en-US" sz="2400" dirty="0" smtClean="0">
                <a:solidFill>
                  <a:srgbClr val="FF0000"/>
                </a:solidFill>
              </a:rPr>
              <a:t>="</a:t>
            </a:r>
            <a:r>
              <a:rPr lang="en-US" sz="2400" dirty="0" err="1" smtClean="0">
                <a:solidFill>
                  <a:srgbClr val="FF0000"/>
                </a:solidFill>
              </a:rPr>
              <a:t>stylesheet</a:t>
            </a:r>
            <a:r>
              <a:rPr lang="en-US" sz="2400" dirty="0" smtClean="0">
                <a:solidFill>
                  <a:srgbClr val="FF0000"/>
                </a:solidFill>
              </a:rPr>
              <a:t>" </a:t>
            </a:r>
            <a:r>
              <a:rPr lang="en-US" sz="2400" dirty="0" err="1" smtClean="0">
                <a:solidFill>
                  <a:srgbClr val="0070C0"/>
                </a:solidFill>
              </a:rPr>
              <a:t>href</a:t>
            </a:r>
            <a:r>
              <a:rPr lang="en-US" sz="2400" dirty="0" smtClean="0">
                <a:solidFill>
                  <a:srgbClr val="0070C0"/>
                </a:solidFill>
              </a:rPr>
              <a:t>="mystyle.css</a:t>
            </a:r>
            <a:r>
              <a:rPr lang="en-US" sz="2400" dirty="0" smtClean="0">
                <a:solidFill>
                  <a:srgbClr val="FF0000"/>
                </a:solidFill>
              </a:rPr>
              <a:t>"&gt;</a:t>
            </a:r>
            <a:br>
              <a:rPr lang="en-US" sz="2400" dirty="0" smtClean="0">
                <a:solidFill>
                  <a:srgbClr val="FF0000"/>
                </a:solidFill>
              </a:rPr>
            </a:br>
            <a:r>
              <a:rPr lang="en-US" sz="2400" dirty="0" smtClean="0"/>
              <a:t>&lt;/head&gt;</a:t>
            </a:r>
            <a:br>
              <a:rPr lang="en-US" sz="2400" dirty="0" smtClean="0"/>
            </a:br>
            <a:r>
              <a:rPr lang="en-US" sz="2400" dirty="0" smtClean="0"/>
              <a:t>&lt;body&gt;</a:t>
            </a:r>
            <a:br>
              <a:rPr lang="en-US" sz="2400" dirty="0" smtClean="0"/>
            </a:br>
            <a:r>
              <a:rPr lang="en-US" sz="2400" dirty="0" smtClean="0"/>
              <a:t>&lt;h1&gt;Lets Play&lt;/h1&gt;</a:t>
            </a:r>
            <a:br>
              <a:rPr lang="en-US" sz="2400" dirty="0" smtClean="0"/>
            </a:br>
            <a:r>
              <a:rPr lang="en-US" sz="2400" dirty="0" smtClean="0"/>
              <a:t>&lt;p&gt;with CSS &lt;/p&gt;</a:t>
            </a:r>
            <a:br>
              <a:rPr lang="en-US" sz="2400" dirty="0" smtClean="0"/>
            </a:br>
            <a:r>
              <a:rPr lang="en-US" sz="2400" dirty="0" smtClean="0"/>
              <a:t>&lt;/body&gt;</a:t>
            </a:r>
            <a:br>
              <a:rPr lang="en-US" sz="2400" dirty="0" smtClean="0"/>
            </a:br>
            <a:r>
              <a:rPr lang="en-US" sz="2400" dirty="0" smtClean="0"/>
              <a:t>&lt;/html&gt;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53962" y="2051555"/>
            <a:ext cx="494414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mystyle.css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400" dirty="0" smtClean="0"/>
              <a:t>body </a:t>
            </a:r>
          </a:p>
          <a:p>
            <a:r>
              <a:rPr lang="en-US" sz="2400" dirty="0" smtClean="0"/>
              <a:t>{</a:t>
            </a:r>
            <a:br>
              <a:rPr lang="en-US" sz="2400" dirty="0" smtClean="0"/>
            </a:br>
            <a:r>
              <a:rPr lang="en-US" sz="2400" dirty="0" smtClean="0"/>
              <a:t>  background-color: </a:t>
            </a:r>
            <a:r>
              <a:rPr lang="en-US" sz="2400" dirty="0" err="1" smtClean="0"/>
              <a:t>lightblue</a:t>
            </a:r>
            <a:r>
              <a:rPr lang="en-US" sz="2400" dirty="0" smtClean="0"/>
              <a:t>;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h1</a:t>
            </a:r>
          </a:p>
          <a:p>
            <a:r>
              <a:rPr lang="en-US" sz="2400" dirty="0" smtClean="0"/>
              <a:t> {</a:t>
            </a:r>
            <a:br>
              <a:rPr lang="en-US" sz="2400" dirty="0" smtClean="0"/>
            </a:br>
            <a:r>
              <a:rPr lang="en-US" sz="2400" dirty="0" smtClean="0"/>
              <a:t>  color: red;</a:t>
            </a:r>
            <a:br>
              <a:rPr lang="en-US" sz="2400" dirty="0" smtClean="0"/>
            </a:br>
            <a:r>
              <a:rPr lang="en-US" sz="2400" dirty="0" smtClean="0"/>
              <a:t>  margin-left: 20px;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7" name="Cloud Callout 6"/>
          <p:cNvSpPr/>
          <p:nvPr/>
        </p:nvSpPr>
        <p:spPr>
          <a:xfrm>
            <a:off x="3865344" y="1337833"/>
            <a:ext cx="1573618" cy="1020726"/>
          </a:xfrm>
          <a:prstGeom prst="cloud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74565"/>
            <a:ext cx="11029616" cy="1013800"/>
          </a:xfrm>
        </p:spPr>
        <p:txBody>
          <a:bodyPr/>
          <a:lstStyle/>
          <a:p>
            <a:r>
              <a:rPr lang="en-US" dirty="0" smtClean="0"/>
              <a:t>Internal CSS    &amp; INLINE CSS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75642"/>
            <a:ext cx="4852045" cy="4944139"/>
          </a:xfrm>
          <a:ln>
            <a:solidFill>
              <a:srgbClr val="FF0000"/>
            </a:solidFill>
          </a:ln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Inside the &lt;style&gt; element     </a:t>
            </a:r>
          </a:p>
          <a:p>
            <a:pPr>
              <a:buNone/>
            </a:pPr>
            <a:r>
              <a:rPr lang="en-US" dirty="0" smtClean="0"/>
              <a:t>    &lt;html&gt;</a:t>
            </a:r>
            <a:br>
              <a:rPr lang="en-US" dirty="0" smtClean="0"/>
            </a:br>
            <a:r>
              <a:rPr lang="en-US" dirty="0" smtClean="0"/>
              <a:t>&lt;head&gt;</a:t>
            </a:r>
            <a:br>
              <a:rPr lang="en-US" dirty="0" smtClean="0"/>
            </a:br>
            <a:r>
              <a:rPr lang="en-US" dirty="0" smtClean="0">
                <a:solidFill>
                  <a:srgbClr val="00B050"/>
                </a:solidFill>
              </a:rPr>
              <a:t>&lt;style&gt;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body</a:t>
            </a:r>
          </a:p>
          <a:p>
            <a:pPr>
              <a:buNone/>
            </a:pPr>
            <a:r>
              <a:rPr lang="en-US" dirty="0" smtClean="0"/>
              <a:t>      {</a:t>
            </a:r>
            <a:br>
              <a:rPr lang="en-US" dirty="0" smtClean="0"/>
            </a:br>
            <a:r>
              <a:rPr lang="en-US" dirty="0" smtClean="0"/>
              <a:t> </a:t>
            </a:r>
            <a:r>
              <a:rPr lang="en-US" dirty="0" smtClean="0">
                <a:solidFill>
                  <a:srgbClr val="FF0000"/>
                </a:solidFill>
              </a:rPr>
              <a:t> background-color: linen;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h1 {</a:t>
            </a:r>
            <a:br>
              <a:rPr lang="en-US" dirty="0" smtClean="0"/>
            </a:br>
            <a:r>
              <a:rPr lang="en-US" dirty="0" smtClean="0"/>
              <a:t> </a:t>
            </a:r>
            <a:r>
              <a:rPr lang="en-US" dirty="0" smtClean="0">
                <a:solidFill>
                  <a:srgbClr val="FF0000"/>
                </a:solidFill>
              </a:rPr>
              <a:t> color: maroon;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  margin-left: 40px;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>
                <a:solidFill>
                  <a:srgbClr val="00B050"/>
                </a:solidFill>
              </a:rPr>
              <a:t>&lt;/style&gt;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&lt;/head&gt;</a:t>
            </a:r>
            <a:br>
              <a:rPr lang="en-US" dirty="0" smtClean="0"/>
            </a:br>
            <a:r>
              <a:rPr lang="en-US" dirty="0" smtClean="0"/>
              <a:t>&lt;body&gt;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&lt;h1&gt;You are doing external ordinary work&lt;/h1&gt;</a:t>
            </a:r>
            <a:br>
              <a:rPr lang="en-US" dirty="0" smtClean="0"/>
            </a:br>
            <a:r>
              <a:rPr lang="en-US" dirty="0" smtClean="0"/>
              <a:t>&lt;p&gt;impressive class &lt;/p&gt;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&lt;/body&gt;</a:t>
            </a:r>
            <a:br>
              <a:rPr lang="en-US" dirty="0" smtClean="0"/>
            </a:br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60828" y="2211572"/>
            <a:ext cx="6241312" cy="3139321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use inline styles, add the style attribute to the relevant element</a:t>
            </a:r>
          </a:p>
          <a:p>
            <a:r>
              <a:rPr lang="en-US" dirty="0" smtClean="0"/>
              <a:t>&lt;!DOCTYPE html&gt;</a:t>
            </a:r>
            <a:br>
              <a:rPr lang="en-US" dirty="0" smtClean="0"/>
            </a:br>
            <a:r>
              <a:rPr lang="en-US" dirty="0" smtClean="0"/>
              <a:t>&lt;html&gt;</a:t>
            </a:r>
            <a:br>
              <a:rPr lang="en-US" dirty="0" smtClean="0"/>
            </a:br>
            <a:r>
              <a:rPr lang="en-US" dirty="0" smtClean="0"/>
              <a:t>&lt;body&gt;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&lt;h1 style="</a:t>
            </a:r>
            <a:r>
              <a:rPr lang="en-US" dirty="0" err="1" smtClean="0">
                <a:solidFill>
                  <a:srgbClr val="FF0000"/>
                </a:solidFill>
              </a:rPr>
              <a:t>color:blue;text-align:center</a:t>
            </a:r>
            <a:r>
              <a:rPr lang="en-US" dirty="0" smtClean="0">
                <a:solidFill>
                  <a:srgbClr val="FF0000"/>
                </a:solidFill>
              </a:rPr>
              <a:t>;"&gt;</a:t>
            </a:r>
            <a:r>
              <a:rPr lang="en-US" dirty="0" smtClean="0"/>
              <a:t>This Class is very Good &lt;/h1&gt;</a:t>
            </a:r>
            <a:br>
              <a:rPr lang="en-US" dirty="0" smtClean="0"/>
            </a:br>
            <a:r>
              <a:rPr lang="en-US" dirty="0" smtClean="0">
                <a:solidFill>
                  <a:srgbClr val="00B050"/>
                </a:solidFill>
              </a:rPr>
              <a:t>&lt;p style="</a:t>
            </a:r>
            <a:r>
              <a:rPr lang="en-US" dirty="0" err="1" smtClean="0">
                <a:solidFill>
                  <a:srgbClr val="00B050"/>
                </a:solidFill>
              </a:rPr>
              <a:t>color:red</a:t>
            </a:r>
            <a:r>
              <a:rPr lang="en-US" dirty="0" smtClean="0">
                <a:solidFill>
                  <a:srgbClr val="00B050"/>
                </a:solidFill>
              </a:rPr>
              <a:t>;“&gt;Students are so nice&lt;/p&gt;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&lt;/body&gt;</a:t>
            </a:r>
            <a:br>
              <a:rPr lang="en-US" dirty="0" smtClean="0"/>
            </a:br>
            <a:r>
              <a:rPr lang="en-US" dirty="0" smtClean="0"/>
              <a:t>&lt;/html&gt;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Cascading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the styles in a page will "cascade" into a new "virtual" style sheet.</a:t>
            </a:r>
          </a:p>
          <a:p>
            <a:r>
              <a:rPr lang="en-US" dirty="0" smtClean="0"/>
              <a:t>by the following rules, where number one has the highest priority: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Inline style (inside an HTML element)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External and internal style sheets (in the head section)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Browser default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COLORS in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552636"/>
            <a:ext cx="11029615" cy="36783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&lt;!DOCTYPE html&gt;</a:t>
            </a:r>
          </a:p>
          <a:p>
            <a:pPr>
              <a:buNone/>
            </a:pPr>
            <a:r>
              <a:rPr lang="en-US" sz="1600" dirty="0" smtClean="0"/>
              <a:t>&lt;html&gt;</a:t>
            </a:r>
          </a:p>
          <a:p>
            <a:pPr>
              <a:buNone/>
            </a:pPr>
            <a:r>
              <a:rPr lang="en-US" sz="1600" dirty="0" smtClean="0"/>
              <a:t>&lt;body&gt;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color:Tomato</a:t>
            </a:r>
            <a:r>
              <a:rPr lang="en-US" sz="1600" dirty="0" smtClean="0"/>
              <a:t>;"&gt;</a:t>
            </a:r>
            <a:r>
              <a:rPr lang="en-US" sz="1600" dirty="0" err="1" smtClean="0"/>
              <a:t>Rahul</a:t>
            </a:r>
            <a:r>
              <a:rPr lang="en-US" sz="1600" dirty="0" smtClean="0"/>
              <a:t>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color:Orange</a:t>
            </a:r>
            <a:r>
              <a:rPr lang="en-US" sz="1600" dirty="0" smtClean="0"/>
              <a:t>;"&gt;</a:t>
            </a:r>
            <a:r>
              <a:rPr lang="en-US" sz="1600" dirty="0" err="1" smtClean="0"/>
              <a:t>Anjali</a:t>
            </a:r>
            <a:r>
              <a:rPr lang="en-US" sz="1600" dirty="0" smtClean="0"/>
              <a:t>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color:DodgerBlue</a:t>
            </a:r>
            <a:r>
              <a:rPr lang="en-US" sz="1600" dirty="0" smtClean="0"/>
              <a:t>;"&gt;Joker&lt;/h1&gt;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color:MediumSeaGreen</a:t>
            </a:r>
            <a:r>
              <a:rPr lang="en-US" sz="1600" dirty="0" smtClean="0"/>
              <a:t>;"&gt;</a:t>
            </a:r>
            <a:r>
              <a:rPr lang="en-US" sz="1600" dirty="0" err="1" smtClean="0"/>
              <a:t>Shyam</a:t>
            </a:r>
            <a:r>
              <a:rPr lang="en-US" sz="1600" dirty="0" smtClean="0"/>
              <a:t>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color:Gray</a:t>
            </a:r>
            <a:r>
              <a:rPr lang="en-US" sz="1600" dirty="0" smtClean="0"/>
              <a:t>;"&gt;Cherry&lt;/h1&gt;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color:SlateBlue</a:t>
            </a:r>
            <a:r>
              <a:rPr lang="en-US" sz="1600" dirty="0" smtClean="0"/>
              <a:t>;"&gt;</a:t>
            </a:r>
            <a:r>
              <a:rPr lang="en-US" sz="1600" dirty="0" err="1" smtClean="0"/>
              <a:t>Ronaldo</a:t>
            </a:r>
            <a:r>
              <a:rPr lang="en-US" sz="1600" dirty="0" smtClean="0"/>
              <a:t>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color:Violet</a:t>
            </a:r>
            <a:r>
              <a:rPr lang="en-US" sz="1600" dirty="0" smtClean="0"/>
              <a:t>;"&gt;Mohan&lt;/h1&gt;</a:t>
            </a:r>
          </a:p>
          <a:p>
            <a:pPr>
              <a:buNone/>
            </a:pPr>
            <a:r>
              <a:rPr lang="en-US" sz="1600" dirty="0" smtClean="0"/>
              <a:t>&lt;h1 style="background-</a:t>
            </a:r>
            <a:r>
              <a:rPr lang="en-US" sz="1600" dirty="0" err="1" smtClean="0"/>
              <a:t>color:LightGray</a:t>
            </a:r>
            <a:r>
              <a:rPr lang="en-US" sz="1600" dirty="0" smtClean="0"/>
              <a:t>;"&gt;</a:t>
            </a:r>
            <a:r>
              <a:rPr lang="en-US" sz="1600" dirty="0" err="1" smtClean="0"/>
              <a:t>Pranjal</a:t>
            </a:r>
            <a:r>
              <a:rPr lang="en-US" sz="1600" dirty="0" smtClean="0"/>
              <a:t>&lt;/h1&gt;</a:t>
            </a:r>
          </a:p>
          <a:p>
            <a:pPr>
              <a:buNone/>
            </a:pPr>
            <a:r>
              <a:rPr lang="en-US" sz="1600" dirty="0" smtClean="0"/>
              <a:t>&lt;/body&gt;</a:t>
            </a:r>
          </a:p>
          <a:p>
            <a:pPr>
              <a:buNone/>
            </a:pPr>
            <a:r>
              <a:rPr lang="en-US" sz="1600" dirty="0" smtClean="0"/>
              <a:t>&lt;/html&gt;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 Backgrounds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background-color</a:t>
            </a:r>
          </a:p>
          <a:p>
            <a:r>
              <a:rPr lang="en-US" dirty="0" smtClean="0"/>
              <a:t>background-image</a:t>
            </a:r>
          </a:p>
          <a:p>
            <a:r>
              <a:rPr lang="en-US" dirty="0" smtClean="0"/>
              <a:t>background-repeat</a:t>
            </a:r>
          </a:p>
          <a:p>
            <a:r>
              <a:rPr lang="en-US" dirty="0" smtClean="0"/>
              <a:t>background-attachment</a:t>
            </a:r>
          </a:p>
          <a:p>
            <a:r>
              <a:rPr lang="en-US" dirty="0" smtClean="0"/>
              <a:t>background-position</a:t>
            </a:r>
          </a:p>
          <a:p>
            <a:r>
              <a:rPr lang="en-US" dirty="0" smtClean="0"/>
              <a:t>background (shorthand property)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60558" y="3296945"/>
            <a:ext cx="45826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body 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{</a:t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dirty="0" smtClean="0">
                <a:solidFill>
                  <a:srgbClr val="0070C0"/>
                </a:solidFill>
              </a:rPr>
              <a:t>  background-color: </a:t>
            </a:r>
            <a:r>
              <a:rPr lang="en-US" dirty="0" err="1" smtClean="0">
                <a:solidFill>
                  <a:srgbClr val="0070C0"/>
                </a:solidFill>
              </a:rPr>
              <a:t>lightblue</a:t>
            </a:r>
            <a:r>
              <a:rPr lang="en-US" dirty="0" smtClean="0">
                <a:solidFill>
                  <a:srgbClr val="0070C0"/>
                </a:solidFill>
              </a:rPr>
              <a:t>;</a:t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dirty="0" smtClean="0">
                <a:solidFill>
                  <a:srgbClr val="0070C0"/>
                </a:solidFill>
              </a:rPr>
              <a:t>}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29424" y="19785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body 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{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  background-image: </a:t>
            </a:r>
            <a:r>
              <a:rPr lang="en-US" dirty="0" err="1" smtClean="0">
                <a:solidFill>
                  <a:srgbClr val="FF0000"/>
                </a:solidFill>
              </a:rPr>
              <a:t>url</a:t>
            </a:r>
            <a:r>
              <a:rPr lang="en-US" dirty="0" smtClean="0">
                <a:solidFill>
                  <a:srgbClr val="FF0000"/>
                </a:solidFill>
              </a:rPr>
              <a:t>("paper.gif");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}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0" y="458348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p {</a:t>
            </a:r>
            <a:br>
              <a:rPr lang="en-US" dirty="0" smtClean="0">
                <a:solidFill>
                  <a:srgbClr val="00B050"/>
                </a:solidFill>
              </a:rPr>
            </a:br>
            <a:r>
              <a:rPr lang="en-US" dirty="0" smtClean="0">
                <a:solidFill>
                  <a:srgbClr val="00B050"/>
                </a:solidFill>
              </a:rPr>
              <a:t>  background-image: </a:t>
            </a:r>
            <a:r>
              <a:rPr lang="en-US" dirty="0" err="1" smtClean="0">
                <a:solidFill>
                  <a:srgbClr val="00B050"/>
                </a:solidFill>
              </a:rPr>
              <a:t>url</a:t>
            </a:r>
            <a:r>
              <a:rPr lang="en-US" dirty="0" smtClean="0">
                <a:solidFill>
                  <a:srgbClr val="00B050"/>
                </a:solidFill>
              </a:rPr>
              <a:t>("paper.gif");</a:t>
            </a:r>
            <a:br>
              <a:rPr lang="en-US" dirty="0" smtClean="0">
                <a:solidFill>
                  <a:srgbClr val="00B050"/>
                </a:solidFill>
              </a:rPr>
            </a:br>
            <a:r>
              <a:rPr lang="en-US" dirty="0" smtClean="0">
                <a:solidFill>
                  <a:srgbClr val="00B050"/>
                </a:solidFill>
              </a:rPr>
              <a:t>}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2500" dirty="0" smtClean="0"/>
              <a:t>&lt;!DOCTYPE html&gt;</a:t>
            </a:r>
          </a:p>
          <a:p>
            <a:pPr>
              <a:buNone/>
            </a:pPr>
            <a:r>
              <a:rPr lang="en-US" sz="2500" dirty="0" smtClean="0"/>
              <a:t>&lt;html&gt;</a:t>
            </a:r>
          </a:p>
          <a:p>
            <a:pPr>
              <a:buNone/>
            </a:pPr>
            <a:r>
              <a:rPr lang="en-US" sz="2500" dirty="0" smtClean="0"/>
              <a:t>&lt;head&gt;</a:t>
            </a:r>
          </a:p>
          <a:p>
            <a:pPr>
              <a:buNone/>
            </a:pPr>
            <a:r>
              <a:rPr lang="en-US" sz="2500" dirty="0" smtClean="0"/>
              <a:t>&lt;style&gt;</a:t>
            </a:r>
          </a:p>
          <a:p>
            <a:pPr>
              <a:buNone/>
            </a:pPr>
            <a:r>
              <a:rPr lang="en-US" sz="2500" dirty="0" smtClean="0">
                <a:solidFill>
                  <a:srgbClr val="FF0000"/>
                </a:solidFill>
              </a:rPr>
              <a:t>p {</a:t>
            </a:r>
          </a:p>
          <a:p>
            <a:pPr>
              <a:buNone/>
            </a:pPr>
            <a:r>
              <a:rPr lang="en-US" sz="2500" dirty="0" smtClean="0">
                <a:solidFill>
                  <a:srgbClr val="FF0000"/>
                </a:solidFill>
              </a:rPr>
              <a:t>  background-image: </a:t>
            </a:r>
            <a:r>
              <a:rPr lang="en-US" sz="2500" dirty="0" err="1" smtClean="0">
                <a:solidFill>
                  <a:srgbClr val="FF0000"/>
                </a:solidFill>
              </a:rPr>
              <a:t>url</a:t>
            </a:r>
            <a:r>
              <a:rPr lang="en-US" sz="2500" dirty="0" smtClean="0">
                <a:solidFill>
                  <a:srgbClr val="FF0000"/>
                </a:solidFill>
              </a:rPr>
              <a:t>("paper.gif");</a:t>
            </a:r>
          </a:p>
          <a:p>
            <a:pPr>
              <a:buNone/>
            </a:pPr>
            <a:r>
              <a:rPr lang="en-US" sz="2500" dirty="0" smtClean="0">
                <a:solidFill>
                  <a:srgbClr val="FF0000"/>
                </a:solidFill>
              </a:rPr>
              <a:t>}</a:t>
            </a:r>
          </a:p>
          <a:p>
            <a:pPr>
              <a:buNone/>
            </a:pPr>
            <a:r>
              <a:rPr lang="en-US" sz="2500" dirty="0" smtClean="0"/>
              <a:t>&lt;/style&gt;</a:t>
            </a:r>
          </a:p>
          <a:p>
            <a:pPr>
              <a:buNone/>
            </a:pPr>
            <a:r>
              <a:rPr lang="en-US" sz="2500" dirty="0" smtClean="0"/>
              <a:t>&lt;/head&gt;</a:t>
            </a:r>
          </a:p>
          <a:p>
            <a:pPr>
              <a:buNone/>
            </a:pPr>
            <a:r>
              <a:rPr lang="en-US" sz="2500" dirty="0" smtClean="0"/>
              <a:t>&lt;body&gt;</a:t>
            </a:r>
          </a:p>
          <a:p>
            <a:pPr>
              <a:buNone/>
            </a:pPr>
            <a:r>
              <a:rPr lang="en-US" sz="2500" dirty="0" smtClean="0"/>
              <a:t>&lt;h1&gt;Hello World!&lt;/h1&gt;</a:t>
            </a:r>
          </a:p>
          <a:p>
            <a:pPr>
              <a:buNone/>
            </a:pPr>
            <a:r>
              <a:rPr lang="en-US" sz="2500" dirty="0" smtClean="0"/>
              <a:t>&lt;p&gt;This paragraph has an image as the background!&lt;/p&gt;</a:t>
            </a:r>
          </a:p>
          <a:p>
            <a:pPr>
              <a:buNone/>
            </a:pPr>
            <a:r>
              <a:rPr lang="en-US" sz="2500" dirty="0" smtClean="0"/>
              <a:t>&lt;/body&gt;</a:t>
            </a:r>
          </a:p>
          <a:p>
            <a:pPr>
              <a:buNone/>
            </a:pPr>
            <a:r>
              <a:rPr lang="en-US" sz="2500" dirty="0" smtClean="0"/>
              <a:t>&lt;/</a:t>
            </a:r>
            <a:r>
              <a:rPr lang="en-US" dirty="0" smtClean="0"/>
              <a:t>html&gt;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24448" y="4083477"/>
            <a:ext cx="4330994" cy="147732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body 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{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  background-image: </a:t>
            </a:r>
            <a:r>
              <a:rPr lang="en-US" dirty="0" err="1" smtClean="0">
                <a:solidFill>
                  <a:srgbClr val="FF0000"/>
                </a:solidFill>
              </a:rPr>
              <a:t>url</a:t>
            </a:r>
            <a:r>
              <a:rPr lang="en-US" dirty="0" smtClean="0">
                <a:solidFill>
                  <a:srgbClr val="FF0000"/>
                </a:solidFill>
              </a:rPr>
              <a:t>("gradient_bg.png");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  background-repeat: repeat-x;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}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02278" y="2133854"/>
            <a:ext cx="568841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&lt;style&gt;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body {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  background-image: </a:t>
            </a:r>
            <a:r>
              <a:rPr lang="en-US" dirty="0" err="1" smtClean="0">
                <a:solidFill>
                  <a:srgbClr val="00B050"/>
                </a:solidFill>
              </a:rPr>
              <a:t>url</a:t>
            </a:r>
            <a:r>
              <a:rPr lang="en-US" dirty="0" smtClean="0">
                <a:solidFill>
                  <a:srgbClr val="00B050"/>
                </a:solidFill>
              </a:rPr>
              <a:t>("gradient_bg.png");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  background-repeat: repeat-x;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}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smtClean="0"/>
              <a:t>/style&gt;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&lt;h1&gt;Hello World!&lt;/h1&gt;</a:t>
            </a:r>
          </a:p>
          <a:p>
            <a:r>
              <a:rPr lang="en-US" dirty="0" smtClean="0"/>
              <a:t>&lt;p&gt;horizontally!&lt;/p&gt;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Font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4245989" cy="367830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.</a:t>
            </a:r>
            <a:r>
              <a:rPr lang="en-US" dirty="0" err="1" smtClean="0"/>
              <a:t>css-sofia</a:t>
            </a: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  font-family: Sofia, cursive;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.w3-tangerine </a:t>
            </a:r>
          </a:p>
          <a:p>
            <a:pPr>
              <a:buNone/>
            </a:pP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  font-family: 'Tangerine', serif;</a:t>
            </a:r>
          </a:p>
          <a:p>
            <a:pPr>
              <a:buNone/>
            </a:pPr>
            <a:r>
              <a:rPr lang="en-US" dirty="0" smtClean="0"/>
              <a:t>}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26998" y="2351199"/>
            <a:ext cx="1577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family=Lobster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65623" y="3159274"/>
            <a:ext cx="1754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family=Tangerine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Round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7635708" cy="282330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w3-roundElement rounded (border-radius)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4pxw3-round-smallElement rounded (border-radius)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2pxw3-round-mediumElement rounded (border-radius)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4pxw3-round-largeElement rounded (border-radius)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8pxw3-round-xlargeElement rounded (border-radius)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16pxw3-round-xxlargeElement rounded (border-radius) 32px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0700" y="1876425"/>
            <a:ext cx="86106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Padding Number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8080208" cy="3204304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ClassDefinesw3-padding-16Adds 16px top and bottom padding to an element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w3-padding-24Adds 24px top and bottom padding to an element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w3-padding-32Adds 32px top and bottom padding to an element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w3-padding-48Adds 48px top and bottom padding to an element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w3-padding-64Adds 64px top and bottom padding to an element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Padding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182" y="1968500"/>
            <a:ext cx="6120218" cy="4635500"/>
          </a:xfrm>
          <a:ln>
            <a:solidFill>
              <a:srgbClr val="00B050"/>
            </a:solidFill>
          </a:ln>
        </p:spPr>
        <p:txBody>
          <a:bodyPr>
            <a:noAutofit/>
          </a:bodyPr>
          <a:lstStyle/>
          <a:p>
            <a:pPr>
              <a:buNone/>
            </a:pP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&lt;title&gt;Padding Style&lt;/title&gt;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&lt;meta name="viewport" content="width=device-width, initial-scale=1"&gt;</a:t>
            </a:r>
          </a:p>
          <a:p>
            <a:pPr marL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&lt;link 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stylesheet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href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="https://www.w3schools.com/w3css/4/w3.css"&gt;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&lt;div class="w3-container"&gt;</a:t>
            </a:r>
          </a:p>
          <a:p>
            <a:pPr marL="0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&lt;div class="w3-panel w3-padding-16 w3-green"&gt;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&lt;h4&gt;Enjoy Cooling weather &lt;/h4&gt;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&lt;p&gt;Hello India &lt;/p&gt;</a:t>
            </a:r>
          </a:p>
          <a:p>
            <a:pPr marL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&lt;/div&gt;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77000" y="1870145"/>
            <a:ext cx="5410200" cy="507831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&lt;div class="w3-panel w3-padding-24 w3-orange"&gt;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&lt;h4&gt;Life is too smart&lt;/h4&gt;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&lt;p&gt;Value your time &lt;/p&gt;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&lt;/div&gt;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&lt;div class="w3-panel w3-padding-32 w3-orange"&gt;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&lt;h4&gt;Respect your Parents Always &lt;/h4&gt;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&lt;p&gt;Respect your friends , They Respect you/p&gt;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&lt;/div&gt;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&lt;div class="w3-panel w3-padding-48 w3-orange"&gt;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&lt;h4&gt;No one Alone in this world&lt;/h4&gt;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&lt;p&gt;Have beautiful dreams in your Eyes&lt;/p&gt;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&lt;/div&gt;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&lt;div class="w3-panel w3-padding-64 w3-orange"&gt;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&lt;h4&gt;Fight with yourself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onyly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&lt;/h4&gt;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&lt;p&gt;Did you have your principles&lt;/p&gt;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&lt;/div&gt;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&lt;/div&gt;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&lt;/body&gt;&lt;/html&gt;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963" y="1868488"/>
            <a:ext cx="6041054" cy="454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6500" y="2085975"/>
            <a:ext cx="5905500" cy="422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59944"/>
          </a:xfrm>
        </p:spPr>
        <p:txBody>
          <a:bodyPr>
            <a:normAutofit/>
          </a:bodyPr>
          <a:lstStyle/>
          <a:p>
            <a:r>
              <a:rPr lang="en-US" dirty="0" smtClean="0"/>
              <a:t>CSS Border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792" y="1930400"/>
            <a:ext cx="11029615" cy="4737100"/>
          </a:xfrm>
        </p:spPr>
        <p:txBody>
          <a:bodyPr>
            <a:normAutofit/>
          </a:bodyPr>
          <a:lstStyle/>
          <a:p>
            <a:r>
              <a:rPr lang="en-US" dirty="0" smtClean="0"/>
              <a:t>The border-style property specifies what kind of border to display.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dotted </a:t>
            </a:r>
            <a:r>
              <a:rPr lang="en-US" dirty="0" smtClean="0"/>
              <a:t>- Defines a dotted border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dashed</a:t>
            </a:r>
            <a:r>
              <a:rPr lang="en-US" dirty="0" smtClean="0"/>
              <a:t> - Defines a dashed border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solid</a:t>
            </a:r>
            <a:r>
              <a:rPr lang="en-US" dirty="0" smtClean="0"/>
              <a:t> - Defines a solid border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double</a:t>
            </a:r>
            <a:r>
              <a:rPr lang="en-US" dirty="0" smtClean="0"/>
              <a:t> - Defines a double border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groove</a:t>
            </a:r>
            <a:r>
              <a:rPr lang="en-US" dirty="0" smtClean="0"/>
              <a:t> - Defines a 3D grooved border. The effect depends on the border-color value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ridge</a:t>
            </a:r>
            <a:r>
              <a:rPr lang="en-US" dirty="0" smtClean="0"/>
              <a:t> - Defines a 3D ridged border. The effect depends on the border-color value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inset</a:t>
            </a:r>
            <a:r>
              <a:rPr lang="en-US" dirty="0" smtClean="0"/>
              <a:t> - Defines a 3D inset border. The effect depends on the border-color value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outset</a:t>
            </a:r>
            <a:r>
              <a:rPr lang="en-US" dirty="0" smtClean="0"/>
              <a:t> - Defines a 3D outset border. The effect depends on the border-color value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none</a:t>
            </a:r>
            <a:r>
              <a:rPr lang="en-US" dirty="0" smtClean="0"/>
              <a:t> - Defines no border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hidden</a:t>
            </a:r>
            <a:r>
              <a:rPr lang="en-US" dirty="0" smtClean="0"/>
              <a:t> - Defines a hidden border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45644"/>
          </a:xfrm>
        </p:spPr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54200"/>
            <a:ext cx="11029615" cy="4813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>
                <a:solidFill>
                  <a:srgbClr val="FF0000"/>
                </a:solidFill>
              </a:rPr>
              <a:t>     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p.dotted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{border-style: dotted;}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p.dashed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{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border-style: dashed;}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p.solid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{border-style: solid;}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p.double</a:t>
            </a:r>
            <a:r>
              <a:rPr lang="en-US" sz="2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{border-style: double;}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p.groove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{border-style: groove;}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p.ridge</a:t>
            </a:r>
            <a:r>
              <a:rPr lang="en-US" sz="2000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{border-style: ridge;}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p.inset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{border-style: inset;}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p.outset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{border-style: outset;}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p.none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{border-style: none;}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p.hidden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{border-style: hidden;}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p.mix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{border-style: dotted dashed solid double;}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1" y="1955800"/>
            <a:ext cx="4787900" cy="49022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&lt;html&gt;&lt;head&gt;</a:t>
            </a: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&lt;style&gt;</a:t>
            </a:r>
          </a:p>
          <a:p>
            <a:pPr>
              <a:buNone/>
            </a:pPr>
            <a:r>
              <a:rPr lang="en-US" sz="2900" b="1" dirty="0" err="1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p.dotted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dotted;}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p.dashed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dashed;}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p.solid</a:t>
            </a:r>
            <a:r>
              <a:rPr lang="en-US" sz="2900" b="1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{border-style: solid;}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p.double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double;}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p.groove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groove;}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p.ridge</a:t>
            </a:r>
            <a:r>
              <a:rPr lang="en-US" sz="29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{border-style: ridge;}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p.inset</a:t>
            </a:r>
            <a:r>
              <a:rPr lang="en-US" sz="29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{border-style: inset;}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p.outset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outset;}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p.none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none;}</a:t>
            </a:r>
          </a:p>
          <a:p>
            <a:pPr>
              <a:buNone/>
            </a:pPr>
            <a:r>
              <a:rPr lang="en-US" sz="29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p.hidden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hidden;}</a:t>
            </a:r>
          </a:p>
          <a:p>
            <a:pPr>
              <a:buNone/>
            </a:pPr>
            <a:r>
              <a:rPr lang="en-US" sz="29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p.mix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{border-style: dotted dashed solid double;}</a:t>
            </a:r>
          </a:p>
          <a:p>
            <a:pPr>
              <a:buNone/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&lt;/style&gt;</a:t>
            </a:r>
          </a:p>
          <a:p>
            <a:pPr>
              <a:buNone/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&lt;/head&gt;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95900" y="1841242"/>
            <a:ext cx="6578600" cy="501675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&lt;h2&gt;The best class &lt;/h2&gt;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&lt;p&gt;Hello India&lt;/p&gt;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class="dotted"&gt;FIP&lt;/p&gt;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class="dashed"&gt;A Well dressed class&lt;/p&gt;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class="solid"&gt;students have solid brain&lt;/p&gt;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class="double"&gt;My students have innovative ideas&lt;/p&gt;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class="groove"&gt;A grooming class  of BCA 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class="ridge"&gt;a health discussion and motivate students&lt;/p&gt;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class="inset"&gt;friendly class environment&lt;/p&gt;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class="outset"&gt;class have have eco friendly behavior&lt;/p&gt;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class="none"&gt;No  boundary for new ideas&lt;/p&gt;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class="hidden"&gt;Students have deep knowledge.&lt;/p&gt;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&lt;p class="mix"&gt;A  impressive class&lt;/p&gt;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&lt;/body&gt;&lt;/html&gt;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12245</TotalTime>
  <Words>1470</Words>
  <Application>Microsoft Office PowerPoint</Application>
  <PresentationFormat>Custom</PresentationFormat>
  <Paragraphs>328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Dividend</vt:lpstr>
      <vt:lpstr>BCAC 0019 Web Technology -1 </vt:lpstr>
      <vt:lpstr>Syllabus</vt:lpstr>
      <vt:lpstr>CSS Introduction </vt:lpstr>
      <vt:lpstr>Example</vt:lpstr>
      <vt:lpstr>Why ???</vt:lpstr>
      <vt:lpstr>Example </vt:lpstr>
      <vt:lpstr>CSS SELECTORS </vt:lpstr>
      <vt:lpstr>CSS class Selector</vt:lpstr>
      <vt:lpstr>CSS class Selector</vt:lpstr>
      <vt:lpstr>CSS element Selector</vt:lpstr>
      <vt:lpstr>CSS id Selector</vt:lpstr>
      <vt:lpstr>Slide 12</vt:lpstr>
      <vt:lpstr>Universal Selector (*)</vt:lpstr>
      <vt:lpstr>Add CSS</vt:lpstr>
      <vt:lpstr>External CSS</vt:lpstr>
      <vt:lpstr>Internal CSS    &amp; INLINE CSS </vt:lpstr>
      <vt:lpstr>Cascading Order</vt:lpstr>
      <vt:lpstr>COLORS in CSS</vt:lpstr>
      <vt:lpstr>CSS Backgrounds</vt:lpstr>
      <vt:lpstr>Slide 20</vt:lpstr>
      <vt:lpstr>Create a Font Class</vt:lpstr>
      <vt:lpstr>Round Classes</vt:lpstr>
      <vt:lpstr>Slide 23</vt:lpstr>
      <vt:lpstr>CSS Padding Number Classes</vt:lpstr>
      <vt:lpstr>Padding Example</vt:lpstr>
      <vt:lpstr>Outputs</vt:lpstr>
      <vt:lpstr>CSS Border Style</vt:lpstr>
      <vt:lpstr>Syntax</vt:lpstr>
      <vt:lpstr>Example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BCAC 0016 FUNDAMENTALS OF INTERNET PROGRAMMING</dc:title>
  <dc:creator>Nabanita Choudhury</dc:creator>
  <cp:lastModifiedBy>rc</cp:lastModifiedBy>
  <cp:revision>82</cp:revision>
  <dcterms:created xsi:type="dcterms:W3CDTF">2022-09-20T07:53:14Z</dcterms:created>
  <dcterms:modified xsi:type="dcterms:W3CDTF">2023-11-08T04:15:27Z</dcterms:modified>
</cp:coreProperties>
</file>