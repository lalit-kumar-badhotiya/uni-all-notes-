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3" r:id="rId4"/>
    <p:sldId id="258" r:id="rId5"/>
    <p:sldId id="259" r:id="rId6"/>
    <p:sldId id="260" r:id="rId7"/>
    <p:sldId id="262"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99"/>
    <p:restoredTop sz="94715"/>
  </p:normalViewPr>
  <p:slideViewPr>
    <p:cSldViewPr snapToGrid="0" snapToObjects="1">
      <p:cViewPr varScale="1">
        <p:scale>
          <a:sx n="122" d="100"/>
          <a:sy n="122" d="100"/>
        </p:scale>
        <p:origin x="7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977905-5B7B-1445-BEA7-87F42275A0DE}" type="datetimeFigureOut">
              <a:rPr lang="en-US" smtClean="0"/>
              <a:t>10/30/23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BB42A-1AC7-C341-8C49-6541C01FCD42}" type="slidenum">
              <a:rPr lang="en-US" smtClean="0"/>
              <a:t>‹#›</a:t>
            </a:fld>
            <a:endParaRPr lang="en-US"/>
          </a:p>
        </p:txBody>
      </p:sp>
    </p:spTree>
    <p:extLst>
      <p:ext uri="{BB962C8B-B14F-4D97-AF65-F5344CB8AC3E}">
        <p14:creationId xmlns:p14="http://schemas.microsoft.com/office/powerpoint/2010/main" val="149539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60BB42A-1AC7-C341-8C49-6541C01FCD42}" type="slidenum">
              <a:rPr lang="en-US" smtClean="0"/>
              <a:t>3</a:t>
            </a:fld>
            <a:endParaRPr lang="en-US"/>
          </a:p>
        </p:txBody>
      </p:sp>
    </p:spTree>
    <p:extLst>
      <p:ext uri="{BB962C8B-B14F-4D97-AF65-F5344CB8AC3E}">
        <p14:creationId xmlns:p14="http://schemas.microsoft.com/office/powerpoint/2010/main" val="755433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5CB14B-1C2E-AF41-A49B-99950A314AAA}" type="datetimeFigureOut">
              <a:rPr lang="en-US" smtClean="0"/>
              <a:t>10/30/23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1535061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5CB14B-1C2E-AF41-A49B-99950A314AAA}" type="datetimeFigureOut">
              <a:rPr lang="en-US" smtClean="0"/>
              <a:t>10/30/23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613092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5CB14B-1C2E-AF41-A49B-99950A314AAA}" type="datetimeFigureOut">
              <a:rPr lang="en-US" smtClean="0"/>
              <a:t>10/30/23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274151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5CB14B-1C2E-AF41-A49B-99950A314AAA}" type="datetimeFigureOut">
              <a:rPr lang="en-US" smtClean="0"/>
              <a:t>10/30/23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1317921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5CB14B-1C2E-AF41-A49B-99950A314AAA}" type="datetimeFigureOut">
              <a:rPr lang="en-US" smtClean="0"/>
              <a:t>10/30/23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1165676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5CB14B-1C2E-AF41-A49B-99950A314AAA}" type="datetimeFigureOut">
              <a:rPr lang="en-US" smtClean="0"/>
              <a:t>10/30/23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36245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5CB14B-1C2E-AF41-A49B-99950A314AAA}" type="datetimeFigureOut">
              <a:rPr lang="en-US" smtClean="0"/>
              <a:t>10/30/23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1446028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5CB14B-1C2E-AF41-A49B-99950A314AAA}" type="datetimeFigureOut">
              <a:rPr lang="en-US" smtClean="0"/>
              <a:t>10/30/23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320280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5CB14B-1C2E-AF41-A49B-99950A314AAA}" type="datetimeFigureOut">
              <a:rPr lang="en-US" smtClean="0"/>
              <a:t>10/30/23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1361184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5CB14B-1C2E-AF41-A49B-99950A314AAA}" type="datetimeFigureOut">
              <a:rPr lang="en-US" smtClean="0"/>
              <a:t>10/30/23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284062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5CB14B-1C2E-AF41-A49B-99950A314AAA}" type="datetimeFigureOut">
              <a:rPr lang="en-US" smtClean="0"/>
              <a:t>10/30/23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80B7F-32BA-F249-B10C-3452037E6A85}" type="slidenum">
              <a:rPr lang="en-US" smtClean="0"/>
              <a:t>‹#›</a:t>
            </a:fld>
            <a:endParaRPr lang="en-US"/>
          </a:p>
        </p:txBody>
      </p:sp>
    </p:spTree>
    <p:extLst>
      <p:ext uri="{BB962C8B-B14F-4D97-AF65-F5344CB8AC3E}">
        <p14:creationId xmlns:p14="http://schemas.microsoft.com/office/powerpoint/2010/main" val="37699601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5CB14B-1C2E-AF41-A49B-99950A314AAA}" type="datetimeFigureOut">
              <a:rPr lang="en-US" smtClean="0"/>
              <a:t>10/30/23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E80B7F-32BA-F249-B10C-3452037E6A85}" type="slidenum">
              <a:rPr lang="en-US" smtClean="0"/>
              <a:t>‹#›</a:t>
            </a:fld>
            <a:endParaRPr lang="en-US"/>
          </a:p>
        </p:txBody>
      </p:sp>
    </p:spTree>
    <p:extLst>
      <p:ext uri="{BB962C8B-B14F-4D97-AF65-F5344CB8AC3E}">
        <p14:creationId xmlns:p14="http://schemas.microsoft.com/office/powerpoint/2010/main" val="238132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un.org/womenwatch/daw/news/savitri.htm" TargetMode="External"/><Relationship Id="rId3" Type="http://schemas.openxmlformats.org/officeDocument/2006/relationships/hyperlink" Target="https://journals.sagepub.com/doi/10.1177/22774017198700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charset="0"/>
                <a:ea typeface="Times New Roman" charset="0"/>
                <a:cs typeface="Times New Roman" charset="0"/>
              </a:rPr>
              <a:t>Rights Approach</a:t>
            </a: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053797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charset="0"/>
                <a:ea typeface="Times New Roman" charset="0"/>
                <a:cs typeface="Times New Roman" charset="0"/>
              </a:rPr>
              <a:t>What is the Rights Approach?</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690688"/>
            <a:ext cx="10515600" cy="4938711"/>
          </a:xfrm>
        </p:spPr>
        <p:txBody>
          <a:bodyPr>
            <a:normAutofit fontScale="62500" lnSpcReduction="20000"/>
          </a:bodyPr>
          <a:lstStyle/>
          <a:p>
            <a:pPr algn="just" fontAlgn="base">
              <a:lnSpc>
                <a:spcPct val="170000"/>
              </a:lnSpc>
            </a:pPr>
            <a:r>
              <a:rPr lang="en-US" dirty="0">
                <a:latin typeface="Times New Roman" charset="0"/>
                <a:ea typeface="Times New Roman" charset="0"/>
                <a:cs typeface="Times New Roman" charset="0"/>
              </a:rPr>
              <a:t>Greek philosophers originated the human rights-based approach to applied ethics. </a:t>
            </a:r>
            <a:endParaRPr lang="en-US" dirty="0" smtClean="0">
              <a:latin typeface="Times New Roman" charset="0"/>
              <a:ea typeface="Times New Roman" charset="0"/>
              <a:cs typeface="Times New Roman" charset="0"/>
            </a:endParaRPr>
          </a:p>
          <a:p>
            <a:pPr algn="just" fontAlgn="base">
              <a:lnSpc>
                <a:spcPct val="170000"/>
              </a:lnSpc>
            </a:pPr>
            <a:r>
              <a:rPr lang="en-US" dirty="0">
                <a:latin typeface="Times New Roman" charset="0"/>
                <a:ea typeface="Times New Roman" charset="0"/>
                <a:cs typeface="Times New Roman" charset="0"/>
              </a:rPr>
              <a:t>The rights approach follows the belief that individuals have the ability to make their decisions freely. It believes that if it does not respect </a:t>
            </a:r>
            <a:r>
              <a:rPr lang="en-US" dirty="0" smtClean="0">
                <a:latin typeface="Times New Roman" charset="0"/>
                <a:ea typeface="Times New Roman" charset="0"/>
                <a:cs typeface="Times New Roman" charset="0"/>
              </a:rPr>
              <a:t>everyone’s </a:t>
            </a:r>
            <a:r>
              <a:rPr lang="en-US" dirty="0">
                <a:latin typeface="Times New Roman" charset="0"/>
                <a:ea typeface="Times New Roman" charset="0"/>
                <a:cs typeface="Times New Roman" charset="0"/>
              </a:rPr>
              <a:t>moral rights, it is wrong to act. </a:t>
            </a:r>
            <a:endParaRPr lang="en-US" dirty="0" smtClean="0">
              <a:latin typeface="Times New Roman" charset="0"/>
              <a:ea typeface="Times New Roman" charset="0"/>
              <a:cs typeface="Times New Roman" charset="0"/>
            </a:endParaRPr>
          </a:p>
          <a:p>
            <a:pPr algn="just" fontAlgn="base">
              <a:lnSpc>
                <a:spcPct val="170000"/>
              </a:lnSpc>
            </a:pPr>
            <a:r>
              <a:rPr lang="en-US" dirty="0" smtClean="0">
                <a:latin typeface="Times New Roman" charset="0"/>
                <a:ea typeface="Times New Roman" charset="0"/>
                <a:cs typeface="Times New Roman" charset="0"/>
              </a:rPr>
              <a:t>This </a:t>
            </a:r>
            <a:r>
              <a:rPr lang="en-US" dirty="0">
                <a:latin typeface="Times New Roman" charset="0"/>
                <a:ea typeface="Times New Roman" charset="0"/>
                <a:cs typeface="Times New Roman" charset="0"/>
              </a:rPr>
              <a:t>approach prioritizes human </a:t>
            </a:r>
            <a:r>
              <a:rPr lang="en-US" dirty="0" smtClean="0">
                <a:latin typeface="Times New Roman" charset="0"/>
                <a:ea typeface="Times New Roman" charset="0"/>
                <a:cs typeface="Times New Roman" charset="0"/>
              </a:rPr>
              <a:t>rights/dignity </a:t>
            </a:r>
            <a:r>
              <a:rPr lang="en-US" dirty="0">
                <a:latin typeface="Times New Roman" charset="0"/>
                <a:ea typeface="Times New Roman" charset="0"/>
                <a:cs typeface="Times New Roman" charset="0"/>
              </a:rPr>
              <a:t>standards and steers duty-bearers (</a:t>
            </a:r>
            <a:r>
              <a:rPr lang="en-US" dirty="0" smtClean="0">
                <a:latin typeface="Times New Roman" charset="0"/>
                <a:ea typeface="Times New Roman" charset="0"/>
                <a:cs typeface="Times New Roman" charset="0"/>
              </a:rPr>
              <a:t>business people</a:t>
            </a:r>
            <a:r>
              <a:rPr lang="en-US" dirty="0">
                <a:latin typeface="Times New Roman" charset="0"/>
                <a:ea typeface="Times New Roman" charset="0"/>
                <a:cs typeface="Times New Roman" charset="0"/>
              </a:rPr>
              <a:t>) to take ethical actions when associating with rights holders (peers and people from other companies). </a:t>
            </a:r>
            <a:endParaRPr lang="en-US" dirty="0" smtClean="0">
              <a:latin typeface="Times New Roman" charset="0"/>
              <a:ea typeface="Times New Roman" charset="0"/>
              <a:cs typeface="Times New Roman" charset="0"/>
            </a:endParaRPr>
          </a:p>
          <a:p>
            <a:pPr algn="just" fontAlgn="base">
              <a:lnSpc>
                <a:spcPct val="170000"/>
              </a:lnSpc>
            </a:pPr>
            <a:r>
              <a:rPr lang="en-US" dirty="0" smtClean="0">
                <a:latin typeface="Times New Roman" charset="0"/>
                <a:ea typeface="Times New Roman" charset="0"/>
                <a:cs typeface="Times New Roman" charset="0"/>
              </a:rPr>
              <a:t>The </a:t>
            </a:r>
            <a:r>
              <a:rPr lang="en-US" dirty="0">
                <a:latin typeface="Times New Roman" charset="0"/>
                <a:ea typeface="Times New Roman" charset="0"/>
                <a:cs typeface="Times New Roman" charset="0"/>
              </a:rPr>
              <a:t>rights approach argues that human beings are worthy of certain entitlements—the moral rights of those you do business with must be upheld.</a:t>
            </a:r>
          </a:p>
          <a:p>
            <a:pPr algn="just" fontAlgn="base">
              <a:lnSpc>
                <a:spcPct val="170000"/>
              </a:lnSpc>
            </a:pPr>
            <a:r>
              <a:rPr lang="en-US" dirty="0">
                <a:latin typeface="Times New Roman" charset="0"/>
                <a:ea typeface="Times New Roman" charset="0"/>
                <a:cs typeface="Times New Roman" charset="0"/>
              </a:rPr>
              <a:t>An essential aspect of the rights approach is treating others as ends, not just a means to an end. </a:t>
            </a:r>
            <a:endParaRPr lang="en-US" dirty="0" smtClean="0">
              <a:latin typeface="Times New Roman" charset="0"/>
              <a:ea typeface="Times New Roman" charset="0"/>
              <a:cs typeface="Times New Roman" charset="0"/>
            </a:endParaRPr>
          </a:p>
          <a:p>
            <a:pPr algn="just" fontAlgn="base">
              <a:lnSpc>
                <a:spcPct val="170000"/>
              </a:lnSpc>
            </a:pPr>
            <a:r>
              <a:rPr lang="en-US" dirty="0" smtClean="0">
                <a:latin typeface="Times New Roman" charset="0"/>
                <a:ea typeface="Times New Roman" charset="0"/>
                <a:cs typeface="Times New Roman" charset="0"/>
              </a:rPr>
              <a:t>Moral </a:t>
            </a:r>
            <a:r>
              <a:rPr lang="en-US" dirty="0">
                <a:latin typeface="Times New Roman" charset="0"/>
                <a:ea typeface="Times New Roman" charset="0"/>
                <a:cs typeface="Times New Roman" charset="0"/>
              </a:rPr>
              <a:t>virtues include being told the truth, the right to a degree of privacy, not being injured, and not being exploited or subjected to inequities.</a:t>
            </a:r>
          </a:p>
          <a:p>
            <a:pPr>
              <a:lnSpc>
                <a:spcPct val="170000"/>
              </a:lnSpc>
            </a:pP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621327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latin typeface="Times New Roman" charset="0"/>
                <a:ea typeface="Times New Roman" charset="0"/>
                <a:cs typeface="Times New Roman" charset="0"/>
              </a:rPr>
              <a:t>Negative and Positive Rights</a:t>
            </a:r>
            <a:endParaRPr lang="en-US" sz="3200" dirty="0">
              <a:latin typeface="Times New Roman" charset="0"/>
              <a:ea typeface="Times New Roman" charset="0"/>
              <a:cs typeface="Times New Roman" charset="0"/>
            </a:endParaRPr>
          </a:p>
        </p:txBody>
      </p:sp>
      <p:sp>
        <p:nvSpPr>
          <p:cNvPr id="3" name="Content Placeholder 2"/>
          <p:cNvSpPr>
            <a:spLocks noGrp="1"/>
          </p:cNvSpPr>
          <p:nvPr>
            <p:ph idx="1"/>
          </p:nvPr>
        </p:nvSpPr>
        <p:spPr/>
        <p:txBody>
          <a:bodyPr>
            <a:normAutofit fontScale="70000" lnSpcReduction="20000"/>
          </a:bodyPr>
          <a:lstStyle/>
          <a:p>
            <a:pPr algn="just">
              <a:lnSpc>
                <a:spcPct val="150000"/>
              </a:lnSpc>
            </a:pPr>
            <a:r>
              <a:rPr lang="en-US" dirty="0">
                <a:latin typeface="Times New Roman" charset="0"/>
                <a:ea typeface="Times New Roman" charset="0"/>
                <a:cs typeface="Times New Roman" charset="0"/>
              </a:rPr>
              <a:t>A negative right restrains other persons or governments by limiting their actions toward or against the right holder.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Positive </a:t>
            </a:r>
            <a:r>
              <a:rPr lang="en-US" dirty="0">
                <a:latin typeface="Times New Roman" charset="0"/>
                <a:ea typeface="Times New Roman" charset="0"/>
                <a:cs typeface="Times New Roman" charset="0"/>
              </a:rPr>
              <a:t>rights provide the right holder with a claim against another person or the state for some good, service, or treatment.</a:t>
            </a:r>
            <a:endParaRPr lang="en-IN" dirty="0">
              <a:latin typeface="Times New Roman" charset="0"/>
              <a:ea typeface="Times New Roman" charset="0"/>
              <a:cs typeface="Times New Roman" charset="0"/>
            </a:endParaRPr>
          </a:p>
          <a:p>
            <a:pPr>
              <a:lnSpc>
                <a:spcPct val="150000"/>
              </a:lnSpc>
            </a:pPr>
            <a:r>
              <a:rPr lang="en-IN" dirty="0">
                <a:latin typeface="Times New Roman" charset="0"/>
                <a:ea typeface="Times New Roman" charset="0"/>
                <a:cs typeface="Times New Roman" charset="0"/>
              </a:rPr>
              <a:t>Examples of negative rights are natural right to self-ownership and property like land and territorial sovereignty of the state. </a:t>
            </a:r>
            <a:endParaRPr lang="en-IN" dirty="0" smtClean="0">
              <a:latin typeface="Times New Roman" charset="0"/>
              <a:ea typeface="Times New Roman" charset="0"/>
              <a:cs typeface="Times New Roman" charset="0"/>
            </a:endParaRPr>
          </a:p>
          <a:p>
            <a:pPr>
              <a:lnSpc>
                <a:spcPct val="150000"/>
              </a:lnSpc>
            </a:pPr>
            <a:r>
              <a:rPr lang="en-IN" dirty="0" smtClean="0">
                <a:latin typeface="Times New Roman" charset="0"/>
                <a:ea typeface="Times New Roman" charset="0"/>
                <a:cs typeface="Times New Roman" charset="0"/>
              </a:rPr>
              <a:t>An </a:t>
            </a:r>
            <a:r>
              <a:rPr lang="en-IN" dirty="0">
                <a:latin typeface="Times New Roman" charset="0"/>
                <a:ea typeface="Times New Roman" charset="0"/>
                <a:cs typeface="Times New Roman" charset="0"/>
              </a:rPr>
              <a:t>examples of a positive right is the right of the government to enforce the law on all inhabitants or a sale contract to receive a product. </a:t>
            </a:r>
            <a:r>
              <a:rPr lang="en-US" dirty="0">
                <a:latin typeface="Times New Roman" charset="0"/>
                <a:ea typeface="Times New Roman" charset="0"/>
                <a:cs typeface="Times New Roman" charset="0"/>
              </a:rPr>
              <a:t/>
            </a:r>
            <a:br>
              <a:rPr lang="en-US" dirty="0">
                <a:latin typeface="Times New Roman" charset="0"/>
                <a:ea typeface="Times New Roman" charset="0"/>
                <a:cs typeface="Times New Roman" charset="0"/>
              </a:rPr>
            </a:br>
            <a:endParaRPr lang="en-US" dirty="0">
              <a:latin typeface="Times New Roman" charset="0"/>
              <a:ea typeface="Times New Roman" charset="0"/>
              <a:cs typeface="Times New Roman" charset="0"/>
            </a:endParaRPr>
          </a:p>
          <a:p>
            <a:endParaRPr lang="en-US" dirty="0"/>
          </a:p>
        </p:txBody>
      </p:sp>
    </p:spTree>
    <p:extLst>
      <p:ext uri="{BB962C8B-B14F-4D97-AF65-F5344CB8AC3E}">
        <p14:creationId xmlns:p14="http://schemas.microsoft.com/office/powerpoint/2010/main" val="5098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2751"/>
          </a:xfrm>
        </p:spPr>
        <p:txBody>
          <a:bodyPr>
            <a:normAutofit fontScale="90000"/>
          </a:bodyPr>
          <a:lstStyle/>
          <a:p>
            <a:pPr algn="ctr"/>
            <a:r>
              <a:rPr lang="en-US" sz="3200" dirty="0">
                <a:latin typeface="Times New Roman" charset="0"/>
                <a:ea typeface="Times New Roman" charset="0"/>
                <a:cs typeface="Times New Roman" charset="0"/>
              </a:rPr>
              <a:t>Brief Overview of Ethical-Decision Making</a:t>
            </a:r>
            <a:r>
              <a:rPr lang="en-US" b="1" dirty="0"/>
              <a:t/>
            </a:r>
            <a:br>
              <a:rPr lang="en-US" b="1" dirty="0"/>
            </a:br>
            <a:endParaRPr lang="en-US" dirty="0"/>
          </a:p>
        </p:txBody>
      </p:sp>
      <p:sp>
        <p:nvSpPr>
          <p:cNvPr id="3" name="Content Placeholder 2"/>
          <p:cNvSpPr>
            <a:spLocks noGrp="1"/>
          </p:cNvSpPr>
          <p:nvPr>
            <p:ph idx="1"/>
          </p:nvPr>
        </p:nvSpPr>
        <p:spPr>
          <a:xfrm>
            <a:off x="838200" y="1166648"/>
            <a:ext cx="10515600" cy="5691352"/>
          </a:xfrm>
        </p:spPr>
        <p:txBody>
          <a:bodyPr>
            <a:normAutofit fontScale="55000" lnSpcReduction="20000"/>
          </a:bodyPr>
          <a:lstStyle/>
          <a:p>
            <a:pPr algn="just" fontAlgn="base">
              <a:lnSpc>
                <a:spcPct val="170000"/>
              </a:lnSpc>
            </a:pPr>
            <a:r>
              <a:rPr lang="en-US" dirty="0" smtClean="0">
                <a:latin typeface="Times New Roman" charset="0"/>
                <a:ea typeface="Times New Roman" charset="0"/>
                <a:cs typeface="Times New Roman" charset="0"/>
              </a:rPr>
              <a:t>Ethical Decision Making</a:t>
            </a:r>
            <a:r>
              <a:rPr lang="en-US" dirty="0">
                <a:latin typeface="Times New Roman" charset="0"/>
                <a:ea typeface="Times New Roman" charset="0"/>
                <a:cs typeface="Times New Roman" charset="0"/>
              </a:rPr>
              <a:t> is a strategy that prioritizes moral principles as a set of standards, rather than economic considerations, for </a:t>
            </a:r>
            <a:r>
              <a:rPr lang="en-US" dirty="0" smtClean="0">
                <a:latin typeface="Times New Roman" charset="0"/>
                <a:ea typeface="Times New Roman" charset="0"/>
                <a:cs typeface="Times New Roman" charset="0"/>
              </a:rPr>
              <a:t>making </a:t>
            </a:r>
            <a:r>
              <a:rPr lang="en-US" dirty="0">
                <a:latin typeface="Times New Roman" charset="0"/>
                <a:ea typeface="Times New Roman" charset="0"/>
                <a:cs typeface="Times New Roman" charset="0"/>
              </a:rPr>
              <a:t>decisions. </a:t>
            </a:r>
            <a:endParaRPr lang="en-US" dirty="0" smtClean="0">
              <a:latin typeface="Times New Roman" charset="0"/>
              <a:ea typeface="Times New Roman" charset="0"/>
              <a:cs typeface="Times New Roman" charset="0"/>
            </a:endParaRPr>
          </a:p>
          <a:p>
            <a:pPr algn="just" fontAlgn="base">
              <a:lnSpc>
                <a:spcPct val="170000"/>
              </a:lnSpc>
            </a:pPr>
            <a:r>
              <a:rPr lang="en-US" dirty="0" smtClean="0">
                <a:latin typeface="Times New Roman" charset="0"/>
                <a:ea typeface="Times New Roman" charset="0"/>
                <a:cs typeface="Times New Roman" charset="0"/>
              </a:rPr>
              <a:t>Ethical Behaviour</a:t>
            </a:r>
            <a:r>
              <a:rPr lang="en-US" dirty="0">
                <a:latin typeface="Times New Roman" charset="0"/>
                <a:ea typeface="Times New Roman" charset="0"/>
                <a:cs typeface="Times New Roman" charset="0"/>
              </a:rPr>
              <a:t> may consider several ethical values, including how their actions reflect upon themselves and how their decisions affect the company, its employees, and the greater community or world. </a:t>
            </a:r>
            <a:endParaRPr lang="en-US" dirty="0" smtClean="0">
              <a:latin typeface="Times New Roman" charset="0"/>
              <a:ea typeface="Times New Roman" charset="0"/>
              <a:cs typeface="Times New Roman" charset="0"/>
            </a:endParaRPr>
          </a:p>
          <a:p>
            <a:pPr algn="just" fontAlgn="base">
              <a:lnSpc>
                <a:spcPct val="170000"/>
              </a:lnSpc>
            </a:pPr>
            <a:r>
              <a:rPr lang="en-US" dirty="0" smtClean="0">
                <a:latin typeface="Times New Roman" charset="0"/>
                <a:ea typeface="Times New Roman" charset="0"/>
                <a:cs typeface="Times New Roman" charset="0"/>
              </a:rPr>
              <a:t>Common </a:t>
            </a:r>
            <a:r>
              <a:rPr lang="en-US" dirty="0">
                <a:latin typeface="Times New Roman" charset="0"/>
                <a:ea typeface="Times New Roman" charset="0"/>
                <a:cs typeface="Times New Roman" charset="0"/>
              </a:rPr>
              <a:t>ethical issues in business include environmental concerns, employee well-being, operations transparency, product honesty, and customer satisfaction; many ethical dilemmas in business weigh these variables against economic growth.</a:t>
            </a:r>
          </a:p>
          <a:p>
            <a:pPr algn="just" fontAlgn="base">
              <a:lnSpc>
                <a:spcPct val="170000"/>
              </a:lnSpc>
            </a:pPr>
            <a:r>
              <a:rPr lang="en-US" dirty="0">
                <a:latin typeface="Times New Roman" charset="0"/>
                <a:ea typeface="Times New Roman" charset="0"/>
                <a:cs typeface="Times New Roman" charset="0"/>
              </a:rPr>
              <a:t>Ethics philosophers have created dozens of models to help guide ethical </a:t>
            </a:r>
            <a:r>
              <a:rPr lang="en-US" dirty="0" smtClean="0">
                <a:latin typeface="Times New Roman" charset="0"/>
                <a:ea typeface="Times New Roman" charset="0"/>
                <a:cs typeface="Times New Roman" charset="0"/>
              </a:rPr>
              <a:t>Decision Making, </a:t>
            </a:r>
            <a:r>
              <a:rPr lang="en-US" dirty="0">
                <a:latin typeface="Times New Roman" charset="0"/>
                <a:ea typeface="Times New Roman" charset="0"/>
                <a:cs typeface="Times New Roman" charset="0"/>
              </a:rPr>
              <a:t>each with varied considerations and concerns. </a:t>
            </a:r>
            <a:endParaRPr lang="en-US" dirty="0" smtClean="0">
              <a:latin typeface="Times New Roman" charset="0"/>
              <a:ea typeface="Times New Roman" charset="0"/>
              <a:cs typeface="Times New Roman" charset="0"/>
            </a:endParaRPr>
          </a:p>
          <a:p>
            <a:pPr algn="just" fontAlgn="base">
              <a:lnSpc>
                <a:spcPct val="170000"/>
              </a:lnSpc>
            </a:pPr>
            <a:r>
              <a:rPr lang="en-US" dirty="0" smtClean="0">
                <a:latin typeface="Times New Roman" charset="0"/>
                <a:ea typeface="Times New Roman" charset="0"/>
                <a:cs typeface="Times New Roman" charset="0"/>
              </a:rPr>
              <a:t>For </a:t>
            </a:r>
            <a:r>
              <a:rPr lang="en-US" dirty="0">
                <a:latin typeface="Times New Roman" charset="0"/>
                <a:ea typeface="Times New Roman" charset="0"/>
                <a:cs typeface="Times New Roman" charset="0"/>
              </a:rPr>
              <a:t>example, consequentialist theories (like the utilitarian approach or the common good approach) center mainly on the consequences of actions, while non-consequentialist theories (like the duty-based approach or the rights approach) instead center on the intentions of the decision-maker or ethical obligation.</a:t>
            </a:r>
          </a:p>
          <a:p>
            <a:pPr algn="just">
              <a:lnSpc>
                <a:spcPct val="170000"/>
              </a:lnSpc>
            </a:pPr>
            <a:r>
              <a:rPr lang="en-US" dirty="0">
                <a:latin typeface="Times New Roman" charset="0"/>
                <a:ea typeface="Times New Roman" charset="0"/>
                <a:cs typeface="Times New Roman" charset="0"/>
              </a:rPr>
              <a:t>For example, if I have a right to freedom, then I have a justified claim to be left alone by others. Turned around, I can say that others have a duty or responsibility to leave me alone. If I have a right to an education, then I have a justified claim to be provided with an education by society.</a:t>
            </a:r>
          </a:p>
        </p:txBody>
      </p:sp>
    </p:spTree>
    <p:extLst>
      <p:ext uri="{BB962C8B-B14F-4D97-AF65-F5344CB8AC3E}">
        <p14:creationId xmlns:p14="http://schemas.microsoft.com/office/powerpoint/2010/main" val="1951888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a:latin typeface="Times New Roman" charset="0"/>
                <a:ea typeface="Times New Roman" charset="0"/>
                <a:cs typeface="Times New Roman" charset="0"/>
              </a:rPr>
              <a:t>How to Use the Rights Approach Model for Decision-Making</a:t>
            </a:r>
            <a:r>
              <a:rPr lang="en-US" b="1" dirty="0"/>
              <a:t/>
            </a:r>
            <a:br>
              <a:rPr lang="en-US" b="1" dirty="0"/>
            </a:br>
            <a:endParaRPr lang="en-US" dirty="0"/>
          </a:p>
        </p:txBody>
      </p:sp>
      <p:sp>
        <p:nvSpPr>
          <p:cNvPr id="3" name="Content Placeholder 2"/>
          <p:cNvSpPr>
            <a:spLocks noGrp="1"/>
          </p:cNvSpPr>
          <p:nvPr>
            <p:ph idx="1"/>
          </p:nvPr>
        </p:nvSpPr>
        <p:spPr>
          <a:xfrm>
            <a:off x="838200" y="1376854"/>
            <a:ext cx="10515600" cy="5192111"/>
          </a:xfrm>
        </p:spPr>
        <p:txBody>
          <a:bodyPr>
            <a:normAutofit fontScale="55000" lnSpcReduction="20000"/>
          </a:bodyPr>
          <a:lstStyle/>
          <a:p>
            <a:pPr algn="just" fontAlgn="base">
              <a:lnSpc>
                <a:spcPct val="170000"/>
              </a:lnSpc>
            </a:pPr>
            <a:r>
              <a:rPr lang="en-US" dirty="0">
                <a:latin typeface="Times New Roman" charset="0"/>
                <a:ea typeface="Times New Roman" charset="0"/>
                <a:cs typeface="Times New Roman" charset="0"/>
              </a:rPr>
              <a:t>There are a few key elements to remember when practicing the rights approach:</a:t>
            </a:r>
          </a:p>
          <a:p>
            <a:pPr algn="just" fontAlgn="base">
              <a:lnSpc>
                <a:spcPct val="170000"/>
              </a:lnSpc>
            </a:pPr>
            <a:r>
              <a:rPr lang="en-US" dirty="0">
                <a:latin typeface="Times New Roman" charset="0"/>
                <a:ea typeface="Times New Roman" charset="0"/>
                <a:cs typeface="Times New Roman" charset="0"/>
              </a:rPr>
              <a:t>1. </a:t>
            </a:r>
            <a:r>
              <a:rPr lang="en-US" b="1" dirty="0">
                <a:latin typeface="Times New Roman" charset="0"/>
                <a:ea typeface="Times New Roman" charset="0"/>
                <a:cs typeface="Times New Roman" charset="0"/>
              </a:rPr>
              <a:t>Advocate for others</a:t>
            </a:r>
            <a:r>
              <a:rPr lang="en-US" dirty="0">
                <a:latin typeface="Times New Roman" charset="0"/>
                <a:ea typeface="Times New Roman" charset="0"/>
                <a:cs typeface="Times New Roman" charset="0"/>
              </a:rPr>
              <a:t>. In thinking ethically, advocacy is essential for those you are doing business with, not just those working for your own company. Such human rights principles include standing up against discrimination, asking others how you can best serve them, and taking action on others’ workplace harassment.</a:t>
            </a:r>
          </a:p>
          <a:p>
            <a:pPr algn="just" fontAlgn="base">
              <a:lnSpc>
                <a:spcPct val="170000"/>
              </a:lnSpc>
            </a:pPr>
            <a:r>
              <a:rPr lang="en-US" dirty="0">
                <a:latin typeface="Times New Roman" charset="0"/>
                <a:ea typeface="Times New Roman" charset="0"/>
                <a:cs typeface="Times New Roman" charset="0"/>
              </a:rPr>
              <a:t>2. </a:t>
            </a:r>
            <a:r>
              <a:rPr lang="en-US" b="1" dirty="0">
                <a:latin typeface="Times New Roman" charset="0"/>
                <a:ea typeface="Times New Roman" charset="0"/>
                <a:cs typeface="Times New Roman" charset="0"/>
              </a:rPr>
              <a:t>Ask others questions</a:t>
            </a:r>
            <a:r>
              <a:rPr lang="en-US" dirty="0">
                <a:latin typeface="Times New Roman" charset="0"/>
                <a:ea typeface="Times New Roman" charset="0"/>
                <a:cs typeface="Times New Roman" charset="0"/>
              </a:rPr>
              <a:t>. Instead of saying how someone should do something, ask others for their input and use that information to create a more </a:t>
            </a:r>
            <a:r>
              <a:rPr lang="en-US" dirty="0" smtClean="0">
                <a:latin typeface="Times New Roman" charset="0"/>
                <a:ea typeface="Times New Roman" charset="0"/>
                <a:cs typeface="Times New Roman" charset="0"/>
              </a:rPr>
              <a:t>collaborative</a:t>
            </a:r>
            <a:r>
              <a:rPr lang="en-US" dirty="0">
                <a:latin typeface="Times New Roman" charset="0"/>
                <a:ea typeface="Times New Roman" charset="0"/>
                <a:cs typeface="Times New Roman" charset="0"/>
              </a:rPr>
              <a:t> environment.</a:t>
            </a:r>
          </a:p>
          <a:p>
            <a:pPr algn="just" fontAlgn="base">
              <a:lnSpc>
                <a:spcPct val="170000"/>
              </a:lnSpc>
            </a:pPr>
            <a:r>
              <a:rPr lang="en-US" dirty="0">
                <a:latin typeface="Times New Roman" charset="0"/>
                <a:ea typeface="Times New Roman" charset="0"/>
                <a:cs typeface="Times New Roman" charset="0"/>
              </a:rPr>
              <a:t>3. </a:t>
            </a:r>
            <a:r>
              <a:rPr lang="en-US" b="1" dirty="0">
                <a:latin typeface="Times New Roman" charset="0"/>
                <a:ea typeface="Times New Roman" charset="0"/>
                <a:cs typeface="Times New Roman" charset="0"/>
              </a:rPr>
              <a:t>Practice self-reflection</a:t>
            </a:r>
            <a:r>
              <a:rPr lang="en-US" dirty="0">
                <a:latin typeface="Times New Roman" charset="0"/>
                <a:ea typeface="Times New Roman" charset="0"/>
                <a:cs typeface="Times New Roman" charset="0"/>
              </a:rPr>
              <a:t>. As you take steps in your business journey, pause along the way and ask if your actions are self-serving, take in others’ considerations, and how your wants are impacting those around you, in and outside your organization.</a:t>
            </a:r>
          </a:p>
          <a:p>
            <a:pPr algn="just" fontAlgn="base">
              <a:lnSpc>
                <a:spcPct val="170000"/>
              </a:lnSpc>
            </a:pPr>
            <a:r>
              <a:rPr lang="en-US" dirty="0">
                <a:latin typeface="Times New Roman" charset="0"/>
                <a:ea typeface="Times New Roman" charset="0"/>
                <a:cs typeface="Times New Roman" charset="0"/>
              </a:rPr>
              <a:t>4. </a:t>
            </a:r>
            <a:r>
              <a:rPr lang="en-US" b="1" dirty="0">
                <a:latin typeface="Times New Roman" charset="0"/>
                <a:ea typeface="Times New Roman" charset="0"/>
                <a:cs typeface="Times New Roman" charset="0"/>
              </a:rPr>
              <a:t>Tell the truth</a:t>
            </a:r>
            <a:r>
              <a:rPr lang="en-US" dirty="0">
                <a:latin typeface="Times New Roman" charset="0"/>
                <a:ea typeface="Times New Roman" charset="0"/>
                <a:cs typeface="Times New Roman" charset="0"/>
              </a:rPr>
              <a:t>. Equip all businesspeople with the same information to level the playing field and not abuse anyone’s situation through a lack of shared knowledge.</a:t>
            </a:r>
          </a:p>
          <a:p>
            <a:pPr algn="just" fontAlgn="base">
              <a:lnSpc>
                <a:spcPct val="170000"/>
              </a:lnSpc>
            </a:pPr>
            <a:r>
              <a:rPr lang="en-US" dirty="0">
                <a:latin typeface="Times New Roman" charset="0"/>
                <a:ea typeface="Times New Roman" charset="0"/>
                <a:cs typeface="Times New Roman" charset="0"/>
              </a:rPr>
              <a:t>5. </a:t>
            </a:r>
            <a:r>
              <a:rPr lang="en-US" b="1" dirty="0">
                <a:latin typeface="Times New Roman" charset="0"/>
                <a:ea typeface="Times New Roman" charset="0"/>
                <a:cs typeface="Times New Roman" charset="0"/>
              </a:rPr>
              <a:t>Use the Universal Declaration of Human Rights</a:t>
            </a:r>
            <a:r>
              <a:rPr lang="en-US" dirty="0">
                <a:latin typeface="Times New Roman" charset="0"/>
                <a:ea typeface="Times New Roman" charset="0"/>
                <a:cs typeface="Times New Roman" charset="0"/>
              </a:rPr>
              <a:t>. The United Nations lists extensive guidelines and international laws modeling the many facets that make up a human’s intrinsic rights. Abiding by these in global affairs is one way to practice the rights approach.</a:t>
            </a:r>
          </a:p>
          <a:p>
            <a:pPr algn="just">
              <a:lnSpc>
                <a:spcPct val="170000"/>
              </a:lnSpc>
            </a:pP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469689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972"/>
          </a:xfrm>
        </p:spPr>
        <p:txBody>
          <a:bodyPr>
            <a:normAutofit/>
          </a:bodyPr>
          <a:lstStyle/>
          <a:p>
            <a:pPr algn="ctr"/>
            <a:r>
              <a:rPr lang="en-US" sz="3600" dirty="0" smtClean="0">
                <a:latin typeface="Times New Roman" charset="0"/>
                <a:ea typeface="Times New Roman" charset="0"/>
                <a:cs typeface="Times New Roman" charset="0"/>
              </a:rPr>
              <a:t>An Example</a:t>
            </a:r>
            <a:endParaRPr lang="en-US" sz="36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439917"/>
            <a:ext cx="10515600" cy="5181600"/>
          </a:xfrm>
        </p:spPr>
        <p:txBody>
          <a:bodyPr>
            <a:normAutofit fontScale="92500" lnSpcReduction="20000"/>
          </a:bodyPr>
          <a:lstStyle/>
          <a:p>
            <a:pPr algn="just">
              <a:lnSpc>
                <a:spcPct val="150000"/>
              </a:lnSpc>
            </a:pPr>
            <a:r>
              <a:rPr lang="en-US" dirty="0">
                <a:latin typeface="Times New Roman" charset="0"/>
                <a:ea typeface="Times New Roman" charset="0"/>
                <a:cs typeface="Times New Roman" charset="0"/>
              </a:rPr>
              <a:t>When confronted with conflicting or competing interests or rights, we need to decide which interest has greater merit and give priority to the right that best protects or ensures that interest.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For </a:t>
            </a:r>
            <a:r>
              <a:rPr lang="en-US" dirty="0">
                <a:latin typeface="Times New Roman" charset="0"/>
                <a:ea typeface="Times New Roman" charset="0"/>
                <a:cs typeface="Times New Roman" charset="0"/>
              </a:rPr>
              <a:t>example, in </a:t>
            </a:r>
            <a:r>
              <a:rPr lang="en-US" dirty="0" smtClean="0">
                <a:latin typeface="Times New Roman" charset="0"/>
                <a:ea typeface="Times New Roman" charset="0"/>
                <a:cs typeface="Times New Roman" charset="0"/>
              </a:rPr>
              <a:t>the Indian Constitution, </a:t>
            </a:r>
            <a:r>
              <a:rPr lang="en-US" dirty="0">
                <a:latin typeface="Times New Roman" charset="0"/>
                <a:ea typeface="Times New Roman" charset="0"/>
                <a:cs typeface="Times New Roman" charset="0"/>
              </a:rPr>
              <a:t>the right to freedom of speech is generally protected, but citizens do not have the right to needlessly scream “Fire!” in a crowded theater or to engage in hate crimes. </a:t>
            </a:r>
            <a:endParaRPr lang="en-US" dirty="0" smtClean="0">
              <a:latin typeface="Times New Roman" charset="0"/>
              <a:ea typeface="Times New Roman" charset="0"/>
              <a:cs typeface="Times New Roman" charset="0"/>
            </a:endParaRPr>
          </a:p>
          <a:p>
            <a:pPr algn="just">
              <a:lnSpc>
                <a:spcPct val="150000"/>
              </a:lnSpc>
            </a:pPr>
            <a:r>
              <a:rPr lang="en-US" dirty="0" smtClean="0">
                <a:latin typeface="Times New Roman" charset="0"/>
                <a:ea typeface="Times New Roman" charset="0"/>
                <a:cs typeface="Times New Roman" charset="0"/>
              </a:rPr>
              <a:t>We </a:t>
            </a:r>
            <a:r>
              <a:rPr lang="en-US" dirty="0">
                <a:latin typeface="Times New Roman" charset="0"/>
                <a:ea typeface="Times New Roman" charset="0"/>
                <a:cs typeface="Times New Roman" charset="0"/>
              </a:rPr>
              <a:t>may also want to ask whether we would want to be on the receiving end of an action if the situation was reversed, or what the impact would be if everyone performed an action.</a:t>
            </a:r>
          </a:p>
        </p:txBody>
      </p:sp>
    </p:spTree>
    <p:extLst>
      <p:ext uri="{BB962C8B-B14F-4D97-AF65-F5344CB8AC3E}">
        <p14:creationId xmlns:p14="http://schemas.microsoft.com/office/powerpoint/2010/main" val="490993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latin typeface="Times New Roman" charset="0"/>
                <a:ea typeface="Times New Roman" charset="0"/>
                <a:cs typeface="Times New Roman" charset="0"/>
              </a:rPr>
              <a:t>Problems with Rights Approach</a:t>
            </a:r>
            <a:endParaRPr lang="en-US" sz="3600"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604907"/>
            <a:ext cx="10515600" cy="4351338"/>
          </a:xfrm>
        </p:spPr>
        <p:txBody>
          <a:bodyPr>
            <a:normAutofit fontScale="85000" lnSpcReduction="20000"/>
          </a:bodyPr>
          <a:lstStyle/>
          <a:p>
            <a:pPr algn="just">
              <a:lnSpc>
                <a:spcPct val="150000"/>
              </a:lnSpc>
            </a:pPr>
            <a:r>
              <a:rPr lang="en-US" sz="1800" dirty="0">
                <a:latin typeface="Times New Roman" charset="0"/>
                <a:ea typeface="Times New Roman" charset="0"/>
                <a:cs typeface="Times New Roman" charset="0"/>
              </a:rPr>
              <a:t>Marxist and some of the feminist theories fall into this group. In his oft-quoted criticism of the idea of rights Karl Marx observed that, ‘none of the so called rights of man goes beyond egoistic man, … an individual withdrawn behind his private interests and whims and separated from the </a:t>
            </a:r>
            <a:r>
              <a:rPr lang="en-US" sz="1800" dirty="0" smtClean="0">
                <a:latin typeface="Times New Roman" charset="0"/>
                <a:ea typeface="Times New Roman" charset="0"/>
                <a:cs typeface="Times New Roman" charset="0"/>
              </a:rPr>
              <a:t>community.’ (Reference no. 3)</a:t>
            </a:r>
          </a:p>
          <a:p>
            <a:pPr algn="just">
              <a:lnSpc>
                <a:spcPct val="150000"/>
              </a:lnSpc>
            </a:pPr>
            <a:endParaRPr lang="en-US" sz="1800" dirty="0" smtClean="0">
              <a:latin typeface="Times New Roman" charset="0"/>
              <a:ea typeface="Times New Roman" charset="0"/>
              <a:cs typeface="Times New Roman" charset="0"/>
            </a:endParaRPr>
          </a:p>
          <a:p>
            <a:pPr algn="just">
              <a:lnSpc>
                <a:spcPct val="150000"/>
              </a:lnSpc>
            </a:pPr>
            <a:r>
              <a:rPr lang="en-US" sz="1800" dirty="0">
                <a:latin typeface="Times New Roman" charset="0"/>
                <a:ea typeface="Times New Roman" charset="0"/>
                <a:cs typeface="Times New Roman" charset="0"/>
              </a:rPr>
              <a:t>The idea of rights must stay there to protect mankind from the aforementioned horrendous acts. But the problem starts, as Sir John Laws points out, when</a:t>
            </a:r>
            <a:r>
              <a:rPr lang="en-US" sz="1800" dirty="0" smtClean="0">
                <a:latin typeface="Times New Roman" charset="0"/>
                <a:ea typeface="Times New Roman" charset="0"/>
                <a:cs typeface="Times New Roman" charset="0"/>
              </a:rPr>
              <a:t>: Generations </a:t>
            </a:r>
            <a:r>
              <a:rPr lang="en-US" sz="1800" dirty="0">
                <a:latin typeface="Times New Roman" charset="0"/>
                <a:ea typeface="Times New Roman" charset="0"/>
                <a:cs typeface="Times New Roman" charset="0"/>
              </a:rPr>
              <a:t>knowing nothing of Hitler or Stalin, for whom these monsters are merely bogeymen in their history lessons, may not see rights as an antidote against tyranny but rather as a legitimate means of promoting their own interests above the interests of </a:t>
            </a:r>
            <a:r>
              <a:rPr lang="en-US" sz="1800" dirty="0" smtClean="0">
                <a:latin typeface="Times New Roman" charset="0"/>
                <a:ea typeface="Times New Roman" charset="0"/>
                <a:cs typeface="Times New Roman" charset="0"/>
              </a:rPr>
              <a:t>others.</a:t>
            </a:r>
            <a:endParaRPr lang="en-US" sz="1800" dirty="0">
              <a:latin typeface="Times New Roman" charset="0"/>
              <a:ea typeface="Times New Roman" charset="0"/>
              <a:cs typeface="Times New Roman" charset="0"/>
            </a:endParaRPr>
          </a:p>
          <a:p>
            <a:pPr algn="just">
              <a:lnSpc>
                <a:spcPct val="150000"/>
              </a:lnSpc>
            </a:pPr>
            <a:r>
              <a:rPr lang="en-US" sz="1800" dirty="0">
                <a:latin typeface="Times New Roman" charset="0"/>
                <a:ea typeface="Times New Roman" charset="0"/>
                <a:cs typeface="Times New Roman" charset="0"/>
              </a:rPr>
              <a:t>Thus, a rights-based approach is promoting or nurturing </a:t>
            </a:r>
            <a:r>
              <a:rPr lang="en-US" sz="1800" dirty="0" smtClean="0">
                <a:latin typeface="Times New Roman" charset="0"/>
                <a:ea typeface="Times New Roman" charset="0"/>
                <a:cs typeface="Times New Roman" charset="0"/>
              </a:rPr>
              <a:t>selfishness</a:t>
            </a:r>
            <a:r>
              <a:rPr lang="en-US" sz="1800" dirty="0">
                <a:latin typeface="Times New Roman" charset="0"/>
                <a:ea typeface="Times New Roman" charset="0"/>
                <a:cs typeface="Times New Roman" charset="0"/>
              </a:rPr>
              <a:t> or self-righteousness. It cannot get rid of it because asserting self-interest is treated as a virtue and a right, not a vice </a:t>
            </a:r>
            <a:r>
              <a:rPr lang="en-US" sz="1800" dirty="0" smtClean="0">
                <a:latin typeface="Times New Roman" charset="0"/>
                <a:ea typeface="Times New Roman" charset="0"/>
                <a:cs typeface="Times New Roman" charset="0"/>
              </a:rPr>
              <a:t>here.</a:t>
            </a:r>
            <a:r>
              <a:rPr lang="en-US" sz="1800" dirty="0">
                <a:latin typeface="Times New Roman" charset="0"/>
                <a:ea typeface="Times New Roman" charset="0"/>
                <a:cs typeface="Times New Roman" charset="0"/>
              </a:rPr>
              <a:t> In contrast to this, we find concerns for the community, solidarity care, compassion and benevolence regarding others</a:t>
            </a:r>
            <a:r>
              <a:rPr lang="en-US" sz="1800" dirty="0" smtClean="0">
                <a:latin typeface="Times New Roman" charset="0"/>
                <a:ea typeface="Times New Roman" charset="0"/>
                <a:cs typeface="Times New Roman" charset="0"/>
              </a:rPr>
              <a:t>.</a:t>
            </a:r>
          </a:p>
          <a:p>
            <a:pPr algn="just">
              <a:lnSpc>
                <a:spcPct val="150000"/>
              </a:lnSpc>
            </a:pPr>
            <a:r>
              <a:rPr lang="en-US" sz="1800" dirty="0" smtClean="0">
                <a:latin typeface="Times New Roman" charset="0"/>
                <a:ea typeface="Times New Roman" charset="0"/>
                <a:cs typeface="Times New Roman" charset="0"/>
              </a:rPr>
              <a:t>Ignores ethics of care and emotions.</a:t>
            </a:r>
            <a:endParaRPr lang="en-US" sz="1800" dirty="0">
              <a:latin typeface="Times New Roman" charset="0"/>
              <a:ea typeface="Times New Roman" charset="0"/>
              <a:cs typeface="Times New Roman" charset="0"/>
            </a:endParaRPr>
          </a:p>
          <a:p>
            <a:pPr algn="just">
              <a:lnSpc>
                <a:spcPct val="150000"/>
              </a:lnSpc>
            </a:pPr>
            <a:endParaRPr lang="en-US" sz="18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98717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4675"/>
          </a:xfrm>
        </p:spPr>
        <p:txBody>
          <a:bodyPr>
            <a:normAutofit fontScale="90000"/>
          </a:bodyPr>
          <a:lstStyle/>
          <a:p>
            <a:pPr algn="ctr"/>
            <a:r>
              <a:rPr lang="en-US" dirty="0" smtClean="0">
                <a:latin typeface="Times New Roman" charset="0"/>
                <a:ea typeface="Times New Roman" charset="0"/>
                <a:cs typeface="Times New Roman" charset="0"/>
              </a:rPr>
              <a:t>References</a:t>
            </a:r>
            <a:endParaRPr lang="en-US" dirty="0">
              <a:latin typeface="Times New Roman" charset="0"/>
              <a:ea typeface="Times New Roman" charset="0"/>
              <a:cs typeface="Times New Roman" charset="0"/>
            </a:endParaRPr>
          </a:p>
        </p:txBody>
      </p:sp>
      <p:sp>
        <p:nvSpPr>
          <p:cNvPr id="3" name="Content Placeholder 2"/>
          <p:cNvSpPr>
            <a:spLocks noGrp="1"/>
          </p:cNvSpPr>
          <p:nvPr>
            <p:ph idx="1"/>
          </p:nvPr>
        </p:nvSpPr>
        <p:spPr>
          <a:xfrm>
            <a:off x="838200" y="1371600"/>
            <a:ext cx="10515600" cy="5486400"/>
          </a:xfrm>
        </p:spPr>
        <p:txBody>
          <a:bodyPr>
            <a:normAutofit fontScale="62500" lnSpcReduction="20000"/>
          </a:bodyPr>
          <a:lstStyle/>
          <a:p>
            <a:pPr marL="514350" indent="-514350" algn="just">
              <a:lnSpc>
                <a:spcPct val="160000"/>
              </a:lnSpc>
              <a:buFont typeface="+mj-lt"/>
              <a:buAutoNum type="arabicPeriod"/>
            </a:pPr>
            <a:r>
              <a:rPr lang="en-US" dirty="0" smtClean="0">
                <a:latin typeface="Times New Roman" charset="0"/>
                <a:ea typeface="Times New Roman" charset="0"/>
                <a:cs typeface="Times New Roman" charset="0"/>
                <a:hlinkClick r:id="rId2"/>
              </a:rPr>
              <a:t>https://www.masterclass.com/articles/rights-approach https://www.un.org/womenwatch/daw/news/savitri.htm</a:t>
            </a:r>
            <a:endParaRPr lang="en-US" dirty="0" smtClean="0">
              <a:latin typeface="Times New Roman" charset="0"/>
              <a:ea typeface="Times New Roman" charset="0"/>
              <a:cs typeface="Times New Roman" charset="0"/>
            </a:endParaRPr>
          </a:p>
          <a:p>
            <a:pPr marL="514350" indent="-514350" algn="just">
              <a:lnSpc>
                <a:spcPct val="160000"/>
              </a:lnSpc>
              <a:buFont typeface="+mj-lt"/>
              <a:buAutoNum type="arabicPeriod"/>
            </a:pPr>
            <a:r>
              <a:rPr lang="en-US" dirty="0" smtClean="0">
                <a:latin typeface="Times New Roman" charset="0"/>
                <a:ea typeface="Times New Roman" charset="0"/>
                <a:cs typeface="Times New Roman" charset="0"/>
              </a:rPr>
              <a:t>Rajesh Kapoor, “What </a:t>
            </a:r>
            <a:r>
              <a:rPr lang="en-US" dirty="0">
                <a:latin typeface="Times New Roman" charset="0"/>
                <a:ea typeface="Times New Roman" charset="0"/>
                <a:cs typeface="Times New Roman" charset="0"/>
              </a:rPr>
              <a:t>Is Wrong with a Rights-based Approach to </a:t>
            </a:r>
            <a:r>
              <a:rPr lang="en-US" dirty="0" smtClean="0">
                <a:latin typeface="Times New Roman" charset="0"/>
                <a:ea typeface="Times New Roman" charset="0"/>
                <a:cs typeface="Times New Roman" charset="0"/>
              </a:rPr>
              <a:t>Morality?” Journal of </a:t>
            </a:r>
            <a:r>
              <a:rPr lang="en-US" i="1" dirty="0" smtClean="0">
                <a:latin typeface="Times New Roman" charset="0"/>
                <a:ea typeface="Times New Roman" charset="0"/>
                <a:cs typeface="Times New Roman" charset="0"/>
              </a:rPr>
              <a:t>National Law University Delhi</a:t>
            </a:r>
            <a:r>
              <a:rPr lang="en-US" dirty="0" smtClean="0">
                <a:latin typeface="Times New Roman" charset="0"/>
                <a:ea typeface="Times New Roman" charset="0"/>
                <a:cs typeface="Times New Roman" charset="0"/>
              </a:rPr>
              <a:t>, Volume 6, Issue 1, Available at website: </a:t>
            </a:r>
            <a:r>
              <a:rPr lang="en-US" dirty="0" smtClean="0">
                <a:latin typeface="Times New Roman" charset="0"/>
                <a:ea typeface="Times New Roman" charset="0"/>
                <a:cs typeface="Times New Roman" charset="0"/>
                <a:hlinkClick r:id="rId3"/>
              </a:rPr>
              <a:t>https://journals.sagepub.com/doi/10.1177/2277401719870004</a:t>
            </a:r>
            <a:endParaRPr lang="en-US" dirty="0" smtClean="0">
              <a:latin typeface="Times New Roman" charset="0"/>
              <a:ea typeface="Times New Roman" charset="0"/>
              <a:cs typeface="Times New Roman" charset="0"/>
            </a:endParaRPr>
          </a:p>
          <a:p>
            <a:pPr marL="514350" indent="-514350" algn="just">
              <a:lnSpc>
                <a:spcPct val="160000"/>
              </a:lnSpc>
              <a:buFont typeface="+mj-lt"/>
              <a:buAutoNum type="arabicPeriod"/>
            </a:pPr>
            <a:r>
              <a:rPr lang="en-US" dirty="0">
                <a:latin typeface="Times New Roman" charset="0"/>
                <a:ea typeface="Times New Roman" charset="0"/>
                <a:cs typeface="Times New Roman" charset="0"/>
              </a:rPr>
              <a:t> Darren O’ Byrne, </a:t>
            </a:r>
            <a:r>
              <a:rPr lang="en-US" cap="small" dirty="0">
                <a:latin typeface="Times New Roman" charset="0"/>
                <a:ea typeface="Times New Roman" charset="0"/>
                <a:cs typeface="Times New Roman" charset="0"/>
              </a:rPr>
              <a:t>Human Rights an Introduction</a:t>
            </a:r>
            <a:r>
              <a:rPr lang="en-US" dirty="0">
                <a:latin typeface="Times New Roman" charset="0"/>
                <a:ea typeface="Times New Roman" charset="0"/>
                <a:cs typeface="Times New Roman" charset="0"/>
              </a:rPr>
              <a:t>, 53 (2003</a:t>
            </a:r>
            <a:r>
              <a:rPr lang="en-US" dirty="0" smtClean="0">
                <a:latin typeface="Times New Roman" charset="0"/>
                <a:ea typeface="Times New Roman" charset="0"/>
                <a:cs typeface="Times New Roman" charset="0"/>
              </a:rPr>
              <a:t>).</a:t>
            </a:r>
          </a:p>
          <a:p>
            <a:pPr marL="514350" indent="-514350" algn="just">
              <a:lnSpc>
                <a:spcPct val="160000"/>
              </a:lnSpc>
              <a:buFont typeface="+mj-lt"/>
              <a:buAutoNum type="arabicPeriod"/>
            </a:pPr>
            <a:r>
              <a:rPr lang="en-US" dirty="0">
                <a:latin typeface="Times New Roman" charset="0"/>
                <a:ea typeface="Times New Roman" charset="0"/>
                <a:cs typeface="Times New Roman" charset="0"/>
              </a:rPr>
              <a:t>John Laws, </a:t>
            </a:r>
            <a:r>
              <a:rPr lang="en-US" i="1" dirty="0">
                <a:latin typeface="Times New Roman" charset="0"/>
                <a:ea typeface="Times New Roman" charset="0"/>
                <a:cs typeface="Times New Roman" charset="0"/>
              </a:rPr>
              <a:t>Beyond Rights</a:t>
            </a:r>
            <a:r>
              <a:rPr lang="en-US" dirty="0">
                <a:latin typeface="Times New Roman" charset="0"/>
                <a:ea typeface="Times New Roman" charset="0"/>
                <a:cs typeface="Times New Roman" charset="0"/>
              </a:rPr>
              <a:t>, 23(2) </a:t>
            </a:r>
            <a:r>
              <a:rPr lang="en-US" cap="small" dirty="0" err="1">
                <a:latin typeface="Times New Roman" charset="0"/>
                <a:ea typeface="Times New Roman" charset="0"/>
                <a:cs typeface="Times New Roman" charset="0"/>
              </a:rPr>
              <a:t>Oxf</a:t>
            </a:r>
            <a:r>
              <a:rPr lang="en-US" cap="small" dirty="0">
                <a:latin typeface="Times New Roman" charset="0"/>
                <a:ea typeface="Times New Roman" charset="0"/>
                <a:cs typeface="Times New Roman" charset="0"/>
              </a:rPr>
              <a:t>. J. Leg. Stud.</a:t>
            </a:r>
            <a:r>
              <a:rPr lang="en-US" dirty="0">
                <a:latin typeface="Times New Roman" charset="0"/>
                <a:ea typeface="Times New Roman" charset="0"/>
                <a:cs typeface="Times New Roman" charset="0"/>
              </a:rPr>
              <a:t>, 266 (2003</a:t>
            </a:r>
            <a:r>
              <a:rPr lang="en-US" dirty="0" smtClean="0">
                <a:latin typeface="Times New Roman" charset="0"/>
                <a:ea typeface="Times New Roman" charset="0"/>
                <a:cs typeface="Times New Roman" charset="0"/>
              </a:rPr>
              <a:t>).</a:t>
            </a:r>
          </a:p>
          <a:p>
            <a:pPr marL="514350" indent="-514350" algn="just">
              <a:lnSpc>
                <a:spcPct val="160000"/>
              </a:lnSpc>
              <a:buFont typeface="+mj-lt"/>
              <a:buAutoNum type="arabicPeriod"/>
            </a:pPr>
            <a:r>
              <a:rPr lang="en-US" dirty="0">
                <a:latin typeface="Times New Roman" charset="0"/>
                <a:ea typeface="Times New Roman" charset="0"/>
                <a:cs typeface="Times New Roman" charset="0"/>
              </a:rPr>
              <a:t> Jones, </a:t>
            </a:r>
            <a:r>
              <a:rPr lang="en-US" i="1" dirty="0">
                <a:latin typeface="Times New Roman" charset="0"/>
                <a:ea typeface="Times New Roman" charset="0"/>
                <a:cs typeface="Times New Roman" charset="0"/>
              </a:rPr>
              <a:t>supra</a:t>
            </a:r>
            <a:r>
              <a:rPr lang="en-US" dirty="0">
                <a:latin typeface="Times New Roman" charset="0"/>
                <a:ea typeface="Times New Roman" charset="0"/>
                <a:cs typeface="Times New Roman" charset="0"/>
              </a:rPr>
              <a:t> note 13; Gilligan, </a:t>
            </a:r>
            <a:r>
              <a:rPr lang="en-US" i="1" dirty="0">
                <a:latin typeface="Times New Roman" charset="0"/>
                <a:ea typeface="Times New Roman" charset="0"/>
                <a:cs typeface="Times New Roman" charset="0"/>
              </a:rPr>
              <a:t>supra</a:t>
            </a:r>
            <a:r>
              <a:rPr lang="en-US" dirty="0">
                <a:latin typeface="Times New Roman" charset="0"/>
                <a:ea typeface="Times New Roman" charset="0"/>
                <a:cs typeface="Times New Roman" charset="0"/>
              </a:rPr>
              <a:t> note 7; </a:t>
            </a:r>
            <a:r>
              <a:rPr lang="en-US" i="1" dirty="0">
                <a:latin typeface="Times New Roman" charset="0"/>
                <a:ea typeface="Times New Roman" charset="0"/>
                <a:cs typeface="Times New Roman" charset="0"/>
              </a:rPr>
              <a:t>id</a:t>
            </a:r>
            <a:r>
              <a:rPr lang="en-US" dirty="0" smtClean="0">
                <a:latin typeface="Times New Roman" charset="0"/>
                <a:ea typeface="Times New Roman" charset="0"/>
                <a:cs typeface="Times New Roman" charset="0"/>
              </a:rPr>
              <a:t>.</a:t>
            </a:r>
          </a:p>
          <a:p>
            <a:pPr marL="514350" indent="-514350" algn="just">
              <a:lnSpc>
                <a:spcPct val="160000"/>
              </a:lnSpc>
              <a:buFont typeface="+mj-lt"/>
              <a:buAutoNum type="arabicPeriod"/>
            </a:pPr>
            <a:r>
              <a:rPr lang="en-US" dirty="0">
                <a:latin typeface="Times New Roman" charset="0"/>
                <a:ea typeface="Times New Roman" charset="0"/>
                <a:cs typeface="Times New Roman" charset="0"/>
              </a:rPr>
              <a:t>Gilligan, </a:t>
            </a:r>
            <a:r>
              <a:rPr lang="en-US" i="1" dirty="0">
                <a:latin typeface="Times New Roman" charset="0"/>
                <a:ea typeface="Times New Roman" charset="0"/>
                <a:cs typeface="Times New Roman" charset="0"/>
              </a:rPr>
              <a:t>supra</a:t>
            </a:r>
            <a:r>
              <a:rPr lang="en-US" dirty="0">
                <a:latin typeface="Times New Roman" charset="0"/>
                <a:ea typeface="Times New Roman" charset="0"/>
                <a:cs typeface="Times New Roman" charset="0"/>
              </a:rPr>
              <a:t> note 7, at 149</a:t>
            </a:r>
            <a:r>
              <a:rPr lang="en-US" dirty="0" smtClean="0">
                <a:latin typeface="Times New Roman" charset="0"/>
                <a:ea typeface="Times New Roman" charset="0"/>
                <a:cs typeface="Times New Roman" charset="0"/>
              </a:rPr>
              <a:t>.</a:t>
            </a:r>
          </a:p>
          <a:p>
            <a:pPr marL="514350" indent="-514350" algn="just">
              <a:lnSpc>
                <a:spcPct val="160000"/>
              </a:lnSpc>
              <a:buFont typeface="+mj-lt"/>
              <a:buAutoNum type="arabicPeriod"/>
            </a:pPr>
            <a:r>
              <a:rPr lang="en-US" dirty="0" smtClean="0">
                <a:latin typeface="Times New Roman" charset="0"/>
                <a:ea typeface="Times New Roman" charset="0"/>
                <a:cs typeface="Times New Roman" charset="0"/>
              </a:rPr>
              <a:t>https://</a:t>
            </a:r>
            <a:r>
              <a:rPr lang="en-US" dirty="0" err="1" smtClean="0">
                <a:latin typeface="Times New Roman" charset="0"/>
                <a:ea typeface="Times New Roman" charset="0"/>
                <a:cs typeface="Times New Roman" charset="0"/>
              </a:rPr>
              <a:t>alabamapolicy.org</a:t>
            </a:r>
            <a:r>
              <a:rPr lang="en-US" dirty="0" smtClean="0">
                <a:latin typeface="Times New Roman" charset="0"/>
                <a:ea typeface="Times New Roman" charset="0"/>
                <a:cs typeface="Times New Roman" charset="0"/>
              </a:rPr>
              <a:t>/</a:t>
            </a:r>
            <a:r>
              <a:rPr lang="en-US" dirty="0" err="1" smtClean="0">
                <a:latin typeface="Times New Roman" charset="0"/>
                <a:ea typeface="Times New Roman" charset="0"/>
                <a:cs typeface="Times New Roman" charset="0"/>
              </a:rPr>
              <a:t>wp</a:t>
            </a:r>
            <a:r>
              <a:rPr lang="en-US" dirty="0" smtClean="0">
                <a:latin typeface="Times New Roman" charset="0"/>
                <a:ea typeface="Times New Roman" charset="0"/>
                <a:cs typeface="Times New Roman" charset="0"/>
              </a:rPr>
              <a:t>-content/uploads/2020/11/GTI-Brief-Positive-Negative-Rights-1-1.pdf</a:t>
            </a:r>
            <a:endParaRPr lang="en-US"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088485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458</Words>
  <Application>Microsoft Macintosh PowerPoint</Application>
  <PresentationFormat>Widescreen</PresentationFormat>
  <Paragraphs>46</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Calibri Light</vt:lpstr>
      <vt:lpstr>Times New Roman</vt:lpstr>
      <vt:lpstr>Arial</vt:lpstr>
      <vt:lpstr>Office Theme</vt:lpstr>
      <vt:lpstr>Rights Approach</vt:lpstr>
      <vt:lpstr>What is the Rights Approach?</vt:lpstr>
      <vt:lpstr>Negative and Positive Rights</vt:lpstr>
      <vt:lpstr>Brief Overview of Ethical-Decision Making </vt:lpstr>
      <vt:lpstr>How to Use the Rights Approach Model for Decision-Making </vt:lpstr>
      <vt:lpstr>An Example</vt:lpstr>
      <vt:lpstr>Problems with Rights Approach</vt:lpstr>
      <vt:lpstr>References</vt:lpstr>
    </vt:vector>
  </TitlesOfParts>
  <Company/>
  <LinksUpToDate>false</LinksUpToDate>
  <SharedDoc>false</SharedDoc>
  <HyperlinksChanged>false</HyperlinksChanged>
  <AppVersion>15.0026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Rights Approach</dc:title>
  <dc:creator>Microsoft Office User</dc:creator>
  <cp:lastModifiedBy>Microsoft Office User</cp:lastModifiedBy>
  <cp:revision>3</cp:revision>
  <dcterms:created xsi:type="dcterms:W3CDTF">2023-10-30T06:55:18Z</dcterms:created>
  <dcterms:modified xsi:type="dcterms:W3CDTF">2023-10-30T07:22:39Z</dcterms:modified>
</cp:coreProperties>
</file>