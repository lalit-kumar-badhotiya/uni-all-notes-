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59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56"/>
    <p:restoredTop sz="94697"/>
  </p:normalViewPr>
  <p:slideViewPr>
    <p:cSldViewPr snapToGrid="0" snapToObjects="1">
      <p:cViewPr varScale="1">
        <p:scale>
          <a:sx n="59" d="100"/>
          <a:sy n="59" d="100"/>
        </p:scale>
        <p:origin x="192" y="1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17EDF-EEEE-8742-AB12-9E0E21E411DD}" type="datetimeFigureOut">
              <a:rPr lang="en-US" smtClean="0"/>
              <a:t>10/6/23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02825-717A-054F-A4E4-671FD5171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373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17EDF-EEEE-8742-AB12-9E0E21E411DD}" type="datetimeFigureOut">
              <a:rPr lang="en-US" smtClean="0"/>
              <a:t>10/6/23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02825-717A-054F-A4E4-671FD5171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19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17EDF-EEEE-8742-AB12-9E0E21E411DD}" type="datetimeFigureOut">
              <a:rPr lang="en-US" smtClean="0"/>
              <a:t>10/6/23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02825-717A-054F-A4E4-671FD5171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45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17EDF-EEEE-8742-AB12-9E0E21E411DD}" type="datetimeFigureOut">
              <a:rPr lang="en-US" smtClean="0"/>
              <a:t>10/6/23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02825-717A-054F-A4E4-671FD5171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765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17EDF-EEEE-8742-AB12-9E0E21E411DD}" type="datetimeFigureOut">
              <a:rPr lang="en-US" smtClean="0"/>
              <a:t>10/6/23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02825-717A-054F-A4E4-671FD5171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876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17EDF-EEEE-8742-AB12-9E0E21E411DD}" type="datetimeFigureOut">
              <a:rPr lang="en-US" smtClean="0"/>
              <a:t>10/6/23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02825-717A-054F-A4E4-671FD5171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58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17EDF-EEEE-8742-AB12-9E0E21E411DD}" type="datetimeFigureOut">
              <a:rPr lang="en-US" smtClean="0"/>
              <a:t>10/6/23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02825-717A-054F-A4E4-671FD5171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42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17EDF-EEEE-8742-AB12-9E0E21E411DD}" type="datetimeFigureOut">
              <a:rPr lang="en-US" smtClean="0"/>
              <a:t>10/6/23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02825-717A-054F-A4E4-671FD5171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25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17EDF-EEEE-8742-AB12-9E0E21E411DD}" type="datetimeFigureOut">
              <a:rPr lang="en-US" smtClean="0"/>
              <a:t>10/6/23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02825-717A-054F-A4E4-671FD5171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09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17EDF-EEEE-8742-AB12-9E0E21E411DD}" type="datetimeFigureOut">
              <a:rPr lang="en-US" smtClean="0"/>
              <a:t>10/6/23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02825-717A-054F-A4E4-671FD5171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128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17EDF-EEEE-8742-AB12-9E0E21E411DD}" type="datetimeFigureOut">
              <a:rPr lang="en-US" smtClean="0"/>
              <a:t>10/6/23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02825-717A-054F-A4E4-671FD5171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583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117EDF-EEEE-8742-AB12-9E0E21E411DD}" type="datetimeFigureOut">
              <a:rPr lang="en-US" smtClean="0"/>
              <a:t>10/6/23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02825-717A-054F-A4E4-671FD5171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384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7429" y="1175658"/>
            <a:ext cx="9144000" cy="2220686"/>
          </a:xfrm>
        </p:spPr>
        <p:txBody>
          <a:bodyPr>
            <a:normAutofit fontScale="90000"/>
          </a:bodyPr>
          <a:lstStyle/>
          <a:p>
            <a:r>
              <a:rPr lang="en-US" sz="5400" dirty="0" smtClean="0">
                <a:latin typeface="Times New Roman" charset="0"/>
                <a:ea typeface="Times New Roman" charset="0"/>
                <a:cs typeface="Times New Roman" charset="0"/>
              </a:rPr>
              <a:t>Lecture 8 </a:t>
            </a:r>
            <a:r>
              <a:rPr lang="en-US" sz="5400" dirty="0" smtClean="0">
                <a:latin typeface="Times New Roman" charset="0"/>
                <a:ea typeface="Times New Roman" charset="0"/>
                <a:cs typeface="Times New Roman" charset="0"/>
              </a:rPr>
              <a:t/>
            </a:r>
            <a:br>
              <a:rPr lang="en-US" sz="5400" dirty="0" smtClean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sz="5400" dirty="0" smtClean="0">
                <a:latin typeface="Times New Roman" charset="0"/>
                <a:ea typeface="Times New Roman" charset="0"/>
                <a:cs typeface="Times New Roman" charset="0"/>
              </a:rPr>
              <a:t>MCA and Biotechnology</a:t>
            </a:r>
            <a:br>
              <a:rPr lang="en-US" sz="5400" dirty="0" smtClean="0">
                <a:latin typeface="Times New Roman" charset="0"/>
                <a:ea typeface="Times New Roman" charset="0"/>
                <a:cs typeface="Times New Roman" charset="0"/>
              </a:rPr>
            </a:br>
            <a:endParaRPr lang="en-US" sz="5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6000" dirty="0" smtClean="0">
                <a:latin typeface="Times New Roman" charset="0"/>
                <a:ea typeface="Times New Roman" charset="0"/>
                <a:cs typeface="Times New Roman" charset="0"/>
              </a:rPr>
              <a:t>Ethical Decision Making</a:t>
            </a:r>
            <a:endParaRPr lang="en-US" sz="60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654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What is Ethical Decision Making?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0343" y="1825625"/>
            <a:ext cx="10058400" cy="4351338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3200" dirty="0" smtClean="0">
                <a:latin typeface="Times New Roman" charset="0"/>
                <a:ea typeface="Times New Roman" charset="0"/>
                <a:cs typeface="Times New Roman" charset="0"/>
              </a:rPr>
              <a:t>It is a conscious process of choosing between several alternatives.</a:t>
            </a:r>
            <a:endParaRPr lang="en-US" sz="32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algn="just">
              <a:lnSpc>
                <a:spcPct val="150000"/>
              </a:lnSpc>
            </a:pPr>
            <a:r>
              <a:rPr lang="en-US" sz="3200" dirty="0" smtClean="0">
                <a:latin typeface="Times New Roman" charset="0"/>
                <a:ea typeface="Times New Roman" charset="0"/>
                <a:cs typeface="Times New Roman" charset="0"/>
              </a:rPr>
              <a:t>It is a cognitive process of problem solving in which ethical dilemma are dealt with rational approach.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>
                <a:latin typeface="Times New Roman" charset="0"/>
                <a:ea typeface="Times New Roman" charset="0"/>
                <a:cs typeface="Times New Roman" charset="0"/>
              </a:rPr>
              <a:t>There are several theoretical bases to EDM that are represented when multitude of perspectives are considered to arrive at a course of action.</a:t>
            </a:r>
            <a:endParaRPr lang="en-US" sz="32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892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8761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What is Ethical Dilemma?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2230"/>
            <a:ext cx="10515600" cy="4963884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Ethical dilemma is the mental phenomenon in which there is no clarity, consistency and availability of the ideal course of action.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There are three kinds of possible course of action: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A) No ethical codes are violated.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B) Clear violation of ethical codes.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C) Course of action that can support an ethical code but violate other code at the same time.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Dilemma occurs in the third one.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87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How to solve the 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ED?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6514" y="1825625"/>
            <a:ext cx="9307286" cy="435133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Evaluate the Dilemma.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Think Ahead.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Receive Help.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Based on accurate Information.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Calculate the Risk.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Select an action.</a:t>
            </a:r>
          </a:p>
        </p:txBody>
      </p:sp>
    </p:spTree>
    <p:extLst>
      <p:ext uri="{BB962C8B-B14F-4D97-AF65-F5344CB8AC3E}">
        <p14:creationId xmlns:p14="http://schemas.microsoft.com/office/powerpoint/2010/main" val="2045269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56268"/>
            <a:ext cx="10515600" cy="1325563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What not to be done while analyzing ethical dilemma?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90057"/>
            <a:ext cx="10515600" cy="4086906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We cannot prematurely decide on a course of action before: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A) Understanding the situation.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B) Identifying the different ethical models.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We cannot correct previous </a:t>
            </a:r>
            <a:r>
              <a:rPr lang="en-US" dirty="0" err="1" smtClean="0">
                <a:latin typeface="Times New Roman" charset="0"/>
                <a:ea typeface="Times New Roman" charset="0"/>
                <a:cs typeface="Times New Roman" charset="0"/>
              </a:rPr>
              <a:t>behaviours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 or actions.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983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Evaluating the Dilemma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Understanding the most critical Aspect.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Thinking of the framework and justification for the application of the ethical code model.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Identifying and applying code of ethics to a situation that provides aspirational and mandatory guidelines to act.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Clarity achieved due to the code when different aspects of the ethical situation is analyzed with the help of ethical decision making models.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59473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Think Ahead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155371"/>
            <a:ext cx="9982200" cy="402159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Think of various outcomes of the course of action.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Greatest good of people.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Ethical Responsibility to avoid action that can cause harm.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Benefitting the stakeholders.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27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Receive Help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8686" y="2373085"/>
            <a:ext cx="9895114" cy="3803877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Distinguish between receiving help and receiving decisions.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Because receiving help leads to good ethical decision making.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And receiving decisions moves us away from responsibility of decision making.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Securing help means to know what to ask and whom to ask.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56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Information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770" y="2198913"/>
            <a:ext cx="9808029" cy="397804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All the written source of knowledge must be referred for information like literature, laws and regulations etc.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Best practices already performed must be taken into account.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Stay unbiased and open to all information.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11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Calculate Risk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0570" y="2351313"/>
            <a:ext cx="9503229" cy="382564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Expose the liability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Fulfilment of responsibility.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Following rules and avoiding harm.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Revisit the stakeholders exposure to risk.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049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Select an Action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8056" y="1959429"/>
            <a:ext cx="10025743" cy="421753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mtClean="0">
                <a:latin typeface="Times New Roman" charset="0"/>
                <a:ea typeface="Times New Roman" charset="0"/>
                <a:cs typeface="Times New Roman" charset="0"/>
              </a:rPr>
              <a:t>Most Ethical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A</a:t>
            </a:r>
            <a:r>
              <a:rPr lang="en-US" smtClean="0">
                <a:latin typeface="Times New Roman" charset="0"/>
                <a:ea typeface="Times New Roman" charset="0"/>
                <a:cs typeface="Times New Roman" charset="0"/>
              </a:rPr>
              <a:t>ction </a:t>
            </a: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must be chosen.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Least Unethical Action.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Decision must be logically followed.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No premature decision must be made.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55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446</Words>
  <Application>Microsoft Macintosh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Calibri Light</vt:lpstr>
      <vt:lpstr>Times New Roman</vt:lpstr>
      <vt:lpstr>Arial</vt:lpstr>
      <vt:lpstr>Office Theme</vt:lpstr>
      <vt:lpstr>Lecture 8  MCA and Biotechnology </vt:lpstr>
      <vt:lpstr>What is Ethical Decision Making?</vt:lpstr>
      <vt:lpstr>What is Ethical Dilemma?</vt:lpstr>
      <vt:lpstr>How to solve the ED?</vt:lpstr>
      <vt:lpstr>What not to be done while analyzing ethical dilemma?</vt:lpstr>
      <vt:lpstr>Evaluating the Dilemma</vt:lpstr>
      <vt:lpstr>Think Ahead</vt:lpstr>
      <vt:lpstr>Receive Help</vt:lpstr>
      <vt:lpstr>Information</vt:lpstr>
      <vt:lpstr>Calculate Risk</vt:lpstr>
      <vt:lpstr>Select an Action</vt:lpstr>
    </vt:vector>
  </TitlesOfParts>
  <Company/>
  <LinksUpToDate>false</LinksUpToDate>
  <SharedDoc>false</SharedDoc>
  <HyperlinksChanged>false</HyperlinksChanged>
  <AppVersion>15.0026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8 MCA</dc:title>
  <dc:creator>Microsoft Office User</dc:creator>
  <cp:lastModifiedBy>Microsoft Office User</cp:lastModifiedBy>
  <cp:revision>6</cp:revision>
  <dcterms:created xsi:type="dcterms:W3CDTF">2023-10-06T07:57:09Z</dcterms:created>
  <dcterms:modified xsi:type="dcterms:W3CDTF">2023-10-06T10:38:08Z</dcterms:modified>
</cp:coreProperties>
</file>