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59" r:id="rId6"/>
    <p:sldId id="265" r:id="rId7"/>
    <p:sldId id="269" r:id="rId8"/>
    <p:sldId id="266" r:id="rId9"/>
    <p:sldId id="267" r:id="rId10"/>
    <p:sldId id="268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715"/>
  </p:normalViewPr>
  <p:slideViewPr>
    <p:cSldViewPr snapToGrid="0" snapToObjects="1">
      <p:cViewPr varScale="1">
        <p:scale>
          <a:sx n="122" d="100"/>
          <a:sy n="122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0B7EC-BF97-014B-8D26-DBDFA2795829}" type="datetimeFigureOut">
              <a:rPr lang="en-US" smtClean="0"/>
              <a:t>11/3/23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C17D7-E1D8-8541-BC3D-044C210C2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24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C17D7-E1D8-8541-BC3D-044C210C23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25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C17D7-E1D8-8541-BC3D-044C210C234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73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C17D7-E1D8-8541-BC3D-044C210C234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12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1E759-AFF2-1B4C-9039-5EE3DA4AD134}" type="datetimeFigureOut">
              <a:rPr lang="en-US" smtClean="0"/>
              <a:t>11/3/23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4148-25D6-C549-9872-6F32DAD3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5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1E759-AFF2-1B4C-9039-5EE3DA4AD134}" type="datetimeFigureOut">
              <a:rPr lang="en-US" smtClean="0"/>
              <a:t>11/3/23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4148-25D6-C549-9872-6F32DAD3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6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1E759-AFF2-1B4C-9039-5EE3DA4AD134}" type="datetimeFigureOut">
              <a:rPr lang="en-US" smtClean="0"/>
              <a:t>11/3/23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4148-25D6-C549-9872-6F32DAD3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4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1E759-AFF2-1B4C-9039-5EE3DA4AD134}" type="datetimeFigureOut">
              <a:rPr lang="en-US" smtClean="0"/>
              <a:t>11/3/23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4148-25D6-C549-9872-6F32DAD3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57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1E759-AFF2-1B4C-9039-5EE3DA4AD134}" type="datetimeFigureOut">
              <a:rPr lang="en-US" smtClean="0"/>
              <a:t>11/3/23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4148-25D6-C549-9872-6F32DAD3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1E759-AFF2-1B4C-9039-5EE3DA4AD134}" type="datetimeFigureOut">
              <a:rPr lang="en-US" smtClean="0"/>
              <a:t>11/3/23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4148-25D6-C549-9872-6F32DAD3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24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1E759-AFF2-1B4C-9039-5EE3DA4AD134}" type="datetimeFigureOut">
              <a:rPr lang="en-US" smtClean="0"/>
              <a:t>11/3/23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4148-25D6-C549-9872-6F32DAD3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8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1E759-AFF2-1B4C-9039-5EE3DA4AD134}" type="datetimeFigureOut">
              <a:rPr lang="en-US" smtClean="0"/>
              <a:t>11/3/23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4148-25D6-C549-9872-6F32DAD3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9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1E759-AFF2-1B4C-9039-5EE3DA4AD134}" type="datetimeFigureOut">
              <a:rPr lang="en-US" smtClean="0"/>
              <a:t>11/3/23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4148-25D6-C549-9872-6F32DAD3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76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1E759-AFF2-1B4C-9039-5EE3DA4AD134}" type="datetimeFigureOut">
              <a:rPr lang="en-US" smtClean="0"/>
              <a:t>11/3/23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4148-25D6-C549-9872-6F32DAD3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4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1E759-AFF2-1B4C-9039-5EE3DA4AD134}" type="datetimeFigureOut">
              <a:rPr lang="en-US" smtClean="0"/>
              <a:t>11/3/23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4148-25D6-C549-9872-6F32DAD3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0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1E759-AFF2-1B4C-9039-5EE3DA4AD134}" type="datetimeFigureOut">
              <a:rPr lang="en-US" smtClean="0"/>
              <a:t>11/3/23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4148-25D6-C549-9872-6F32DAD32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58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charset="0"/>
                <a:ea typeface="Times New Roman" charset="0"/>
                <a:cs typeface="Times New Roman" charset="0"/>
              </a:rPr>
              <a:t>Deontology and Virtue Theory</a:t>
            </a:r>
            <a:endParaRPr lang="en-US" sz="48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220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Times New Roman" charset="0"/>
                <a:ea typeface="Times New Roman" charset="0"/>
                <a:cs typeface="Times New Roman" charset="0"/>
              </a:rPr>
              <a:t>Deontology</a:t>
            </a:r>
            <a:endParaRPr lang="en-US" sz="36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7269" y="1825625"/>
            <a:ext cx="8965324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charset="0"/>
                <a:ea typeface="Times New Roman" charset="0"/>
                <a:cs typeface="Times New Roman" charset="0"/>
              </a:rPr>
              <a:t>D</a:t>
            </a:r>
            <a:r>
              <a:rPr lang="en-US" sz="2000" b="1" dirty="0" smtClean="0">
                <a:latin typeface="Times New Roman" charset="0"/>
                <a:ea typeface="Times New Roman" charset="0"/>
                <a:cs typeface="Times New Roman" charset="0"/>
              </a:rPr>
              <a:t>eontology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 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(Greek term obligation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, 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duty) 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is the 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Normative theory.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Normative Theory: An 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action should be based on 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right 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or wrong under a series of rules and principles, rather than based on the consequences of the 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action (Non-Consequentialist).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 </a:t>
            </a:r>
            <a:endParaRPr lang="en-US" sz="20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The 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term </a:t>
            </a:r>
            <a:r>
              <a:rPr lang="en-US" sz="2000" i="1" dirty="0">
                <a:latin typeface="Times New Roman" charset="0"/>
                <a:ea typeface="Times New Roman" charset="0"/>
                <a:cs typeface="Times New Roman" charset="0"/>
              </a:rPr>
              <a:t>deontological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 was first used to describe the current, 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specialized 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definition by C. D. Broad in his 1930 book, </a:t>
            </a:r>
            <a:r>
              <a:rPr lang="en-US" sz="2000" i="1" dirty="0">
                <a:latin typeface="Times New Roman" charset="0"/>
                <a:ea typeface="Times New Roman" charset="0"/>
                <a:cs typeface="Times New Roman" charset="0"/>
              </a:rPr>
              <a:t>Five Types of Ethical </a:t>
            </a:r>
            <a:r>
              <a:rPr lang="en-US" sz="2000" i="1" dirty="0" smtClean="0">
                <a:latin typeface="Times New Roman" charset="0"/>
                <a:ea typeface="Times New Roman" charset="0"/>
                <a:cs typeface="Times New Roman" charset="0"/>
              </a:rPr>
              <a:t>Theory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000" baseline="30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42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131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Kantianism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56745"/>
            <a:ext cx="10515600" cy="5696608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Immanuel Kant’s theory 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of 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deontological ethics: First, Dutiful Act. Second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, 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consequences 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of actions 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do not 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make them right or wrong, but the motives of the person who carries out the action.</a:t>
            </a:r>
          </a:p>
          <a:p>
            <a:pPr algn="just">
              <a:lnSpc>
                <a:spcPct val="170000"/>
              </a:lnSpc>
            </a:pP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Highest good must 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be both </a:t>
            </a:r>
            <a:r>
              <a:rPr lang="en-US" sz="2000" b="1" dirty="0">
                <a:latin typeface="Times New Roman" charset="0"/>
                <a:ea typeface="Times New Roman" charset="0"/>
                <a:cs typeface="Times New Roman" charset="0"/>
              </a:rPr>
              <a:t>good in itself 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i.e., is intrinsically good 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and </a:t>
            </a:r>
            <a:r>
              <a:rPr lang="en-US" sz="2000" b="1" dirty="0">
                <a:latin typeface="Times New Roman" charset="0"/>
                <a:ea typeface="Times New Roman" charset="0"/>
                <a:cs typeface="Times New Roman" charset="0"/>
              </a:rPr>
              <a:t>good without </a:t>
            </a:r>
            <a:r>
              <a:rPr lang="en-US" sz="2000" b="1" dirty="0" smtClean="0">
                <a:latin typeface="Times New Roman" charset="0"/>
                <a:ea typeface="Times New Roman" charset="0"/>
                <a:cs typeface="Times New Roman" charset="0"/>
              </a:rPr>
              <a:t>qualification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 and 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is 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“good 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without 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qualification” 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when the addition of that thing never makes a situation ethically worse. </a:t>
            </a:r>
            <a:endParaRPr lang="en-US" sz="20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algn="just">
              <a:lnSpc>
                <a:spcPct val="170000"/>
              </a:lnSpc>
            </a:pP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Pleasure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, 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for example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, appears not to be good without qualification, because when people take pleasure in watching someone suffer, this seems to make the situation ethically worse. </a:t>
            </a:r>
            <a:endParaRPr lang="en-US" sz="20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here </a:t>
            </a: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is only one thing that is truly 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good: </a:t>
            </a:r>
            <a:r>
              <a:rPr lang="en-US" sz="2000" dirty="0" smtClean="0">
                <a:effectLst/>
                <a:latin typeface="Times New Roman" charset="0"/>
                <a:ea typeface="Times New Roman" charset="0"/>
                <a:cs typeface="Times New Roman" charset="0"/>
              </a:rPr>
              <a:t>Nothing in the world—indeed nothing even beyond the world—can possibly be conceived which could be called good without qualification except a </a:t>
            </a:r>
            <a:r>
              <a:rPr lang="en-US" sz="2000" i="1" dirty="0" smtClean="0">
                <a:effectLst/>
                <a:latin typeface="Times New Roman" charset="0"/>
                <a:ea typeface="Times New Roman" charset="0"/>
                <a:cs typeface="Times New Roman" charset="0"/>
              </a:rPr>
              <a:t>good will</a:t>
            </a:r>
            <a:r>
              <a:rPr lang="en-US" sz="2000" dirty="0" smtClean="0">
                <a:effectLst/>
                <a:latin typeface="Times New Roman" charset="0"/>
                <a:ea typeface="Times New Roman" charset="0"/>
                <a:cs typeface="Times New Roman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71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717"/>
            <a:ext cx="10515600" cy="6358759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1800" dirty="0" smtClean="0">
                <a:latin typeface="Times New Roman" charset="0"/>
                <a:ea typeface="Times New Roman" charset="0"/>
                <a:cs typeface="Times New Roman" charset="0"/>
              </a:rPr>
              <a:t>Kant then argues that the consequences of an act of willing cannot be used to determine that the person has a good will; good consequences could arise by accident from an action that was motivated by a desire to cause harm to an innocent person, and bad consequences could arise from an action that was well-motivated. Instead, he claims, a person has a good will when he "acts out of respect for the moral law.”</a:t>
            </a:r>
            <a:endParaRPr lang="en-US" sz="1800" baseline="300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algn="just">
              <a:lnSpc>
                <a:spcPct val="170000"/>
              </a:lnSpc>
            </a:pPr>
            <a:r>
              <a:rPr lang="en-US" sz="1800" dirty="0" smtClean="0">
                <a:latin typeface="Times New Roman" charset="0"/>
                <a:ea typeface="Times New Roman" charset="0"/>
                <a:cs typeface="Times New Roman" charset="0"/>
              </a:rPr>
              <a:t>Kant's three significant formulations of the </a:t>
            </a:r>
            <a:r>
              <a:rPr lang="en-US" sz="2000" b="1" dirty="0" smtClean="0">
                <a:latin typeface="Times New Roman" charset="0"/>
                <a:ea typeface="Times New Roman" charset="0"/>
                <a:cs typeface="Times New Roman" charset="0"/>
              </a:rPr>
              <a:t>Categorical Imperative</a:t>
            </a:r>
            <a:r>
              <a:rPr lang="en-US" sz="1800" dirty="0" smtClean="0">
                <a:latin typeface="Times New Roman" charset="0"/>
                <a:ea typeface="Times New Roman" charset="0"/>
                <a:cs typeface="Times New Roman" charset="0"/>
              </a:rPr>
              <a:t> are:</a:t>
            </a:r>
          </a:p>
          <a:p>
            <a:pPr algn="just">
              <a:lnSpc>
                <a:spcPct val="170000"/>
              </a:lnSpc>
            </a:pPr>
            <a:r>
              <a:rPr lang="en-US" sz="1800" dirty="0" smtClean="0">
                <a:latin typeface="Times New Roman" charset="0"/>
                <a:ea typeface="Times New Roman" charset="0"/>
                <a:cs typeface="Times New Roman" charset="0"/>
              </a:rPr>
              <a:t>Act only according to that maxim by which you can also will that it would become a </a:t>
            </a:r>
            <a:r>
              <a:rPr lang="en-US" sz="1800" b="1" dirty="0" smtClean="0">
                <a:latin typeface="Times New Roman" charset="0"/>
                <a:ea typeface="Times New Roman" charset="0"/>
                <a:cs typeface="Times New Roman" charset="0"/>
              </a:rPr>
              <a:t>universal law</a:t>
            </a:r>
            <a:r>
              <a:rPr lang="en-US" sz="1800" dirty="0" smtClean="0">
                <a:latin typeface="Times New Roman" charset="0"/>
                <a:ea typeface="Times New Roman" charset="0"/>
                <a:cs typeface="Times New Roman" charset="0"/>
              </a:rPr>
              <a:t>;</a:t>
            </a:r>
          </a:p>
          <a:p>
            <a:pPr algn="just">
              <a:lnSpc>
                <a:spcPct val="170000"/>
              </a:lnSpc>
            </a:pPr>
            <a:r>
              <a:rPr lang="en-US" sz="1800" dirty="0" smtClean="0">
                <a:latin typeface="Times New Roman" charset="0"/>
                <a:ea typeface="Times New Roman" charset="0"/>
                <a:cs typeface="Times New Roman" charset="0"/>
              </a:rPr>
              <a:t>Act in such a way that you always treat humanity, whether in your own person or in the person of any other, </a:t>
            </a:r>
            <a:r>
              <a:rPr lang="en-US" sz="1800" b="1" dirty="0" smtClean="0">
                <a:latin typeface="Times New Roman" charset="0"/>
                <a:ea typeface="Times New Roman" charset="0"/>
                <a:cs typeface="Times New Roman" charset="0"/>
              </a:rPr>
              <a:t>never simply as a means, but always at the same time as an end</a:t>
            </a:r>
            <a:r>
              <a:rPr lang="en-US" sz="1800" dirty="0" smtClean="0">
                <a:latin typeface="Times New Roman" charset="0"/>
                <a:ea typeface="Times New Roman" charset="0"/>
                <a:cs typeface="Times New Roman" charset="0"/>
              </a:rPr>
              <a:t>; and</a:t>
            </a:r>
          </a:p>
          <a:p>
            <a:pPr algn="just">
              <a:lnSpc>
                <a:spcPct val="170000"/>
              </a:lnSpc>
            </a:pPr>
            <a:r>
              <a:rPr lang="en-US" sz="1800" dirty="0" smtClean="0">
                <a:latin typeface="Times New Roman" charset="0"/>
                <a:ea typeface="Times New Roman" charset="0"/>
                <a:cs typeface="Times New Roman" charset="0"/>
              </a:rPr>
              <a:t>Kant argued that the only </a:t>
            </a:r>
            <a:r>
              <a:rPr lang="en-US" sz="1800" b="1" dirty="0" smtClean="0">
                <a:latin typeface="Times New Roman" charset="0"/>
                <a:ea typeface="Times New Roman" charset="0"/>
                <a:cs typeface="Times New Roman" charset="0"/>
              </a:rPr>
              <a:t>absolutely good </a:t>
            </a:r>
            <a:r>
              <a:rPr lang="en-US" sz="1800" b="1" dirty="0" smtClean="0">
                <a:latin typeface="Times New Roman" charset="0"/>
                <a:ea typeface="Times New Roman" charset="0"/>
                <a:cs typeface="Times New Roman" charset="0"/>
              </a:rPr>
              <a:t>thing is a good will</a:t>
            </a:r>
            <a:r>
              <a:rPr lang="en-US" sz="1800" dirty="0" smtClean="0">
                <a:latin typeface="Times New Roman" charset="0"/>
                <a:ea typeface="Times New Roman" charset="0"/>
                <a:cs typeface="Times New Roman" charset="0"/>
              </a:rPr>
              <a:t>, and so the single determining factor of whether an action is morally right is the will, or motive of the person doing it. If they are acting on a bad maxim, e.g. 'I will lie', then their action is wrong, even if some good consequences come of it.</a:t>
            </a:r>
          </a:p>
        </p:txBody>
      </p:sp>
    </p:spTree>
    <p:extLst>
      <p:ext uri="{BB962C8B-B14F-4D97-AF65-F5344CB8AC3E}">
        <p14:creationId xmlns:p14="http://schemas.microsoft.com/office/powerpoint/2010/main" val="406784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1131"/>
            <a:ext cx="10515600" cy="104955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dirty="0">
                <a:latin typeface="Times New Roman" charset="0"/>
                <a:ea typeface="Times New Roman" charset="0"/>
                <a:cs typeface="Times New Roman" charset="0"/>
              </a:rPr>
              <a:t>Divine command </a:t>
            </a:r>
            <a:r>
              <a:rPr lang="en-US" sz="2700" dirty="0" smtClean="0">
                <a:latin typeface="Times New Roman" charset="0"/>
                <a:ea typeface="Times New Roman" charset="0"/>
                <a:cs typeface="Times New Roman" charset="0"/>
              </a:rPr>
              <a:t>theory and </a:t>
            </a:r>
            <a:r>
              <a:rPr lang="en-US" sz="2700" dirty="0">
                <a:latin typeface="Times New Roman" charset="0"/>
                <a:ea typeface="Times New Roman" charset="0"/>
                <a:cs typeface="Times New Roman" charset="0"/>
              </a:rPr>
              <a:t>D</a:t>
            </a:r>
            <a:r>
              <a:rPr lang="en-US" sz="2700" dirty="0" smtClean="0">
                <a:latin typeface="Times New Roman" charset="0"/>
                <a:ea typeface="Times New Roman" charset="0"/>
                <a:cs typeface="Times New Roman" charset="0"/>
              </a:rPr>
              <a:t>eontological pluralism, </a:t>
            </a:r>
            <a:br>
              <a:rPr lang="en-US" sz="2700" dirty="0" smtClean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sz="3600" dirty="0">
                <a:latin typeface="Times New Roman" charset="0"/>
                <a:ea typeface="Times New Roman" charset="0"/>
                <a:cs typeface="Times New Roman" charset="0"/>
              </a:rPr>
              <a:t/>
            </a:r>
            <a:br>
              <a:rPr lang="en-US" sz="3600" dirty="0">
                <a:latin typeface="Times New Roman" charset="0"/>
                <a:ea typeface="Times New Roman" charset="0"/>
                <a:cs typeface="Times New Roman" charset="0"/>
              </a:rPr>
            </a:br>
            <a:endParaRPr lang="en-US" sz="36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2469"/>
            <a:ext cx="10515600" cy="5171090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he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 </a:t>
            </a:r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divine command </a:t>
            </a:r>
            <a:r>
              <a:rPr lang="en-US" i="1" dirty="0" smtClean="0">
                <a:latin typeface="Times New Roman" charset="0"/>
                <a:ea typeface="Times New Roman" charset="0"/>
                <a:cs typeface="Times New Roman" charset="0"/>
              </a:rPr>
              <a:t>theory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: states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that an action is right if 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God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 has decreed that it is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right like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 René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Descartes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believed that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moral obligations arise from God's commands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Deontological Pluralism of W.D. Ross: Plural ground for duties like: Duties originating from past actions, like the </a:t>
            </a:r>
            <a:r>
              <a:rPr lang="en-US" i="1" dirty="0" smtClean="0">
                <a:latin typeface="Times New Roman" charset="0"/>
                <a:ea typeface="Times New Roman" charset="0"/>
                <a:cs typeface="Times New Roman" charset="0"/>
              </a:rPr>
              <a:t>duty of fidelity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 (to keep promises and to tell the truth), </a:t>
            </a:r>
          </a:p>
          <a:p>
            <a:pPr algn="just">
              <a:lnSpc>
                <a:spcPct val="16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he </a:t>
            </a:r>
            <a:r>
              <a:rPr lang="en-US" i="1" dirty="0" smtClean="0">
                <a:latin typeface="Times New Roman" charset="0"/>
                <a:ea typeface="Times New Roman" charset="0"/>
                <a:cs typeface="Times New Roman" charset="0"/>
              </a:rPr>
              <a:t>duty of reparation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 (to make amends for wrongful acts). </a:t>
            </a:r>
          </a:p>
          <a:p>
            <a:pPr algn="just">
              <a:lnSpc>
                <a:spcPct val="16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The </a:t>
            </a:r>
            <a:r>
              <a:rPr lang="en-US" i="1" dirty="0" smtClean="0">
                <a:latin typeface="Times New Roman" charset="0"/>
                <a:ea typeface="Times New Roman" charset="0"/>
                <a:cs typeface="Times New Roman" charset="0"/>
              </a:rPr>
              <a:t>duty of gratitude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 (to return kindnesses received) arises from the actions of others. </a:t>
            </a:r>
          </a:p>
          <a:p>
            <a:pPr algn="just">
              <a:lnSpc>
                <a:spcPct val="16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he </a:t>
            </a:r>
            <a:r>
              <a:rPr lang="en-US" i="1" dirty="0" smtClean="0">
                <a:latin typeface="Times New Roman" charset="0"/>
                <a:ea typeface="Times New Roman" charset="0"/>
                <a:cs typeface="Times New Roman" charset="0"/>
              </a:rPr>
              <a:t>duty of non-injury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 (not to hurt others), </a:t>
            </a:r>
          </a:p>
          <a:p>
            <a:pPr algn="just">
              <a:lnSpc>
                <a:spcPct val="16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he </a:t>
            </a:r>
            <a:r>
              <a:rPr lang="en-US" i="1" dirty="0" smtClean="0">
                <a:latin typeface="Times New Roman" charset="0"/>
                <a:ea typeface="Times New Roman" charset="0"/>
                <a:cs typeface="Times New Roman" charset="0"/>
              </a:rPr>
              <a:t>duty of beneficence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 (to promote the maximum of aggregate good), </a:t>
            </a:r>
          </a:p>
          <a:p>
            <a:pPr algn="just">
              <a:lnSpc>
                <a:spcPct val="16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he </a:t>
            </a:r>
            <a:r>
              <a:rPr lang="en-US" i="1" dirty="0" smtClean="0">
                <a:latin typeface="Times New Roman" charset="0"/>
                <a:ea typeface="Times New Roman" charset="0"/>
                <a:cs typeface="Times New Roman" charset="0"/>
              </a:rPr>
              <a:t>duty of self-improvement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 (to improve one's own condition) and </a:t>
            </a:r>
          </a:p>
          <a:p>
            <a:pPr algn="just">
              <a:lnSpc>
                <a:spcPct val="160000"/>
              </a:lnSpc>
            </a:pP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he </a:t>
            </a:r>
            <a:r>
              <a:rPr lang="en-US" i="1" dirty="0" smtClean="0">
                <a:latin typeface="Times New Roman" charset="0"/>
                <a:ea typeface="Times New Roman" charset="0"/>
                <a:cs typeface="Times New Roman" charset="0"/>
              </a:rPr>
              <a:t>duty of justice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 (to distribute benefits and burdens equably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98570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67255"/>
            <a:ext cx="10515600" cy="540970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roblem  with the deontological pluralist: cases can arise where the demands of one duty violate another duty creating moral dilemmas.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For example, there are cases where it is necessary to break a promise in order to relieve someone's distress.</a:t>
            </a:r>
            <a:r>
              <a:rPr lang="en-US" sz="2000" baseline="30000" dirty="0" smtClean="0">
                <a:latin typeface="Times New Roman" charset="0"/>
                <a:ea typeface="Times New Roman" charset="0"/>
                <a:cs typeface="Times New Roman" charset="0"/>
              </a:rPr>
              <a:t> 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 Ross makes use of the distinction between </a:t>
            </a:r>
            <a:r>
              <a:rPr lang="en-US" sz="2000" i="1" dirty="0" smtClean="0">
                <a:latin typeface="Times New Roman" charset="0"/>
                <a:ea typeface="Times New Roman" charset="0"/>
                <a:cs typeface="Times New Roman" charset="0"/>
              </a:rPr>
              <a:t>prima facie duties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 and </a:t>
            </a:r>
            <a:r>
              <a:rPr lang="en-US" sz="2000" i="1" dirty="0" smtClean="0">
                <a:latin typeface="Times New Roman" charset="0"/>
                <a:ea typeface="Times New Roman" charset="0"/>
                <a:cs typeface="Times New Roman" charset="0"/>
              </a:rPr>
              <a:t>absolute duty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 to solve this problem.</a:t>
            </a:r>
            <a:r>
              <a:rPr lang="en-US" sz="2000" baseline="300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Ross solves the problem by differentiating between: </a:t>
            </a:r>
            <a:r>
              <a:rPr lang="en-US" sz="2000" i="1" dirty="0" smtClean="0">
                <a:latin typeface="Times New Roman" charset="0"/>
                <a:ea typeface="Times New Roman" charset="0"/>
                <a:cs typeface="Times New Roman" charset="0"/>
              </a:rPr>
              <a:t>prima facie duties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; they are general principles whose validity is self-evident to morally mature persons. 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And </a:t>
            </a:r>
            <a:r>
              <a:rPr lang="en-US" sz="2000" i="1" dirty="0" smtClean="0">
                <a:latin typeface="Times New Roman" charset="0"/>
                <a:ea typeface="Times New Roman" charset="0"/>
                <a:cs typeface="Times New Roman" charset="0"/>
              </a:rPr>
              <a:t>Absolute duty</a:t>
            </a:r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, on the other hand, is particular to one specific situation, taking everything into account, and has to be judged on a case-by-case basis. </a:t>
            </a:r>
            <a:endParaRPr 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320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Times New Roman" charset="0"/>
                <a:ea typeface="Times New Roman" charset="0"/>
                <a:cs typeface="Times New Roman" charset="0"/>
              </a:rPr>
              <a:t>Limitations of Deontology</a:t>
            </a:r>
            <a:endParaRPr lang="en-US" sz="36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3090" y="1825625"/>
            <a:ext cx="9230710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Does not focus on consequence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Does not consider feelings and emotions.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It works distinctively on ethical standards and law.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671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0753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smtClean="0">
                <a:latin typeface="Times New Roman" charset="0"/>
                <a:ea typeface="Times New Roman" charset="0"/>
                <a:cs typeface="Times New Roman" charset="0"/>
              </a:rPr>
              <a:t>Virtue Theory</a:t>
            </a:r>
            <a:endParaRPr lang="en-US" sz="32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1941"/>
            <a:ext cx="10515600" cy="5237327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Virtue is a Greek work “</a:t>
            </a: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arete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” which means “excellence.” 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Aristotle and Plato has discussed various virtues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It emphasizes on the role of one’s character.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And the virtues that one’s character embodies for determining ethical behaviour.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Virtues are disposition and qualities of doing what is right and avoiding what is wrong.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It is agent centered i.e., the character of human beings.</a:t>
            </a:r>
          </a:p>
          <a:p>
            <a:pPr algn="just">
              <a:lnSpc>
                <a:spcPct val="170000"/>
              </a:lnSpc>
            </a:pP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Phronesis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is an acquired quality to identify the best thing to do in a given situation.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Eudaimonia is a state of happiness in an objective sense i.e., well lived life.</a:t>
            </a:r>
          </a:p>
        </p:txBody>
      </p:sp>
    </p:spTree>
    <p:extLst>
      <p:ext uri="{BB962C8B-B14F-4D97-AF65-F5344CB8AC3E}">
        <p14:creationId xmlns:p14="http://schemas.microsoft.com/office/powerpoint/2010/main" val="1074079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lang="en-US" sz="4000" dirty="0" smtClean="0">
                <a:latin typeface="Times New Roman" charset="0"/>
                <a:ea typeface="Times New Roman" charset="0"/>
                <a:cs typeface="Times New Roman" charset="0"/>
              </a:rPr>
              <a:t>ajor values of virtue ethics</a:t>
            </a:r>
            <a:endParaRPr lang="en-US" sz="4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Four major moral values: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1. Prudence- the practical wisdom in living life through experience and reflection.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2) Temperance- Appropriateness  or discipline in the use of passions and desires.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3) Fortitude- Courage to overcome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o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bstacles.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4) Justice- Fairness and Equality in dealing with others.</a:t>
            </a:r>
          </a:p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Theological Virtues are Faith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,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Hope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and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Love.</a:t>
            </a:r>
          </a:p>
          <a:p>
            <a:pPr algn="just">
              <a:lnSpc>
                <a:spcPct val="170000"/>
              </a:lnSpc>
            </a:pPr>
            <a:endParaRPr lang="en-US" dirty="0" smtClean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26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Times New Roman" charset="0"/>
                <a:ea typeface="Times New Roman" charset="0"/>
                <a:cs typeface="Times New Roman" charset="0"/>
              </a:rPr>
              <a:t>Limitations of Virtue Theory</a:t>
            </a:r>
            <a:endParaRPr lang="en-US" sz="32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9007" y="1825625"/>
            <a:ext cx="8713076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It cannot 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produce action-guiding moral prescriptions, that they cannot provide grounds for justified moral beliefs, and that they lack </a:t>
            </a:r>
            <a:r>
              <a:rPr lang="en-US" sz="2400" dirty="0" err="1" smtClean="0">
                <a:latin typeface="Times New Roman" charset="0"/>
                <a:ea typeface="Times New Roman" charset="0"/>
                <a:cs typeface="Times New Roman" charset="0"/>
              </a:rPr>
              <a:t>codifiability</a:t>
            </a: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No single &amp; definitive answer to what the virtues are, they are time-changing</a:t>
            </a: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Utopian framework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0977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Times New Roman" charset="0"/>
                <a:ea typeface="Times New Roman" charset="0"/>
                <a:cs typeface="Times New Roman" charset="0"/>
              </a:rPr>
              <a:t>Risk-Benefit Analysis</a:t>
            </a:r>
            <a:endParaRPr lang="en-US" sz="36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9006" y="1825625"/>
            <a:ext cx="9314793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Risks and Benefits involved in a situation.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Real Future Risk  dependent on real circumstances.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Statistical Risk dependent on available data.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Projected Risk based on historical studies.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Perceived Risk based on intuition of an individual.</a:t>
            </a:r>
            <a:endParaRPr 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413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566</Words>
  <Application>Microsoft Macintosh PowerPoint</Application>
  <PresentationFormat>Widescreen</PresentationFormat>
  <Paragraphs>61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Calibri Light</vt:lpstr>
      <vt:lpstr>Times New Roman</vt:lpstr>
      <vt:lpstr>Arial</vt:lpstr>
      <vt:lpstr>Office Theme</vt:lpstr>
      <vt:lpstr>Deontology and Virtue Theory</vt:lpstr>
      <vt:lpstr>Deontology</vt:lpstr>
      <vt:lpstr>Kantianism </vt:lpstr>
      <vt:lpstr>PowerPoint Presentation</vt:lpstr>
      <vt:lpstr>Divine command theory and Deontological pluralism,   </vt:lpstr>
      <vt:lpstr>PowerPoint Presentation</vt:lpstr>
      <vt:lpstr>Limitations of Deontology</vt:lpstr>
      <vt:lpstr>Virtue Theory</vt:lpstr>
      <vt:lpstr>Major values of virtue ethics</vt:lpstr>
      <vt:lpstr>Limitations of Virtue Theory</vt:lpstr>
      <vt:lpstr>Risk-Benefit Analysis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9</cp:revision>
  <dcterms:created xsi:type="dcterms:W3CDTF">2023-11-03T10:19:46Z</dcterms:created>
  <dcterms:modified xsi:type="dcterms:W3CDTF">2023-11-03T12:20:27Z</dcterms:modified>
</cp:coreProperties>
</file>