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62" r:id="rId5"/>
    <p:sldId id="258" r:id="rId6"/>
    <p:sldId id="270" r:id="rId7"/>
    <p:sldId id="271" r:id="rId8"/>
    <p:sldId id="259" r:id="rId9"/>
    <p:sldId id="260" r:id="rId10"/>
    <p:sldId id="269"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67"/>
    <p:restoredTop sz="94697"/>
  </p:normalViewPr>
  <p:slideViewPr>
    <p:cSldViewPr snapToGrid="0" snapToObjects="1">
      <p:cViewPr varScale="1">
        <p:scale>
          <a:sx n="62" d="100"/>
          <a:sy n="62" d="100"/>
        </p:scale>
        <p:origin x="200" y="1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9AE906-BEA7-6446-A7C0-7441C61D2A4F}" type="datetimeFigureOut">
              <a:rPr lang="en-US" smtClean="0"/>
              <a:t>8/27/23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2097799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9AE906-BEA7-6446-A7C0-7441C61D2A4F}" type="datetimeFigureOut">
              <a:rPr lang="en-US" smtClean="0"/>
              <a:t>8/27/23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2019653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9AE906-BEA7-6446-A7C0-7441C61D2A4F}" type="datetimeFigureOut">
              <a:rPr lang="en-US" smtClean="0"/>
              <a:t>8/27/23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55639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9AE906-BEA7-6446-A7C0-7441C61D2A4F}" type="datetimeFigureOut">
              <a:rPr lang="en-US" smtClean="0"/>
              <a:t>8/27/23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140612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9AE906-BEA7-6446-A7C0-7441C61D2A4F}" type="datetimeFigureOut">
              <a:rPr lang="en-US" smtClean="0"/>
              <a:t>8/27/23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831153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9AE906-BEA7-6446-A7C0-7441C61D2A4F}" type="datetimeFigureOut">
              <a:rPr lang="en-US" smtClean="0"/>
              <a:t>8/27/23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608225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9AE906-BEA7-6446-A7C0-7441C61D2A4F}" type="datetimeFigureOut">
              <a:rPr lang="en-US" smtClean="0"/>
              <a:t>8/27/23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4176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9AE906-BEA7-6446-A7C0-7441C61D2A4F}" type="datetimeFigureOut">
              <a:rPr lang="en-US" smtClean="0"/>
              <a:t>8/27/23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47726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9AE906-BEA7-6446-A7C0-7441C61D2A4F}" type="datetimeFigureOut">
              <a:rPr lang="en-US" smtClean="0"/>
              <a:t>8/27/23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261822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9AE906-BEA7-6446-A7C0-7441C61D2A4F}" type="datetimeFigureOut">
              <a:rPr lang="en-US" smtClean="0"/>
              <a:t>8/27/23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051424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9AE906-BEA7-6446-A7C0-7441C61D2A4F}" type="datetimeFigureOut">
              <a:rPr lang="en-US" smtClean="0"/>
              <a:t>8/27/23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BDD0F7-CF5D-E249-A836-0BBAEF32FD57}" type="slidenum">
              <a:rPr lang="en-US" smtClean="0"/>
              <a:t>‹#›</a:t>
            </a:fld>
            <a:endParaRPr lang="en-US"/>
          </a:p>
        </p:txBody>
      </p:sp>
    </p:spTree>
    <p:extLst>
      <p:ext uri="{BB962C8B-B14F-4D97-AF65-F5344CB8AC3E}">
        <p14:creationId xmlns:p14="http://schemas.microsoft.com/office/powerpoint/2010/main" val="178898100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9AE906-BEA7-6446-A7C0-7441C61D2A4F}" type="datetimeFigureOut">
              <a:rPr lang="en-US" smtClean="0"/>
              <a:t>8/27/23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DD0F7-CF5D-E249-A836-0BBAEF32FD57}" type="slidenum">
              <a:rPr lang="en-US" smtClean="0"/>
              <a:t>‹#›</a:t>
            </a:fld>
            <a:endParaRPr lang="en-US"/>
          </a:p>
        </p:txBody>
      </p:sp>
    </p:spTree>
    <p:extLst>
      <p:ext uri="{BB962C8B-B14F-4D97-AF65-F5344CB8AC3E}">
        <p14:creationId xmlns:p14="http://schemas.microsoft.com/office/powerpoint/2010/main" val="1510786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7" y="1122363"/>
            <a:ext cx="9840684" cy="2387600"/>
          </a:xfrm>
        </p:spPr>
        <p:txBody>
          <a:bodyPr>
            <a:normAutofit/>
          </a:bodyPr>
          <a:lstStyle/>
          <a:p>
            <a:r>
              <a:rPr lang="en-US" sz="4400" b="1" dirty="0" smtClean="0">
                <a:latin typeface="Times New Roman" charset="0"/>
                <a:ea typeface="Times New Roman" charset="0"/>
                <a:cs typeface="Times New Roman" charset="0"/>
              </a:rPr>
              <a:t>Human Values and Professional Ethics</a:t>
            </a:r>
            <a:endParaRPr lang="en-US" sz="4400" b="1" dirty="0">
              <a:latin typeface="Times New Roman" charset="0"/>
              <a:ea typeface="Times New Roman" charset="0"/>
              <a:cs typeface="Times New Roman" charset="0"/>
            </a:endParaRPr>
          </a:p>
        </p:txBody>
      </p:sp>
      <p:sp>
        <p:nvSpPr>
          <p:cNvPr id="3" name="Subtitle 2"/>
          <p:cNvSpPr>
            <a:spLocks noGrp="1"/>
          </p:cNvSpPr>
          <p:nvPr>
            <p:ph type="subTitle" idx="1"/>
          </p:nvPr>
        </p:nvSpPr>
        <p:spPr/>
        <p:txBody>
          <a:bodyPr>
            <a:normAutofit/>
          </a:bodyPr>
          <a:lstStyle/>
          <a:p>
            <a:r>
              <a:rPr lang="en-US" sz="4000" b="1" dirty="0" smtClean="0">
                <a:latin typeface="Times New Roman" charset="0"/>
                <a:ea typeface="Times New Roman" charset="0"/>
                <a:cs typeface="Times New Roman" charset="0"/>
              </a:rPr>
              <a:t>An </a:t>
            </a:r>
            <a:r>
              <a:rPr lang="en-US" sz="4000" b="1" dirty="0" smtClean="0">
                <a:latin typeface="Times New Roman" charset="0"/>
                <a:ea typeface="Times New Roman" charset="0"/>
                <a:cs typeface="Times New Roman" charset="0"/>
              </a:rPr>
              <a:t>Introduction</a:t>
            </a:r>
          </a:p>
          <a:p>
            <a:r>
              <a:rPr lang="en-US" sz="4000" b="1" dirty="0" smtClean="0">
                <a:latin typeface="Times New Roman" charset="0"/>
                <a:ea typeface="Times New Roman" charset="0"/>
                <a:cs typeface="Times New Roman" charset="0"/>
              </a:rPr>
              <a:t>Lecture 1</a:t>
            </a:r>
            <a:endParaRPr lang="en-US" sz="4000" b="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325579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charset="0"/>
                <a:ea typeface="Times New Roman" charset="0"/>
                <a:cs typeface="Times New Roman" charset="0"/>
              </a:rPr>
              <a:t>What are Values</a:t>
            </a:r>
            <a:r>
              <a:rPr lang="en-US" b="1" dirty="0" smtClean="0">
                <a:latin typeface="Times New Roman" charset="0"/>
                <a:ea typeface="Times New Roman" charset="0"/>
                <a:cs typeface="Times New Roman" charset="0"/>
              </a:rPr>
              <a:t>?</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lstStyle/>
          <a:p>
            <a:pPr>
              <a:lnSpc>
                <a:spcPct val="150000"/>
              </a:lnSpc>
            </a:pPr>
            <a:r>
              <a:rPr lang="en-US" dirty="0">
                <a:latin typeface="Times New Roman" charset="0"/>
                <a:ea typeface="Times New Roman" charset="0"/>
                <a:cs typeface="Times New Roman" charset="0"/>
              </a:rPr>
              <a:t>Value means worth. </a:t>
            </a:r>
            <a:endParaRPr lang="en-US" dirty="0" smtClean="0">
              <a:latin typeface="Times New Roman" charset="0"/>
              <a:ea typeface="Times New Roman" charset="0"/>
              <a:cs typeface="Times New Roman" charset="0"/>
            </a:endParaRPr>
          </a:p>
          <a:p>
            <a:pPr>
              <a:lnSpc>
                <a:spcPct val="150000"/>
              </a:lnSpc>
            </a:pPr>
            <a:r>
              <a:rPr lang="en-US" dirty="0" smtClean="0">
                <a:latin typeface="Times New Roman" charset="0"/>
                <a:ea typeface="Times New Roman" charset="0"/>
                <a:cs typeface="Times New Roman" charset="0"/>
              </a:rPr>
              <a:t>A </a:t>
            </a:r>
            <a:r>
              <a:rPr lang="en-US" dirty="0">
                <a:latin typeface="Times New Roman" charset="0"/>
                <a:ea typeface="Times New Roman" charset="0"/>
                <a:cs typeface="Times New Roman" charset="0"/>
              </a:rPr>
              <a:t>value is a socially acceptable </a:t>
            </a:r>
            <a:r>
              <a:rPr lang="en-US" dirty="0" smtClean="0">
                <a:latin typeface="Times New Roman" charset="0"/>
                <a:ea typeface="Times New Roman" charset="0"/>
                <a:cs typeface="Times New Roman" charset="0"/>
              </a:rPr>
              <a:t>individual beliefs </a:t>
            </a:r>
            <a:r>
              <a:rPr lang="en-US" dirty="0">
                <a:latin typeface="Times New Roman" charset="0"/>
                <a:ea typeface="Times New Roman" charset="0"/>
                <a:cs typeface="Times New Roman" charset="0"/>
              </a:rPr>
              <a:t>of what is important and to what degree.</a:t>
            </a:r>
          </a:p>
          <a:p>
            <a:pPr>
              <a:lnSpc>
                <a:spcPct val="150000"/>
              </a:lnSpc>
            </a:pPr>
            <a:r>
              <a:rPr lang="en-US" dirty="0">
                <a:latin typeface="Times New Roman" charset="0"/>
                <a:ea typeface="Times New Roman" charset="0"/>
                <a:cs typeface="Times New Roman" charset="0"/>
              </a:rPr>
              <a:t>Values define how we treat others in any association. </a:t>
            </a:r>
            <a:endParaRPr lang="en-US" dirty="0" smtClean="0">
              <a:latin typeface="Times New Roman" charset="0"/>
              <a:ea typeface="Times New Roman" charset="0"/>
              <a:cs typeface="Times New Roman" charset="0"/>
            </a:endParaRPr>
          </a:p>
          <a:p>
            <a:pPr>
              <a:lnSpc>
                <a:spcPct val="150000"/>
              </a:lnSpc>
            </a:pPr>
            <a:r>
              <a:rPr lang="en-US" dirty="0" smtClean="0">
                <a:latin typeface="Times New Roman" charset="0"/>
                <a:ea typeface="Times New Roman" charset="0"/>
                <a:cs typeface="Times New Roman" charset="0"/>
              </a:rPr>
              <a:t>The </a:t>
            </a:r>
            <a:r>
              <a:rPr lang="en-US" dirty="0">
                <a:latin typeface="Times New Roman" charset="0"/>
                <a:ea typeface="Times New Roman" charset="0"/>
                <a:cs typeface="Times New Roman" charset="0"/>
              </a:rPr>
              <a:t>effect of good values lasts lifelong in dealing with difficult or unfortunate or adverse situations that come along the way of life. </a:t>
            </a:r>
          </a:p>
          <a:p>
            <a:pPr>
              <a:lnSpc>
                <a:spcPct val="150000"/>
              </a:lnSpc>
            </a:pP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182606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charset="0"/>
                <a:ea typeface="Times New Roman" charset="0"/>
                <a:cs typeface="Times New Roman" charset="0"/>
              </a:rPr>
              <a:t>What are Human Values</a:t>
            </a:r>
            <a:r>
              <a:rPr lang="en-US" b="1" dirty="0" smtClean="0">
                <a:latin typeface="Times New Roman" charset="0"/>
                <a:ea typeface="Times New Roman" charset="0"/>
                <a:cs typeface="Times New Roman" charset="0"/>
              </a:rPr>
              <a:t>?</a:t>
            </a:r>
            <a:endParaRPr lang="en-US" dirty="0"/>
          </a:p>
        </p:txBody>
      </p:sp>
      <p:sp>
        <p:nvSpPr>
          <p:cNvPr id="3" name="Content Placeholder 2"/>
          <p:cNvSpPr>
            <a:spLocks noGrp="1"/>
          </p:cNvSpPr>
          <p:nvPr>
            <p:ph idx="1"/>
          </p:nvPr>
        </p:nvSpPr>
        <p:spPr>
          <a:xfrm>
            <a:off x="838200" y="1825624"/>
            <a:ext cx="10515600" cy="4640490"/>
          </a:xfrm>
        </p:spPr>
        <p:txBody>
          <a:bodyPr>
            <a:normAutofit fontScale="55000" lnSpcReduction="20000"/>
          </a:bodyPr>
          <a:lstStyle/>
          <a:p>
            <a:pPr algn="just">
              <a:lnSpc>
                <a:spcPct val="170000"/>
              </a:lnSpc>
            </a:pPr>
            <a:r>
              <a:rPr lang="en-US" sz="3600" dirty="0">
                <a:latin typeface="Times New Roman" charset="0"/>
                <a:ea typeface="Times New Roman" charset="0"/>
                <a:cs typeface="Times New Roman" charset="0"/>
              </a:rPr>
              <a:t>A human being in his life learns numerous values like sharing and cooperation, equality, social justice, dignity, freedom, secularism, etc. </a:t>
            </a:r>
            <a:endParaRPr lang="en-US" sz="3600" dirty="0" smtClean="0">
              <a:latin typeface="Times New Roman" charset="0"/>
              <a:ea typeface="Times New Roman" charset="0"/>
              <a:cs typeface="Times New Roman" charset="0"/>
            </a:endParaRPr>
          </a:p>
          <a:p>
            <a:pPr algn="just">
              <a:lnSpc>
                <a:spcPct val="170000"/>
              </a:lnSpc>
            </a:pPr>
            <a:r>
              <a:rPr lang="en-US" sz="3600" dirty="0" smtClean="0">
                <a:latin typeface="Times New Roman" charset="0"/>
                <a:ea typeface="Times New Roman" charset="0"/>
                <a:cs typeface="Times New Roman" charset="0"/>
              </a:rPr>
              <a:t>We</a:t>
            </a:r>
            <a:r>
              <a:rPr lang="en-US" sz="3600" dirty="0">
                <a:latin typeface="Times New Roman" charset="0"/>
                <a:ea typeface="Times New Roman" charset="0"/>
                <a:cs typeface="Times New Roman" charset="0"/>
              </a:rPr>
              <a:t>, as humans, are a part of many social organizations like schools, workplaces, markets, businesses, etc. </a:t>
            </a:r>
            <a:endParaRPr lang="en-US" sz="3600" dirty="0" smtClean="0">
              <a:latin typeface="Times New Roman" charset="0"/>
              <a:ea typeface="Times New Roman" charset="0"/>
              <a:cs typeface="Times New Roman" charset="0"/>
            </a:endParaRPr>
          </a:p>
          <a:p>
            <a:pPr algn="just">
              <a:lnSpc>
                <a:spcPct val="170000"/>
              </a:lnSpc>
            </a:pPr>
            <a:r>
              <a:rPr lang="en-US" sz="3600" dirty="0" smtClean="0">
                <a:latin typeface="Times New Roman" charset="0"/>
                <a:ea typeface="Times New Roman" charset="0"/>
                <a:cs typeface="Times New Roman" charset="0"/>
              </a:rPr>
              <a:t>Before </a:t>
            </a:r>
            <a:r>
              <a:rPr lang="en-US" sz="3600" dirty="0">
                <a:latin typeface="Times New Roman" charset="0"/>
                <a:ea typeface="Times New Roman" charset="0"/>
                <a:cs typeface="Times New Roman" charset="0"/>
              </a:rPr>
              <a:t>that, we are a part of an environment formed by nature. Humans ought to abide by environmental values as well. </a:t>
            </a:r>
          </a:p>
          <a:p>
            <a:pPr algn="just">
              <a:lnSpc>
                <a:spcPct val="170000"/>
              </a:lnSpc>
            </a:pPr>
            <a:r>
              <a:rPr lang="en-US" sz="3600" dirty="0" smtClean="0">
                <a:latin typeface="Times New Roman" charset="0"/>
                <a:ea typeface="Times New Roman" charset="0"/>
                <a:cs typeface="Times New Roman" charset="0"/>
              </a:rPr>
              <a:t>These </a:t>
            </a:r>
            <a:r>
              <a:rPr lang="en-US" sz="3600" dirty="0">
                <a:latin typeface="Times New Roman" charset="0"/>
                <a:ea typeface="Times New Roman" charset="0"/>
                <a:cs typeface="Times New Roman" charset="0"/>
              </a:rPr>
              <a:t>values are very important for the holistic development of humans, their families, and communities. We apply these values all our lives but don’t even come to know about it…it’s that deeply restored in our memories. </a:t>
            </a:r>
            <a:endParaRPr lang="en-US" sz="3600" dirty="0" smtClean="0">
              <a:latin typeface="Times New Roman" charset="0"/>
              <a:ea typeface="Times New Roman" charset="0"/>
              <a:cs typeface="Times New Roman" charset="0"/>
            </a:endParaRPr>
          </a:p>
          <a:p>
            <a:pPr algn="just">
              <a:lnSpc>
                <a:spcPct val="170000"/>
              </a:lnSpc>
            </a:pPr>
            <a:endParaRPr lang="en-US" dirty="0" smtClean="0">
              <a:latin typeface="Times New Roman" charset="0"/>
              <a:ea typeface="Times New Roman" charset="0"/>
              <a:cs typeface="Times New Roman" charset="0"/>
            </a:endParaRPr>
          </a:p>
        </p:txBody>
      </p:sp>
    </p:spTree>
    <p:extLst>
      <p:ext uri="{BB962C8B-B14F-4D97-AF65-F5344CB8AC3E}">
        <p14:creationId xmlns:p14="http://schemas.microsoft.com/office/powerpoint/2010/main" val="1422145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0515600" cy="5393192"/>
          </a:xfrm>
        </p:spPr>
        <p:txBody>
          <a:bodyPr>
            <a:normAutofit lnSpcReduction="10000"/>
          </a:bodyPr>
          <a:lstStyle/>
          <a:p>
            <a:pPr>
              <a:lnSpc>
                <a:spcPct val="150000"/>
              </a:lnSpc>
            </a:pPr>
            <a:r>
              <a:rPr lang="en-US" sz="2400" dirty="0" smtClean="0">
                <a:latin typeface="Times New Roman" charset="0"/>
                <a:ea typeface="Times New Roman" charset="0"/>
                <a:cs typeface="Times New Roman" charset="0"/>
              </a:rPr>
              <a:t>Values and ethics are key factors in the personality development of human beings. </a:t>
            </a:r>
          </a:p>
          <a:p>
            <a:pPr>
              <a:lnSpc>
                <a:spcPct val="150000"/>
              </a:lnSpc>
            </a:pPr>
            <a:r>
              <a:rPr lang="en-US" sz="2400" dirty="0" smtClean="0">
                <a:latin typeface="Times New Roman" charset="0"/>
                <a:ea typeface="Times New Roman" charset="0"/>
                <a:cs typeface="Times New Roman" charset="0"/>
              </a:rPr>
              <a:t>Many a time, these values add to our mental and spiritual well being. </a:t>
            </a:r>
          </a:p>
          <a:p>
            <a:pPr>
              <a:lnSpc>
                <a:spcPct val="150000"/>
              </a:lnSpc>
            </a:pPr>
            <a:r>
              <a:rPr lang="en-US" sz="2400" dirty="0" smtClean="0">
                <a:latin typeface="Times New Roman" charset="0"/>
                <a:ea typeface="Times New Roman" charset="0"/>
                <a:cs typeface="Times New Roman" charset="0"/>
              </a:rPr>
              <a:t>Ignorance of values causes a person to drift away from the path to his goals, and such people often commit wrongdoings. </a:t>
            </a:r>
          </a:p>
          <a:p>
            <a:pPr>
              <a:lnSpc>
                <a:spcPct val="150000"/>
              </a:lnSpc>
            </a:pPr>
            <a:r>
              <a:rPr lang="en-US" sz="2400" dirty="0" smtClean="0">
                <a:latin typeface="Times New Roman" charset="0"/>
                <a:ea typeface="Times New Roman" charset="0"/>
                <a:cs typeface="Times New Roman" charset="0"/>
              </a:rPr>
              <a:t>Traditionally, this has been a common notion. </a:t>
            </a:r>
          </a:p>
          <a:p>
            <a:pPr>
              <a:lnSpc>
                <a:spcPct val="150000"/>
              </a:lnSpc>
            </a:pPr>
            <a:r>
              <a:rPr lang="en-US" sz="2400" dirty="0" smtClean="0">
                <a:latin typeface="Times New Roman" charset="0"/>
                <a:ea typeface="Times New Roman" charset="0"/>
                <a:cs typeface="Times New Roman" charset="0"/>
              </a:rPr>
              <a:t>However, if we say a person’s values and ethics are shaped according to his upbringing and immediate surroundings, aren’t we blaming society?</a:t>
            </a:r>
          </a:p>
          <a:p>
            <a:pPr>
              <a:lnSpc>
                <a:spcPct val="150000"/>
              </a:lnSpc>
            </a:pPr>
            <a:r>
              <a:rPr lang="en-US" sz="2400" dirty="0" smtClean="0">
                <a:latin typeface="Times New Roman" charset="0"/>
                <a:ea typeface="Times New Roman" charset="0"/>
                <a:cs typeface="Times New Roman" charset="0"/>
              </a:rPr>
              <a:t>In simple words, human values and ethics have a role in building society as we see it and vice versa.</a:t>
            </a:r>
          </a:p>
          <a:p>
            <a:endParaRPr lang="en-US" dirty="0"/>
          </a:p>
        </p:txBody>
      </p:sp>
    </p:spTree>
    <p:extLst>
      <p:ext uri="{BB962C8B-B14F-4D97-AF65-F5344CB8AC3E}">
        <p14:creationId xmlns:p14="http://schemas.microsoft.com/office/powerpoint/2010/main" val="1728175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charset="0"/>
                <a:ea typeface="Times New Roman" charset="0"/>
                <a:cs typeface="Times New Roman" charset="0"/>
              </a:rPr>
              <a:t>What are Ethics</a:t>
            </a:r>
            <a:r>
              <a:rPr lang="en-US" b="1" dirty="0" smtClean="0">
                <a:latin typeface="Times New Roman" charset="0"/>
                <a:ea typeface="Times New Roman" charset="0"/>
                <a:cs typeface="Times New Roman" charset="0"/>
              </a:rPr>
              <a:t>?</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latin typeface="Times New Roman" charset="0"/>
                <a:ea typeface="Times New Roman" charset="0"/>
                <a:cs typeface="Times New Roman" charset="0"/>
              </a:rPr>
              <a:t>Ethics are a set of code of moral principles that decide what is right and wrong. </a:t>
            </a:r>
          </a:p>
          <a:p>
            <a:pPr algn="just">
              <a:lnSpc>
                <a:spcPct val="150000"/>
              </a:lnSpc>
            </a:pPr>
            <a:r>
              <a:rPr lang="en-US" i="1" dirty="0">
                <a:latin typeface="Times New Roman" charset="0"/>
                <a:ea typeface="Times New Roman" charset="0"/>
                <a:cs typeface="Times New Roman" charset="0"/>
              </a:rPr>
              <a:t>Ethos</a:t>
            </a:r>
            <a:r>
              <a:rPr lang="en-US" dirty="0">
                <a:latin typeface="Times New Roman" charset="0"/>
                <a:ea typeface="Times New Roman" charset="0"/>
                <a:cs typeface="Times New Roman" charset="0"/>
              </a:rPr>
              <a:t> in Greek means characters.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Ethics </a:t>
            </a:r>
            <a:r>
              <a:rPr lang="en-US" dirty="0">
                <a:latin typeface="Times New Roman" charset="0"/>
                <a:ea typeface="Times New Roman" charset="0"/>
                <a:cs typeface="Times New Roman" charset="0"/>
              </a:rPr>
              <a:t>are like value standards </a:t>
            </a:r>
            <a:r>
              <a:rPr lang="en-US" dirty="0" smtClean="0">
                <a:latin typeface="Times New Roman" charset="0"/>
                <a:ea typeface="Times New Roman" charset="0"/>
                <a:cs typeface="Times New Roman" charset="0"/>
              </a:rPr>
              <a:t>in society </a:t>
            </a:r>
            <a:r>
              <a:rPr lang="en-US" dirty="0">
                <a:latin typeface="Times New Roman" charset="0"/>
                <a:ea typeface="Times New Roman" charset="0"/>
                <a:cs typeface="Times New Roman" charset="0"/>
              </a:rPr>
              <a:t>around us.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a:t>
            </a:r>
            <a:r>
              <a:rPr lang="en-US" dirty="0">
                <a:latin typeface="Times New Roman" charset="0"/>
                <a:ea typeface="Times New Roman" charset="0"/>
                <a:cs typeface="Times New Roman" charset="0"/>
              </a:rPr>
              <a:t>Ethical’ refers to the morally correct behaviour of a person or group.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Ethics </a:t>
            </a:r>
            <a:r>
              <a:rPr lang="en-US" dirty="0">
                <a:latin typeface="Times New Roman" charset="0"/>
                <a:ea typeface="Times New Roman" charset="0"/>
                <a:cs typeface="Times New Roman" charset="0"/>
              </a:rPr>
              <a:t>are applied, </a:t>
            </a:r>
            <a:r>
              <a:rPr lang="en-US" dirty="0" smtClean="0">
                <a:latin typeface="Times New Roman" charset="0"/>
                <a:ea typeface="Times New Roman" charset="0"/>
                <a:cs typeface="Times New Roman" charset="0"/>
              </a:rPr>
              <a:t>and rather</a:t>
            </a:r>
            <a:r>
              <a:rPr lang="en-US" dirty="0">
                <a:latin typeface="Times New Roman" charset="0"/>
                <a:ea typeface="Times New Roman" charset="0"/>
                <a:cs typeface="Times New Roman" charset="0"/>
              </a:rPr>
              <a:t>, are the foundation of every field</a:t>
            </a:r>
            <a:r>
              <a:rPr lang="en-US" dirty="0" smtClean="0">
                <a:latin typeface="Times New Roman" charset="0"/>
                <a:ea typeface="Times New Roman" charset="0"/>
                <a:cs typeface="Times New Roman" charset="0"/>
              </a:rPr>
              <a:t>.</a:t>
            </a: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87419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charset="0"/>
                <a:ea typeface="Times New Roman" charset="0"/>
                <a:cs typeface="Times New Roman" charset="0"/>
              </a:rPr>
              <a:t>The Origin of </a:t>
            </a:r>
            <a:r>
              <a:rPr lang="en-US" b="1" dirty="0" smtClean="0">
                <a:latin typeface="Times New Roman" charset="0"/>
                <a:ea typeface="Times New Roman" charset="0"/>
                <a:cs typeface="Times New Roman" charset="0"/>
              </a:rPr>
              <a:t>Ethics</a:t>
            </a:r>
            <a:r>
              <a:rPr lang="en-US" dirty="0" smtClean="0"/>
              <a:t/>
            </a:r>
            <a:br>
              <a:rPr lang="en-US" dirty="0" smtClean="0"/>
            </a:br>
            <a:endParaRPr lang="en-US" dirty="0"/>
          </a:p>
        </p:txBody>
      </p:sp>
      <p:sp>
        <p:nvSpPr>
          <p:cNvPr id="3" name="Content Placeholder 2"/>
          <p:cNvSpPr>
            <a:spLocks noGrp="1"/>
          </p:cNvSpPr>
          <p:nvPr>
            <p:ph idx="1"/>
          </p:nvPr>
        </p:nvSpPr>
        <p:spPr>
          <a:xfrm>
            <a:off x="838200" y="1825624"/>
            <a:ext cx="10515600" cy="4640489"/>
          </a:xfrm>
        </p:spPr>
        <p:txBody>
          <a:bodyPr>
            <a:normAutofit fontScale="85000" lnSpcReduction="20000"/>
          </a:bodyPr>
          <a:lstStyle/>
          <a:p>
            <a:pPr algn="just">
              <a:lnSpc>
                <a:spcPct val="150000"/>
              </a:lnSpc>
            </a:pPr>
            <a:r>
              <a:rPr lang="en-US" dirty="0">
                <a:latin typeface="Times New Roman" charset="0"/>
                <a:ea typeface="Times New Roman" charset="0"/>
                <a:cs typeface="Times New Roman" charset="0"/>
              </a:rPr>
              <a:t>Ethics and ideals can be inter-related to gaining inspiration from each other.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Rather</a:t>
            </a:r>
            <a:r>
              <a:rPr lang="en-US" dirty="0">
                <a:latin typeface="Times New Roman" charset="0"/>
                <a:ea typeface="Times New Roman" charset="0"/>
                <a:cs typeface="Times New Roman" charset="0"/>
              </a:rPr>
              <a:t>, ideal examples of good people who did great deeds often motivate us to take their actions and conduct as role models in society.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Ethics </a:t>
            </a:r>
            <a:r>
              <a:rPr lang="en-US" dirty="0">
                <a:latin typeface="Times New Roman" charset="0"/>
                <a:ea typeface="Times New Roman" charset="0"/>
                <a:cs typeface="Times New Roman" charset="0"/>
              </a:rPr>
              <a:t>also arises from the religious beliefs of people.</a:t>
            </a:r>
          </a:p>
          <a:p>
            <a:pPr algn="just">
              <a:lnSpc>
                <a:spcPct val="150000"/>
              </a:lnSpc>
            </a:pPr>
            <a:r>
              <a:rPr lang="en-US" dirty="0">
                <a:latin typeface="Times New Roman" charset="0"/>
                <a:ea typeface="Times New Roman" charset="0"/>
                <a:cs typeface="Times New Roman" charset="0"/>
              </a:rPr>
              <a:t>There is a saying that goes like, “Always do the right thing because someone is watching you” is an example of just that.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At </a:t>
            </a:r>
            <a:r>
              <a:rPr lang="en-US" dirty="0">
                <a:latin typeface="Times New Roman" charset="0"/>
                <a:ea typeface="Times New Roman" charset="0"/>
                <a:cs typeface="Times New Roman" charset="0"/>
              </a:rPr>
              <a:t>yet other times, ideal demands are created by people to select the best out from of crowd. </a:t>
            </a:r>
          </a:p>
          <a:p>
            <a:endParaRPr lang="en-US" dirty="0"/>
          </a:p>
        </p:txBody>
      </p:sp>
    </p:spTree>
    <p:extLst>
      <p:ext uri="{BB962C8B-B14F-4D97-AF65-F5344CB8AC3E}">
        <p14:creationId xmlns:p14="http://schemas.microsoft.com/office/powerpoint/2010/main" val="1904744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atin typeface="Times New Roman" charset="0"/>
                <a:ea typeface="Times New Roman" charset="0"/>
                <a:cs typeface="Times New Roman" charset="0"/>
              </a:rPr>
              <a:t>What are morals? How are they different from Values? </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algn="just">
              <a:lnSpc>
                <a:spcPct val="150000"/>
              </a:lnSpc>
            </a:pPr>
            <a:r>
              <a:rPr lang="en-US" dirty="0">
                <a:latin typeface="Times New Roman" charset="0"/>
                <a:ea typeface="Times New Roman" charset="0"/>
                <a:cs typeface="Times New Roman" charset="0"/>
              </a:rPr>
              <a:t>A Moral is something we learn as a lesson from our actions.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Values </a:t>
            </a:r>
            <a:r>
              <a:rPr lang="en-US" dirty="0">
                <a:latin typeface="Times New Roman" charset="0"/>
                <a:ea typeface="Times New Roman" charset="0"/>
                <a:cs typeface="Times New Roman" charset="0"/>
              </a:rPr>
              <a:t>are different than morals since the former is the basis of any action and the latter the consequence of it.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A </a:t>
            </a:r>
            <a:r>
              <a:rPr lang="en-US" dirty="0">
                <a:latin typeface="Times New Roman" charset="0"/>
                <a:ea typeface="Times New Roman" charset="0"/>
                <a:cs typeface="Times New Roman" charset="0"/>
              </a:rPr>
              <a:t>moral is a message, while good practices cultivate a value. </a:t>
            </a:r>
          </a:p>
          <a:p>
            <a:pPr algn="just">
              <a:lnSpc>
                <a:spcPct val="150000"/>
              </a:lnSpc>
            </a:pPr>
            <a:r>
              <a:rPr lang="en-US" dirty="0">
                <a:latin typeface="Times New Roman" charset="0"/>
                <a:ea typeface="Times New Roman" charset="0"/>
                <a:cs typeface="Times New Roman" charset="0"/>
              </a:rPr>
              <a:t>If we take the example of the good old Aesop’s fable of the Hare and the Tortoise, the values we learn through these are determination, avoiding overconfidence, appreciating teamwork, etc. while the moral we have been learning is ‘slow and steady wins the race’. </a:t>
            </a:r>
          </a:p>
          <a:p>
            <a:pPr algn="just">
              <a:lnSpc>
                <a:spcPct val="150000"/>
              </a:lnSpc>
            </a:pP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49153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latin typeface="Times New Roman" charset="0"/>
                <a:ea typeface="Times New Roman" charset="0"/>
                <a:cs typeface="Times New Roman" charset="0"/>
              </a:rPr>
              <a:t/>
            </a:r>
            <a:br>
              <a:rPr lang="en-US" dirty="0" smtClean="0">
                <a:latin typeface="Times New Roman" charset="0"/>
                <a:ea typeface="Times New Roman" charset="0"/>
                <a:cs typeface="Times New Roman" charset="0"/>
              </a:rPr>
            </a:br>
            <a:r>
              <a:rPr lang="en-US" sz="4900" b="1" dirty="0" smtClean="0">
                <a:latin typeface="Times New Roman" charset="0"/>
                <a:ea typeface="Times New Roman" charset="0"/>
                <a:cs typeface="Times New Roman" charset="0"/>
              </a:rPr>
              <a:t>Branches of Ethics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pPr>
              <a:lnSpc>
                <a:spcPct val="150000"/>
              </a:lnSpc>
            </a:pPr>
            <a:r>
              <a:rPr lang="en-US" b="1" dirty="0" smtClean="0">
                <a:latin typeface="Times New Roman" charset="0"/>
                <a:ea typeface="Times New Roman" charset="0"/>
                <a:cs typeface="Times New Roman" charset="0"/>
              </a:rPr>
              <a:t>Meta-Ethics: </a:t>
            </a:r>
            <a:r>
              <a:rPr lang="en-US" dirty="0" smtClean="0">
                <a:latin typeface="Times New Roman" charset="0"/>
                <a:ea typeface="Times New Roman" charset="0"/>
                <a:cs typeface="Times New Roman" charset="0"/>
              </a:rPr>
              <a:t>This branch of ethical studies focuses on the theoretical aspect. Answering questions like why, when, how to do a thing, how a situation originated, etc. is meta-ethics.</a:t>
            </a:r>
          </a:p>
          <a:p>
            <a:pPr>
              <a:lnSpc>
                <a:spcPct val="150000"/>
              </a:lnSpc>
            </a:pPr>
            <a:r>
              <a:rPr lang="en-US" b="1" dirty="0" smtClean="0">
                <a:latin typeface="Times New Roman" charset="0"/>
                <a:ea typeface="Times New Roman" charset="0"/>
                <a:cs typeface="Times New Roman" charset="0"/>
              </a:rPr>
              <a:t>Normative </a:t>
            </a:r>
            <a:r>
              <a:rPr lang="en-US" b="1" dirty="0">
                <a:latin typeface="Times New Roman" charset="0"/>
                <a:ea typeface="Times New Roman" charset="0"/>
                <a:cs typeface="Times New Roman" charset="0"/>
              </a:rPr>
              <a:t>Ethics: </a:t>
            </a:r>
            <a:r>
              <a:rPr lang="en-US" dirty="0">
                <a:latin typeface="Times New Roman" charset="0"/>
                <a:ea typeface="Times New Roman" charset="0"/>
                <a:cs typeface="Times New Roman" charset="0"/>
              </a:rPr>
              <a:t>It is also known as Prescriptive ethics. It includes questions that answer why an action can be right or wrong. The judgment of a situation is the key aspect of normative ethics. </a:t>
            </a:r>
          </a:p>
          <a:p>
            <a:pPr>
              <a:lnSpc>
                <a:spcPct val="150000"/>
              </a:lnSpc>
            </a:pPr>
            <a:r>
              <a:rPr lang="en-US" b="1" dirty="0">
                <a:latin typeface="Times New Roman" charset="0"/>
                <a:ea typeface="Times New Roman" charset="0"/>
                <a:cs typeface="Times New Roman" charset="0"/>
              </a:rPr>
              <a:t>Applied Ethics: </a:t>
            </a:r>
            <a:r>
              <a:rPr lang="en-US" dirty="0">
                <a:latin typeface="Times New Roman" charset="0"/>
                <a:ea typeface="Times New Roman" charset="0"/>
                <a:cs typeface="Times New Roman" charset="0"/>
              </a:rPr>
              <a:t>These ethics apply in specific fields like animal ethics, business ethics, bioethics, etc.</a:t>
            </a:r>
          </a:p>
          <a:p>
            <a:endParaRPr lang="en-US" dirty="0"/>
          </a:p>
        </p:txBody>
      </p:sp>
    </p:spTree>
    <p:extLst>
      <p:ext uri="{BB962C8B-B14F-4D97-AF65-F5344CB8AC3E}">
        <p14:creationId xmlns:p14="http://schemas.microsoft.com/office/powerpoint/2010/main" val="1844160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charset="0"/>
                <a:ea typeface="Times New Roman" charset="0"/>
                <a:cs typeface="Times New Roman" charset="0"/>
              </a:rPr>
              <a:t>How are values related to Ethics</a:t>
            </a:r>
            <a:r>
              <a:rPr lang="en-US" sz="4000" b="1" dirty="0" smtClean="0">
                <a:latin typeface="Times New Roman" charset="0"/>
                <a:ea typeface="Times New Roman" charset="0"/>
                <a:cs typeface="Times New Roman" charset="0"/>
              </a:rPr>
              <a:t>?</a:t>
            </a:r>
            <a:endParaRPr lang="en-US" sz="4000" b="1"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dirty="0">
                <a:latin typeface="Times New Roman" charset="0"/>
                <a:ea typeface="Times New Roman" charset="0"/>
                <a:cs typeface="Times New Roman" charset="0"/>
              </a:rPr>
              <a:t>Values can be called as subsets of Ethics, a wider subject</a:t>
            </a:r>
            <a:r>
              <a:rPr lang="en-US" dirty="0" smtClean="0">
                <a:latin typeface="Times New Roman" charset="0"/>
                <a:ea typeface="Times New Roman" charset="0"/>
                <a:cs typeface="Times New Roman" charset="0"/>
              </a:rPr>
              <a:t>.</a:t>
            </a:r>
          </a:p>
          <a:p>
            <a:pPr algn="just">
              <a:lnSpc>
                <a:spcPct val="150000"/>
              </a:lnSpc>
            </a:pPr>
            <a:r>
              <a:rPr lang="en-US" dirty="0" smtClean="0">
                <a:latin typeface="Times New Roman" charset="0"/>
                <a:ea typeface="Times New Roman" charset="0"/>
                <a:cs typeface="Times New Roman" charset="0"/>
              </a:rPr>
              <a:t>Values </a:t>
            </a:r>
            <a:r>
              <a:rPr lang="en-US" dirty="0">
                <a:latin typeface="Times New Roman" charset="0"/>
                <a:ea typeface="Times New Roman" charset="0"/>
                <a:cs typeface="Times New Roman" charset="0"/>
              </a:rPr>
              <a:t>are the backbone of any ethical code.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Values </a:t>
            </a:r>
            <a:r>
              <a:rPr lang="en-US" dirty="0">
                <a:latin typeface="Times New Roman" charset="0"/>
                <a:ea typeface="Times New Roman" charset="0"/>
                <a:cs typeface="Times New Roman" charset="0"/>
              </a:rPr>
              <a:t>are the ones which reflect a person or group’s upbringing, mentality, his goals, etc. </a:t>
            </a:r>
            <a:endParaRPr lang="en-US" dirty="0" smtClean="0">
              <a:latin typeface="Times New Roman" charset="0"/>
              <a:ea typeface="Times New Roman" charset="0"/>
              <a:cs typeface="Times New Roman" charset="0"/>
            </a:endParaRPr>
          </a:p>
          <a:p>
            <a:pPr>
              <a:lnSpc>
                <a:spcPct val="150000"/>
              </a:lnSpc>
            </a:pPr>
            <a:r>
              <a:rPr lang="en-US" dirty="0" smtClean="0">
                <a:latin typeface="Times New Roman" charset="0"/>
                <a:ea typeface="Times New Roman" charset="0"/>
                <a:cs typeface="Times New Roman" charset="0"/>
              </a:rPr>
              <a:t>These </a:t>
            </a:r>
            <a:r>
              <a:rPr lang="en-US" dirty="0">
                <a:latin typeface="Times New Roman" charset="0"/>
                <a:ea typeface="Times New Roman" charset="0"/>
                <a:cs typeface="Times New Roman" charset="0"/>
              </a:rPr>
              <a:t>factors influence the formation of societies, communities or organizations, and their ethical sets. </a:t>
            </a:r>
            <a:r>
              <a:rPr lang="en-US" dirty="0" smtClean="0"/>
              <a:t/>
            </a:r>
            <a:br>
              <a:rPr lang="en-US" dirty="0" smtClean="0"/>
            </a:br>
            <a:endParaRPr lang="en-US" dirty="0"/>
          </a:p>
        </p:txBody>
      </p:sp>
    </p:spTree>
    <p:extLst>
      <p:ext uri="{BB962C8B-B14F-4D97-AF65-F5344CB8AC3E}">
        <p14:creationId xmlns:p14="http://schemas.microsoft.com/office/powerpoint/2010/main" val="1682675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charset="0"/>
                <a:ea typeface="Times New Roman" charset="0"/>
                <a:cs typeface="Times New Roman" charset="0"/>
              </a:rPr>
              <a:t>Where do we learn values and ethics?</a:t>
            </a:r>
            <a:br>
              <a:rPr lang="en-US" b="1" dirty="0">
                <a:latin typeface="Times New Roman" charset="0"/>
                <a:ea typeface="Times New Roman" charset="0"/>
                <a:cs typeface="Times New Roman" charset="0"/>
              </a:rPr>
            </a:br>
            <a:endParaRPr lang="en-US" b="1"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436914"/>
            <a:ext cx="10515600" cy="5072743"/>
          </a:xfrm>
        </p:spPr>
        <p:txBody>
          <a:bodyPr>
            <a:normAutofit fontScale="62500" lnSpcReduction="20000"/>
          </a:bodyPr>
          <a:lstStyle/>
          <a:p>
            <a:pPr>
              <a:lnSpc>
                <a:spcPct val="160000"/>
              </a:lnSpc>
            </a:pPr>
            <a:r>
              <a:rPr lang="en-US" sz="3400" dirty="0">
                <a:latin typeface="Times New Roman" charset="0"/>
                <a:ea typeface="Times New Roman" charset="0"/>
                <a:cs typeface="Times New Roman" charset="0"/>
              </a:rPr>
              <a:t>In kindergarten, our teachers, and parents did teach us the use of </a:t>
            </a:r>
            <a:r>
              <a:rPr lang="en-US" sz="3400" dirty="0" smtClean="0">
                <a:latin typeface="Times New Roman" charset="0"/>
                <a:ea typeface="Times New Roman" charset="0"/>
                <a:cs typeface="Times New Roman" charset="0"/>
              </a:rPr>
              <a:t> ‘words</a:t>
            </a:r>
            <a:r>
              <a:rPr lang="en-US" sz="3400" dirty="0">
                <a:latin typeface="Times New Roman" charset="0"/>
                <a:ea typeface="Times New Roman" charset="0"/>
                <a:cs typeface="Times New Roman" charset="0"/>
              </a:rPr>
              <a:t>’ that are Thank you, Sorry and Excuse me. That was a step towards making us realize the value of our actions. </a:t>
            </a:r>
          </a:p>
          <a:p>
            <a:pPr>
              <a:lnSpc>
                <a:spcPct val="160000"/>
              </a:lnSpc>
            </a:pPr>
            <a:r>
              <a:rPr lang="en-US" sz="3400" dirty="0">
                <a:latin typeface="Times New Roman" charset="0"/>
                <a:ea typeface="Times New Roman" charset="0"/>
                <a:cs typeface="Times New Roman" charset="0"/>
              </a:rPr>
              <a:t>Values and Ethics are like our mother tongue—these don’t need to be separately taught. </a:t>
            </a:r>
            <a:endParaRPr lang="en-US" sz="3400" dirty="0" smtClean="0">
              <a:latin typeface="Times New Roman" charset="0"/>
              <a:ea typeface="Times New Roman" charset="0"/>
              <a:cs typeface="Times New Roman" charset="0"/>
            </a:endParaRPr>
          </a:p>
          <a:p>
            <a:pPr>
              <a:lnSpc>
                <a:spcPct val="160000"/>
              </a:lnSpc>
            </a:pPr>
            <a:r>
              <a:rPr lang="en-US" sz="3400" dirty="0" smtClean="0">
                <a:latin typeface="Times New Roman" charset="0"/>
                <a:ea typeface="Times New Roman" charset="0"/>
                <a:cs typeface="Times New Roman" charset="0"/>
              </a:rPr>
              <a:t>A </a:t>
            </a:r>
            <a:r>
              <a:rPr lang="en-US" sz="3400" dirty="0">
                <a:latin typeface="Times New Roman" charset="0"/>
                <a:ea typeface="Times New Roman" charset="0"/>
                <a:cs typeface="Times New Roman" charset="0"/>
              </a:rPr>
              <a:t>child learns values and ethics as a part of his growth and development, in which its family, school, and </a:t>
            </a:r>
            <a:r>
              <a:rPr lang="en-US" sz="3400" dirty="0" smtClean="0">
                <a:latin typeface="Times New Roman" charset="0"/>
                <a:ea typeface="Times New Roman" charset="0"/>
                <a:cs typeface="Times New Roman" charset="0"/>
              </a:rPr>
              <a:t>neighborhood </a:t>
            </a:r>
            <a:r>
              <a:rPr lang="en-US" sz="3400" dirty="0">
                <a:latin typeface="Times New Roman" charset="0"/>
                <a:ea typeface="Times New Roman" charset="0"/>
                <a:cs typeface="Times New Roman" charset="0"/>
              </a:rPr>
              <a:t>play an important role. </a:t>
            </a:r>
            <a:endParaRPr lang="en-US" sz="3400" dirty="0" smtClean="0">
              <a:latin typeface="Times New Roman" charset="0"/>
              <a:ea typeface="Times New Roman" charset="0"/>
              <a:cs typeface="Times New Roman" charset="0"/>
            </a:endParaRPr>
          </a:p>
          <a:p>
            <a:pPr>
              <a:lnSpc>
                <a:spcPct val="160000"/>
              </a:lnSpc>
            </a:pPr>
            <a:r>
              <a:rPr lang="en-US" sz="3400" dirty="0" smtClean="0">
                <a:latin typeface="Times New Roman" charset="0"/>
                <a:ea typeface="Times New Roman" charset="0"/>
                <a:cs typeface="Times New Roman" charset="0"/>
              </a:rPr>
              <a:t>As </a:t>
            </a:r>
            <a:r>
              <a:rPr lang="en-US" sz="3400" dirty="0">
                <a:latin typeface="Times New Roman" charset="0"/>
                <a:ea typeface="Times New Roman" charset="0"/>
                <a:cs typeface="Times New Roman" charset="0"/>
              </a:rPr>
              <a:t>children grow up, their peers, teachers, influence, and shape their values. In adulthood, people are inspired by workplace environments. </a:t>
            </a:r>
          </a:p>
          <a:p>
            <a:pPr>
              <a:lnSpc>
                <a:spcPct val="160000"/>
              </a:lnSpc>
            </a:pPr>
            <a:r>
              <a:rPr lang="en-US" sz="3400" dirty="0">
                <a:latin typeface="Times New Roman" charset="0"/>
                <a:ea typeface="Times New Roman" charset="0"/>
                <a:cs typeface="Times New Roman" charset="0"/>
              </a:rPr>
              <a:t>In other words, the values a person has and the ethics he follows is </a:t>
            </a:r>
            <a:r>
              <a:rPr lang="en-US" sz="3400" dirty="0" smtClean="0">
                <a:latin typeface="Times New Roman" charset="0"/>
                <a:ea typeface="Times New Roman" charset="0"/>
                <a:cs typeface="Times New Roman" charset="0"/>
              </a:rPr>
              <a:t>molded </a:t>
            </a:r>
            <a:r>
              <a:rPr lang="en-US" sz="3400" dirty="0">
                <a:latin typeface="Times New Roman" charset="0"/>
                <a:ea typeface="Times New Roman" charset="0"/>
                <a:cs typeface="Times New Roman" charset="0"/>
              </a:rPr>
              <a:t>by the culture, type of people he is in contact with. </a:t>
            </a:r>
          </a:p>
          <a:p>
            <a:endParaRPr lang="en-US" dirty="0"/>
          </a:p>
        </p:txBody>
      </p:sp>
    </p:spTree>
    <p:extLst>
      <p:ext uri="{BB962C8B-B14F-4D97-AF65-F5344CB8AC3E}">
        <p14:creationId xmlns:p14="http://schemas.microsoft.com/office/powerpoint/2010/main" val="2020295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10515600" cy="827314"/>
          </a:xfrm>
        </p:spPr>
        <p:txBody>
          <a:bodyPr>
            <a:normAutofit fontScale="90000"/>
          </a:bodyPr>
          <a:lstStyle/>
          <a:p>
            <a:pPr algn="ctr"/>
            <a:r>
              <a:rPr lang="en-US" b="1" dirty="0">
                <a:latin typeface="Times New Roman" charset="0"/>
                <a:ea typeface="Times New Roman" charset="0"/>
                <a:cs typeface="Times New Roman" charset="0"/>
              </a:rPr>
              <a:t>What is Professional Ethics</a:t>
            </a:r>
            <a:r>
              <a:rPr lang="en-US" b="1" dirty="0" smtClean="0">
                <a:latin typeface="Times New Roman" charset="0"/>
                <a:ea typeface="Times New Roman" charset="0"/>
                <a:cs typeface="Times New Roman" charset="0"/>
              </a:rPr>
              <a:t>?</a:t>
            </a:r>
            <a:r>
              <a:rPr lang="en-US" dirty="0" smtClean="0">
                <a:latin typeface="Times New Roman" charset="0"/>
                <a:ea typeface="Times New Roman" charset="0"/>
                <a:cs typeface="Times New Roman" charset="0"/>
              </a:rPr>
              <a:t/>
            </a:r>
            <a:br>
              <a:rPr lang="en-US" dirty="0" smtClean="0">
                <a:latin typeface="Times New Roman" charset="0"/>
                <a:ea typeface="Times New Roman" charset="0"/>
                <a:cs typeface="Times New Roman" charset="0"/>
              </a:rPr>
            </a:b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825625"/>
            <a:ext cx="10515600" cy="4705804"/>
          </a:xfrm>
        </p:spPr>
        <p:txBody>
          <a:bodyPr>
            <a:normAutofit fontScale="70000" lnSpcReduction="20000"/>
          </a:bodyPr>
          <a:lstStyle/>
          <a:p>
            <a:pPr algn="just">
              <a:lnSpc>
                <a:spcPct val="160000"/>
              </a:lnSpc>
            </a:pPr>
            <a:r>
              <a:rPr lang="en-US" dirty="0">
                <a:latin typeface="Times New Roman" charset="0"/>
                <a:ea typeface="Times New Roman" charset="0"/>
                <a:cs typeface="Times New Roman" charset="0"/>
              </a:rPr>
              <a:t>A Profession is when many people follow the same kind of occupation and are related to each other as a part of an organized team or company. </a:t>
            </a:r>
            <a:endParaRPr lang="en-US" dirty="0" smtClean="0">
              <a:latin typeface="Times New Roman" charset="0"/>
              <a:ea typeface="Times New Roman" charset="0"/>
              <a:cs typeface="Times New Roman" charset="0"/>
            </a:endParaRPr>
          </a:p>
          <a:p>
            <a:pPr algn="just">
              <a:lnSpc>
                <a:spcPct val="160000"/>
              </a:lnSpc>
            </a:pPr>
            <a:r>
              <a:rPr lang="en-US" dirty="0" smtClean="0">
                <a:latin typeface="Times New Roman" charset="0"/>
                <a:ea typeface="Times New Roman" charset="0"/>
                <a:cs typeface="Times New Roman" charset="0"/>
              </a:rPr>
              <a:t>These </a:t>
            </a:r>
            <a:r>
              <a:rPr lang="en-US" dirty="0">
                <a:latin typeface="Times New Roman" charset="0"/>
                <a:ea typeface="Times New Roman" charset="0"/>
                <a:cs typeface="Times New Roman" charset="0"/>
              </a:rPr>
              <a:t>professionals are bound to their professions and colleagues by moral principles. It is usually studied under applied ethics.</a:t>
            </a:r>
          </a:p>
          <a:p>
            <a:pPr algn="just">
              <a:lnSpc>
                <a:spcPct val="160000"/>
              </a:lnSpc>
            </a:pPr>
            <a:r>
              <a:rPr lang="en-US" dirty="0">
                <a:latin typeface="Times New Roman" charset="0"/>
                <a:ea typeface="Times New Roman" charset="0"/>
                <a:cs typeface="Times New Roman" charset="0"/>
              </a:rPr>
              <a:t>The set of guiding principles of what is right and wrong at our workplaces, followed by us, can be said to be Professional ethics. </a:t>
            </a:r>
          </a:p>
          <a:p>
            <a:pPr algn="just">
              <a:lnSpc>
                <a:spcPct val="160000"/>
              </a:lnSpc>
            </a:pPr>
            <a:r>
              <a:rPr lang="en-US" dirty="0">
                <a:latin typeface="Times New Roman" charset="0"/>
                <a:ea typeface="Times New Roman" charset="0"/>
                <a:cs typeface="Times New Roman" charset="0"/>
              </a:rPr>
              <a:t>Professional ethics are characterized by the individual responsibilities, obligations of the employees and owners, and related professionals of any organization. </a:t>
            </a:r>
            <a:endParaRPr lang="en-US" dirty="0" smtClean="0">
              <a:latin typeface="Times New Roman" charset="0"/>
              <a:ea typeface="Times New Roman" charset="0"/>
              <a:cs typeface="Times New Roman" charset="0"/>
            </a:endParaRPr>
          </a:p>
          <a:p>
            <a:pPr algn="just">
              <a:lnSpc>
                <a:spcPct val="160000"/>
              </a:lnSpc>
            </a:pPr>
            <a:r>
              <a:rPr lang="en-US" dirty="0" smtClean="0">
                <a:latin typeface="Times New Roman" charset="0"/>
                <a:ea typeface="Times New Roman" charset="0"/>
                <a:cs typeface="Times New Roman" charset="0"/>
              </a:rPr>
              <a:t>They </a:t>
            </a:r>
            <a:r>
              <a:rPr lang="en-US" dirty="0">
                <a:latin typeface="Times New Roman" charset="0"/>
                <a:ea typeface="Times New Roman" charset="0"/>
                <a:cs typeface="Times New Roman" charset="0"/>
              </a:rPr>
              <a:t>are accountable for their actions to their colleagues, clients, and customers as well as society. </a:t>
            </a:r>
          </a:p>
          <a:p>
            <a:endParaRPr lang="en-US" dirty="0"/>
          </a:p>
        </p:txBody>
      </p:sp>
    </p:spTree>
    <p:extLst>
      <p:ext uri="{BB962C8B-B14F-4D97-AF65-F5344CB8AC3E}">
        <p14:creationId xmlns:p14="http://schemas.microsoft.com/office/powerpoint/2010/main" val="120104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US" sz="4000" b="1" dirty="0">
                <a:latin typeface="Times New Roman" charset="0"/>
                <a:ea typeface="Times New Roman" charset="0"/>
                <a:cs typeface="Times New Roman" charset="0"/>
              </a:rPr>
              <a:t>Why is Ethics required at workplaces?</a:t>
            </a:r>
          </a:p>
        </p:txBody>
      </p:sp>
      <p:sp>
        <p:nvSpPr>
          <p:cNvPr id="3" name="Content Placeholder 2"/>
          <p:cNvSpPr>
            <a:spLocks noGrp="1"/>
          </p:cNvSpPr>
          <p:nvPr>
            <p:ph idx="1"/>
          </p:nvPr>
        </p:nvSpPr>
        <p:spPr>
          <a:xfrm>
            <a:off x="838200" y="1349831"/>
            <a:ext cx="10515600" cy="4659084"/>
          </a:xfrm>
        </p:spPr>
        <p:txBody>
          <a:bodyPr>
            <a:noAutofit/>
          </a:bodyPr>
          <a:lstStyle/>
          <a:p>
            <a:pPr algn="just">
              <a:lnSpc>
                <a:spcPct val="200000"/>
              </a:lnSpc>
            </a:pPr>
            <a:r>
              <a:rPr lang="en-US" sz="2000" dirty="0">
                <a:latin typeface="Times New Roman" charset="0"/>
                <a:ea typeface="Times New Roman" charset="0"/>
                <a:cs typeface="Times New Roman" charset="0"/>
              </a:rPr>
              <a:t>As we said, workplace or professional ethics drive the entire organization towards enhancement. </a:t>
            </a:r>
            <a:endParaRPr lang="en-US" sz="2000" dirty="0" smtClean="0">
              <a:latin typeface="Times New Roman" charset="0"/>
              <a:ea typeface="Times New Roman" charset="0"/>
              <a:cs typeface="Times New Roman" charset="0"/>
            </a:endParaRPr>
          </a:p>
          <a:p>
            <a:pPr algn="just">
              <a:lnSpc>
                <a:spcPct val="200000"/>
              </a:lnSpc>
            </a:pPr>
            <a:r>
              <a:rPr lang="en-US" sz="2000" dirty="0" smtClean="0">
                <a:latin typeface="Times New Roman" charset="0"/>
                <a:ea typeface="Times New Roman" charset="0"/>
                <a:cs typeface="Times New Roman" charset="0"/>
              </a:rPr>
              <a:t>Good </a:t>
            </a:r>
            <a:r>
              <a:rPr lang="en-US" sz="2000" dirty="0">
                <a:latin typeface="Times New Roman" charset="0"/>
                <a:ea typeface="Times New Roman" charset="0"/>
                <a:cs typeface="Times New Roman" charset="0"/>
              </a:rPr>
              <a:t>ethical practices lead to increased transparency, productivity. </a:t>
            </a:r>
            <a:endParaRPr lang="en-US" sz="2000" dirty="0" smtClean="0">
              <a:latin typeface="Times New Roman" charset="0"/>
              <a:ea typeface="Times New Roman" charset="0"/>
              <a:cs typeface="Times New Roman" charset="0"/>
            </a:endParaRPr>
          </a:p>
          <a:p>
            <a:pPr algn="just">
              <a:lnSpc>
                <a:spcPct val="200000"/>
              </a:lnSpc>
            </a:pPr>
            <a:r>
              <a:rPr lang="en-US" sz="2000" dirty="0" smtClean="0">
                <a:latin typeface="Times New Roman" charset="0"/>
                <a:ea typeface="Times New Roman" charset="0"/>
                <a:cs typeface="Times New Roman" charset="0"/>
              </a:rPr>
              <a:t>This </a:t>
            </a:r>
            <a:r>
              <a:rPr lang="en-US" sz="2000" dirty="0">
                <a:latin typeface="Times New Roman" charset="0"/>
                <a:ea typeface="Times New Roman" charset="0"/>
                <a:cs typeface="Times New Roman" charset="0"/>
              </a:rPr>
              <a:t>further leads to increased customer satisfaction and establishes trust. </a:t>
            </a:r>
          </a:p>
          <a:p>
            <a:pPr algn="just">
              <a:lnSpc>
                <a:spcPct val="200000"/>
              </a:lnSpc>
            </a:pPr>
            <a:r>
              <a:rPr lang="en-US" sz="2000" dirty="0">
                <a:latin typeface="Times New Roman" charset="0"/>
                <a:ea typeface="Times New Roman" charset="0"/>
                <a:cs typeface="Times New Roman" charset="0"/>
              </a:rPr>
              <a:t>Negligence, misconduct, unlawful activities in the organization cause these things to fall apart. </a:t>
            </a:r>
            <a:endParaRPr lang="en-US" sz="2000" dirty="0" smtClean="0">
              <a:latin typeface="Times New Roman" charset="0"/>
              <a:ea typeface="Times New Roman" charset="0"/>
              <a:cs typeface="Times New Roman" charset="0"/>
            </a:endParaRPr>
          </a:p>
          <a:p>
            <a:pPr algn="just">
              <a:lnSpc>
                <a:spcPct val="200000"/>
              </a:lnSpc>
            </a:pPr>
            <a:r>
              <a:rPr lang="en-US" sz="2000" dirty="0" smtClean="0">
                <a:latin typeface="Times New Roman" charset="0"/>
                <a:ea typeface="Times New Roman" charset="0"/>
                <a:cs typeface="Times New Roman" charset="0"/>
              </a:rPr>
              <a:t>But </a:t>
            </a:r>
            <a:r>
              <a:rPr lang="en-US" sz="2000" dirty="0">
                <a:latin typeface="Times New Roman" charset="0"/>
                <a:ea typeface="Times New Roman" charset="0"/>
                <a:cs typeface="Times New Roman" charset="0"/>
              </a:rPr>
              <a:t>if ethics are followed voluntarily by people, if ethics cause better governing of the organization, these events can be prevented, and a bigger loss of the society can be prevented.</a:t>
            </a:r>
          </a:p>
          <a:p>
            <a:pPr>
              <a:lnSpc>
                <a:spcPct val="150000"/>
              </a:lnSpc>
            </a:pPr>
            <a:endParaRPr lang="en-US" sz="2400" dirty="0"/>
          </a:p>
        </p:txBody>
      </p:sp>
    </p:spTree>
    <p:extLst>
      <p:ext uri="{BB962C8B-B14F-4D97-AF65-F5344CB8AC3E}">
        <p14:creationId xmlns:p14="http://schemas.microsoft.com/office/powerpoint/2010/main" val="1976371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latin typeface="Times New Roman" charset="0"/>
                <a:ea typeface="Times New Roman" charset="0"/>
                <a:cs typeface="Times New Roman" charset="0"/>
              </a:rPr>
              <a:t>Characteristics of Professional Ethics</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algn="just">
              <a:lnSpc>
                <a:spcPct val="150000"/>
              </a:lnSpc>
            </a:pPr>
            <a:r>
              <a:rPr lang="en-US" dirty="0">
                <a:latin typeface="Times New Roman" charset="0"/>
                <a:ea typeface="Times New Roman" charset="0"/>
                <a:cs typeface="Times New Roman" charset="0"/>
              </a:rPr>
              <a:t>Organizations usually issue specialized Codes of Conduct for its employees, which include a list of Professional Standards to be followed. </a:t>
            </a:r>
            <a:endParaRPr lang="en-US" dirty="0" smtClean="0">
              <a:latin typeface="Times New Roman" charset="0"/>
              <a:ea typeface="Times New Roman" charset="0"/>
              <a:cs typeface="Times New Roman" charset="0"/>
            </a:endParaRPr>
          </a:p>
          <a:p>
            <a:pPr algn="just">
              <a:lnSpc>
                <a:spcPct val="150000"/>
              </a:lnSpc>
            </a:pPr>
            <a:r>
              <a:rPr lang="en-US" dirty="0">
                <a:latin typeface="Times New Roman" charset="0"/>
                <a:ea typeface="Times New Roman" charset="0"/>
                <a:cs typeface="Times New Roman" charset="0"/>
              </a:rPr>
              <a:t>An ethical code of conduct lays down certain rules for employees in the form of their responsibilities, guidelines of colleagues, and clients relationship.</a:t>
            </a:r>
          </a:p>
          <a:p>
            <a:pPr algn="just">
              <a:lnSpc>
                <a:spcPct val="150000"/>
              </a:lnSpc>
            </a:pPr>
            <a:r>
              <a:rPr lang="en-US" dirty="0">
                <a:latin typeface="Times New Roman" charset="0"/>
                <a:ea typeface="Times New Roman" charset="0"/>
                <a:cs typeface="Times New Roman" charset="0"/>
              </a:rPr>
              <a:t>They state appropriate performances and manners towards others, which will benefit the organization. </a:t>
            </a:r>
          </a:p>
          <a:p>
            <a:pPr algn="just">
              <a:lnSpc>
                <a:spcPct val="150000"/>
              </a:lnSpc>
            </a:pPr>
            <a:r>
              <a:rPr lang="en-US" dirty="0">
                <a:latin typeface="Times New Roman" charset="0"/>
                <a:ea typeface="Times New Roman" charset="0"/>
                <a:cs typeface="Times New Roman" charset="0"/>
              </a:rPr>
              <a:t>These ethics also state the responsibility of professionals towards the company/organization and the common public. </a:t>
            </a:r>
          </a:p>
          <a:p>
            <a:endParaRPr lang="en-US" dirty="0"/>
          </a:p>
        </p:txBody>
      </p:sp>
    </p:spTree>
    <p:extLst>
      <p:ext uri="{BB962C8B-B14F-4D97-AF65-F5344CB8AC3E}">
        <p14:creationId xmlns:p14="http://schemas.microsoft.com/office/powerpoint/2010/main" val="1182448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6056"/>
            <a:ext cx="10515600" cy="5921829"/>
          </a:xfrm>
        </p:spPr>
        <p:txBody>
          <a:bodyPr>
            <a:normAutofit fontScale="85000" lnSpcReduction="10000"/>
          </a:bodyPr>
          <a:lstStyle/>
          <a:p>
            <a:pPr algn="just">
              <a:lnSpc>
                <a:spcPct val="150000"/>
              </a:lnSpc>
            </a:pPr>
            <a:r>
              <a:rPr lang="en-US" dirty="0">
                <a:latin typeface="Times New Roman" charset="0"/>
                <a:ea typeface="Times New Roman" charset="0"/>
                <a:cs typeface="Times New Roman" charset="0"/>
              </a:rPr>
              <a:t>Integrity: Business integrity of any person plays a big role in defining their professional character. </a:t>
            </a:r>
          </a:p>
          <a:p>
            <a:pPr algn="just">
              <a:lnSpc>
                <a:spcPct val="150000"/>
              </a:lnSpc>
            </a:pPr>
            <a:r>
              <a:rPr lang="en-US" dirty="0">
                <a:latin typeface="Times New Roman" charset="0"/>
                <a:ea typeface="Times New Roman" charset="0"/>
                <a:cs typeface="Times New Roman" charset="0"/>
              </a:rPr>
              <a:t>Right to Privacy: The professionals cannot disclose any private or confidential information to the company or others outside it. The Right to privacy of every customer must be protected. Personal data of customers and clients is to be kept confidential. </a:t>
            </a:r>
          </a:p>
          <a:p>
            <a:pPr algn="just">
              <a:lnSpc>
                <a:spcPct val="150000"/>
              </a:lnSpc>
            </a:pPr>
            <a:r>
              <a:rPr lang="en-US" dirty="0">
                <a:latin typeface="Times New Roman" charset="0"/>
                <a:ea typeface="Times New Roman" charset="0"/>
                <a:cs typeface="Times New Roman" charset="0"/>
              </a:rPr>
              <a:t>The Loyalty of an employee towards his organization and occupation.</a:t>
            </a:r>
          </a:p>
          <a:p>
            <a:pPr algn="just">
              <a:lnSpc>
                <a:spcPct val="150000"/>
              </a:lnSpc>
            </a:pPr>
            <a:r>
              <a:rPr lang="en-US" dirty="0">
                <a:latin typeface="Times New Roman" charset="0"/>
                <a:ea typeface="Times New Roman" charset="0"/>
                <a:cs typeface="Times New Roman" charset="0"/>
              </a:rPr>
              <a:t>Bias: Professionals cannot work for selfish needs by having biased or objective judgments. Decisions to be taken have to comply with just and fair practices</a:t>
            </a:r>
            <a:r>
              <a:rPr lang="en-US" dirty="0" smtClean="0">
                <a:latin typeface="Times New Roman" charset="0"/>
                <a:ea typeface="Times New Roman" charset="0"/>
                <a:cs typeface="Times New Roman" charset="0"/>
              </a:rPr>
              <a:t>.</a:t>
            </a:r>
            <a:r>
              <a:rPr lang="en-US" dirty="0" smtClean="0"/>
              <a:t/>
            </a:r>
            <a:br>
              <a:rPr lang="en-US" dirty="0" smtClean="0"/>
            </a:br>
            <a:endParaRPr lang="en-US" dirty="0"/>
          </a:p>
        </p:txBody>
      </p:sp>
    </p:spTree>
    <p:extLst>
      <p:ext uri="{BB962C8B-B14F-4D97-AF65-F5344CB8AC3E}">
        <p14:creationId xmlns:p14="http://schemas.microsoft.com/office/powerpoint/2010/main" val="1293381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charset="0"/>
                <a:ea typeface="Times New Roman" charset="0"/>
                <a:cs typeface="Times New Roman" charset="0"/>
              </a:rPr>
              <a:t>Types of Professional Ethics</a:t>
            </a:r>
            <a:r>
              <a:rPr lang="en-US" b="1" dirty="0"/>
              <a:t/>
            </a:r>
            <a:br>
              <a:rPr lang="en-US" b="1" dirty="0"/>
            </a:br>
            <a:endParaRPr lang="en-US" dirty="0"/>
          </a:p>
        </p:txBody>
      </p:sp>
      <p:sp>
        <p:nvSpPr>
          <p:cNvPr id="3" name="Content Placeholder 2"/>
          <p:cNvSpPr>
            <a:spLocks noGrp="1"/>
          </p:cNvSpPr>
          <p:nvPr>
            <p:ph idx="1"/>
          </p:nvPr>
        </p:nvSpPr>
        <p:spPr>
          <a:xfrm>
            <a:off x="838200" y="1393371"/>
            <a:ext cx="10515600" cy="5268686"/>
          </a:xfrm>
        </p:spPr>
        <p:txBody>
          <a:bodyPr>
            <a:noAutofit/>
          </a:bodyPr>
          <a:lstStyle/>
          <a:p>
            <a:pPr algn="just">
              <a:lnSpc>
                <a:spcPct val="160000"/>
              </a:lnSpc>
            </a:pPr>
            <a:r>
              <a:rPr lang="en-US" sz="2000" dirty="0">
                <a:latin typeface="Times New Roman" charset="0"/>
                <a:ea typeface="Times New Roman" charset="0"/>
                <a:cs typeface="Times New Roman" charset="0"/>
              </a:rPr>
              <a:t>Professions include Doctors, Lawyers, engineers, corporate, and many such organized professional services. </a:t>
            </a:r>
          </a:p>
          <a:p>
            <a:pPr algn="just">
              <a:lnSpc>
                <a:spcPct val="160000"/>
              </a:lnSpc>
            </a:pPr>
            <a:r>
              <a:rPr lang="en-US" sz="2000" b="1" dirty="0">
                <a:latin typeface="Times New Roman" charset="0"/>
                <a:ea typeface="Times New Roman" charset="0"/>
                <a:cs typeface="Times New Roman" charset="0"/>
              </a:rPr>
              <a:t>Medical Ethics</a:t>
            </a:r>
            <a:r>
              <a:rPr lang="en-US" sz="2000" dirty="0">
                <a:latin typeface="Times New Roman" charset="0"/>
                <a:ea typeface="Times New Roman" charset="0"/>
                <a:cs typeface="Times New Roman" charset="0"/>
              </a:rPr>
              <a:t>: These are issued by the National Medical Associations of respective countries. The Medical fraternity is responsible for mannered behaviour with the patients, respect their confidentiality. </a:t>
            </a:r>
            <a:endParaRPr lang="en-US" sz="2000" dirty="0" smtClean="0">
              <a:latin typeface="Times New Roman" charset="0"/>
              <a:ea typeface="Times New Roman" charset="0"/>
              <a:cs typeface="Times New Roman" charset="0"/>
            </a:endParaRPr>
          </a:p>
          <a:p>
            <a:pPr algn="just">
              <a:lnSpc>
                <a:spcPct val="160000"/>
              </a:lnSpc>
            </a:pPr>
            <a:r>
              <a:rPr lang="en-US" sz="2000" dirty="0" smtClean="0">
                <a:latin typeface="Times New Roman" charset="0"/>
                <a:ea typeface="Times New Roman" charset="0"/>
                <a:cs typeface="Times New Roman" charset="0"/>
              </a:rPr>
              <a:t>There </a:t>
            </a:r>
            <a:r>
              <a:rPr lang="en-US" sz="2000" dirty="0">
                <a:latin typeface="Times New Roman" charset="0"/>
                <a:ea typeface="Times New Roman" charset="0"/>
                <a:cs typeface="Times New Roman" charset="0"/>
              </a:rPr>
              <a:t>are specialized laws for Euthanasia (ending the patients’ life in case he/she is terminally ill and does not wish to suffer). </a:t>
            </a:r>
          </a:p>
          <a:p>
            <a:pPr algn="just">
              <a:lnSpc>
                <a:spcPct val="160000"/>
              </a:lnSpc>
            </a:pPr>
            <a:r>
              <a:rPr lang="en-US" sz="2000" dirty="0">
                <a:latin typeface="Times New Roman" charset="0"/>
                <a:ea typeface="Times New Roman" charset="0"/>
                <a:cs typeface="Times New Roman" charset="0"/>
              </a:rPr>
              <a:t>2. </a:t>
            </a:r>
            <a:r>
              <a:rPr lang="en-US" sz="2000" b="1" dirty="0">
                <a:latin typeface="Times New Roman" charset="0"/>
                <a:ea typeface="Times New Roman" charset="0"/>
                <a:cs typeface="Times New Roman" charset="0"/>
              </a:rPr>
              <a:t>Judicial Ethics</a:t>
            </a:r>
            <a:r>
              <a:rPr lang="en-US" sz="2000" dirty="0">
                <a:latin typeface="Times New Roman" charset="0"/>
                <a:ea typeface="Times New Roman" charset="0"/>
                <a:cs typeface="Times New Roman" charset="0"/>
              </a:rPr>
              <a:t>: Ethics are applied at every stage of any judiciary and legal action. Truth, Loyalty, the right decision, equality to everyone for the basis of judicial ethical </a:t>
            </a:r>
            <a:r>
              <a:rPr lang="en-US" sz="2000" dirty="0" smtClean="0">
                <a:latin typeface="Times New Roman" charset="0"/>
                <a:ea typeface="Times New Roman" charset="0"/>
                <a:cs typeface="Times New Roman" charset="0"/>
              </a:rPr>
              <a:t>principle. </a:t>
            </a:r>
          </a:p>
          <a:p>
            <a:pPr algn="just">
              <a:lnSpc>
                <a:spcPct val="160000"/>
              </a:lnSpc>
            </a:pPr>
            <a:r>
              <a:rPr lang="en-US" sz="2000" dirty="0" smtClean="0">
                <a:latin typeface="Times New Roman" charset="0"/>
                <a:ea typeface="Times New Roman" charset="0"/>
                <a:cs typeface="Times New Roman" charset="0"/>
              </a:rPr>
              <a:t>Lawyers</a:t>
            </a:r>
            <a:r>
              <a:rPr lang="en-US" sz="2000" dirty="0">
                <a:latin typeface="Times New Roman" charset="0"/>
                <a:ea typeface="Times New Roman" charset="0"/>
                <a:cs typeface="Times New Roman" charset="0"/>
              </a:rPr>
              <a:t>, while defending their clients shall not make any degrading remarks at </a:t>
            </a:r>
            <a:r>
              <a:rPr lang="en-US" sz="2000" dirty="0" smtClean="0">
                <a:latin typeface="Times New Roman" charset="0"/>
                <a:ea typeface="Times New Roman" charset="0"/>
                <a:cs typeface="Times New Roman" charset="0"/>
              </a:rPr>
              <a:t>others</a:t>
            </a:r>
            <a:br>
              <a:rPr lang="en-US" sz="2000" dirty="0" smtClean="0">
                <a:latin typeface="Times New Roman" charset="0"/>
                <a:ea typeface="Times New Roman" charset="0"/>
                <a:cs typeface="Times New Roman" charset="0"/>
              </a:rPr>
            </a:br>
            <a:endParaRPr lang="en-US" sz="2000" dirty="0">
              <a:latin typeface="Times New Roman" charset="0"/>
              <a:ea typeface="Times New Roman" charset="0"/>
              <a:cs typeface="Times New Roman" charset="0"/>
            </a:endParaRPr>
          </a:p>
          <a:p>
            <a:endParaRPr lang="en-US" sz="2000" dirty="0"/>
          </a:p>
        </p:txBody>
      </p:sp>
    </p:spTree>
    <p:extLst>
      <p:ext uri="{BB962C8B-B14F-4D97-AF65-F5344CB8AC3E}">
        <p14:creationId xmlns:p14="http://schemas.microsoft.com/office/powerpoint/2010/main" val="1210276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5029"/>
            <a:ext cx="10515600" cy="5131934"/>
          </a:xfrm>
        </p:spPr>
        <p:txBody>
          <a:bodyPr>
            <a:normAutofit fontScale="92500" lnSpcReduction="20000"/>
          </a:bodyPr>
          <a:lstStyle/>
          <a:p>
            <a:pPr algn="just">
              <a:lnSpc>
                <a:spcPct val="150000"/>
              </a:lnSpc>
            </a:pPr>
            <a:r>
              <a:rPr lang="en-US" dirty="0">
                <a:latin typeface="Times New Roman" charset="0"/>
                <a:ea typeface="Times New Roman" charset="0"/>
                <a:cs typeface="Times New Roman" charset="0"/>
              </a:rPr>
              <a:t>3. </a:t>
            </a:r>
            <a:r>
              <a:rPr lang="en-US" b="1" dirty="0">
                <a:latin typeface="Times New Roman" charset="0"/>
                <a:ea typeface="Times New Roman" charset="0"/>
                <a:cs typeface="Times New Roman" charset="0"/>
              </a:rPr>
              <a:t>Media Ethics</a:t>
            </a:r>
            <a:r>
              <a:rPr lang="en-US" dirty="0">
                <a:latin typeface="Times New Roman" charset="0"/>
                <a:ea typeface="Times New Roman" charset="0"/>
                <a:cs typeface="Times New Roman" charset="0"/>
              </a:rPr>
              <a:t>: We all know how media bodies report false or twisted news to sensationalize it.</a:t>
            </a:r>
          </a:p>
          <a:p>
            <a:pPr algn="just">
              <a:lnSpc>
                <a:spcPct val="150000"/>
              </a:lnSpc>
            </a:pPr>
            <a:r>
              <a:rPr lang="en-US" dirty="0">
                <a:latin typeface="Times New Roman" charset="0"/>
                <a:ea typeface="Times New Roman" charset="0"/>
                <a:cs typeface="Times New Roman" charset="0"/>
              </a:rPr>
              <a:t>Honest, reliable news reporting is what is needed. For example, Journaling about an issue in the society with an unbiased view is the demand for ethics, but some journalists might directly claim unproved facts or false claims.</a:t>
            </a:r>
          </a:p>
          <a:p>
            <a:pPr>
              <a:lnSpc>
                <a:spcPct val="150000"/>
              </a:lnSpc>
            </a:pPr>
            <a:r>
              <a:rPr lang="en-US" dirty="0">
                <a:latin typeface="Times New Roman" charset="0"/>
                <a:ea typeface="Times New Roman" charset="0"/>
                <a:cs typeface="Times New Roman" charset="0"/>
              </a:rPr>
              <a:t>4. </a:t>
            </a:r>
            <a:r>
              <a:rPr lang="en-US" b="1" dirty="0">
                <a:latin typeface="Times New Roman" charset="0"/>
                <a:ea typeface="Times New Roman" charset="0"/>
                <a:cs typeface="Times New Roman" charset="0"/>
              </a:rPr>
              <a:t>Other organizations</a:t>
            </a:r>
            <a:r>
              <a:rPr lang="en-US" dirty="0">
                <a:latin typeface="Times New Roman" charset="0"/>
                <a:ea typeface="Times New Roman" charset="0"/>
                <a:cs typeface="Times New Roman" charset="0"/>
              </a:rPr>
              <a:t> like almost every corporate, educational institute, governmental institutes have their own Code of Conduct for managing their </a:t>
            </a:r>
            <a:r>
              <a:rPr lang="en-US" dirty="0" smtClean="0">
                <a:latin typeface="Times New Roman" charset="0"/>
                <a:ea typeface="Times New Roman" charset="0"/>
                <a:cs typeface="Times New Roman" charset="0"/>
              </a:rPr>
              <a:t>professional ethics</a:t>
            </a:r>
            <a:r>
              <a:rPr lang="en-US" dirty="0">
                <a:latin typeface="Times New Roman" charset="0"/>
                <a:ea typeface="Times New Roman" charset="0"/>
                <a:cs typeface="Times New Roman" charset="0"/>
              </a:rPr>
              <a:t>. </a:t>
            </a:r>
            <a:r>
              <a:rPr lang="en-US" dirty="0" smtClean="0">
                <a:latin typeface="Times New Roman" charset="0"/>
                <a:ea typeface="Times New Roman" charset="0"/>
                <a:cs typeface="Times New Roman" charset="0"/>
              </a:rPr>
              <a:t/>
            </a:r>
            <a:br>
              <a:rPr lang="en-US" dirty="0" smtClean="0">
                <a:latin typeface="Times New Roman" charset="0"/>
                <a:ea typeface="Times New Roman" charset="0"/>
                <a:cs typeface="Times New Roman" charset="0"/>
              </a:rPr>
            </a:b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984798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734</Words>
  <Application>Microsoft Macintosh PowerPoint</Application>
  <PresentationFormat>Widescreen</PresentationFormat>
  <Paragraphs>81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Calibri Light</vt:lpstr>
      <vt:lpstr>Times New Roman</vt:lpstr>
      <vt:lpstr>Arial</vt:lpstr>
      <vt:lpstr>Office Theme</vt:lpstr>
      <vt:lpstr>Human Values and Professional Ethics</vt:lpstr>
      <vt:lpstr>What are Values?</vt:lpstr>
      <vt:lpstr>What are Human Values?</vt:lpstr>
      <vt:lpstr>PowerPoint Presentation</vt:lpstr>
      <vt:lpstr>What are Ethics?</vt:lpstr>
      <vt:lpstr>The Origin of Ethics </vt:lpstr>
      <vt:lpstr>What are morals? How are they different from Values?  </vt:lpstr>
      <vt:lpstr> Branches of Ethics </vt:lpstr>
      <vt:lpstr>How are values related to Ethics?</vt:lpstr>
      <vt:lpstr>Where do we learn values and ethics? </vt:lpstr>
      <vt:lpstr>What is Professional Ethics? </vt:lpstr>
      <vt:lpstr>Why is Ethics required at workplaces?</vt:lpstr>
      <vt:lpstr>Characteristics of Professional Ethics </vt:lpstr>
      <vt:lpstr>PowerPoint Presentation</vt:lpstr>
      <vt:lpstr>Types of Professional Ethics </vt:lpstr>
      <vt:lpstr>PowerPoint Presentation</vt:lpstr>
    </vt:vector>
  </TitlesOfParts>
  <Company/>
  <LinksUpToDate>false</LinksUpToDate>
  <SharedDoc>false</SharedDoc>
  <HyperlinksChanged>false</HyperlinksChanged>
  <AppVersion>15.0026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Values and Professional Ethics</dc:title>
  <dc:creator>Microsoft Office User</dc:creator>
  <cp:lastModifiedBy>Microsoft Office User</cp:lastModifiedBy>
  <cp:revision>10</cp:revision>
  <dcterms:created xsi:type="dcterms:W3CDTF">2023-08-22T14:28:44Z</dcterms:created>
  <dcterms:modified xsi:type="dcterms:W3CDTF">2023-08-27T17:18:07Z</dcterms:modified>
</cp:coreProperties>
</file>