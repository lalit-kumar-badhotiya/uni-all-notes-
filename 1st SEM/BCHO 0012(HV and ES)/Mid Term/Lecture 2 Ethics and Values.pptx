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56"/>
    <p:restoredTop sz="94697"/>
  </p:normalViewPr>
  <p:slideViewPr>
    <p:cSldViewPr snapToGrid="0" snapToObjects="1">
      <p:cViewPr varScale="1">
        <p:scale>
          <a:sx n="59" d="100"/>
          <a:sy n="59" d="100"/>
        </p:scale>
        <p:origin x="192" y="1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56081-808F-3F4F-BEAF-72A661A14387}" type="datetimeFigureOut">
              <a:rPr lang="en-US" smtClean="0"/>
              <a:t>8/27/23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E6A3A-D7A4-044A-92D9-4F5D4072A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3763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56081-808F-3F4F-BEAF-72A661A14387}" type="datetimeFigureOut">
              <a:rPr lang="en-US" smtClean="0"/>
              <a:t>8/27/23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E6A3A-D7A4-044A-92D9-4F5D4072A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5248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56081-808F-3F4F-BEAF-72A661A14387}" type="datetimeFigureOut">
              <a:rPr lang="en-US" smtClean="0"/>
              <a:t>8/27/23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E6A3A-D7A4-044A-92D9-4F5D4072A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760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56081-808F-3F4F-BEAF-72A661A14387}" type="datetimeFigureOut">
              <a:rPr lang="en-US" smtClean="0"/>
              <a:t>8/27/23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E6A3A-D7A4-044A-92D9-4F5D4072A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841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56081-808F-3F4F-BEAF-72A661A14387}" type="datetimeFigureOut">
              <a:rPr lang="en-US" smtClean="0"/>
              <a:t>8/27/23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E6A3A-D7A4-044A-92D9-4F5D4072A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6794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56081-808F-3F4F-BEAF-72A661A14387}" type="datetimeFigureOut">
              <a:rPr lang="en-US" smtClean="0"/>
              <a:t>8/27/23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E6A3A-D7A4-044A-92D9-4F5D4072A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166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56081-808F-3F4F-BEAF-72A661A14387}" type="datetimeFigureOut">
              <a:rPr lang="en-US" smtClean="0"/>
              <a:t>8/27/23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E6A3A-D7A4-044A-92D9-4F5D4072A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573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56081-808F-3F4F-BEAF-72A661A14387}" type="datetimeFigureOut">
              <a:rPr lang="en-US" smtClean="0"/>
              <a:t>8/27/23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E6A3A-D7A4-044A-92D9-4F5D4072A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36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56081-808F-3F4F-BEAF-72A661A14387}" type="datetimeFigureOut">
              <a:rPr lang="en-US" smtClean="0"/>
              <a:t>8/27/23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E6A3A-D7A4-044A-92D9-4F5D4072A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977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56081-808F-3F4F-BEAF-72A661A14387}" type="datetimeFigureOut">
              <a:rPr lang="en-US" smtClean="0"/>
              <a:t>8/27/23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E6A3A-D7A4-044A-92D9-4F5D4072A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2673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56081-808F-3F4F-BEAF-72A661A14387}" type="datetimeFigureOut">
              <a:rPr lang="en-US" smtClean="0"/>
              <a:t>8/27/23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E6A3A-D7A4-044A-92D9-4F5D4072A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283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356081-808F-3F4F-BEAF-72A661A14387}" type="datetimeFigureOut">
              <a:rPr lang="en-US" smtClean="0"/>
              <a:t>8/27/23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6E6A3A-D7A4-044A-92D9-4F5D4072A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445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177143"/>
            <a:ext cx="9144000" cy="374468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4400" b="1" dirty="0" smtClean="0">
                <a:latin typeface="Times New Roman" charset="0"/>
                <a:ea typeface="Times New Roman" charset="0"/>
                <a:cs typeface="Times New Roman" charset="0"/>
              </a:rPr>
              <a:t>Need For Value Education and Understanding the </a:t>
            </a:r>
            <a:br>
              <a:rPr lang="en-US" sz="4400" b="1" dirty="0" smtClean="0">
                <a:latin typeface="Times New Roman" charset="0"/>
                <a:ea typeface="Times New Roman" charset="0"/>
                <a:cs typeface="Times New Roman" charset="0"/>
              </a:rPr>
            </a:br>
            <a:r>
              <a:rPr lang="en-US" sz="4400" b="1" dirty="0" smtClean="0">
                <a:latin typeface="Times New Roman" charset="0"/>
                <a:ea typeface="Times New Roman" charset="0"/>
                <a:cs typeface="Times New Roman" charset="0"/>
              </a:rPr>
              <a:t>Role of Values in Education</a:t>
            </a:r>
            <a:br>
              <a:rPr lang="en-US" sz="4400" b="1" dirty="0" smtClean="0">
                <a:latin typeface="Times New Roman" charset="0"/>
                <a:ea typeface="Times New Roman" charset="0"/>
                <a:cs typeface="Times New Roman" charset="0"/>
              </a:rPr>
            </a:br>
            <a:r>
              <a:rPr lang="en-US" sz="4400" b="1" dirty="0" smtClean="0">
                <a:latin typeface="Times New Roman" charset="0"/>
                <a:ea typeface="Times New Roman" charset="0"/>
                <a:cs typeface="Times New Roman" charset="0"/>
              </a:rPr>
              <a:t>Lecture 2</a:t>
            </a:r>
            <a:endParaRPr lang="en-US" sz="4400" b="1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82303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Correct Identification of Our Aspirations</a:t>
            </a:r>
            <a:endParaRPr lang="en-US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46513"/>
            <a:ext cx="10515600" cy="4130449"/>
          </a:xfrm>
        </p:spPr>
        <p:txBody>
          <a:bodyPr/>
          <a:lstStyle/>
          <a:p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We can decide on and pursue our aspirations.</a:t>
            </a:r>
          </a:p>
          <a:p>
            <a:endParaRPr lang="en-US" dirty="0">
              <a:latin typeface="Times New Roman" charset="0"/>
              <a:ea typeface="Times New Roman" charset="0"/>
              <a:cs typeface="Times New Roman" charset="0"/>
            </a:endParaRPr>
          </a:p>
          <a:p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Determine Goals</a:t>
            </a:r>
          </a:p>
          <a:p>
            <a:endParaRPr lang="en-US" dirty="0">
              <a:latin typeface="Times New Roman" charset="0"/>
              <a:ea typeface="Times New Roman" charset="0"/>
              <a:cs typeface="Times New Roman" charset="0"/>
            </a:endParaRPr>
          </a:p>
          <a:p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And Sub goals required to fulfill those aspirations</a:t>
            </a:r>
            <a:endParaRPr lang="en-US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08511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 smtClean="0">
                <a:latin typeface="Times New Roman" charset="0"/>
                <a:ea typeface="Times New Roman" charset="0"/>
                <a:cs typeface="Times New Roman" charset="0"/>
              </a:rPr>
              <a:t>Understanding Universal Human Values to Fulfil our Aspirations in Continuity</a:t>
            </a:r>
            <a:endParaRPr lang="en-US" sz="40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460171"/>
            <a:ext cx="10515600" cy="3716792"/>
          </a:xfrm>
        </p:spPr>
        <p:txBody>
          <a:bodyPr/>
          <a:lstStyle/>
          <a:p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How to actualize our goals?</a:t>
            </a:r>
          </a:p>
          <a:p>
            <a:endParaRPr lang="en-US" dirty="0">
              <a:latin typeface="Times New Roman" charset="0"/>
              <a:ea typeface="Times New Roman" charset="0"/>
              <a:cs typeface="Times New Roman" charset="0"/>
            </a:endParaRPr>
          </a:p>
          <a:p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Experiments</a:t>
            </a:r>
          </a:p>
          <a:p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Failing </a:t>
            </a:r>
          </a:p>
          <a:p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Moving On</a:t>
            </a:r>
          </a:p>
          <a:p>
            <a:endParaRPr lang="en-US" dirty="0">
              <a:latin typeface="Times New Roman" charset="0"/>
              <a:ea typeface="Times New Roman" charset="0"/>
              <a:cs typeface="Times New Roman" charset="0"/>
            </a:endParaRPr>
          </a:p>
          <a:p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Whatever conducive to happiness becomes valuable.</a:t>
            </a:r>
            <a:endParaRPr lang="en-US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52197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 </a:t>
            </a:r>
            <a:r>
              <a:rPr lang="en-US" sz="4000" dirty="0" smtClean="0">
                <a:latin typeface="Times New Roman" charset="0"/>
                <a:ea typeface="Times New Roman" charset="0"/>
                <a:cs typeface="Times New Roman" charset="0"/>
              </a:rPr>
              <a:t>Complementarity of Values and Skills</a:t>
            </a:r>
            <a:endParaRPr lang="en-US" sz="40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906055"/>
          </a:xfrm>
        </p:spPr>
        <p:txBody>
          <a:bodyPr>
            <a:normAutofit fontScale="850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A) Conducive to our happiness: Domain of Value and Wisdom</a:t>
            </a: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Happiness for One and All</a:t>
            </a: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Happiness at all times</a:t>
            </a: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Universally Valuable</a:t>
            </a: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Setting the right goals in right direction</a:t>
            </a:r>
          </a:p>
          <a:p>
            <a:pPr algn="just">
              <a:lnSpc>
                <a:spcPct val="150000"/>
              </a:lnSpc>
            </a:pPr>
            <a:endParaRPr lang="en-US" dirty="0" smtClean="0">
              <a:latin typeface="Times New Roman" charset="0"/>
              <a:ea typeface="Times New Roman" charset="0"/>
              <a:cs typeface="Times New Roman" charset="0"/>
            </a:endParaRP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B) Methods and Practice to Actualize the Goal: Skill Domain</a:t>
            </a: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Value and Skill go hand in hand</a:t>
            </a:r>
          </a:p>
        </p:txBody>
      </p:sp>
    </p:spTree>
    <p:extLst>
      <p:ext uri="{BB962C8B-B14F-4D97-AF65-F5344CB8AC3E}">
        <p14:creationId xmlns:p14="http://schemas.microsoft.com/office/powerpoint/2010/main" val="1982890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Education of Our Beliefs</a:t>
            </a:r>
            <a:endParaRPr lang="en-US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Ad-hoc Values and Beliefs: which may not be true in reality like “A corporate job is the best kind of job.”</a:t>
            </a: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Belief change with time</a:t>
            </a: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Conditioned beliefs</a:t>
            </a: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Conflicting beliefs</a:t>
            </a: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Subjective belief: What I believe may not be true for you.</a:t>
            </a:r>
          </a:p>
          <a:p>
            <a:pPr algn="just">
              <a:lnSpc>
                <a:spcPct val="150000"/>
              </a:lnSpc>
            </a:pPr>
            <a:endParaRPr lang="en-US" dirty="0" smtClean="0">
              <a:latin typeface="Times New Roman" charset="0"/>
              <a:ea typeface="Times New Roman" charset="0"/>
              <a:cs typeface="Times New Roman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98318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Technology and Human Values</a:t>
            </a:r>
            <a:endParaRPr lang="en-US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It is primarily necessary to know what is valuable.</a:t>
            </a: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Technology is only the means to achieve what is considered ‘valuable’ for human beings in an effective and efficient manner.</a:t>
            </a:r>
            <a:endParaRPr lang="en-US" dirty="0">
              <a:latin typeface="Times New Roman" charset="0"/>
              <a:ea typeface="Times New Roman" charset="0"/>
              <a:cs typeface="Times New Roman" charset="0"/>
            </a:endParaRP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It is not within the scope of technology to decide on what is valuable.</a:t>
            </a: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And technology used without value is aimless and directionless.</a:t>
            </a: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Therefore can be used for constructive and destructive means.</a:t>
            </a:r>
            <a:endParaRPr lang="en-US" dirty="0">
              <a:latin typeface="Times New Roman" charset="0"/>
              <a:ea typeface="Times New Roman" charset="0"/>
              <a:cs typeface="Times New Roman" charset="0"/>
            </a:endParaRPr>
          </a:p>
          <a:p>
            <a:pPr algn="just">
              <a:lnSpc>
                <a:spcPct val="150000"/>
              </a:lnSpc>
            </a:pPr>
            <a:endParaRPr lang="en-US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52793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Understanding of Values</a:t>
            </a:r>
            <a:endParaRPr lang="en-US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Understanding of technology and its application</a:t>
            </a: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Understand our needs</a:t>
            </a: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Visualize our goals</a:t>
            </a: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Direction of fulfilment of our goals.</a:t>
            </a: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Remove our confusion</a:t>
            </a: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And rightly utilize technological innovations.</a:t>
            </a:r>
            <a:endParaRPr lang="en-US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20241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 smtClean="0">
                <a:latin typeface="Times New Roman" charset="0"/>
                <a:ea typeface="Times New Roman" charset="0"/>
                <a:cs typeface="Times New Roman" charset="0"/>
              </a:rPr>
              <a:t>Basic Guidelines for Value Education</a:t>
            </a:r>
            <a:endParaRPr lang="en-US" sz="40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Universal Applicability: Objective</a:t>
            </a: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Rational: Reason based and no Dogmas</a:t>
            </a: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Natural and Verifiable: Leads naturally to happiness, conducive to others and not based on just assumptions.</a:t>
            </a: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All Encompassing: Permeate all dimensions like Individual, society, family and nature. Not just academic exercise but transformed consciousness and living.</a:t>
            </a: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Leading to Harmony: Within and Without</a:t>
            </a:r>
          </a:p>
          <a:p>
            <a:pPr algn="just">
              <a:lnSpc>
                <a:spcPct val="150000"/>
              </a:lnSpc>
            </a:pPr>
            <a:endParaRPr lang="en-US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05850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 </a:t>
            </a:r>
            <a:r>
              <a:rPr lang="en-US" sz="4000" dirty="0" smtClean="0">
                <a:latin typeface="Times New Roman" charset="0"/>
                <a:ea typeface="Times New Roman" charset="0"/>
                <a:cs typeface="Times New Roman" charset="0"/>
              </a:rPr>
              <a:t>The Content of Value Education</a:t>
            </a:r>
            <a:endParaRPr lang="en-US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Understand Myself</a:t>
            </a: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My Aspirations</a:t>
            </a: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My Happiness</a:t>
            </a: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Understand goal to life comprehensively</a:t>
            </a: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Understand others, coexistence and Harmony</a:t>
            </a:r>
          </a:p>
        </p:txBody>
      </p:sp>
    </p:spTree>
    <p:extLst>
      <p:ext uri="{BB962C8B-B14F-4D97-AF65-F5344CB8AC3E}">
        <p14:creationId xmlns:p14="http://schemas.microsoft.com/office/powerpoint/2010/main" val="8906479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 smtClean="0">
                <a:latin typeface="Times New Roman" charset="0"/>
                <a:ea typeface="Times New Roman" charset="0"/>
                <a:cs typeface="Times New Roman" charset="0"/>
              </a:rPr>
              <a:t>The Process of Value Education</a:t>
            </a:r>
            <a:endParaRPr lang="en-US" sz="40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Through Self Exploration</a:t>
            </a: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Acceptable proposals through experiential validation i.e. living according to them</a:t>
            </a: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Investigate sincerely</a:t>
            </a: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Dialogue, communication, interconnectedness</a:t>
            </a: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Transforming our understanding in consciousness and living</a:t>
            </a:r>
            <a:endParaRPr lang="en-US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7033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388</Words>
  <Application>Microsoft Macintosh PowerPoint</Application>
  <PresentationFormat>Widescreen</PresentationFormat>
  <Paragraphs>61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Calibri</vt:lpstr>
      <vt:lpstr>Calibri Light</vt:lpstr>
      <vt:lpstr>Times New Roman</vt:lpstr>
      <vt:lpstr>Arial</vt:lpstr>
      <vt:lpstr>Office Theme</vt:lpstr>
      <vt:lpstr>Need For Value Education and Understanding the  Role of Values in Education Lecture 2</vt:lpstr>
      <vt:lpstr>Correct Identification of Our Aspirations</vt:lpstr>
      <vt:lpstr>Understanding Universal Human Values to Fulfil our Aspirations in Continuity</vt:lpstr>
      <vt:lpstr> Complementarity of Values and Skills</vt:lpstr>
      <vt:lpstr>Education of Our Beliefs</vt:lpstr>
      <vt:lpstr>Technology and Human Values</vt:lpstr>
      <vt:lpstr>Understanding of Values</vt:lpstr>
      <vt:lpstr>Basic Guidelines for Value Education</vt:lpstr>
      <vt:lpstr> The Content of Value Education</vt:lpstr>
      <vt:lpstr>The Process of Value Education</vt:lpstr>
    </vt:vector>
  </TitlesOfParts>
  <Company/>
  <LinksUpToDate>false</LinksUpToDate>
  <SharedDoc>false</SharedDoc>
  <HyperlinksChanged>false</HyperlinksChanged>
  <AppVersion>15.0026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Need For Value Education and Understanding the Role of Values in Education</dc:title>
  <dc:creator>Microsoft Office User</dc:creator>
  <cp:lastModifiedBy>Microsoft Office User</cp:lastModifiedBy>
  <cp:revision>4</cp:revision>
  <dcterms:created xsi:type="dcterms:W3CDTF">2023-08-27T17:04:00Z</dcterms:created>
  <dcterms:modified xsi:type="dcterms:W3CDTF">2023-08-27T17:32:20Z</dcterms:modified>
</cp:coreProperties>
</file>